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71" r:id="rId3"/>
    <p:sldId id="387" r:id="rId4"/>
    <p:sldId id="449" r:id="rId5"/>
    <p:sldId id="273" r:id="rId6"/>
    <p:sldId id="272" r:id="rId7"/>
    <p:sldId id="452" r:id="rId9"/>
    <p:sldId id="274" r:id="rId10"/>
    <p:sldId id="275" r:id="rId11"/>
    <p:sldId id="329" r:id="rId12"/>
    <p:sldId id="276" r:id="rId13"/>
    <p:sldId id="277" r:id="rId14"/>
    <p:sldId id="516" r:id="rId15"/>
    <p:sldId id="278" r:id="rId16"/>
    <p:sldId id="517" r:id="rId17"/>
    <p:sldId id="257" r:id="rId18"/>
    <p:sldId id="258" r:id="rId19"/>
    <p:sldId id="259" r:id="rId20"/>
    <p:sldId id="318" r:id="rId21"/>
    <p:sldId id="518" r:id="rId22"/>
    <p:sldId id="520" r:id="rId23"/>
    <p:sldId id="262" r:id="rId24"/>
    <p:sldId id="263" r:id="rId25"/>
    <p:sldId id="264" r:id="rId26"/>
    <p:sldId id="265" r:id="rId27"/>
    <p:sldId id="266" r:id="rId28"/>
    <p:sldId id="322" r:id="rId29"/>
    <p:sldId id="267" r:id="rId30"/>
    <p:sldId id="319" r:id="rId31"/>
    <p:sldId id="519" r:id="rId32"/>
    <p:sldId id="521" r:id="rId33"/>
    <p:sldId id="522" r:id="rId34"/>
    <p:sldId id="523" r:id="rId35"/>
    <p:sldId id="524" r:id="rId36"/>
    <p:sldId id="525" r:id="rId37"/>
    <p:sldId id="268" r:id="rId38"/>
    <p:sldId id="269" r:id="rId39"/>
    <p:sldId id="320" r:id="rId40"/>
    <p:sldId id="270" r:id="rId41"/>
    <p:sldId id="279" r:id="rId42"/>
    <p:sldId id="312" r:id="rId43"/>
    <p:sldId id="280" r:id="rId44"/>
    <p:sldId id="295" r:id="rId45"/>
    <p:sldId id="296" r:id="rId46"/>
    <p:sldId id="299" r:id="rId47"/>
    <p:sldId id="298" r:id="rId48"/>
    <p:sldId id="300" r:id="rId49"/>
    <p:sldId id="301" r:id="rId50"/>
    <p:sldId id="302" r:id="rId51"/>
    <p:sldId id="526" r:id="rId52"/>
    <p:sldId id="303" r:id="rId53"/>
    <p:sldId id="304" r:id="rId54"/>
    <p:sldId id="305" r:id="rId55"/>
    <p:sldId id="306" r:id="rId56"/>
    <p:sldId id="307" r:id="rId57"/>
    <p:sldId id="308" r:id="rId58"/>
    <p:sldId id="527" r:id="rId59"/>
    <p:sldId id="528" r:id="rId60"/>
    <p:sldId id="530" r:id="rId61"/>
    <p:sldId id="309" r:id="rId62"/>
    <p:sldId id="310" r:id="rId63"/>
    <p:sldId id="531" r:id="rId64"/>
    <p:sldId id="324" r:id="rId65"/>
    <p:sldId id="325" r:id="rId66"/>
    <p:sldId id="326" r:id="rId67"/>
    <p:sldId id="589" r:id="rId68"/>
    <p:sldId id="610" r:id="rId69"/>
    <p:sldId id="327" r:id="rId70"/>
    <p:sldId id="283" r:id="rId71"/>
    <p:sldId id="284" r:id="rId72"/>
    <p:sldId id="613" r:id="rId73"/>
    <p:sldId id="614" r:id="rId74"/>
    <p:sldId id="317" r:id="rId75"/>
    <p:sldId id="285" r:id="rId76"/>
    <p:sldId id="286" r:id="rId77"/>
    <p:sldId id="612" r:id="rId78"/>
    <p:sldId id="611" r:id="rId79"/>
    <p:sldId id="287" r:id="rId80"/>
    <p:sldId id="636" r:id="rId81"/>
    <p:sldId id="637" r:id="rId82"/>
    <p:sldId id="288" r:id="rId83"/>
    <p:sldId id="635" r:id="rId84"/>
    <p:sldId id="289" r:id="rId85"/>
    <p:sldId id="638" r:id="rId86"/>
    <p:sldId id="290" r:id="rId87"/>
    <p:sldId id="639" r:id="rId88"/>
    <p:sldId id="291" r:id="rId89"/>
    <p:sldId id="640" r:id="rId90"/>
    <p:sldId id="641" r:id="rId91"/>
    <p:sldId id="656" r:id="rId92"/>
    <p:sldId id="292" r:id="rId93"/>
    <p:sldId id="321" r:id="rId94"/>
    <p:sldId id="293" r:id="rId95"/>
    <p:sldId id="294" r:id="rId96"/>
    <p:sldId id="328" r:id="rId97"/>
    <p:sldId id="453" r:id="rId98"/>
    <p:sldId id="454" r:id="rId99"/>
    <p:sldId id="455" r:id="rId100"/>
    <p:sldId id="316" r:id="rId101"/>
  </p:sldIdLst>
  <p:sldSz cx="9144000" cy="6858000" type="screen4x3"/>
  <p:notesSz cx="6858000" cy="9144000"/>
  <p:custDataLst>
    <p:tags r:id="rId105"/>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00FF"/>
    <a:srgbClr val="FF00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2601"/>
    <p:restoredTop sz="87763"/>
  </p:normalViewPr>
  <p:slideViewPr>
    <p:cSldViewPr showGuides="1">
      <p:cViewPr varScale="1">
        <p:scale>
          <a:sx n="111" d="100"/>
          <a:sy n="111" d="100"/>
        </p:scale>
        <p:origin x="354" y="102"/>
      </p:cViewPr>
      <p:guideLst>
        <p:guide orient="horz" pos="2140"/>
        <p:guide pos="270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notesMaster" Target="notesMasters/notesMaster1.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5" Type="http://schemas.openxmlformats.org/officeDocument/2006/relationships/tags" Target="tags/tag2.xml"/><Relationship Id="rId104" Type="http://schemas.openxmlformats.org/officeDocument/2006/relationships/tableStyles" Target="tableStyles.xml"/><Relationship Id="rId103" Type="http://schemas.openxmlformats.org/officeDocument/2006/relationships/viewProps" Target="viewProps.xml"/><Relationship Id="rId102" Type="http://schemas.openxmlformats.org/officeDocument/2006/relationships/presProps" Target="presProps.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drawings/_rels/vmlDrawing13.vml.rels><?xml version="1.0" encoding="UTF-8" standalone="yes"?>
<Relationships xmlns="http://schemas.openxmlformats.org/package/2006/relationships"><Relationship Id="rId4" Type="http://schemas.openxmlformats.org/officeDocument/2006/relationships/image" Target="../media/image56.wmf"/><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s>
</file>

<file path=ppt/drawings/_rels/vmlDrawing14.vml.rels><?xml version="1.0" encoding="UTF-8" standalone="yes"?>
<Relationships xmlns="http://schemas.openxmlformats.org/package/2006/relationships"><Relationship Id="rId5" Type="http://schemas.openxmlformats.org/officeDocument/2006/relationships/image" Target="../media/image61.wmf"/><Relationship Id="rId4" Type="http://schemas.openxmlformats.org/officeDocument/2006/relationships/image" Target="../media/image56.wmf"/><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image" Target="../media/image77.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2.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7.wmf"/><Relationship Id="rId1" Type="http://schemas.openxmlformats.org/officeDocument/2006/relationships/image" Target="../media/image8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89.wmf"/><Relationship Id="rId1" Type="http://schemas.openxmlformats.org/officeDocument/2006/relationships/image" Target="../media/image88.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91.wmf"/><Relationship Id="rId1" Type="http://schemas.openxmlformats.org/officeDocument/2006/relationships/image" Target="../media/image90.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image" Target="../media/image92.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image" Target="../media/image94.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99.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image" Target="../media/image102.wmf"/><Relationship Id="rId1" Type="http://schemas.openxmlformats.org/officeDocument/2006/relationships/image" Target="../media/image101.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06.wmf"/><Relationship Id="rId1" Type="http://schemas.openxmlformats.org/officeDocument/2006/relationships/image" Target="../media/image104.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10.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01.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5.wmf"/><Relationship Id="rId1" Type="http://schemas.openxmlformats.org/officeDocument/2006/relationships/image" Target="../media/image114.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19.wmf"/></Relationships>
</file>

<file path=ppt/drawings/_rels/vmlDrawing32.vml.rels><?xml version="1.0" encoding="UTF-8" standalone="yes"?>
<Relationships xmlns="http://schemas.openxmlformats.org/package/2006/relationships"><Relationship Id="rId4" Type="http://schemas.openxmlformats.org/officeDocument/2006/relationships/image" Target="../media/image123.wmf"/><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image" Target="../media/image128.wmf"/><Relationship Id="rId1" Type="http://schemas.openxmlformats.org/officeDocument/2006/relationships/image" Target="../media/image126.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wmf"/></Relationships>
</file>

<file path=ppt/drawings/_rels/vmlDrawing35.vml.rels><?xml version="1.0" encoding="UTF-8" standalone="yes"?>
<Relationships xmlns="http://schemas.openxmlformats.org/package/2006/relationships"><Relationship Id="rId5" Type="http://schemas.openxmlformats.org/officeDocument/2006/relationships/image" Target="../media/image146.wmf"/><Relationship Id="rId4" Type="http://schemas.openxmlformats.org/officeDocument/2006/relationships/image" Target="../media/image145.wmf"/><Relationship Id="rId3" Type="http://schemas.openxmlformats.org/officeDocument/2006/relationships/image" Target="../media/image144.wmf"/><Relationship Id="rId2" Type="http://schemas.openxmlformats.org/officeDocument/2006/relationships/image" Target="../media/image143.wmf"/><Relationship Id="rId1" Type="http://schemas.openxmlformats.org/officeDocument/2006/relationships/image" Target="../media/image142.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49.wmf"/><Relationship Id="rId1" Type="http://schemas.openxmlformats.org/officeDocument/2006/relationships/image" Target="../media/image148.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53.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54.wmf"/><Relationship Id="rId1" Type="http://schemas.openxmlformats.org/officeDocument/2006/relationships/image" Target="../media/image153.wmf"/></Relationships>
</file>

<file path=ppt/drawings/_rels/vmlDrawing39.vml.rels><?xml version="1.0" encoding="UTF-8" standalone="yes"?>
<Relationships xmlns="http://schemas.openxmlformats.org/package/2006/relationships"><Relationship Id="rId4" Type="http://schemas.openxmlformats.org/officeDocument/2006/relationships/image" Target="../media/image161.wmf"/><Relationship Id="rId3" Type="http://schemas.openxmlformats.org/officeDocument/2006/relationships/image" Target="../media/image160.wmf"/><Relationship Id="rId2" Type="http://schemas.openxmlformats.org/officeDocument/2006/relationships/image" Target="../media/image159.wmf"/><Relationship Id="rId1" Type="http://schemas.openxmlformats.org/officeDocument/2006/relationships/image" Target="../media/image158.wmf"/></Relationships>
</file>

<file path=ppt/drawings/_rels/vmlDrawing40.vml.rels><?xml version="1.0" encoding="UTF-8" standalone="yes"?>
<Relationships xmlns="http://schemas.openxmlformats.org/package/2006/relationships"><Relationship Id="rId4" Type="http://schemas.openxmlformats.org/officeDocument/2006/relationships/image" Target="../media/image165.wmf"/><Relationship Id="rId3" Type="http://schemas.openxmlformats.org/officeDocument/2006/relationships/image" Target="../media/image164.wmf"/><Relationship Id="rId2" Type="http://schemas.openxmlformats.org/officeDocument/2006/relationships/image" Target="../media/image163.wmf"/><Relationship Id="rId1" Type="http://schemas.openxmlformats.org/officeDocument/2006/relationships/image" Target="../media/image162.wmf"/></Relationships>
</file>

<file path=ppt/drawings/_rels/vmlDrawing41.vml.rels><?xml version="1.0" encoding="UTF-8" standalone="yes"?>
<Relationships xmlns="http://schemas.openxmlformats.org/package/2006/relationships"><Relationship Id="rId4" Type="http://schemas.openxmlformats.org/officeDocument/2006/relationships/image" Target="../media/image168.wmf"/><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76.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179.wmf"/><Relationship Id="rId1" Type="http://schemas.openxmlformats.org/officeDocument/2006/relationships/image" Target="../media/image178.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81.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85.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03.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46.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205.wmf"/><Relationship Id="rId1" Type="http://schemas.openxmlformats.org/officeDocument/2006/relationships/image" Target="../media/image204.wmf"/></Relationships>
</file>

<file path=ppt/drawings/_rels/vmlDrawing49.vml.rels><?xml version="1.0" encoding="UTF-8" standalone="yes"?>
<Relationships xmlns="http://schemas.openxmlformats.org/package/2006/relationships"><Relationship Id="rId5" Type="http://schemas.openxmlformats.org/officeDocument/2006/relationships/image" Target="../media/image210.wmf"/><Relationship Id="rId4" Type="http://schemas.openxmlformats.org/officeDocument/2006/relationships/image" Target="../media/image209.wmf"/><Relationship Id="rId3" Type="http://schemas.openxmlformats.org/officeDocument/2006/relationships/image" Target="../media/image208.wmf"/><Relationship Id="rId2" Type="http://schemas.openxmlformats.org/officeDocument/2006/relationships/image" Target="../media/image207.wmf"/><Relationship Id="rId1" Type="http://schemas.openxmlformats.org/officeDocument/2006/relationships/image" Target="../media/image20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AD85A30-0C5E-44EE-B675-89C0A6EBA61E}"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
            <a:pPr lvl="0" algn="r" eaLnBrk="1" hangingPunct="1">
              <a:buNone/>
            </a:pPr>
            <a:fld id="{9A0DB2DC-4C9A-4742-B13C-FB6460FD3503}" type="slidenum">
              <a:rPr lang="zh-CN" altLang="en-US" sz="1200" dirty="0">
                <a:cs typeface="Arial" panose="020B0604020202020204" pitchFamily="34" charset="0"/>
              </a:rPr>
            </a:fld>
            <a:endParaRPr lang="zh-CN" altLang="en-US" sz="1200" dirty="0">
              <a:ea typeface="Arial" panose="020B0604020202020204" pitchFamily="34" charset="0"/>
              <a:cs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幻灯片图像占位符 1"/>
          <p:cNvSpPr>
            <a:spLocks noGrp="1" noRot="1" noChangeAspect="1" noTextEdit="1"/>
          </p:cNvSpPr>
          <p:nvPr>
            <p:ph type="sldImg"/>
          </p:nvPr>
        </p:nvSpPr>
        <p:spPr>
          <a:ln>
            <a:solidFill>
              <a:srgbClr val="000000">
                <a:alpha val="100000"/>
              </a:srgbClr>
            </a:solidFill>
            <a:miter lim="800000"/>
          </a:ln>
        </p:spPr>
      </p:sp>
      <p:sp>
        <p:nvSpPr>
          <p:cNvPr id="7171" name="备注占位符 2"/>
          <p:cNvSpPr>
            <a:spLocks noGrp="1"/>
          </p:cNvSpPr>
          <p:nvPr>
            <p:ph type="body" idx="1"/>
          </p:nvPr>
        </p:nvSpPr>
        <p:spPr>
          <a:noFill/>
          <a:ln>
            <a:noFill/>
          </a:ln>
        </p:spPr>
        <p:txBody>
          <a:bodyPr wrap="square" lIns="91440" tIns="45720" rIns="91440" bIns="45720" anchor="t"/>
          <a:p>
            <a:pPr lvl="0"/>
            <a:r>
              <a:rPr lang="en-US" altLang="zh-CN" dirty="0"/>
              <a:t>Polarity</a:t>
            </a:r>
            <a:r>
              <a:rPr lang="zh-CN" altLang="en-US" dirty="0"/>
              <a:t>：极性</a:t>
            </a:r>
            <a:endParaRPr lang="en-US" altLang="zh-CN" dirty="0"/>
          </a:p>
        </p:txBody>
      </p:sp>
      <p:sp>
        <p:nvSpPr>
          <p:cNvPr id="7172"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cs typeface="Arial" panose="020B0604020202020204" pitchFamily="34" charset="0"/>
              </a:rPr>
            </a:fld>
            <a:endParaRPr lang="zh-CN" altLang="en-US" sz="1200" dirty="0">
              <a:ea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幻灯片图像占位符 1"/>
          <p:cNvSpPr>
            <a:spLocks noGrp="1" noRot="1" noChangeAspect="1" noTextEdit="1"/>
          </p:cNvSpPr>
          <p:nvPr>
            <p:ph type="sldImg"/>
          </p:nvPr>
        </p:nvSpPr>
        <p:spPr>
          <a:ln>
            <a:solidFill>
              <a:srgbClr val="000000">
                <a:alpha val="100000"/>
              </a:srgbClr>
            </a:solidFill>
            <a:miter lim="800000"/>
          </a:ln>
        </p:spPr>
      </p:sp>
      <p:sp>
        <p:nvSpPr>
          <p:cNvPr id="7171" name="备注占位符 2"/>
          <p:cNvSpPr>
            <a:spLocks noGrp="1"/>
          </p:cNvSpPr>
          <p:nvPr>
            <p:ph type="body" idx="1"/>
          </p:nvPr>
        </p:nvSpPr>
        <p:spPr>
          <a:noFill/>
          <a:ln>
            <a:noFill/>
          </a:ln>
        </p:spPr>
        <p:txBody>
          <a:bodyPr wrap="square" lIns="91440" tIns="45720" rIns="91440" bIns="45720" anchor="t"/>
          <a:p>
            <a:pPr lvl="0"/>
            <a:r>
              <a:rPr lang="en-US" altLang="zh-CN" dirty="0"/>
              <a:t>Polarity</a:t>
            </a:r>
            <a:r>
              <a:rPr lang="zh-CN" altLang="en-US" dirty="0"/>
              <a:t>：极性</a:t>
            </a:r>
            <a:endParaRPr lang="en-US" altLang="zh-CN" dirty="0"/>
          </a:p>
        </p:txBody>
      </p:sp>
      <p:sp>
        <p:nvSpPr>
          <p:cNvPr id="7172"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cs typeface="Arial" panose="020B0604020202020204" pitchFamily="34" charset="0"/>
              </a:rPr>
            </a:fld>
            <a:endParaRPr lang="zh-CN" altLang="en-US" sz="1200" dirty="0">
              <a:ea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幻灯片图像占位符 1"/>
          <p:cNvSpPr>
            <a:spLocks noGrp="1" noRot="1" noChangeAspect="1" noTextEdit="1"/>
          </p:cNvSpPr>
          <p:nvPr>
            <p:ph type="sldImg"/>
          </p:nvPr>
        </p:nvSpPr>
        <p:spPr>
          <a:ln>
            <a:solidFill>
              <a:srgbClr val="000000">
                <a:alpha val="100000"/>
              </a:srgbClr>
            </a:solidFill>
            <a:miter lim="800000"/>
          </a:ln>
        </p:spPr>
      </p:sp>
      <p:sp>
        <p:nvSpPr>
          <p:cNvPr id="10243" name="备注占位符 2"/>
          <p:cNvSpPr>
            <a:spLocks noGrp="1"/>
          </p:cNvSpPr>
          <p:nvPr>
            <p:ph type="body" idx="1"/>
          </p:nvPr>
        </p:nvSpPr>
        <p:spPr>
          <a:noFill/>
          <a:ln>
            <a:noFill/>
          </a:ln>
        </p:spPr>
        <p:txBody>
          <a:bodyPr wrap="square" lIns="91440" tIns="45720" rIns="91440" bIns="45720" anchor="t"/>
          <a:p>
            <a:pPr lvl="0"/>
            <a:endParaRPr lang="en-US" altLang="zh-CN" dirty="0"/>
          </a:p>
        </p:txBody>
      </p:sp>
      <p:sp>
        <p:nvSpPr>
          <p:cNvPr id="10244"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cs typeface="Arial" panose="020B0604020202020204" pitchFamily="34" charset="0"/>
              </a:rPr>
            </a:fld>
            <a:endParaRPr lang="zh-CN" altLang="en-US" sz="1200" dirty="0">
              <a:ea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幻灯片图像占位符 1"/>
          <p:cNvSpPr>
            <a:spLocks noGrp="1" noRot="1" noChangeAspect="1" noTextEdit="1"/>
          </p:cNvSpPr>
          <p:nvPr>
            <p:ph type="sldImg"/>
          </p:nvPr>
        </p:nvSpPr>
        <p:spPr>
          <a:ln>
            <a:solidFill>
              <a:srgbClr val="000000">
                <a:alpha val="100000"/>
              </a:srgbClr>
            </a:solidFill>
            <a:miter lim="800000"/>
          </a:ln>
        </p:spPr>
      </p:sp>
      <p:sp>
        <p:nvSpPr>
          <p:cNvPr id="14339" name="备注占位符 2"/>
          <p:cNvSpPr>
            <a:spLocks noGrp="1"/>
          </p:cNvSpPr>
          <p:nvPr>
            <p:ph type="body" idx="1"/>
          </p:nvPr>
        </p:nvSpPr>
        <p:spPr>
          <a:noFill/>
          <a:ln>
            <a:noFill/>
          </a:ln>
        </p:spPr>
        <p:txBody>
          <a:bodyPr wrap="square" lIns="91440" tIns="45720" rIns="91440" bIns="45720" anchor="t"/>
          <a:p>
            <a:pPr lvl="0"/>
            <a:endParaRPr lang="en-US" altLang="zh-CN" dirty="0"/>
          </a:p>
        </p:txBody>
      </p:sp>
      <p:sp>
        <p:nvSpPr>
          <p:cNvPr id="14340"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cs typeface="Arial" panose="020B0604020202020204" pitchFamily="34" charset="0"/>
              </a:rPr>
            </a:fld>
            <a:endParaRPr lang="zh-CN" altLang="en-US" sz="1200" dirty="0">
              <a:ea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幻灯片图像占位符 1"/>
          <p:cNvSpPr>
            <a:spLocks noGrp="1" noRot="1" noChangeAspect="1" noTextEdit="1"/>
          </p:cNvSpPr>
          <p:nvPr>
            <p:ph type="sldImg"/>
          </p:nvPr>
        </p:nvSpPr>
        <p:spPr>
          <a:ln>
            <a:solidFill>
              <a:srgbClr val="000000">
                <a:alpha val="100000"/>
              </a:srgbClr>
            </a:solidFill>
            <a:miter lim="800000"/>
          </a:ln>
        </p:spPr>
      </p:sp>
      <p:sp>
        <p:nvSpPr>
          <p:cNvPr id="18435" name="备注占位符 2"/>
          <p:cNvSpPr>
            <a:spLocks noGrp="1"/>
          </p:cNvSpPr>
          <p:nvPr>
            <p:ph type="body" idx="1"/>
          </p:nvPr>
        </p:nvSpPr>
        <p:spPr>
          <a:noFill/>
          <a:ln>
            <a:noFill/>
          </a:ln>
        </p:spPr>
        <p:txBody>
          <a:bodyPr wrap="square" lIns="91440" tIns="45720" rIns="91440" bIns="45720" anchor="t"/>
          <a:p>
            <a:pPr lvl="0"/>
            <a:endParaRPr lang="en-US" altLang="zh-CN" dirty="0"/>
          </a:p>
        </p:txBody>
      </p:sp>
      <p:sp>
        <p:nvSpPr>
          <p:cNvPr id="18436"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cs typeface="Arial" panose="020B0604020202020204" pitchFamily="34" charset="0"/>
              </a:rPr>
            </a:fld>
            <a:endParaRPr lang="zh-CN" altLang="en-US" sz="1200" dirty="0">
              <a:ea typeface="Arial" panose="020B0604020202020204" pitchFamily="34" charset="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幻灯片图像占位符 1"/>
          <p:cNvSpPr>
            <a:spLocks noGrp="1" noRot="1" noChangeAspect="1" noTextEdit="1"/>
          </p:cNvSpPr>
          <p:nvPr>
            <p:ph type="sldImg"/>
          </p:nvPr>
        </p:nvSpPr>
        <p:spPr>
          <a:ln>
            <a:solidFill>
              <a:srgbClr val="000000">
                <a:alpha val="100000"/>
              </a:srgbClr>
            </a:solidFill>
            <a:miter lim="800000"/>
          </a:ln>
        </p:spPr>
      </p:sp>
      <p:sp>
        <p:nvSpPr>
          <p:cNvPr id="20483" name="备注占位符 2"/>
          <p:cNvSpPr>
            <a:spLocks noGrp="1"/>
          </p:cNvSpPr>
          <p:nvPr>
            <p:ph type="body" idx="1"/>
          </p:nvPr>
        </p:nvSpPr>
        <p:spPr>
          <a:noFill/>
          <a:ln>
            <a:noFill/>
          </a:ln>
        </p:spPr>
        <p:txBody>
          <a:bodyPr wrap="square" lIns="91440" tIns="45720" rIns="91440" bIns="45720" anchor="t"/>
          <a:p>
            <a:pPr lvl="0"/>
            <a:endParaRPr lang="en-US" altLang="zh-CN" dirty="0"/>
          </a:p>
        </p:txBody>
      </p:sp>
      <p:sp>
        <p:nvSpPr>
          <p:cNvPr id="20484"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cs typeface="Arial" panose="020B0604020202020204" pitchFamily="34" charset="0"/>
              </a:rPr>
            </a:fld>
            <a:endParaRPr lang="zh-CN" altLang="en-US" sz="1200" dirty="0">
              <a:ea typeface="Arial" panose="020B0604020202020204" pitchFamily="34" charset="0"/>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幻灯片图像占位符 1"/>
          <p:cNvSpPr>
            <a:spLocks noGrp="1" noRot="1" noChangeAspect="1" noTextEdit="1"/>
          </p:cNvSpPr>
          <p:nvPr>
            <p:ph type="sldImg"/>
          </p:nvPr>
        </p:nvSpPr>
        <p:spPr>
          <a:ln>
            <a:solidFill>
              <a:srgbClr val="000000">
                <a:alpha val="100000"/>
              </a:srgbClr>
            </a:solidFill>
            <a:miter lim="800000"/>
          </a:ln>
        </p:spPr>
      </p:sp>
      <p:sp>
        <p:nvSpPr>
          <p:cNvPr id="24579" name="备注占位符 2"/>
          <p:cNvSpPr>
            <a:spLocks noGrp="1"/>
          </p:cNvSpPr>
          <p:nvPr>
            <p:ph type="body" idx="1"/>
          </p:nvPr>
        </p:nvSpPr>
        <p:spPr>
          <a:noFill/>
          <a:ln>
            <a:noFill/>
          </a:ln>
        </p:spPr>
        <p:txBody>
          <a:bodyPr wrap="square" lIns="91440" tIns="45720" rIns="91440" bIns="45720" anchor="t"/>
          <a:p>
            <a:pPr lvl="0"/>
            <a:endParaRPr lang="en-US" altLang="zh-CN" dirty="0"/>
          </a:p>
        </p:txBody>
      </p:sp>
      <p:sp>
        <p:nvSpPr>
          <p:cNvPr id="24580"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cs typeface="Arial" panose="020B0604020202020204" pitchFamily="34" charset="0"/>
              </a:rPr>
            </a:fld>
            <a:endParaRPr lang="zh-CN" altLang="en-US" sz="1200" dirty="0">
              <a:ea typeface="Arial" panose="020B0604020202020204" pitchFamily="34" charset="0"/>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幻灯片图像占位符 1"/>
          <p:cNvSpPr>
            <a:spLocks noGrp="1" noRot="1" noChangeAspect="1" noTextEdit="1"/>
          </p:cNvSpPr>
          <p:nvPr>
            <p:ph type="sldImg"/>
          </p:nvPr>
        </p:nvSpPr>
        <p:spPr>
          <a:ln>
            <a:solidFill>
              <a:srgbClr val="000000">
                <a:alpha val="100000"/>
              </a:srgbClr>
            </a:solidFill>
            <a:miter lim="800000"/>
          </a:ln>
        </p:spPr>
      </p:sp>
      <p:sp>
        <p:nvSpPr>
          <p:cNvPr id="26627" name="备注占位符 2"/>
          <p:cNvSpPr>
            <a:spLocks noGrp="1"/>
          </p:cNvSpPr>
          <p:nvPr>
            <p:ph type="body" idx="1"/>
          </p:nvPr>
        </p:nvSpPr>
        <p:spPr>
          <a:noFill/>
          <a:ln>
            <a:noFill/>
          </a:ln>
        </p:spPr>
        <p:txBody>
          <a:bodyPr wrap="square" lIns="91440" tIns="45720" rIns="91440" bIns="45720" anchor="t"/>
          <a:p>
            <a:pPr lvl="0"/>
            <a:r>
              <a:rPr lang="zh-CN" altLang="en-US" dirty="0"/>
              <a:t>左边电路</a:t>
            </a:r>
            <a:r>
              <a:rPr lang="en-US" altLang="zh-CN" dirty="0"/>
              <a:t>a</a:t>
            </a:r>
            <a:r>
              <a:rPr lang="zh-CN" altLang="en-US" dirty="0"/>
              <a:t>在上面节点处用</a:t>
            </a:r>
            <a:r>
              <a:rPr lang="en-US" altLang="zh-CN" dirty="0"/>
              <a:t>KCL</a:t>
            </a:r>
            <a:r>
              <a:rPr lang="zh-CN" altLang="en-US" dirty="0"/>
              <a:t>可得到 </a:t>
            </a:r>
            <a:r>
              <a:rPr lang="en-US" altLang="zh-CN" dirty="0"/>
              <a:t>IT=I1-I2+I3</a:t>
            </a:r>
            <a:r>
              <a:rPr lang="zh-CN" altLang="en-US" dirty="0"/>
              <a:t>，根据端口伏安特性相同，可以得到右边 </a:t>
            </a:r>
            <a:r>
              <a:rPr lang="en-US" altLang="zh-CN" dirty="0"/>
              <a:t>Is=I1-I2+I3</a:t>
            </a:r>
            <a:endParaRPr lang="en-US" altLang="zh-CN" dirty="0"/>
          </a:p>
        </p:txBody>
      </p:sp>
      <p:sp>
        <p:nvSpPr>
          <p:cNvPr id="26628"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cs typeface="Arial" panose="020B0604020202020204" pitchFamily="34" charset="0"/>
              </a:rPr>
            </a:fld>
            <a:endParaRPr lang="zh-CN" altLang="en-US" sz="1200" dirty="0">
              <a:ea typeface="Arial" panose="020B0604020202020204" pitchFamily="34" charset="0"/>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幻灯片图像占位符 1"/>
          <p:cNvSpPr>
            <a:spLocks noGrp="1" noRot="1" noChangeAspect="1" noTextEdit="1"/>
          </p:cNvSpPr>
          <p:nvPr>
            <p:ph type="sldImg"/>
          </p:nvPr>
        </p:nvSpPr>
        <p:spPr>
          <a:ln>
            <a:solidFill>
              <a:srgbClr val="000000">
                <a:alpha val="100000"/>
              </a:srgbClr>
            </a:solidFill>
            <a:miter lim="800000"/>
          </a:ln>
        </p:spPr>
      </p:sp>
      <p:sp>
        <p:nvSpPr>
          <p:cNvPr id="34819" name="备注占位符 2"/>
          <p:cNvSpPr>
            <a:spLocks noGrp="1"/>
          </p:cNvSpPr>
          <p:nvPr>
            <p:ph type="body" idx="1"/>
          </p:nvPr>
        </p:nvSpPr>
        <p:spPr>
          <a:noFill/>
          <a:ln>
            <a:noFill/>
          </a:ln>
        </p:spPr>
        <p:txBody>
          <a:bodyPr wrap="square" lIns="91440" tIns="45720" rIns="91440" bIns="45720" anchor="t"/>
          <a:p>
            <a:pPr lvl="0"/>
            <a:endParaRPr lang="zh-CN" altLang="en-US" dirty="0"/>
          </a:p>
        </p:txBody>
      </p:sp>
      <p:sp>
        <p:nvSpPr>
          <p:cNvPr id="34820"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cs typeface="Arial" panose="020B0604020202020204" pitchFamily="34" charset="0"/>
              </a:rPr>
            </a:fld>
            <a:endParaRPr lang="zh-CN" altLang="en-US" sz="1200" dirty="0">
              <a:ea typeface="Arial" panose="020B0604020202020204" pitchFamily="34" charset="0"/>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幻灯片图像占位符 1"/>
          <p:cNvSpPr>
            <a:spLocks noGrp="1" noRot="1" noChangeAspect="1" noTextEdit="1"/>
          </p:cNvSpPr>
          <p:nvPr>
            <p:ph type="sldImg"/>
          </p:nvPr>
        </p:nvSpPr>
        <p:spPr>
          <a:ln>
            <a:solidFill>
              <a:srgbClr val="000000">
                <a:alpha val="100000"/>
              </a:srgbClr>
            </a:solidFill>
            <a:miter lim="800000"/>
          </a:ln>
        </p:spPr>
      </p:sp>
      <p:sp>
        <p:nvSpPr>
          <p:cNvPr id="53251" name="备注占位符 2"/>
          <p:cNvSpPr>
            <a:spLocks noGrp="1"/>
          </p:cNvSpPr>
          <p:nvPr>
            <p:ph type="body" idx="1"/>
          </p:nvPr>
        </p:nvSpPr>
        <p:spPr>
          <a:noFill/>
          <a:ln>
            <a:noFill/>
          </a:ln>
        </p:spPr>
        <p:txBody>
          <a:bodyPr wrap="square" lIns="91440" tIns="45720" rIns="91440" bIns="45720" anchor="t"/>
          <a:p>
            <a:pPr lvl="0"/>
            <a:endParaRPr lang="zh-CN" altLang="en-US" dirty="0"/>
          </a:p>
        </p:txBody>
      </p:sp>
      <p:sp>
        <p:nvSpPr>
          <p:cNvPr id="53252"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cs typeface="Arial" panose="020B0604020202020204" pitchFamily="34" charset="0"/>
              </a:rPr>
            </a:fld>
            <a:endParaRPr lang="zh-CN" altLang="en-US" sz="1200" dirty="0">
              <a:ea typeface="Arial" panose="020B0604020202020204" pitchFamily="34" charset="0"/>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幻灯片图像占位符 1"/>
          <p:cNvSpPr>
            <a:spLocks noGrp="1" noRot="1" noChangeAspect="1" noTextEdit="1"/>
          </p:cNvSpPr>
          <p:nvPr>
            <p:ph type="sldImg"/>
          </p:nvPr>
        </p:nvSpPr>
        <p:spPr>
          <a:ln>
            <a:solidFill>
              <a:srgbClr val="000000">
                <a:alpha val="100000"/>
              </a:srgbClr>
            </a:solidFill>
            <a:miter lim="800000"/>
          </a:ln>
        </p:spPr>
      </p:sp>
      <p:sp>
        <p:nvSpPr>
          <p:cNvPr id="58371" name="备注占位符 2"/>
          <p:cNvSpPr>
            <a:spLocks noGrp="1"/>
          </p:cNvSpPr>
          <p:nvPr>
            <p:ph type="body" idx="1"/>
          </p:nvPr>
        </p:nvSpPr>
        <p:spPr>
          <a:noFill/>
          <a:ln>
            <a:noFill/>
          </a:ln>
        </p:spPr>
        <p:txBody>
          <a:bodyPr wrap="square" lIns="91440" tIns="45720" rIns="91440" bIns="45720" anchor="t"/>
          <a:p>
            <a:pPr lvl="0"/>
            <a:r>
              <a:rPr lang="zh-CN" altLang="en-US" dirty="0"/>
              <a:t>一般了解，介绍等效转换的逻辑思想。</a:t>
            </a:r>
            <a:endParaRPr lang="zh-CN" altLang="en-US" dirty="0"/>
          </a:p>
        </p:txBody>
      </p:sp>
      <p:sp>
        <p:nvSpPr>
          <p:cNvPr id="58372"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cs typeface="Arial" panose="020B0604020202020204" pitchFamily="34" charset="0"/>
              </a:rPr>
            </a:fld>
            <a:endParaRPr lang="zh-CN" altLang="en-US" sz="1200" dirty="0">
              <a:ea typeface="Arial" panose="020B0604020202020204" pitchFamily="34" charset="0"/>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幻灯片图像占位符 1"/>
          <p:cNvSpPr>
            <a:spLocks noGrp="1" noRot="1" noChangeAspect="1" noTextEdit="1"/>
          </p:cNvSpPr>
          <p:nvPr>
            <p:ph type="sldImg"/>
          </p:nvPr>
        </p:nvSpPr>
        <p:spPr>
          <a:ln>
            <a:solidFill>
              <a:srgbClr val="000000">
                <a:alpha val="100000"/>
              </a:srgbClr>
            </a:solidFill>
            <a:miter lim="800000"/>
          </a:ln>
        </p:spPr>
      </p:sp>
      <p:sp>
        <p:nvSpPr>
          <p:cNvPr id="63491" name="备注占位符 2"/>
          <p:cNvSpPr>
            <a:spLocks noGrp="1"/>
          </p:cNvSpPr>
          <p:nvPr>
            <p:ph type="body" idx="1"/>
          </p:nvPr>
        </p:nvSpPr>
        <p:spPr>
          <a:noFill/>
          <a:ln>
            <a:noFill/>
          </a:ln>
        </p:spPr>
        <p:txBody>
          <a:bodyPr wrap="square" lIns="91440" tIns="45720" rIns="91440" bIns="45720" anchor="t"/>
          <a:p>
            <a:pPr lvl="0"/>
            <a:r>
              <a:rPr lang="zh-CN" altLang="en-US" dirty="0"/>
              <a:t>这里</a:t>
            </a:r>
            <a:r>
              <a:rPr lang="en-US" altLang="zh-CN" dirty="0"/>
              <a:t>R1</a:t>
            </a:r>
            <a:r>
              <a:rPr lang="zh-CN" altLang="en-US" dirty="0"/>
              <a:t>和</a:t>
            </a:r>
            <a:r>
              <a:rPr lang="en-US" altLang="zh-CN" dirty="0"/>
              <a:t>Ra</a:t>
            </a:r>
            <a:r>
              <a:rPr lang="zh-CN" altLang="en-US" dirty="0"/>
              <a:t>是相对的，不是相邻的</a:t>
            </a:r>
            <a:endParaRPr lang="en-US" altLang="zh-CN" dirty="0"/>
          </a:p>
        </p:txBody>
      </p:sp>
      <p:sp>
        <p:nvSpPr>
          <p:cNvPr id="63492"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cs typeface="Arial" panose="020B0604020202020204" pitchFamily="34" charset="0"/>
              </a:rPr>
            </a:fld>
            <a:endParaRPr lang="zh-CN" altLang="en-US" sz="1200" dirty="0">
              <a:ea typeface="Arial" panose="020B0604020202020204" pitchFamily="34" charset="0"/>
              <a:cs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幻灯片图像占位符 1"/>
          <p:cNvSpPr>
            <a:spLocks noGrp="1" noRot="1" noChangeAspect="1" noTextEdit="1"/>
          </p:cNvSpPr>
          <p:nvPr>
            <p:ph type="sldImg"/>
          </p:nvPr>
        </p:nvSpPr>
        <p:spPr>
          <a:ln>
            <a:solidFill>
              <a:srgbClr val="000000">
                <a:alpha val="100000"/>
              </a:srgbClr>
            </a:solidFill>
            <a:miter lim="800000"/>
          </a:ln>
        </p:spPr>
      </p:sp>
      <p:sp>
        <p:nvSpPr>
          <p:cNvPr id="70659" name="备注占位符 2"/>
          <p:cNvSpPr>
            <a:spLocks noGrp="1"/>
          </p:cNvSpPr>
          <p:nvPr>
            <p:ph type="body" idx="1"/>
          </p:nvPr>
        </p:nvSpPr>
        <p:spPr>
          <a:noFill/>
          <a:ln>
            <a:noFill/>
          </a:ln>
        </p:spPr>
        <p:txBody>
          <a:bodyPr wrap="square" lIns="91440" tIns="45720" rIns="91440" bIns="45720" anchor="t"/>
          <a:p>
            <a:pPr lvl="0"/>
            <a:r>
              <a:rPr lang="zh-CN" altLang="en-US" dirty="0"/>
              <a:t>达松伐尔测量转动装置是由一个安装在永磁体两极间枢轴上的可转动铁心线圈组成，当电流流经线圈时，产生转矩，使指针偏转。流过线圈电流的大小决定了指针偏转的幅度，并通过测量转动装置上附加的刻度指示出来。例如：当电表转动装置的额定值为</a:t>
            </a:r>
            <a:r>
              <a:rPr lang="en-US" altLang="zh-CN" dirty="0"/>
              <a:t>1mA, 50</a:t>
            </a:r>
            <a:r>
              <a:rPr lang="zh-CN" altLang="en-US" dirty="0"/>
              <a:t>欧时，线圈流过</a:t>
            </a:r>
            <a:r>
              <a:rPr lang="en-US" altLang="zh-CN" dirty="0"/>
              <a:t>1mA</a:t>
            </a:r>
            <a:r>
              <a:rPr lang="zh-CN" altLang="en-US" dirty="0"/>
              <a:t>的电流就会使电表转动装置发生满刻度偏转。</a:t>
            </a:r>
            <a:endParaRPr lang="en-US" altLang="zh-CN" dirty="0"/>
          </a:p>
          <a:p>
            <a:pPr lvl="0"/>
            <a:r>
              <a:rPr lang="zh-CN" altLang="en-US" dirty="0"/>
              <a:t>在达松伐尔测量装置的基础上附加必要的电路，就可以构成电流比、电压表或者电阻表。这里提一下万用表：能够测量电压、电流和电阻的仪表是万用表</a:t>
            </a:r>
            <a:endParaRPr lang="en-US" altLang="zh-CN" dirty="0"/>
          </a:p>
        </p:txBody>
      </p:sp>
      <p:sp>
        <p:nvSpPr>
          <p:cNvPr id="70660"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cs typeface="Arial" panose="020B0604020202020204" pitchFamily="34" charset="0"/>
              </a:rPr>
            </a:fld>
            <a:endParaRPr lang="zh-CN" altLang="en-US" sz="1200" dirty="0">
              <a:ea typeface="Arial" panose="020B0604020202020204" pitchFamily="34" charset="0"/>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幻灯片图像占位符 1"/>
          <p:cNvSpPr>
            <a:spLocks noGrp="1" noRot="1" noChangeAspect="1" noTextEdit="1"/>
          </p:cNvSpPr>
          <p:nvPr>
            <p:ph type="sldImg"/>
          </p:nvPr>
        </p:nvSpPr>
        <p:spPr>
          <a:ln>
            <a:solidFill>
              <a:srgbClr val="000000">
                <a:alpha val="100000"/>
              </a:srgbClr>
            </a:solidFill>
            <a:miter lim="800000"/>
          </a:ln>
        </p:spPr>
      </p:sp>
      <p:sp>
        <p:nvSpPr>
          <p:cNvPr id="72707" name="备注占位符 2"/>
          <p:cNvSpPr>
            <a:spLocks noGrp="1"/>
          </p:cNvSpPr>
          <p:nvPr>
            <p:ph type="body" idx="1"/>
          </p:nvPr>
        </p:nvSpPr>
        <p:spPr>
          <a:noFill/>
          <a:ln>
            <a:noFill/>
          </a:ln>
        </p:spPr>
        <p:txBody>
          <a:bodyPr wrap="square" lIns="91440" tIns="45720" rIns="91440" bIns="45720" anchor="t"/>
          <a:p>
            <a:pPr lvl="0"/>
            <a:r>
              <a:rPr lang="zh-CN" altLang="en-US" dirty="0"/>
              <a:t>图</a:t>
            </a:r>
            <a:r>
              <a:rPr lang="en-US" altLang="zh-CN" dirty="0"/>
              <a:t>b</a:t>
            </a:r>
            <a:r>
              <a:rPr lang="zh-CN" altLang="en-US" dirty="0"/>
              <a:t>中</a:t>
            </a:r>
            <a:r>
              <a:rPr lang="en-US" altLang="zh-CN" dirty="0"/>
              <a:t>R3&gt;R2&gt;R1</a:t>
            </a:r>
            <a:r>
              <a:rPr lang="zh-CN" altLang="en-US" dirty="0"/>
              <a:t>，电阻越大，上面分得的电压越大，量程越大</a:t>
            </a:r>
            <a:endParaRPr lang="en-US" altLang="zh-CN" dirty="0"/>
          </a:p>
          <a:p>
            <a:pPr lvl="0"/>
            <a:r>
              <a:rPr lang="en-US" altLang="zh-CN" dirty="0"/>
              <a:t>Mutiplier: </a:t>
            </a:r>
            <a:r>
              <a:rPr lang="zh-CN" altLang="en-US" dirty="0"/>
              <a:t>量程扩展</a:t>
            </a:r>
            <a:endParaRPr lang="en-US" altLang="zh-CN" dirty="0"/>
          </a:p>
        </p:txBody>
      </p:sp>
      <p:sp>
        <p:nvSpPr>
          <p:cNvPr id="72708"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cs typeface="Arial" panose="020B0604020202020204" pitchFamily="34" charset="0"/>
              </a:rPr>
            </a:fld>
            <a:endParaRPr lang="zh-CN" altLang="en-US" sz="1200" dirty="0">
              <a:ea typeface="Arial" panose="020B0604020202020204" pitchFamily="34" charset="0"/>
              <a:cs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幻灯片图像占位符 1"/>
          <p:cNvSpPr>
            <a:spLocks noGrp="1" noRot="1" noChangeAspect="1" noTextEdit="1"/>
          </p:cNvSpPr>
          <p:nvPr>
            <p:ph type="sldImg"/>
          </p:nvPr>
        </p:nvSpPr>
        <p:spPr>
          <a:ln>
            <a:solidFill>
              <a:srgbClr val="000000">
                <a:alpha val="100000"/>
              </a:srgbClr>
            </a:solidFill>
            <a:miter lim="800000"/>
          </a:ln>
        </p:spPr>
      </p:sp>
      <p:sp>
        <p:nvSpPr>
          <p:cNvPr id="74755" name="备注占位符 2"/>
          <p:cNvSpPr>
            <a:spLocks noGrp="1"/>
          </p:cNvSpPr>
          <p:nvPr>
            <p:ph type="body" idx="1"/>
          </p:nvPr>
        </p:nvSpPr>
        <p:spPr>
          <a:noFill/>
          <a:ln>
            <a:noFill/>
          </a:ln>
        </p:spPr>
        <p:txBody>
          <a:bodyPr wrap="square" lIns="91440" tIns="45720" rIns="91440" bIns="45720" anchor="t"/>
          <a:p>
            <a:pPr lvl="0"/>
            <a:r>
              <a:rPr lang="zh-CN" altLang="en-US" dirty="0"/>
              <a:t>右图中</a:t>
            </a:r>
            <a:r>
              <a:rPr lang="en-US" altLang="zh-CN" dirty="0"/>
              <a:t>R1&gt;R2&gt;R3</a:t>
            </a:r>
            <a:r>
              <a:rPr lang="zh-CN" altLang="en-US" dirty="0"/>
              <a:t>，电阻越小，上面分得的电流越大，量程越大</a:t>
            </a:r>
            <a:endParaRPr lang="en-US" altLang="zh-CN" dirty="0"/>
          </a:p>
          <a:p>
            <a:pPr lvl="0"/>
            <a:endParaRPr lang="en-US" altLang="zh-CN" dirty="0"/>
          </a:p>
        </p:txBody>
      </p:sp>
      <p:sp>
        <p:nvSpPr>
          <p:cNvPr id="74756"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cs typeface="Arial" panose="020B0604020202020204" pitchFamily="34" charset="0"/>
              </a:rPr>
            </a:fld>
            <a:endParaRPr lang="zh-CN" altLang="en-US" sz="1200" dirty="0">
              <a:ea typeface="Arial" panose="020B0604020202020204" pitchFamily="34" charset="0"/>
              <a:cs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幻灯片图像占位符 1"/>
          <p:cNvSpPr>
            <a:spLocks noGrp="1" noRot="1" noChangeAspect="1" noTextEdit="1"/>
          </p:cNvSpPr>
          <p:nvPr>
            <p:ph type="sldImg"/>
          </p:nvPr>
        </p:nvSpPr>
        <p:spPr>
          <a:ln>
            <a:solidFill>
              <a:srgbClr val="000000">
                <a:alpha val="100000"/>
              </a:srgbClr>
            </a:solidFill>
            <a:miter lim="800000"/>
          </a:ln>
        </p:spPr>
      </p:sp>
      <p:sp>
        <p:nvSpPr>
          <p:cNvPr id="76803" name="备注占位符 2"/>
          <p:cNvSpPr>
            <a:spLocks noGrp="1"/>
          </p:cNvSpPr>
          <p:nvPr>
            <p:ph type="body" idx="1"/>
          </p:nvPr>
        </p:nvSpPr>
        <p:spPr>
          <a:noFill/>
          <a:ln>
            <a:noFill/>
          </a:ln>
        </p:spPr>
        <p:txBody>
          <a:bodyPr wrap="square" lIns="91440" tIns="45720" rIns="91440" bIns="45720" anchor="t"/>
          <a:p>
            <a:pPr lvl="0"/>
            <a:r>
              <a:rPr lang="zh-CN" altLang="en-US" dirty="0"/>
              <a:t>图</a:t>
            </a:r>
            <a:r>
              <a:rPr lang="en-US" altLang="zh-CN" dirty="0"/>
              <a:t>b</a:t>
            </a:r>
            <a:r>
              <a:rPr lang="zh-CN" altLang="en-US" dirty="0"/>
              <a:t>：欧姆表中，其实测的是电流，表盘标示电阻值。</a:t>
            </a:r>
            <a:endParaRPr lang="en-US" altLang="zh-CN" dirty="0"/>
          </a:p>
        </p:txBody>
      </p:sp>
      <p:sp>
        <p:nvSpPr>
          <p:cNvPr id="76804"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cs typeface="Arial" panose="020B0604020202020204" pitchFamily="34" charset="0"/>
              </a:rPr>
            </a:fld>
            <a:endParaRPr lang="zh-CN" altLang="en-US" sz="1200" dirty="0">
              <a:ea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sp>
          <p:nvSpPr>
            <p:cNvPr id="18"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4"/>
            <p:cNvSpPr>
              <a:spLocks noChangeArrowheads="1"/>
            </p:cNvSpPr>
            <p:nvPr/>
          </p:nvSpPr>
          <p:spPr bwMode="hidden">
            <a:xfrm>
              <a:off x="1081" y="1065"/>
              <a:ext cx="4679" cy="1596"/>
            </a:xfrm>
            <a:prstGeom prst="rect">
              <a:avLst/>
            </a:prstGeom>
            <a:solidFill>
              <a:schemeClr val="bg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058" name="Group 5"/>
            <p:cNvGrpSpPr/>
            <p:nvPr/>
          </p:nvGrpSpPr>
          <p:grpSpPr>
            <a:xfrm>
              <a:off x="0" y="672"/>
              <a:ext cx="1806" cy="1989"/>
              <a:chOff x="0" y="672"/>
              <a:chExt cx="1806" cy="1989"/>
            </a:xfrm>
          </p:grpSpPr>
          <p:sp>
            <p:nvSpPr>
              <p:cNvPr id="21" name="Rectangle 6"/>
              <p:cNvSpPr>
                <a:spLocks noChangeArrowheads="1"/>
              </p:cNvSpPr>
              <p:nvPr/>
            </p:nvSpPr>
            <p:spPr bwMode="auto">
              <a:xfrm>
                <a:off x="361" y="2257"/>
                <a:ext cx="363" cy="404"/>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7"/>
              <p:cNvSpPr>
                <a:spLocks noChangeArrowheads="1"/>
              </p:cNvSpPr>
              <p:nvPr/>
            </p:nvSpPr>
            <p:spPr bwMode="auto">
              <a:xfrm>
                <a:off x="1081" y="1065"/>
                <a:ext cx="362" cy="405"/>
              </a:xfrm>
              <a:prstGeom prst="rect">
                <a:avLst/>
              </a:prstGeom>
              <a:solidFill>
                <a:schemeClr val="folHlink"/>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8"/>
              <p:cNvSpPr>
                <a:spLocks noChangeArrowheads="1"/>
              </p:cNvSpPr>
              <p:nvPr/>
            </p:nvSpPr>
            <p:spPr bwMode="auto">
              <a:xfrm>
                <a:off x="1437" y="672"/>
                <a:ext cx="369" cy="400"/>
              </a:xfrm>
              <a:prstGeom prst="rect">
                <a:avLst/>
              </a:prstGeom>
              <a:solidFill>
                <a:schemeClr val="folHlink"/>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9"/>
              <p:cNvSpPr>
                <a:spLocks noChangeArrowheads="1"/>
              </p:cNvSpPr>
              <p:nvPr/>
            </p:nvSpPr>
            <p:spPr bwMode="auto">
              <a:xfrm>
                <a:off x="719" y="2257"/>
                <a:ext cx="368" cy="404"/>
              </a:xfrm>
              <a:prstGeom prst="rect">
                <a:avLst/>
              </a:prstGeom>
              <a:solidFill>
                <a:schemeClr val="bg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0"/>
              <p:cNvSpPr>
                <a:spLocks noChangeArrowheads="1"/>
              </p:cNvSpPr>
              <p:nvPr/>
            </p:nvSpPr>
            <p:spPr bwMode="auto">
              <a:xfrm>
                <a:off x="1437" y="1065"/>
                <a:ext cx="369" cy="405"/>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1"/>
              <p:cNvSpPr>
                <a:spLocks noChangeArrowheads="1"/>
              </p:cNvSpPr>
              <p:nvPr/>
            </p:nvSpPr>
            <p:spPr bwMode="auto">
              <a:xfrm>
                <a:off x="719" y="1464"/>
                <a:ext cx="368" cy="399"/>
              </a:xfrm>
              <a:prstGeom prst="rect">
                <a:avLst/>
              </a:prstGeom>
              <a:solidFill>
                <a:schemeClr val="folHlink"/>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2"/>
              <p:cNvSpPr>
                <a:spLocks noChangeArrowheads="1"/>
              </p:cNvSpPr>
              <p:nvPr/>
            </p:nvSpPr>
            <p:spPr bwMode="auto">
              <a:xfrm>
                <a:off x="0" y="1464"/>
                <a:ext cx="367" cy="399"/>
              </a:xfrm>
              <a:prstGeom prst="rect">
                <a:avLst/>
              </a:prstGeom>
              <a:solidFill>
                <a:schemeClr val="bg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13"/>
              <p:cNvSpPr>
                <a:spLocks noChangeArrowheads="1"/>
              </p:cNvSpPr>
              <p:nvPr/>
            </p:nvSpPr>
            <p:spPr bwMode="auto">
              <a:xfrm>
                <a:off x="1081" y="1464"/>
                <a:ext cx="362" cy="3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14"/>
              <p:cNvSpPr>
                <a:spLocks noChangeArrowheads="1"/>
              </p:cNvSpPr>
              <p:nvPr/>
            </p:nvSpPr>
            <p:spPr bwMode="auto">
              <a:xfrm>
                <a:off x="361" y="1857"/>
                <a:ext cx="363" cy="406"/>
              </a:xfrm>
              <a:prstGeom prst="rect">
                <a:avLst/>
              </a:prstGeom>
              <a:solidFill>
                <a:schemeClr val="folHlink"/>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Rectangle 15"/>
              <p:cNvSpPr>
                <a:spLocks noChangeArrowheads="1"/>
              </p:cNvSpPr>
              <p:nvPr/>
            </p:nvSpPr>
            <p:spPr bwMode="auto">
              <a:xfrm>
                <a:off x="719" y="1857"/>
                <a:ext cx="368" cy="406"/>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513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5140"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endParaRPr lang="zh-CN" altLang="en-US"/>
          </a:p>
        </p:txBody>
      </p:sp>
      <p:sp>
        <p:nvSpPr>
          <p:cNvPr id="31"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en-US" altLang="zh-CN" dirty="0">
                <a:latin typeface="Arial Black" panose="020B0A04020102020204" pitchFamily="34" charset="0"/>
                <a:cs typeface="Arial" panose="020B0604020202020204" pitchFamily="34" charset="0"/>
              </a:rPr>
            </a:fld>
            <a:endParaRPr lang="en-US" altLang="zh-CN"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cs typeface="Arial" panose="020B0604020202020204" pitchFamily="34" charset="0"/>
              </a:rPr>
            </a:fld>
            <a:endParaRPr lang="en-US" altLang="zh-CN" dirty="0">
              <a:latin typeface="Arial" panose="020B0604020202020204" pitchFamily="34" charset="0"/>
              <a:cs typeface="Arial" panose="020B0604020202020204" pitchFamily="34"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cs typeface="Arial" panose="020B0604020202020204" pitchFamily="34" charset="0"/>
              </a:rPr>
            </a:fld>
            <a:endParaRPr lang="en-US" altLang="zh-CN" dirty="0">
              <a:latin typeface="Arial" panose="020B0604020202020204" pitchFamily="34" charset="0"/>
              <a:cs typeface="Arial" panose="020B0604020202020204" pitchFamily="34"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cs typeface="Arial" panose="020B0604020202020204" pitchFamily="34" charset="0"/>
              </a:rPr>
            </a:fld>
            <a:endParaRPr lang="en-US" altLang="zh-CN" dirty="0">
              <a:latin typeface="Arial" panose="020B0604020202020204" pitchFamily="34" charset="0"/>
              <a:cs typeface="Arial" panose="020B0604020202020204" pitchFamily="34"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hangingPunct="1">
              <a:buNone/>
            </a:pPr>
            <a:fld id="{9A0DB2DC-4C9A-4742-B13C-FB6460FD3503}" type="slidenum">
              <a:rPr lang="en-US" altLang="zh-CN" dirty="0">
                <a:cs typeface="Arial" panose="020B0604020202020204" pitchFamily="34" charset="0"/>
              </a:rPr>
            </a:fld>
            <a:endParaRPr lang="en-US" altLang="zh-CN" dirty="0">
              <a:latin typeface="Arial" panose="020B0604020202020204" pitchFamily="34" charset="0"/>
              <a:cs typeface="Arial" panose="020B0604020202020204" pitchFamily="34"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hangingPunct="1">
              <a:buNone/>
            </a:pPr>
            <a:fld id="{9A0DB2DC-4C9A-4742-B13C-FB6460FD3503}" type="slidenum">
              <a:rPr lang="en-US" altLang="zh-CN" dirty="0">
                <a:cs typeface="Arial" panose="020B0604020202020204" pitchFamily="34" charset="0"/>
              </a:rPr>
            </a:fld>
            <a:endParaRPr lang="en-US" altLang="zh-CN" dirty="0">
              <a:latin typeface="Arial" panose="020B0604020202020204" pitchFamily="34" charset="0"/>
              <a:cs typeface="Arial" panose="020B0604020202020204" pitchFamily="34"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hangingPunct="1">
              <a:buNone/>
            </a:pPr>
            <a:fld id="{9A0DB2DC-4C9A-4742-B13C-FB6460FD3503}" type="slidenum">
              <a:rPr lang="en-US" altLang="zh-CN" dirty="0">
                <a:cs typeface="Arial" panose="020B0604020202020204" pitchFamily="34" charset="0"/>
              </a:rPr>
            </a:fld>
            <a:endParaRPr lang="en-US" altLang="zh-CN" dirty="0">
              <a:latin typeface="Arial" panose="020B0604020202020204" pitchFamily="34" charset="0"/>
              <a:cs typeface="Arial" panose="020B0604020202020204" pitchFamily="34" charset="0"/>
            </a:endParaRPr>
          </a:p>
        </p:txBody>
      </p:sp>
      <p:sp>
        <p:nvSpPr>
          <p:cNvPr id="4" name="日期占位符 3"/>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cs typeface="Arial" panose="020B0604020202020204" pitchFamily="34" charset="0"/>
              </a:rPr>
            </a:fld>
            <a:endParaRPr lang="en-US" altLang="zh-CN" dirty="0">
              <a:latin typeface="Arial" panose="020B0604020202020204" pitchFamily="34" charset="0"/>
              <a:cs typeface="Arial" panose="020B0604020202020204" pitchFamily="34"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cs typeface="Arial" panose="020B0604020202020204" pitchFamily="34" charset="0"/>
              </a:rPr>
            </a:fld>
            <a:endParaRPr lang="en-US" altLang="zh-CN" dirty="0">
              <a:latin typeface="Arial" panose="020B0604020202020204" pitchFamily="34" charset="0"/>
              <a:cs typeface="Arial" panose="020B0604020202020204" pitchFamily="34"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cs typeface="Arial" panose="020B0604020202020204" pitchFamily="34" charset="0"/>
              </a:rPr>
            </a:fld>
            <a:endParaRPr lang="en-US" altLang="zh-CN" dirty="0">
              <a:latin typeface="Arial" panose="020B0604020202020204" pitchFamily="34" charset="0"/>
              <a:cs typeface="Arial" panose="020B0604020202020204" pitchFamily="34"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cs typeface="Arial" panose="020B0604020202020204" pitchFamily="34" charset="0"/>
              </a:rPr>
            </a:fld>
            <a:endParaRPr lang="en-US" altLang="zh-CN" dirty="0">
              <a:latin typeface="Arial" panose="020B0604020202020204" pitchFamily="34" charset="0"/>
              <a:cs typeface="Arial" panose="020B0604020202020204" pitchFamily="34"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981200"/>
            <a:ext cx="4038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9812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40005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p>
            <a:pPr lvl="0" eaLnBrk="1" hangingPunct="1">
              <a:buNone/>
            </a:pPr>
            <a:fld id="{9A0DB2DC-4C9A-4742-B13C-FB6460FD3503}" type="slidenum">
              <a:rPr lang="en-US" altLang="zh-CN" dirty="0">
                <a:cs typeface="Arial" panose="020B0604020202020204" pitchFamily="34" charset="0"/>
              </a:rPr>
            </a:fld>
            <a:endParaRPr lang="en-US" altLang="zh-CN" dirty="0">
              <a:latin typeface="Arial" panose="020B0604020202020204" pitchFamily="34" charset="0"/>
              <a:cs typeface="Arial" panose="020B0604020202020204" pitchFamily="34" charset="0"/>
            </a:endParaRPr>
          </a:p>
        </p:txBody>
      </p:sp>
      <p:sp>
        <p:nvSpPr>
          <p:cNvPr id="8" name="日期占位符 7"/>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981200"/>
            <a:ext cx="4038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cs typeface="Arial" panose="020B0604020202020204" pitchFamily="34" charset="0"/>
              </a:rPr>
            </a:fld>
            <a:endParaRPr lang="en-US" altLang="zh-CN" dirty="0">
              <a:latin typeface="Arial" panose="020B0604020202020204" pitchFamily="34" charset="0"/>
              <a:cs typeface="Arial" panose="020B0604020202020204" pitchFamily="34"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457200" y="19812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9812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57200" y="40005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40005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hangingPunct="1">
              <a:buNone/>
            </a:pPr>
            <a:fld id="{9A0DB2DC-4C9A-4742-B13C-FB6460FD3503}" type="slidenum">
              <a:rPr lang="en-US" altLang="zh-CN" dirty="0">
                <a:cs typeface="Arial" panose="020B0604020202020204" pitchFamily="34" charset="0"/>
              </a:rPr>
            </a:fld>
            <a:endParaRPr lang="en-US" altLang="zh-CN" dirty="0">
              <a:latin typeface="Arial" panose="020B0604020202020204" pitchFamily="34" charset="0"/>
              <a:cs typeface="Arial" panose="020B0604020202020204" pitchFamily="34"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hangingPunct="1">
              <a:buNone/>
            </a:pPr>
            <a:fld id="{9A0DB2DC-4C9A-4742-B13C-FB6460FD3503}" type="slidenum">
              <a:rPr lang="en-US" altLang="zh-CN" dirty="0">
                <a:cs typeface="Arial" panose="020B0604020202020204" pitchFamily="34" charset="0"/>
              </a:rPr>
            </a:fld>
            <a:endParaRPr lang="en-US" altLang="zh-CN" dirty="0">
              <a:latin typeface="Arial" panose="020B0604020202020204" pitchFamily="34" charset="0"/>
              <a:cs typeface="Arial" panose="020B0604020202020204" pitchFamily="34"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9812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40005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p>
            <a:pPr lvl="0" eaLnBrk="1" hangingPunct="1">
              <a:buNone/>
            </a:pPr>
            <a:fld id="{9A0DB2DC-4C9A-4742-B13C-FB6460FD3503}" type="slidenum">
              <a:rPr lang="en-US" altLang="zh-CN" dirty="0">
                <a:cs typeface="Arial" panose="020B0604020202020204" pitchFamily="34" charset="0"/>
              </a:rPr>
            </a:fld>
            <a:endParaRPr lang="en-US" altLang="zh-CN" dirty="0">
              <a:latin typeface="Arial" panose="020B0604020202020204" pitchFamily="34" charset="0"/>
              <a:cs typeface="Arial" panose="020B0604020202020204" pitchFamily="34" charset="0"/>
            </a:endParaRPr>
          </a:p>
        </p:txBody>
      </p:sp>
      <p:sp>
        <p:nvSpPr>
          <p:cNvPr id="8" name="日期占位符 7"/>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200">
                <a:latin typeface="Arial" panose="020B0604020202020204" pitchFamily="34" charset="0"/>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99"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Black" panose="020B0A04020102020204" pitchFamily="34" charset="0"/>
              </a:defRPr>
            </a:lvl1pPr>
          </a:lstStyle>
          <a:p>
            <a:pPr lvl="0" eaLnBrk="1" hangingPunct="1">
              <a:buNone/>
            </a:pPr>
            <a:fld id="{9A0DB2DC-4C9A-4742-B13C-FB6460FD3503}" type="slidenum">
              <a:rPr lang="en-US" altLang="zh-CN" dirty="0">
                <a:cs typeface="Arial" panose="020B0604020202020204" pitchFamily="34" charset="0"/>
              </a:rPr>
            </a:fld>
            <a:endParaRPr lang="en-US" altLang="zh-CN" dirty="0">
              <a:latin typeface="Arial" panose="020B0604020202020204" pitchFamily="34" charset="0"/>
              <a:cs typeface="Arial" panose="020B0604020202020204" pitchFamily="34" charset="0"/>
            </a:endParaRPr>
          </a:p>
        </p:txBody>
      </p:sp>
      <p:grpSp>
        <p:nvGrpSpPr>
          <p:cNvPr id="1028" name="Group 4"/>
          <p:cNvGrpSpPr/>
          <p:nvPr/>
        </p:nvGrpSpPr>
        <p:grpSpPr>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1029" name="Rectangle 14"/>
          <p:cNvSpPr>
            <a:spLocks noGrp="1"/>
          </p:cNvSpPr>
          <p:nvPr>
            <p:ph type="title"/>
          </p:nvPr>
        </p:nvSpPr>
        <p:spPr>
          <a:xfrm>
            <a:off x="457200" y="457200"/>
            <a:ext cx="8229600" cy="1371600"/>
          </a:xfrm>
          <a:prstGeom prst="rect">
            <a:avLst/>
          </a:prstGeom>
          <a:noFill/>
          <a:ln w="9525">
            <a:noFill/>
          </a:ln>
        </p:spPr>
        <p:txBody>
          <a:bodyPr anchor="ctr"/>
          <a:p>
            <a:pPr lvl="0"/>
            <a:r>
              <a:rPr lang="zh-CN" altLang="en-US" dirty="0"/>
              <a:t>单击此处编辑母版标题样式</a:t>
            </a:r>
            <a:endParaRPr lang="zh-CN" altLang="en-US" dirty="0"/>
          </a:p>
        </p:txBody>
      </p:sp>
      <p:sp>
        <p:nvSpPr>
          <p:cNvPr id="1030" name="Rectangle 15"/>
          <p:cNvSpPr>
            <a:spLocks noGrp="1"/>
          </p:cNvSpPr>
          <p:nvPr>
            <p:ph type="body" idx="1"/>
          </p:nvPr>
        </p:nvSpPr>
        <p:spPr>
          <a:xfrm>
            <a:off x="457200" y="1981200"/>
            <a:ext cx="8229600" cy="3886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12"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6.wmf"/><Relationship Id="rId3" Type="http://schemas.openxmlformats.org/officeDocument/2006/relationships/oleObject" Target="../embeddings/oleObject1.bin"/><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vmlDrawing" Target="../drawings/vmlDrawing2.vml"/><Relationship Id="rId6"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6.wmf"/><Relationship Id="rId3" Type="http://schemas.openxmlformats.org/officeDocument/2006/relationships/oleObject" Target="../embeddings/oleObject3.bin"/><Relationship Id="rId2" Type="http://schemas.openxmlformats.org/officeDocument/2006/relationships/image" Target="../media/image7.wmf"/><Relationship Id="rId1"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vmlDrawing" Target="../drawings/vmlDrawing3.vml"/><Relationship Id="rId6"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8.wmf"/><Relationship Id="rId3" Type="http://schemas.openxmlformats.org/officeDocument/2006/relationships/oleObject" Target="../embeddings/oleObject5.bin"/><Relationship Id="rId2" Type="http://schemas.openxmlformats.org/officeDocument/2006/relationships/image" Target="../media/image7.wmf"/><Relationship Id="rId1"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8.wmf"/><Relationship Id="rId7" Type="http://schemas.openxmlformats.org/officeDocument/2006/relationships/oleObject" Target="../embeddings/oleObject8.bin"/><Relationship Id="rId6" Type="http://schemas.openxmlformats.org/officeDocument/2006/relationships/image" Target="../media/image17.wmf"/><Relationship Id="rId5" Type="http://schemas.openxmlformats.org/officeDocument/2006/relationships/oleObject" Target="../embeddings/oleObject7.bin"/><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wmf"/><Relationship Id="rId10" Type="http://schemas.openxmlformats.org/officeDocument/2006/relationships/vmlDrawing" Target="../drawings/vmlDrawing4.vml"/><Relationship Id="rId1"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vmlDrawing" Target="../drawings/vmlDrawing5.vml"/><Relationship Id="rId3" Type="http://schemas.openxmlformats.org/officeDocument/2006/relationships/slideLayout" Target="../slideLayouts/slideLayout13.xml"/><Relationship Id="rId2" Type="http://schemas.openxmlformats.org/officeDocument/2006/relationships/image" Target="../media/image19.wmf"/><Relationship Id="rId1" Type="http://schemas.openxmlformats.org/officeDocument/2006/relationships/oleObject" Target="../embeddings/oleObject9.bin"/></Relationships>
</file>

<file path=ppt/slides/_rels/slide12.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13.xml"/><Relationship Id="rId7" Type="http://schemas.openxmlformats.org/officeDocument/2006/relationships/image" Target="../media/image24.wmf"/><Relationship Id="rId6" Type="http://schemas.openxmlformats.org/officeDocument/2006/relationships/oleObject" Target="../embeddings/oleObject11.bin"/><Relationship Id="rId5" Type="http://schemas.openxmlformats.org/officeDocument/2006/relationships/image" Target="../media/image23.wmf"/><Relationship Id="rId4" Type="http://schemas.openxmlformats.org/officeDocument/2006/relationships/oleObject" Target="../embeddings/oleObject10.bin"/><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17.bin"/><Relationship Id="rId8" Type="http://schemas.openxmlformats.org/officeDocument/2006/relationships/oleObject" Target="../embeddings/oleObject16.bin"/><Relationship Id="rId7" Type="http://schemas.openxmlformats.org/officeDocument/2006/relationships/image" Target="../media/image27.wmf"/><Relationship Id="rId6" Type="http://schemas.openxmlformats.org/officeDocument/2006/relationships/oleObject" Target="../embeddings/oleObject15.bin"/><Relationship Id="rId5" Type="http://schemas.openxmlformats.org/officeDocument/2006/relationships/image" Target="../media/image26.wmf"/><Relationship Id="rId4" Type="http://schemas.openxmlformats.org/officeDocument/2006/relationships/oleObject" Target="../embeddings/oleObject14.bin"/><Relationship Id="rId3" Type="http://schemas.openxmlformats.org/officeDocument/2006/relationships/oleObject" Target="../embeddings/oleObject13.bin"/><Relationship Id="rId2" Type="http://schemas.openxmlformats.org/officeDocument/2006/relationships/image" Target="../media/image25.wmf"/><Relationship Id="rId12" Type="http://schemas.openxmlformats.org/officeDocument/2006/relationships/vmlDrawing" Target="../drawings/vmlDrawing7.vml"/><Relationship Id="rId11" Type="http://schemas.openxmlformats.org/officeDocument/2006/relationships/slideLayout" Target="../slideLayouts/slideLayout2.xml"/><Relationship Id="rId10" Type="http://schemas.openxmlformats.org/officeDocument/2006/relationships/image" Target="../media/image28.wmf"/><Relationship Id="rId1" Type="http://schemas.openxmlformats.org/officeDocument/2006/relationships/oleObject" Target="../embeddings/oleObject12.bin"/></Relationships>
</file>

<file path=ppt/slides/_rels/slide14.xml.rels><?xml version="1.0" encoding="UTF-8" standalone="yes"?>
<Relationships xmlns="http://schemas.openxmlformats.org/package/2006/relationships"><Relationship Id="rId7" Type="http://schemas.openxmlformats.org/officeDocument/2006/relationships/vmlDrawing" Target="../drawings/vmlDrawing8.vml"/><Relationship Id="rId6" Type="http://schemas.openxmlformats.org/officeDocument/2006/relationships/slideLayout" Target="../slideLayouts/slideLayout2.xml"/><Relationship Id="rId5" Type="http://schemas.openxmlformats.org/officeDocument/2006/relationships/image" Target="../media/image31.wmf"/><Relationship Id="rId4" Type="http://schemas.openxmlformats.org/officeDocument/2006/relationships/oleObject" Target="../embeddings/oleObject19.bin"/><Relationship Id="rId3" Type="http://schemas.openxmlformats.org/officeDocument/2006/relationships/image" Target="../media/image30.wmf"/><Relationship Id="rId2" Type="http://schemas.openxmlformats.org/officeDocument/2006/relationships/oleObject" Target="../embeddings/oleObject18.bin"/><Relationship Id="rId1"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40.wmf"/><Relationship Id="rId1" Type="http://schemas.openxmlformats.org/officeDocument/2006/relationships/oleObject" Target="../embeddings/oleObject20.bin"/></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vmlDrawing" Target="../drawings/vmlDrawing10.vml"/><Relationship Id="rId4" Type="http://schemas.openxmlformats.org/officeDocument/2006/relationships/slideLayout" Target="../slideLayouts/slideLayout2.xml"/><Relationship Id="rId3" Type="http://schemas.openxmlformats.org/officeDocument/2006/relationships/image" Target="../media/image42.wmf"/><Relationship Id="rId2" Type="http://schemas.openxmlformats.org/officeDocument/2006/relationships/oleObject" Target="../embeddings/oleObject21.bin"/><Relationship Id="rId1" Type="http://schemas.openxmlformats.org/officeDocument/2006/relationships/image" Target="../media/image41.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24.xml.rels><?xml version="1.0" encoding="UTF-8" standalone="yes"?>
<Relationships xmlns="http://schemas.openxmlformats.org/package/2006/relationships"><Relationship Id="rId7" Type="http://schemas.openxmlformats.org/officeDocument/2006/relationships/vmlDrawing" Target="../drawings/vmlDrawing11.vml"/><Relationship Id="rId6"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wmf"/><Relationship Id="rId3" Type="http://schemas.openxmlformats.org/officeDocument/2006/relationships/oleObject" Target="../embeddings/oleObject23.bin"/><Relationship Id="rId2" Type="http://schemas.openxmlformats.org/officeDocument/2006/relationships/image" Target="../media/image46.wmf"/><Relationship Id="rId1" Type="http://schemas.openxmlformats.org/officeDocument/2006/relationships/oleObject" Target="../embeddings/oleObject22.bin"/></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7" Type="http://schemas.openxmlformats.org/officeDocument/2006/relationships/vmlDrawing" Target="../drawings/vmlDrawing12.vml"/><Relationship Id="rId6" Type="http://schemas.openxmlformats.org/officeDocument/2006/relationships/slideLayout" Target="../slideLayouts/slideLayout2.xml"/><Relationship Id="rId5" Type="http://schemas.openxmlformats.org/officeDocument/2006/relationships/image" Target="../media/image52.wmf"/><Relationship Id="rId4" Type="http://schemas.openxmlformats.org/officeDocument/2006/relationships/oleObject" Target="../embeddings/oleObject25.bin"/><Relationship Id="rId3" Type="http://schemas.openxmlformats.org/officeDocument/2006/relationships/image" Target="../media/image51.wmf"/><Relationship Id="rId2" Type="http://schemas.openxmlformats.org/officeDocument/2006/relationships/oleObject" Target="../embeddings/oleObject24.bin"/><Relationship Id="rId1" Type="http://schemas.openxmlformats.org/officeDocument/2006/relationships/image" Target="../media/image50.png"/></Relationships>
</file>

<file path=ppt/slides/_rels/slide28.xml.rels><?xml version="1.0" encoding="UTF-8" standalone="yes"?>
<Relationships xmlns="http://schemas.openxmlformats.org/package/2006/relationships"><Relationship Id="rId9" Type="http://schemas.openxmlformats.org/officeDocument/2006/relationships/image" Target="../media/image57.png"/><Relationship Id="rId8" Type="http://schemas.openxmlformats.org/officeDocument/2006/relationships/image" Target="../media/image56.wmf"/><Relationship Id="rId7" Type="http://schemas.openxmlformats.org/officeDocument/2006/relationships/oleObject" Target="../embeddings/oleObject29.bin"/><Relationship Id="rId6" Type="http://schemas.openxmlformats.org/officeDocument/2006/relationships/image" Target="../media/image55.wmf"/><Relationship Id="rId5" Type="http://schemas.openxmlformats.org/officeDocument/2006/relationships/oleObject" Target="../embeddings/oleObject28.bin"/><Relationship Id="rId4" Type="http://schemas.openxmlformats.org/officeDocument/2006/relationships/image" Target="../media/image54.wmf"/><Relationship Id="rId3" Type="http://schemas.openxmlformats.org/officeDocument/2006/relationships/oleObject" Target="../embeddings/oleObject27.bin"/><Relationship Id="rId2" Type="http://schemas.openxmlformats.org/officeDocument/2006/relationships/image" Target="../media/image53.wmf"/><Relationship Id="rId11" Type="http://schemas.openxmlformats.org/officeDocument/2006/relationships/vmlDrawing" Target="../drawings/vmlDrawing13.vml"/><Relationship Id="rId10" Type="http://schemas.openxmlformats.org/officeDocument/2006/relationships/slideLayout" Target="../slideLayouts/slideLayout2.xml"/><Relationship Id="rId1" Type="http://schemas.openxmlformats.org/officeDocument/2006/relationships/oleObject" Target="../embeddings/oleObject26.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34.bin"/><Relationship Id="rId8" Type="http://schemas.openxmlformats.org/officeDocument/2006/relationships/image" Target="../media/image56.wmf"/><Relationship Id="rId7" Type="http://schemas.openxmlformats.org/officeDocument/2006/relationships/oleObject" Target="../embeddings/oleObject33.bin"/><Relationship Id="rId6" Type="http://schemas.openxmlformats.org/officeDocument/2006/relationships/image" Target="../media/image60.wmf"/><Relationship Id="rId5" Type="http://schemas.openxmlformats.org/officeDocument/2006/relationships/oleObject" Target="../embeddings/oleObject32.bin"/><Relationship Id="rId4" Type="http://schemas.openxmlformats.org/officeDocument/2006/relationships/image" Target="../media/image59.wmf"/><Relationship Id="rId3" Type="http://schemas.openxmlformats.org/officeDocument/2006/relationships/oleObject" Target="../embeddings/oleObject31.bin"/><Relationship Id="rId2" Type="http://schemas.openxmlformats.org/officeDocument/2006/relationships/image" Target="../media/image58.wmf"/><Relationship Id="rId12" Type="http://schemas.openxmlformats.org/officeDocument/2006/relationships/vmlDrawing" Target="../drawings/vmlDrawing14.vml"/><Relationship Id="rId11" Type="http://schemas.openxmlformats.org/officeDocument/2006/relationships/slideLayout" Target="../slideLayouts/slideLayout2.xml"/><Relationship Id="rId10" Type="http://schemas.openxmlformats.org/officeDocument/2006/relationships/image" Target="../media/image61.wmf"/><Relationship Id="rId1" Type="http://schemas.openxmlformats.org/officeDocument/2006/relationships/oleObject" Target="../embeddings/oleObject30.bin"/></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62.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6.png"/><Relationship Id="rId1" Type="http://schemas.openxmlformats.org/officeDocument/2006/relationships/image" Target="../media/image65.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8.png"/><Relationship Id="rId1" Type="http://schemas.openxmlformats.org/officeDocument/2006/relationships/image" Target="../media/image67.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0.png"/><Relationship Id="rId1" Type="http://schemas.openxmlformats.org/officeDocument/2006/relationships/image" Target="../media/image69.png"/></Relationships>
</file>

<file path=ppt/slides/_rels/slide34.xml.rels><?xml version="1.0" encoding="UTF-8" standalone="yes"?>
<Relationships xmlns="http://schemas.openxmlformats.org/package/2006/relationships"><Relationship Id="rId7" Type="http://schemas.openxmlformats.org/officeDocument/2006/relationships/vmlDrawing" Target="../drawings/vmlDrawing15.vml"/><Relationship Id="rId6" Type="http://schemas.openxmlformats.org/officeDocument/2006/relationships/slideLayout" Target="../slideLayouts/slideLayout2.xml"/><Relationship Id="rId5" Type="http://schemas.openxmlformats.org/officeDocument/2006/relationships/image" Target="../media/image74.wmf"/><Relationship Id="rId4" Type="http://schemas.openxmlformats.org/officeDocument/2006/relationships/oleObject" Target="../embeddings/oleObject35.bin"/><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image" Target="../media/image71.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36.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vmlDrawing" Target="../drawings/vmlDrawing16.vml"/><Relationship Id="rId7"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8.wmf"/><Relationship Id="rId4" Type="http://schemas.openxmlformats.org/officeDocument/2006/relationships/oleObject" Target="../embeddings/oleObject37.bin"/><Relationship Id="rId3" Type="http://schemas.openxmlformats.org/officeDocument/2006/relationships/image" Target="../media/image77.wmf"/><Relationship Id="rId2" Type="http://schemas.openxmlformats.org/officeDocument/2006/relationships/oleObject" Target="../embeddings/oleObject36.bin"/><Relationship Id="rId1" Type="http://schemas.openxmlformats.org/officeDocument/2006/relationships/image" Target="../media/image76.png"/></Relationships>
</file>

<file path=ppt/slides/_rels/slide37.xml.rels><?xml version="1.0" encoding="UTF-8" standalone="yes"?>
<Relationships xmlns="http://schemas.openxmlformats.org/package/2006/relationships"><Relationship Id="rId9" Type="http://schemas.openxmlformats.org/officeDocument/2006/relationships/vmlDrawing" Target="../drawings/vmlDrawing17.vml"/><Relationship Id="rId8" Type="http://schemas.openxmlformats.org/officeDocument/2006/relationships/slideLayout" Target="../slideLayouts/slideLayout2.xml"/><Relationship Id="rId7" Type="http://schemas.openxmlformats.org/officeDocument/2006/relationships/image" Target="../media/image76.png"/><Relationship Id="rId6" Type="http://schemas.openxmlformats.org/officeDocument/2006/relationships/image" Target="../media/image81.wmf"/><Relationship Id="rId5" Type="http://schemas.openxmlformats.org/officeDocument/2006/relationships/oleObject" Target="../embeddings/oleObject40.bin"/><Relationship Id="rId4" Type="http://schemas.openxmlformats.org/officeDocument/2006/relationships/image" Target="../media/image80.wmf"/><Relationship Id="rId3" Type="http://schemas.openxmlformats.org/officeDocument/2006/relationships/oleObject" Target="../embeddings/oleObject39.bin"/><Relationship Id="rId2" Type="http://schemas.openxmlformats.org/officeDocument/2006/relationships/image" Target="../media/image79.wmf"/><Relationship Id="rId1" Type="http://schemas.openxmlformats.org/officeDocument/2006/relationships/oleObject" Target="../embeddings/oleObject38.bin"/></Relationships>
</file>

<file path=ppt/slides/_rels/slide38.xml.rels><?xml version="1.0" encoding="UTF-8" standalone="yes"?>
<Relationships xmlns="http://schemas.openxmlformats.org/package/2006/relationships"><Relationship Id="rId6" Type="http://schemas.openxmlformats.org/officeDocument/2006/relationships/vmlDrawing" Target="../drawings/vmlDrawing18.vml"/><Relationship Id="rId5" Type="http://schemas.openxmlformats.org/officeDocument/2006/relationships/slideLayout" Target="../slideLayouts/slideLayout2.xml"/><Relationship Id="rId4" Type="http://schemas.openxmlformats.org/officeDocument/2006/relationships/image" Target="../media/image83.wmf"/><Relationship Id="rId3" Type="http://schemas.openxmlformats.org/officeDocument/2006/relationships/oleObject" Target="../embeddings/oleObject42.bin"/><Relationship Id="rId2" Type="http://schemas.openxmlformats.org/officeDocument/2006/relationships/image" Target="../media/image82.wmf"/><Relationship Id="rId1" Type="http://schemas.openxmlformats.org/officeDocument/2006/relationships/oleObject" Target="../embeddings/oleObject41.bin"/></Relationships>
</file>

<file path=ppt/slides/_rels/slide39.xml.rels><?xml version="1.0" encoding="UTF-8" standalone="yes"?>
<Relationships xmlns="http://schemas.openxmlformats.org/package/2006/relationships"><Relationship Id="rId9" Type="http://schemas.openxmlformats.org/officeDocument/2006/relationships/vmlDrawing" Target="../drawings/vmlDrawing19.vml"/><Relationship Id="rId8" Type="http://schemas.openxmlformats.org/officeDocument/2006/relationships/slideLayout" Target="../slideLayouts/slideLayout14.xml"/><Relationship Id="rId7" Type="http://schemas.openxmlformats.org/officeDocument/2006/relationships/image" Target="../media/image86.wmf"/><Relationship Id="rId6" Type="http://schemas.openxmlformats.org/officeDocument/2006/relationships/oleObject" Target="../embeddings/oleObject45.bin"/><Relationship Id="rId5" Type="http://schemas.openxmlformats.org/officeDocument/2006/relationships/image" Target="../media/image85.png"/><Relationship Id="rId4" Type="http://schemas.openxmlformats.org/officeDocument/2006/relationships/image" Target="../media/image7.wmf"/><Relationship Id="rId3" Type="http://schemas.openxmlformats.org/officeDocument/2006/relationships/oleObject" Target="../embeddings/oleObject44.bin"/><Relationship Id="rId2" Type="http://schemas.openxmlformats.org/officeDocument/2006/relationships/image" Target="../media/image84.wmf"/><Relationship Id="rId1" Type="http://schemas.openxmlformats.org/officeDocument/2006/relationships/oleObject" Target="../embeddings/oleObject43.bin"/></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15.xml"/><Relationship Id="rId2" Type="http://schemas.openxmlformats.org/officeDocument/2006/relationships/image" Target="../media/image87.wmf"/><Relationship Id="rId1" Type="http://schemas.openxmlformats.org/officeDocument/2006/relationships/oleObject" Target="../embeddings/oleObject46.bin"/></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21.vml"/><Relationship Id="rId5" Type="http://schemas.openxmlformats.org/officeDocument/2006/relationships/slideLayout" Target="../slideLayouts/slideLayout4.xml"/><Relationship Id="rId4" Type="http://schemas.openxmlformats.org/officeDocument/2006/relationships/image" Target="../media/image89.wmf"/><Relationship Id="rId3" Type="http://schemas.openxmlformats.org/officeDocument/2006/relationships/oleObject" Target="../embeddings/oleObject48.bin"/><Relationship Id="rId2" Type="http://schemas.openxmlformats.org/officeDocument/2006/relationships/image" Target="../media/image88.wmf"/><Relationship Id="rId1" Type="http://schemas.openxmlformats.org/officeDocument/2006/relationships/oleObject" Target="../embeddings/oleObject47.bin"/></Relationships>
</file>

<file path=ppt/slides/_rels/slide42.xml.rels><?xml version="1.0" encoding="UTF-8" standalone="yes"?>
<Relationships xmlns="http://schemas.openxmlformats.org/package/2006/relationships"><Relationship Id="rId9" Type="http://schemas.openxmlformats.org/officeDocument/2006/relationships/vmlDrawing" Target="../drawings/vmlDrawing22.vml"/><Relationship Id="rId8" Type="http://schemas.openxmlformats.org/officeDocument/2006/relationships/slideLayout" Target="../slideLayouts/slideLayout13.xml"/><Relationship Id="rId7" Type="http://schemas.openxmlformats.org/officeDocument/2006/relationships/image" Target="../media/image86.wmf"/><Relationship Id="rId6" Type="http://schemas.openxmlformats.org/officeDocument/2006/relationships/oleObject" Target="../embeddings/oleObject51.bin"/><Relationship Id="rId5" Type="http://schemas.openxmlformats.org/officeDocument/2006/relationships/image" Target="../media/image85.png"/><Relationship Id="rId4" Type="http://schemas.openxmlformats.org/officeDocument/2006/relationships/image" Target="../media/image91.wmf"/><Relationship Id="rId3" Type="http://schemas.openxmlformats.org/officeDocument/2006/relationships/oleObject" Target="../embeddings/oleObject50.bin"/><Relationship Id="rId2" Type="http://schemas.openxmlformats.org/officeDocument/2006/relationships/image" Target="../media/image90.wmf"/><Relationship Id="rId1" Type="http://schemas.openxmlformats.org/officeDocument/2006/relationships/oleObject" Target="../embeddings/oleObject49.bin"/></Relationships>
</file>

<file path=ppt/slides/_rels/slide43.xml.rels><?xml version="1.0" encoding="UTF-8" standalone="yes"?>
<Relationships xmlns="http://schemas.openxmlformats.org/package/2006/relationships"><Relationship Id="rId6" Type="http://schemas.openxmlformats.org/officeDocument/2006/relationships/vmlDrawing" Target="../drawings/vmlDrawing23.vml"/><Relationship Id="rId5" Type="http://schemas.openxmlformats.org/officeDocument/2006/relationships/slideLayout" Target="../slideLayouts/slideLayout4.xml"/><Relationship Id="rId4" Type="http://schemas.openxmlformats.org/officeDocument/2006/relationships/image" Target="../media/image93.wmf"/><Relationship Id="rId3" Type="http://schemas.openxmlformats.org/officeDocument/2006/relationships/oleObject" Target="../embeddings/oleObject53.bin"/><Relationship Id="rId2" Type="http://schemas.openxmlformats.org/officeDocument/2006/relationships/image" Target="../media/image92.wmf"/><Relationship Id="rId1" Type="http://schemas.openxmlformats.org/officeDocument/2006/relationships/oleObject" Target="../embeddings/oleObject52.bin"/></Relationships>
</file>

<file path=ppt/slides/_rels/slide44.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4.xml"/><Relationship Id="rId4" Type="http://schemas.openxmlformats.org/officeDocument/2006/relationships/image" Target="../media/image95.wmf"/><Relationship Id="rId3" Type="http://schemas.openxmlformats.org/officeDocument/2006/relationships/oleObject" Target="../embeddings/oleObject55.bin"/><Relationship Id="rId2" Type="http://schemas.openxmlformats.org/officeDocument/2006/relationships/image" Target="../media/image94.wmf"/><Relationship Id="rId1" Type="http://schemas.openxmlformats.org/officeDocument/2006/relationships/oleObject" Target="../embeddings/oleObject54.bin"/></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97.png"/><Relationship Id="rId1" Type="http://schemas.openxmlformats.org/officeDocument/2006/relationships/image" Target="../media/image96.png"/></Relationships>
</file>

<file path=ppt/slides/_rels/slide46.xml.rels><?xml version="1.0" encoding="UTF-8" standalone="yes"?>
<Relationships xmlns="http://schemas.openxmlformats.org/package/2006/relationships"><Relationship Id="rId5" Type="http://schemas.openxmlformats.org/officeDocument/2006/relationships/vmlDrawing" Target="../drawings/vmlDrawing25.vml"/><Relationship Id="rId4" Type="http://schemas.openxmlformats.org/officeDocument/2006/relationships/slideLayout" Target="../slideLayouts/slideLayout15.xml"/><Relationship Id="rId3" Type="http://schemas.openxmlformats.org/officeDocument/2006/relationships/image" Target="../media/image99.wmf"/><Relationship Id="rId2" Type="http://schemas.openxmlformats.org/officeDocument/2006/relationships/oleObject" Target="../embeddings/oleObject56.bin"/><Relationship Id="rId1" Type="http://schemas.openxmlformats.org/officeDocument/2006/relationships/image" Target="../media/image98.png"/></Relationships>
</file>

<file path=ppt/slides/_rels/slide47.xml.rels><?xml version="1.0" encoding="UTF-8" standalone="yes"?>
<Relationships xmlns="http://schemas.openxmlformats.org/package/2006/relationships"><Relationship Id="rId9" Type="http://schemas.openxmlformats.org/officeDocument/2006/relationships/vmlDrawing" Target="../drawings/vmlDrawing26.vml"/><Relationship Id="rId8" Type="http://schemas.openxmlformats.org/officeDocument/2006/relationships/slideLayout" Target="../slideLayouts/slideLayout13.xml"/><Relationship Id="rId7" Type="http://schemas.openxmlformats.org/officeDocument/2006/relationships/image" Target="../media/image103.wmf"/><Relationship Id="rId6" Type="http://schemas.openxmlformats.org/officeDocument/2006/relationships/oleObject" Target="../embeddings/oleObject59.bin"/><Relationship Id="rId5" Type="http://schemas.openxmlformats.org/officeDocument/2006/relationships/image" Target="../media/image102.wmf"/><Relationship Id="rId4" Type="http://schemas.openxmlformats.org/officeDocument/2006/relationships/oleObject" Target="../embeddings/oleObject58.bin"/><Relationship Id="rId3" Type="http://schemas.openxmlformats.org/officeDocument/2006/relationships/image" Target="../media/image101.wmf"/><Relationship Id="rId2" Type="http://schemas.openxmlformats.org/officeDocument/2006/relationships/oleObject" Target="../embeddings/oleObject57.bin"/><Relationship Id="rId1" Type="http://schemas.openxmlformats.org/officeDocument/2006/relationships/image" Target="../media/image100.png"/></Relationships>
</file>

<file path=ppt/slides/_rels/slide48.xml.rels><?xml version="1.0" encoding="UTF-8" standalone="yes"?>
<Relationships xmlns="http://schemas.openxmlformats.org/package/2006/relationships"><Relationship Id="rId7" Type="http://schemas.openxmlformats.org/officeDocument/2006/relationships/vmlDrawing" Target="../drawings/vmlDrawing27.vml"/><Relationship Id="rId6" Type="http://schemas.openxmlformats.org/officeDocument/2006/relationships/slideLayout" Target="../slideLayouts/slideLayout4.xml"/><Relationship Id="rId5" Type="http://schemas.openxmlformats.org/officeDocument/2006/relationships/image" Target="../media/image106.wmf"/><Relationship Id="rId4" Type="http://schemas.openxmlformats.org/officeDocument/2006/relationships/oleObject" Target="../embeddings/oleObject61.bin"/><Relationship Id="rId3" Type="http://schemas.openxmlformats.org/officeDocument/2006/relationships/image" Target="../media/image105.png"/><Relationship Id="rId2" Type="http://schemas.openxmlformats.org/officeDocument/2006/relationships/image" Target="../media/image104.wmf"/><Relationship Id="rId1" Type="http://schemas.openxmlformats.org/officeDocument/2006/relationships/oleObject" Target="../embeddings/oleObject60.bin"/></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08.png"/><Relationship Id="rId1" Type="http://schemas.openxmlformats.org/officeDocument/2006/relationships/image" Target="../media/image107.png"/></Relationships>
</file>

<file path=ppt/slides/_rels/slide50.xml.rels><?xml version="1.0" encoding="UTF-8" standalone="yes"?>
<Relationships xmlns="http://schemas.openxmlformats.org/package/2006/relationships"><Relationship Id="rId5" Type="http://schemas.openxmlformats.org/officeDocument/2006/relationships/vmlDrawing" Target="../drawings/vmlDrawing28.vml"/><Relationship Id="rId4" Type="http://schemas.openxmlformats.org/officeDocument/2006/relationships/slideLayout" Target="../slideLayouts/slideLayout13.xml"/><Relationship Id="rId3" Type="http://schemas.openxmlformats.org/officeDocument/2006/relationships/image" Target="../media/image110.wmf"/><Relationship Id="rId2" Type="http://schemas.openxmlformats.org/officeDocument/2006/relationships/oleObject" Target="../embeddings/oleObject62.bin"/><Relationship Id="rId1" Type="http://schemas.openxmlformats.org/officeDocument/2006/relationships/image" Target="../media/image109.png"/></Relationships>
</file>

<file path=ppt/slides/_rels/slide51.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image" Target="../media/image109.png"/><Relationship Id="rId7" Type="http://schemas.openxmlformats.org/officeDocument/2006/relationships/image" Target="../media/image113.wmf"/><Relationship Id="rId6" Type="http://schemas.openxmlformats.org/officeDocument/2006/relationships/oleObject" Target="../embeddings/oleObject65.bin"/><Relationship Id="rId5" Type="http://schemas.openxmlformats.org/officeDocument/2006/relationships/image" Target="../media/image112.wmf"/><Relationship Id="rId4" Type="http://schemas.openxmlformats.org/officeDocument/2006/relationships/oleObject" Target="../embeddings/oleObject64.bin"/><Relationship Id="rId3" Type="http://schemas.openxmlformats.org/officeDocument/2006/relationships/image" Target="../media/image101.wmf"/><Relationship Id="rId2" Type="http://schemas.openxmlformats.org/officeDocument/2006/relationships/oleObject" Target="../embeddings/oleObject63.bin"/><Relationship Id="rId10" Type="http://schemas.openxmlformats.org/officeDocument/2006/relationships/vmlDrawing" Target="../drawings/vmlDrawing29.vml"/><Relationship Id="rId1" Type="http://schemas.openxmlformats.org/officeDocument/2006/relationships/image" Target="../media/image111.png"/></Relationships>
</file>

<file path=ppt/slides/_rels/slide52.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image" Target="../media/image111.png"/><Relationship Id="rId7" Type="http://schemas.openxmlformats.org/officeDocument/2006/relationships/image" Target="../media/image117.wmf"/><Relationship Id="rId6" Type="http://schemas.openxmlformats.org/officeDocument/2006/relationships/oleObject" Target="../embeddings/oleObject68.bin"/><Relationship Id="rId5" Type="http://schemas.openxmlformats.org/officeDocument/2006/relationships/image" Target="../media/image116.png"/><Relationship Id="rId4" Type="http://schemas.openxmlformats.org/officeDocument/2006/relationships/image" Target="../media/image115.wmf"/><Relationship Id="rId3" Type="http://schemas.openxmlformats.org/officeDocument/2006/relationships/oleObject" Target="../embeddings/oleObject67.bin"/><Relationship Id="rId2" Type="http://schemas.openxmlformats.org/officeDocument/2006/relationships/image" Target="../media/image114.wmf"/><Relationship Id="rId10" Type="http://schemas.openxmlformats.org/officeDocument/2006/relationships/vmlDrawing" Target="../drawings/vmlDrawing30.vml"/><Relationship Id="rId1" Type="http://schemas.openxmlformats.org/officeDocument/2006/relationships/oleObject" Target="../embeddings/oleObject66.bin"/></Relationships>
</file>

<file path=ppt/slides/_rels/slide53.xml.rels><?xml version="1.0" encoding="UTF-8" standalone="yes"?>
<Relationships xmlns="http://schemas.openxmlformats.org/package/2006/relationships"><Relationship Id="rId5" Type="http://schemas.openxmlformats.org/officeDocument/2006/relationships/vmlDrawing" Target="../drawings/vmlDrawing31.vml"/><Relationship Id="rId4" Type="http://schemas.openxmlformats.org/officeDocument/2006/relationships/slideLayout" Target="../slideLayouts/slideLayout15.xml"/><Relationship Id="rId3" Type="http://schemas.openxmlformats.org/officeDocument/2006/relationships/image" Target="../media/image119.wmf"/><Relationship Id="rId2" Type="http://schemas.openxmlformats.org/officeDocument/2006/relationships/oleObject" Target="../embeddings/oleObject69.bin"/><Relationship Id="rId1" Type="http://schemas.openxmlformats.org/officeDocument/2006/relationships/image" Target="../media/image118.png"/></Relationships>
</file>

<file path=ppt/slides/_rels/slide54.xml.rels><?xml version="1.0" encoding="UTF-8" standalone="yes"?>
<Relationships xmlns="http://schemas.openxmlformats.org/package/2006/relationships"><Relationship Id="rId9" Type="http://schemas.openxmlformats.org/officeDocument/2006/relationships/image" Target="../media/image124.png"/><Relationship Id="rId8" Type="http://schemas.openxmlformats.org/officeDocument/2006/relationships/image" Target="../media/image123.wmf"/><Relationship Id="rId7" Type="http://schemas.openxmlformats.org/officeDocument/2006/relationships/oleObject" Target="../embeddings/oleObject73.bin"/><Relationship Id="rId6" Type="http://schemas.openxmlformats.org/officeDocument/2006/relationships/image" Target="../media/image122.wmf"/><Relationship Id="rId5" Type="http://schemas.openxmlformats.org/officeDocument/2006/relationships/oleObject" Target="../embeddings/oleObject72.bin"/><Relationship Id="rId4" Type="http://schemas.openxmlformats.org/officeDocument/2006/relationships/image" Target="../media/image121.wmf"/><Relationship Id="rId3" Type="http://schemas.openxmlformats.org/officeDocument/2006/relationships/oleObject" Target="../embeddings/oleObject71.bin"/><Relationship Id="rId2" Type="http://schemas.openxmlformats.org/officeDocument/2006/relationships/image" Target="../media/image120.wmf"/><Relationship Id="rId13" Type="http://schemas.openxmlformats.org/officeDocument/2006/relationships/notesSlide" Target="../notesSlides/notesSlide10.xml"/><Relationship Id="rId12" Type="http://schemas.openxmlformats.org/officeDocument/2006/relationships/vmlDrawing" Target="../drawings/vmlDrawing32.vml"/><Relationship Id="rId11" Type="http://schemas.openxmlformats.org/officeDocument/2006/relationships/slideLayout" Target="../slideLayouts/slideLayout14.xml"/><Relationship Id="rId10" Type="http://schemas.openxmlformats.org/officeDocument/2006/relationships/image" Target="../media/image125.png"/><Relationship Id="rId1" Type="http://schemas.openxmlformats.org/officeDocument/2006/relationships/oleObject" Target="../embeddings/oleObject70.bin"/></Relationships>
</file>

<file path=ppt/slides/_rels/slide5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4.png"/><Relationship Id="rId7" Type="http://schemas.openxmlformats.org/officeDocument/2006/relationships/image" Target="../media/image129.wmf"/><Relationship Id="rId6" Type="http://schemas.openxmlformats.org/officeDocument/2006/relationships/oleObject" Target="../embeddings/oleObject76.bin"/><Relationship Id="rId5" Type="http://schemas.openxmlformats.org/officeDocument/2006/relationships/image" Target="../media/image128.wmf"/><Relationship Id="rId4" Type="http://schemas.openxmlformats.org/officeDocument/2006/relationships/oleObject" Target="../embeddings/oleObject75.bin"/><Relationship Id="rId3" Type="http://schemas.openxmlformats.org/officeDocument/2006/relationships/image" Target="../media/image127.png"/><Relationship Id="rId2" Type="http://schemas.openxmlformats.org/officeDocument/2006/relationships/image" Target="../media/image126.wmf"/><Relationship Id="rId10" Type="http://schemas.openxmlformats.org/officeDocument/2006/relationships/vmlDrawing" Target="../drawings/vmlDrawing33.vml"/><Relationship Id="rId1" Type="http://schemas.openxmlformats.org/officeDocument/2006/relationships/oleObject" Target="../embeddings/oleObject74.bin"/></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31.png"/><Relationship Id="rId1" Type="http://schemas.openxmlformats.org/officeDocument/2006/relationships/image" Target="../media/image130.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33.png"/><Relationship Id="rId1" Type="http://schemas.openxmlformats.org/officeDocument/2006/relationships/image" Target="../media/image132.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35.png"/><Relationship Id="rId1" Type="http://schemas.openxmlformats.org/officeDocument/2006/relationships/image" Target="../media/image134.png"/></Relationships>
</file>

<file path=ppt/slides/_rels/slide59.xml.rels><?xml version="1.0" encoding="UTF-8" standalone="yes"?>
<Relationships xmlns="http://schemas.openxmlformats.org/package/2006/relationships"><Relationship Id="rId9" Type="http://schemas.openxmlformats.org/officeDocument/2006/relationships/image" Target="../media/image141.png"/><Relationship Id="rId8" Type="http://schemas.openxmlformats.org/officeDocument/2006/relationships/image" Target="../media/image140.png"/><Relationship Id="rId7" Type="http://schemas.openxmlformats.org/officeDocument/2006/relationships/image" Target="../media/image139.wmf"/><Relationship Id="rId6" Type="http://schemas.openxmlformats.org/officeDocument/2006/relationships/oleObject" Target="../embeddings/oleObject79.bin"/><Relationship Id="rId5" Type="http://schemas.openxmlformats.org/officeDocument/2006/relationships/image" Target="../media/image138.wmf"/><Relationship Id="rId4" Type="http://schemas.openxmlformats.org/officeDocument/2006/relationships/oleObject" Target="../embeddings/oleObject78.bin"/><Relationship Id="rId3" Type="http://schemas.openxmlformats.org/officeDocument/2006/relationships/image" Target="../media/image137.wmf"/><Relationship Id="rId2" Type="http://schemas.openxmlformats.org/officeDocument/2006/relationships/oleObject" Target="../embeddings/oleObject77.bin"/><Relationship Id="rId11" Type="http://schemas.openxmlformats.org/officeDocument/2006/relationships/vmlDrawing" Target="../drawings/vmlDrawing34.vml"/><Relationship Id="rId10" Type="http://schemas.openxmlformats.org/officeDocument/2006/relationships/slideLayout" Target="../slideLayouts/slideLayout2.xml"/><Relationship Id="rId1" Type="http://schemas.openxmlformats.org/officeDocument/2006/relationships/image" Target="../media/image136.png"/></Relationships>
</file>

<file path=ppt/slides/_rels/slide60.xml.rels><?xml version="1.0" encoding="UTF-8" standalone="yes"?>
<Relationships xmlns="http://schemas.openxmlformats.org/package/2006/relationships"><Relationship Id="rId9" Type="http://schemas.openxmlformats.org/officeDocument/2006/relationships/image" Target="../media/image141.png"/><Relationship Id="rId8" Type="http://schemas.openxmlformats.org/officeDocument/2006/relationships/image" Target="../media/image145.wmf"/><Relationship Id="rId7" Type="http://schemas.openxmlformats.org/officeDocument/2006/relationships/oleObject" Target="../embeddings/oleObject83.bin"/><Relationship Id="rId6" Type="http://schemas.openxmlformats.org/officeDocument/2006/relationships/image" Target="../media/image144.wmf"/><Relationship Id="rId5" Type="http://schemas.openxmlformats.org/officeDocument/2006/relationships/oleObject" Target="../embeddings/oleObject82.bin"/><Relationship Id="rId4" Type="http://schemas.openxmlformats.org/officeDocument/2006/relationships/image" Target="../media/image143.wmf"/><Relationship Id="rId3" Type="http://schemas.openxmlformats.org/officeDocument/2006/relationships/oleObject" Target="../embeddings/oleObject81.bin"/><Relationship Id="rId2" Type="http://schemas.openxmlformats.org/officeDocument/2006/relationships/image" Target="../media/image142.wmf"/><Relationship Id="rId13" Type="http://schemas.openxmlformats.org/officeDocument/2006/relationships/vmlDrawing" Target="../drawings/vmlDrawing35.vml"/><Relationship Id="rId12" Type="http://schemas.openxmlformats.org/officeDocument/2006/relationships/slideLayout" Target="../slideLayouts/slideLayout4.xml"/><Relationship Id="rId11" Type="http://schemas.openxmlformats.org/officeDocument/2006/relationships/image" Target="../media/image146.wmf"/><Relationship Id="rId10" Type="http://schemas.openxmlformats.org/officeDocument/2006/relationships/oleObject" Target="../embeddings/oleObject84.bin"/><Relationship Id="rId1" Type="http://schemas.openxmlformats.org/officeDocument/2006/relationships/oleObject" Target="../embeddings/oleObject80.bin"/></Relationships>
</file>

<file path=ppt/slides/_rels/slide61.xml.rels><?xml version="1.0" encoding="UTF-8" standalone="yes"?>
<Relationships xmlns="http://schemas.openxmlformats.org/package/2006/relationships"><Relationship Id="rId7" Type="http://schemas.openxmlformats.org/officeDocument/2006/relationships/vmlDrawing" Target="../drawings/vmlDrawing36.vml"/><Relationship Id="rId6" Type="http://schemas.openxmlformats.org/officeDocument/2006/relationships/slideLayout" Target="../slideLayouts/slideLayout4.xml"/><Relationship Id="rId5" Type="http://schemas.openxmlformats.org/officeDocument/2006/relationships/image" Target="../media/image149.wmf"/><Relationship Id="rId4" Type="http://schemas.openxmlformats.org/officeDocument/2006/relationships/oleObject" Target="../embeddings/oleObject86.bin"/><Relationship Id="rId3" Type="http://schemas.openxmlformats.org/officeDocument/2006/relationships/image" Target="../media/image148.wmf"/><Relationship Id="rId2" Type="http://schemas.openxmlformats.org/officeDocument/2006/relationships/oleObject" Target="../embeddings/oleObject85.bin"/><Relationship Id="rId1" Type="http://schemas.openxmlformats.org/officeDocument/2006/relationships/image" Target="../media/image147.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50.png"/></Relationships>
</file>

<file path=ppt/slides/_rels/slide63.xml.rels><?xml version="1.0" encoding="UTF-8" standalone="yes"?>
<Relationships xmlns="http://schemas.openxmlformats.org/package/2006/relationships"><Relationship Id="rId6" Type="http://schemas.openxmlformats.org/officeDocument/2006/relationships/vmlDrawing" Target="../drawings/vmlDrawing37.vml"/><Relationship Id="rId5" Type="http://schemas.openxmlformats.org/officeDocument/2006/relationships/slideLayout" Target="../slideLayouts/slideLayout16.xml"/><Relationship Id="rId4" Type="http://schemas.openxmlformats.org/officeDocument/2006/relationships/image" Target="../media/image153.wmf"/><Relationship Id="rId3" Type="http://schemas.openxmlformats.org/officeDocument/2006/relationships/oleObject" Target="../embeddings/oleObject87.bin"/><Relationship Id="rId2" Type="http://schemas.openxmlformats.org/officeDocument/2006/relationships/image" Target="../media/image152.png"/><Relationship Id="rId1" Type="http://schemas.openxmlformats.org/officeDocument/2006/relationships/image" Target="../media/image151.png"/></Relationships>
</file>

<file path=ppt/slides/_rels/slide64.xml.rels><?xml version="1.0" encoding="UTF-8" standalone="yes"?>
<Relationships xmlns="http://schemas.openxmlformats.org/package/2006/relationships"><Relationship Id="rId9" Type="http://schemas.openxmlformats.org/officeDocument/2006/relationships/vmlDrawing" Target="../drawings/vmlDrawing38.vml"/><Relationship Id="rId8" Type="http://schemas.openxmlformats.org/officeDocument/2006/relationships/slideLayout" Target="../slideLayouts/slideLayout12.xml"/><Relationship Id="rId7" Type="http://schemas.openxmlformats.org/officeDocument/2006/relationships/image" Target="../media/image152.png"/><Relationship Id="rId6" Type="http://schemas.openxmlformats.org/officeDocument/2006/relationships/oleObject" Target="../embeddings/oleObject91.bin"/><Relationship Id="rId5" Type="http://schemas.openxmlformats.org/officeDocument/2006/relationships/image" Target="../media/image154.wmf"/><Relationship Id="rId4" Type="http://schemas.openxmlformats.org/officeDocument/2006/relationships/oleObject" Target="../embeddings/oleObject90.bin"/><Relationship Id="rId3" Type="http://schemas.openxmlformats.org/officeDocument/2006/relationships/oleObject" Target="../embeddings/oleObject89.bin"/><Relationship Id="rId2" Type="http://schemas.openxmlformats.org/officeDocument/2006/relationships/image" Target="../media/image153.wmf"/><Relationship Id="rId1" Type="http://schemas.openxmlformats.org/officeDocument/2006/relationships/oleObject" Target="../embeddings/oleObject88.bin"/></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56.png"/><Relationship Id="rId1" Type="http://schemas.openxmlformats.org/officeDocument/2006/relationships/image" Target="../media/image155.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57.png"/></Relationships>
</file>

<file path=ppt/slides/_rels/slide67.xml.rels><?xml version="1.0" encoding="UTF-8" standalone="yes"?>
<Relationships xmlns="http://schemas.openxmlformats.org/package/2006/relationships"><Relationship Id="rId9" Type="http://schemas.openxmlformats.org/officeDocument/2006/relationships/oleObject" Target="../embeddings/oleObject96.bin"/><Relationship Id="rId8" Type="http://schemas.openxmlformats.org/officeDocument/2006/relationships/image" Target="../media/image161.wmf"/><Relationship Id="rId7" Type="http://schemas.openxmlformats.org/officeDocument/2006/relationships/oleObject" Target="../embeddings/oleObject95.bin"/><Relationship Id="rId6" Type="http://schemas.openxmlformats.org/officeDocument/2006/relationships/image" Target="../media/image160.wmf"/><Relationship Id="rId5" Type="http://schemas.openxmlformats.org/officeDocument/2006/relationships/oleObject" Target="../embeddings/oleObject94.bin"/><Relationship Id="rId4" Type="http://schemas.openxmlformats.org/officeDocument/2006/relationships/image" Target="../media/image159.wmf"/><Relationship Id="rId3" Type="http://schemas.openxmlformats.org/officeDocument/2006/relationships/oleObject" Target="../embeddings/oleObject93.bin"/><Relationship Id="rId2" Type="http://schemas.openxmlformats.org/officeDocument/2006/relationships/image" Target="../media/image158.wmf"/><Relationship Id="rId11" Type="http://schemas.openxmlformats.org/officeDocument/2006/relationships/vmlDrawing" Target="../drawings/vmlDrawing39.vml"/><Relationship Id="rId10" Type="http://schemas.openxmlformats.org/officeDocument/2006/relationships/slideLayout" Target="../slideLayouts/slideLayout14.xml"/><Relationship Id="rId1" Type="http://schemas.openxmlformats.org/officeDocument/2006/relationships/oleObject" Target="../embeddings/oleObject92.bin"/></Relationships>
</file>

<file path=ppt/slides/_rels/slide68.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image" Target="../media/image165.wmf"/><Relationship Id="rId7" Type="http://schemas.openxmlformats.org/officeDocument/2006/relationships/oleObject" Target="../embeddings/oleObject100.bin"/><Relationship Id="rId6" Type="http://schemas.openxmlformats.org/officeDocument/2006/relationships/image" Target="../media/image164.wmf"/><Relationship Id="rId5" Type="http://schemas.openxmlformats.org/officeDocument/2006/relationships/oleObject" Target="../embeddings/oleObject99.bin"/><Relationship Id="rId4" Type="http://schemas.openxmlformats.org/officeDocument/2006/relationships/image" Target="../media/image163.wmf"/><Relationship Id="rId3" Type="http://schemas.openxmlformats.org/officeDocument/2006/relationships/oleObject" Target="../embeddings/oleObject98.bin"/><Relationship Id="rId2" Type="http://schemas.openxmlformats.org/officeDocument/2006/relationships/image" Target="../media/image162.wmf"/><Relationship Id="rId11" Type="http://schemas.openxmlformats.org/officeDocument/2006/relationships/notesSlide" Target="../notesSlides/notesSlide12.xml"/><Relationship Id="rId10" Type="http://schemas.openxmlformats.org/officeDocument/2006/relationships/vmlDrawing" Target="../drawings/vmlDrawing40.vml"/><Relationship Id="rId1" Type="http://schemas.openxmlformats.org/officeDocument/2006/relationships/oleObject" Target="../embeddings/oleObject97.bin"/></Relationships>
</file>

<file path=ppt/slides/_rels/slide69.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image" Target="../media/image168.wmf"/><Relationship Id="rId7" Type="http://schemas.openxmlformats.org/officeDocument/2006/relationships/oleObject" Target="../embeddings/oleObject104.bin"/><Relationship Id="rId6" Type="http://schemas.openxmlformats.org/officeDocument/2006/relationships/image" Target="../media/image167.wmf"/><Relationship Id="rId5" Type="http://schemas.openxmlformats.org/officeDocument/2006/relationships/oleObject" Target="../embeddings/oleObject103.bin"/><Relationship Id="rId4" Type="http://schemas.openxmlformats.org/officeDocument/2006/relationships/image" Target="../media/image166.wmf"/><Relationship Id="rId3" Type="http://schemas.openxmlformats.org/officeDocument/2006/relationships/oleObject" Target="../embeddings/oleObject102.bin"/><Relationship Id="rId2" Type="http://schemas.openxmlformats.org/officeDocument/2006/relationships/image" Target="../media/image165.wmf"/><Relationship Id="rId10" Type="http://schemas.openxmlformats.org/officeDocument/2006/relationships/vmlDrawing" Target="../drawings/vmlDrawing41.vml"/><Relationship Id="rId1" Type="http://schemas.openxmlformats.org/officeDocument/2006/relationships/oleObject" Target="../embeddings/oleObject101.bin"/></Relationships>
</file>

<file path=ppt/slides/_rels/slide70.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171.png"/><Relationship Id="rId2" Type="http://schemas.openxmlformats.org/officeDocument/2006/relationships/image" Target="../media/image170.png"/><Relationship Id="rId1" Type="http://schemas.openxmlformats.org/officeDocument/2006/relationships/image" Target="../media/image169.png"/></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image" Target="../media/image172.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5.jpeg"/></Relationships>
</file>

<file path=ppt/slides/_rels/slide73.xml.rels><?xml version="1.0" encoding="UTF-8" standalone="yes"?>
<Relationships xmlns="http://schemas.openxmlformats.org/package/2006/relationships"><Relationship Id="rId6" Type="http://schemas.openxmlformats.org/officeDocument/2006/relationships/vmlDrawing" Target="../drawings/vmlDrawing42.vml"/><Relationship Id="rId5" Type="http://schemas.openxmlformats.org/officeDocument/2006/relationships/slideLayout" Target="../slideLayouts/slideLayout14.xml"/><Relationship Id="rId4" Type="http://schemas.openxmlformats.org/officeDocument/2006/relationships/image" Target="../media/image175.jpeg"/><Relationship Id="rId3" Type="http://schemas.openxmlformats.org/officeDocument/2006/relationships/image" Target="../media/image177.png"/><Relationship Id="rId2" Type="http://schemas.openxmlformats.org/officeDocument/2006/relationships/image" Target="../media/image176.wmf"/><Relationship Id="rId1" Type="http://schemas.openxmlformats.org/officeDocument/2006/relationships/oleObject" Target="../embeddings/oleObject105.bin"/></Relationships>
</file>

<file path=ppt/slides/_rels/slide74.xml.rels><?xml version="1.0" encoding="UTF-8" standalone="yes"?>
<Relationships xmlns="http://schemas.openxmlformats.org/package/2006/relationships"><Relationship Id="rId8" Type="http://schemas.openxmlformats.org/officeDocument/2006/relationships/vmlDrawing" Target="../drawings/vmlDrawing43.vml"/><Relationship Id="rId7" Type="http://schemas.openxmlformats.org/officeDocument/2006/relationships/slideLayout" Target="../slideLayouts/slideLayout4.xml"/><Relationship Id="rId6" Type="http://schemas.openxmlformats.org/officeDocument/2006/relationships/image" Target="../media/image175.jpeg"/><Relationship Id="rId5" Type="http://schemas.openxmlformats.org/officeDocument/2006/relationships/image" Target="../media/image177.png"/><Relationship Id="rId4" Type="http://schemas.openxmlformats.org/officeDocument/2006/relationships/image" Target="../media/image179.wmf"/><Relationship Id="rId3" Type="http://schemas.openxmlformats.org/officeDocument/2006/relationships/oleObject" Target="../embeddings/oleObject107.bin"/><Relationship Id="rId2" Type="http://schemas.openxmlformats.org/officeDocument/2006/relationships/image" Target="../media/image178.wmf"/><Relationship Id="rId1" Type="http://schemas.openxmlformats.org/officeDocument/2006/relationships/oleObject" Target="../embeddings/oleObject106.bin"/></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5.jpe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80.png"/></Relationships>
</file>

<file path=ppt/slides/_rels/slide77.xml.rels><?xml version="1.0" encoding="UTF-8" standalone="yes"?>
<Relationships xmlns="http://schemas.openxmlformats.org/package/2006/relationships"><Relationship Id="rId4" Type="http://schemas.openxmlformats.org/officeDocument/2006/relationships/vmlDrawing" Target="../drawings/vmlDrawing44.vml"/><Relationship Id="rId3" Type="http://schemas.openxmlformats.org/officeDocument/2006/relationships/slideLayout" Target="../slideLayouts/slideLayout2.xml"/><Relationship Id="rId2" Type="http://schemas.openxmlformats.org/officeDocument/2006/relationships/image" Target="../media/image181.wmf"/><Relationship Id="rId1" Type="http://schemas.openxmlformats.org/officeDocument/2006/relationships/oleObject" Target="../embeddings/oleObject108.bin"/></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3.png"/><Relationship Id="rId1" Type="http://schemas.openxmlformats.org/officeDocument/2006/relationships/image" Target="../media/image182.png"/></Relationships>
</file>

<file path=ppt/slides/_rels/slide79.xml.rels><?xml version="1.0" encoding="UTF-8" standalone="yes"?>
<Relationships xmlns="http://schemas.openxmlformats.org/package/2006/relationships"><Relationship Id="rId5" Type="http://schemas.openxmlformats.org/officeDocument/2006/relationships/vmlDrawing" Target="../drawings/vmlDrawing45.vml"/><Relationship Id="rId4" Type="http://schemas.openxmlformats.org/officeDocument/2006/relationships/slideLayout" Target="../slideLayouts/slideLayout2.xml"/><Relationship Id="rId3" Type="http://schemas.openxmlformats.org/officeDocument/2006/relationships/image" Target="../media/image185.wmf"/><Relationship Id="rId2" Type="http://schemas.openxmlformats.org/officeDocument/2006/relationships/oleObject" Target="../embeddings/oleObject109.bin"/><Relationship Id="rId1" Type="http://schemas.openxmlformats.org/officeDocument/2006/relationships/image" Target="../media/image184.pn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8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188.png"/><Relationship Id="rId1" Type="http://schemas.openxmlformats.org/officeDocument/2006/relationships/image" Target="../media/image187.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9.png"/></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191.png"/><Relationship Id="rId1" Type="http://schemas.openxmlformats.org/officeDocument/2006/relationships/image" Target="../media/image190.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3.png"/><Relationship Id="rId1" Type="http://schemas.openxmlformats.org/officeDocument/2006/relationships/image" Target="../media/image192.png"/></Relationships>
</file>

<file path=ppt/slides/_rels/slide8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195.png"/><Relationship Id="rId1" Type="http://schemas.openxmlformats.org/officeDocument/2006/relationships/image" Target="../media/image194.png"/></Relationships>
</file>

<file path=ppt/slides/_rels/slide8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8.png"/><Relationship Id="rId2" Type="http://schemas.openxmlformats.org/officeDocument/2006/relationships/image" Target="../media/image197.png"/><Relationship Id="rId1" Type="http://schemas.openxmlformats.org/officeDocument/2006/relationships/image" Target="../media/image196.png"/></Relationships>
</file>

<file path=ppt/slides/_rels/slide8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9.png"/><Relationship Id="rId2" Type="http://schemas.openxmlformats.org/officeDocument/2006/relationships/image" Target="../media/image189.png"/><Relationship Id="rId1" Type="http://schemas.openxmlformats.org/officeDocument/2006/relationships/image" Target="../media/image187.png"/></Relationships>
</file>

<file path=ppt/slides/_rels/slide8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3.png"/><Relationship Id="rId3" Type="http://schemas.openxmlformats.org/officeDocument/2006/relationships/image" Target="../media/image202.png"/><Relationship Id="rId2" Type="http://schemas.openxmlformats.org/officeDocument/2006/relationships/image" Target="../media/image201.png"/><Relationship Id="rId1" Type="http://schemas.openxmlformats.org/officeDocument/2006/relationships/image" Target="../media/image200.png"/></Relationships>
</file>

<file path=ppt/slides/_rels/slide90.xml.rels><?xml version="1.0" encoding="UTF-8" standalone="yes"?>
<Relationships xmlns="http://schemas.openxmlformats.org/package/2006/relationships"><Relationship Id="rId4" Type="http://schemas.openxmlformats.org/officeDocument/2006/relationships/vmlDrawing" Target="../drawings/vmlDrawing46.vml"/><Relationship Id="rId3" Type="http://schemas.openxmlformats.org/officeDocument/2006/relationships/slideLayout" Target="../slideLayouts/slideLayout2.xml"/><Relationship Id="rId2" Type="http://schemas.openxmlformats.org/officeDocument/2006/relationships/image" Target="../media/image203.wmf"/><Relationship Id="rId1" Type="http://schemas.openxmlformats.org/officeDocument/2006/relationships/oleObject" Target="../embeddings/oleObject110.bin"/></Relationships>
</file>

<file path=ppt/slides/_rels/slide91.xml.rels><?xml version="1.0" encoding="UTF-8" standalone="yes"?>
<Relationships xmlns="http://schemas.openxmlformats.org/package/2006/relationships"><Relationship Id="rId6" Type="http://schemas.openxmlformats.org/officeDocument/2006/relationships/vmlDrawing" Target="../drawings/vmlDrawing47.vml"/><Relationship Id="rId5" Type="http://schemas.openxmlformats.org/officeDocument/2006/relationships/slideLayout" Target="../slideLayouts/slideLayout2.xml"/><Relationship Id="rId4" Type="http://schemas.openxmlformats.org/officeDocument/2006/relationships/image" Target="../media/image40.wmf"/><Relationship Id="rId3" Type="http://schemas.openxmlformats.org/officeDocument/2006/relationships/oleObject" Target="../embeddings/oleObject112.bin"/><Relationship Id="rId2" Type="http://schemas.openxmlformats.org/officeDocument/2006/relationships/image" Target="../media/image46.wmf"/><Relationship Id="rId1" Type="http://schemas.openxmlformats.org/officeDocument/2006/relationships/oleObject" Target="../embeddings/oleObject111.bin"/></Relationships>
</file>

<file path=ppt/slides/_rels/slide92.xml.rels><?xml version="1.0" encoding="UTF-8" standalone="yes"?>
<Relationships xmlns="http://schemas.openxmlformats.org/package/2006/relationships"><Relationship Id="rId6" Type="http://schemas.openxmlformats.org/officeDocument/2006/relationships/vmlDrawing" Target="../drawings/vmlDrawing48.vml"/><Relationship Id="rId5" Type="http://schemas.openxmlformats.org/officeDocument/2006/relationships/slideLayout" Target="../slideLayouts/slideLayout2.xml"/><Relationship Id="rId4" Type="http://schemas.openxmlformats.org/officeDocument/2006/relationships/image" Target="../media/image205.wmf"/><Relationship Id="rId3" Type="http://schemas.openxmlformats.org/officeDocument/2006/relationships/oleObject" Target="../embeddings/oleObject114.bin"/><Relationship Id="rId2" Type="http://schemas.openxmlformats.org/officeDocument/2006/relationships/image" Target="../media/image204.wmf"/><Relationship Id="rId1" Type="http://schemas.openxmlformats.org/officeDocument/2006/relationships/oleObject" Target="../embeddings/oleObject113.bin"/></Relationships>
</file>

<file path=ppt/slides/_rels/slide93.xml.rels><?xml version="1.0" encoding="UTF-8" standalone="yes"?>
<Relationships xmlns="http://schemas.openxmlformats.org/package/2006/relationships"><Relationship Id="rId9" Type="http://schemas.openxmlformats.org/officeDocument/2006/relationships/oleObject" Target="../embeddings/oleObject119.bin"/><Relationship Id="rId8" Type="http://schemas.openxmlformats.org/officeDocument/2006/relationships/image" Target="../media/image209.wmf"/><Relationship Id="rId7" Type="http://schemas.openxmlformats.org/officeDocument/2006/relationships/oleObject" Target="../embeddings/oleObject118.bin"/><Relationship Id="rId6" Type="http://schemas.openxmlformats.org/officeDocument/2006/relationships/image" Target="../media/image208.wmf"/><Relationship Id="rId5" Type="http://schemas.openxmlformats.org/officeDocument/2006/relationships/oleObject" Target="../embeddings/oleObject117.bin"/><Relationship Id="rId4" Type="http://schemas.openxmlformats.org/officeDocument/2006/relationships/image" Target="../media/image207.wmf"/><Relationship Id="rId3" Type="http://schemas.openxmlformats.org/officeDocument/2006/relationships/oleObject" Target="../embeddings/oleObject116.bin"/><Relationship Id="rId2" Type="http://schemas.openxmlformats.org/officeDocument/2006/relationships/image" Target="../media/image206.wmf"/><Relationship Id="rId12" Type="http://schemas.openxmlformats.org/officeDocument/2006/relationships/vmlDrawing" Target="../drawings/vmlDrawing49.vml"/><Relationship Id="rId11" Type="http://schemas.openxmlformats.org/officeDocument/2006/relationships/slideLayout" Target="../slideLayouts/slideLayout2.xml"/><Relationship Id="rId10" Type="http://schemas.openxmlformats.org/officeDocument/2006/relationships/image" Target="../media/image210.wmf"/><Relationship Id="rId1" Type="http://schemas.openxmlformats.org/officeDocument/2006/relationships/oleObject" Target="../embeddings/oleObject115.bin"/></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2.png"/><Relationship Id="rId1" Type="http://schemas.openxmlformats.org/officeDocument/2006/relationships/image" Target="../media/image211.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3.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ctrTitle"/>
          </p:nvPr>
        </p:nvSpPr>
        <p:spPr>
          <a:xfrm>
            <a:off x="-76200" y="-206375"/>
            <a:ext cx="7705725" cy="2087563"/>
          </a:xfrm>
        </p:spPr>
        <p:txBody>
          <a:bodyPr vert="horz" wrap="square" lIns="91440" tIns="45720" rIns="91440" bIns="45720" anchor="ctr"/>
          <a:p>
            <a:pPr eaLnBrk="1" hangingPunct="1">
              <a:buClrTx/>
              <a:buSzTx/>
              <a:buFontTx/>
            </a:pPr>
            <a:r>
              <a:rPr lang="zh-CN" altLang="en-US" b="1" dirty="0">
                <a:solidFill>
                  <a:schemeClr val="tx1"/>
                </a:solidFill>
                <a:latin typeface="+mj-lt"/>
                <a:ea typeface="+mj-ea"/>
                <a:cs typeface="+mj-cs"/>
              </a:rPr>
              <a:t>第二章</a:t>
            </a:r>
            <a:br>
              <a:rPr lang="en-US" altLang="zh-CN" dirty="0">
                <a:solidFill>
                  <a:schemeClr val="tx1"/>
                </a:solidFill>
                <a:latin typeface="+mj-lt"/>
                <a:ea typeface="+mj-ea"/>
                <a:cs typeface="+mj-cs"/>
              </a:rPr>
            </a:br>
            <a:r>
              <a:rPr lang="en-US" altLang="zh-CN" dirty="0">
                <a:solidFill>
                  <a:schemeClr val="tx1"/>
                </a:solidFill>
                <a:latin typeface="+mj-lt"/>
                <a:ea typeface="+mj-ea"/>
                <a:cs typeface="+mj-cs"/>
              </a:rPr>
              <a:t>                 </a:t>
            </a:r>
            <a:r>
              <a:rPr lang="zh-CN" altLang="en-US" b="1" dirty="0">
                <a:solidFill>
                  <a:schemeClr val="tx1"/>
                </a:solidFill>
                <a:latin typeface="+mj-lt"/>
                <a:ea typeface="+mj-ea"/>
                <a:cs typeface="+mj-cs"/>
              </a:rPr>
              <a:t>基本定理</a:t>
            </a:r>
            <a:endParaRPr lang="en-US" altLang="zh-CN" b="1" dirty="0">
              <a:solidFill>
                <a:srgbClr val="FFFFFF"/>
              </a:solidFill>
              <a:latin typeface="+mj-lt"/>
              <a:ea typeface="+mj-ea"/>
              <a:cs typeface="+mj-cs"/>
            </a:endParaRPr>
          </a:p>
        </p:txBody>
      </p:sp>
      <p:sp>
        <p:nvSpPr>
          <p:cNvPr id="4099" name="Rectangle 3"/>
          <p:cNvSpPr>
            <a:spLocks noGrp="1"/>
          </p:cNvSpPr>
          <p:nvPr>
            <p:ph type="subTitle" idx="1"/>
          </p:nvPr>
        </p:nvSpPr>
        <p:spPr>
          <a:xfrm>
            <a:off x="2971800" y="4267200"/>
            <a:ext cx="6172200" cy="1752600"/>
          </a:xfrm>
        </p:spPr>
        <p:txBody>
          <a:bodyPr vert="horz" wrap="square" lIns="91440" tIns="45720" rIns="91440" bIns="45720" anchor="t"/>
          <a:p>
            <a:pPr eaLnBrk="1" hangingPunct="1">
              <a:buSzPct val="75000"/>
            </a:pPr>
            <a:r>
              <a:rPr lang="en-US" altLang="zh-CN" sz="3000" dirty="0">
                <a:latin typeface="+mn-lt"/>
                <a:ea typeface="+mn-ea"/>
                <a:cs typeface="+mn-cs"/>
              </a:rPr>
              <a:t>— Fundamentals of Electric Circuit</a:t>
            </a:r>
            <a:endParaRPr lang="en-US" altLang="zh-CN" sz="3000" dirty="0">
              <a:latin typeface="+mn-lt"/>
              <a:ea typeface="+mn-ea"/>
              <a:cs typeface="+mn-cs"/>
            </a:endParaRPr>
          </a:p>
          <a:p>
            <a:pPr eaLnBrk="1" hangingPunct="1">
              <a:buSzPct val="75000"/>
            </a:pPr>
            <a:r>
              <a:rPr lang="en-US" altLang="zh-CN" sz="3000" dirty="0">
                <a:latin typeface="+mn-lt"/>
                <a:ea typeface="+mn-ea"/>
                <a:cs typeface="+mn-cs"/>
              </a:rPr>
              <a:t>     </a:t>
            </a:r>
            <a:r>
              <a:rPr lang="zh-CN" altLang="en-US" sz="3000" dirty="0">
                <a:latin typeface="+mn-lt"/>
                <a:ea typeface="+mn-ea"/>
                <a:cs typeface="+mn-cs"/>
              </a:rPr>
              <a:t>　　　　　　　</a:t>
            </a:r>
            <a:r>
              <a:rPr lang="zh-CN" altLang="en-US" sz="4800" b="1" dirty="0">
                <a:latin typeface="+mn-lt"/>
                <a:ea typeface="+mn-ea"/>
                <a:cs typeface="+mn-cs"/>
              </a:rPr>
              <a:t>电路基础</a:t>
            </a:r>
            <a:endParaRPr lang="zh-CN" altLang="en-US" sz="4800" b="1" dirty="0">
              <a:latin typeface="+mn-lt"/>
              <a:ea typeface="+mn-ea"/>
              <a:cs typeface="+mn-cs"/>
            </a:endParaRPr>
          </a:p>
          <a:p>
            <a:pPr eaLnBrk="1" hangingPunct="1">
              <a:buSzPct val="75000"/>
            </a:pPr>
            <a:endParaRPr lang="en-US" altLang="zh-CN" sz="3000" dirty="0">
              <a:latin typeface="+mn-lt"/>
              <a:ea typeface="+mn-ea"/>
              <a:cs typeface="+mn-cs"/>
            </a:endParaRPr>
          </a:p>
        </p:txBody>
      </p:sp>
      <p:sp>
        <p:nvSpPr>
          <p:cNvPr id="4100" name="灯片编号占位符 2"/>
          <p:cNvSpPr txBox="1">
            <a:spLocks noGrp="1"/>
          </p:cNvSpPr>
          <p:nvPr>
            <p:ph type="sldNum" sz="quarter" idx="4"/>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ctr"/>
            <a:r>
              <a:rPr lang="zh-CN" altLang="en-US"/>
              <a:t>电阻</a:t>
            </a:r>
            <a:endParaRPr lang="zh-CN" altLang="en-US"/>
          </a:p>
        </p:txBody>
      </p:sp>
      <p:pic>
        <p:nvPicPr>
          <p:cNvPr id="4" name="内容占位符 3"/>
          <p:cNvPicPr>
            <a:picLocks noChangeAspect="1"/>
          </p:cNvPicPr>
          <p:nvPr>
            <p:ph idx="1"/>
          </p:nvPr>
        </p:nvPicPr>
        <p:blipFill>
          <a:blip r:embed="rId1"/>
          <a:stretch>
            <a:fillRect/>
          </a:stretch>
        </p:blipFill>
        <p:spPr>
          <a:xfrm>
            <a:off x="6228715" y="5046980"/>
            <a:ext cx="1278255" cy="645160"/>
          </a:xfrm>
          <a:prstGeom prst="rect">
            <a:avLst/>
          </a:prstGeom>
          <a:ln>
            <a:noFill/>
          </a:ln>
        </p:spPr>
      </p:pic>
      <p:pic>
        <p:nvPicPr>
          <p:cNvPr id="5" name="图片 4"/>
          <p:cNvPicPr>
            <a:picLocks noChangeAspect="1"/>
          </p:cNvPicPr>
          <p:nvPr/>
        </p:nvPicPr>
        <p:blipFill>
          <a:blip r:embed="rId2"/>
          <a:stretch>
            <a:fillRect/>
          </a:stretch>
        </p:blipFill>
        <p:spPr>
          <a:xfrm>
            <a:off x="5119370" y="1617345"/>
            <a:ext cx="3505200" cy="3181350"/>
          </a:xfrm>
          <a:prstGeom prst="rect">
            <a:avLst/>
          </a:prstGeom>
        </p:spPr>
      </p:pic>
      <p:sp>
        <p:nvSpPr>
          <p:cNvPr id="7" name="文本框 6"/>
          <p:cNvSpPr txBox="1"/>
          <p:nvPr/>
        </p:nvSpPr>
        <p:spPr>
          <a:xfrm>
            <a:off x="640715" y="1638935"/>
            <a:ext cx="3588385" cy="313817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r>
              <a:rPr lang="zh-CN" altLang="en-US"/>
              <a:t>导体对电流的阻碍作用就叫该导体的电阻。电阻（Resistance，通常用“R”表示）是一个物理量，在物理学中表示导体对电流阻碍作用的大小。导体的电阻越大，表示导体对电流的阻碍作用越大。不同的导体，电阻一般不同，电阻是导体本身的一种性质。导体的电阻通常用字母R表示，电阻的单位是欧姆，简称欧，符号为Ω。</a:t>
            </a:r>
            <a:endParaRPr lang="zh-CN" altLang="en-US"/>
          </a:p>
        </p:txBody>
      </p:sp>
      <p:sp>
        <p:nvSpPr>
          <p:cNvPr id="9" name="文本框 8"/>
          <p:cNvSpPr txBox="1"/>
          <p:nvPr/>
        </p:nvSpPr>
        <p:spPr>
          <a:xfrm>
            <a:off x="538480" y="5046980"/>
            <a:ext cx="5690235" cy="645160"/>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nchor="t">
            <a:spAutoFit/>
          </a:bodyPr>
          <a:p>
            <a:r>
              <a:rPr lang="zh-CN" altLang="en-US"/>
              <a:t>对于由某种材料制成的柱形均匀导体，其电阻R与长度L成正比，与横截面积S成反比，即：</a:t>
            </a:r>
            <a:endParaRPr lang="zh-CN" altLang="en-US"/>
          </a:p>
        </p:txBody>
      </p:sp>
      <p:sp>
        <p:nvSpPr>
          <p:cNvPr id="11" name="文本框 10"/>
          <p:cNvSpPr txBox="1"/>
          <p:nvPr/>
        </p:nvSpPr>
        <p:spPr>
          <a:xfrm>
            <a:off x="595630" y="6012180"/>
            <a:ext cx="7054850" cy="368300"/>
          </a:xfrm>
          <a:prstGeom prst="rect">
            <a:avLst/>
          </a:prstGeom>
        </p:spPr>
        <p:style>
          <a:lnRef idx="2">
            <a:schemeClr val="dk1"/>
          </a:lnRef>
          <a:fillRef idx="1">
            <a:schemeClr val="lt1"/>
          </a:fillRef>
          <a:effectRef idx="0">
            <a:schemeClr val="dk1"/>
          </a:effectRef>
          <a:fontRef idx="minor">
            <a:schemeClr val="dk1"/>
          </a:fontRef>
        </p:style>
        <p:txBody>
          <a:bodyPr wrap="square" rtlCol="0" anchor="t">
            <a:spAutoFit/>
          </a:bodyPr>
          <a:p>
            <a:r>
              <a:rPr lang="zh-CN" altLang="en-US"/>
              <a:t>式中ρ为比例系数，由导体的材料和周围温度所决定，称为电阻率。</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custDataLst>
              <p:tags r:id="rId1"/>
            </p:custDataLst>
          </p:nvPr>
        </p:nvPicPr>
        <p:blipFill>
          <a:blip r:embed="rId2"/>
          <a:stretch>
            <a:fillRect/>
          </a:stretch>
        </p:blipFill>
        <p:spPr>
          <a:xfrm>
            <a:off x="457200" y="1761490"/>
            <a:ext cx="8082280" cy="27622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p:nvPr>
        </p:nvSpPr>
        <p:spPr>
          <a:xfrm>
            <a:off x="646113" y="698500"/>
            <a:ext cx="8229600" cy="1371600"/>
          </a:xfrm>
        </p:spPr>
        <p:txBody>
          <a:bodyPr vert="horz" wrap="square" lIns="91440" tIns="45720" rIns="91440" bIns="45720" anchor="ctr"/>
          <a:p>
            <a:pPr eaLnBrk="1" hangingPunct="1"/>
            <a:r>
              <a:rPr lang="en-US" altLang="zh-CN" dirty="0"/>
              <a:t> </a:t>
            </a:r>
            <a:endParaRPr lang="en-US" altLang="zh-CN" dirty="0"/>
          </a:p>
        </p:txBody>
      </p:sp>
      <p:sp>
        <p:nvSpPr>
          <p:cNvPr id="5123" name="Rectangle 3"/>
          <p:cNvSpPr>
            <a:spLocks noGrp="1"/>
          </p:cNvSpPr>
          <p:nvPr>
            <p:ph idx="1"/>
          </p:nvPr>
        </p:nvSpPr>
        <p:spPr>
          <a:xfrm>
            <a:off x="338138" y="1447800"/>
            <a:ext cx="8229600" cy="647700"/>
          </a:xfrm>
        </p:spPr>
        <p:txBody>
          <a:bodyPr vert="horz" wrap="square" lIns="91440" tIns="45720" rIns="91440" bIns="45720" anchor="t"/>
          <a:p>
            <a:pPr eaLnBrk="1" hangingPunct="1"/>
            <a:r>
              <a:rPr lang="zh-CN" altLang="en-US" sz="2800" b="1" dirty="0">
                <a:latin typeface="Arial Black" panose="020B0A04020102020204" pitchFamily="34" charset="0"/>
              </a:rPr>
              <a:t>电阻</a:t>
            </a:r>
            <a:r>
              <a:rPr lang="en-US" altLang="zh-CN" sz="2400" b="1" i="1" dirty="0">
                <a:latin typeface="Arial Black" panose="020B0A04020102020204" pitchFamily="34" charset="0"/>
              </a:rPr>
              <a:t> </a:t>
            </a:r>
            <a:endParaRPr lang="en-US" altLang="zh-CN" sz="3600" b="1" dirty="0"/>
          </a:p>
        </p:txBody>
      </p:sp>
      <p:sp>
        <p:nvSpPr>
          <p:cNvPr id="5124" name="Text Box 4"/>
          <p:cNvSpPr txBox="1"/>
          <p:nvPr/>
        </p:nvSpPr>
        <p:spPr>
          <a:xfrm>
            <a:off x="710883" y="2070100"/>
            <a:ext cx="7826375" cy="1016000"/>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Arial Black" panose="020B0A04020102020204" pitchFamily="34" charset="0"/>
                <a:cs typeface="Arial" panose="020B0604020202020204" pitchFamily="34" charset="0"/>
              </a:rPr>
              <a:t>     </a:t>
            </a:r>
            <a:r>
              <a:rPr lang="zh-CN" altLang="en-US" sz="2800" b="1" dirty="0">
                <a:latin typeface="Arial Black" panose="020B0A04020102020204" pitchFamily="34" charset="0"/>
                <a:cs typeface="Arial" panose="020B0604020202020204" pitchFamily="34" charset="0"/>
              </a:rPr>
              <a:t>电阻</a:t>
            </a:r>
            <a:r>
              <a:rPr lang="en-US" altLang="zh-CN" b="1" i="1" dirty="0">
                <a:solidFill>
                  <a:srgbClr val="FF0000"/>
                </a:solidFill>
                <a:latin typeface="Times New Roman" panose="02020603050405020304" pitchFamily="18" charset="0"/>
                <a:cs typeface="Times New Roman" panose="02020603050405020304" pitchFamily="18" charset="0"/>
              </a:rPr>
              <a:t>R</a:t>
            </a:r>
            <a:r>
              <a:rPr lang="zh-CN" altLang="en-US" sz="2800" b="1" dirty="0">
                <a:latin typeface="Arial Black" panose="020B0A04020102020204" pitchFamily="34" charset="0"/>
                <a:cs typeface="Arial" panose="020B0604020202020204" pitchFamily="34" charset="0"/>
              </a:rPr>
              <a:t>表示元件阻碍电流流动的能力，单位用欧姆</a:t>
            </a:r>
            <a:r>
              <a:rPr lang="en-US" altLang="zh-CN" sz="2800" b="1" dirty="0">
                <a:latin typeface="Times New Roman" panose="02020603050405020304" pitchFamily="18" charset="0"/>
                <a:cs typeface="Times New Roman" panose="02020603050405020304" pitchFamily="18" charset="0"/>
              </a:rPr>
              <a:t>(</a:t>
            </a:r>
            <a:r>
              <a:rPr lang="el-GR" altLang="zh-CN" sz="2800" b="1" dirty="0">
                <a:latin typeface="Times New Roman" panose="02020603050405020304" pitchFamily="18" charset="0"/>
                <a:cs typeface="Times New Roman" panose="02020603050405020304" pitchFamily="18" charset="0"/>
              </a:rPr>
              <a:t>Ω</a:t>
            </a:r>
            <a:r>
              <a:rPr lang="en-US" altLang="zh-CN" sz="2800" b="1" dirty="0">
                <a:latin typeface="Times New Roman" panose="02020603050405020304" pitchFamily="18" charset="0"/>
                <a:cs typeface="Times New Roman" panose="02020603050405020304" pitchFamily="18" charset="0"/>
              </a:rPr>
              <a:t>) </a:t>
            </a:r>
            <a:r>
              <a:rPr lang="zh-CN" altLang="en-US" sz="2800" b="1" dirty="0">
                <a:latin typeface="Arial Black" panose="020B0A04020102020204" pitchFamily="34" charset="0"/>
                <a:cs typeface="Arial" panose="020B0604020202020204" pitchFamily="34" charset="0"/>
              </a:rPr>
              <a:t>表示。</a:t>
            </a:r>
            <a:endParaRPr lang="el-GR" altLang="zh-CN" sz="2400" b="1" dirty="0">
              <a:latin typeface="Arial Black" panose="020B0A04020102020204" pitchFamily="34" charset="0"/>
              <a:ea typeface="Arial" panose="020B0604020202020204" pitchFamily="34" charset="0"/>
            </a:endParaRPr>
          </a:p>
        </p:txBody>
      </p:sp>
      <p:sp>
        <p:nvSpPr>
          <p:cNvPr id="5125" name="Text Box 5"/>
          <p:cNvSpPr txBox="1"/>
          <p:nvPr/>
        </p:nvSpPr>
        <p:spPr>
          <a:xfrm>
            <a:off x="3949700" y="3214053"/>
            <a:ext cx="2806700"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buNone/>
            </a:pPr>
            <a:r>
              <a:rPr lang="en-US" altLang="zh-CN" sz="3600" b="1" i="1" dirty="0">
                <a:cs typeface="Arial" panose="020B0604020202020204" pitchFamily="34" charset="0"/>
              </a:rPr>
              <a:t>1</a:t>
            </a:r>
            <a:r>
              <a:rPr lang="el-GR" altLang="zh-CN" sz="3600" b="1" i="1" dirty="0">
                <a:cs typeface="Arial" panose="020B0604020202020204" pitchFamily="34" charset="0"/>
              </a:rPr>
              <a:t>Ω</a:t>
            </a:r>
            <a:r>
              <a:rPr lang="en-US" altLang="zh-CN" sz="3600" b="1" i="1" dirty="0">
                <a:cs typeface="Arial" panose="020B0604020202020204" pitchFamily="34" charset="0"/>
              </a:rPr>
              <a:t>=1 V/A</a:t>
            </a:r>
            <a:endParaRPr lang="en-US" altLang="zh-CN" sz="3600" b="1" dirty="0">
              <a:ea typeface="Arial" panose="020B0604020202020204" pitchFamily="34" charset="0"/>
            </a:endParaRPr>
          </a:p>
        </p:txBody>
      </p:sp>
      <p:sp>
        <p:nvSpPr>
          <p:cNvPr id="5126" name="Text Box 6"/>
          <p:cNvSpPr txBox="1"/>
          <p:nvPr/>
        </p:nvSpPr>
        <p:spPr>
          <a:xfrm>
            <a:off x="1093788" y="4219575"/>
            <a:ext cx="263525" cy="26463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cs typeface="Arial" panose="020B0604020202020204" pitchFamily="34" charset="0"/>
              </a:rPr>
              <a:t>+</a:t>
            </a:r>
            <a:endParaRPr lang="en-US" altLang="zh-CN" sz="2400" dirty="0">
              <a:cs typeface="Arial" panose="020B0604020202020204" pitchFamily="34" charset="0"/>
            </a:endParaRPr>
          </a:p>
          <a:p>
            <a:pPr marL="0" lvl="0" indent="0" eaLnBrk="1" hangingPunct="1">
              <a:spcBef>
                <a:spcPct val="50000"/>
              </a:spcBef>
              <a:buClrTx/>
              <a:buSzTx/>
              <a:buFontTx/>
              <a:buNone/>
            </a:pPr>
            <a:endParaRPr lang="en-US" altLang="zh-CN" sz="2400" i="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i="1" dirty="0">
                <a:latin typeface="Times New Roman" panose="02020603050405020304" pitchFamily="18" charset="0"/>
                <a:cs typeface="Arial" panose="020B0604020202020204" pitchFamily="34" charset="0"/>
              </a:rPr>
              <a:t>v</a:t>
            </a:r>
            <a:endParaRPr lang="en-US" altLang="zh-CN" sz="2400" i="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800" dirty="0">
                <a:cs typeface="Arial" panose="020B0604020202020204" pitchFamily="34" charset="0"/>
              </a:rPr>
              <a:t> -         </a:t>
            </a:r>
            <a:endParaRPr lang="en-US" altLang="zh-CN" sz="2800" dirty="0">
              <a:ea typeface="Arial" panose="020B0604020202020204" pitchFamily="34" charset="0"/>
            </a:endParaRPr>
          </a:p>
        </p:txBody>
      </p:sp>
      <p:pic>
        <p:nvPicPr>
          <p:cNvPr id="5127" name="Picture 8"/>
          <p:cNvPicPr>
            <a:picLocks noChangeAspect="1"/>
          </p:cNvPicPr>
          <p:nvPr/>
        </p:nvPicPr>
        <p:blipFill>
          <a:blip r:embed="rId1"/>
          <a:stretch>
            <a:fillRect/>
          </a:stretch>
        </p:blipFill>
        <p:spPr>
          <a:xfrm>
            <a:off x="1397000" y="4381500"/>
            <a:ext cx="757238" cy="2232025"/>
          </a:xfrm>
          <a:prstGeom prst="rect">
            <a:avLst/>
          </a:prstGeom>
          <a:noFill/>
          <a:ln w="9525">
            <a:noFill/>
          </a:ln>
        </p:spPr>
      </p:pic>
      <p:sp>
        <p:nvSpPr>
          <p:cNvPr id="5128" name="Line 10"/>
          <p:cNvSpPr/>
          <p:nvPr/>
        </p:nvSpPr>
        <p:spPr>
          <a:xfrm>
            <a:off x="2112963" y="4432300"/>
            <a:ext cx="0" cy="473075"/>
          </a:xfrm>
          <a:prstGeom prst="line">
            <a:avLst/>
          </a:prstGeom>
          <a:ln w="9525" cap="flat" cmpd="sng">
            <a:solidFill>
              <a:schemeClr val="tx1"/>
            </a:solidFill>
            <a:prstDash val="solid"/>
            <a:headEnd type="none" w="med" len="med"/>
            <a:tailEnd type="triangle" w="med" len="med"/>
          </a:ln>
        </p:spPr>
      </p:sp>
      <p:sp>
        <p:nvSpPr>
          <p:cNvPr id="5129" name="Text Box 11"/>
          <p:cNvSpPr txBox="1"/>
          <p:nvPr/>
        </p:nvSpPr>
        <p:spPr>
          <a:xfrm>
            <a:off x="2092325" y="4524375"/>
            <a:ext cx="122238"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i="1" dirty="0">
                <a:cs typeface="Arial" panose="020B0604020202020204" pitchFamily="34" charset="0"/>
              </a:rPr>
              <a:t>i</a:t>
            </a:r>
            <a:endParaRPr lang="en-US" altLang="zh-CN" sz="1800" i="1" dirty="0">
              <a:ea typeface="Arial" panose="020B0604020202020204" pitchFamily="34" charset="0"/>
            </a:endParaRPr>
          </a:p>
        </p:txBody>
      </p:sp>
      <p:sp>
        <p:nvSpPr>
          <p:cNvPr id="5130" name="Rectangle 12"/>
          <p:cNvSpPr/>
          <p:nvPr/>
        </p:nvSpPr>
        <p:spPr>
          <a:xfrm>
            <a:off x="307975" y="298450"/>
            <a:ext cx="8229600" cy="1079500"/>
          </a:xfrm>
          <a:prstGeom prst="rect">
            <a:avLst/>
          </a:prstGeom>
          <a:noFill/>
          <a:ln w="9525">
            <a:noFill/>
          </a:ln>
        </p:spPr>
        <p:txBody>
          <a:bodyPr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4400" b="1" dirty="0">
                <a:solidFill>
                  <a:srgbClr val="0000FF"/>
                </a:solidFill>
                <a:latin typeface="Franklin Gothic Medium" panose="020B0603020102020204" pitchFamily="34" charset="0"/>
                <a:cs typeface="Arial" panose="020B0604020202020204" pitchFamily="34" charset="0"/>
              </a:rPr>
              <a:t>2.2 </a:t>
            </a:r>
            <a:r>
              <a:rPr lang="zh-CN" altLang="en-US" sz="4400" b="1" dirty="0">
                <a:solidFill>
                  <a:srgbClr val="0000FF"/>
                </a:solidFill>
                <a:latin typeface="Franklin Gothic Medium" panose="020B0603020102020204" pitchFamily="34" charset="0"/>
                <a:cs typeface="Arial" panose="020B0604020202020204" pitchFamily="34" charset="0"/>
              </a:rPr>
              <a:t>欧姆定律</a:t>
            </a:r>
            <a:endParaRPr lang="en-US" altLang="zh-CN" sz="4400" b="1" dirty="0">
              <a:solidFill>
                <a:srgbClr val="C00000"/>
              </a:solidFill>
              <a:latin typeface="Franklin Gothic Medium" panose="020B0603020102020204" pitchFamily="34" charset="0"/>
              <a:ea typeface="Arial" panose="020B0604020202020204" pitchFamily="34" charset="0"/>
            </a:endParaRPr>
          </a:p>
        </p:txBody>
      </p:sp>
      <p:sp>
        <p:nvSpPr>
          <p:cNvPr id="5131" name="灯片编号占位符 2"/>
          <p:cNvSpPr txBox="1">
            <a:spLocks noGrp="1"/>
          </p:cNvSpPr>
          <p:nvPr>
            <p:ph type="sldNum" sz="quarter" idx="11"/>
          </p:nvPr>
        </p:nvSpPr>
        <p:spPr>
          <a:xfrm>
            <a:off x="6881813" y="6384925"/>
            <a:ext cx="2133600" cy="457200"/>
          </a:xfrm>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5132" name="Line 7"/>
          <p:cNvSpPr/>
          <p:nvPr/>
        </p:nvSpPr>
        <p:spPr>
          <a:xfrm>
            <a:off x="4283075" y="4591050"/>
            <a:ext cx="0" cy="574675"/>
          </a:xfrm>
          <a:prstGeom prst="line">
            <a:avLst/>
          </a:prstGeom>
          <a:ln w="28575" cap="flat" cmpd="sng">
            <a:solidFill>
              <a:schemeClr val="tx1"/>
            </a:solidFill>
            <a:prstDash val="solid"/>
            <a:headEnd type="none" w="med" len="med"/>
            <a:tailEnd type="none" w="med" len="med"/>
          </a:ln>
        </p:spPr>
      </p:sp>
      <p:sp>
        <p:nvSpPr>
          <p:cNvPr id="5133" name="Oval 8"/>
          <p:cNvSpPr/>
          <p:nvPr/>
        </p:nvSpPr>
        <p:spPr>
          <a:xfrm>
            <a:off x="4211638" y="4446588"/>
            <a:ext cx="144462" cy="144462"/>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5134" name="Oval 9"/>
          <p:cNvSpPr/>
          <p:nvPr/>
        </p:nvSpPr>
        <p:spPr>
          <a:xfrm>
            <a:off x="4211638" y="6462713"/>
            <a:ext cx="144462" cy="144462"/>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5135" name="Line 10"/>
          <p:cNvSpPr/>
          <p:nvPr/>
        </p:nvSpPr>
        <p:spPr>
          <a:xfrm>
            <a:off x="4283075" y="5815013"/>
            <a:ext cx="0" cy="647700"/>
          </a:xfrm>
          <a:prstGeom prst="line">
            <a:avLst/>
          </a:prstGeom>
          <a:ln w="28575" cap="flat" cmpd="sng">
            <a:solidFill>
              <a:schemeClr val="tx1"/>
            </a:solidFill>
            <a:prstDash val="solid"/>
            <a:headEnd type="none" w="med" len="med"/>
            <a:tailEnd type="none" w="med" len="med"/>
          </a:ln>
        </p:spPr>
      </p:sp>
      <p:pic>
        <p:nvPicPr>
          <p:cNvPr id="5136" name="Picture 11"/>
          <p:cNvPicPr>
            <a:picLocks noChangeAspect="1"/>
          </p:cNvPicPr>
          <p:nvPr/>
        </p:nvPicPr>
        <p:blipFill>
          <a:blip r:embed="rId2"/>
          <a:stretch>
            <a:fillRect/>
          </a:stretch>
        </p:blipFill>
        <p:spPr>
          <a:xfrm>
            <a:off x="4138613" y="5167313"/>
            <a:ext cx="314325" cy="796925"/>
          </a:xfrm>
          <a:prstGeom prst="rect">
            <a:avLst/>
          </a:prstGeom>
          <a:noFill/>
          <a:ln w="9525">
            <a:noFill/>
          </a:ln>
        </p:spPr>
      </p:pic>
      <p:sp>
        <p:nvSpPr>
          <p:cNvPr id="5137" name="Line 12"/>
          <p:cNvSpPr/>
          <p:nvPr/>
        </p:nvSpPr>
        <p:spPr>
          <a:xfrm>
            <a:off x="6372225" y="4591050"/>
            <a:ext cx="0" cy="574675"/>
          </a:xfrm>
          <a:prstGeom prst="line">
            <a:avLst/>
          </a:prstGeom>
          <a:ln w="28575" cap="flat" cmpd="sng">
            <a:solidFill>
              <a:schemeClr val="tx1"/>
            </a:solidFill>
            <a:prstDash val="solid"/>
            <a:headEnd type="none" w="med" len="med"/>
            <a:tailEnd type="none" w="med" len="med"/>
          </a:ln>
        </p:spPr>
      </p:sp>
      <p:sp>
        <p:nvSpPr>
          <p:cNvPr id="5138" name="Oval 13"/>
          <p:cNvSpPr/>
          <p:nvPr/>
        </p:nvSpPr>
        <p:spPr>
          <a:xfrm>
            <a:off x="6299200" y="4446588"/>
            <a:ext cx="144463" cy="144462"/>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pic>
        <p:nvPicPr>
          <p:cNvPr id="5139" name="Picture 14"/>
          <p:cNvPicPr>
            <a:picLocks noChangeAspect="1"/>
          </p:cNvPicPr>
          <p:nvPr/>
        </p:nvPicPr>
        <p:blipFill>
          <a:blip r:embed="rId2"/>
          <a:stretch>
            <a:fillRect/>
          </a:stretch>
        </p:blipFill>
        <p:spPr>
          <a:xfrm>
            <a:off x="6227763" y="5167313"/>
            <a:ext cx="314325" cy="796925"/>
          </a:xfrm>
          <a:prstGeom prst="rect">
            <a:avLst/>
          </a:prstGeom>
          <a:noFill/>
          <a:ln w="9525">
            <a:noFill/>
          </a:ln>
        </p:spPr>
      </p:pic>
      <p:sp>
        <p:nvSpPr>
          <p:cNvPr id="5140" name="Line 15"/>
          <p:cNvSpPr/>
          <p:nvPr/>
        </p:nvSpPr>
        <p:spPr>
          <a:xfrm>
            <a:off x="6372225" y="5888038"/>
            <a:ext cx="0" cy="576262"/>
          </a:xfrm>
          <a:prstGeom prst="line">
            <a:avLst/>
          </a:prstGeom>
          <a:ln w="28575" cap="flat" cmpd="sng">
            <a:solidFill>
              <a:schemeClr val="tx1"/>
            </a:solidFill>
            <a:prstDash val="solid"/>
            <a:headEnd type="none" w="med" len="med"/>
            <a:tailEnd type="none" w="med" len="med"/>
          </a:ln>
        </p:spPr>
      </p:sp>
      <p:sp>
        <p:nvSpPr>
          <p:cNvPr id="5141" name="Oval 16"/>
          <p:cNvSpPr/>
          <p:nvPr/>
        </p:nvSpPr>
        <p:spPr>
          <a:xfrm>
            <a:off x="6299200" y="6462713"/>
            <a:ext cx="144463" cy="144462"/>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5142" name="Line 17"/>
          <p:cNvSpPr/>
          <p:nvPr/>
        </p:nvSpPr>
        <p:spPr>
          <a:xfrm flipV="1">
            <a:off x="3851275" y="5095875"/>
            <a:ext cx="863600" cy="863600"/>
          </a:xfrm>
          <a:prstGeom prst="line">
            <a:avLst/>
          </a:prstGeom>
          <a:ln w="28575" cap="flat" cmpd="sng">
            <a:solidFill>
              <a:schemeClr val="tx1"/>
            </a:solidFill>
            <a:prstDash val="solid"/>
            <a:headEnd type="none" w="med" len="med"/>
            <a:tailEnd type="triangle" w="med" len="med"/>
          </a:ln>
        </p:spPr>
      </p:sp>
      <p:sp>
        <p:nvSpPr>
          <p:cNvPr id="5143" name="Line 18"/>
          <p:cNvSpPr/>
          <p:nvPr/>
        </p:nvSpPr>
        <p:spPr>
          <a:xfrm flipH="1">
            <a:off x="6443663" y="5589588"/>
            <a:ext cx="649287" cy="9525"/>
          </a:xfrm>
          <a:prstGeom prst="line">
            <a:avLst/>
          </a:prstGeom>
          <a:ln w="28575" cap="flat" cmpd="sng">
            <a:solidFill>
              <a:schemeClr val="tx1"/>
            </a:solidFill>
            <a:prstDash val="solid"/>
            <a:headEnd type="none" w="med" len="med"/>
            <a:tailEnd type="triangle" w="med" len="med"/>
          </a:ln>
        </p:spPr>
      </p:sp>
      <p:sp>
        <p:nvSpPr>
          <p:cNvPr id="2" name="文本框 1"/>
          <p:cNvSpPr txBox="1"/>
          <p:nvPr/>
        </p:nvSpPr>
        <p:spPr>
          <a:xfrm>
            <a:off x="4607560" y="3987800"/>
            <a:ext cx="888365" cy="6451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r>
              <a:rPr lang="zh-CN" altLang="en-US"/>
              <a:t>一般可变电阻</a:t>
            </a:r>
            <a:endParaRPr lang="zh-CN" altLang="en-US"/>
          </a:p>
        </p:txBody>
      </p:sp>
      <p:sp>
        <p:nvSpPr>
          <p:cNvPr id="3" name="文本框 2"/>
          <p:cNvSpPr txBox="1"/>
          <p:nvPr/>
        </p:nvSpPr>
        <p:spPr>
          <a:xfrm>
            <a:off x="6542405" y="3942715"/>
            <a:ext cx="908685" cy="368300"/>
          </a:xfrm>
          <a:prstGeom prst="rect">
            <a:avLst/>
          </a:prstGeom>
          <a:noFill/>
          <a:ln>
            <a:solidFill>
              <a:schemeClr val="accent1"/>
            </a:solidFill>
          </a:ln>
        </p:spPr>
        <p:txBody>
          <a:bodyPr wrap="square" rtlCol="0">
            <a:spAutoFit/>
          </a:bodyPr>
          <a:p>
            <a:r>
              <a:rPr lang="zh-CN" altLang="en-US"/>
              <a:t>电位器</a:t>
            </a:r>
            <a:endParaRPr lang="zh-CN" altLang="en-US"/>
          </a:p>
        </p:txBody>
      </p:sp>
      <p:graphicFrame>
        <p:nvGraphicFramePr>
          <p:cNvPr id="6149" name="Object 6"/>
          <p:cNvGraphicFramePr>
            <a:graphicFrameLocks noChangeAspect="1"/>
          </p:cNvGraphicFramePr>
          <p:nvPr/>
        </p:nvGraphicFramePr>
        <p:xfrm>
          <a:off x="1526064" y="3300731"/>
          <a:ext cx="1641475" cy="641985"/>
        </p:xfrm>
        <a:graphic>
          <a:graphicData uri="http://schemas.openxmlformats.org/presentationml/2006/ole">
            <mc:AlternateContent xmlns:mc="http://schemas.openxmlformats.org/markup-compatibility/2006">
              <mc:Choice xmlns:v="urn:schemas-microsoft-com:vml" Requires="v">
                <p:oleObj spid="_x0000_s3077" name="" r:id="rId3" imgW="520700" imgH="203200" progId="Equation.3">
                  <p:embed/>
                </p:oleObj>
              </mc:Choice>
              <mc:Fallback>
                <p:oleObj name="" r:id="rId3" imgW="520700" imgH="203200" progId="Equation.3">
                  <p:embed/>
                  <p:pic>
                    <p:nvPicPr>
                      <p:cNvPr id="0" name="图片 3076"/>
                      <p:cNvPicPr/>
                      <p:nvPr/>
                    </p:nvPicPr>
                    <p:blipFill>
                      <a:blip r:embed="rId4"/>
                      <a:stretch>
                        <a:fillRect/>
                      </a:stretch>
                    </p:blipFill>
                    <p:spPr>
                      <a:xfrm>
                        <a:off x="1526064" y="3300731"/>
                        <a:ext cx="1641475" cy="64198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3"/>
          <p:cNvSpPr>
            <a:spLocks noGrp="1"/>
          </p:cNvSpPr>
          <p:nvPr>
            <p:ph type="body" sz="half" idx="1"/>
          </p:nvPr>
        </p:nvSpPr>
        <p:spPr>
          <a:xfrm>
            <a:off x="468313" y="692150"/>
            <a:ext cx="8135937" cy="576263"/>
          </a:xfrm>
        </p:spPr>
        <p:txBody>
          <a:bodyPr vert="horz" wrap="square" lIns="91440" tIns="45720" rIns="91440" bIns="45720" anchor="t"/>
          <a:p>
            <a:pPr eaLnBrk="1" hangingPunct="1">
              <a:buClr>
                <a:schemeClr val="bg2"/>
              </a:buClr>
              <a:buSzPct val="75000"/>
              <a:buFont typeface="Wingdings" panose="05000000000000000000" pitchFamily="2" charset="2"/>
            </a:pPr>
            <a:r>
              <a:rPr lang="zh-CN" altLang="en-US" b="1" dirty="0">
                <a:latin typeface="Arial Black" panose="020B0A04020102020204" pitchFamily="34" charset="0"/>
              </a:rPr>
              <a:t>欧姆定律</a:t>
            </a:r>
            <a:r>
              <a:rPr lang="zh-CN" altLang="en-US" b="1" dirty="0">
                <a:solidFill>
                  <a:srgbClr val="C00000"/>
                </a:solidFill>
                <a:latin typeface="Franklin Gothic Medium" panose="020B0603020102020204" pitchFamily="34" charset="0"/>
                <a:cs typeface="Arial" panose="020B0604020202020204" pitchFamily="34" charset="0"/>
              </a:rPr>
              <a:t>（元件约束）</a:t>
            </a:r>
            <a:endParaRPr lang="en-US" altLang="zh-CN" b="1" dirty="0">
              <a:latin typeface="Arial Black" panose="020B0A04020102020204" pitchFamily="34" charset="0"/>
            </a:endParaRPr>
          </a:p>
        </p:txBody>
      </p:sp>
      <p:sp>
        <p:nvSpPr>
          <p:cNvPr id="6147" name="Text Box 4"/>
          <p:cNvSpPr txBox="1"/>
          <p:nvPr/>
        </p:nvSpPr>
        <p:spPr>
          <a:xfrm>
            <a:off x="744855" y="1646238"/>
            <a:ext cx="6624638" cy="1384300"/>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solidFill>
                  <a:srgbClr val="FF0000"/>
                </a:solidFill>
                <a:latin typeface="Arial Black" panose="020B0A04020102020204" pitchFamily="34" charset="0"/>
                <a:cs typeface="Arial" panose="020B0604020202020204" pitchFamily="34" charset="0"/>
              </a:rPr>
              <a:t>欧姆定律</a:t>
            </a:r>
            <a:r>
              <a:rPr lang="zh-CN" altLang="en-US" sz="2800" b="1" dirty="0">
                <a:latin typeface="Arial Black" panose="020B0A04020102020204" pitchFamily="34" charset="0"/>
                <a:cs typeface="Arial" panose="020B0604020202020204" pitchFamily="34" charset="0"/>
              </a:rPr>
              <a:t>：</a:t>
            </a:r>
            <a:endParaRPr lang="en-US" altLang="zh-CN" sz="2800" b="1" dirty="0">
              <a:latin typeface="Arial Black" panose="020B0A04020102020204" pitchFamily="34" charset="0"/>
              <a:cs typeface="Arial" panose="020B0604020202020204" pitchFamily="34" charset="0"/>
            </a:endParaRPr>
          </a:p>
          <a:p>
            <a:pPr marL="0" lvl="0" indent="0" eaLnBrk="1" hangingPunct="1">
              <a:spcBef>
                <a:spcPct val="0"/>
              </a:spcBef>
              <a:buClrTx/>
              <a:buSzTx/>
              <a:buFontTx/>
              <a:buNone/>
            </a:pPr>
            <a:r>
              <a:rPr lang="zh-CN" altLang="en-US" sz="2800" b="1" dirty="0">
                <a:latin typeface="Arial Black" panose="020B0A04020102020204" pitchFamily="34" charset="0"/>
                <a:cs typeface="Arial" panose="020B0604020202020204" pitchFamily="34" charset="0"/>
              </a:rPr>
              <a:t>     电阻器</a:t>
            </a:r>
            <a:r>
              <a:rPr lang="en-US" altLang="zh-CN" sz="2800" b="1" i="1" dirty="0">
                <a:solidFill>
                  <a:srgbClr val="FF0000"/>
                </a:solidFill>
                <a:latin typeface="Times New Roman" panose="02020603050405020304" pitchFamily="18" charset="0"/>
                <a:cs typeface="Times New Roman" panose="02020603050405020304" pitchFamily="18" charset="0"/>
              </a:rPr>
              <a:t>R</a:t>
            </a:r>
            <a:r>
              <a:rPr lang="zh-CN" altLang="en-US" sz="2800" b="1" dirty="0">
                <a:latin typeface="Arial Black" panose="020B0A04020102020204" pitchFamily="34" charset="0"/>
                <a:cs typeface="Arial" panose="020B0604020202020204" pitchFamily="34" charset="0"/>
              </a:rPr>
              <a:t>两端的电压</a:t>
            </a:r>
            <a:r>
              <a:rPr lang="en-US" altLang="zh-CN" sz="2800" b="1" i="1" dirty="0">
                <a:solidFill>
                  <a:srgbClr val="FF0000"/>
                </a:solidFill>
                <a:latin typeface="Times New Roman" panose="02020603050405020304" pitchFamily="18" charset="0"/>
                <a:cs typeface="Arial" panose="020B0604020202020204" pitchFamily="34" charset="0"/>
              </a:rPr>
              <a:t>v</a:t>
            </a:r>
            <a:r>
              <a:rPr lang="zh-CN" altLang="en-US" sz="2800" b="1" dirty="0">
                <a:latin typeface="Arial Black" panose="020B0A04020102020204" pitchFamily="34" charset="0"/>
                <a:cs typeface="Arial" panose="020B0604020202020204" pitchFamily="34" charset="0"/>
              </a:rPr>
              <a:t>与流过电阻器的电流</a:t>
            </a:r>
            <a:r>
              <a:rPr lang="en-US" altLang="zh-CN" sz="2800" b="1" i="1" dirty="0">
                <a:solidFill>
                  <a:srgbClr val="FF0000"/>
                </a:solidFill>
                <a:latin typeface="Times New Roman" panose="02020603050405020304" pitchFamily="18" charset="0"/>
                <a:cs typeface="Arial" panose="020B0604020202020204" pitchFamily="34" charset="0"/>
              </a:rPr>
              <a:t>i</a:t>
            </a:r>
            <a:r>
              <a:rPr lang="zh-CN" altLang="en-US" sz="2800" b="1" dirty="0">
                <a:latin typeface="Arial Black" panose="020B0A04020102020204" pitchFamily="34" charset="0"/>
                <a:cs typeface="Arial" panose="020B0604020202020204" pitchFamily="34" charset="0"/>
              </a:rPr>
              <a:t>成正比</a:t>
            </a:r>
            <a:endParaRPr lang="en-US" altLang="zh-CN" sz="2800" b="1" dirty="0">
              <a:latin typeface="华文行楷" panose="02010800040101010101" pitchFamily="2" charset="-122"/>
              <a:ea typeface="华文行楷" panose="02010800040101010101" pitchFamily="2" charset="-122"/>
            </a:endParaRPr>
          </a:p>
        </p:txBody>
      </p:sp>
      <p:graphicFrame>
        <p:nvGraphicFramePr>
          <p:cNvPr id="6148" name="Object 5"/>
          <p:cNvGraphicFramePr>
            <a:graphicFrameLocks noGrp="1" noChangeAspect="1"/>
          </p:cNvGraphicFramePr>
          <p:nvPr>
            <p:ph sz="quarter" idx="3"/>
          </p:nvPr>
        </p:nvGraphicFramePr>
        <p:xfrm>
          <a:off x="6491288" y="4602163"/>
          <a:ext cx="350837" cy="661987"/>
        </p:xfrm>
        <a:graphic>
          <a:graphicData uri="http://schemas.openxmlformats.org/presentationml/2006/ole">
            <mc:AlternateContent xmlns:mc="http://schemas.openxmlformats.org/markup-compatibility/2006">
              <mc:Choice xmlns:v="urn:schemas-microsoft-com:vml" Requires="v">
                <p:oleObj spid="_x0000_s3076" name="" r:id="rId1" imgW="114300" imgH="215900" progId="Equation.3">
                  <p:embed/>
                </p:oleObj>
              </mc:Choice>
              <mc:Fallback>
                <p:oleObj name="" r:id="rId1" imgW="114300" imgH="215900" progId="Equation.3">
                  <p:embed/>
                  <p:pic>
                    <p:nvPicPr>
                      <p:cNvPr id="0" name="图片 3075"/>
                      <p:cNvPicPr/>
                      <p:nvPr/>
                    </p:nvPicPr>
                    <p:blipFill>
                      <a:blip r:embed="rId2"/>
                      <a:srcRect/>
                      <a:stretch>
                        <a:fillRect/>
                      </a:stretch>
                    </p:blipFill>
                    <p:spPr>
                      <a:xfrm>
                        <a:off x="6491288" y="4602163"/>
                        <a:ext cx="350837" cy="661987"/>
                      </a:xfrm>
                      <a:prstGeom prst="rect">
                        <a:avLst/>
                      </a:prstGeom>
                      <a:noFill/>
                      <a:ln w="38100">
                        <a:miter/>
                      </a:ln>
                    </p:spPr>
                  </p:pic>
                </p:oleObj>
              </mc:Fallback>
            </mc:AlternateContent>
          </a:graphicData>
        </a:graphic>
      </p:graphicFrame>
      <p:graphicFrame>
        <p:nvGraphicFramePr>
          <p:cNvPr id="6149" name="Object 6"/>
          <p:cNvGraphicFramePr>
            <a:graphicFrameLocks noChangeAspect="1"/>
          </p:cNvGraphicFramePr>
          <p:nvPr/>
        </p:nvGraphicFramePr>
        <p:xfrm>
          <a:off x="3299619" y="3453766"/>
          <a:ext cx="1641475" cy="641985"/>
        </p:xfrm>
        <a:graphic>
          <a:graphicData uri="http://schemas.openxmlformats.org/presentationml/2006/ole">
            <mc:AlternateContent xmlns:mc="http://schemas.openxmlformats.org/markup-compatibility/2006">
              <mc:Choice xmlns:v="urn:schemas-microsoft-com:vml" Requires="v">
                <p:oleObj spid="_x0000_s3077" name="" r:id="rId3" imgW="520700" imgH="203200" progId="Equation.3">
                  <p:embed/>
                </p:oleObj>
              </mc:Choice>
              <mc:Fallback>
                <p:oleObj name="" r:id="rId3" imgW="520700" imgH="203200" progId="Equation.3">
                  <p:embed/>
                  <p:pic>
                    <p:nvPicPr>
                      <p:cNvPr id="0" name="图片 3076"/>
                      <p:cNvPicPr/>
                      <p:nvPr/>
                    </p:nvPicPr>
                    <p:blipFill>
                      <a:blip r:embed="rId4"/>
                      <a:stretch>
                        <a:fillRect/>
                      </a:stretch>
                    </p:blipFill>
                    <p:spPr>
                      <a:xfrm>
                        <a:off x="3299619" y="3453766"/>
                        <a:ext cx="1641475" cy="641985"/>
                      </a:xfrm>
                      <a:prstGeom prst="rect">
                        <a:avLst/>
                      </a:prstGeom>
                      <a:noFill/>
                      <a:ln w="38100">
                        <a:noFill/>
                        <a:miter/>
                      </a:ln>
                    </p:spPr>
                  </p:pic>
                </p:oleObj>
              </mc:Fallback>
            </mc:AlternateContent>
          </a:graphicData>
        </a:graphic>
      </p:graphicFrame>
      <p:sp>
        <p:nvSpPr>
          <p:cNvPr id="6150" name="Rectangle 8"/>
          <p:cNvSpPr/>
          <p:nvPr/>
        </p:nvSpPr>
        <p:spPr>
          <a:xfrm>
            <a:off x="925195" y="4095750"/>
            <a:ext cx="6264275" cy="1061085"/>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r>
              <a:rPr lang="zh-CN" altLang="en-US" sz="2800" b="1" dirty="0">
                <a:latin typeface="Times New Roman" panose="02020603050405020304" pitchFamily="18" charset="0"/>
                <a:cs typeface="Arial" panose="020B0604020202020204" pitchFamily="34" charset="0"/>
              </a:rPr>
              <a:t>电流</a:t>
            </a:r>
            <a:r>
              <a:rPr lang="en-US" altLang="zh-CN" sz="2800" b="1" i="1" dirty="0">
                <a:latin typeface="Times New Roman" panose="02020603050405020304" pitchFamily="18" charset="0"/>
                <a:cs typeface="Arial" panose="020B0604020202020204" pitchFamily="34" charset="0"/>
              </a:rPr>
              <a:t>i</a:t>
            </a:r>
            <a:r>
              <a:rPr lang="zh-CN" altLang="en-US" sz="2800" b="1" dirty="0">
                <a:latin typeface="Times New Roman" panose="02020603050405020304" pitchFamily="18" charset="0"/>
                <a:cs typeface="Arial" panose="020B0604020202020204" pitchFamily="34" charset="0"/>
              </a:rPr>
              <a:t>的方向和电压</a:t>
            </a:r>
            <a:r>
              <a:rPr lang="en-US" altLang="zh-CN" sz="2800" b="1" i="1" dirty="0">
                <a:latin typeface="Times New Roman" panose="02020603050405020304" pitchFamily="18" charset="0"/>
                <a:cs typeface="Arial" panose="020B0604020202020204" pitchFamily="34" charset="0"/>
              </a:rPr>
              <a:t>v</a:t>
            </a:r>
            <a:r>
              <a:rPr lang="zh-CN" altLang="en-US" sz="2800" b="1" dirty="0">
                <a:latin typeface="Times New Roman" panose="02020603050405020304" pitchFamily="18" charset="0"/>
                <a:cs typeface="Arial" panose="020B0604020202020204" pitchFamily="34" charset="0"/>
              </a:rPr>
              <a:t>的极性必须符合</a:t>
            </a:r>
            <a:r>
              <a:rPr lang="zh-CN" altLang="en-US" sz="2800" b="1" dirty="0">
                <a:solidFill>
                  <a:srgbClr val="0000FF"/>
                </a:solidFill>
                <a:latin typeface="Times New Roman" panose="02020603050405020304" pitchFamily="18" charset="0"/>
                <a:cs typeface="Arial" panose="020B0604020202020204" pitchFamily="34" charset="0"/>
              </a:rPr>
              <a:t>关联参考方向原则</a:t>
            </a:r>
            <a:r>
              <a:rPr lang="zh-CN" altLang="en-US" sz="2800" b="1" dirty="0">
                <a:latin typeface="Times New Roman" panose="02020603050405020304" pitchFamily="18" charset="0"/>
                <a:cs typeface="Arial" panose="020B0604020202020204" pitchFamily="34" charset="0"/>
              </a:rPr>
              <a:t>。</a:t>
            </a:r>
            <a:endParaRPr lang="en-US" altLang="zh-CN" sz="2800" b="1" dirty="0">
              <a:latin typeface="Times New Roman" panose="02020603050405020304" pitchFamily="18" charset="0"/>
              <a:ea typeface="Arial" panose="020B0604020202020204" pitchFamily="34" charset="0"/>
            </a:endParaRPr>
          </a:p>
        </p:txBody>
      </p:sp>
      <p:sp>
        <p:nvSpPr>
          <p:cNvPr id="6151" name="Text Box 9"/>
          <p:cNvSpPr txBox="1"/>
          <p:nvPr/>
        </p:nvSpPr>
        <p:spPr>
          <a:xfrm>
            <a:off x="7505700" y="3030538"/>
            <a:ext cx="288925" cy="20732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cs typeface="Arial" panose="020B0604020202020204" pitchFamily="34" charset="0"/>
              </a:rPr>
              <a:t>+</a:t>
            </a:r>
            <a:endParaRPr lang="en-US" altLang="zh-CN" sz="2400" dirty="0">
              <a:cs typeface="Arial" panose="020B0604020202020204" pitchFamily="34" charset="0"/>
            </a:endParaRPr>
          </a:p>
          <a:p>
            <a:pPr marL="0" lvl="0" indent="0" eaLnBrk="1" hangingPunct="1">
              <a:spcBef>
                <a:spcPct val="50000"/>
              </a:spcBef>
              <a:buClrTx/>
              <a:buSzTx/>
              <a:buFontTx/>
              <a:buNone/>
            </a:pPr>
            <a:r>
              <a:rPr lang="en-US" altLang="zh-CN" sz="2400" i="1" dirty="0">
                <a:latin typeface="Times New Roman" panose="02020603050405020304" pitchFamily="18" charset="0"/>
                <a:cs typeface="Arial" panose="020B0604020202020204" pitchFamily="34" charset="0"/>
              </a:rPr>
              <a:t>v</a:t>
            </a:r>
            <a:endParaRPr lang="en-US" altLang="zh-CN" sz="2400" i="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800" dirty="0">
                <a:cs typeface="Arial" panose="020B0604020202020204" pitchFamily="34" charset="0"/>
              </a:rPr>
              <a:t>-         </a:t>
            </a:r>
            <a:endParaRPr lang="en-US" altLang="zh-CN" sz="2800" dirty="0">
              <a:ea typeface="Arial" panose="020B0604020202020204" pitchFamily="34" charset="0"/>
            </a:endParaRPr>
          </a:p>
        </p:txBody>
      </p:sp>
      <p:pic>
        <p:nvPicPr>
          <p:cNvPr id="6152" name="Picture 10"/>
          <p:cNvPicPr>
            <a:picLocks noChangeAspect="1"/>
          </p:cNvPicPr>
          <p:nvPr/>
        </p:nvPicPr>
        <p:blipFill>
          <a:blip r:embed="rId5"/>
          <a:stretch>
            <a:fillRect/>
          </a:stretch>
        </p:blipFill>
        <p:spPr>
          <a:xfrm>
            <a:off x="7723188" y="2598738"/>
            <a:ext cx="904875" cy="2665412"/>
          </a:xfrm>
          <a:prstGeom prst="rect">
            <a:avLst/>
          </a:prstGeom>
          <a:noFill/>
          <a:ln w="9525">
            <a:noFill/>
          </a:ln>
        </p:spPr>
      </p:pic>
      <p:sp>
        <p:nvSpPr>
          <p:cNvPr id="6153" name="Line 11"/>
          <p:cNvSpPr/>
          <p:nvPr/>
        </p:nvSpPr>
        <p:spPr>
          <a:xfrm>
            <a:off x="8107363" y="2663825"/>
            <a:ext cx="1587" cy="565150"/>
          </a:xfrm>
          <a:prstGeom prst="line">
            <a:avLst/>
          </a:prstGeom>
          <a:ln w="9525" cap="flat" cmpd="sng">
            <a:solidFill>
              <a:schemeClr val="tx1"/>
            </a:solidFill>
            <a:prstDash val="solid"/>
            <a:headEnd type="none" w="med" len="med"/>
            <a:tailEnd type="triangle" w="med" len="med"/>
          </a:ln>
        </p:spPr>
      </p:sp>
      <p:sp>
        <p:nvSpPr>
          <p:cNvPr id="6154" name="Text Box 12"/>
          <p:cNvSpPr txBox="1"/>
          <p:nvPr/>
        </p:nvSpPr>
        <p:spPr>
          <a:xfrm>
            <a:off x="8154988" y="2743200"/>
            <a:ext cx="2349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i="1" dirty="0">
                <a:cs typeface="Arial" panose="020B0604020202020204" pitchFamily="34" charset="0"/>
              </a:rPr>
              <a:t>i</a:t>
            </a:r>
            <a:endParaRPr lang="en-US" altLang="zh-CN" sz="1800" i="1" dirty="0">
              <a:ea typeface="Arial" panose="020B0604020202020204" pitchFamily="34" charset="0"/>
            </a:endParaRPr>
          </a:p>
        </p:txBody>
      </p:sp>
      <p:sp>
        <p:nvSpPr>
          <p:cNvPr id="6155"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3" name="文本框 2"/>
          <p:cNvSpPr txBox="1"/>
          <p:nvPr/>
        </p:nvSpPr>
        <p:spPr>
          <a:xfrm>
            <a:off x="871855" y="5358765"/>
            <a:ext cx="7186930" cy="11988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scene3d>
              <a:camera prst="orthographicFront"/>
              <a:lightRig rig="threePt" dir="t"/>
            </a:scene3d>
          </a:bodyPr>
          <a:p>
            <a:r>
              <a:rPr lang="zh-CN" altLang="en-US">
                <a:solidFill>
                  <a:schemeClr val="tx1"/>
                </a:solidFill>
                <a:effectLst>
                  <a:outerShdw blurRad="38100" dist="19050" dir="2700000" algn="tl" rotWithShape="0">
                    <a:schemeClr val="dk1">
                      <a:alpha val="40000"/>
                    </a:schemeClr>
                  </a:outerShdw>
                </a:effectLst>
              </a:rPr>
              <a:t>关联参考方向：如果指定电流从标以电压“+”极性的一端流入，并从标以“-”极性的另一端流出，即电流的参考方向与电压的参考方向一致，则把电流和电压的这种参考方向称为关联参考方向，此时，</a:t>
            </a:r>
            <a:r>
              <a:rPr lang="en-US" altLang="zh-CN">
                <a:solidFill>
                  <a:schemeClr val="tx1"/>
                </a:solidFill>
                <a:effectLst>
                  <a:outerShdw blurRad="38100" dist="19050" dir="2700000" algn="tl" rotWithShape="0">
                    <a:schemeClr val="dk1">
                      <a:alpha val="40000"/>
                    </a:schemeClr>
                  </a:outerShdw>
                </a:effectLst>
              </a:rPr>
              <a:t>v=+iR</a:t>
            </a:r>
            <a:r>
              <a:rPr lang="zh-CN" altLang="en-US">
                <a:solidFill>
                  <a:schemeClr val="tx1"/>
                </a:solidFill>
                <a:effectLst>
                  <a:outerShdw blurRad="38100" dist="19050" dir="2700000" algn="tl" rotWithShape="0">
                    <a:schemeClr val="dk1">
                      <a:alpha val="40000"/>
                    </a:schemeClr>
                  </a:outerShdw>
                </a:effectLst>
              </a:rPr>
              <a:t>。</a:t>
            </a:r>
            <a:r>
              <a:rPr lang="zh-CN" altLang="en-US">
                <a:solidFill>
                  <a:schemeClr val="tx1"/>
                </a:solidFill>
                <a:effectLst>
                  <a:outerShdw blurRad="38100" dist="19050" dir="2700000" algn="tl" rotWithShape="0">
                    <a:schemeClr val="dk1">
                      <a:alpha val="40000"/>
                    </a:schemeClr>
                  </a:outerShdw>
                </a:effectLst>
              </a:rPr>
              <a:t>反之，</a:t>
            </a:r>
            <a:r>
              <a:rPr lang="en-US" altLang="zh-CN">
                <a:solidFill>
                  <a:schemeClr val="tx1"/>
                </a:solidFill>
                <a:effectLst>
                  <a:outerShdw blurRad="38100" dist="19050" dir="2700000" algn="tl" rotWithShape="0">
                    <a:schemeClr val="dk1">
                      <a:alpha val="40000"/>
                    </a:schemeClr>
                  </a:outerShdw>
                </a:effectLst>
              </a:rPr>
              <a:t>v=-iR </a:t>
            </a:r>
            <a:r>
              <a:rPr lang="zh-CN" altLang="en-US">
                <a:solidFill>
                  <a:schemeClr val="tx1"/>
                </a:solidFill>
                <a:effectLst>
                  <a:outerShdw blurRad="38100" dist="19050" dir="2700000" algn="tl" rotWithShape="0">
                    <a:schemeClr val="dk1">
                      <a:alpha val="40000"/>
                    </a:schemeClr>
                  </a:outerShdw>
                </a:effectLst>
              </a:rPr>
              <a:t>。</a:t>
            </a:r>
            <a:endParaRPr lang="zh-CN" altLang="en-US">
              <a:solidFill>
                <a:schemeClr val="tx1"/>
              </a:solidFill>
              <a:effectLst>
                <a:outerShdw blurRad="38100" dist="19050" dir="2700000" algn="tl" rotWithShape="0">
                  <a:schemeClr val="dk1">
                    <a:alpha val="40000"/>
                  </a:scheme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3"/>
          <p:cNvSpPr>
            <a:spLocks noGrp="1"/>
          </p:cNvSpPr>
          <p:nvPr>
            <p:ph type="body" sz="half" idx="1"/>
          </p:nvPr>
        </p:nvSpPr>
        <p:spPr>
          <a:xfrm>
            <a:off x="468313" y="692150"/>
            <a:ext cx="8135937" cy="576263"/>
          </a:xfrm>
        </p:spPr>
        <p:txBody>
          <a:bodyPr vert="horz" wrap="square" lIns="91440" tIns="45720" rIns="91440" bIns="45720" anchor="t"/>
          <a:p>
            <a:pPr eaLnBrk="1" hangingPunct="1">
              <a:buClr>
                <a:schemeClr val="bg2"/>
              </a:buClr>
              <a:buSzPct val="75000"/>
              <a:buFont typeface="Wingdings" panose="05000000000000000000" pitchFamily="2" charset="2"/>
            </a:pPr>
            <a:r>
              <a:rPr lang="zh-CN" altLang="en-US" b="1" dirty="0">
                <a:latin typeface="Arial Black" panose="020B0A04020102020204" pitchFamily="34" charset="0"/>
              </a:rPr>
              <a:t>欧姆定律</a:t>
            </a:r>
            <a:r>
              <a:rPr lang="zh-CN" altLang="en-US" b="1" dirty="0">
                <a:solidFill>
                  <a:srgbClr val="C00000"/>
                </a:solidFill>
                <a:latin typeface="Franklin Gothic Medium" panose="020B0603020102020204" pitchFamily="34" charset="0"/>
                <a:cs typeface="Arial" panose="020B0604020202020204" pitchFamily="34" charset="0"/>
              </a:rPr>
              <a:t>（元件约束）</a:t>
            </a:r>
            <a:endParaRPr lang="en-US" altLang="zh-CN" b="1" dirty="0">
              <a:latin typeface="Arial Black" panose="020B0A04020102020204" pitchFamily="34" charset="0"/>
            </a:endParaRPr>
          </a:p>
        </p:txBody>
      </p:sp>
      <p:graphicFrame>
        <p:nvGraphicFramePr>
          <p:cNvPr id="6148" name="Object 5"/>
          <p:cNvGraphicFramePr>
            <a:graphicFrameLocks noGrp="1" noChangeAspect="1"/>
          </p:cNvGraphicFramePr>
          <p:nvPr>
            <p:ph sz="quarter" idx="3"/>
          </p:nvPr>
        </p:nvGraphicFramePr>
        <p:xfrm>
          <a:off x="6491288" y="4602163"/>
          <a:ext cx="350837" cy="661987"/>
        </p:xfrm>
        <a:graphic>
          <a:graphicData uri="http://schemas.openxmlformats.org/presentationml/2006/ole">
            <mc:AlternateContent xmlns:mc="http://schemas.openxmlformats.org/markup-compatibility/2006">
              <mc:Choice xmlns:v="urn:schemas-microsoft-com:vml" Requires="v">
                <p:oleObj spid="_x0000_s3076" name="" r:id="rId1" imgW="114300" imgH="215900" progId="Equation.3">
                  <p:embed/>
                </p:oleObj>
              </mc:Choice>
              <mc:Fallback>
                <p:oleObj name="" r:id="rId1" imgW="114300" imgH="215900" progId="Equation.3">
                  <p:embed/>
                  <p:pic>
                    <p:nvPicPr>
                      <p:cNvPr id="0" name="图片 3075"/>
                      <p:cNvPicPr/>
                      <p:nvPr/>
                    </p:nvPicPr>
                    <p:blipFill>
                      <a:blip r:embed="rId2"/>
                      <a:srcRect/>
                      <a:stretch>
                        <a:fillRect/>
                      </a:stretch>
                    </p:blipFill>
                    <p:spPr>
                      <a:xfrm>
                        <a:off x="6491288" y="4602163"/>
                        <a:ext cx="350837" cy="661987"/>
                      </a:xfrm>
                      <a:prstGeom prst="rect">
                        <a:avLst/>
                      </a:prstGeom>
                      <a:noFill/>
                      <a:ln w="38100">
                        <a:miter/>
                      </a:ln>
                    </p:spPr>
                  </p:pic>
                </p:oleObj>
              </mc:Fallback>
            </mc:AlternateContent>
          </a:graphicData>
        </a:graphic>
      </p:graphicFrame>
      <p:graphicFrame>
        <p:nvGraphicFramePr>
          <p:cNvPr id="6149" name="Object 6"/>
          <p:cNvGraphicFramePr>
            <a:graphicFrameLocks noChangeAspect="1"/>
          </p:cNvGraphicFramePr>
          <p:nvPr/>
        </p:nvGraphicFramePr>
        <p:xfrm>
          <a:off x="2926557" y="3664586"/>
          <a:ext cx="1521460" cy="641985"/>
        </p:xfrm>
        <a:graphic>
          <a:graphicData uri="http://schemas.openxmlformats.org/presentationml/2006/ole">
            <mc:AlternateContent xmlns:mc="http://schemas.openxmlformats.org/markup-compatibility/2006">
              <mc:Choice xmlns:v="urn:schemas-microsoft-com:vml" Requires="v">
                <p:oleObj spid="_x0000_s3077" name="" r:id="rId3" imgW="482600" imgH="203200" progId="Equation.3">
                  <p:embed/>
                </p:oleObj>
              </mc:Choice>
              <mc:Fallback>
                <p:oleObj name="" r:id="rId3" imgW="482600" imgH="203200" progId="Equation.3">
                  <p:embed/>
                  <p:pic>
                    <p:nvPicPr>
                      <p:cNvPr id="0" name="图片 3076"/>
                      <p:cNvPicPr/>
                      <p:nvPr/>
                    </p:nvPicPr>
                    <p:blipFill>
                      <a:blip r:embed="rId4"/>
                      <a:stretch>
                        <a:fillRect/>
                      </a:stretch>
                    </p:blipFill>
                    <p:spPr>
                      <a:xfrm>
                        <a:off x="2926557" y="3664586"/>
                        <a:ext cx="1521460" cy="641985"/>
                      </a:xfrm>
                      <a:prstGeom prst="rect">
                        <a:avLst/>
                      </a:prstGeom>
                      <a:noFill/>
                      <a:ln w="38100">
                        <a:noFill/>
                        <a:miter/>
                      </a:ln>
                    </p:spPr>
                  </p:pic>
                </p:oleObj>
              </mc:Fallback>
            </mc:AlternateContent>
          </a:graphicData>
        </a:graphic>
      </p:graphicFrame>
      <p:grpSp>
        <p:nvGrpSpPr>
          <p:cNvPr id="2" name="组合 1"/>
          <p:cNvGrpSpPr/>
          <p:nvPr/>
        </p:nvGrpSpPr>
        <p:grpSpPr>
          <a:xfrm>
            <a:off x="5497195" y="2804795"/>
            <a:ext cx="1151890" cy="2664460"/>
            <a:chOff x="11773" y="4093"/>
            <a:chExt cx="1814" cy="4196"/>
          </a:xfrm>
        </p:grpSpPr>
        <p:sp>
          <p:nvSpPr>
            <p:cNvPr id="6151" name="Text Box 9"/>
            <p:cNvSpPr txBox="1"/>
            <p:nvPr/>
          </p:nvSpPr>
          <p:spPr>
            <a:xfrm>
              <a:off x="11773" y="4773"/>
              <a:ext cx="544" cy="261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cs typeface="Arial" panose="020B0604020202020204" pitchFamily="34" charset="0"/>
                </a:rPr>
                <a:t>-</a:t>
              </a:r>
              <a:endParaRPr lang="en-US" altLang="zh-CN" sz="2400" dirty="0">
                <a:cs typeface="Arial" panose="020B0604020202020204" pitchFamily="34" charset="0"/>
              </a:endParaRPr>
            </a:p>
            <a:p>
              <a:pPr marL="0" lvl="0" indent="0" eaLnBrk="1" hangingPunct="1">
                <a:spcBef>
                  <a:spcPct val="50000"/>
                </a:spcBef>
                <a:buClrTx/>
                <a:buSzTx/>
                <a:buFontTx/>
                <a:buNone/>
              </a:pPr>
              <a:r>
                <a:rPr lang="en-US" altLang="zh-CN" sz="2400" i="1" dirty="0">
                  <a:latin typeface="Times New Roman" panose="02020603050405020304" pitchFamily="18" charset="0"/>
                  <a:cs typeface="Arial" panose="020B0604020202020204" pitchFamily="34" charset="0"/>
                </a:rPr>
                <a:t>v</a:t>
              </a:r>
              <a:endParaRPr lang="en-US" altLang="zh-CN" sz="2400" i="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800" dirty="0">
                  <a:cs typeface="Arial" panose="020B0604020202020204" pitchFamily="34" charset="0"/>
                </a:rPr>
                <a:t>+         </a:t>
              </a:r>
              <a:endParaRPr lang="en-US" altLang="zh-CN" sz="2800" dirty="0">
                <a:ea typeface="Arial" panose="020B0604020202020204" pitchFamily="34" charset="0"/>
              </a:endParaRPr>
            </a:p>
          </p:txBody>
        </p:sp>
        <p:pic>
          <p:nvPicPr>
            <p:cNvPr id="6152" name="Picture 10"/>
            <p:cNvPicPr>
              <a:picLocks noChangeAspect="1"/>
            </p:cNvPicPr>
            <p:nvPr/>
          </p:nvPicPr>
          <p:blipFill>
            <a:blip r:embed="rId5"/>
            <a:stretch>
              <a:fillRect/>
            </a:stretch>
          </p:blipFill>
          <p:spPr>
            <a:xfrm>
              <a:off x="12163" y="4093"/>
              <a:ext cx="1425" cy="4197"/>
            </a:xfrm>
            <a:prstGeom prst="rect">
              <a:avLst/>
            </a:prstGeom>
            <a:noFill/>
            <a:ln w="9525">
              <a:noFill/>
            </a:ln>
          </p:spPr>
        </p:pic>
        <p:sp>
          <p:nvSpPr>
            <p:cNvPr id="6153" name="Line 11"/>
            <p:cNvSpPr/>
            <p:nvPr/>
          </p:nvSpPr>
          <p:spPr>
            <a:xfrm>
              <a:off x="12768" y="4195"/>
              <a:ext cx="2" cy="890"/>
            </a:xfrm>
            <a:prstGeom prst="line">
              <a:avLst/>
            </a:prstGeom>
            <a:ln w="9525" cap="flat" cmpd="sng">
              <a:solidFill>
                <a:schemeClr val="tx1"/>
              </a:solidFill>
              <a:prstDash val="solid"/>
              <a:headEnd type="none" w="med" len="med"/>
              <a:tailEnd type="triangle" w="med" len="med"/>
            </a:ln>
          </p:spPr>
        </p:sp>
        <p:sp>
          <p:nvSpPr>
            <p:cNvPr id="6154" name="Text Box 12"/>
            <p:cNvSpPr txBox="1"/>
            <p:nvPr/>
          </p:nvSpPr>
          <p:spPr>
            <a:xfrm>
              <a:off x="12843" y="4320"/>
              <a:ext cx="370" cy="57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i="1" dirty="0">
                  <a:cs typeface="Arial" panose="020B0604020202020204" pitchFamily="34" charset="0"/>
                </a:rPr>
                <a:t>i</a:t>
              </a:r>
              <a:endParaRPr lang="en-US" altLang="zh-CN" sz="1800" i="1" dirty="0">
                <a:ea typeface="Arial" panose="020B0604020202020204" pitchFamily="34" charset="0"/>
              </a:endParaRPr>
            </a:p>
          </p:txBody>
        </p:sp>
      </p:grpSp>
      <p:sp>
        <p:nvSpPr>
          <p:cNvPr id="6155"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3" name="文本框 2"/>
          <p:cNvSpPr txBox="1"/>
          <p:nvPr/>
        </p:nvSpPr>
        <p:spPr>
          <a:xfrm>
            <a:off x="634365" y="1623695"/>
            <a:ext cx="7186930" cy="6451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scene3d>
              <a:camera prst="orthographicFront"/>
              <a:lightRig rig="threePt" dir="t"/>
            </a:scene3d>
          </a:bodyPr>
          <a:p>
            <a:r>
              <a:rPr lang="zh-CN" altLang="en-US">
                <a:solidFill>
                  <a:schemeClr val="tx1"/>
                </a:solidFill>
                <a:effectLst>
                  <a:outerShdw blurRad="38100" dist="19050" dir="2700000" algn="tl" rotWithShape="0">
                    <a:schemeClr val="dk1">
                      <a:alpha val="40000"/>
                    </a:schemeClr>
                  </a:outerShdw>
                </a:effectLst>
              </a:rPr>
              <a:t>如果指定电流从标以电压“</a:t>
            </a:r>
            <a:r>
              <a:rPr lang="en-US" altLang="zh-CN">
                <a:solidFill>
                  <a:schemeClr val="tx1"/>
                </a:solidFill>
                <a:effectLst>
                  <a:outerShdw blurRad="38100" dist="19050" dir="2700000" algn="tl" rotWithShape="0">
                    <a:schemeClr val="dk1">
                      <a:alpha val="40000"/>
                    </a:schemeClr>
                  </a:outerShdw>
                </a:effectLst>
              </a:rPr>
              <a:t>-</a:t>
            </a:r>
            <a:r>
              <a:rPr lang="zh-CN" altLang="en-US">
                <a:solidFill>
                  <a:schemeClr val="tx1"/>
                </a:solidFill>
                <a:effectLst>
                  <a:outerShdw blurRad="38100" dist="19050" dir="2700000" algn="tl" rotWithShape="0">
                    <a:schemeClr val="dk1">
                      <a:alpha val="40000"/>
                    </a:schemeClr>
                  </a:outerShdw>
                </a:effectLst>
              </a:rPr>
              <a:t>”极性的一端流入，并从标以“</a:t>
            </a:r>
            <a:r>
              <a:rPr lang="en-US" altLang="zh-CN">
                <a:solidFill>
                  <a:schemeClr val="tx1"/>
                </a:solidFill>
                <a:effectLst>
                  <a:outerShdw blurRad="38100" dist="19050" dir="2700000" algn="tl" rotWithShape="0">
                    <a:schemeClr val="dk1">
                      <a:alpha val="40000"/>
                    </a:schemeClr>
                  </a:outerShdw>
                </a:effectLst>
              </a:rPr>
              <a:t>+</a:t>
            </a:r>
            <a:r>
              <a:rPr lang="zh-CN" altLang="en-US">
                <a:solidFill>
                  <a:schemeClr val="tx1"/>
                </a:solidFill>
                <a:effectLst>
                  <a:outerShdw blurRad="38100" dist="19050" dir="2700000" algn="tl" rotWithShape="0">
                    <a:schemeClr val="dk1">
                      <a:alpha val="40000"/>
                    </a:schemeClr>
                  </a:outerShdw>
                </a:effectLst>
              </a:rPr>
              <a:t>”极性的另一端流出，则 </a:t>
            </a:r>
            <a:r>
              <a:rPr lang="en-US" altLang="zh-CN">
                <a:solidFill>
                  <a:schemeClr val="tx1"/>
                </a:solidFill>
                <a:effectLst>
                  <a:outerShdw blurRad="38100" dist="19050" dir="2700000" algn="tl" rotWithShape="0">
                    <a:schemeClr val="dk1">
                      <a:alpha val="40000"/>
                    </a:schemeClr>
                  </a:outerShdw>
                </a:effectLst>
              </a:rPr>
              <a:t>v=-iR </a:t>
            </a:r>
            <a:r>
              <a:rPr lang="zh-CN" altLang="en-US">
                <a:solidFill>
                  <a:schemeClr val="tx1"/>
                </a:solidFill>
                <a:effectLst>
                  <a:outerShdw blurRad="38100" dist="19050" dir="2700000" algn="tl" rotWithShape="0">
                    <a:schemeClr val="dk1">
                      <a:alpha val="40000"/>
                    </a:schemeClr>
                  </a:outerShdw>
                </a:effectLst>
              </a:rPr>
              <a:t>。</a:t>
            </a:r>
            <a:endParaRPr lang="zh-CN" altLang="en-US">
              <a:solidFill>
                <a:schemeClr val="tx1"/>
              </a:solidFill>
              <a:effectLst>
                <a:outerShdw blurRad="38100" dist="19050" dir="2700000" algn="tl" rotWithShape="0">
                  <a:schemeClr val="dk1">
                    <a:alpha val="40000"/>
                  </a:scheme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p:txBody>
          <a:bodyPr vert="horz" wrap="square" lIns="91440" tIns="45720" rIns="91440" bIns="45720" anchor="ctr"/>
          <a:p>
            <a:pPr eaLnBrk="1" hangingPunct="1"/>
            <a:r>
              <a:rPr lang="en-US" altLang="zh-CN" dirty="0"/>
              <a:t> </a:t>
            </a:r>
            <a:endParaRPr lang="en-US" altLang="zh-CN" dirty="0"/>
          </a:p>
        </p:txBody>
      </p:sp>
      <p:grpSp>
        <p:nvGrpSpPr>
          <p:cNvPr id="8195" name="Group 4"/>
          <p:cNvGrpSpPr>
            <a:grpSpLocks noChangeAspect="1"/>
          </p:cNvGrpSpPr>
          <p:nvPr/>
        </p:nvGrpSpPr>
        <p:grpSpPr>
          <a:xfrm>
            <a:off x="1187450" y="3414713"/>
            <a:ext cx="6923088" cy="2500312"/>
            <a:chOff x="384" y="1260"/>
            <a:chExt cx="4995" cy="1804"/>
          </a:xfrm>
        </p:grpSpPr>
        <p:grpSp>
          <p:nvGrpSpPr>
            <p:cNvPr id="8200" name="Group 5"/>
            <p:cNvGrpSpPr>
              <a:grpSpLocks noChangeAspect="1"/>
            </p:cNvGrpSpPr>
            <p:nvPr/>
          </p:nvGrpSpPr>
          <p:grpSpPr>
            <a:xfrm>
              <a:off x="384" y="1260"/>
              <a:ext cx="2218" cy="1804"/>
              <a:chOff x="1725" y="361"/>
              <a:chExt cx="2218" cy="1804"/>
            </a:xfrm>
          </p:grpSpPr>
          <p:sp>
            <p:nvSpPr>
              <p:cNvPr id="8250" name="Freeform 6"/>
              <p:cNvSpPr>
                <a:spLocks noChangeAspect="1"/>
              </p:cNvSpPr>
              <p:nvPr/>
            </p:nvSpPr>
            <p:spPr>
              <a:xfrm>
                <a:off x="1725" y="361"/>
                <a:ext cx="1045" cy="1517"/>
              </a:xfrm>
              <a:custGeom>
                <a:avLst/>
                <a:gdLst>
                  <a:gd name="txL" fmla="*/ 0 w 921"/>
                  <a:gd name="txT" fmla="*/ 0 h 1320"/>
                  <a:gd name="txR" fmla="*/ 921 w 921"/>
                  <a:gd name="txB" fmla="*/ 1320 h 1320"/>
                </a:gdLst>
                <a:ahLst/>
                <a:cxnLst>
                  <a:cxn ang="0">
                    <a:pos x="31661" y="64885"/>
                  </a:cxn>
                  <a:cxn ang="0">
                    <a:pos x="31661" y="0"/>
                  </a:cxn>
                  <a:cxn ang="0">
                    <a:pos x="0" y="0"/>
                  </a:cxn>
                  <a:cxn ang="0">
                    <a:pos x="0" y="64885"/>
                  </a:cxn>
                  <a:cxn ang="0">
                    <a:pos x="31661" y="64885"/>
                  </a:cxn>
                  <a:cxn ang="0">
                    <a:pos x="31661" y="64885"/>
                  </a:cxn>
                </a:cxnLst>
                <a:rect l="txL" t="txT" r="txR" b="txB"/>
                <a:pathLst>
                  <a:path w="921" h="1320">
                    <a:moveTo>
                      <a:pt x="921" y="1320"/>
                    </a:moveTo>
                    <a:lnTo>
                      <a:pt x="921" y="0"/>
                    </a:lnTo>
                    <a:lnTo>
                      <a:pt x="0" y="0"/>
                    </a:lnTo>
                    <a:lnTo>
                      <a:pt x="0" y="1320"/>
                    </a:lnTo>
                    <a:lnTo>
                      <a:pt x="921" y="1320"/>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51" name="Freeform 7"/>
              <p:cNvSpPr>
                <a:spLocks noChangeAspect="1"/>
              </p:cNvSpPr>
              <p:nvPr/>
            </p:nvSpPr>
            <p:spPr>
              <a:xfrm>
                <a:off x="2770" y="361"/>
                <a:ext cx="1" cy="1517"/>
              </a:xfrm>
              <a:custGeom>
                <a:avLst/>
                <a:gdLst>
                  <a:gd name="txL" fmla="*/ 0 w 1"/>
                  <a:gd name="txT" fmla="*/ 0 h 1320"/>
                  <a:gd name="txR" fmla="*/ 1 w 1"/>
                  <a:gd name="txB" fmla="*/ 1320 h 1320"/>
                </a:gdLst>
                <a:ahLst/>
                <a:cxnLst>
                  <a:cxn ang="0">
                    <a:pos x="0" y="64885"/>
                  </a:cxn>
                  <a:cxn ang="0">
                    <a:pos x="0" y="0"/>
                  </a:cxn>
                  <a:cxn ang="0">
                    <a:pos x="0" y="64885"/>
                  </a:cxn>
                  <a:cxn ang="0">
                    <a:pos x="0" y="64885"/>
                  </a:cxn>
                </a:cxnLst>
                <a:rect l="txL" t="txT" r="txR" b="txB"/>
                <a:pathLst>
                  <a:path w="1" h="1320">
                    <a:moveTo>
                      <a:pt x="0" y="1320"/>
                    </a:moveTo>
                    <a:lnTo>
                      <a:pt x="0" y="0"/>
                    </a:lnTo>
                    <a:lnTo>
                      <a:pt x="0" y="132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52" name="Freeform 8"/>
              <p:cNvSpPr>
                <a:spLocks noChangeAspect="1" noEditPoints="1"/>
              </p:cNvSpPr>
              <p:nvPr/>
            </p:nvSpPr>
            <p:spPr>
              <a:xfrm>
                <a:off x="1725" y="361"/>
                <a:ext cx="1045" cy="1"/>
              </a:xfrm>
              <a:custGeom>
                <a:avLst/>
                <a:gdLst>
                  <a:gd name="txL" fmla="*/ 0 w 921"/>
                  <a:gd name="txT" fmla="*/ 0 h 1"/>
                  <a:gd name="txR" fmla="*/ 921 w 921"/>
                  <a:gd name="txB" fmla="*/ 1 h 1"/>
                </a:gdLst>
                <a:ahLst/>
                <a:cxnLst>
                  <a:cxn ang="0">
                    <a:pos x="31661" y="0"/>
                  </a:cxn>
                  <a:cxn ang="0">
                    <a:pos x="0" y="0"/>
                  </a:cxn>
                  <a:cxn ang="0">
                    <a:pos x="31661" y="0"/>
                  </a:cxn>
                  <a:cxn ang="0">
                    <a:pos x="31661" y="0"/>
                  </a:cxn>
                  <a:cxn ang="0">
                    <a:pos x="31661" y="0"/>
                  </a:cxn>
                  <a:cxn ang="0">
                    <a:pos x="31661" y="0"/>
                  </a:cxn>
                  <a:cxn ang="0">
                    <a:pos x="31661" y="0"/>
                  </a:cxn>
                </a:cxnLst>
                <a:rect l="txL" t="txT" r="txR" b="txB"/>
                <a:pathLst>
                  <a:path w="921" h="1">
                    <a:moveTo>
                      <a:pt x="921" y="0"/>
                    </a:moveTo>
                    <a:lnTo>
                      <a:pt x="0" y="0"/>
                    </a:lnTo>
                    <a:lnTo>
                      <a:pt x="921" y="0"/>
                    </a:lnTo>
                    <a:close/>
                    <a:moveTo>
                      <a:pt x="921" y="0"/>
                    </a:moveTo>
                    <a:lnTo>
                      <a:pt x="921"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53" name="Freeform 9"/>
              <p:cNvSpPr>
                <a:spLocks noChangeAspect="1" noEditPoints="1"/>
              </p:cNvSpPr>
              <p:nvPr/>
            </p:nvSpPr>
            <p:spPr>
              <a:xfrm>
                <a:off x="1725" y="361"/>
                <a:ext cx="1" cy="1517"/>
              </a:xfrm>
              <a:custGeom>
                <a:avLst/>
                <a:gdLst>
                  <a:gd name="txL" fmla="*/ 0 w 1"/>
                  <a:gd name="txT" fmla="*/ 0 h 1320"/>
                  <a:gd name="txR" fmla="*/ 1 w 1"/>
                  <a:gd name="txB" fmla="*/ 1320 h 1320"/>
                </a:gdLst>
                <a:ahLst/>
                <a:cxnLst>
                  <a:cxn ang="0">
                    <a:pos x="0" y="0"/>
                  </a:cxn>
                  <a:cxn ang="0">
                    <a:pos x="0" y="64885"/>
                  </a:cxn>
                  <a:cxn ang="0">
                    <a:pos x="0" y="0"/>
                  </a:cxn>
                  <a:cxn ang="0">
                    <a:pos x="0" y="0"/>
                  </a:cxn>
                  <a:cxn ang="0">
                    <a:pos x="0" y="0"/>
                  </a:cxn>
                  <a:cxn ang="0">
                    <a:pos x="0" y="0"/>
                  </a:cxn>
                  <a:cxn ang="0">
                    <a:pos x="0" y="0"/>
                  </a:cxn>
                </a:cxnLst>
                <a:rect l="txL" t="txT" r="txR" b="txB"/>
                <a:pathLst>
                  <a:path w="1" h="1320">
                    <a:moveTo>
                      <a:pt x="0" y="0"/>
                    </a:moveTo>
                    <a:lnTo>
                      <a:pt x="0" y="132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54" name="Freeform 10"/>
              <p:cNvSpPr>
                <a:spLocks noChangeAspect="1" noEditPoints="1"/>
              </p:cNvSpPr>
              <p:nvPr/>
            </p:nvSpPr>
            <p:spPr>
              <a:xfrm>
                <a:off x="1725" y="1878"/>
                <a:ext cx="1045" cy="1"/>
              </a:xfrm>
              <a:custGeom>
                <a:avLst/>
                <a:gdLst>
                  <a:gd name="txL" fmla="*/ 0 w 921"/>
                  <a:gd name="txT" fmla="*/ 0 h 1"/>
                  <a:gd name="txR" fmla="*/ 921 w 921"/>
                  <a:gd name="txB" fmla="*/ 1 h 1"/>
                </a:gdLst>
                <a:ahLst/>
                <a:cxnLst>
                  <a:cxn ang="0">
                    <a:pos x="0" y="0"/>
                  </a:cxn>
                  <a:cxn ang="0">
                    <a:pos x="31661" y="0"/>
                  </a:cxn>
                  <a:cxn ang="0">
                    <a:pos x="0" y="0"/>
                  </a:cxn>
                  <a:cxn ang="0">
                    <a:pos x="0" y="0"/>
                  </a:cxn>
                  <a:cxn ang="0">
                    <a:pos x="0" y="0"/>
                  </a:cxn>
                  <a:cxn ang="0">
                    <a:pos x="0" y="0"/>
                  </a:cxn>
                  <a:cxn ang="0">
                    <a:pos x="0" y="0"/>
                  </a:cxn>
                </a:cxnLst>
                <a:rect l="txL" t="txT" r="txR" b="txB"/>
                <a:pathLst>
                  <a:path w="921" h="1">
                    <a:moveTo>
                      <a:pt x="0" y="0"/>
                    </a:moveTo>
                    <a:lnTo>
                      <a:pt x="921" y="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55" name="Freeform 11"/>
              <p:cNvSpPr>
                <a:spLocks noChangeAspect="1"/>
              </p:cNvSpPr>
              <p:nvPr/>
            </p:nvSpPr>
            <p:spPr>
              <a:xfrm>
                <a:off x="2770" y="1878"/>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56" name="Freeform 12"/>
              <p:cNvSpPr>
                <a:spLocks noChangeAspect="1"/>
              </p:cNvSpPr>
              <p:nvPr/>
            </p:nvSpPr>
            <p:spPr>
              <a:xfrm>
                <a:off x="2770" y="1638"/>
                <a:ext cx="787" cy="1"/>
              </a:xfrm>
              <a:custGeom>
                <a:avLst/>
                <a:gdLst>
                  <a:gd name="txL" fmla="*/ 0 w 693"/>
                  <a:gd name="txT" fmla="*/ 0 h 1"/>
                  <a:gd name="txR" fmla="*/ 693 w 693"/>
                  <a:gd name="txB" fmla="*/ 1 h 1"/>
                </a:gdLst>
                <a:ahLst/>
                <a:cxnLst>
                  <a:cxn ang="0">
                    <a:pos x="0" y="0"/>
                  </a:cxn>
                  <a:cxn ang="0">
                    <a:pos x="24413" y="0"/>
                  </a:cxn>
                  <a:cxn ang="0">
                    <a:pos x="0" y="0"/>
                  </a:cxn>
                  <a:cxn ang="0">
                    <a:pos x="0" y="0"/>
                  </a:cxn>
                </a:cxnLst>
                <a:rect l="txL" t="txT" r="txR" b="txB"/>
                <a:pathLst>
                  <a:path w="693" h="1">
                    <a:moveTo>
                      <a:pt x="0" y="0"/>
                    </a:moveTo>
                    <a:lnTo>
                      <a:pt x="693"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57" name="Freeform 13"/>
              <p:cNvSpPr>
                <a:spLocks noChangeAspect="1" noEditPoints="1"/>
              </p:cNvSpPr>
              <p:nvPr/>
            </p:nvSpPr>
            <p:spPr>
              <a:xfrm>
                <a:off x="3557" y="615"/>
                <a:ext cx="1" cy="1023"/>
              </a:xfrm>
              <a:custGeom>
                <a:avLst/>
                <a:gdLst>
                  <a:gd name="txL" fmla="*/ 0 w 1"/>
                  <a:gd name="txT" fmla="*/ 0 h 890"/>
                  <a:gd name="txR" fmla="*/ 1 w 1"/>
                  <a:gd name="txB" fmla="*/ 890 h 890"/>
                </a:gdLst>
                <a:ahLst/>
                <a:cxnLst>
                  <a:cxn ang="0">
                    <a:pos x="0" y="43975"/>
                  </a:cxn>
                  <a:cxn ang="0">
                    <a:pos x="0" y="0"/>
                  </a:cxn>
                  <a:cxn ang="0">
                    <a:pos x="0" y="43975"/>
                  </a:cxn>
                  <a:cxn ang="0">
                    <a:pos x="0" y="43975"/>
                  </a:cxn>
                  <a:cxn ang="0">
                    <a:pos x="0" y="43975"/>
                  </a:cxn>
                  <a:cxn ang="0">
                    <a:pos x="0" y="43975"/>
                  </a:cxn>
                  <a:cxn ang="0">
                    <a:pos x="0" y="43975"/>
                  </a:cxn>
                </a:cxnLst>
                <a:rect l="txL" t="txT" r="txR" b="txB"/>
                <a:pathLst>
                  <a:path w="1" h="890">
                    <a:moveTo>
                      <a:pt x="0" y="890"/>
                    </a:moveTo>
                    <a:lnTo>
                      <a:pt x="0" y="0"/>
                    </a:lnTo>
                    <a:lnTo>
                      <a:pt x="0" y="890"/>
                    </a:lnTo>
                    <a:close/>
                    <a:moveTo>
                      <a:pt x="0" y="890"/>
                    </a:moveTo>
                    <a:lnTo>
                      <a:pt x="0" y="89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58" name="Freeform 14"/>
              <p:cNvSpPr>
                <a:spLocks noChangeAspect="1" noEditPoints="1"/>
              </p:cNvSpPr>
              <p:nvPr/>
            </p:nvSpPr>
            <p:spPr>
              <a:xfrm>
                <a:off x="2770" y="615"/>
                <a:ext cx="787" cy="1"/>
              </a:xfrm>
              <a:custGeom>
                <a:avLst/>
                <a:gdLst>
                  <a:gd name="txL" fmla="*/ 0 w 693"/>
                  <a:gd name="txT" fmla="*/ 0 h 1"/>
                  <a:gd name="txR" fmla="*/ 693 w 693"/>
                  <a:gd name="txB" fmla="*/ 1 h 1"/>
                </a:gdLst>
                <a:ahLst/>
                <a:cxnLst>
                  <a:cxn ang="0">
                    <a:pos x="24413" y="0"/>
                  </a:cxn>
                  <a:cxn ang="0">
                    <a:pos x="0" y="0"/>
                  </a:cxn>
                  <a:cxn ang="0">
                    <a:pos x="24413" y="0"/>
                  </a:cxn>
                  <a:cxn ang="0">
                    <a:pos x="24413" y="0"/>
                  </a:cxn>
                  <a:cxn ang="0">
                    <a:pos x="24413" y="0"/>
                  </a:cxn>
                  <a:cxn ang="0">
                    <a:pos x="24413" y="0"/>
                  </a:cxn>
                  <a:cxn ang="0">
                    <a:pos x="24413" y="0"/>
                  </a:cxn>
                </a:cxnLst>
                <a:rect l="txL" t="txT" r="txR" b="txB"/>
                <a:pathLst>
                  <a:path w="693" h="1">
                    <a:moveTo>
                      <a:pt x="693" y="0"/>
                    </a:moveTo>
                    <a:lnTo>
                      <a:pt x="0" y="0"/>
                    </a:lnTo>
                    <a:lnTo>
                      <a:pt x="693" y="0"/>
                    </a:lnTo>
                    <a:close/>
                    <a:moveTo>
                      <a:pt x="693" y="0"/>
                    </a:moveTo>
                    <a:lnTo>
                      <a:pt x="693"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59" name="Freeform 15"/>
              <p:cNvSpPr>
                <a:spLocks noChangeAspect="1"/>
              </p:cNvSpPr>
              <p:nvPr/>
            </p:nvSpPr>
            <p:spPr>
              <a:xfrm>
                <a:off x="3123" y="580"/>
                <a:ext cx="82" cy="69"/>
              </a:xfrm>
              <a:custGeom>
                <a:avLst/>
                <a:gdLst>
                  <a:gd name="txL" fmla="*/ 0 w 72"/>
                  <a:gd name="txT" fmla="*/ 0 h 60"/>
                  <a:gd name="txR" fmla="*/ 72 w 72"/>
                  <a:gd name="txB" fmla="*/ 60 h 60"/>
                </a:gdLst>
                <a:ahLst/>
                <a:cxnLst>
                  <a:cxn ang="0">
                    <a:pos x="1432" y="3021"/>
                  </a:cxn>
                  <a:cxn ang="0">
                    <a:pos x="2268" y="2697"/>
                  </a:cxn>
                  <a:cxn ang="0">
                    <a:pos x="2746" y="2056"/>
                  </a:cxn>
                  <a:cxn ang="0">
                    <a:pos x="2746" y="1511"/>
                  </a:cxn>
                  <a:cxn ang="0">
                    <a:pos x="2746" y="923"/>
                  </a:cxn>
                  <a:cxn ang="0">
                    <a:pos x="2268" y="607"/>
                  </a:cxn>
                  <a:cxn ang="0">
                    <a:pos x="1859" y="302"/>
                  </a:cxn>
                  <a:cxn ang="0">
                    <a:pos x="1432" y="0"/>
                  </a:cxn>
                  <a:cxn ang="0">
                    <a:pos x="900" y="302"/>
                  </a:cxn>
                  <a:cxn ang="0">
                    <a:pos x="470" y="607"/>
                  </a:cxn>
                  <a:cxn ang="0">
                    <a:pos x="231" y="923"/>
                  </a:cxn>
                  <a:cxn ang="0">
                    <a:pos x="0" y="1511"/>
                  </a:cxn>
                  <a:cxn ang="0">
                    <a:pos x="231" y="2056"/>
                  </a:cxn>
                  <a:cxn ang="0">
                    <a:pos x="470" y="2697"/>
                  </a:cxn>
                  <a:cxn ang="0">
                    <a:pos x="1432" y="3021"/>
                  </a:cxn>
                  <a:cxn ang="0">
                    <a:pos x="1432" y="3021"/>
                  </a:cxn>
                </a:cxnLst>
                <a:rect l="txL" t="txT" r="txR" b="txB"/>
                <a:pathLst>
                  <a:path w="72" h="60">
                    <a:moveTo>
                      <a:pt x="36" y="60"/>
                    </a:moveTo>
                    <a:lnTo>
                      <a:pt x="60" y="54"/>
                    </a:lnTo>
                    <a:lnTo>
                      <a:pt x="72" y="42"/>
                    </a:lnTo>
                    <a:lnTo>
                      <a:pt x="72" y="30"/>
                    </a:lnTo>
                    <a:lnTo>
                      <a:pt x="72" y="18"/>
                    </a:lnTo>
                    <a:lnTo>
                      <a:pt x="60" y="12"/>
                    </a:lnTo>
                    <a:lnTo>
                      <a:pt x="48" y="6"/>
                    </a:lnTo>
                    <a:lnTo>
                      <a:pt x="36" y="0"/>
                    </a:lnTo>
                    <a:lnTo>
                      <a:pt x="24" y="6"/>
                    </a:lnTo>
                    <a:lnTo>
                      <a:pt x="12" y="12"/>
                    </a:lnTo>
                    <a:lnTo>
                      <a:pt x="6" y="18"/>
                    </a:lnTo>
                    <a:lnTo>
                      <a:pt x="0" y="30"/>
                    </a:lnTo>
                    <a:lnTo>
                      <a:pt x="6" y="42"/>
                    </a:lnTo>
                    <a:lnTo>
                      <a:pt x="12" y="54"/>
                    </a:lnTo>
                    <a:lnTo>
                      <a:pt x="36" y="60"/>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60" name="Freeform 16"/>
              <p:cNvSpPr>
                <a:spLocks noChangeAspect="1"/>
              </p:cNvSpPr>
              <p:nvPr/>
            </p:nvSpPr>
            <p:spPr>
              <a:xfrm>
                <a:off x="3164" y="615"/>
                <a:ext cx="41" cy="34"/>
              </a:xfrm>
              <a:custGeom>
                <a:avLst/>
                <a:gdLst>
                  <a:gd name="txL" fmla="*/ 0 w 36"/>
                  <a:gd name="txT" fmla="*/ 0 h 30"/>
                  <a:gd name="txR" fmla="*/ 36 w 36"/>
                  <a:gd name="txB" fmla="*/ 30 h 30"/>
                </a:gdLst>
                <a:ahLst/>
                <a:cxnLst>
                  <a:cxn ang="0">
                    <a:pos x="0" y="1022"/>
                  </a:cxn>
                  <a:cxn ang="0">
                    <a:pos x="900" y="811"/>
                  </a:cxn>
                  <a:cxn ang="0">
                    <a:pos x="1432" y="394"/>
                  </a:cxn>
                  <a:cxn ang="0">
                    <a:pos x="1432" y="0"/>
                  </a:cxn>
                  <a:cxn ang="0">
                    <a:pos x="1432" y="0"/>
                  </a:cxn>
                  <a:cxn ang="0">
                    <a:pos x="1432" y="394"/>
                  </a:cxn>
                  <a:cxn ang="0">
                    <a:pos x="900" y="811"/>
                  </a:cxn>
                  <a:cxn ang="0">
                    <a:pos x="0" y="1022"/>
                  </a:cxn>
                  <a:cxn ang="0">
                    <a:pos x="0" y="1022"/>
                  </a:cxn>
                </a:cxnLst>
                <a:rect l="txL" t="txT" r="txR" b="txB"/>
                <a:pathLst>
                  <a:path w="36" h="30">
                    <a:moveTo>
                      <a:pt x="0" y="30"/>
                    </a:moveTo>
                    <a:lnTo>
                      <a:pt x="24" y="24"/>
                    </a:lnTo>
                    <a:lnTo>
                      <a:pt x="36" y="12"/>
                    </a:lnTo>
                    <a:lnTo>
                      <a:pt x="36" y="0"/>
                    </a:lnTo>
                    <a:lnTo>
                      <a:pt x="36" y="12"/>
                    </a:lnTo>
                    <a:lnTo>
                      <a:pt x="24" y="24"/>
                    </a:lnTo>
                    <a:lnTo>
                      <a:pt x="0"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61" name="Freeform 17"/>
              <p:cNvSpPr>
                <a:spLocks noChangeAspect="1" noEditPoints="1"/>
              </p:cNvSpPr>
              <p:nvPr/>
            </p:nvSpPr>
            <p:spPr>
              <a:xfrm>
                <a:off x="3164" y="580"/>
                <a:ext cx="41" cy="35"/>
              </a:xfrm>
              <a:custGeom>
                <a:avLst/>
                <a:gdLst>
                  <a:gd name="txL" fmla="*/ 0 w 36"/>
                  <a:gd name="txT" fmla="*/ 0 h 30"/>
                  <a:gd name="txR" fmla="*/ 36 w 36"/>
                  <a:gd name="txB" fmla="*/ 30 h 30"/>
                </a:gdLst>
                <a:ahLst/>
                <a:cxnLst>
                  <a:cxn ang="0">
                    <a:pos x="1432" y="2280"/>
                  </a:cxn>
                  <a:cxn ang="0">
                    <a:pos x="1432" y="1412"/>
                  </a:cxn>
                  <a:cxn ang="0">
                    <a:pos x="900" y="904"/>
                  </a:cxn>
                  <a:cxn ang="0">
                    <a:pos x="470" y="480"/>
                  </a:cxn>
                  <a:cxn ang="0">
                    <a:pos x="0" y="0"/>
                  </a:cxn>
                  <a:cxn ang="0">
                    <a:pos x="0" y="0"/>
                  </a:cxn>
                  <a:cxn ang="0">
                    <a:pos x="470" y="480"/>
                  </a:cxn>
                  <a:cxn ang="0">
                    <a:pos x="900" y="904"/>
                  </a:cxn>
                  <a:cxn ang="0">
                    <a:pos x="1432" y="1412"/>
                  </a:cxn>
                  <a:cxn ang="0">
                    <a:pos x="1432" y="2280"/>
                  </a:cxn>
                  <a:cxn ang="0">
                    <a:pos x="1432" y="2280"/>
                  </a:cxn>
                  <a:cxn ang="0">
                    <a:pos x="1432" y="2280"/>
                  </a:cxn>
                  <a:cxn ang="0">
                    <a:pos x="1432" y="2280"/>
                  </a:cxn>
                  <a:cxn ang="0">
                    <a:pos x="1432" y="2280"/>
                  </a:cxn>
                </a:cxnLst>
                <a:rect l="txL" t="txT" r="txR" b="txB"/>
                <a:pathLst>
                  <a:path w="36" h="30">
                    <a:moveTo>
                      <a:pt x="36" y="30"/>
                    </a:moveTo>
                    <a:lnTo>
                      <a:pt x="36" y="18"/>
                    </a:lnTo>
                    <a:lnTo>
                      <a:pt x="24" y="12"/>
                    </a:lnTo>
                    <a:lnTo>
                      <a:pt x="12" y="6"/>
                    </a:lnTo>
                    <a:lnTo>
                      <a:pt x="0" y="0"/>
                    </a:lnTo>
                    <a:lnTo>
                      <a:pt x="12" y="6"/>
                    </a:lnTo>
                    <a:lnTo>
                      <a:pt x="24" y="12"/>
                    </a:lnTo>
                    <a:lnTo>
                      <a:pt x="36" y="18"/>
                    </a:lnTo>
                    <a:lnTo>
                      <a:pt x="36" y="30"/>
                    </a:lnTo>
                    <a:close/>
                    <a:moveTo>
                      <a:pt x="36" y="30"/>
                    </a:moveTo>
                    <a:lnTo>
                      <a:pt x="36"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62" name="Freeform 18"/>
              <p:cNvSpPr>
                <a:spLocks noChangeAspect="1" noEditPoints="1"/>
              </p:cNvSpPr>
              <p:nvPr/>
            </p:nvSpPr>
            <p:spPr>
              <a:xfrm>
                <a:off x="3123" y="580"/>
                <a:ext cx="41" cy="35"/>
              </a:xfrm>
              <a:custGeom>
                <a:avLst/>
                <a:gdLst>
                  <a:gd name="txL" fmla="*/ 0 w 36"/>
                  <a:gd name="txT" fmla="*/ 0 h 30"/>
                  <a:gd name="txR" fmla="*/ 36 w 36"/>
                  <a:gd name="txB" fmla="*/ 30 h 30"/>
                </a:gdLst>
                <a:ahLst/>
                <a:cxnLst>
                  <a:cxn ang="0">
                    <a:pos x="1432" y="0"/>
                  </a:cxn>
                  <a:cxn ang="0">
                    <a:pos x="900" y="480"/>
                  </a:cxn>
                  <a:cxn ang="0">
                    <a:pos x="470" y="904"/>
                  </a:cxn>
                  <a:cxn ang="0">
                    <a:pos x="231" y="1412"/>
                  </a:cxn>
                  <a:cxn ang="0">
                    <a:pos x="0" y="2280"/>
                  </a:cxn>
                  <a:cxn ang="0">
                    <a:pos x="0" y="2280"/>
                  </a:cxn>
                  <a:cxn ang="0">
                    <a:pos x="231" y="1412"/>
                  </a:cxn>
                  <a:cxn ang="0">
                    <a:pos x="470" y="904"/>
                  </a:cxn>
                  <a:cxn ang="0">
                    <a:pos x="900" y="480"/>
                  </a:cxn>
                  <a:cxn ang="0">
                    <a:pos x="1432" y="0"/>
                  </a:cxn>
                  <a:cxn ang="0">
                    <a:pos x="1432" y="0"/>
                  </a:cxn>
                  <a:cxn ang="0">
                    <a:pos x="1432" y="0"/>
                  </a:cxn>
                  <a:cxn ang="0">
                    <a:pos x="1432" y="0"/>
                  </a:cxn>
                  <a:cxn ang="0">
                    <a:pos x="1432" y="0"/>
                  </a:cxn>
                </a:cxnLst>
                <a:rect l="txL" t="txT" r="txR" b="txB"/>
                <a:pathLst>
                  <a:path w="36" h="30">
                    <a:moveTo>
                      <a:pt x="36" y="0"/>
                    </a:moveTo>
                    <a:lnTo>
                      <a:pt x="24" y="6"/>
                    </a:lnTo>
                    <a:lnTo>
                      <a:pt x="12" y="12"/>
                    </a:lnTo>
                    <a:lnTo>
                      <a:pt x="6" y="18"/>
                    </a:lnTo>
                    <a:lnTo>
                      <a:pt x="0" y="30"/>
                    </a:lnTo>
                    <a:lnTo>
                      <a:pt x="6" y="18"/>
                    </a:lnTo>
                    <a:lnTo>
                      <a:pt x="12" y="12"/>
                    </a:lnTo>
                    <a:lnTo>
                      <a:pt x="24" y="6"/>
                    </a:lnTo>
                    <a:lnTo>
                      <a:pt x="36" y="0"/>
                    </a:lnTo>
                    <a:close/>
                    <a:moveTo>
                      <a:pt x="36" y="0"/>
                    </a:moveTo>
                    <a:lnTo>
                      <a:pt x="3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63" name="Freeform 19"/>
              <p:cNvSpPr>
                <a:spLocks noChangeAspect="1" noEditPoints="1"/>
              </p:cNvSpPr>
              <p:nvPr/>
            </p:nvSpPr>
            <p:spPr>
              <a:xfrm>
                <a:off x="3123" y="615"/>
                <a:ext cx="41" cy="34"/>
              </a:xfrm>
              <a:custGeom>
                <a:avLst/>
                <a:gdLst>
                  <a:gd name="txL" fmla="*/ 0 w 36"/>
                  <a:gd name="txT" fmla="*/ 0 h 30"/>
                  <a:gd name="txR" fmla="*/ 36 w 36"/>
                  <a:gd name="txB" fmla="*/ 30 h 30"/>
                </a:gdLst>
                <a:ahLst/>
                <a:cxnLst>
                  <a:cxn ang="0">
                    <a:pos x="0" y="0"/>
                  </a:cxn>
                  <a:cxn ang="0">
                    <a:pos x="231" y="394"/>
                  </a:cxn>
                  <a:cxn ang="0">
                    <a:pos x="470" y="811"/>
                  </a:cxn>
                  <a:cxn ang="0">
                    <a:pos x="1432" y="1022"/>
                  </a:cxn>
                  <a:cxn ang="0">
                    <a:pos x="1432" y="1022"/>
                  </a:cxn>
                  <a:cxn ang="0">
                    <a:pos x="470" y="811"/>
                  </a:cxn>
                  <a:cxn ang="0">
                    <a:pos x="231" y="394"/>
                  </a:cxn>
                  <a:cxn ang="0">
                    <a:pos x="0" y="0"/>
                  </a:cxn>
                  <a:cxn ang="0">
                    <a:pos x="0" y="0"/>
                  </a:cxn>
                  <a:cxn ang="0">
                    <a:pos x="0" y="0"/>
                  </a:cxn>
                  <a:cxn ang="0">
                    <a:pos x="0" y="0"/>
                  </a:cxn>
                  <a:cxn ang="0">
                    <a:pos x="0" y="0"/>
                  </a:cxn>
                </a:cxnLst>
                <a:rect l="txL" t="txT" r="txR" b="txB"/>
                <a:pathLst>
                  <a:path w="36" h="30">
                    <a:moveTo>
                      <a:pt x="0" y="0"/>
                    </a:moveTo>
                    <a:lnTo>
                      <a:pt x="6" y="12"/>
                    </a:lnTo>
                    <a:lnTo>
                      <a:pt x="12" y="24"/>
                    </a:lnTo>
                    <a:lnTo>
                      <a:pt x="36" y="30"/>
                    </a:lnTo>
                    <a:lnTo>
                      <a:pt x="12" y="24"/>
                    </a:lnTo>
                    <a:lnTo>
                      <a:pt x="6" y="12"/>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64" name="Freeform 20"/>
              <p:cNvSpPr>
                <a:spLocks noChangeAspect="1"/>
              </p:cNvSpPr>
              <p:nvPr/>
            </p:nvSpPr>
            <p:spPr>
              <a:xfrm>
                <a:off x="3164" y="649"/>
                <a:ext cx="1" cy="2"/>
              </a:xfrm>
              <a:custGeom>
                <a:avLst/>
                <a:gdLst>
                  <a:gd name="txL" fmla="*/ 0 w 1"/>
                  <a:gd name="txT" fmla="*/ 0 h 2"/>
                  <a:gd name="txR" fmla="*/ 1 w 1"/>
                  <a:gd name="txB" fmla="*/ 2 h 2"/>
                </a:gdLst>
                <a:ahLst/>
                <a:cxnLst>
                  <a:cxn ang="0">
                    <a:pos x="0" y="0"/>
                  </a:cxn>
                  <a:cxn ang="0">
                    <a:pos x="0" y="0"/>
                  </a:cxn>
                  <a:cxn ang="0">
                    <a:pos x="0" y="0"/>
                  </a:cxn>
                </a:cxnLst>
                <a:rect l="txL" t="txT" r="txR" b="txB"/>
                <a:pathLst>
                  <a:path w="1" h="2">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65" name="Freeform 21"/>
              <p:cNvSpPr>
                <a:spLocks noChangeAspect="1"/>
              </p:cNvSpPr>
              <p:nvPr/>
            </p:nvSpPr>
            <p:spPr>
              <a:xfrm>
                <a:off x="3123" y="1610"/>
                <a:ext cx="82" cy="68"/>
              </a:xfrm>
              <a:custGeom>
                <a:avLst/>
                <a:gdLst>
                  <a:gd name="txL" fmla="*/ 0 w 72"/>
                  <a:gd name="txT" fmla="*/ 0 h 59"/>
                  <a:gd name="txR" fmla="*/ 72 w 72"/>
                  <a:gd name="txB" fmla="*/ 59 h 59"/>
                </a:gdLst>
                <a:ahLst/>
                <a:cxnLst>
                  <a:cxn ang="0">
                    <a:pos x="1432" y="3123"/>
                  </a:cxn>
                  <a:cxn ang="0">
                    <a:pos x="2268" y="2854"/>
                  </a:cxn>
                  <a:cxn ang="0">
                    <a:pos x="2746" y="2209"/>
                  </a:cxn>
                  <a:cxn ang="0">
                    <a:pos x="2746" y="1593"/>
                  </a:cxn>
                  <a:cxn ang="0">
                    <a:pos x="2746" y="1003"/>
                  </a:cxn>
                  <a:cxn ang="0">
                    <a:pos x="2268" y="322"/>
                  </a:cxn>
                  <a:cxn ang="0">
                    <a:pos x="1432" y="0"/>
                  </a:cxn>
                  <a:cxn ang="0">
                    <a:pos x="470" y="322"/>
                  </a:cxn>
                  <a:cxn ang="0">
                    <a:pos x="231" y="1003"/>
                  </a:cxn>
                  <a:cxn ang="0">
                    <a:pos x="0" y="1593"/>
                  </a:cxn>
                  <a:cxn ang="0">
                    <a:pos x="231" y="2209"/>
                  </a:cxn>
                  <a:cxn ang="0">
                    <a:pos x="470" y="2854"/>
                  </a:cxn>
                  <a:cxn ang="0">
                    <a:pos x="1432" y="3123"/>
                  </a:cxn>
                  <a:cxn ang="0">
                    <a:pos x="1432" y="3123"/>
                  </a:cxn>
                </a:cxnLst>
                <a:rect l="txL" t="txT" r="txR" b="txB"/>
                <a:pathLst>
                  <a:path w="72" h="59">
                    <a:moveTo>
                      <a:pt x="36" y="59"/>
                    </a:moveTo>
                    <a:lnTo>
                      <a:pt x="60" y="54"/>
                    </a:lnTo>
                    <a:lnTo>
                      <a:pt x="72" y="42"/>
                    </a:lnTo>
                    <a:lnTo>
                      <a:pt x="72" y="30"/>
                    </a:lnTo>
                    <a:lnTo>
                      <a:pt x="72" y="18"/>
                    </a:lnTo>
                    <a:lnTo>
                      <a:pt x="60" y="6"/>
                    </a:lnTo>
                    <a:lnTo>
                      <a:pt x="36" y="0"/>
                    </a:lnTo>
                    <a:lnTo>
                      <a:pt x="12" y="6"/>
                    </a:lnTo>
                    <a:lnTo>
                      <a:pt x="6" y="18"/>
                    </a:lnTo>
                    <a:lnTo>
                      <a:pt x="0" y="30"/>
                    </a:lnTo>
                    <a:lnTo>
                      <a:pt x="6" y="42"/>
                    </a:lnTo>
                    <a:lnTo>
                      <a:pt x="12" y="54"/>
                    </a:lnTo>
                    <a:lnTo>
                      <a:pt x="36" y="59"/>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66" name="Freeform 22"/>
              <p:cNvSpPr>
                <a:spLocks noChangeAspect="1"/>
              </p:cNvSpPr>
              <p:nvPr/>
            </p:nvSpPr>
            <p:spPr>
              <a:xfrm>
                <a:off x="3164" y="1645"/>
                <a:ext cx="41" cy="33"/>
              </a:xfrm>
              <a:custGeom>
                <a:avLst/>
                <a:gdLst>
                  <a:gd name="txL" fmla="*/ 0 w 36"/>
                  <a:gd name="txT" fmla="*/ 0 h 29"/>
                  <a:gd name="txR" fmla="*/ 36 w 36"/>
                  <a:gd name="txB" fmla="*/ 29 h 29"/>
                </a:gdLst>
                <a:ahLst/>
                <a:cxnLst>
                  <a:cxn ang="0">
                    <a:pos x="0" y="1098"/>
                  </a:cxn>
                  <a:cxn ang="0">
                    <a:pos x="900" y="890"/>
                  </a:cxn>
                  <a:cxn ang="0">
                    <a:pos x="1432" y="451"/>
                  </a:cxn>
                  <a:cxn ang="0">
                    <a:pos x="1432" y="0"/>
                  </a:cxn>
                  <a:cxn ang="0">
                    <a:pos x="1432" y="0"/>
                  </a:cxn>
                  <a:cxn ang="0">
                    <a:pos x="1432" y="451"/>
                  </a:cxn>
                  <a:cxn ang="0">
                    <a:pos x="900" y="890"/>
                  </a:cxn>
                  <a:cxn ang="0">
                    <a:pos x="0" y="1098"/>
                  </a:cxn>
                  <a:cxn ang="0">
                    <a:pos x="0" y="1098"/>
                  </a:cxn>
                </a:cxnLst>
                <a:rect l="txL" t="txT" r="txR" b="txB"/>
                <a:pathLst>
                  <a:path w="36" h="29">
                    <a:moveTo>
                      <a:pt x="0" y="29"/>
                    </a:moveTo>
                    <a:lnTo>
                      <a:pt x="24" y="24"/>
                    </a:lnTo>
                    <a:lnTo>
                      <a:pt x="36" y="12"/>
                    </a:lnTo>
                    <a:lnTo>
                      <a:pt x="36" y="0"/>
                    </a:lnTo>
                    <a:lnTo>
                      <a:pt x="36" y="12"/>
                    </a:lnTo>
                    <a:lnTo>
                      <a:pt x="24" y="24"/>
                    </a:lnTo>
                    <a:lnTo>
                      <a:pt x="0" y="2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67" name="Freeform 23"/>
              <p:cNvSpPr>
                <a:spLocks noChangeAspect="1" noEditPoints="1"/>
              </p:cNvSpPr>
              <p:nvPr/>
            </p:nvSpPr>
            <p:spPr>
              <a:xfrm>
                <a:off x="3164" y="1610"/>
                <a:ext cx="41" cy="35"/>
              </a:xfrm>
              <a:custGeom>
                <a:avLst/>
                <a:gdLst>
                  <a:gd name="txL" fmla="*/ 0 w 36"/>
                  <a:gd name="txT" fmla="*/ 0 h 30"/>
                  <a:gd name="txR" fmla="*/ 36 w 36"/>
                  <a:gd name="txB" fmla="*/ 30 h 30"/>
                </a:gdLst>
                <a:ahLst/>
                <a:cxnLst>
                  <a:cxn ang="0">
                    <a:pos x="1432" y="2280"/>
                  </a:cxn>
                  <a:cxn ang="0">
                    <a:pos x="1432" y="1412"/>
                  </a:cxn>
                  <a:cxn ang="0">
                    <a:pos x="900" y="480"/>
                  </a:cxn>
                  <a:cxn ang="0">
                    <a:pos x="0" y="0"/>
                  </a:cxn>
                  <a:cxn ang="0">
                    <a:pos x="0" y="0"/>
                  </a:cxn>
                  <a:cxn ang="0">
                    <a:pos x="900" y="480"/>
                  </a:cxn>
                  <a:cxn ang="0">
                    <a:pos x="1432" y="1412"/>
                  </a:cxn>
                  <a:cxn ang="0">
                    <a:pos x="1432" y="2280"/>
                  </a:cxn>
                  <a:cxn ang="0">
                    <a:pos x="1432" y="2280"/>
                  </a:cxn>
                  <a:cxn ang="0">
                    <a:pos x="1432" y="2280"/>
                  </a:cxn>
                  <a:cxn ang="0">
                    <a:pos x="1432" y="2280"/>
                  </a:cxn>
                  <a:cxn ang="0">
                    <a:pos x="1432" y="2280"/>
                  </a:cxn>
                </a:cxnLst>
                <a:rect l="txL" t="txT" r="txR" b="txB"/>
                <a:pathLst>
                  <a:path w="36" h="30">
                    <a:moveTo>
                      <a:pt x="36" y="30"/>
                    </a:moveTo>
                    <a:lnTo>
                      <a:pt x="36" y="18"/>
                    </a:lnTo>
                    <a:lnTo>
                      <a:pt x="24" y="6"/>
                    </a:lnTo>
                    <a:lnTo>
                      <a:pt x="0" y="0"/>
                    </a:lnTo>
                    <a:lnTo>
                      <a:pt x="24" y="6"/>
                    </a:lnTo>
                    <a:lnTo>
                      <a:pt x="36" y="18"/>
                    </a:lnTo>
                    <a:lnTo>
                      <a:pt x="36" y="30"/>
                    </a:lnTo>
                    <a:close/>
                    <a:moveTo>
                      <a:pt x="36" y="30"/>
                    </a:moveTo>
                    <a:lnTo>
                      <a:pt x="36"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68" name="Freeform 24"/>
              <p:cNvSpPr>
                <a:spLocks noChangeAspect="1" noEditPoints="1"/>
              </p:cNvSpPr>
              <p:nvPr/>
            </p:nvSpPr>
            <p:spPr>
              <a:xfrm>
                <a:off x="3123" y="1610"/>
                <a:ext cx="41" cy="35"/>
              </a:xfrm>
              <a:custGeom>
                <a:avLst/>
                <a:gdLst>
                  <a:gd name="txL" fmla="*/ 0 w 36"/>
                  <a:gd name="txT" fmla="*/ 0 h 30"/>
                  <a:gd name="txR" fmla="*/ 36 w 36"/>
                  <a:gd name="txB" fmla="*/ 30 h 30"/>
                </a:gdLst>
                <a:ahLst/>
                <a:cxnLst>
                  <a:cxn ang="0">
                    <a:pos x="1432" y="0"/>
                  </a:cxn>
                  <a:cxn ang="0">
                    <a:pos x="470" y="480"/>
                  </a:cxn>
                  <a:cxn ang="0">
                    <a:pos x="231" y="1412"/>
                  </a:cxn>
                  <a:cxn ang="0">
                    <a:pos x="0" y="2280"/>
                  </a:cxn>
                  <a:cxn ang="0">
                    <a:pos x="0" y="2280"/>
                  </a:cxn>
                  <a:cxn ang="0">
                    <a:pos x="231" y="1412"/>
                  </a:cxn>
                  <a:cxn ang="0">
                    <a:pos x="470" y="480"/>
                  </a:cxn>
                  <a:cxn ang="0">
                    <a:pos x="1432" y="0"/>
                  </a:cxn>
                  <a:cxn ang="0">
                    <a:pos x="1432" y="0"/>
                  </a:cxn>
                  <a:cxn ang="0">
                    <a:pos x="1432" y="0"/>
                  </a:cxn>
                  <a:cxn ang="0">
                    <a:pos x="1432" y="0"/>
                  </a:cxn>
                  <a:cxn ang="0">
                    <a:pos x="1432" y="0"/>
                  </a:cxn>
                </a:cxnLst>
                <a:rect l="txL" t="txT" r="txR" b="txB"/>
                <a:pathLst>
                  <a:path w="36" h="30">
                    <a:moveTo>
                      <a:pt x="36" y="0"/>
                    </a:moveTo>
                    <a:lnTo>
                      <a:pt x="12" y="6"/>
                    </a:lnTo>
                    <a:lnTo>
                      <a:pt x="6" y="18"/>
                    </a:lnTo>
                    <a:lnTo>
                      <a:pt x="0" y="30"/>
                    </a:lnTo>
                    <a:lnTo>
                      <a:pt x="6" y="18"/>
                    </a:lnTo>
                    <a:lnTo>
                      <a:pt x="12" y="6"/>
                    </a:lnTo>
                    <a:lnTo>
                      <a:pt x="36" y="0"/>
                    </a:lnTo>
                    <a:close/>
                    <a:moveTo>
                      <a:pt x="36" y="0"/>
                    </a:moveTo>
                    <a:lnTo>
                      <a:pt x="3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69" name="Freeform 25"/>
              <p:cNvSpPr>
                <a:spLocks noChangeAspect="1" noEditPoints="1"/>
              </p:cNvSpPr>
              <p:nvPr/>
            </p:nvSpPr>
            <p:spPr>
              <a:xfrm>
                <a:off x="3123" y="1645"/>
                <a:ext cx="41" cy="33"/>
              </a:xfrm>
              <a:custGeom>
                <a:avLst/>
                <a:gdLst>
                  <a:gd name="txL" fmla="*/ 0 w 36"/>
                  <a:gd name="txT" fmla="*/ 0 h 29"/>
                  <a:gd name="txR" fmla="*/ 36 w 36"/>
                  <a:gd name="txB" fmla="*/ 29 h 29"/>
                </a:gdLst>
                <a:ahLst/>
                <a:cxnLst>
                  <a:cxn ang="0">
                    <a:pos x="0" y="0"/>
                  </a:cxn>
                  <a:cxn ang="0">
                    <a:pos x="231" y="451"/>
                  </a:cxn>
                  <a:cxn ang="0">
                    <a:pos x="470" y="890"/>
                  </a:cxn>
                  <a:cxn ang="0">
                    <a:pos x="1432" y="1098"/>
                  </a:cxn>
                  <a:cxn ang="0">
                    <a:pos x="1432" y="1098"/>
                  </a:cxn>
                  <a:cxn ang="0">
                    <a:pos x="470" y="890"/>
                  </a:cxn>
                  <a:cxn ang="0">
                    <a:pos x="231" y="451"/>
                  </a:cxn>
                  <a:cxn ang="0">
                    <a:pos x="0" y="0"/>
                  </a:cxn>
                  <a:cxn ang="0">
                    <a:pos x="0" y="0"/>
                  </a:cxn>
                  <a:cxn ang="0">
                    <a:pos x="0" y="0"/>
                  </a:cxn>
                  <a:cxn ang="0">
                    <a:pos x="0" y="0"/>
                  </a:cxn>
                  <a:cxn ang="0">
                    <a:pos x="0" y="0"/>
                  </a:cxn>
                </a:cxnLst>
                <a:rect l="txL" t="txT" r="txR" b="txB"/>
                <a:pathLst>
                  <a:path w="36" h="29">
                    <a:moveTo>
                      <a:pt x="0" y="0"/>
                    </a:moveTo>
                    <a:lnTo>
                      <a:pt x="6" y="12"/>
                    </a:lnTo>
                    <a:lnTo>
                      <a:pt x="12" y="24"/>
                    </a:lnTo>
                    <a:lnTo>
                      <a:pt x="36" y="29"/>
                    </a:lnTo>
                    <a:lnTo>
                      <a:pt x="12" y="24"/>
                    </a:lnTo>
                    <a:lnTo>
                      <a:pt x="6" y="12"/>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70" name="Freeform 26"/>
              <p:cNvSpPr>
                <a:spLocks noChangeAspect="1"/>
              </p:cNvSpPr>
              <p:nvPr/>
            </p:nvSpPr>
            <p:spPr>
              <a:xfrm>
                <a:off x="3164" y="1678"/>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71" name="Freeform 27"/>
              <p:cNvSpPr>
                <a:spLocks noChangeAspect="1"/>
              </p:cNvSpPr>
              <p:nvPr/>
            </p:nvSpPr>
            <p:spPr>
              <a:xfrm>
                <a:off x="2716" y="2049"/>
                <a:ext cx="34" cy="116"/>
              </a:xfrm>
              <a:custGeom>
                <a:avLst/>
                <a:gdLst>
                  <a:gd name="txL" fmla="*/ 0 w 30"/>
                  <a:gd name="txT" fmla="*/ 0 h 101"/>
                  <a:gd name="txR" fmla="*/ 30 w 30"/>
                  <a:gd name="txB" fmla="*/ 101 h 101"/>
                </a:gdLst>
                <a:ahLst/>
                <a:cxnLst>
                  <a:cxn ang="0">
                    <a:pos x="1022" y="0"/>
                  </a:cxn>
                  <a:cxn ang="0">
                    <a:pos x="186" y="1146"/>
                  </a:cxn>
                  <a:cxn ang="0">
                    <a:pos x="0" y="2601"/>
                  </a:cxn>
                  <a:cxn ang="0">
                    <a:pos x="0" y="3467"/>
                  </a:cxn>
                  <a:cxn ang="0">
                    <a:pos x="186" y="4052"/>
                  </a:cxn>
                  <a:cxn ang="0">
                    <a:pos x="575" y="4573"/>
                  </a:cxn>
                  <a:cxn ang="0">
                    <a:pos x="1022" y="4878"/>
                  </a:cxn>
                  <a:cxn ang="0">
                    <a:pos x="1022" y="4878"/>
                  </a:cxn>
                  <a:cxn ang="0">
                    <a:pos x="575" y="4324"/>
                  </a:cxn>
                  <a:cxn ang="0">
                    <a:pos x="394" y="3765"/>
                  </a:cxn>
                  <a:cxn ang="0">
                    <a:pos x="394" y="2910"/>
                  </a:cxn>
                  <a:cxn ang="0">
                    <a:pos x="394" y="2289"/>
                  </a:cxn>
                  <a:cxn ang="0">
                    <a:pos x="394" y="1457"/>
                  </a:cxn>
                  <a:cxn ang="0">
                    <a:pos x="575" y="869"/>
                  </a:cxn>
                  <a:cxn ang="0">
                    <a:pos x="1022" y="278"/>
                  </a:cxn>
                  <a:cxn ang="0">
                    <a:pos x="1022" y="0"/>
                  </a:cxn>
                </a:cxnLst>
                <a:rect l="txL" t="txT" r="txR" b="txB"/>
                <a:pathLst>
                  <a:path w="30" h="101">
                    <a:moveTo>
                      <a:pt x="30" y="0"/>
                    </a:moveTo>
                    <a:lnTo>
                      <a:pt x="6" y="24"/>
                    </a:lnTo>
                    <a:lnTo>
                      <a:pt x="0" y="54"/>
                    </a:lnTo>
                    <a:lnTo>
                      <a:pt x="0" y="72"/>
                    </a:lnTo>
                    <a:lnTo>
                      <a:pt x="6" y="84"/>
                    </a:lnTo>
                    <a:lnTo>
                      <a:pt x="18" y="95"/>
                    </a:lnTo>
                    <a:lnTo>
                      <a:pt x="30" y="101"/>
                    </a:lnTo>
                    <a:lnTo>
                      <a:pt x="18" y="90"/>
                    </a:lnTo>
                    <a:lnTo>
                      <a:pt x="12" y="78"/>
                    </a:lnTo>
                    <a:lnTo>
                      <a:pt x="12" y="60"/>
                    </a:lnTo>
                    <a:lnTo>
                      <a:pt x="12" y="48"/>
                    </a:lnTo>
                    <a:lnTo>
                      <a:pt x="12" y="30"/>
                    </a:lnTo>
                    <a:lnTo>
                      <a:pt x="18" y="18"/>
                    </a:lnTo>
                    <a:lnTo>
                      <a:pt x="30" y="6"/>
                    </a:lnTo>
                    <a:lnTo>
                      <a:pt x="3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72" name="Freeform 28"/>
              <p:cNvSpPr>
                <a:spLocks noChangeAspect="1" noEditPoints="1"/>
              </p:cNvSpPr>
              <p:nvPr/>
            </p:nvSpPr>
            <p:spPr>
              <a:xfrm>
                <a:off x="2763" y="2083"/>
                <a:ext cx="62" cy="63"/>
              </a:xfrm>
              <a:custGeom>
                <a:avLst/>
                <a:gdLst>
                  <a:gd name="txL" fmla="*/ 0 w 54"/>
                  <a:gd name="txT" fmla="*/ 0 h 54"/>
                  <a:gd name="txR" fmla="*/ 54 w 54"/>
                  <a:gd name="txB" fmla="*/ 54 h 54"/>
                </a:gdLst>
                <a:ahLst/>
                <a:cxnLst>
                  <a:cxn ang="0">
                    <a:pos x="1427" y="2713"/>
                  </a:cxn>
                  <a:cxn ang="0">
                    <a:pos x="1427" y="3165"/>
                  </a:cxn>
                  <a:cxn ang="0">
                    <a:pos x="1427" y="3165"/>
                  </a:cxn>
                  <a:cxn ang="0">
                    <a:pos x="1140" y="3620"/>
                  </a:cxn>
                  <a:cxn ang="0">
                    <a:pos x="865" y="3620"/>
                  </a:cxn>
                  <a:cxn ang="0">
                    <a:pos x="571" y="3165"/>
                  </a:cxn>
                  <a:cxn ang="0">
                    <a:pos x="571" y="2713"/>
                  </a:cxn>
                  <a:cxn ang="0">
                    <a:pos x="571" y="2713"/>
                  </a:cxn>
                  <a:cxn ang="0">
                    <a:pos x="571" y="2280"/>
                  </a:cxn>
                  <a:cxn ang="0">
                    <a:pos x="865" y="1869"/>
                  </a:cxn>
                  <a:cxn ang="0">
                    <a:pos x="1427" y="1412"/>
                  </a:cxn>
                  <a:cxn ang="0">
                    <a:pos x="1427" y="2713"/>
                  </a:cxn>
                  <a:cxn ang="0">
                    <a:pos x="2588" y="3165"/>
                  </a:cxn>
                  <a:cxn ang="0">
                    <a:pos x="2276" y="3620"/>
                  </a:cxn>
                  <a:cxn ang="0">
                    <a:pos x="2276" y="3620"/>
                  </a:cxn>
                  <a:cxn ang="0">
                    <a:pos x="1982" y="3620"/>
                  </a:cxn>
                  <a:cxn ang="0">
                    <a:pos x="1982" y="3165"/>
                  </a:cxn>
                  <a:cxn ang="0">
                    <a:pos x="1982" y="1412"/>
                  </a:cxn>
                  <a:cxn ang="0">
                    <a:pos x="1982" y="429"/>
                  </a:cxn>
                  <a:cxn ang="0">
                    <a:pos x="1710" y="0"/>
                  </a:cxn>
                  <a:cxn ang="0">
                    <a:pos x="1140" y="0"/>
                  </a:cxn>
                  <a:cxn ang="0">
                    <a:pos x="273" y="429"/>
                  </a:cxn>
                  <a:cxn ang="0">
                    <a:pos x="0" y="904"/>
                  </a:cxn>
                  <a:cxn ang="0">
                    <a:pos x="0" y="1412"/>
                  </a:cxn>
                  <a:cxn ang="0">
                    <a:pos x="273" y="1412"/>
                  </a:cxn>
                  <a:cxn ang="0">
                    <a:pos x="571" y="1412"/>
                  </a:cxn>
                  <a:cxn ang="0">
                    <a:pos x="571" y="904"/>
                  </a:cxn>
                  <a:cxn ang="0">
                    <a:pos x="571" y="904"/>
                  </a:cxn>
                  <a:cxn ang="0">
                    <a:pos x="571" y="429"/>
                  </a:cxn>
                  <a:cxn ang="0">
                    <a:pos x="865" y="0"/>
                  </a:cxn>
                  <a:cxn ang="0">
                    <a:pos x="1140" y="0"/>
                  </a:cxn>
                  <a:cxn ang="0">
                    <a:pos x="1427" y="0"/>
                  </a:cxn>
                  <a:cxn ang="0">
                    <a:pos x="1427" y="904"/>
                  </a:cxn>
                  <a:cxn ang="0">
                    <a:pos x="1427" y="1412"/>
                  </a:cxn>
                  <a:cxn ang="0">
                    <a:pos x="273" y="2280"/>
                  </a:cxn>
                  <a:cxn ang="0">
                    <a:pos x="0" y="3165"/>
                  </a:cxn>
                  <a:cxn ang="0">
                    <a:pos x="273" y="3620"/>
                  </a:cxn>
                  <a:cxn ang="0">
                    <a:pos x="571" y="4041"/>
                  </a:cxn>
                  <a:cxn ang="0">
                    <a:pos x="1140" y="3620"/>
                  </a:cxn>
                  <a:cxn ang="0">
                    <a:pos x="1427" y="3165"/>
                  </a:cxn>
                  <a:cxn ang="0">
                    <a:pos x="1710" y="4041"/>
                  </a:cxn>
                  <a:cxn ang="0">
                    <a:pos x="1982" y="4041"/>
                  </a:cxn>
                  <a:cxn ang="0">
                    <a:pos x="2276" y="4041"/>
                  </a:cxn>
                  <a:cxn ang="0">
                    <a:pos x="2588" y="3620"/>
                  </a:cxn>
                  <a:cxn ang="0">
                    <a:pos x="2588" y="3165"/>
                  </a:cxn>
                </a:cxnLst>
                <a:rect l="txL" t="txT" r="txR" b="txB"/>
                <a:pathLst>
                  <a:path w="54" h="54">
                    <a:moveTo>
                      <a:pt x="30" y="36"/>
                    </a:moveTo>
                    <a:lnTo>
                      <a:pt x="30" y="42"/>
                    </a:lnTo>
                    <a:lnTo>
                      <a:pt x="24" y="48"/>
                    </a:lnTo>
                    <a:lnTo>
                      <a:pt x="18" y="48"/>
                    </a:lnTo>
                    <a:lnTo>
                      <a:pt x="12" y="42"/>
                    </a:lnTo>
                    <a:lnTo>
                      <a:pt x="12" y="36"/>
                    </a:lnTo>
                    <a:lnTo>
                      <a:pt x="12" y="30"/>
                    </a:lnTo>
                    <a:lnTo>
                      <a:pt x="18" y="24"/>
                    </a:lnTo>
                    <a:lnTo>
                      <a:pt x="30" y="18"/>
                    </a:lnTo>
                    <a:lnTo>
                      <a:pt x="30" y="36"/>
                    </a:lnTo>
                    <a:close/>
                    <a:moveTo>
                      <a:pt x="54" y="42"/>
                    </a:moveTo>
                    <a:lnTo>
                      <a:pt x="48" y="48"/>
                    </a:lnTo>
                    <a:lnTo>
                      <a:pt x="42" y="48"/>
                    </a:lnTo>
                    <a:lnTo>
                      <a:pt x="42" y="42"/>
                    </a:lnTo>
                    <a:lnTo>
                      <a:pt x="42" y="18"/>
                    </a:lnTo>
                    <a:lnTo>
                      <a:pt x="42" y="6"/>
                    </a:lnTo>
                    <a:lnTo>
                      <a:pt x="36" y="0"/>
                    </a:lnTo>
                    <a:lnTo>
                      <a:pt x="24" y="0"/>
                    </a:lnTo>
                    <a:lnTo>
                      <a:pt x="6" y="6"/>
                    </a:lnTo>
                    <a:lnTo>
                      <a:pt x="0" y="12"/>
                    </a:lnTo>
                    <a:lnTo>
                      <a:pt x="0" y="18"/>
                    </a:lnTo>
                    <a:lnTo>
                      <a:pt x="6" y="18"/>
                    </a:lnTo>
                    <a:lnTo>
                      <a:pt x="12" y="18"/>
                    </a:lnTo>
                    <a:lnTo>
                      <a:pt x="12" y="12"/>
                    </a:lnTo>
                    <a:lnTo>
                      <a:pt x="12" y="6"/>
                    </a:lnTo>
                    <a:lnTo>
                      <a:pt x="18" y="0"/>
                    </a:lnTo>
                    <a:lnTo>
                      <a:pt x="24" y="0"/>
                    </a:lnTo>
                    <a:lnTo>
                      <a:pt x="30" y="0"/>
                    </a:lnTo>
                    <a:lnTo>
                      <a:pt x="30" y="12"/>
                    </a:lnTo>
                    <a:lnTo>
                      <a:pt x="30" y="18"/>
                    </a:lnTo>
                    <a:lnTo>
                      <a:pt x="6" y="30"/>
                    </a:lnTo>
                    <a:lnTo>
                      <a:pt x="0" y="42"/>
                    </a:lnTo>
                    <a:lnTo>
                      <a:pt x="6" y="48"/>
                    </a:lnTo>
                    <a:lnTo>
                      <a:pt x="12" y="54"/>
                    </a:lnTo>
                    <a:lnTo>
                      <a:pt x="24" y="48"/>
                    </a:lnTo>
                    <a:lnTo>
                      <a:pt x="30" y="42"/>
                    </a:lnTo>
                    <a:lnTo>
                      <a:pt x="36" y="54"/>
                    </a:lnTo>
                    <a:lnTo>
                      <a:pt x="42" y="54"/>
                    </a:lnTo>
                    <a:lnTo>
                      <a:pt x="48" y="54"/>
                    </a:lnTo>
                    <a:lnTo>
                      <a:pt x="54" y="48"/>
                    </a:lnTo>
                    <a:lnTo>
                      <a:pt x="54" y="4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73" name="Freeform 29"/>
              <p:cNvSpPr>
                <a:spLocks noChangeAspect="1"/>
              </p:cNvSpPr>
              <p:nvPr/>
            </p:nvSpPr>
            <p:spPr>
              <a:xfrm>
                <a:off x="2825" y="2049"/>
                <a:ext cx="40" cy="116"/>
              </a:xfrm>
              <a:custGeom>
                <a:avLst/>
                <a:gdLst>
                  <a:gd name="txL" fmla="*/ 0 w 36"/>
                  <a:gd name="txT" fmla="*/ 0 h 101"/>
                  <a:gd name="txR" fmla="*/ 36 w 36"/>
                  <a:gd name="txB" fmla="*/ 101 h 101"/>
                </a:gdLst>
                <a:ahLst/>
                <a:cxnLst>
                  <a:cxn ang="0">
                    <a:pos x="120" y="4878"/>
                  </a:cxn>
                  <a:cxn ang="0">
                    <a:pos x="579" y="3765"/>
                  </a:cxn>
                  <a:cxn ang="0">
                    <a:pos x="670" y="2601"/>
                  </a:cxn>
                  <a:cxn ang="0">
                    <a:pos x="579" y="1717"/>
                  </a:cxn>
                  <a:cxn ang="0">
                    <a:pos x="469" y="869"/>
                  </a:cxn>
                  <a:cxn ang="0">
                    <a:pos x="120" y="0"/>
                  </a:cxn>
                  <a:cxn ang="0">
                    <a:pos x="0" y="278"/>
                  </a:cxn>
                  <a:cxn ang="0">
                    <a:pos x="224" y="869"/>
                  </a:cxn>
                  <a:cxn ang="0">
                    <a:pos x="469" y="1457"/>
                  </a:cxn>
                  <a:cxn ang="0">
                    <a:pos x="469" y="2601"/>
                  </a:cxn>
                  <a:cxn ang="0">
                    <a:pos x="469" y="3467"/>
                  </a:cxn>
                  <a:cxn ang="0">
                    <a:pos x="342" y="4324"/>
                  </a:cxn>
                  <a:cxn ang="0">
                    <a:pos x="0" y="4878"/>
                  </a:cxn>
                  <a:cxn ang="0">
                    <a:pos x="120" y="4878"/>
                  </a:cxn>
                </a:cxnLst>
                <a:rect l="txL" t="txT" r="txR" b="txB"/>
                <a:pathLst>
                  <a:path w="36" h="101">
                    <a:moveTo>
                      <a:pt x="6" y="101"/>
                    </a:moveTo>
                    <a:lnTo>
                      <a:pt x="30" y="78"/>
                    </a:lnTo>
                    <a:lnTo>
                      <a:pt x="36" y="54"/>
                    </a:lnTo>
                    <a:lnTo>
                      <a:pt x="30" y="36"/>
                    </a:lnTo>
                    <a:lnTo>
                      <a:pt x="24" y="18"/>
                    </a:lnTo>
                    <a:lnTo>
                      <a:pt x="6" y="0"/>
                    </a:lnTo>
                    <a:lnTo>
                      <a:pt x="0" y="6"/>
                    </a:lnTo>
                    <a:lnTo>
                      <a:pt x="12" y="18"/>
                    </a:lnTo>
                    <a:lnTo>
                      <a:pt x="24" y="30"/>
                    </a:lnTo>
                    <a:lnTo>
                      <a:pt x="24" y="54"/>
                    </a:lnTo>
                    <a:lnTo>
                      <a:pt x="24" y="72"/>
                    </a:lnTo>
                    <a:lnTo>
                      <a:pt x="18" y="90"/>
                    </a:lnTo>
                    <a:lnTo>
                      <a:pt x="0" y="101"/>
                    </a:lnTo>
                    <a:lnTo>
                      <a:pt x="6" y="10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74" name="Freeform 30"/>
              <p:cNvSpPr>
                <a:spLocks noChangeAspect="1" noEditPoints="1"/>
              </p:cNvSpPr>
              <p:nvPr/>
            </p:nvSpPr>
            <p:spPr>
              <a:xfrm>
                <a:off x="3618" y="1081"/>
                <a:ext cx="95" cy="90"/>
              </a:xfrm>
              <a:custGeom>
                <a:avLst/>
                <a:gdLst>
                  <a:gd name="txL" fmla="*/ 0 w 84"/>
                  <a:gd name="txT" fmla="*/ 0 h 78"/>
                  <a:gd name="txR" fmla="*/ 84 w 84"/>
                  <a:gd name="txB" fmla="*/ 78 h 78"/>
                </a:gdLst>
                <a:ahLst/>
                <a:cxnLst>
                  <a:cxn ang="0">
                    <a:pos x="2452" y="4243"/>
                  </a:cxn>
                  <a:cxn ang="0">
                    <a:pos x="2240" y="3963"/>
                  </a:cxn>
                  <a:cxn ang="0">
                    <a:pos x="2081" y="3661"/>
                  </a:cxn>
                  <a:cxn ang="0">
                    <a:pos x="1695" y="1950"/>
                  </a:cxn>
                  <a:cxn ang="0">
                    <a:pos x="2240" y="1950"/>
                  </a:cxn>
                  <a:cxn ang="0">
                    <a:pos x="2452" y="1626"/>
                  </a:cxn>
                  <a:cxn ang="0">
                    <a:pos x="2615" y="1012"/>
                  </a:cxn>
                  <a:cxn ang="0">
                    <a:pos x="2452" y="322"/>
                  </a:cxn>
                  <a:cxn ang="0">
                    <a:pos x="2240" y="0"/>
                  </a:cxn>
                  <a:cxn ang="0">
                    <a:pos x="1895" y="0"/>
                  </a:cxn>
                  <a:cxn ang="0">
                    <a:pos x="1695" y="0"/>
                  </a:cxn>
                  <a:cxn ang="0">
                    <a:pos x="778" y="0"/>
                  </a:cxn>
                  <a:cxn ang="0">
                    <a:pos x="778" y="0"/>
                  </a:cxn>
                  <a:cxn ang="0">
                    <a:pos x="924" y="0"/>
                  </a:cxn>
                  <a:cxn ang="0">
                    <a:pos x="924" y="322"/>
                  </a:cxn>
                  <a:cxn ang="0">
                    <a:pos x="924" y="659"/>
                  </a:cxn>
                  <a:cxn ang="0">
                    <a:pos x="924" y="659"/>
                  </a:cxn>
                  <a:cxn ang="0">
                    <a:pos x="387" y="3661"/>
                  </a:cxn>
                  <a:cxn ang="0">
                    <a:pos x="387" y="3963"/>
                  </a:cxn>
                  <a:cxn ang="0">
                    <a:pos x="0" y="4243"/>
                  </a:cxn>
                  <a:cxn ang="0">
                    <a:pos x="0" y="4243"/>
                  </a:cxn>
                  <a:cxn ang="0">
                    <a:pos x="1129" y="4243"/>
                  </a:cxn>
                  <a:cxn ang="0">
                    <a:pos x="1129" y="4243"/>
                  </a:cxn>
                  <a:cxn ang="0">
                    <a:pos x="924" y="3963"/>
                  </a:cxn>
                  <a:cxn ang="0">
                    <a:pos x="778" y="3963"/>
                  </a:cxn>
                  <a:cxn ang="0">
                    <a:pos x="778" y="3661"/>
                  </a:cxn>
                  <a:cxn ang="0">
                    <a:pos x="924" y="3271"/>
                  </a:cxn>
                  <a:cxn ang="0">
                    <a:pos x="1129" y="1950"/>
                  </a:cxn>
                  <a:cxn ang="0">
                    <a:pos x="1325" y="1950"/>
                  </a:cxn>
                  <a:cxn ang="0">
                    <a:pos x="1895" y="4243"/>
                  </a:cxn>
                  <a:cxn ang="0">
                    <a:pos x="2452" y="4243"/>
                  </a:cxn>
                  <a:cxn ang="0">
                    <a:pos x="2452" y="4243"/>
                  </a:cxn>
                  <a:cxn ang="0">
                    <a:pos x="1499" y="322"/>
                  </a:cxn>
                  <a:cxn ang="0">
                    <a:pos x="1499" y="322"/>
                  </a:cxn>
                  <a:cxn ang="0">
                    <a:pos x="1695" y="0"/>
                  </a:cxn>
                  <a:cxn ang="0">
                    <a:pos x="1895" y="322"/>
                  </a:cxn>
                  <a:cxn ang="0">
                    <a:pos x="2081" y="1012"/>
                  </a:cxn>
                  <a:cxn ang="0">
                    <a:pos x="2081" y="1626"/>
                  </a:cxn>
                  <a:cxn ang="0">
                    <a:pos x="1695" y="1950"/>
                  </a:cxn>
                  <a:cxn ang="0">
                    <a:pos x="1325" y="1950"/>
                  </a:cxn>
                  <a:cxn ang="0">
                    <a:pos x="1325" y="1950"/>
                  </a:cxn>
                  <a:cxn ang="0">
                    <a:pos x="1129" y="1950"/>
                  </a:cxn>
                  <a:cxn ang="0">
                    <a:pos x="1499" y="322"/>
                  </a:cxn>
                </a:cxnLst>
                <a:rect l="txL" t="txT" r="txR" b="txB"/>
                <a:pathLst>
                  <a:path w="84" h="78">
                    <a:moveTo>
                      <a:pt x="78" y="78"/>
                    </a:moveTo>
                    <a:lnTo>
                      <a:pt x="72" y="72"/>
                    </a:lnTo>
                    <a:lnTo>
                      <a:pt x="66" y="66"/>
                    </a:lnTo>
                    <a:lnTo>
                      <a:pt x="54" y="36"/>
                    </a:lnTo>
                    <a:lnTo>
                      <a:pt x="72" y="36"/>
                    </a:lnTo>
                    <a:lnTo>
                      <a:pt x="78" y="30"/>
                    </a:lnTo>
                    <a:lnTo>
                      <a:pt x="84" y="18"/>
                    </a:lnTo>
                    <a:lnTo>
                      <a:pt x="78" y="6"/>
                    </a:lnTo>
                    <a:lnTo>
                      <a:pt x="72" y="0"/>
                    </a:lnTo>
                    <a:lnTo>
                      <a:pt x="60" y="0"/>
                    </a:lnTo>
                    <a:lnTo>
                      <a:pt x="54" y="0"/>
                    </a:lnTo>
                    <a:lnTo>
                      <a:pt x="24" y="0"/>
                    </a:lnTo>
                    <a:lnTo>
                      <a:pt x="30" y="0"/>
                    </a:lnTo>
                    <a:lnTo>
                      <a:pt x="30" y="6"/>
                    </a:lnTo>
                    <a:lnTo>
                      <a:pt x="30" y="12"/>
                    </a:lnTo>
                    <a:lnTo>
                      <a:pt x="12" y="66"/>
                    </a:lnTo>
                    <a:lnTo>
                      <a:pt x="12" y="72"/>
                    </a:lnTo>
                    <a:lnTo>
                      <a:pt x="0" y="78"/>
                    </a:lnTo>
                    <a:lnTo>
                      <a:pt x="36" y="78"/>
                    </a:lnTo>
                    <a:lnTo>
                      <a:pt x="30" y="72"/>
                    </a:lnTo>
                    <a:lnTo>
                      <a:pt x="24" y="72"/>
                    </a:lnTo>
                    <a:lnTo>
                      <a:pt x="24" y="66"/>
                    </a:lnTo>
                    <a:lnTo>
                      <a:pt x="30" y="60"/>
                    </a:lnTo>
                    <a:lnTo>
                      <a:pt x="36" y="36"/>
                    </a:lnTo>
                    <a:lnTo>
                      <a:pt x="42" y="36"/>
                    </a:lnTo>
                    <a:lnTo>
                      <a:pt x="60" y="78"/>
                    </a:lnTo>
                    <a:lnTo>
                      <a:pt x="78" y="78"/>
                    </a:lnTo>
                    <a:close/>
                    <a:moveTo>
                      <a:pt x="48" y="6"/>
                    </a:moveTo>
                    <a:lnTo>
                      <a:pt x="48" y="6"/>
                    </a:lnTo>
                    <a:lnTo>
                      <a:pt x="54" y="0"/>
                    </a:lnTo>
                    <a:lnTo>
                      <a:pt x="60" y="6"/>
                    </a:lnTo>
                    <a:lnTo>
                      <a:pt x="66" y="18"/>
                    </a:lnTo>
                    <a:lnTo>
                      <a:pt x="66" y="30"/>
                    </a:lnTo>
                    <a:lnTo>
                      <a:pt x="54" y="36"/>
                    </a:lnTo>
                    <a:lnTo>
                      <a:pt x="42" y="36"/>
                    </a:lnTo>
                    <a:lnTo>
                      <a:pt x="36" y="36"/>
                    </a:lnTo>
                    <a:lnTo>
                      <a:pt x="48"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75" name="Freeform 31"/>
              <p:cNvSpPr>
                <a:spLocks noChangeAspect="1" noEditPoints="1"/>
              </p:cNvSpPr>
              <p:nvPr/>
            </p:nvSpPr>
            <p:spPr>
              <a:xfrm>
                <a:off x="3754" y="1116"/>
                <a:ext cx="82" cy="34"/>
              </a:xfrm>
              <a:custGeom>
                <a:avLst/>
                <a:gdLst>
                  <a:gd name="txL" fmla="*/ 0 w 72"/>
                  <a:gd name="txT" fmla="*/ 0 h 30"/>
                  <a:gd name="txR" fmla="*/ 72 w 72"/>
                  <a:gd name="txB" fmla="*/ 30 h 30"/>
                </a:gdLst>
                <a:ahLst/>
                <a:cxnLst>
                  <a:cxn ang="0">
                    <a:pos x="2746" y="0"/>
                  </a:cxn>
                  <a:cxn ang="0">
                    <a:pos x="0" y="0"/>
                  </a:cxn>
                  <a:cxn ang="0">
                    <a:pos x="0" y="186"/>
                  </a:cxn>
                  <a:cxn ang="0">
                    <a:pos x="2746" y="186"/>
                  </a:cxn>
                  <a:cxn ang="0">
                    <a:pos x="2746" y="0"/>
                  </a:cxn>
                  <a:cxn ang="0">
                    <a:pos x="2746" y="811"/>
                  </a:cxn>
                  <a:cxn ang="0">
                    <a:pos x="0" y="811"/>
                  </a:cxn>
                  <a:cxn ang="0">
                    <a:pos x="0" y="1022"/>
                  </a:cxn>
                  <a:cxn ang="0">
                    <a:pos x="2746" y="1022"/>
                  </a:cxn>
                  <a:cxn ang="0">
                    <a:pos x="2746" y="811"/>
                  </a:cxn>
                </a:cxnLst>
                <a:rect l="txL" t="txT" r="txR" b="txB"/>
                <a:pathLst>
                  <a:path w="72" h="30">
                    <a:moveTo>
                      <a:pt x="72" y="0"/>
                    </a:moveTo>
                    <a:lnTo>
                      <a:pt x="0" y="0"/>
                    </a:lnTo>
                    <a:lnTo>
                      <a:pt x="0" y="6"/>
                    </a:lnTo>
                    <a:lnTo>
                      <a:pt x="72" y="6"/>
                    </a:lnTo>
                    <a:lnTo>
                      <a:pt x="72" y="0"/>
                    </a:lnTo>
                    <a:close/>
                    <a:moveTo>
                      <a:pt x="72" y="24"/>
                    </a:moveTo>
                    <a:lnTo>
                      <a:pt x="0" y="24"/>
                    </a:lnTo>
                    <a:lnTo>
                      <a:pt x="0" y="30"/>
                    </a:lnTo>
                    <a:lnTo>
                      <a:pt x="72" y="30"/>
                    </a:lnTo>
                    <a:lnTo>
                      <a:pt x="72" y="2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76" name="Freeform 32"/>
              <p:cNvSpPr>
                <a:spLocks noChangeAspect="1" noEditPoints="1"/>
              </p:cNvSpPr>
              <p:nvPr/>
            </p:nvSpPr>
            <p:spPr>
              <a:xfrm>
                <a:off x="3875" y="1075"/>
                <a:ext cx="68" cy="96"/>
              </a:xfrm>
              <a:custGeom>
                <a:avLst/>
                <a:gdLst>
                  <a:gd name="txL" fmla="*/ 0 w 60"/>
                  <a:gd name="txT" fmla="*/ 0 h 84"/>
                  <a:gd name="txR" fmla="*/ 60 w 60"/>
                  <a:gd name="txB" fmla="*/ 84 h 84"/>
                </a:gdLst>
                <a:ahLst/>
                <a:cxnLst>
                  <a:cxn ang="0">
                    <a:pos x="1022" y="243"/>
                  </a:cxn>
                  <a:cxn ang="0">
                    <a:pos x="1384" y="514"/>
                  </a:cxn>
                  <a:cxn ang="0">
                    <a:pos x="1569" y="1002"/>
                  </a:cxn>
                  <a:cxn ang="0">
                    <a:pos x="1569" y="1539"/>
                  </a:cxn>
                  <a:cxn ang="0">
                    <a:pos x="1569" y="1765"/>
                  </a:cxn>
                  <a:cxn ang="0">
                    <a:pos x="1569" y="2297"/>
                  </a:cxn>
                  <a:cxn ang="0">
                    <a:pos x="1569" y="2768"/>
                  </a:cxn>
                  <a:cxn ang="0">
                    <a:pos x="1384" y="3309"/>
                  </a:cxn>
                  <a:cxn ang="0">
                    <a:pos x="1022" y="3567"/>
                  </a:cxn>
                  <a:cxn ang="0">
                    <a:pos x="575" y="3309"/>
                  </a:cxn>
                  <a:cxn ang="0">
                    <a:pos x="394" y="2768"/>
                  </a:cxn>
                  <a:cxn ang="0">
                    <a:pos x="394" y="2297"/>
                  </a:cxn>
                  <a:cxn ang="0">
                    <a:pos x="394" y="1765"/>
                  </a:cxn>
                  <a:cxn ang="0">
                    <a:pos x="394" y="1539"/>
                  </a:cxn>
                  <a:cxn ang="0">
                    <a:pos x="394" y="1002"/>
                  </a:cxn>
                  <a:cxn ang="0">
                    <a:pos x="575" y="514"/>
                  </a:cxn>
                  <a:cxn ang="0">
                    <a:pos x="1022" y="243"/>
                  </a:cxn>
                  <a:cxn ang="0">
                    <a:pos x="1022" y="243"/>
                  </a:cxn>
                  <a:cxn ang="0">
                    <a:pos x="1022" y="0"/>
                  </a:cxn>
                  <a:cxn ang="0">
                    <a:pos x="575" y="243"/>
                  </a:cxn>
                  <a:cxn ang="0">
                    <a:pos x="186" y="767"/>
                  </a:cxn>
                  <a:cxn ang="0">
                    <a:pos x="0" y="1242"/>
                  </a:cxn>
                  <a:cxn ang="0">
                    <a:pos x="0" y="1765"/>
                  </a:cxn>
                  <a:cxn ang="0">
                    <a:pos x="186" y="3010"/>
                  </a:cxn>
                  <a:cxn ang="0">
                    <a:pos x="575" y="3309"/>
                  </a:cxn>
                  <a:cxn ang="0">
                    <a:pos x="1022" y="3567"/>
                  </a:cxn>
                  <a:cxn ang="0">
                    <a:pos x="1569" y="3309"/>
                  </a:cxn>
                  <a:cxn ang="0">
                    <a:pos x="1778" y="3010"/>
                  </a:cxn>
                  <a:cxn ang="0">
                    <a:pos x="1996" y="1765"/>
                  </a:cxn>
                  <a:cxn ang="0">
                    <a:pos x="1996" y="1242"/>
                  </a:cxn>
                  <a:cxn ang="0">
                    <a:pos x="1778" y="767"/>
                  </a:cxn>
                  <a:cxn ang="0">
                    <a:pos x="1569" y="243"/>
                  </a:cxn>
                  <a:cxn ang="0">
                    <a:pos x="1022" y="0"/>
                  </a:cxn>
                  <a:cxn ang="0">
                    <a:pos x="1022" y="0"/>
                  </a:cxn>
                </a:cxnLst>
                <a:rect l="txL" t="txT" r="txR" b="txB"/>
                <a:pathLst>
                  <a:path w="60" h="84">
                    <a:moveTo>
                      <a:pt x="30" y="6"/>
                    </a:moveTo>
                    <a:lnTo>
                      <a:pt x="42" y="12"/>
                    </a:lnTo>
                    <a:lnTo>
                      <a:pt x="48" y="24"/>
                    </a:lnTo>
                    <a:lnTo>
                      <a:pt x="48" y="36"/>
                    </a:lnTo>
                    <a:lnTo>
                      <a:pt x="48" y="42"/>
                    </a:lnTo>
                    <a:lnTo>
                      <a:pt x="48" y="54"/>
                    </a:lnTo>
                    <a:lnTo>
                      <a:pt x="48" y="66"/>
                    </a:lnTo>
                    <a:lnTo>
                      <a:pt x="42" y="78"/>
                    </a:lnTo>
                    <a:lnTo>
                      <a:pt x="30" y="84"/>
                    </a:lnTo>
                    <a:lnTo>
                      <a:pt x="18" y="78"/>
                    </a:lnTo>
                    <a:lnTo>
                      <a:pt x="12" y="66"/>
                    </a:lnTo>
                    <a:lnTo>
                      <a:pt x="12" y="54"/>
                    </a:lnTo>
                    <a:lnTo>
                      <a:pt x="12" y="42"/>
                    </a:lnTo>
                    <a:lnTo>
                      <a:pt x="12" y="36"/>
                    </a:lnTo>
                    <a:lnTo>
                      <a:pt x="12" y="24"/>
                    </a:lnTo>
                    <a:lnTo>
                      <a:pt x="18" y="12"/>
                    </a:lnTo>
                    <a:lnTo>
                      <a:pt x="30" y="6"/>
                    </a:lnTo>
                    <a:close/>
                    <a:moveTo>
                      <a:pt x="30" y="0"/>
                    </a:moveTo>
                    <a:lnTo>
                      <a:pt x="18" y="6"/>
                    </a:lnTo>
                    <a:lnTo>
                      <a:pt x="6" y="18"/>
                    </a:lnTo>
                    <a:lnTo>
                      <a:pt x="0" y="30"/>
                    </a:lnTo>
                    <a:lnTo>
                      <a:pt x="0" y="42"/>
                    </a:lnTo>
                    <a:lnTo>
                      <a:pt x="6" y="72"/>
                    </a:lnTo>
                    <a:lnTo>
                      <a:pt x="18" y="78"/>
                    </a:lnTo>
                    <a:lnTo>
                      <a:pt x="30" y="84"/>
                    </a:lnTo>
                    <a:lnTo>
                      <a:pt x="48" y="78"/>
                    </a:lnTo>
                    <a:lnTo>
                      <a:pt x="54" y="72"/>
                    </a:lnTo>
                    <a:lnTo>
                      <a:pt x="60" y="42"/>
                    </a:lnTo>
                    <a:lnTo>
                      <a:pt x="60" y="30"/>
                    </a:lnTo>
                    <a:lnTo>
                      <a:pt x="54" y="18"/>
                    </a:lnTo>
                    <a:lnTo>
                      <a:pt x="48" y="6"/>
                    </a:lnTo>
                    <a:lnTo>
                      <a:pt x="3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77" name="Freeform 33"/>
              <p:cNvSpPr>
                <a:spLocks noChangeAspect="1" noEditPoints="1"/>
              </p:cNvSpPr>
              <p:nvPr/>
            </p:nvSpPr>
            <p:spPr>
              <a:xfrm>
                <a:off x="3747" y="684"/>
                <a:ext cx="27" cy="88"/>
              </a:xfrm>
              <a:custGeom>
                <a:avLst/>
                <a:gdLst>
                  <a:gd name="txL" fmla="*/ 0 w 24"/>
                  <a:gd name="txT" fmla="*/ 0 h 77"/>
                  <a:gd name="txR" fmla="*/ 24 w 24"/>
                  <a:gd name="txB" fmla="*/ 77 h 77"/>
                </a:gdLst>
                <a:ahLst/>
                <a:cxnLst>
                  <a:cxn ang="0">
                    <a:pos x="514" y="2739"/>
                  </a:cxn>
                  <a:cxn ang="0">
                    <a:pos x="514" y="3000"/>
                  </a:cxn>
                  <a:cxn ang="0">
                    <a:pos x="361" y="3000"/>
                  </a:cxn>
                  <a:cxn ang="0">
                    <a:pos x="178" y="3000"/>
                  </a:cxn>
                  <a:cxn ang="0">
                    <a:pos x="178" y="3000"/>
                  </a:cxn>
                  <a:cxn ang="0">
                    <a:pos x="361" y="2739"/>
                  </a:cxn>
                  <a:cxn ang="0">
                    <a:pos x="361" y="2467"/>
                  </a:cxn>
                  <a:cxn ang="0">
                    <a:pos x="651" y="1002"/>
                  </a:cxn>
                  <a:cxn ang="0">
                    <a:pos x="651" y="1002"/>
                  </a:cxn>
                  <a:cxn ang="0">
                    <a:pos x="361" y="1002"/>
                  </a:cxn>
                  <a:cxn ang="0">
                    <a:pos x="0" y="1242"/>
                  </a:cxn>
                  <a:cxn ang="0">
                    <a:pos x="0" y="1242"/>
                  </a:cxn>
                  <a:cxn ang="0">
                    <a:pos x="178" y="1242"/>
                  </a:cxn>
                  <a:cxn ang="0">
                    <a:pos x="178" y="1242"/>
                  </a:cxn>
                  <a:cxn ang="0">
                    <a:pos x="178" y="1496"/>
                  </a:cxn>
                  <a:cxn ang="0">
                    <a:pos x="178" y="2233"/>
                  </a:cxn>
                  <a:cxn ang="0">
                    <a:pos x="0" y="2739"/>
                  </a:cxn>
                  <a:cxn ang="0">
                    <a:pos x="0" y="3000"/>
                  </a:cxn>
                  <a:cxn ang="0">
                    <a:pos x="0" y="3222"/>
                  </a:cxn>
                  <a:cxn ang="0">
                    <a:pos x="178" y="3222"/>
                  </a:cxn>
                  <a:cxn ang="0">
                    <a:pos x="514" y="3000"/>
                  </a:cxn>
                  <a:cxn ang="0">
                    <a:pos x="651" y="2739"/>
                  </a:cxn>
                  <a:cxn ang="0">
                    <a:pos x="514" y="2739"/>
                  </a:cxn>
                  <a:cxn ang="0">
                    <a:pos x="651" y="243"/>
                  </a:cxn>
                  <a:cxn ang="0">
                    <a:pos x="651" y="0"/>
                  </a:cxn>
                  <a:cxn ang="0">
                    <a:pos x="514" y="0"/>
                  </a:cxn>
                  <a:cxn ang="0">
                    <a:pos x="514" y="0"/>
                  </a:cxn>
                  <a:cxn ang="0">
                    <a:pos x="361" y="243"/>
                  </a:cxn>
                  <a:cxn ang="0">
                    <a:pos x="514" y="514"/>
                  </a:cxn>
                  <a:cxn ang="0">
                    <a:pos x="514" y="514"/>
                  </a:cxn>
                  <a:cxn ang="0">
                    <a:pos x="651" y="514"/>
                  </a:cxn>
                  <a:cxn ang="0">
                    <a:pos x="651" y="243"/>
                  </a:cxn>
                  <a:cxn ang="0">
                    <a:pos x="651" y="243"/>
                  </a:cxn>
                </a:cxnLst>
                <a:rect l="txL" t="txT" r="txR" b="txB"/>
                <a:pathLst>
                  <a:path w="24" h="77">
                    <a:moveTo>
                      <a:pt x="18" y="65"/>
                    </a:moveTo>
                    <a:lnTo>
                      <a:pt x="18" y="71"/>
                    </a:lnTo>
                    <a:lnTo>
                      <a:pt x="12" y="71"/>
                    </a:lnTo>
                    <a:lnTo>
                      <a:pt x="6" y="71"/>
                    </a:lnTo>
                    <a:lnTo>
                      <a:pt x="12" y="65"/>
                    </a:lnTo>
                    <a:lnTo>
                      <a:pt x="12" y="59"/>
                    </a:lnTo>
                    <a:lnTo>
                      <a:pt x="24" y="24"/>
                    </a:lnTo>
                    <a:lnTo>
                      <a:pt x="12" y="24"/>
                    </a:lnTo>
                    <a:lnTo>
                      <a:pt x="0" y="30"/>
                    </a:lnTo>
                    <a:lnTo>
                      <a:pt x="6" y="30"/>
                    </a:lnTo>
                    <a:lnTo>
                      <a:pt x="6" y="35"/>
                    </a:lnTo>
                    <a:lnTo>
                      <a:pt x="6" y="53"/>
                    </a:lnTo>
                    <a:lnTo>
                      <a:pt x="0" y="65"/>
                    </a:lnTo>
                    <a:lnTo>
                      <a:pt x="0" y="71"/>
                    </a:lnTo>
                    <a:lnTo>
                      <a:pt x="0" y="77"/>
                    </a:lnTo>
                    <a:lnTo>
                      <a:pt x="6" y="77"/>
                    </a:lnTo>
                    <a:lnTo>
                      <a:pt x="18" y="71"/>
                    </a:lnTo>
                    <a:lnTo>
                      <a:pt x="24" y="65"/>
                    </a:lnTo>
                    <a:lnTo>
                      <a:pt x="18" y="65"/>
                    </a:lnTo>
                    <a:close/>
                    <a:moveTo>
                      <a:pt x="24" y="6"/>
                    </a:moveTo>
                    <a:lnTo>
                      <a:pt x="24" y="0"/>
                    </a:lnTo>
                    <a:lnTo>
                      <a:pt x="18" y="0"/>
                    </a:lnTo>
                    <a:lnTo>
                      <a:pt x="12" y="6"/>
                    </a:lnTo>
                    <a:lnTo>
                      <a:pt x="18" y="12"/>
                    </a:lnTo>
                    <a:lnTo>
                      <a:pt x="24" y="12"/>
                    </a:lnTo>
                    <a:lnTo>
                      <a:pt x="24"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78" name="Freeform 34"/>
              <p:cNvSpPr>
                <a:spLocks noChangeAspect="1"/>
              </p:cNvSpPr>
              <p:nvPr/>
            </p:nvSpPr>
            <p:spPr>
              <a:xfrm>
                <a:off x="3665" y="615"/>
                <a:ext cx="2" cy="178"/>
              </a:xfrm>
              <a:custGeom>
                <a:avLst/>
                <a:gdLst>
                  <a:gd name="txL" fmla="*/ 0 w 2"/>
                  <a:gd name="txT" fmla="*/ 0 h 155"/>
                  <a:gd name="txR" fmla="*/ 2 w 2"/>
                  <a:gd name="txB" fmla="*/ 155 h 155"/>
                </a:gdLst>
                <a:ahLst/>
                <a:cxnLst>
                  <a:cxn ang="0">
                    <a:pos x="0" y="0"/>
                  </a:cxn>
                  <a:cxn ang="0">
                    <a:pos x="0" y="7475"/>
                  </a:cxn>
                  <a:cxn ang="0">
                    <a:pos x="0" y="0"/>
                  </a:cxn>
                  <a:cxn ang="0">
                    <a:pos x="0" y="0"/>
                  </a:cxn>
                </a:cxnLst>
                <a:rect l="txL" t="txT" r="txR" b="txB"/>
                <a:pathLst>
                  <a:path w="2" h="155">
                    <a:moveTo>
                      <a:pt x="0" y="0"/>
                    </a:moveTo>
                    <a:lnTo>
                      <a:pt x="0" y="155"/>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8279" name="Freeform 35"/>
              <p:cNvSpPr>
                <a:spLocks noChangeAspect="1"/>
              </p:cNvSpPr>
              <p:nvPr/>
            </p:nvSpPr>
            <p:spPr>
              <a:xfrm>
                <a:off x="3631" y="772"/>
                <a:ext cx="62" cy="104"/>
              </a:xfrm>
              <a:custGeom>
                <a:avLst/>
                <a:gdLst>
                  <a:gd name="txL" fmla="*/ 0 w 54"/>
                  <a:gd name="txT" fmla="*/ 0 h 90"/>
                  <a:gd name="txR" fmla="*/ 54 w 54"/>
                  <a:gd name="txB" fmla="*/ 90 h 90"/>
                </a:gdLst>
                <a:ahLst/>
                <a:cxnLst>
                  <a:cxn ang="0">
                    <a:pos x="0" y="0"/>
                  </a:cxn>
                  <a:cxn ang="0">
                    <a:pos x="1427" y="5184"/>
                  </a:cxn>
                  <a:cxn ang="0">
                    <a:pos x="2588" y="0"/>
                  </a:cxn>
                  <a:cxn ang="0">
                    <a:pos x="0" y="0"/>
                  </a:cxn>
                  <a:cxn ang="0">
                    <a:pos x="0" y="0"/>
                  </a:cxn>
                </a:cxnLst>
                <a:rect l="txL" t="txT" r="txR" b="txB"/>
                <a:pathLst>
                  <a:path w="54" h="90">
                    <a:moveTo>
                      <a:pt x="0" y="0"/>
                    </a:moveTo>
                    <a:lnTo>
                      <a:pt x="30" y="90"/>
                    </a:lnTo>
                    <a:lnTo>
                      <a:pt x="54" y="0"/>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8280" name="Freeform 36"/>
              <p:cNvSpPr>
                <a:spLocks noChangeAspect="1"/>
              </p:cNvSpPr>
              <p:nvPr/>
            </p:nvSpPr>
            <p:spPr>
              <a:xfrm>
                <a:off x="3198" y="1116"/>
                <a:ext cx="60" cy="55"/>
              </a:xfrm>
              <a:custGeom>
                <a:avLst/>
                <a:gdLst>
                  <a:gd name="txL" fmla="*/ 0 w 53"/>
                  <a:gd name="txT" fmla="*/ 0 h 48"/>
                  <a:gd name="txR" fmla="*/ 53 w 53"/>
                  <a:gd name="txB" fmla="*/ 48 h 48"/>
                </a:gdLst>
                <a:ahLst/>
                <a:cxnLst>
                  <a:cxn ang="0">
                    <a:pos x="0" y="251"/>
                  </a:cxn>
                  <a:cxn ang="0">
                    <a:pos x="394" y="251"/>
                  </a:cxn>
                  <a:cxn ang="0">
                    <a:pos x="394" y="557"/>
                  </a:cxn>
                  <a:cxn ang="0">
                    <a:pos x="556" y="1378"/>
                  </a:cxn>
                  <a:cxn ang="0">
                    <a:pos x="556" y="2173"/>
                  </a:cxn>
                  <a:cxn ang="0">
                    <a:pos x="556" y="2173"/>
                  </a:cxn>
                  <a:cxn ang="0">
                    <a:pos x="556" y="2173"/>
                  </a:cxn>
                  <a:cxn ang="0">
                    <a:pos x="941" y="1896"/>
                  </a:cxn>
                  <a:cxn ang="0">
                    <a:pos x="1149" y="1650"/>
                  </a:cxn>
                  <a:cxn ang="0">
                    <a:pos x="1322" y="1100"/>
                  </a:cxn>
                  <a:cxn ang="0">
                    <a:pos x="1508" y="838"/>
                  </a:cxn>
                  <a:cxn ang="0">
                    <a:pos x="1707" y="251"/>
                  </a:cxn>
                  <a:cxn ang="0">
                    <a:pos x="1508" y="0"/>
                  </a:cxn>
                  <a:cxn ang="0">
                    <a:pos x="1322" y="0"/>
                  </a:cxn>
                  <a:cxn ang="0">
                    <a:pos x="1322" y="0"/>
                  </a:cxn>
                  <a:cxn ang="0">
                    <a:pos x="1322" y="251"/>
                  </a:cxn>
                  <a:cxn ang="0">
                    <a:pos x="1322" y="557"/>
                  </a:cxn>
                  <a:cxn ang="0">
                    <a:pos x="1149" y="1100"/>
                  </a:cxn>
                  <a:cxn ang="0">
                    <a:pos x="941" y="1650"/>
                  </a:cxn>
                  <a:cxn ang="0">
                    <a:pos x="734" y="1896"/>
                  </a:cxn>
                  <a:cxn ang="0">
                    <a:pos x="734" y="1100"/>
                  </a:cxn>
                  <a:cxn ang="0">
                    <a:pos x="556" y="0"/>
                  </a:cxn>
                  <a:cxn ang="0">
                    <a:pos x="556" y="0"/>
                  </a:cxn>
                  <a:cxn ang="0">
                    <a:pos x="394" y="0"/>
                  </a:cxn>
                  <a:cxn ang="0">
                    <a:pos x="0" y="0"/>
                  </a:cxn>
                  <a:cxn ang="0">
                    <a:pos x="0" y="251"/>
                  </a:cxn>
                </a:cxnLst>
                <a:rect l="txL" t="txT" r="txR" b="txB"/>
                <a:pathLst>
                  <a:path w="53" h="48">
                    <a:moveTo>
                      <a:pt x="0" y="6"/>
                    </a:moveTo>
                    <a:lnTo>
                      <a:pt x="12" y="6"/>
                    </a:lnTo>
                    <a:lnTo>
                      <a:pt x="12" y="12"/>
                    </a:lnTo>
                    <a:lnTo>
                      <a:pt x="17" y="30"/>
                    </a:lnTo>
                    <a:lnTo>
                      <a:pt x="17" y="48"/>
                    </a:lnTo>
                    <a:lnTo>
                      <a:pt x="29" y="42"/>
                    </a:lnTo>
                    <a:lnTo>
                      <a:pt x="35" y="36"/>
                    </a:lnTo>
                    <a:lnTo>
                      <a:pt x="41" y="24"/>
                    </a:lnTo>
                    <a:lnTo>
                      <a:pt x="47" y="18"/>
                    </a:lnTo>
                    <a:lnTo>
                      <a:pt x="53" y="6"/>
                    </a:lnTo>
                    <a:lnTo>
                      <a:pt x="47" y="0"/>
                    </a:lnTo>
                    <a:lnTo>
                      <a:pt x="41" y="0"/>
                    </a:lnTo>
                    <a:lnTo>
                      <a:pt x="41" y="6"/>
                    </a:lnTo>
                    <a:lnTo>
                      <a:pt x="41" y="12"/>
                    </a:lnTo>
                    <a:lnTo>
                      <a:pt x="35" y="24"/>
                    </a:lnTo>
                    <a:lnTo>
                      <a:pt x="29" y="36"/>
                    </a:lnTo>
                    <a:lnTo>
                      <a:pt x="23" y="42"/>
                    </a:lnTo>
                    <a:lnTo>
                      <a:pt x="23" y="24"/>
                    </a:lnTo>
                    <a:lnTo>
                      <a:pt x="17" y="0"/>
                    </a:lnTo>
                    <a:lnTo>
                      <a:pt x="12" y="0"/>
                    </a:lnTo>
                    <a:lnTo>
                      <a:pt x="0"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81" name="Freeform 37"/>
              <p:cNvSpPr>
                <a:spLocks noChangeAspect="1" noEditPoints="1"/>
              </p:cNvSpPr>
              <p:nvPr/>
            </p:nvSpPr>
            <p:spPr>
              <a:xfrm>
                <a:off x="3299" y="1116"/>
                <a:ext cx="75" cy="41"/>
              </a:xfrm>
              <a:custGeom>
                <a:avLst/>
                <a:gdLst>
                  <a:gd name="txL" fmla="*/ 0 w 66"/>
                  <a:gd name="txT" fmla="*/ 0 h 36"/>
                  <a:gd name="txR" fmla="*/ 66 w 66"/>
                  <a:gd name="txB" fmla="*/ 36 h 36"/>
                </a:gdLst>
                <a:ahLst/>
                <a:cxnLst>
                  <a:cxn ang="0">
                    <a:pos x="2364" y="0"/>
                  </a:cxn>
                  <a:cxn ang="0">
                    <a:pos x="0" y="0"/>
                  </a:cxn>
                  <a:cxn ang="0">
                    <a:pos x="0" y="470"/>
                  </a:cxn>
                  <a:cxn ang="0">
                    <a:pos x="2364" y="470"/>
                  </a:cxn>
                  <a:cxn ang="0">
                    <a:pos x="2364" y="0"/>
                  </a:cxn>
                  <a:cxn ang="0">
                    <a:pos x="2364" y="900"/>
                  </a:cxn>
                  <a:cxn ang="0">
                    <a:pos x="0" y="900"/>
                  </a:cxn>
                  <a:cxn ang="0">
                    <a:pos x="0" y="1432"/>
                  </a:cxn>
                  <a:cxn ang="0">
                    <a:pos x="2364" y="1432"/>
                  </a:cxn>
                  <a:cxn ang="0">
                    <a:pos x="2364" y="900"/>
                  </a:cxn>
                </a:cxnLst>
                <a:rect l="txL" t="txT" r="txR" b="txB"/>
                <a:pathLst>
                  <a:path w="66" h="36">
                    <a:moveTo>
                      <a:pt x="66" y="0"/>
                    </a:moveTo>
                    <a:lnTo>
                      <a:pt x="0" y="0"/>
                    </a:lnTo>
                    <a:lnTo>
                      <a:pt x="0" y="12"/>
                    </a:lnTo>
                    <a:lnTo>
                      <a:pt x="66" y="12"/>
                    </a:lnTo>
                    <a:lnTo>
                      <a:pt x="66" y="0"/>
                    </a:lnTo>
                    <a:close/>
                    <a:moveTo>
                      <a:pt x="66" y="24"/>
                    </a:moveTo>
                    <a:lnTo>
                      <a:pt x="0" y="24"/>
                    </a:lnTo>
                    <a:lnTo>
                      <a:pt x="0" y="36"/>
                    </a:lnTo>
                    <a:lnTo>
                      <a:pt x="66" y="36"/>
                    </a:lnTo>
                    <a:lnTo>
                      <a:pt x="66" y="2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82" name="Freeform 38"/>
              <p:cNvSpPr>
                <a:spLocks noChangeAspect="1" noEditPoints="1"/>
              </p:cNvSpPr>
              <p:nvPr/>
            </p:nvSpPr>
            <p:spPr>
              <a:xfrm>
                <a:off x="3421" y="1081"/>
                <a:ext cx="69" cy="90"/>
              </a:xfrm>
              <a:custGeom>
                <a:avLst/>
                <a:gdLst>
                  <a:gd name="txL" fmla="*/ 0 w 60"/>
                  <a:gd name="txT" fmla="*/ 0 h 78"/>
                  <a:gd name="txR" fmla="*/ 60 w 60"/>
                  <a:gd name="txB" fmla="*/ 78 h 78"/>
                </a:gdLst>
                <a:ahLst/>
                <a:cxnLst>
                  <a:cxn ang="0">
                    <a:pos x="1511" y="0"/>
                  </a:cxn>
                  <a:cxn ang="0">
                    <a:pos x="2056" y="322"/>
                  </a:cxn>
                  <a:cxn ang="0">
                    <a:pos x="2364" y="1012"/>
                  </a:cxn>
                  <a:cxn ang="0">
                    <a:pos x="2364" y="1626"/>
                  </a:cxn>
                  <a:cxn ang="0">
                    <a:pos x="2364" y="1950"/>
                  </a:cxn>
                  <a:cxn ang="0">
                    <a:pos x="2364" y="2596"/>
                  </a:cxn>
                  <a:cxn ang="0">
                    <a:pos x="2364" y="3271"/>
                  </a:cxn>
                  <a:cxn ang="0">
                    <a:pos x="2056" y="3963"/>
                  </a:cxn>
                  <a:cxn ang="0">
                    <a:pos x="1511" y="4243"/>
                  </a:cxn>
                  <a:cxn ang="0">
                    <a:pos x="923" y="3963"/>
                  </a:cxn>
                  <a:cxn ang="0">
                    <a:pos x="607" y="3271"/>
                  </a:cxn>
                  <a:cxn ang="0">
                    <a:pos x="607" y="2596"/>
                  </a:cxn>
                  <a:cxn ang="0">
                    <a:pos x="607" y="1950"/>
                  </a:cxn>
                  <a:cxn ang="0">
                    <a:pos x="607" y="1626"/>
                  </a:cxn>
                  <a:cxn ang="0">
                    <a:pos x="607" y="1012"/>
                  </a:cxn>
                  <a:cxn ang="0">
                    <a:pos x="923" y="322"/>
                  </a:cxn>
                  <a:cxn ang="0">
                    <a:pos x="1511" y="0"/>
                  </a:cxn>
                  <a:cxn ang="0">
                    <a:pos x="1511" y="0"/>
                  </a:cxn>
                  <a:cxn ang="0">
                    <a:pos x="1511" y="0"/>
                  </a:cxn>
                  <a:cxn ang="0">
                    <a:pos x="923" y="322"/>
                  </a:cxn>
                  <a:cxn ang="0">
                    <a:pos x="302" y="659"/>
                  </a:cxn>
                  <a:cxn ang="0">
                    <a:pos x="0" y="1950"/>
                  </a:cxn>
                  <a:cxn ang="0">
                    <a:pos x="302" y="3661"/>
                  </a:cxn>
                  <a:cxn ang="0">
                    <a:pos x="923" y="3963"/>
                  </a:cxn>
                  <a:cxn ang="0">
                    <a:pos x="1511" y="4243"/>
                  </a:cxn>
                  <a:cxn ang="0">
                    <a:pos x="2364" y="3963"/>
                  </a:cxn>
                  <a:cxn ang="0">
                    <a:pos x="2697" y="3661"/>
                  </a:cxn>
                  <a:cxn ang="0">
                    <a:pos x="3021" y="1950"/>
                  </a:cxn>
                  <a:cxn ang="0">
                    <a:pos x="2697" y="659"/>
                  </a:cxn>
                  <a:cxn ang="0">
                    <a:pos x="2364" y="322"/>
                  </a:cxn>
                  <a:cxn ang="0">
                    <a:pos x="1511" y="0"/>
                  </a:cxn>
                  <a:cxn ang="0">
                    <a:pos x="1511" y="0"/>
                  </a:cxn>
                </a:cxnLst>
                <a:rect l="txL" t="txT" r="txR" b="txB"/>
                <a:pathLst>
                  <a:path w="60" h="78">
                    <a:moveTo>
                      <a:pt x="30" y="0"/>
                    </a:moveTo>
                    <a:lnTo>
                      <a:pt x="42" y="6"/>
                    </a:lnTo>
                    <a:lnTo>
                      <a:pt x="48" y="18"/>
                    </a:lnTo>
                    <a:lnTo>
                      <a:pt x="48" y="30"/>
                    </a:lnTo>
                    <a:lnTo>
                      <a:pt x="48" y="36"/>
                    </a:lnTo>
                    <a:lnTo>
                      <a:pt x="48" y="48"/>
                    </a:lnTo>
                    <a:lnTo>
                      <a:pt x="48" y="60"/>
                    </a:lnTo>
                    <a:lnTo>
                      <a:pt x="42" y="72"/>
                    </a:lnTo>
                    <a:lnTo>
                      <a:pt x="30" y="78"/>
                    </a:lnTo>
                    <a:lnTo>
                      <a:pt x="18" y="72"/>
                    </a:lnTo>
                    <a:lnTo>
                      <a:pt x="12" y="60"/>
                    </a:lnTo>
                    <a:lnTo>
                      <a:pt x="12" y="48"/>
                    </a:lnTo>
                    <a:lnTo>
                      <a:pt x="12" y="36"/>
                    </a:lnTo>
                    <a:lnTo>
                      <a:pt x="12" y="30"/>
                    </a:lnTo>
                    <a:lnTo>
                      <a:pt x="12" y="18"/>
                    </a:lnTo>
                    <a:lnTo>
                      <a:pt x="18" y="6"/>
                    </a:lnTo>
                    <a:lnTo>
                      <a:pt x="30" y="0"/>
                    </a:lnTo>
                    <a:close/>
                    <a:moveTo>
                      <a:pt x="30" y="0"/>
                    </a:moveTo>
                    <a:lnTo>
                      <a:pt x="18" y="6"/>
                    </a:lnTo>
                    <a:lnTo>
                      <a:pt x="6" y="12"/>
                    </a:lnTo>
                    <a:lnTo>
                      <a:pt x="0" y="36"/>
                    </a:lnTo>
                    <a:lnTo>
                      <a:pt x="6" y="66"/>
                    </a:lnTo>
                    <a:lnTo>
                      <a:pt x="18" y="72"/>
                    </a:lnTo>
                    <a:lnTo>
                      <a:pt x="30" y="78"/>
                    </a:lnTo>
                    <a:lnTo>
                      <a:pt x="48" y="72"/>
                    </a:lnTo>
                    <a:lnTo>
                      <a:pt x="54" y="66"/>
                    </a:lnTo>
                    <a:lnTo>
                      <a:pt x="60" y="36"/>
                    </a:lnTo>
                    <a:lnTo>
                      <a:pt x="54" y="12"/>
                    </a:lnTo>
                    <a:lnTo>
                      <a:pt x="48" y="6"/>
                    </a:lnTo>
                    <a:lnTo>
                      <a:pt x="3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83" name="Freeform 39"/>
              <p:cNvSpPr>
                <a:spLocks noChangeAspect="1"/>
              </p:cNvSpPr>
              <p:nvPr/>
            </p:nvSpPr>
            <p:spPr>
              <a:xfrm>
                <a:off x="3442" y="691"/>
                <a:ext cx="75" cy="68"/>
              </a:xfrm>
              <a:custGeom>
                <a:avLst/>
                <a:gdLst>
                  <a:gd name="txL" fmla="*/ 0 w 66"/>
                  <a:gd name="txT" fmla="*/ 0 h 59"/>
                  <a:gd name="txR" fmla="*/ 66 w 66"/>
                  <a:gd name="txB" fmla="*/ 59 h 59"/>
                </a:gdLst>
                <a:ahLst/>
                <a:cxnLst>
                  <a:cxn ang="0">
                    <a:pos x="849" y="1332"/>
                  </a:cxn>
                  <a:cxn ang="0">
                    <a:pos x="0" y="1332"/>
                  </a:cxn>
                  <a:cxn ang="0">
                    <a:pos x="0" y="1536"/>
                  </a:cxn>
                  <a:cxn ang="0">
                    <a:pos x="849" y="1536"/>
                  </a:cxn>
                  <a:cxn ang="0">
                    <a:pos x="849" y="3123"/>
                  </a:cxn>
                  <a:cxn ang="0">
                    <a:pos x="1281" y="3123"/>
                  </a:cxn>
                  <a:cxn ang="0">
                    <a:pos x="1281" y="1536"/>
                  </a:cxn>
                  <a:cxn ang="0">
                    <a:pos x="2364" y="1536"/>
                  </a:cxn>
                  <a:cxn ang="0">
                    <a:pos x="2364" y="1332"/>
                  </a:cxn>
                  <a:cxn ang="0">
                    <a:pos x="1281" y="1332"/>
                  </a:cxn>
                  <a:cxn ang="0">
                    <a:pos x="1281" y="0"/>
                  </a:cxn>
                  <a:cxn ang="0">
                    <a:pos x="849" y="0"/>
                  </a:cxn>
                  <a:cxn ang="0">
                    <a:pos x="849" y="1332"/>
                  </a:cxn>
                </a:cxnLst>
                <a:rect l="txL" t="txT" r="txR" b="txB"/>
                <a:pathLst>
                  <a:path w="66" h="59">
                    <a:moveTo>
                      <a:pt x="24" y="24"/>
                    </a:moveTo>
                    <a:lnTo>
                      <a:pt x="0" y="24"/>
                    </a:lnTo>
                    <a:lnTo>
                      <a:pt x="0" y="29"/>
                    </a:lnTo>
                    <a:lnTo>
                      <a:pt x="24" y="29"/>
                    </a:lnTo>
                    <a:lnTo>
                      <a:pt x="24" y="59"/>
                    </a:lnTo>
                    <a:lnTo>
                      <a:pt x="36" y="59"/>
                    </a:lnTo>
                    <a:lnTo>
                      <a:pt x="36" y="29"/>
                    </a:lnTo>
                    <a:lnTo>
                      <a:pt x="66" y="29"/>
                    </a:lnTo>
                    <a:lnTo>
                      <a:pt x="66" y="24"/>
                    </a:lnTo>
                    <a:lnTo>
                      <a:pt x="36" y="24"/>
                    </a:lnTo>
                    <a:lnTo>
                      <a:pt x="36" y="0"/>
                    </a:lnTo>
                    <a:lnTo>
                      <a:pt x="24" y="0"/>
                    </a:lnTo>
                    <a:lnTo>
                      <a:pt x="24" y="2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84" name="Rectangle 40"/>
              <p:cNvSpPr>
                <a:spLocks noChangeAspect="1"/>
              </p:cNvSpPr>
              <p:nvPr/>
            </p:nvSpPr>
            <p:spPr>
              <a:xfrm>
                <a:off x="3435" y="1562"/>
                <a:ext cx="82" cy="7"/>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grpSp>
        <p:grpSp>
          <p:nvGrpSpPr>
            <p:cNvPr id="8201" name="Group 41"/>
            <p:cNvGrpSpPr>
              <a:grpSpLocks noChangeAspect="1"/>
            </p:cNvGrpSpPr>
            <p:nvPr/>
          </p:nvGrpSpPr>
          <p:grpSpPr>
            <a:xfrm>
              <a:off x="3072" y="1263"/>
              <a:ext cx="2307" cy="1797"/>
              <a:chOff x="1725" y="2379"/>
              <a:chExt cx="2307" cy="1797"/>
            </a:xfrm>
          </p:grpSpPr>
          <p:sp>
            <p:nvSpPr>
              <p:cNvPr id="8202" name="Freeform 42"/>
              <p:cNvSpPr>
                <a:spLocks noChangeAspect="1"/>
              </p:cNvSpPr>
              <p:nvPr/>
            </p:nvSpPr>
            <p:spPr>
              <a:xfrm>
                <a:off x="1725" y="2379"/>
                <a:ext cx="1045" cy="1515"/>
              </a:xfrm>
              <a:custGeom>
                <a:avLst/>
                <a:gdLst>
                  <a:gd name="txL" fmla="*/ 0 w 921"/>
                  <a:gd name="txT" fmla="*/ 0 h 1319"/>
                  <a:gd name="txR" fmla="*/ 921 w 921"/>
                  <a:gd name="txB" fmla="*/ 1319 h 1319"/>
                </a:gdLst>
                <a:ahLst/>
                <a:cxnLst>
                  <a:cxn ang="0">
                    <a:pos x="31661" y="63823"/>
                  </a:cxn>
                  <a:cxn ang="0">
                    <a:pos x="31661" y="0"/>
                  </a:cxn>
                  <a:cxn ang="0">
                    <a:pos x="0" y="0"/>
                  </a:cxn>
                  <a:cxn ang="0">
                    <a:pos x="0" y="63823"/>
                  </a:cxn>
                  <a:cxn ang="0">
                    <a:pos x="31661" y="63823"/>
                  </a:cxn>
                  <a:cxn ang="0">
                    <a:pos x="31661" y="63823"/>
                  </a:cxn>
                </a:cxnLst>
                <a:rect l="txL" t="txT" r="txR" b="txB"/>
                <a:pathLst>
                  <a:path w="921" h="1319">
                    <a:moveTo>
                      <a:pt x="921" y="1319"/>
                    </a:moveTo>
                    <a:lnTo>
                      <a:pt x="921" y="0"/>
                    </a:lnTo>
                    <a:lnTo>
                      <a:pt x="0" y="0"/>
                    </a:lnTo>
                    <a:lnTo>
                      <a:pt x="0" y="1319"/>
                    </a:lnTo>
                    <a:lnTo>
                      <a:pt x="921" y="1319"/>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03" name="Freeform 43"/>
              <p:cNvSpPr>
                <a:spLocks noChangeAspect="1"/>
              </p:cNvSpPr>
              <p:nvPr/>
            </p:nvSpPr>
            <p:spPr>
              <a:xfrm>
                <a:off x="2770" y="2379"/>
                <a:ext cx="1" cy="1515"/>
              </a:xfrm>
              <a:custGeom>
                <a:avLst/>
                <a:gdLst>
                  <a:gd name="txL" fmla="*/ 0 w 1"/>
                  <a:gd name="txT" fmla="*/ 0 h 1319"/>
                  <a:gd name="txR" fmla="*/ 1 w 1"/>
                  <a:gd name="txB" fmla="*/ 1319 h 1319"/>
                </a:gdLst>
                <a:ahLst/>
                <a:cxnLst>
                  <a:cxn ang="0">
                    <a:pos x="0" y="63823"/>
                  </a:cxn>
                  <a:cxn ang="0">
                    <a:pos x="0" y="0"/>
                  </a:cxn>
                  <a:cxn ang="0">
                    <a:pos x="0" y="63823"/>
                  </a:cxn>
                  <a:cxn ang="0">
                    <a:pos x="0" y="63823"/>
                  </a:cxn>
                </a:cxnLst>
                <a:rect l="txL" t="txT" r="txR" b="txB"/>
                <a:pathLst>
                  <a:path w="1" h="1319">
                    <a:moveTo>
                      <a:pt x="0" y="1319"/>
                    </a:moveTo>
                    <a:lnTo>
                      <a:pt x="0" y="0"/>
                    </a:lnTo>
                    <a:lnTo>
                      <a:pt x="0" y="131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04" name="Freeform 44"/>
              <p:cNvSpPr>
                <a:spLocks noChangeAspect="1" noEditPoints="1"/>
              </p:cNvSpPr>
              <p:nvPr/>
            </p:nvSpPr>
            <p:spPr>
              <a:xfrm>
                <a:off x="1725" y="2379"/>
                <a:ext cx="1045" cy="1"/>
              </a:xfrm>
              <a:custGeom>
                <a:avLst/>
                <a:gdLst>
                  <a:gd name="txL" fmla="*/ 0 w 921"/>
                  <a:gd name="txT" fmla="*/ 0 h 1"/>
                  <a:gd name="txR" fmla="*/ 921 w 921"/>
                  <a:gd name="txB" fmla="*/ 1 h 1"/>
                </a:gdLst>
                <a:ahLst/>
                <a:cxnLst>
                  <a:cxn ang="0">
                    <a:pos x="31661" y="0"/>
                  </a:cxn>
                  <a:cxn ang="0">
                    <a:pos x="0" y="0"/>
                  </a:cxn>
                  <a:cxn ang="0">
                    <a:pos x="31661" y="0"/>
                  </a:cxn>
                  <a:cxn ang="0">
                    <a:pos x="31661" y="0"/>
                  </a:cxn>
                  <a:cxn ang="0">
                    <a:pos x="31661" y="0"/>
                  </a:cxn>
                  <a:cxn ang="0">
                    <a:pos x="31661" y="0"/>
                  </a:cxn>
                  <a:cxn ang="0">
                    <a:pos x="31661" y="0"/>
                  </a:cxn>
                </a:cxnLst>
                <a:rect l="txL" t="txT" r="txR" b="txB"/>
                <a:pathLst>
                  <a:path w="921" h="1">
                    <a:moveTo>
                      <a:pt x="921" y="0"/>
                    </a:moveTo>
                    <a:lnTo>
                      <a:pt x="0" y="0"/>
                    </a:lnTo>
                    <a:lnTo>
                      <a:pt x="921" y="0"/>
                    </a:lnTo>
                    <a:close/>
                    <a:moveTo>
                      <a:pt x="921" y="0"/>
                    </a:moveTo>
                    <a:lnTo>
                      <a:pt x="921"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05" name="Freeform 45"/>
              <p:cNvSpPr>
                <a:spLocks noChangeAspect="1" noEditPoints="1"/>
              </p:cNvSpPr>
              <p:nvPr/>
            </p:nvSpPr>
            <p:spPr>
              <a:xfrm>
                <a:off x="1725" y="2379"/>
                <a:ext cx="1" cy="1515"/>
              </a:xfrm>
              <a:custGeom>
                <a:avLst/>
                <a:gdLst>
                  <a:gd name="txL" fmla="*/ 0 w 1"/>
                  <a:gd name="txT" fmla="*/ 0 h 1319"/>
                  <a:gd name="txR" fmla="*/ 1 w 1"/>
                  <a:gd name="txB" fmla="*/ 1319 h 1319"/>
                </a:gdLst>
                <a:ahLst/>
                <a:cxnLst>
                  <a:cxn ang="0">
                    <a:pos x="0" y="0"/>
                  </a:cxn>
                  <a:cxn ang="0">
                    <a:pos x="0" y="63823"/>
                  </a:cxn>
                  <a:cxn ang="0">
                    <a:pos x="0" y="0"/>
                  </a:cxn>
                  <a:cxn ang="0">
                    <a:pos x="0" y="0"/>
                  </a:cxn>
                  <a:cxn ang="0">
                    <a:pos x="0" y="0"/>
                  </a:cxn>
                  <a:cxn ang="0">
                    <a:pos x="0" y="0"/>
                  </a:cxn>
                  <a:cxn ang="0">
                    <a:pos x="0" y="0"/>
                  </a:cxn>
                </a:cxnLst>
                <a:rect l="txL" t="txT" r="txR" b="txB"/>
                <a:pathLst>
                  <a:path w="1" h="1319">
                    <a:moveTo>
                      <a:pt x="0" y="0"/>
                    </a:moveTo>
                    <a:lnTo>
                      <a:pt x="0" y="1319"/>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06" name="Freeform 46"/>
              <p:cNvSpPr>
                <a:spLocks noChangeAspect="1" noEditPoints="1"/>
              </p:cNvSpPr>
              <p:nvPr/>
            </p:nvSpPr>
            <p:spPr>
              <a:xfrm>
                <a:off x="1725" y="3894"/>
                <a:ext cx="1045" cy="2"/>
              </a:xfrm>
              <a:custGeom>
                <a:avLst/>
                <a:gdLst>
                  <a:gd name="txL" fmla="*/ 0 w 921"/>
                  <a:gd name="txT" fmla="*/ 0 h 2"/>
                  <a:gd name="txR" fmla="*/ 921 w 921"/>
                  <a:gd name="txB" fmla="*/ 2 h 2"/>
                </a:gdLst>
                <a:ahLst/>
                <a:cxnLst>
                  <a:cxn ang="0">
                    <a:pos x="0" y="0"/>
                  </a:cxn>
                  <a:cxn ang="0">
                    <a:pos x="31661" y="0"/>
                  </a:cxn>
                  <a:cxn ang="0">
                    <a:pos x="0" y="0"/>
                  </a:cxn>
                  <a:cxn ang="0">
                    <a:pos x="0" y="0"/>
                  </a:cxn>
                  <a:cxn ang="0">
                    <a:pos x="0" y="0"/>
                  </a:cxn>
                  <a:cxn ang="0">
                    <a:pos x="0" y="0"/>
                  </a:cxn>
                  <a:cxn ang="0">
                    <a:pos x="0" y="0"/>
                  </a:cxn>
                </a:cxnLst>
                <a:rect l="txL" t="txT" r="txR" b="txB"/>
                <a:pathLst>
                  <a:path w="921" h="2">
                    <a:moveTo>
                      <a:pt x="0" y="0"/>
                    </a:moveTo>
                    <a:lnTo>
                      <a:pt x="921" y="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07" name="Freeform 47"/>
              <p:cNvSpPr>
                <a:spLocks noChangeAspect="1"/>
              </p:cNvSpPr>
              <p:nvPr/>
            </p:nvSpPr>
            <p:spPr>
              <a:xfrm>
                <a:off x="2770" y="3894"/>
                <a:ext cx="1" cy="2"/>
              </a:xfrm>
              <a:custGeom>
                <a:avLst/>
                <a:gdLst>
                  <a:gd name="txL" fmla="*/ 0 w 1"/>
                  <a:gd name="txT" fmla="*/ 0 h 2"/>
                  <a:gd name="txR" fmla="*/ 1 w 1"/>
                  <a:gd name="txB" fmla="*/ 2 h 2"/>
                </a:gdLst>
                <a:ahLst/>
                <a:cxnLst>
                  <a:cxn ang="0">
                    <a:pos x="0" y="0"/>
                  </a:cxn>
                  <a:cxn ang="0">
                    <a:pos x="0" y="0"/>
                  </a:cxn>
                  <a:cxn ang="0">
                    <a:pos x="0" y="0"/>
                  </a:cxn>
                </a:cxnLst>
                <a:rect l="txL" t="txT" r="txR" b="txB"/>
                <a:pathLst>
                  <a:path w="1" h="2">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08" name="Freeform 48"/>
              <p:cNvSpPr>
                <a:spLocks noChangeAspect="1"/>
              </p:cNvSpPr>
              <p:nvPr/>
            </p:nvSpPr>
            <p:spPr>
              <a:xfrm>
                <a:off x="2770" y="3654"/>
                <a:ext cx="787" cy="1"/>
              </a:xfrm>
              <a:custGeom>
                <a:avLst/>
                <a:gdLst>
                  <a:gd name="txL" fmla="*/ 0 w 693"/>
                  <a:gd name="txT" fmla="*/ 0 h 1"/>
                  <a:gd name="txR" fmla="*/ 693 w 693"/>
                  <a:gd name="txB" fmla="*/ 1 h 1"/>
                </a:gdLst>
                <a:ahLst/>
                <a:cxnLst>
                  <a:cxn ang="0">
                    <a:pos x="0" y="0"/>
                  </a:cxn>
                  <a:cxn ang="0">
                    <a:pos x="24413" y="0"/>
                  </a:cxn>
                  <a:cxn ang="0">
                    <a:pos x="0" y="0"/>
                  </a:cxn>
                  <a:cxn ang="0">
                    <a:pos x="0" y="0"/>
                  </a:cxn>
                </a:cxnLst>
                <a:rect l="txL" t="txT" r="txR" b="txB"/>
                <a:pathLst>
                  <a:path w="693" h="1">
                    <a:moveTo>
                      <a:pt x="0" y="0"/>
                    </a:moveTo>
                    <a:lnTo>
                      <a:pt x="693"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09" name="Freeform 49"/>
              <p:cNvSpPr>
                <a:spLocks noChangeAspect="1" noEditPoints="1"/>
              </p:cNvSpPr>
              <p:nvPr/>
            </p:nvSpPr>
            <p:spPr>
              <a:xfrm>
                <a:off x="3557" y="3414"/>
                <a:ext cx="1" cy="240"/>
              </a:xfrm>
              <a:custGeom>
                <a:avLst/>
                <a:gdLst>
                  <a:gd name="txL" fmla="*/ 0 w 1"/>
                  <a:gd name="txT" fmla="*/ 0 h 209"/>
                  <a:gd name="txR" fmla="*/ 1 w 1"/>
                  <a:gd name="txB" fmla="*/ 209 h 209"/>
                </a:gdLst>
                <a:ahLst/>
                <a:cxnLst>
                  <a:cxn ang="0">
                    <a:pos x="0" y="10058"/>
                  </a:cxn>
                  <a:cxn ang="0">
                    <a:pos x="0" y="0"/>
                  </a:cxn>
                  <a:cxn ang="0">
                    <a:pos x="0" y="10058"/>
                  </a:cxn>
                  <a:cxn ang="0">
                    <a:pos x="0" y="10058"/>
                  </a:cxn>
                  <a:cxn ang="0">
                    <a:pos x="0" y="10058"/>
                  </a:cxn>
                  <a:cxn ang="0">
                    <a:pos x="0" y="10058"/>
                  </a:cxn>
                  <a:cxn ang="0">
                    <a:pos x="0" y="10058"/>
                  </a:cxn>
                </a:cxnLst>
                <a:rect l="txL" t="txT" r="txR" b="txB"/>
                <a:pathLst>
                  <a:path w="1" h="209">
                    <a:moveTo>
                      <a:pt x="0" y="209"/>
                    </a:moveTo>
                    <a:lnTo>
                      <a:pt x="0" y="0"/>
                    </a:lnTo>
                    <a:lnTo>
                      <a:pt x="0" y="209"/>
                    </a:lnTo>
                    <a:close/>
                    <a:moveTo>
                      <a:pt x="0" y="209"/>
                    </a:moveTo>
                    <a:lnTo>
                      <a:pt x="0" y="20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10" name="Freeform 50"/>
              <p:cNvSpPr>
                <a:spLocks noChangeAspect="1"/>
              </p:cNvSpPr>
              <p:nvPr/>
            </p:nvSpPr>
            <p:spPr>
              <a:xfrm>
                <a:off x="3557" y="2633"/>
                <a:ext cx="1" cy="322"/>
              </a:xfrm>
              <a:custGeom>
                <a:avLst/>
                <a:gdLst>
                  <a:gd name="txL" fmla="*/ 0 w 1"/>
                  <a:gd name="txT" fmla="*/ 0 h 280"/>
                  <a:gd name="txR" fmla="*/ 1 w 1"/>
                  <a:gd name="txB" fmla="*/ 280 h 280"/>
                </a:gdLst>
                <a:ahLst/>
                <a:cxnLst>
                  <a:cxn ang="0">
                    <a:pos x="0" y="14015"/>
                  </a:cxn>
                  <a:cxn ang="0">
                    <a:pos x="0" y="0"/>
                  </a:cxn>
                  <a:cxn ang="0">
                    <a:pos x="0" y="14015"/>
                  </a:cxn>
                  <a:cxn ang="0">
                    <a:pos x="0" y="14015"/>
                  </a:cxn>
                </a:cxnLst>
                <a:rect l="txL" t="txT" r="txR" b="txB"/>
                <a:pathLst>
                  <a:path w="1" h="280">
                    <a:moveTo>
                      <a:pt x="0" y="280"/>
                    </a:moveTo>
                    <a:lnTo>
                      <a:pt x="0" y="0"/>
                    </a:lnTo>
                    <a:lnTo>
                      <a:pt x="0" y="28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11" name="Freeform 51"/>
              <p:cNvSpPr>
                <a:spLocks noChangeAspect="1" noEditPoints="1"/>
              </p:cNvSpPr>
              <p:nvPr/>
            </p:nvSpPr>
            <p:spPr>
              <a:xfrm>
                <a:off x="2770" y="2633"/>
                <a:ext cx="787" cy="1"/>
              </a:xfrm>
              <a:custGeom>
                <a:avLst/>
                <a:gdLst>
                  <a:gd name="txL" fmla="*/ 0 w 693"/>
                  <a:gd name="txT" fmla="*/ 0 h 1"/>
                  <a:gd name="txR" fmla="*/ 693 w 693"/>
                  <a:gd name="txB" fmla="*/ 1 h 1"/>
                </a:gdLst>
                <a:ahLst/>
                <a:cxnLst>
                  <a:cxn ang="0">
                    <a:pos x="24413" y="0"/>
                  </a:cxn>
                  <a:cxn ang="0">
                    <a:pos x="0" y="0"/>
                  </a:cxn>
                  <a:cxn ang="0">
                    <a:pos x="24413" y="0"/>
                  </a:cxn>
                  <a:cxn ang="0">
                    <a:pos x="24413" y="0"/>
                  </a:cxn>
                  <a:cxn ang="0">
                    <a:pos x="24413" y="0"/>
                  </a:cxn>
                  <a:cxn ang="0">
                    <a:pos x="24413" y="0"/>
                  </a:cxn>
                  <a:cxn ang="0">
                    <a:pos x="24413" y="0"/>
                  </a:cxn>
                </a:cxnLst>
                <a:rect l="txL" t="txT" r="txR" b="txB"/>
                <a:pathLst>
                  <a:path w="693" h="1">
                    <a:moveTo>
                      <a:pt x="693" y="0"/>
                    </a:moveTo>
                    <a:lnTo>
                      <a:pt x="0" y="0"/>
                    </a:lnTo>
                    <a:lnTo>
                      <a:pt x="693" y="0"/>
                    </a:lnTo>
                    <a:close/>
                    <a:moveTo>
                      <a:pt x="693" y="0"/>
                    </a:moveTo>
                    <a:lnTo>
                      <a:pt x="693"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12" name="Freeform 52"/>
              <p:cNvSpPr>
                <a:spLocks noChangeAspect="1"/>
              </p:cNvSpPr>
              <p:nvPr/>
            </p:nvSpPr>
            <p:spPr>
              <a:xfrm>
                <a:off x="3123" y="2598"/>
                <a:ext cx="82" cy="68"/>
              </a:xfrm>
              <a:custGeom>
                <a:avLst/>
                <a:gdLst>
                  <a:gd name="txL" fmla="*/ 0 w 72"/>
                  <a:gd name="txT" fmla="*/ 0 h 59"/>
                  <a:gd name="txR" fmla="*/ 72 w 72"/>
                  <a:gd name="txB" fmla="*/ 59 h 59"/>
                </a:gdLst>
                <a:ahLst/>
                <a:cxnLst>
                  <a:cxn ang="0">
                    <a:pos x="1432" y="3123"/>
                  </a:cxn>
                  <a:cxn ang="0">
                    <a:pos x="2268" y="2811"/>
                  </a:cxn>
                  <a:cxn ang="0">
                    <a:pos x="2746" y="2148"/>
                  </a:cxn>
                  <a:cxn ang="0">
                    <a:pos x="2746" y="1593"/>
                  </a:cxn>
                  <a:cxn ang="0">
                    <a:pos x="2746" y="1003"/>
                  </a:cxn>
                  <a:cxn ang="0">
                    <a:pos x="2268" y="655"/>
                  </a:cxn>
                  <a:cxn ang="0">
                    <a:pos x="1859" y="322"/>
                  </a:cxn>
                  <a:cxn ang="0">
                    <a:pos x="1432" y="0"/>
                  </a:cxn>
                  <a:cxn ang="0">
                    <a:pos x="900" y="322"/>
                  </a:cxn>
                  <a:cxn ang="0">
                    <a:pos x="470" y="655"/>
                  </a:cxn>
                  <a:cxn ang="0">
                    <a:pos x="231" y="1003"/>
                  </a:cxn>
                  <a:cxn ang="0">
                    <a:pos x="0" y="1593"/>
                  </a:cxn>
                  <a:cxn ang="0">
                    <a:pos x="231" y="2148"/>
                  </a:cxn>
                  <a:cxn ang="0">
                    <a:pos x="470" y="2811"/>
                  </a:cxn>
                  <a:cxn ang="0">
                    <a:pos x="1432" y="3123"/>
                  </a:cxn>
                  <a:cxn ang="0">
                    <a:pos x="1432" y="3123"/>
                  </a:cxn>
                </a:cxnLst>
                <a:rect l="txL" t="txT" r="txR" b="txB"/>
                <a:pathLst>
                  <a:path w="72" h="59">
                    <a:moveTo>
                      <a:pt x="36" y="59"/>
                    </a:moveTo>
                    <a:lnTo>
                      <a:pt x="60" y="53"/>
                    </a:lnTo>
                    <a:lnTo>
                      <a:pt x="72" y="41"/>
                    </a:lnTo>
                    <a:lnTo>
                      <a:pt x="72" y="30"/>
                    </a:lnTo>
                    <a:lnTo>
                      <a:pt x="72" y="18"/>
                    </a:lnTo>
                    <a:lnTo>
                      <a:pt x="60" y="12"/>
                    </a:lnTo>
                    <a:lnTo>
                      <a:pt x="48" y="6"/>
                    </a:lnTo>
                    <a:lnTo>
                      <a:pt x="36" y="0"/>
                    </a:lnTo>
                    <a:lnTo>
                      <a:pt x="24" y="6"/>
                    </a:lnTo>
                    <a:lnTo>
                      <a:pt x="12" y="12"/>
                    </a:lnTo>
                    <a:lnTo>
                      <a:pt x="6" y="18"/>
                    </a:lnTo>
                    <a:lnTo>
                      <a:pt x="0" y="30"/>
                    </a:lnTo>
                    <a:lnTo>
                      <a:pt x="6" y="41"/>
                    </a:lnTo>
                    <a:lnTo>
                      <a:pt x="12" y="53"/>
                    </a:lnTo>
                    <a:lnTo>
                      <a:pt x="36" y="59"/>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13" name="Freeform 53"/>
              <p:cNvSpPr>
                <a:spLocks noChangeAspect="1"/>
              </p:cNvSpPr>
              <p:nvPr/>
            </p:nvSpPr>
            <p:spPr>
              <a:xfrm>
                <a:off x="3164" y="2633"/>
                <a:ext cx="41" cy="33"/>
              </a:xfrm>
              <a:custGeom>
                <a:avLst/>
                <a:gdLst>
                  <a:gd name="txL" fmla="*/ 0 w 36"/>
                  <a:gd name="txT" fmla="*/ 0 h 29"/>
                  <a:gd name="txR" fmla="*/ 36 w 36"/>
                  <a:gd name="txB" fmla="*/ 29 h 29"/>
                </a:gdLst>
                <a:ahLst/>
                <a:cxnLst>
                  <a:cxn ang="0">
                    <a:pos x="0" y="1098"/>
                  </a:cxn>
                  <a:cxn ang="0">
                    <a:pos x="900" y="861"/>
                  </a:cxn>
                  <a:cxn ang="0">
                    <a:pos x="1432" y="414"/>
                  </a:cxn>
                  <a:cxn ang="0">
                    <a:pos x="1432" y="0"/>
                  </a:cxn>
                  <a:cxn ang="0">
                    <a:pos x="1432" y="0"/>
                  </a:cxn>
                  <a:cxn ang="0">
                    <a:pos x="1432" y="414"/>
                  </a:cxn>
                  <a:cxn ang="0">
                    <a:pos x="900" y="861"/>
                  </a:cxn>
                  <a:cxn ang="0">
                    <a:pos x="0" y="1098"/>
                  </a:cxn>
                  <a:cxn ang="0">
                    <a:pos x="0" y="1098"/>
                  </a:cxn>
                </a:cxnLst>
                <a:rect l="txL" t="txT" r="txR" b="txB"/>
                <a:pathLst>
                  <a:path w="36" h="29">
                    <a:moveTo>
                      <a:pt x="0" y="29"/>
                    </a:moveTo>
                    <a:lnTo>
                      <a:pt x="24" y="23"/>
                    </a:lnTo>
                    <a:lnTo>
                      <a:pt x="36" y="11"/>
                    </a:lnTo>
                    <a:lnTo>
                      <a:pt x="36" y="0"/>
                    </a:lnTo>
                    <a:lnTo>
                      <a:pt x="36" y="11"/>
                    </a:lnTo>
                    <a:lnTo>
                      <a:pt x="24" y="23"/>
                    </a:lnTo>
                    <a:lnTo>
                      <a:pt x="0" y="2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14" name="Freeform 54"/>
              <p:cNvSpPr>
                <a:spLocks noChangeAspect="1" noEditPoints="1"/>
              </p:cNvSpPr>
              <p:nvPr/>
            </p:nvSpPr>
            <p:spPr>
              <a:xfrm>
                <a:off x="3164" y="2598"/>
                <a:ext cx="41" cy="35"/>
              </a:xfrm>
              <a:custGeom>
                <a:avLst/>
                <a:gdLst>
                  <a:gd name="txL" fmla="*/ 0 w 36"/>
                  <a:gd name="txT" fmla="*/ 0 h 30"/>
                  <a:gd name="txR" fmla="*/ 36 w 36"/>
                  <a:gd name="txB" fmla="*/ 30 h 30"/>
                </a:gdLst>
                <a:ahLst/>
                <a:cxnLst>
                  <a:cxn ang="0">
                    <a:pos x="1432" y="2280"/>
                  </a:cxn>
                  <a:cxn ang="0">
                    <a:pos x="1432" y="1412"/>
                  </a:cxn>
                  <a:cxn ang="0">
                    <a:pos x="900" y="904"/>
                  </a:cxn>
                  <a:cxn ang="0">
                    <a:pos x="470" y="480"/>
                  </a:cxn>
                  <a:cxn ang="0">
                    <a:pos x="0" y="0"/>
                  </a:cxn>
                  <a:cxn ang="0">
                    <a:pos x="0" y="0"/>
                  </a:cxn>
                  <a:cxn ang="0">
                    <a:pos x="470" y="480"/>
                  </a:cxn>
                  <a:cxn ang="0">
                    <a:pos x="900" y="904"/>
                  </a:cxn>
                  <a:cxn ang="0">
                    <a:pos x="1432" y="1412"/>
                  </a:cxn>
                  <a:cxn ang="0">
                    <a:pos x="1432" y="2280"/>
                  </a:cxn>
                  <a:cxn ang="0">
                    <a:pos x="1432" y="2280"/>
                  </a:cxn>
                  <a:cxn ang="0">
                    <a:pos x="1432" y="2280"/>
                  </a:cxn>
                  <a:cxn ang="0">
                    <a:pos x="1432" y="2280"/>
                  </a:cxn>
                  <a:cxn ang="0">
                    <a:pos x="1432" y="2280"/>
                  </a:cxn>
                </a:cxnLst>
                <a:rect l="txL" t="txT" r="txR" b="txB"/>
                <a:pathLst>
                  <a:path w="36" h="30">
                    <a:moveTo>
                      <a:pt x="36" y="30"/>
                    </a:moveTo>
                    <a:lnTo>
                      <a:pt x="36" y="18"/>
                    </a:lnTo>
                    <a:lnTo>
                      <a:pt x="24" y="12"/>
                    </a:lnTo>
                    <a:lnTo>
                      <a:pt x="12" y="6"/>
                    </a:lnTo>
                    <a:lnTo>
                      <a:pt x="0" y="0"/>
                    </a:lnTo>
                    <a:lnTo>
                      <a:pt x="12" y="6"/>
                    </a:lnTo>
                    <a:lnTo>
                      <a:pt x="24" y="12"/>
                    </a:lnTo>
                    <a:lnTo>
                      <a:pt x="36" y="18"/>
                    </a:lnTo>
                    <a:lnTo>
                      <a:pt x="36" y="30"/>
                    </a:lnTo>
                    <a:close/>
                    <a:moveTo>
                      <a:pt x="36" y="30"/>
                    </a:moveTo>
                    <a:lnTo>
                      <a:pt x="36"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15" name="Freeform 55"/>
              <p:cNvSpPr>
                <a:spLocks noChangeAspect="1" noEditPoints="1"/>
              </p:cNvSpPr>
              <p:nvPr/>
            </p:nvSpPr>
            <p:spPr>
              <a:xfrm>
                <a:off x="3123" y="2598"/>
                <a:ext cx="41" cy="35"/>
              </a:xfrm>
              <a:custGeom>
                <a:avLst/>
                <a:gdLst>
                  <a:gd name="txL" fmla="*/ 0 w 36"/>
                  <a:gd name="txT" fmla="*/ 0 h 30"/>
                  <a:gd name="txR" fmla="*/ 36 w 36"/>
                  <a:gd name="txB" fmla="*/ 30 h 30"/>
                </a:gdLst>
                <a:ahLst/>
                <a:cxnLst>
                  <a:cxn ang="0">
                    <a:pos x="1432" y="0"/>
                  </a:cxn>
                  <a:cxn ang="0">
                    <a:pos x="900" y="480"/>
                  </a:cxn>
                  <a:cxn ang="0">
                    <a:pos x="470" y="904"/>
                  </a:cxn>
                  <a:cxn ang="0">
                    <a:pos x="231" y="1412"/>
                  </a:cxn>
                  <a:cxn ang="0">
                    <a:pos x="0" y="2280"/>
                  </a:cxn>
                  <a:cxn ang="0">
                    <a:pos x="0" y="2280"/>
                  </a:cxn>
                  <a:cxn ang="0">
                    <a:pos x="231" y="1412"/>
                  </a:cxn>
                  <a:cxn ang="0">
                    <a:pos x="470" y="904"/>
                  </a:cxn>
                  <a:cxn ang="0">
                    <a:pos x="900" y="480"/>
                  </a:cxn>
                  <a:cxn ang="0">
                    <a:pos x="1432" y="0"/>
                  </a:cxn>
                  <a:cxn ang="0">
                    <a:pos x="1432" y="0"/>
                  </a:cxn>
                  <a:cxn ang="0">
                    <a:pos x="1432" y="0"/>
                  </a:cxn>
                  <a:cxn ang="0">
                    <a:pos x="1432" y="0"/>
                  </a:cxn>
                  <a:cxn ang="0">
                    <a:pos x="1432" y="0"/>
                  </a:cxn>
                </a:cxnLst>
                <a:rect l="txL" t="txT" r="txR" b="txB"/>
                <a:pathLst>
                  <a:path w="36" h="30">
                    <a:moveTo>
                      <a:pt x="36" y="0"/>
                    </a:moveTo>
                    <a:lnTo>
                      <a:pt x="24" y="6"/>
                    </a:lnTo>
                    <a:lnTo>
                      <a:pt x="12" y="12"/>
                    </a:lnTo>
                    <a:lnTo>
                      <a:pt x="6" y="18"/>
                    </a:lnTo>
                    <a:lnTo>
                      <a:pt x="0" y="30"/>
                    </a:lnTo>
                    <a:lnTo>
                      <a:pt x="6" y="18"/>
                    </a:lnTo>
                    <a:lnTo>
                      <a:pt x="12" y="12"/>
                    </a:lnTo>
                    <a:lnTo>
                      <a:pt x="24" y="6"/>
                    </a:lnTo>
                    <a:lnTo>
                      <a:pt x="36" y="0"/>
                    </a:lnTo>
                    <a:close/>
                    <a:moveTo>
                      <a:pt x="36" y="0"/>
                    </a:moveTo>
                    <a:lnTo>
                      <a:pt x="3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16" name="Freeform 56"/>
              <p:cNvSpPr>
                <a:spLocks noChangeAspect="1" noEditPoints="1"/>
              </p:cNvSpPr>
              <p:nvPr/>
            </p:nvSpPr>
            <p:spPr>
              <a:xfrm>
                <a:off x="3123" y="2633"/>
                <a:ext cx="41" cy="33"/>
              </a:xfrm>
              <a:custGeom>
                <a:avLst/>
                <a:gdLst>
                  <a:gd name="txL" fmla="*/ 0 w 36"/>
                  <a:gd name="txT" fmla="*/ 0 h 29"/>
                  <a:gd name="txR" fmla="*/ 36 w 36"/>
                  <a:gd name="txB" fmla="*/ 29 h 29"/>
                </a:gdLst>
                <a:ahLst/>
                <a:cxnLst>
                  <a:cxn ang="0">
                    <a:pos x="0" y="0"/>
                  </a:cxn>
                  <a:cxn ang="0">
                    <a:pos x="231" y="414"/>
                  </a:cxn>
                  <a:cxn ang="0">
                    <a:pos x="470" y="861"/>
                  </a:cxn>
                  <a:cxn ang="0">
                    <a:pos x="1432" y="1098"/>
                  </a:cxn>
                  <a:cxn ang="0">
                    <a:pos x="1432" y="1098"/>
                  </a:cxn>
                  <a:cxn ang="0">
                    <a:pos x="470" y="861"/>
                  </a:cxn>
                  <a:cxn ang="0">
                    <a:pos x="231" y="414"/>
                  </a:cxn>
                  <a:cxn ang="0">
                    <a:pos x="0" y="0"/>
                  </a:cxn>
                  <a:cxn ang="0">
                    <a:pos x="0" y="0"/>
                  </a:cxn>
                  <a:cxn ang="0">
                    <a:pos x="0" y="0"/>
                  </a:cxn>
                  <a:cxn ang="0">
                    <a:pos x="0" y="0"/>
                  </a:cxn>
                  <a:cxn ang="0">
                    <a:pos x="0" y="0"/>
                  </a:cxn>
                </a:cxnLst>
                <a:rect l="txL" t="txT" r="txR" b="txB"/>
                <a:pathLst>
                  <a:path w="36" h="29">
                    <a:moveTo>
                      <a:pt x="0" y="0"/>
                    </a:moveTo>
                    <a:lnTo>
                      <a:pt x="6" y="11"/>
                    </a:lnTo>
                    <a:lnTo>
                      <a:pt x="12" y="23"/>
                    </a:lnTo>
                    <a:lnTo>
                      <a:pt x="36" y="29"/>
                    </a:lnTo>
                    <a:lnTo>
                      <a:pt x="12" y="23"/>
                    </a:lnTo>
                    <a:lnTo>
                      <a:pt x="6" y="11"/>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17" name="Freeform 57"/>
              <p:cNvSpPr>
                <a:spLocks noChangeAspect="1"/>
              </p:cNvSpPr>
              <p:nvPr/>
            </p:nvSpPr>
            <p:spPr>
              <a:xfrm>
                <a:off x="3164" y="2666"/>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18" name="Freeform 58"/>
              <p:cNvSpPr>
                <a:spLocks noChangeAspect="1"/>
              </p:cNvSpPr>
              <p:nvPr/>
            </p:nvSpPr>
            <p:spPr>
              <a:xfrm>
                <a:off x="3517" y="2961"/>
                <a:ext cx="80" cy="69"/>
              </a:xfrm>
              <a:custGeom>
                <a:avLst/>
                <a:gdLst>
                  <a:gd name="txL" fmla="*/ 0 w 71"/>
                  <a:gd name="txT" fmla="*/ 0 h 60"/>
                  <a:gd name="txR" fmla="*/ 71 w 71"/>
                  <a:gd name="txB" fmla="*/ 60 h 60"/>
                </a:gdLst>
                <a:ahLst/>
                <a:cxnLst>
                  <a:cxn ang="0">
                    <a:pos x="969" y="3021"/>
                  </a:cxn>
                  <a:cxn ang="0">
                    <a:pos x="1643" y="2697"/>
                  </a:cxn>
                  <a:cxn ang="0">
                    <a:pos x="1983" y="2056"/>
                  </a:cxn>
                  <a:cxn ang="0">
                    <a:pos x="1983" y="1511"/>
                  </a:cxn>
                  <a:cxn ang="0">
                    <a:pos x="1983" y="923"/>
                  </a:cxn>
                  <a:cxn ang="0">
                    <a:pos x="1643" y="302"/>
                  </a:cxn>
                  <a:cxn ang="0">
                    <a:pos x="969" y="0"/>
                  </a:cxn>
                  <a:cxn ang="0">
                    <a:pos x="364" y="302"/>
                  </a:cxn>
                  <a:cxn ang="0">
                    <a:pos x="178" y="923"/>
                  </a:cxn>
                  <a:cxn ang="0">
                    <a:pos x="0" y="1511"/>
                  </a:cxn>
                  <a:cxn ang="0">
                    <a:pos x="178" y="2056"/>
                  </a:cxn>
                  <a:cxn ang="0">
                    <a:pos x="364" y="2697"/>
                  </a:cxn>
                  <a:cxn ang="0">
                    <a:pos x="969" y="3021"/>
                  </a:cxn>
                  <a:cxn ang="0">
                    <a:pos x="969" y="3021"/>
                  </a:cxn>
                </a:cxnLst>
                <a:rect l="txL" t="txT" r="txR" b="txB"/>
                <a:pathLst>
                  <a:path w="71" h="60">
                    <a:moveTo>
                      <a:pt x="35" y="60"/>
                    </a:moveTo>
                    <a:lnTo>
                      <a:pt x="59" y="54"/>
                    </a:lnTo>
                    <a:lnTo>
                      <a:pt x="71" y="42"/>
                    </a:lnTo>
                    <a:lnTo>
                      <a:pt x="71" y="30"/>
                    </a:lnTo>
                    <a:lnTo>
                      <a:pt x="71" y="18"/>
                    </a:lnTo>
                    <a:lnTo>
                      <a:pt x="59" y="6"/>
                    </a:lnTo>
                    <a:lnTo>
                      <a:pt x="35" y="0"/>
                    </a:lnTo>
                    <a:lnTo>
                      <a:pt x="12" y="6"/>
                    </a:lnTo>
                    <a:lnTo>
                      <a:pt x="6" y="18"/>
                    </a:lnTo>
                    <a:lnTo>
                      <a:pt x="0" y="30"/>
                    </a:lnTo>
                    <a:lnTo>
                      <a:pt x="6" y="42"/>
                    </a:lnTo>
                    <a:lnTo>
                      <a:pt x="12" y="54"/>
                    </a:lnTo>
                    <a:lnTo>
                      <a:pt x="35" y="60"/>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19" name="Freeform 59"/>
              <p:cNvSpPr>
                <a:spLocks noChangeAspect="1"/>
              </p:cNvSpPr>
              <p:nvPr/>
            </p:nvSpPr>
            <p:spPr>
              <a:xfrm>
                <a:off x="3557" y="2996"/>
                <a:ext cx="40" cy="34"/>
              </a:xfrm>
              <a:custGeom>
                <a:avLst/>
                <a:gdLst>
                  <a:gd name="txL" fmla="*/ 0 w 36"/>
                  <a:gd name="txT" fmla="*/ 0 h 30"/>
                  <a:gd name="txR" fmla="*/ 36 w 36"/>
                  <a:gd name="txB" fmla="*/ 30 h 30"/>
                </a:gdLst>
                <a:ahLst/>
                <a:cxnLst>
                  <a:cxn ang="0">
                    <a:pos x="0" y="1022"/>
                  </a:cxn>
                  <a:cxn ang="0">
                    <a:pos x="469" y="811"/>
                  </a:cxn>
                  <a:cxn ang="0">
                    <a:pos x="670" y="394"/>
                  </a:cxn>
                  <a:cxn ang="0">
                    <a:pos x="670" y="0"/>
                  </a:cxn>
                  <a:cxn ang="0">
                    <a:pos x="670" y="0"/>
                  </a:cxn>
                  <a:cxn ang="0">
                    <a:pos x="670" y="394"/>
                  </a:cxn>
                  <a:cxn ang="0">
                    <a:pos x="469" y="811"/>
                  </a:cxn>
                  <a:cxn ang="0">
                    <a:pos x="0" y="1022"/>
                  </a:cxn>
                  <a:cxn ang="0">
                    <a:pos x="0" y="1022"/>
                  </a:cxn>
                </a:cxnLst>
                <a:rect l="txL" t="txT" r="txR" b="txB"/>
                <a:pathLst>
                  <a:path w="36" h="30">
                    <a:moveTo>
                      <a:pt x="0" y="30"/>
                    </a:moveTo>
                    <a:lnTo>
                      <a:pt x="24" y="24"/>
                    </a:lnTo>
                    <a:lnTo>
                      <a:pt x="36" y="12"/>
                    </a:lnTo>
                    <a:lnTo>
                      <a:pt x="36" y="0"/>
                    </a:lnTo>
                    <a:lnTo>
                      <a:pt x="36" y="12"/>
                    </a:lnTo>
                    <a:lnTo>
                      <a:pt x="24" y="24"/>
                    </a:lnTo>
                    <a:lnTo>
                      <a:pt x="0"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20" name="Freeform 60"/>
              <p:cNvSpPr>
                <a:spLocks noChangeAspect="1" noEditPoints="1"/>
              </p:cNvSpPr>
              <p:nvPr/>
            </p:nvSpPr>
            <p:spPr>
              <a:xfrm>
                <a:off x="3557" y="2961"/>
                <a:ext cx="40" cy="35"/>
              </a:xfrm>
              <a:custGeom>
                <a:avLst/>
                <a:gdLst>
                  <a:gd name="txL" fmla="*/ 0 w 36"/>
                  <a:gd name="txT" fmla="*/ 0 h 30"/>
                  <a:gd name="txR" fmla="*/ 36 w 36"/>
                  <a:gd name="txB" fmla="*/ 30 h 30"/>
                </a:gdLst>
                <a:ahLst/>
                <a:cxnLst>
                  <a:cxn ang="0">
                    <a:pos x="670" y="2280"/>
                  </a:cxn>
                  <a:cxn ang="0">
                    <a:pos x="670" y="1412"/>
                  </a:cxn>
                  <a:cxn ang="0">
                    <a:pos x="469" y="480"/>
                  </a:cxn>
                  <a:cxn ang="0">
                    <a:pos x="0" y="0"/>
                  </a:cxn>
                  <a:cxn ang="0">
                    <a:pos x="0" y="0"/>
                  </a:cxn>
                  <a:cxn ang="0">
                    <a:pos x="469" y="480"/>
                  </a:cxn>
                  <a:cxn ang="0">
                    <a:pos x="670" y="1412"/>
                  </a:cxn>
                  <a:cxn ang="0">
                    <a:pos x="670" y="2280"/>
                  </a:cxn>
                  <a:cxn ang="0">
                    <a:pos x="670" y="2280"/>
                  </a:cxn>
                  <a:cxn ang="0">
                    <a:pos x="670" y="2280"/>
                  </a:cxn>
                  <a:cxn ang="0">
                    <a:pos x="670" y="2280"/>
                  </a:cxn>
                  <a:cxn ang="0">
                    <a:pos x="670" y="2280"/>
                  </a:cxn>
                </a:cxnLst>
                <a:rect l="txL" t="txT" r="txR" b="txB"/>
                <a:pathLst>
                  <a:path w="36" h="30">
                    <a:moveTo>
                      <a:pt x="36" y="30"/>
                    </a:moveTo>
                    <a:lnTo>
                      <a:pt x="36" y="18"/>
                    </a:lnTo>
                    <a:lnTo>
                      <a:pt x="24" y="6"/>
                    </a:lnTo>
                    <a:lnTo>
                      <a:pt x="0" y="0"/>
                    </a:lnTo>
                    <a:lnTo>
                      <a:pt x="24" y="6"/>
                    </a:lnTo>
                    <a:lnTo>
                      <a:pt x="36" y="18"/>
                    </a:lnTo>
                    <a:lnTo>
                      <a:pt x="36" y="30"/>
                    </a:lnTo>
                    <a:close/>
                    <a:moveTo>
                      <a:pt x="36" y="30"/>
                    </a:moveTo>
                    <a:lnTo>
                      <a:pt x="36"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21" name="Freeform 61"/>
              <p:cNvSpPr>
                <a:spLocks noChangeAspect="1" noEditPoints="1"/>
              </p:cNvSpPr>
              <p:nvPr/>
            </p:nvSpPr>
            <p:spPr>
              <a:xfrm>
                <a:off x="3517" y="2961"/>
                <a:ext cx="40" cy="35"/>
              </a:xfrm>
              <a:custGeom>
                <a:avLst/>
                <a:gdLst>
                  <a:gd name="txL" fmla="*/ 0 w 35"/>
                  <a:gd name="txT" fmla="*/ 0 h 30"/>
                  <a:gd name="txR" fmla="*/ 35 w 35"/>
                  <a:gd name="txB" fmla="*/ 30 h 30"/>
                </a:gdLst>
                <a:ahLst/>
                <a:cxnLst>
                  <a:cxn ang="0">
                    <a:pos x="1496" y="0"/>
                  </a:cxn>
                  <a:cxn ang="0">
                    <a:pos x="514" y="480"/>
                  </a:cxn>
                  <a:cxn ang="0">
                    <a:pos x="243" y="1412"/>
                  </a:cxn>
                  <a:cxn ang="0">
                    <a:pos x="0" y="2280"/>
                  </a:cxn>
                  <a:cxn ang="0">
                    <a:pos x="0" y="2280"/>
                  </a:cxn>
                  <a:cxn ang="0">
                    <a:pos x="243" y="1412"/>
                  </a:cxn>
                  <a:cxn ang="0">
                    <a:pos x="514" y="480"/>
                  </a:cxn>
                  <a:cxn ang="0">
                    <a:pos x="1496" y="0"/>
                  </a:cxn>
                  <a:cxn ang="0">
                    <a:pos x="1496" y="0"/>
                  </a:cxn>
                  <a:cxn ang="0">
                    <a:pos x="1496" y="0"/>
                  </a:cxn>
                  <a:cxn ang="0">
                    <a:pos x="1496" y="0"/>
                  </a:cxn>
                  <a:cxn ang="0">
                    <a:pos x="1496" y="0"/>
                  </a:cxn>
                </a:cxnLst>
                <a:rect l="txL" t="txT" r="txR" b="txB"/>
                <a:pathLst>
                  <a:path w="35" h="30">
                    <a:moveTo>
                      <a:pt x="35" y="0"/>
                    </a:moveTo>
                    <a:lnTo>
                      <a:pt x="12" y="6"/>
                    </a:lnTo>
                    <a:lnTo>
                      <a:pt x="6" y="18"/>
                    </a:lnTo>
                    <a:lnTo>
                      <a:pt x="0" y="30"/>
                    </a:lnTo>
                    <a:lnTo>
                      <a:pt x="6" y="18"/>
                    </a:lnTo>
                    <a:lnTo>
                      <a:pt x="12" y="6"/>
                    </a:lnTo>
                    <a:lnTo>
                      <a:pt x="35" y="0"/>
                    </a:lnTo>
                    <a:close/>
                    <a:moveTo>
                      <a:pt x="35" y="0"/>
                    </a:moveTo>
                    <a:lnTo>
                      <a:pt x="35"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22" name="Freeform 62"/>
              <p:cNvSpPr>
                <a:spLocks noChangeAspect="1" noEditPoints="1"/>
              </p:cNvSpPr>
              <p:nvPr/>
            </p:nvSpPr>
            <p:spPr>
              <a:xfrm>
                <a:off x="3517" y="2996"/>
                <a:ext cx="40" cy="34"/>
              </a:xfrm>
              <a:custGeom>
                <a:avLst/>
                <a:gdLst>
                  <a:gd name="txL" fmla="*/ 0 w 35"/>
                  <a:gd name="txT" fmla="*/ 0 h 30"/>
                  <a:gd name="txR" fmla="*/ 35 w 35"/>
                  <a:gd name="txB" fmla="*/ 30 h 30"/>
                </a:gdLst>
                <a:ahLst/>
                <a:cxnLst>
                  <a:cxn ang="0">
                    <a:pos x="0" y="0"/>
                  </a:cxn>
                  <a:cxn ang="0">
                    <a:pos x="243" y="394"/>
                  </a:cxn>
                  <a:cxn ang="0">
                    <a:pos x="514" y="811"/>
                  </a:cxn>
                  <a:cxn ang="0">
                    <a:pos x="1496" y="1022"/>
                  </a:cxn>
                  <a:cxn ang="0">
                    <a:pos x="1496" y="1022"/>
                  </a:cxn>
                  <a:cxn ang="0">
                    <a:pos x="514" y="811"/>
                  </a:cxn>
                  <a:cxn ang="0">
                    <a:pos x="243" y="394"/>
                  </a:cxn>
                  <a:cxn ang="0">
                    <a:pos x="0" y="0"/>
                  </a:cxn>
                  <a:cxn ang="0">
                    <a:pos x="0" y="0"/>
                  </a:cxn>
                  <a:cxn ang="0">
                    <a:pos x="0" y="0"/>
                  </a:cxn>
                  <a:cxn ang="0">
                    <a:pos x="0" y="0"/>
                  </a:cxn>
                  <a:cxn ang="0">
                    <a:pos x="0" y="0"/>
                  </a:cxn>
                </a:cxnLst>
                <a:rect l="txL" t="txT" r="txR" b="txB"/>
                <a:pathLst>
                  <a:path w="35" h="30">
                    <a:moveTo>
                      <a:pt x="0" y="0"/>
                    </a:moveTo>
                    <a:lnTo>
                      <a:pt x="6" y="12"/>
                    </a:lnTo>
                    <a:lnTo>
                      <a:pt x="12" y="24"/>
                    </a:lnTo>
                    <a:lnTo>
                      <a:pt x="35" y="30"/>
                    </a:lnTo>
                    <a:lnTo>
                      <a:pt x="12" y="24"/>
                    </a:lnTo>
                    <a:lnTo>
                      <a:pt x="6" y="12"/>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23" name="Freeform 63"/>
              <p:cNvSpPr>
                <a:spLocks noChangeAspect="1"/>
              </p:cNvSpPr>
              <p:nvPr/>
            </p:nvSpPr>
            <p:spPr>
              <a:xfrm>
                <a:off x="3557" y="3030"/>
                <a:ext cx="1" cy="2"/>
              </a:xfrm>
              <a:custGeom>
                <a:avLst/>
                <a:gdLst>
                  <a:gd name="txL" fmla="*/ 0 w 1"/>
                  <a:gd name="txT" fmla="*/ 0 h 2"/>
                  <a:gd name="txR" fmla="*/ 1 w 1"/>
                  <a:gd name="txB" fmla="*/ 2 h 2"/>
                </a:gdLst>
                <a:ahLst/>
                <a:cxnLst>
                  <a:cxn ang="0">
                    <a:pos x="0" y="0"/>
                  </a:cxn>
                  <a:cxn ang="0">
                    <a:pos x="0" y="0"/>
                  </a:cxn>
                  <a:cxn ang="0">
                    <a:pos x="0" y="0"/>
                  </a:cxn>
                </a:cxnLst>
                <a:rect l="txL" t="txT" r="txR" b="txB"/>
                <a:pathLst>
                  <a:path w="1" h="2">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24" name="Freeform 64"/>
              <p:cNvSpPr>
                <a:spLocks noChangeAspect="1"/>
              </p:cNvSpPr>
              <p:nvPr/>
            </p:nvSpPr>
            <p:spPr>
              <a:xfrm>
                <a:off x="3517" y="3346"/>
                <a:ext cx="80" cy="68"/>
              </a:xfrm>
              <a:custGeom>
                <a:avLst/>
                <a:gdLst>
                  <a:gd name="txL" fmla="*/ 0 w 71"/>
                  <a:gd name="txT" fmla="*/ 0 h 59"/>
                  <a:gd name="txR" fmla="*/ 71 w 71"/>
                  <a:gd name="txB" fmla="*/ 59 h 59"/>
                </a:gdLst>
                <a:ahLst/>
                <a:cxnLst>
                  <a:cxn ang="0">
                    <a:pos x="969" y="3123"/>
                  </a:cxn>
                  <a:cxn ang="0">
                    <a:pos x="1643" y="2811"/>
                  </a:cxn>
                  <a:cxn ang="0">
                    <a:pos x="1983" y="2148"/>
                  </a:cxn>
                  <a:cxn ang="0">
                    <a:pos x="1983" y="1536"/>
                  </a:cxn>
                  <a:cxn ang="0">
                    <a:pos x="1983" y="916"/>
                  </a:cxn>
                  <a:cxn ang="0">
                    <a:pos x="1643" y="599"/>
                  </a:cxn>
                  <a:cxn ang="0">
                    <a:pos x="1352" y="279"/>
                  </a:cxn>
                  <a:cxn ang="0">
                    <a:pos x="969" y="0"/>
                  </a:cxn>
                  <a:cxn ang="0">
                    <a:pos x="661" y="279"/>
                  </a:cxn>
                  <a:cxn ang="0">
                    <a:pos x="364" y="599"/>
                  </a:cxn>
                  <a:cxn ang="0">
                    <a:pos x="178" y="916"/>
                  </a:cxn>
                  <a:cxn ang="0">
                    <a:pos x="0" y="1536"/>
                  </a:cxn>
                  <a:cxn ang="0">
                    <a:pos x="178" y="2148"/>
                  </a:cxn>
                  <a:cxn ang="0">
                    <a:pos x="364" y="2811"/>
                  </a:cxn>
                  <a:cxn ang="0">
                    <a:pos x="969" y="3123"/>
                  </a:cxn>
                  <a:cxn ang="0">
                    <a:pos x="969" y="3123"/>
                  </a:cxn>
                </a:cxnLst>
                <a:rect l="txL" t="txT" r="txR" b="txB"/>
                <a:pathLst>
                  <a:path w="71" h="59">
                    <a:moveTo>
                      <a:pt x="35" y="59"/>
                    </a:moveTo>
                    <a:lnTo>
                      <a:pt x="59" y="53"/>
                    </a:lnTo>
                    <a:lnTo>
                      <a:pt x="71" y="41"/>
                    </a:lnTo>
                    <a:lnTo>
                      <a:pt x="71" y="29"/>
                    </a:lnTo>
                    <a:lnTo>
                      <a:pt x="71" y="17"/>
                    </a:lnTo>
                    <a:lnTo>
                      <a:pt x="59" y="11"/>
                    </a:lnTo>
                    <a:lnTo>
                      <a:pt x="47" y="5"/>
                    </a:lnTo>
                    <a:lnTo>
                      <a:pt x="35" y="0"/>
                    </a:lnTo>
                    <a:lnTo>
                      <a:pt x="23" y="5"/>
                    </a:lnTo>
                    <a:lnTo>
                      <a:pt x="12" y="11"/>
                    </a:lnTo>
                    <a:lnTo>
                      <a:pt x="6" y="17"/>
                    </a:lnTo>
                    <a:lnTo>
                      <a:pt x="0" y="29"/>
                    </a:lnTo>
                    <a:lnTo>
                      <a:pt x="6" y="41"/>
                    </a:lnTo>
                    <a:lnTo>
                      <a:pt x="12" y="53"/>
                    </a:lnTo>
                    <a:lnTo>
                      <a:pt x="35" y="59"/>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25" name="Freeform 65"/>
              <p:cNvSpPr>
                <a:spLocks noChangeAspect="1"/>
              </p:cNvSpPr>
              <p:nvPr/>
            </p:nvSpPr>
            <p:spPr>
              <a:xfrm>
                <a:off x="3557" y="3380"/>
                <a:ext cx="40" cy="41"/>
              </a:xfrm>
              <a:custGeom>
                <a:avLst/>
                <a:gdLst>
                  <a:gd name="txL" fmla="*/ 0 w 36"/>
                  <a:gd name="txT" fmla="*/ 0 h 36"/>
                  <a:gd name="txR" fmla="*/ 36 w 36"/>
                  <a:gd name="txB" fmla="*/ 36 h 36"/>
                </a:gdLst>
                <a:ahLst/>
                <a:cxnLst>
                  <a:cxn ang="0">
                    <a:pos x="0" y="1131"/>
                  </a:cxn>
                  <a:cxn ang="0">
                    <a:pos x="469" y="900"/>
                  </a:cxn>
                  <a:cxn ang="0">
                    <a:pos x="670" y="470"/>
                  </a:cxn>
                  <a:cxn ang="0">
                    <a:pos x="670" y="0"/>
                  </a:cxn>
                  <a:cxn ang="0">
                    <a:pos x="670" y="0"/>
                  </a:cxn>
                  <a:cxn ang="0">
                    <a:pos x="670" y="470"/>
                  </a:cxn>
                  <a:cxn ang="0">
                    <a:pos x="469" y="900"/>
                  </a:cxn>
                  <a:cxn ang="0">
                    <a:pos x="0" y="1432"/>
                  </a:cxn>
                  <a:cxn ang="0">
                    <a:pos x="0" y="1131"/>
                  </a:cxn>
                </a:cxnLst>
                <a:rect l="txL" t="txT" r="txR" b="txB"/>
                <a:pathLst>
                  <a:path w="36" h="36">
                    <a:moveTo>
                      <a:pt x="0" y="30"/>
                    </a:moveTo>
                    <a:lnTo>
                      <a:pt x="24" y="24"/>
                    </a:lnTo>
                    <a:lnTo>
                      <a:pt x="36" y="12"/>
                    </a:lnTo>
                    <a:lnTo>
                      <a:pt x="36" y="0"/>
                    </a:lnTo>
                    <a:lnTo>
                      <a:pt x="36" y="12"/>
                    </a:lnTo>
                    <a:lnTo>
                      <a:pt x="24" y="24"/>
                    </a:lnTo>
                    <a:lnTo>
                      <a:pt x="0" y="36"/>
                    </a:lnTo>
                    <a:lnTo>
                      <a:pt x="0"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26" name="Freeform 66"/>
              <p:cNvSpPr>
                <a:spLocks noChangeAspect="1" noEditPoints="1"/>
              </p:cNvSpPr>
              <p:nvPr/>
            </p:nvSpPr>
            <p:spPr>
              <a:xfrm>
                <a:off x="3557" y="3346"/>
                <a:ext cx="40" cy="34"/>
              </a:xfrm>
              <a:custGeom>
                <a:avLst/>
                <a:gdLst>
                  <a:gd name="txL" fmla="*/ 0 w 36"/>
                  <a:gd name="txT" fmla="*/ 0 h 29"/>
                  <a:gd name="txR" fmla="*/ 36 w 36"/>
                  <a:gd name="txB" fmla="*/ 29 h 29"/>
                </a:gdLst>
                <a:ahLst/>
                <a:cxnLst>
                  <a:cxn ang="0">
                    <a:pos x="670" y="2477"/>
                  </a:cxn>
                  <a:cxn ang="0">
                    <a:pos x="670" y="1504"/>
                  </a:cxn>
                  <a:cxn ang="0">
                    <a:pos x="469" y="954"/>
                  </a:cxn>
                  <a:cxn ang="0">
                    <a:pos x="224" y="431"/>
                  </a:cxn>
                  <a:cxn ang="0">
                    <a:pos x="0" y="0"/>
                  </a:cxn>
                  <a:cxn ang="0">
                    <a:pos x="0" y="0"/>
                  </a:cxn>
                  <a:cxn ang="0">
                    <a:pos x="224" y="431"/>
                  </a:cxn>
                  <a:cxn ang="0">
                    <a:pos x="469" y="954"/>
                  </a:cxn>
                  <a:cxn ang="0">
                    <a:pos x="670" y="1504"/>
                  </a:cxn>
                  <a:cxn ang="0">
                    <a:pos x="670" y="2477"/>
                  </a:cxn>
                  <a:cxn ang="0">
                    <a:pos x="670" y="2477"/>
                  </a:cxn>
                  <a:cxn ang="0">
                    <a:pos x="670" y="2477"/>
                  </a:cxn>
                  <a:cxn ang="0">
                    <a:pos x="670" y="2477"/>
                  </a:cxn>
                  <a:cxn ang="0">
                    <a:pos x="670" y="2477"/>
                  </a:cxn>
                </a:cxnLst>
                <a:rect l="txL" t="txT" r="txR" b="txB"/>
                <a:pathLst>
                  <a:path w="36" h="29">
                    <a:moveTo>
                      <a:pt x="36" y="29"/>
                    </a:moveTo>
                    <a:lnTo>
                      <a:pt x="36" y="17"/>
                    </a:lnTo>
                    <a:lnTo>
                      <a:pt x="24" y="11"/>
                    </a:lnTo>
                    <a:lnTo>
                      <a:pt x="12" y="5"/>
                    </a:lnTo>
                    <a:lnTo>
                      <a:pt x="0" y="0"/>
                    </a:lnTo>
                    <a:lnTo>
                      <a:pt x="12" y="5"/>
                    </a:lnTo>
                    <a:lnTo>
                      <a:pt x="24" y="11"/>
                    </a:lnTo>
                    <a:lnTo>
                      <a:pt x="36" y="17"/>
                    </a:lnTo>
                    <a:lnTo>
                      <a:pt x="36" y="29"/>
                    </a:lnTo>
                    <a:close/>
                    <a:moveTo>
                      <a:pt x="36" y="29"/>
                    </a:moveTo>
                    <a:lnTo>
                      <a:pt x="36" y="2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27" name="Freeform 67"/>
              <p:cNvSpPr>
                <a:spLocks noChangeAspect="1" noEditPoints="1"/>
              </p:cNvSpPr>
              <p:nvPr/>
            </p:nvSpPr>
            <p:spPr>
              <a:xfrm>
                <a:off x="3517" y="3346"/>
                <a:ext cx="40" cy="34"/>
              </a:xfrm>
              <a:custGeom>
                <a:avLst/>
                <a:gdLst>
                  <a:gd name="txL" fmla="*/ 0 w 35"/>
                  <a:gd name="txT" fmla="*/ 0 h 29"/>
                  <a:gd name="txR" fmla="*/ 35 w 35"/>
                  <a:gd name="txB" fmla="*/ 29 h 29"/>
                </a:gdLst>
                <a:ahLst/>
                <a:cxnLst>
                  <a:cxn ang="0">
                    <a:pos x="1496" y="0"/>
                  </a:cxn>
                  <a:cxn ang="0">
                    <a:pos x="951" y="431"/>
                  </a:cxn>
                  <a:cxn ang="0">
                    <a:pos x="514" y="954"/>
                  </a:cxn>
                  <a:cxn ang="0">
                    <a:pos x="243" y="1504"/>
                  </a:cxn>
                  <a:cxn ang="0">
                    <a:pos x="0" y="2477"/>
                  </a:cxn>
                  <a:cxn ang="0">
                    <a:pos x="0" y="2477"/>
                  </a:cxn>
                  <a:cxn ang="0">
                    <a:pos x="243" y="1504"/>
                  </a:cxn>
                  <a:cxn ang="0">
                    <a:pos x="514" y="954"/>
                  </a:cxn>
                  <a:cxn ang="0">
                    <a:pos x="951" y="431"/>
                  </a:cxn>
                  <a:cxn ang="0">
                    <a:pos x="1496" y="0"/>
                  </a:cxn>
                  <a:cxn ang="0">
                    <a:pos x="1496" y="0"/>
                  </a:cxn>
                  <a:cxn ang="0">
                    <a:pos x="1496" y="0"/>
                  </a:cxn>
                  <a:cxn ang="0">
                    <a:pos x="1496" y="0"/>
                  </a:cxn>
                  <a:cxn ang="0">
                    <a:pos x="1496" y="0"/>
                  </a:cxn>
                </a:cxnLst>
                <a:rect l="txL" t="txT" r="txR" b="txB"/>
                <a:pathLst>
                  <a:path w="35" h="29">
                    <a:moveTo>
                      <a:pt x="35" y="0"/>
                    </a:moveTo>
                    <a:lnTo>
                      <a:pt x="23" y="5"/>
                    </a:lnTo>
                    <a:lnTo>
                      <a:pt x="12" y="11"/>
                    </a:lnTo>
                    <a:lnTo>
                      <a:pt x="6" y="17"/>
                    </a:lnTo>
                    <a:lnTo>
                      <a:pt x="0" y="29"/>
                    </a:lnTo>
                    <a:lnTo>
                      <a:pt x="6" y="17"/>
                    </a:lnTo>
                    <a:lnTo>
                      <a:pt x="12" y="11"/>
                    </a:lnTo>
                    <a:lnTo>
                      <a:pt x="23" y="5"/>
                    </a:lnTo>
                    <a:lnTo>
                      <a:pt x="35" y="0"/>
                    </a:lnTo>
                    <a:close/>
                    <a:moveTo>
                      <a:pt x="35" y="0"/>
                    </a:moveTo>
                    <a:lnTo>
                      <a:pt x="35"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28" name="Freeform 68"/>
              <p:cNvSpPr>
                <a:spLocks noChangeAspect="1" noEditPoints="1"/>
              </p:cNvSpPr>
              <p:nvPr/>
            </p:nvSpPr>
            <p:spPr>
              <a:xfrm>
                <a:off x="3517" y="3380"/>
                <a:ext cx="40" cy="41"/>
              </a:xfrm>
              <a:custGeom>
                <a:avLst/>
                <a:gdLst>
                  <a:gd name="txL" fmla="*/ 0 w 35"/>
                  <a:gd name="txT" fmla="*/ 0 h 36"/>
                  <a:gd name="txR" fmla="*/ 35 w 35"/>
                  <a:gd name="txB" fmla="*/ 36 h 36"/>
                </a:gdLst>
                <a:ahLst/>
                <a:cxnLst>
                  <a:cxn ang="0">
                    <a:pos x="0" y="0"/>
                  </a:cxn>
                  <a:cxn ang="0">
                    <a:pos x="243" y="470"/>
                  </a:cxn>
                  <a:cxn ang="0">
                    <a:pos x="514" y="900"/>
                  </a:cxn>
                  <a:cxn ang="0">
                    <a:pos x="1496" y="1432"/>
                  </a:cxn>
                  <a:cxn ang="0">
                    <a:pos x="1496" y="1131"/>
                  </a:cxn>
                  <a:cxn ang="0">
                    <a:pos x="514" y="900"/>
                  </a:cxn>
                  <a:cxn ang="0">
                    <a:pos x="243" y="470"/>
                  </a:cxn>
                  <a:cxn ang="0">
                    <a:pos x="0" y="0"/>
                  </a:cxn>
                  <a:cxn ang="0">
                    <a:pos x="0" y="0"/>
                  </a:cxn>
                  <a:cxn ang="0">
                    <a:pos x="0" y="0"/>
                  </a:cxn>
                  <a:cxn ang="0">
                    <a:pos x="0" y="0"/>
                  </a:cxn>
                  <a:cxn ang="0">
                    <a:pos x="0" y="0"/>
                  </a:cxn>
                </a:cxnLst>
                <a:rect l="txL" t="txT" r="txR" b="txB"/>
                <a:pathLst>
                  <a:path w="35" h="36">
                    <a:moveTo>
                      <a:pt x="0" y="0"/>
                    </a:moveTo>
                    <a:lnTo>
                      <a:pt x="6" y="12"/>
                    </a:lnTo>
                    <a:lnTo>
                      <a:pt x="12" y="24"/>
                    </a:lnTo>
                    <a:lnTo>
                      <a:pt x="35" y="36"/>
                    </a:lnTo>
                    <a:lnTo>
                      <a:pt x="35" y="30"/>
                    </a:lnTo>
                    <a:lnTo>
                      <a:pt x="12" y="24"/>
                    </a:lnTo>
                    <a:lnTo>
                      <a:pt x="6" y="12"/>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29" name="Freeform 69"/>
              <p:cNvSpPr>
                <a:spLocks noChangeAspect="1"/>
              </p:cNvSpPr>
              <p:nvPr/>
            </p:nvSpPr>
            <p:spPr>
              <a:xfrm>
                <a:off x="3557" y="3414"/>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30" name="Freeform 70"/>
              <p:cNvSpPr>
                <a:spLocks noChangeAspect="1"/>
              </p:cNvSpPr>
              <p:nvPr/>
            </p:nvSpPr>
            <p:spPr>
              <a:xfrm>
                <a:off x="3123" y="3627"/>
                <a:ext cx="82" cy="69"/>
              </a:xfrm>
              <a:custGeom>
                <a:avLst/>
                <a:gdLst>
                  <a:gd name="txL" fmla="*/ 0 w 72"/>
                  <a:gd name="txT" fmla="*/ 0 h 60"/>
                  <a:gd name="txR" fmla="*/ 72 w 72"/>
                  <a:gd name="txB" fmla="*/ 60 h 60"/>
                </a:gdLst>
                <a:ahLst/>
                <a:cxnLst>
                  <a:cxn ang="0">
                    <a:pos x="1432" y="3021"/>
                  </a:cxn>
                  <a:cxn ang="0">
                    <a:pos x="1859" y="3021"/>
                  </a:cxn>
                  <a:cxn ang="0">
                    <a:pos x="2268" y="2364"/>
                  </a:cxn>
                  <a:cxn ang="0">
                    <a:pos x="2746" y="2056"/>
                  </a:cxn>
                  <a:cxn ang="0">
                    <a:pos x="2746" y="1511"/>
                  </a:cxn>
                  <a:cxn ang="0">
                    <a:pos x="2746" y="923"/>
                  </a:cxn>
                  <a:cxn ang="0">
                    <a:pos x="2268" y="302"/>
                  </a:cxn>
                  <a:cxn ang="0">
                    <a:pos x="1432" y="0"/>
                  </a:cxn>
                  <a:cxn ang="0">
                    <a:pos x="470" y="302"/>
                  </a:cxn>
                  <a:cxn ang="0">
                    <a:pos x="231" y="923"/>
                  </a:cxn>
                  <a:cxn ang="0">
                    <a:pos x="0" y="1511"/>
                  </a:cxn>
                  <a:cxn ang="0">
                    <a:pos x="231" y="2056"/>
                  </a:cxn>
                  <a:cxn ang="0">
                    <a:pos x="470" y="2364"/>
                  </a:cxn>
                  <a:cxn ang="0">
                    <a:pos x="900" y="3021"/>
                  </a:cxn>
                  <a:cxn ang="0">
                    <a:pos x="1432" y="3021"/>
                  </a:cxn>
                  <a:cxn ang="0">
                    <a:pos x="1432" y="3021"/>
                  </a:cxn>
                </a:cxnLst>
                <a:rect l="txL" t="txT" r="txR" b="txB"/>
                <a:pathLst>
                  <a:path w="72" h="60">
                    <a:moveTo>
                      <a:pt x="36" y="60"/>
                    </a:moveTo>
                    <a:lnTo>
                      <a:pt x="48" y="60"/>
                    </a:lnTo>
                    <a:lnTo>
                      <a:pt x="60" y="48"/>
                    </a:lnTo>
                    <a:lnTo>
                      <a:pt x="72" y="42"/>
                    </a:lnTo>
                    <a:lnTo>
                      <a:pt x="72" y="30"/>
                    </a:lnTo>
                    <a:lnTo>
                      <a:pt x="72" y="18"/>
                    </a:lnTo>
                    <a:lnTo>
                      <a:pt x="60" y="6"/>
                    </a:lnTo>
                    <a:lnTo>
                      <a:pt x="36" y="0"/>
                    </a:lnTo>
                    <a:lnTo>
                      <a:pt x="12" y="6"/>
                    </a:lnTo>
                    <a:lnTo>
                      <a:pt x="6" y="18"/>
                    </a:lnTo>
                    <a:lnTo>
                      <a:pt x="0" y="30"/>
                    </a:lnTo>
                    <a:lnTo>
                      <a:pt x="6" y="42"/>
                    </a:lnTo>
                    <a:lnTo>
                      <a:pt x="12" y="48"/>
                    </a:lnTo>
                    <a:lnTo>
                      <a:pt x="24" y="60"/>
                    </a:lnTo>
                    <a:lnTo>
                      <a:pt x="36" y="60"/>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31" name="Freeform 71"/>
              <p:cNvSpPr>
                <a:spLocks noChangeAspect="1"/>
              </p:cNvSpPr>
              <p:nvPr/>
            </p:nvSpPr>
            <p:spPr>
              <a:xfrm>
                <a:off x="3164" y="3661"/>
                <a:ext cx="41" cy="35"/>
              </a:xfrm>
              <a:custGeom>
                <a:avLst/>
                <a:gdLst>
                  <a:gd name="txL" fmla="*/ 0 w 36"/>
                  <a:gd name="txT" fmla="*/ 0 h 30"/>
                  <a:gd name="txR" fmla="*/ 36 w 36"/>
                  <a:gd name="txB" fmla="*/ 30 h 30"/>
                </a:gdLst>
                <a:ahLst/>
                <a:cxnLst>
                  <a:cxn ang="0">
                    <a:pos x="0" y="2280"/>
                  </a:cxn>
                  <a:cxn ang="0">
                    <a:pos x="470" y="2280"/>
                  </a:cxn>
                  <a:cxn ang="0">
                    <a:pos x="900" y="1412"/>
                  </a:cxn>
                  <a:cxn ang="0">
                    <a:pos x="1432" y="904"/>
                  </a:cxn>
                  <a:cxn ang="0">
                    <a:pos x="1432" y="0"/>
                  </a:cxn>
                  <a:cxn ang="0">
                    <a:pos x="1432" y="0"/>
                  </a:cxn>
                  <a:cxn ang="0">
                    <a:pos x="1432" y="904"/>
                  </a:cxn>
                  <a:cxn ang="0">
                    <a:pos x="900" y="1412"/>
                  </a:cxn>
                  <a:cxn ang="0">
                    <a:pos x="470" y="2280"/>
                  </a:cxn>
                  <a:cxn ang="0">
                    <a:pos x="0" y="2280"/>
                  </a:cxn>
                  <a:cxn ang="0">
                    <a:pos x="0" y="2280"/>
                  </a:cxn>
                </a:cxnLst>
                <a:rect l="txL" t="txT" r="txR" b="txB"/>
                <a:pathLst>
                  <a:path w="36" h="30">
                    <a:moveTo>
                      <a:pt x="0" y="30"/>
                    </a:moveTo>
                    <a:lnTo>
                      <a:pt x="12" y="30"/>
                    </a:lnTo>
                    <a:lnTo>
                      <a:pt x="24" y="18"/>
                    </a:lnTo>
                    <a:lnTo>
                      <a:pt x="36" y="12"/>
                    </a:lnTo>
                    <a:lnTo>
                      <a:pt x="36" y="0"/>
                    </a:lnTo>
                    <a:lnTo>
                      <a:pt x="36" y="12"/>
                    </a:lnTo>
                    <a:lnTo>
                      <a:pt x="24" y="18"/>
                    </a:lnTo>
                    <a:lnTo>
                      <a:pt x="12" y="30"/>
                    </a:lnTo>
                    <a:lnTo>
                      <a:pt x="0"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32" name="Freeform 72"/>
              <p:cNvSpPr>
                <a:spLocks noChangeAspect="1" noEditPoints="1"/>
              </p:cNvSpPr>
              <p:nvPr/>
            </p:nvSpPr>
            <p:spPr>
              <a:xfrm>
                <a:off x="3164" y="3627"/>
                <a:ext cx="41" cy="34"/>
              </a:xfrm>
              <a:custGeom>
                <a:avLst/>
                <a:gdLst>
                  <a:gd name="txL" fmla="*/ 0 w 36"/>
                  <a:gd name="txT" fmla="*/ 0 h 30"/>
                  <a:gd name="txR" fmla="*/ 36 w 36"/>
                  <a:gd name="txB" fmla="*/ 30 h 30"/>
                </a:gdLst>
                <a:ahLst/>
                <a:cxnLst>
                  <a:cxn ang="0">
                    <a:pos x="1432" y="1022"/>
                  </a:cxn>
                  <a:cxn ang="0">
                    <a:pos x="1432" y="575"/>
                  </a:cxn>
                  <a:cxn ang="0">
                    <a:pos x="900" y="186"/>
                  </a:cxn>
                  <a:cxn ang="0">
                    <a:pos x="0" y="0"/>
                  </a:cxn>
                  <a:cxn ang="0">
                    <a:pos x="0" y="0"/>
                  </a:cxn>
                  <a:cxn ang="0">
                    <a:pos x="900" y="186"/>
                  </a:cxn>
                  <a:cxn ang="0">
                    <a:pos x="1432" y="575"/>
                  </a:cxn>
                  <a:cxn ang="0">
                    <a:pos x="1432" y="1022"/>
                  </a:cxn>
                  <a:cxn ang="0">
                    <a:pos x="1432" y="1022"/>
                  </a:cxn>
                  <a:cxn ang="0">
                    <a:pos x="1432" y="1022"/>
                  </a:cxn>
                  <a:cxn ang="0">
                    <a:pos x="1432" y="1022"/>
                  </a:cxn>
                  <a:cxn ang="0">
                    <a:pos x="1432" y="1022"/>
                  </a:cxn>
                </a:cxnLst>
                <a:rect l="txL" t="txT" r="txR" b="txB"/>
                <a:pathLst>
                  <a:path w="36" h="30">
                    <a:moveTo>
                      <a:pt x="36" y="30"/>
                    </a:moveTo>
                    <a:lnTo>
                      <a:pt x="36" y="18"/>
                    </a:lnTo>
                    <a:lnTo>
                      <a:pt x="24" y="6"/>
                    </a:lnTo>
                    <a:lnTo>
                      <a:pt x="0" y="0"/>
                    </a:lnTo>
                    <a:lnTo>
                      <a:pt x="24" y="6"/>
                    </a:lnTo>
                    <a:lnTo>
                      <a:pt x="36" y="18"/>
                    </a:lnTo>
                    <a:lnTo>
                      <a:pt x="36" y="30"/>
                    </a:lnTo>
                    <a:close/>
                    <a:moveTo>
                      <a:pt x="36" y="30"/>
                    </a:moveTo>
                    <a:lnTo>
                      <a:pt x="36"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33" name="Freeform 73"/>
              <p:cNvSpPr>
                <a:spLocks noChangeAspect="1" noEditPoints="1"/>
              </p:cNvSpPr>
              <p:nvPr/>
            </p:nvSpPr>
            <p:spPr>
              <a:xfrm>
                <a:off x="3123" y="3627"/>
                <a:ext cx="41" cy="34"/>
              </a:xfrm>
              <a:custGeom>
                <a:avLst/>
                <a:gdLst>
                  <a:gd name="txL" fmla="*/ 0 w 36"/>
                  <a:gd name="txT" fmla="*/ 0 h 30"/>
                  <a:gd name="txR" fmla="*/ 36 w 36"/>
                  <a:gd name="txB" fmla="*/ 30 h 30"/>
                </a:gdLst>
                <a:ahLst/>
                <a:cxnLst>
                  <a:cxn ang="0">
                    <a:pos x="1432" y="0"/>
                  </a:cxn>
                  <a:cxn ang="0">
                    <a:pos x="470" y="186"/>
                  </a:cxn>
                  <a:cxn ang="0">
                    <a:pos x="231" y="575"/>
                  </a:cxn>
                  <a:cxn ang="0">
                    <a:pos x="0" y="1022"/>
                  </a:cxn>
                  <a:cxn ang="0">
                    <a:pos x="0" y="1022"/>
                  </a:cxn>
                  <a:cxn ang="0">
                    <a:pos x="231" y="575"/>
                  </a:cxn>
                  <a:cxn ang="0">
                    <a:pos x="470" y="186"/>
                  </a:cxn>
                  <a:cxn ang="0">
                    <a:pos x="1432" y="0"/>
                  </a:cxn>
                  <a:cxn ang="0">
                    <a:pos x="1432" y="0"/>
                  </a:cxn>
                  <a:cxn ang="0">
                    <a:pos x="1432" y="0"/>
                  </a:cxn>
                  <a:cxn ang="0">
                    <a:pos x="1432" y="0"/>
                  </a:cxn>
                  <a:cxn ang="0">
                    <a:pos x="1432" y="0"/>
                  </a:cxn>
                </a:cxnLst>
                <a:rect l="txL" t="txT" r="txR" b="txB"/>
                <a:pathLst>
                  <a:path w="36" h="30">
                    <a:moveTo>
                      <a:pt x="36" y="0"/>
                    </a:moveTo>
                    <a:lnTo>
                      <a:pt x="12" y="6"/>
                    </a:lnTo>
                    <a:lnTo>
                      <a:pt x="6" y="18"/>
                    </a:lnTo>
                    <a:lnTo>
                      <a:pt x="0" y="30"/>
                    </a:lnTo>
                    <a:lnTo>
                      <a:pt x="6" y="18"/>
                    </a:lnTo>
                    <a:lnTo>
                      <a:pt x="12" y="6"/>
                    </a:lnTo>
                    <a:lnTo>
                      <a:pt x="36" y="0"/>
                    </a:lnTo>
                    <a:close/>
                    <a:moveTo>
                      <a:pt x="36" y="0"/>
                    </a:moveTo>
                    <a:lnTo>
                      <a:pt x="3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34" name="Freeform 74"/>
              <p:cNvSpPr>
                <a:spLocks noChangeAspect="1" noEditPoints="1"/>
              </p:cNvSpPr>
              <p:nvPr/>
            </p:nvSpPr>
            <p:spPr>
              <a:xfrm>
                <a:off x="3123" y="3661"/>
                <a:ext cx="41" cy="35"/>
              </a:xfrm>
              <a:custGeom>
                <a:avLst/>
                <a:gdLst>
                  <a:gd name="txL" fmla="*/ 0 w 36"/>
                  <a:gd name="txT" fmla="*/ 0 h 30"/>
                  <a:gd name="txR" fmla="*/ 36 w 36"/>
                  <a:gd name="txB" fmla="*/ 30 h 30"/>
                </a:gdLst>
                <a:ahLst/>
                <a:cxnLst>
                  <a:cxn ang="0">
                    <a:pos x="0" y="0"/>
                  </a:cxn>
                  <a:cxn ang="0">
                    <a:pos x="231" y="904"/>
                  </a:cxn>
                  <a:cxn ang="0">
                    <a:pos x="470" y="1412"/>
                  </a:cxn>
                  <a:cxn ang="0">
                    <a:pos x="900" y="2280"/>
                  </a:cxn>
                  <a:cxn ang="0">
                    <a:pos x="1432" y="2280"/>
                  </a:cxn>
                  <a:cxn ang="0">
                    <a:pos x="1432" y="2280"/>
                  </a:cxn>
                  <a:cxn ang="0">
                    <a:pos x="900" y="2280"/>
                  </a:cxn>
                  <a:cxn ang="0">
                    <a:pos x="470" y="1412"/>
                  </a:cxn>
                  <a:cxn ang="0">
                    <a:pos x="231" y="904"/>
                  </a:cxn>
                  <a:cxn ang="0">
                    <a:pos x="0" y="0"/>
                  </a:cxn>
                  <a:cxn ang="0">
                    <a:pos x="0" y="0"/>
                  </a:cxn>
                  <a:cxn ang="0">
                    <a:pos x="0" y="0"/>
                  </a:cxn>
                  <a:cxn ang="0">
                    <a:pos x="0" y="0"/>
                  </a:cxn>
                  <a:cxn ang="0">
                    <a:pos x="0" y="0"/>
                  </a:cxn>
                </a:cxnLst>
                <a:rect l="txL" t="txT" r="txR" b="txB"/>
                <a:pathLst>
                  <a:path w="36" h="30">
                    <a:moveTo>
                      <a:pt x="0" y="0"/>
                    </a:moveTo>
                    <a:lnTo>
                      <a:pt x="6" y="12"/>
                    </a:lnTo>
                    <a:lnTo>
                      <a:pt x="12" y="18"/>
                    </a:lnTo>
                    <a:lnTo>
                      <a:pt x="24" y="30"/>
                    </a:lnTo>
                    <a:lnTo>
                      <a:pt x="36" y="30"/>
                    </a:lnTo>
                    <a:lnTo>
                      <a:pt x="24" y="30"/>
                    </a:lnTo>
                    <a:lnTo>
                      <a:pt x="12" y="18"/>
                    </a:lnTo>
                    <a:lnTo>
                      <a:pt x="6" y="12"/>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35" name="Freeform 75"/>
              <p:cNvSpPr>
                <a:spLocks noChangeAspect="1"/>
              </p:cNvSpPr>
              <p:nvPr/>
            </p:nvSpPr>
            <p:spPr>
              <a:xfrm>
                <a:off x="3164" y="3696"/>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36" name="Freeform 76"/>
              <p:cNvSpPr>
                <a:spLocks noChangeAspect="1"/>
              </p:cNvSpPr>
              <p:nvPr/>
            </p:nvSpPr>
            <p:spPr>
              <a:xfrm>
                <a:off x="2709" y="4060"/>
                <a:ext cx="41" cy="116"/>
              </a:xfrm>
              <a:custGeom>
                <a:avLst/>
                <a:gdLst>
                  <a:gd name="txL" fmla="*/ 0 w 36"/>
                  <a:gd name="txT" fmla="*/ 0 h 101"/>
                  <a:gd name="txR" fmla="*/ 36 w 36"/>
                  <a:gd name="txB" fmla="*/ 101 h 101"/>
                </a:gdLst>
                <a:ahLst/>
                <a:cxnLst>
                  <a:cxn ang="0">
                    <a:pos x="1432" y="0"/>
                  </a:cxn>
                  <a:cxn ang="0">
                    <a:pos x="470" y="1105"/>
                  </a:cxn>
                  <a:cxn ang="0">
                    <a:pos x="0" y="2265"/>
                  </a:cxn>
                  <a:cxn ang="0">
                    <a:pos x="231" y="3163"/>
                  </a:cxn>
                  <a:cxn ang="0">
                    <a:pos x="470" y="3982"/>
                  </a:cxn>
                  <a:cxn ang="0">
                    <a:pos x="1131" y="4878"/>
                  </a:cxn>
                  <a:cxn ang="0">
                    <a:pos x="1432" y="4878"/>
                  </a:cxn>
                  <a:cxn ang="0">
                    <a:pos x="900" y="4281"/>
                  </a:cxn>
                  <a:cxn ang="0">
                    <a:pos x="694" y="3431"/>
                  </a:cxn>
                  <a:cxn ang="0">
                    <a:pos x="470" y="2265"/>
                  </a:cxn>
                  <a:cxn ang="0">
                    <a:pos x="470" y="1428"/>
                  </a:cxn>
                  <a:cxn ang="0">
                    <a:pos x="694" y="838"/>
                  </a:cxn>
                  <a:cxn ang="0">
                    <a:pos x="1432" y="0"/>
                  </a:cxn>
                  <a:cxn ang="0">
                    <a:pos x="1432" y="0"/>
                  </a:cxn>
                </a:cxnLst>
                <a:rect l="txL" t="txT" r="txR" b="txB"/>
                <a:pathLst>
                  <a:path w="36" h="101">
                    <a:moveTo>
                      <a:pt x="36" y="0"/>
                    </a:moveTo>
                    <a:lnTo>
                      <a:pt x="12" y="23"/>
                    </a:lnTo>
                    <a:lnTo>
                      <a:pt x="0" y="47"/>
                    </a:lnTo>
                    <a:lnTo>
                      <a:pt x="6" y="65"/>
                    </a:lnTo>
                    <a:lnTo>
                      <a:pt x="12" y="83"/>
                    </a:lnTo>
                    <a:lnTo>
                      <a:pt x="30" y="101"/>
                    </a:lnTo>
                    <a:lnTo>
                      <a:pt x="36" y="101"/>
                    </a:lnTo>
                    <a:lnTo>
                      <a:pt x="24" y="89"/>
                    </a:lnTo>
                    <a:lnTo>
                      <a:pt x="18" y="71"/>
                    </a:lnTo>
                    <a:lnTo>
                      <a:pt x="12" y="47"/>
                    </a:lnTo>
                    <a:lnTo>
                      <a:pt x="12" y="29"/>
                    </a:lnTo>
                    <a:lnTo>
                      <a:pt x="18" y="17"/>
                    </a:lnTo>
                    <a:lnTo>
                      <a:pt x="3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37" name="Freeform 77"/>
              <p:cNvSpPr>
                <a:spLocks noChangeAspect="1" noEditPoints="1"/>
              </p:cNvSpPr>
              <p:nvPr/>
            </p:nvSpPr>
            <p:spPr>
              <a:xfrm>
                <a:off x="2750" y="4060"/>
                <a:ext cx="75" cy="95"/>
              </a:xfrm>
              <a:custGeom>
                <a:avLst/>
                <a:gdLst>
                  <a:gd name="txL" fmla="*/ 0 w 66"/>
                  <a:gd name="txT" fmla="*/ 0 h 83"/>
                  <a:gd name="txR" fmla="*/ 66 w 66"/>
                  <a:gd name="txB" fmla="*/ 83 h 83"/>
                </a:gdLst>
                <a:ahLst/>
                <a:cxnLst>
                  <a:cxn ang="0">
                    <a:pos x="849" y="1794"/>
                  </a:cxn>
                  <a:cxn ang="0">
                    <a:pos x="1085" y="1566"/>
                  </a:cxn>
                  <a:cxn ang="0">
                    <a:pos x="1281" y="1566"/>
                  </a:cxn>
                  <a:cxn ang="0">
                    <a:pos x="1710" y="1794"/>
                  </a:cxn>
                  <a:cxn ang="0">
                    <a:pos x="1919" y="2348"/>
                  </a:cxn>
                  <a:cxn ang="0">
                    <a:pos x="1710" y="3079"/>
                  </a:cxn>
                  <a:cxn ang="0">
                    <a:pos x="1281" y="3396"/>
                  </a:cxn>
                  <a:cxn ang="0">
                    <a:pos x="1085" y="3396"/>
                  </a:cxn>
                  <a:cxn ang="0">
                    <a:pos x="849" y="3079"/>
                  </a:cxn>
                  <a:cxn ang="0">
                    <a:pos x="849" y="1794"/>
                  </a:cxn>
                  <a:cxn ang="0">
                    <a:pos x="443" y="3079"/>
                  </a:cxn>
                  <a:cxn ang="0">
                    <a:pos x="650" y="3396"/>
                  </a:cxn>
                  <a:cxn ang="0">
                    <a:pos x="1085" y="3668"/>
                  </a:cxn>
                  <a:cxn ang="0">
                    <a:pos x="1710" y="3396"/>
                  </a:cxn>
                  <a:cxn ang="0">
                    <a:pos x="2177" y="3079"/>
                  </a:cxn>
                  <a:cxn ang="0">
                    <a:pos x="2364" y="2599"/>
                  </a:cxn>
                  <a:cxn ang="0">
                    <a:pos x="2364" y="2348"/>
                  </a:cxn>
                  <a:cxn ang="0">
                    <a:pos x="2177" y="1566"/>
                  </a:cxn>
                  <a:cxn ang="0">
                    <a:pos x="1919" y="1249"/>
                  </a:cxn>
                  <a:cxn ang="0">
                    <a:pos x="1545" y="1024"/>
                  </a:cxn>
                  <a:cxn ang="0">
                    <a:pos x="1085" y="1249"/>
                  </a:cxn>
                  <a:cxn ang="0">
                    <a:pos x="849" y="1566"/>
                  </a:cxn>
                  <a:cxn ang="0">
                    <a:pos x="849" y="1566"/>
                  </a:cxn>
                  <a:cxn ang="0">
                    <a:pos x="849" y="0"/>
                  </a:cxn>
                  <a:cxn ang="0">
                    <a:pos x="849" y="0"/>
                  </a:cxn>
                  <a:cxn ang="0">
                    <a:pos x="443" y="0"/>
                  </a:cxn>
                  <a:cxn ang="0">
                    <a:pos x="0" y="247"/>
                  </a:cxn>
                  <a:cxn ang="0">
                    <a:pos x="0" y="247"/>
                  </a:cxn>
                  <a:cxn ang="0">
                    <a:pos x="217" y="247"/>
                  </a:cxn>
                  <a:cxn ang="0">
                    <a:pos x="217" y="247"/>
                  </a:cxn>
                  <a:cxn ang="0">
                    <a:pos x="443" y="247"/>
                  </a:cxn>
                  <a:cxn ang="0">
                    <a:pos x="443" y="486"/>
                  </a:cxn>
                  <a:cxn ang="0">
                    <a:pos x="443" y="3079"/>
                  </a:cxn>
                </a:cxnLst>
                <a:rect l="txL" t="txT" r="txR" b="txB"/>
                <a:pathLst>
                  <a:path w="66" h="83">
                    <a:moveTo>
                      <a:pt x="24" y="41"/>
                    </a:moveTo>
                    <a:lnTo>
                      <a:pt x="30" y="35"/>
                    </a:lnTo>
                    <a:lnTo>
                      <a:pt x="36" y="35"/>
                    </a:lnTo>
                    <a:lnTo>
                      <a:pt x="48" y="41"/>
                    </a:lnTo>
                    <a:lnTo>
                      <a:pt x="54" y="53"/>
                    </a:lnTo>
                    <a:lnTo>
                      <a:pt x="48" y="71"/>
                    </a:lnTo>
                    <a:lnTo>
                      <a:pt x="36" y="77"/>
                    </a:lnTo>
                    <a:lnTo>
                      <a:pt x="30" y="77"/>
                    </a:lnTo>
                    <a:lnTo>
                      <a:pt x="24" y="71"/>
                    </a:lnTo>
                    <a:lnTo>
                      <a:pt x="24" y="41"/>
                    </a:lnTo>
                    <a:close/>
                    <a:moveTo>
                      <a:pt x="12" y="71"/>
                    </a:moveTo>
                    <a:lnTo>
                      <a:pt x="18" y="77"/>
                    </a:lnTo>
                    <a:lnTo>
                      <a:pt x="30" y="83"/>
                    </a:lnTo>
                    <a:lnTo>
                      <a:pt x="48" y="77"/>
                    </a:lnTo>
                    <a:lnTo>
                      <a:pt x="60" y="71"/>
                    </a:lnTo>
                    <a:lnTo>
                      <a:pt x="66" y="59"/>
                    </a:lnTo>
                    <a:lnTo>
                      <a:pt x="66" y="53"/>
                    </a:lnTo>
                    <a:lnTo>
                      <a:pt x="60" y="35"/>
                    </a:lnTo>
                    <a:lnTo>
                      <a:pt x="54" y="29"/>
                    </a:lnTo>
                    <a:lnTo>
                      <a:pt x="42" y="23"/>
                    </a:lnTo>
                    <a:lnTo>
                      <a:pt x="30" y="29"/>
                    </a:lnTo>
                    <a:lnTo>
                      <a:pt x="24" y="35"/>
                    </a:lnTo>
                    <a:lnTo>
                      <a:pt x="24" y="0"/>
                    </a:lnTo>
                    <a:lnTo>
                      <a:pt x="12" y="0"/>
                    </a:lnTo>
                    <a:lnTo>
                      <a:pt x="0" y="6"/>
                    </a:lnTo>
                    <a:lnTo>
                      <a:pt x="6" y="6"/>
                    </a:lnTo>
                    <a:lnTo>
                      <a:pt x="12" y="6"/>
                    </a:lnTo>
                    <a:lnTo>
                      <a:pt x="12" y="11"/>
                    </a:lnTo>
                    <a:lnTo>
                      <a:pt x="12" y="7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38" name="Freeform 78"/>
              <p:cNvSpPr>
                <a:spLocks noChangeAspect="1"/>
              </p:cNvSpPr>
              <p:nvPr/>
            </p:nvSpPr>
            <p:spPr>
              <a:xfrm>
                <a:off x="2831" y="4060"/>
                <a:ext cx="41" cy="116"/>
              </a:xfrm>
              <a:custGeom>
                <a:avLst/>
                <a:gdLst>
                  <a:gd name="txL" fmla="*/ 0 w 36"/>
                  <a:gd name="txT" fmla="*/ 0 h 101"/>
                  <a:gd name="txR" fmla="*/ 36 w 36"/>
                  <a:gd name="txB" fmla="*/ 101 h 101"/>
                </a:gdLst>
                <a:ahLst/>
                <a:cxnLst>
                  <a:cxn ang="0">
                    <a:pos x="0" y="4878"/>
                  </a:cxn>
                  <a:cxn ang="0">
                    <a:pos x="1131" y="3698"/>
                  </a:cxn>
                  <a:cxn ang="0">
                    <a:pos x="1432" y="2557"/>
                  </a:cxn>
                  <a:cxn ang="0">
                    <a:pos x="1131" y="1687"/>
                  </a:cxn>
                  <a:cxn ang="0">
                    <a:pos x="900" y="838"/>
                  </a:cxn>
                  <a:cxn ang="0">
                    <a:pos x="470" y="554"/>
                  </a:cxn>
                  <a:cxn ang="0">
                    <a:pos x="0" y="0"/>
                  </a:cxn>
                  <a:cxn ang="0">
                    <a:pos x="0" y="0"/>
                  </a:cxn>
                  <a:cxn ang="0">
                    <a:pos x="470" y="554"/>
                  </a:cxn>
                  <a:cxn ang="0">
                    <a:pos x="900" y="1428"/>
                  </a:cxn>
                  <a:cxn ang="0">
                    <a:pos x="900" y="1972"/>
                  </a:cxn>
                  <a:cxn ang="0">
                    <a:pos x="900" y="2557"/>
                  </a:cxn>
                  <a:cxn ang="0">
                    <a:pos x="900" y="3431"/>
                  </a:cxn>
                  <a:cxn ang="0">
                    <a:pos x="694" y="3982"/>
                  </a:cxn>
                  <a:cxn ang="0">
                    <a:pos x="0" y="4878"/>
                  </a:cxn>
                  <a:cxn ang="0">
                    <a:pos x="0" y="4878"/>
                  </a:cxn>
                </a:cxnLst>
                <a:rect l="txL" t="txT" r="txR" b="txB"/>
                <a:pathLst>
                  <a:path w="36" h="101">
                    <a:moveTo>
                      <a:pt x="0" y="101"/>
                    </a:moveTo>
                    <a:lnTo>
                      <a:pt x="30" y="77"/>
                    </a:lnTo>
                    <a:lnTo>
                      <a:pt x="36" y="53"/>
                    </a:lnTo>
                    <a:lnTo>
                      <a:pt x="30" y="35"/>
                    </a:lnTo>
                    <a:lnTo>
                      <a:pt x="24" y="17"/>
                    </a:lnTo>
                    <a:lnTo>
                      <a:pt x="12" y="11"/>
                    </a:lnTo>
                    <a:lnTo>
                      <a:pt x="0" y="0"/>
                    </a:lnTo>
                    <a:lnTo>
                      <a:pt x="12" y="11"/>
                    </a:lnTo>
                    <a:lnTo>
                      <a:pt x="24" y="29"/>
                    </a:lnTo>
                    <a:lnTo>
                      <a:pt x="24" y="41"/>
                    </a:lnTo>
                    <a:lnTo>
                      <a:pt x="24" y="53"/>
                    </a:lnTo>
                    <a:lnTo>
                      <a:pt x="24" y="71"/>
                    </a:lnTo>
                    <a:lnTo>
                      <a:pt x="18" y="83"/>
                    </a:lnTo>
                    <a:lnTo>
                      <a:pt x="0" y="10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39" name="Freeform 79"/>
              <p:cNvSpPr>
                <a:spLocks noChangeAspect="1" noEditPoints="1"/>
              </p:cNvSpPr>
              <p:nvPr/>
            </p:nvSpPr>
            <p:spPr>
              <a:xfrm>
                <a:off x="3631" y="3146"/>
                <a:ext cx="96" cy="90"/>
              </a:xfrm>
              <a:custGeom>
                <a:avLst/>
                <a:gdLst>
                  <a:gd name="txL" fmla="*/ 0 w 84"/>
                  <a:gd name="txT" fmla="*/ 0 h 78"/>
                  <a:gd name="txR" fmla="*/ 84 w 84"/>
                  <a:gd name="txB" fmla="*/ 78 h 78"/>
                </a:gdLst>
                <a:ahLst/>
                <a:cxnLst>
                  <a:cxn ang="0">
                    <a:pos x="3309" y="4243"/>
                  </a:cxn>
                  <a:cxn ang="0">
                    <a:pos x="3010" y="4243"/>
                  </a:cxn>
                  <a:cxn ang="0">
                    <a:pos x="2768" y="3963"/>
                  </a:cxn>
                  <a:cxn ang="0">
                    <a:pos x="2297" y="2250"/>
                  </a:cxn>
                  <a:cxn ang="0">
                    <a:pos x="3309" y="1626"/>
                  </a:cxn>
                  <a:cxn ang="0">
                    <a:pos x="3567" y="1012"/>
                  </a:cxn>
                  <a:cxn ang="0">
                    <a:pos x="3309" y="322"/>
                  </a:cxn>
                  <a:cxn ang="0">
                    <a:pos x="3010" y="0"/>
                  </a:cxn>
                  <a:cxn ang="0">
                    <a:pos x="2547" y="0"/>
                  </a:cxn>
                  <a:cxn ang="0">
                    <a:pos x="2297" y="0"/>
                  </a:cxn>
                  <a:cxn ang="0">
                    <a:pos x="1002" y="0"/>
                  </a:cxn>
                  <a:cxn ang="0">
                    <a:pos x="1002" y="322"/>
                  </a:cxn>
                  <a:cxn ang="0">
                    <a:pos x="1242" y="322"/>
                  </a:cxn>
                  <a:cxn ang="0">
                    <a:pos x="1242" y="659"/>
                  </a:cxn>
                  <a:cxn ang="0">
                    <a:pos x="1242" y="1012"/>
                  </a:cxn>
                  <a:cxn ang="0">
                    <a:pos x="1242" y="1012"/>
                  </a:cxn>
                  <a:cxn ang="0">
                    <a:pos x="514" y="3963"/>
                  </a:cxn>
                  <a:cxn ang="0">
                    <a:pos x="243" y="4243"/>
                  </a:cxn>
                  <a:cxn ang="0">
                    <a:pos x="0" y="4243"/>
                  </a:cxn>
                  <a:cxn ang="0">
                    <a:pos x="0" y="4243"/>
                  </a:cxn>
                  <a:cxn ang="0">
                    <a:pos x="1539" y="4243"/>
                  </a:cxn>
                  <a:cxn ang="0">
                    <a:pos x="1539" y="4243"/>
                  </a:cxn>
                  <a:cxn ang="0">
                    <a:pos x="1242" y="4243"/>
                  </a:cxn>
                  <a:cxn ang="0">
                    <a:pos x="1002" y="3963"/>
                  </a:cxn>
                  <a:cxn ang="0">
                    <a:pos x="1002" y="3963"/>
                  </a:cxn>
                  <a:cxn ang="0">
                    <a:pos x="1002" y="3661"/>
                  </a:cxn>
                  <a:cxn ang="0">
                    <a:pos x="1539" y="2250"/>
                  </a:cxn>
                  <a:cxn ang="0">
                    <a:pos x="1765" y="2250"/>
                  </a:cxn>
                  <a:cxn ang="0">
                    <a:pos x="2547" y="4243"/>
                  </a:cxn>
                  <a:cxn ang="0">
                    <a:pos x="3309" y="4243"/>
                  </a:cxn>
                  <a:cxn ang="0">
                    <a:pos x="3309" y="4243"/>
                  </a:cxn>
                  <a:cxn ang="0">
                    <a:pos x="1765" y="659"/>
                  </a:cxn>
                  <a:cxn ang="0">
                    <a:pos x="2017" y="322"/>
                  </a:cxn>
                  <a:cxn ang="0">
                    <a:pos x="2297" y="322"/>
                  </a:cxn>
                  <a:cxn ang="0">
                    <a:pos x="2547" y="659"/>
                  </a:cxn>
                  <a:cxn ang="0">
                    <a:pos x="2768" y="1012"/>
                  </a:cxn>
                  <a:cxn ang="0">
                    <a:pos x="2547" y="1626"/>
                  </a:cxn>
                  <a:cxn ang="0">
                    <a:pos x="1765" y="1950"/>
                  </a:cxn>
                  <a:cxn ang="0">
                    <a:pos x="1765" y="1950"/>
                  </a:cxn>
                  <a:cxn ang="0">
                    <a:pos x="1539" y="1950"/>
                  </a:cxn>
                  <a:cxn ang="0">
                    <a:pos x="1765" y="659"/>
                  </a:cxn>
                </a:cxnLst>
                <a:rect l="txL" t="txT" r="txR" b="txB"/>
                <a:pathLst>
                  <a:path w="84" h="78">
                    <a:moveTo>
                      <a:pt x="78" y="78"/>
                    </a:moveTo>
                    <a:lnTo>
                      <a:pt x="72" y="78"/>
                    </a:lnTo>
                    <a:lnTo>
                      <a:pt x="66" y="72"/>
                    </a:lnTo>
                    <a:lnTo>
                      <a:pt x="54" y="42"/>
                    </a:lnTo>
                    <a:lnTo>
                      <a:pt x="78" y="30"/>
                    </a:lnTo>
                    <a:lnTo>
                      <a:pt x="84" y="18"/>
                    </a:lnTo>
                    <a:lnTo>
                      <a:pt x="78" y="6"/>
                    </a:lnTo>
                    <a:lnTo>
                      <a:pt x="72" y="0"/>
                    </a:lnTo>
                    <a:lnTo>
                      <a:pt x="60" y="0"/>
                    </a:lnTo>
                    <a:lnTo>
                      <a:pt x="54" y="0"/>
                    </a:lnTo>
                    <a:lnTo>
                      <a:pt x="24" y="0"/>
                    </a:lnTo>
                    <a:lnTo>
                      <a:pt x="24" y="6"/>
                    </a:lnTo>
                    <a:lnTo>
                      <a:pt x="30" y="6"/>
                    </a:lnTo>
                    <a:lnTo>
                      <a:pt x="30" y="12"/>
                    </a:lnTo>
                    <a:lnTo>
                      <a:pt x="30" y="18"/>
                    </a:lnTo>
                    <a:lnTo>
                      <a:pt x="12" y="72"/>
                    </a:lnTo>
                    <a:lnTo>
                      <a:pt x="6" y="78"/>
                    </a:lnTo>
                    <a:lnTo>
                      <a:pt x="0" y="78"/>
                    </a:lnTo>
                    <a:lnTo>
                      <a:pt x="36" y="78"/>
                    </a:lnTo>
                    <a:lnTo>
                      <a:pt x="30" y="78"/>
                    </a:lnTo>
                    <a:lnTo>
                      <a:pt x="24" y="72"/>
                    </a:lnTo>
                    <a:lnTo>
                      <a:pt x="24" y="66"/>
                    </a:lnTo>
                    <a:lnTo>
                      <a:pt x="36" y="42"/>
                    </a:lnTo>
                    <a:lnTo>
                      <a:pt x="42" y="42"/>
                    </a:lnTo>
                    <a:lnTo>
                      <a:pt x="60" y="78"/>
                    </a:lnTo>
                    <a:lnTo>
                      <a:pt x="78" y="78"/>
                    </a:lnTo>
                    <a:close/>
                    <a:moveTo>
                      <a:pt x="42" y="12"/>
                    </a:moveTo>
                    <a:lnTo>
                      <a:pt x="48" y="6"/>
                    </a:lnTo>
                    <a:lnTo>
                      <a:pt x="54" y="6"/>
                    </a:lnTo>
                    <a:lnTo>
                      <a:pt x="60" y="12"/>
                    </a:lnTo>
                    <a:lnTo>
                      <a:pt x="66" y="18"/>
                    </a:lnTo>
                    <a:lnTo>
                      <a:pt x="60" y="30"/>
                    </a:lnTo>
                    <a:lnTo>
                      <a:pt x="42" y="36"/>
                    </a:lnTo>
                    <a:lnTo>
                      <a:pt x="36" y="36"/>
                    </a:lnTo>
                    <a:lnTo>
                      <a:pt x="42"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40" name="Freeform 80"/>
              <p:cNvSpPr>
                <a:spLocks noChangeAspect="1" noEditPoints="1"/>
              </p:cNvSpPr>
              <p:nvPr/>
            </p:nvSpPr>
            <p:spPr>
              <a:xfrm>
                <a:off x="3768" y="3188"/>
                <a:ext cx="74" cy="34"/>
              </a:xfrm>
              <a:custGeom>
                <a:avLst/>
                <a:gdLst>
                  <a:gd name="txL" fmla="*/ 0 w 66"/>
                  <a:gd name="txT" fmla="*/ 0 h 30"/>
                  <a:gd name="txR" fmla="*/ 66 w 66"/>
                  <a:gd name="txB" fmla="*/ 30 h 30"/>
                </a:gdLst>
                <a:ahLst/>
                <a:cxnLst>
                  <a:cxn ang="0">
                    <a:pos x="1622" y="0"/>
                  </a:cxn>
                  <a:cxn ang="0">
                    <a:pos x="0" y="0"/>
                  </a:cxn>
                  <a:cxn ang="0">
                    <a:pos x="0" y="186"/>
                  </a:cxn>
                  <a:cxn ang="0">
                    <a:pos x="1622" y="186"/>
                  </a:cxn>
                  <a:cxn ang="0">
                    <a:pos x="1622" y="0"/>
                  </a:cxn>
                  <a:cxn ang="0">
                    <a:pos x="1622" y="811"/>
                  </a:cxn>
                  <a:cxn ang="0">
                    <a:pos x="0" y="811"/>
                  </a:cxn>
                  <a:cxn ang="0">
                    <a:pos x="0" y="1022"/>
                  </a:cxn>
                  <a:cxn ang="0">
                    <a:pos x="1622" y="1022"/>
                  </a:cxn>
                  <a:cxn ang="0">
                    <a:pos x="1622" y="811"/>
                  </a:cxn>
                </a:cxnLst>
                <a:rect l="txL" t="txT" r="txR" b="txB"/>
                <a:pathLst>
                  <a:path w="66" h="30">
                    <a:moveTo>
                      <a:pt x="66" y="0"/>
                    </a:moveTo>
                    <a:lnTo>
                      <a:pt x="0" y="0"/>
                    </a:lnTo>
                    <a:lnTo>
                      <a:pt x="0" y="6"/>
                    </a:lnTo>
                    <a:lnTo>
                      <a:pt x="66" y="6"/>
                    </a:lnTo>
                    <a:lnTo>
                      <a:pt x="66" y="0"/>
                    </a:lnTo>
                    <a:close/>
                    <a:moveTo>
                      <a:pt x="66" y="24"/>
                    </a:moveTo>
                    <a:lnTo>
                      <a:pt x="0" y="24"/>
                    </a:lnTo>
                    <a:lnTo>
                      <a:pt x="0" y="30"/>
                    </a:lnTo>
                    <a:lnTo>
                      <a:pt x="66" y="30"/>
                    </a:lnTo>
                    <a:lnTo>
                      <a:pt x="66" y="2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41" name="Freeform 81"/>
              <p:cNvSpPr>
                <a:spLocks noChangeAspect="1"/>
              </p:cNvSpPr>
              <p:nvPr/>
            </p:nvSpPr>
            <p:spPr>
              <a:xfrm>
                <a:off x="3896" y="3174"/>
                <a:ext cx="54" cy="48"/>
              </a:xfrm>
              <a:custGeom>
                <a:avLst/>
                <a:gdLst>
                  <a:gd name="txL" fmla="*/ 0 w 48"/>
                  <a:gd name="txT" fmla="*/ 0 h 42"/>
                  <a:gd name="txR" fmla="*/ 48 w 48"/>
                  <a:gd name="txB" fmla="*/ 42 h 42"/>
                </a:gdLst>
                <a:ahLst/>
                <a:cxnLst>
                  <a:cxn ang="0">
                    <a:pos x="1320" y="1002"/>
                  </a:cxn>
                  <a:cxn ang="0">
                    <a:pos x="1171" y="243"/>
                  </a:cxn>
                  <a:cxn ang="0">
                    <a:pos x="651" y="0"/>
                  </a:cxn>
                  <a:cxn ang="0">
                    <a:pos x="178" y="243"/>
                  </a:cxn>
                  <a:cxn ang="0">
                    <a:pos x="0" y="1002"/>
                  </a:cxn>
                  <a:cxn ang="0">
                    <a:pos x="178" y="1539"/>
                  </a:cxn>
                  <a:cxn ang="0">
                    <a:pos x="651" y="1765"/>
                  </a:cxn>
                  <a:cxn ang="0">
                    <a:pos x="1171" y="1539"/>
                  </a:cxn>
                  <a:cxn ang="0">
                    <a:pos x="1320" y="1002"/>
                  </a:cxn>
                  <a:cxn ang="0">
                    <a:pos x="1320" y="1002"/>
                  </a:cxn>
                </a:cxnLst>
                <a:rect l="txL" t="txT" r="txR" b="txB"/>
                <a:pathLst>
                  <a:path w="48" h="42">
                    <a:moveTo>
                      <a:pt x="48" y="24"/>
                    </a:moveTo>
                    <a:lnTo>
                      <a:pt x="42" y="6"/>
                    </a:lnTo>
                    <a:lnTo>
                      <a:pt x="24" y="0"/>
                    </a:lnTo>
                    <a:lnTo>
                      <a:pt x="6" y="6"/>
                    </a:lnTo>
                    <a:lnTo>
                      <a:pt x="0" y="24"/>
                    </a:lnTo>
                    <a:lnTo>
                      <a:pt x="6" y="36"/>
                    </a:lnTo>
                    <a:lnTo>
                      <a:pt x="24" y="42"/>
                    </a:lnTo>
                    <a:lnTo>
                      <a:pt x="42" y="36"/>
                    </a:lnTo>
                    <a:lnTo>
                      <a:pt x="48" y="2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42" name="Freeform 82"/>
              <p:cNvSpPr>
                <a:spLocks noChangeAspect="1" noEditPoints="1"/>
              </p:cNvSpPr>
              <p:nvPr/>
            </p:nvSpPr>
            <p:spPr>
              <a:xfrm>
                <a:off x="3768" y="2694"/>
                <a:ext cx="27" cy="89"/>
              </a:xfrm>
              <a:custGeom>
                <a:avLst/>
                <a:gdLst>
                  <a:gd name="txL" fmla="*/ 0 w 24"/>
                  <a:gd name="txT" fmla="*/ 0 h 78"/>
                  <a:gd name="txR" fmla="*/ 24 w 24"/>
                  <a:gd name="txB" fmla="*/ 78 h 78"/>
                </a:gdLst>
                <a:ahLst/>
                <a:cxnLst>
                  <a:cxn ang="0">
                    <a:pos x="651" y="2679"/>
                  </a:cxn>
                  <a:cxn ang="0">
                    <a:pos x="514" y="2880"/>
                  </a:cxn>
                  <a:cxn ang="0">
                    <a:pos x="361" y="3140"/>
                  </a:cxn>
                  <a:cxn ang="0">
                    <a:pos x="361" y="3140"/>
                  </a:cxn>
                  <a:cxn ang="0">
                    <a:pos x="178" y="2880"/>
                  </a:cxn>
                  <a:cxn ang="0">
                    <a:pos x="361" y="2880"/>
                  </a:cxn>
                  <a:cxn ang="0">
                    <a:pos x="361" y="2679"/>
                  </a:cxn>
                  <a:cxn ang="0">
                    <a:pos x="651" y="1215"/>
                  </a:cxn>
                  <a:cxn ang="0">
                    <a:pos x="651" y="935"/>
                  </a:cxn>
                  <a:cxn ang="0">
                    <a:pos x="361" y="1215"/>
                  </a:cxn>
                  <a:cxn ang="0">
                    <a:pos x="0" y="1215"/>
                  </a:cxn>
                  <a:cxn ang="0">
                    <a:pos x="0" y="1215"/>
                  </a:cxn>
                  <a:cxn ang="0">
                    <a:pos x="178" y="1215"/>
                  </a:cxn>
                  <a:cxn ang="0">
                    <a:pos x="178" y="1474"/>
                  </a:cxn>
                  <a:cxn ang="0">
                    <a:pos x="178" y="1699"/>
                  </a:cxn>
                  <a:cxn ang="0">
                    <a:pos x="178" y="2190"/>
                  </a:cxn>
                  <a:cxn ang="0">
                    <a:pos x="0" y="2679"/>
                  </a:cxn>
                  <a:cxn ang="0">
                    <a:pos x="0" y="2880"/>
                  </a:cxn>
                  <a:cxn ang="0">
                    <a:pos x="0" y="3140"/>
                  </a:cxn>
                  <a:cxn ang="0">
                    <a:pos x="178" y="3140"/>
                  </a:cxn>
                  <a:cxn ang="0">
                    <a:pos x="514" y="2880"/>
                  </a:cxn>
                  <a:cxn ang="0">
                    <a:pos x="651" y="2679"/>
                  </a:cxn>
                  <a:cxn ang="0">
                    <a:pos x="651" y="2679"/>
                  </a:cxn>
                  <a:cxn ang="0">
                    <a:pos x="651" y="238"/>
                  </a:cxn>
                  <a:cxn ang="0">
                    <a:pos x="651" y="238"/>
                  </a:cxn>
                  <a:cxn ang="0">
                    <a:pos x="514" y="0"/>
                  </a:cxn>
                  <a:cxn ang="0">
                    <a:pos x="514" y="238"/>
                  </a:cxn>
                  <a:cxn ang="0">
                    <a:pos x="361" y="238"/>
                  </a:cxn>
                  <a:cxn ang="0">
                    <a:pos x="514" y="483"/>
                  </a:cxn>
                  <a:cxn ang="0">
                    <a:pos x="514" y="483"/>
                  </a:cxn>
                  <a:cxn ang="0">
                    <a:pos x="651" y="483"/>
                  </a:cxn>
                  <a:cxn ang="0">
                    <a:pos x="651" y="238"/>
                  </a:cxn>
                  <a:cxn ang="0">
                    <a:pos x="651" y="238"/>
                  </a:cxn>
                </a:cxnLst>
                <a:rect l="txL" t="txT" r="txR" b="txB"/>
                <a:pathLst>
                  <a:path w="24" h="78">
                    <a:moveTo>
                      <a:pt x="24" y="66"/>
                    </a:moveTo>
                    <a:lnTo>
                      <a:pt x="18" y="72"/>
                    </a:lnTo>
                    <a:lnTo>
                      <a:pt x="12" y="78"/>
                    </a:lnTo>
                    <a:lnTo>
                      <a:pt x="6" y="72"/>
                    </a:lnTo>
                    <a:lnTo>
                      <a:pt x="12" y="72"/>
                    </a:lnTo>
                    <a:lnTo>
                      <a:pt x="12" y="66"/>
                    </a:lnTo>
                    <a:lnTo>
                      <a:pt x="24" y="30"/>
                    </a:lnTo>
                    <a:lnTo>
                      <a:pt x="24" y="24"/>
                    </a:lnTo>
                    <a:lnTo>
                      <a:pt x="12" y="30"/>
                    </a:lnTo>
                    <a:lnTo>
                      <a:pt x="0" y="30"/>
                    </a:lnTo>
                    <a:lnTo>
                      <a:pt x="6" y="30"/>
                    </a:lnTo>
                    <a:lnTo>
                      <a:pt x="6" y="36"/>
                    </a:lnTo>
                    <a:lnTo>
                      <a:pt x="6" y="42"/>
                    </a:lnTo>
                    <a:lnTo>
                      <a:pt x="6" y="54"/>
                    </a:lnTo>
                    <a:lnTo>
                      <a:pt x="0" y="66"/>
                    </a:lnTo>
                    <a:lnTo>
                      <a:pt x="0" y="72"/>
                    </a:lnTo>
                    <a:lnTo>
                      <a:pt x="0" y="78"/>
                    </a:lnTo>
                    <a:lnTo>
                      <a:pt x="6" y="78"/>
                    </a:lnTo>
                    <a:lnTo>
                      <a:pt x="18" y="72"/>
                    </a:lnTo>
                    <a:lnTo>
                      <a:pt x="24" y="66"/>
                    </a:lnTo>
                    <a:close/>
                    <a:moveTo>
                      <a:pt x="24" y="6"/>
                    </a:moveTo>
                    <a:lnTo>
                      <a:pt x="24" y="6"/>
                    </a:lnTo>
                    <a:lnTo>
                      <a:pt x="18" y="0"/>
                    </a:lnTo>
                    <a:lnTo>
                      <a:pt x="18" y="6"/>
                    </a:lnTo>
                    <a:lnTo>
                      <a:pt x="12" y="6"/>
                    </a:lnTo>
                    <a:lnTo>
                      <a:pt x="18" y="12"/>
                    </a:lnTo>
                    <a:lnTo>
                      <a:pt x="24" y="12"/>
                    </a:lnTo>
                    <a:lnTo>
                      <a:pt x="24"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43" name="Freeform 83"/>
              <p:cNvSpPr>
                <a:spLocks noChangeAspect="1" noEditPoints="1"/>
              </p:cNvSpPr>
              <p:nvPr/>
            </p:nvSpPr>
            <p:spPr>
              <a:xfrm>
                <a:off x="3842" y="2735"/>
                <a:ext cx="74" cy="35"/>
              </a:xfrm>
              <a:custGeom>
                <a:avLst/>
                <a:gdLst>
                  <a:gd name="txL" fmla="*/ 0 w 65"/>
                  <a:gd name="txT" fmla="*/ 0 h 30"/>
                  <a:gd name="txR" fmla="*/ 65 w 65"/>
                  <a:gd name="txB" fmla="*/ 30 h 30"/>
                </a:gdLst>
                <a:ahLst/>
                <a:cxnLst>
                  <a:cxn ang="0">
                    <a:pos x="2441" y="0"/>
                  </a:cxn>
                  <a:cxn ang="0">
                    <a:pos x="0" y="0"/>
                  </a:cxn>
                  <a:cxn ang="0">
                    <a:pos x="0" y="480"/>
                  </a:cxn>
                  <a:cxn ang="0">
                    <a:pos x="2441" y="480"/>
                  </a:cxn>
                  <a:cxn ang="0">
                    <a:pos x="2441" y="0"/>
                  </a:cxn>
                  <a:cxn ang="0">
                    <a:pos x="2441" y="1869"/>
                  </a:cxn>
                  <a:cxn ang="0">
                    <a:pos x="0" y="1869"/>
                  </a:cxn>
                  <a:cxn ang="0">
                    <a:pos x="0" y="2280"/>
                  </a:cxn>
                  <a:cxn ang="0">
                    <a:pos x="2441" y="2280"/>
                  </a:cxn>
                  <a:cxn ang="0">
                    <a:pos x="2441" y="1869"/>
                  </a:cxn>
                </a:cxnLst>
                <a:rect l="txL" t="txT" r="txR" b="txB"/>
                <a:pathLst>
                  <a:path w="65" h="30">
                    <a:moveTo>
                      <a:pt x="65" y="0"/>
                    </a:moveTo>
                    <a:lnTo>
                      <a:pt x="0" y="0"/>
                    </a:lnTo>
                    <a:lnTo>
                      <a:pt x="0" y="6"/>
                    </a:lnTo>
                    <a:lnTo>
                      <a:pt x="65" y="6"/>
                    </a:lnTo>
                    <a:lnTo>
                      <a:pt x="65" y="0"/>
                    </a:lnTo>
                    <a:close/>
                    <a:moveTo>
                      <a:pt x="65" y="24"/>
                    </a:moveTo>
                    <a:lnTo>
                      <a:pt x="0" y="24"/>
                    </a:lnTo>
                    <a:lnTo>
                      <a:pt x="0" y="30"/>
                    </a:lnTo>
                    <a:lnTo>
                      <a:pt x="65" y="30"/>
                    </a:lnTo>
                    <a:lnTo>
                      <a:pt x="65" y="2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44" name="Freeform 84"/>
              <p:cNvSpPr>
                <a:spLocks noChangeAspect="1" noEditPoints="1"/>
              </p:cNvSpPr>
              <p:nvPr/>
            </p:nvSpPr>
            <p:spPr>
              <a:xfrm>
                <a:off x="3964" y="2694"/>
                <a:ext cx="68" cy="96"/>
              </a:xfrm>
              <a:custGeom>
                <a:avLst/>
                <a:gdLst>
                  <a:gd name="txL" fmla="*/ 0 w 60"/>
                  <a:gd name="txT" fmla="*/ 0 h 84"/>
                  <a:gd name="txR" fmla="*/ 60 w 60"/>
                  <a:gd name="txB" fmla="*/ 84 h 84"/>
                </a:gdLst>
                <a:ahLst/>
                <a:cxnLst>
                  <a:cxn ang="0">
                    <a:pos x="1022" y="0"/>
                  </a:cxn>
                  <a:cxn ang="0">
                    <a:pos x="1384" y="243"/>
                  </a:cxn>
                  <a:cxn ang="0">
                    <a:pos x="1569" y="767"/>
                  </a:cxn>
                  <a:cxn ang="0">
                    <a:pos x="1569" y="1242"/>
                  </a:cxn>
                  <a:cxn ang="0">
                    <a:pos x="1569" y="1765"/>
                  </a:cxn>
                  <a:cxn ang="0">
                    <a:pos x="1569" y="2017"/>
                  </a:cxn>
                  <a:cxn ang="0">
                    <a:pos x="1569" y="2547"/>
                  </a:cxn>
                  <a:cxn ang="0">
                    <a:pos x="1384" y="3010"/>
                  </a:cxn>
                  <a:cxn ang="0">
                    <a:pos x="1022" y="3309"/>
                  </a:cxn>
                  <a:cxn ang="0">
                    <a:pos x="575" y="3010"/>
                  </a:cxn>
                  <a:cxn ang="0">
                    <a:pos x="394" y="2547"/>
                  </a:cxn>
                  <a:cxn ang="0">
                    <a:pos x="394" y="2017"/>
                  </a:cxn>
                  <a:cxn ang="0">
                    <a:pos x="394" y="1765"/>
                  </a:cxn>
                  <a:cxn ang="0">
                    <a:pos x="394" y="1242"/>
                  </a:cxn>
                  <a:cxn ang="0">
                    <a:pos x="394" y="767"/>
                  </a:cxn>
                  <a:cxn ang="0">
                    <a:pos x="575" y="243"/>
                  </a:cxn>
                  <a:cxn ang="0">
                    <a:pos x="1022" y="0"/>
                  </a:cxn>
                  <a:cxn ang="0">
                    <a:pos x="1022" y="0"/>
                  </a:cxn>
                  <a:cxn ang="0">
                    <a:pos x="1022" y="0"/>
                  </a:cxn>
                  <a:cxn ang="0">
                    <a:pos x="575" y="243"/>
                  </a:cxn>
                  <a:cxn ang="0">
                    <a:pos x="186" y="514"/>
                  </a:cxn>
                  <a:cxn ang="0">
                    <a:pos x="0" y="1765"/>
                  </a:cxn>
                  <a:cxn ang="0">
                    <a:pos x="0" y="2297"/>
                  </a:cxn>
                  <a:cxn ang="0">
                    <a:pos x="186" y="2768"/>
                  </a:cxn>
                  <a:cxn ang="0">
                    <a:pos x="575" y="3309"/>
                  </a:cxn>
                  <a:cxn ang="0">
                    <a:pos x="1022" y="3567"/>
                  </a:cxn>
                  <a:cxn ang="0">
                    <a:pos x="1569" y="3309"/>
                  </a:cxn>
                  <a:cxn ang="0">
                    <a:pos x="1778" y="2768"/>
                  </a:cxn>
                  <a:cxn ang="0">
                    <a:pos x="1996" y="2297"/>
                  </a:cxn>
                  <a:cxn ang="0">
                    <a:pos x="1996" y="1765"/>
                  </a:cxn>
                  <a:cxn ang="0">
                    <a:pos x="1778" y="514"/>
                  </a:cxn>
                  <a:cxn ang="0">
                    <a:pos x="1569" y="243"/>
                  </a:cxn>
                  <a:cxn ang="0">
                    <a:pos x="1022" y="0"/>
                  </a:cxn>
                  <a:cxn ang="0">
                    <a:pos x="1022" y="0"/>
                  </a:cxn>
                </a:cxnLst>
                <a:rect l="txL" t="txT" r="txR" b="txB"/>
                <a:pathLst>
                  <a:path w="60" h="84">
                    <a:moveTo>
                      <a:pt x="30" y="0"/>
                    </a:moveTo>
                    <a:lnTo>
                      <a:pt x="42" y="6"/>
                    </a:lnTo>
                    <a:lnTo>
                      <a:pt x="48" y="18"/>
                    </a:lnTo>
                    <a:lnTo>
                      <a:pt x="48" y="30"/>
                    </a:lnTo>
                    <a:lnTo>
                      <a:pt x="48" y="42"/>
                    </a:lnTo>
                    <a:lnTo>
                      <a:pt x="48" y="48"/>
                    </a:lnTo>
                    <a:lnTo>
                      <a:pt x="48" y="60"/>
                    </a:lnTo>
                    <a:lnTo>
                      <a:pt x="42" y="72"/>
                    </a:lnTo>
                    <a:lnTo>
                      <a:pt x="30" y="78"/>
                    </a:lnTo>
                    <a:lnTo>
                      <a:pt x="18" y="72"/>
                    </a:lnTo>
                    <a:lnTo>
                      <a:pt x="12" y="60"/>
                    </a:lnTo>
                    <a:lnTo>
                      <a:pt x="12" y="48"/>
                    </a:lnTo>
                    <a:lnTo>
                      <a:pt x="12" y="42"/>
                    </a:lnTo>
                    <a:lnTo>
                      <a:pt x="12" y="30"/>
                    </a:lnTo>
                    <a:lnTo>
                      <a:pt x="12" y="18"/>
                    </a:lnTo>
                    <a:lnTo>
                      <a:pt x="18" y="6"/>
                    </a:lnTo>
                    <a:lnTo>
                      <a:pt x="30" y="0"/>
                    </a:lnTo>
                    <a:close/>
                    <a:moveTo>
                      <a:pt x="30" y="0"/>
                    </a:moveTo>
                    <a:lnTo>
                      <a:pt x="18" y="6"/>
                    </a:lnTo>
                    <a:lnTo>
                      <a:pt x="6" y="12"/>
                    </a:lnTo>
                    <a:lnTo>
                      <a:pt x="0" y="42"/>
                    </a:lnTo>
                    <a:lnTo>
                      <a:pt x="0" y="54"/>
                    </a:lnTo>
                    <a:lnTo>
                      <a:pt x="6" y="66"/>
                    </a:lnTo>
                    <a:lnTo>
                      <a:pt x="18" y="78"/>
                    </a:lnTo>
                    <a:lnTo>
                      <a:pt x="30" y="84"/>
                    </a:lnTo>
                    <a:lnTo>
                      <a:pt x="48" y="78"/>
                    </a:lnTo>
                    <a:lnTo>
                      <a:pt x="54" y="66"/>
                    </a:lnTo>
                    <a:lnTo>
                      <a:pt x="60" y="54"/>
                    </a:lnTo>
                    <a:lnTo>
                      <a:pt x="60" y="42"/>
                    </a:lnTo>
                    <a:lnTo>
                      <a:pt x="54" y="12"/>
                    </a:lnTo>
                    <a:lnTo>
                      <a:pt x="48" y="6"/>
                    </a:lnTo>
                    <a:lnTo>
                      <a:pt x="3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45" name="Freeform 85"/>
              <p:cNvSpPr>
                <a:spLocks noChangeAspect="1"/>
              </p:cNvSpPr>
              <p:nvPr/>
            </p:nvSpPr>
            <p:spPr>
              <a:xfrm>
                <a:off x="3686" y="2626"/>
                <a:ext cx="1" cy="171"/>
              </a:xfrm>
              <a:custGeom>
                <a:avLst/>
                <a:gdLst>
                  <a:gd name="txL" fmla="*/ 0 w 1"/>
                  <a:gd name="txT" fmla="*/ 0 h 149"/>
                  <a:gd name="txR" fmla="*/ 1 w 1"/>
                  <a:gd name="txB" fmla="*/ 149 h 149"/>
                </a:gdLst>
                <a:ahLst/>
                <a:cxnLst>
                  <a:cxn ang="0">
                    <a:pos x="0" y="0"/>
                  </a:cxn>
                  <a:cxn ang="0">
                    <a:pos x="0" y="7036"/>
                  </a:cxn>
                  <a:cxn ang="0">
                    <a:pos x="0" y="0"/>
                  </a:cxn>
                  <a:cxn ang="0">
                    <a:pos x="0" y="0"/>
                  </a:cxn>
                </a:cxnLst>
                <a:rect l="txL" t="txT" r="txR" b="txB"/>
                <a:pathLst>
                  <a:path w="1" h="149">
                    <a:moveTo>
                      <a:pt x="0" y="0"/>
                    </a:moveTo>
                    <a:lnTo>
                      <a:pt x="0" y="149"/>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8246" name="Freeform 86"/>
              <p:cNvSpPr>
                <a:spLocks noChangeAspect="1"/>
              </p:cNvSpPr>
              <p:nvPr/>
            </p:nvSpPr>
            <p:spPr>
              <a:xfrm>
                <a:off x="3652" y="2776"/>
                <a:ext cx="61" cy="103"/>
              </a:xfrm>
              <a:custGeom>
                <a:avLst/>
                <a:gdLst>
                  <a:gd name="txL" fmla="*/ 0 w 54"/>
                  <a:gd name="txT" fmla="*/ 0 h 89"/>
                  <a:gd name="txR" fmla="*/ 54 w 54"/>
                  <a:gd name="txB" fmla="*/ 89 h 89"/>
                </a:gdLst>
                <a:ahLst/>
                <a:cxnLst>
                  <a:cxn ang="0">
                    <a:pos x="0" y="0"/>
                  </a:cxn>
                  <a:cxn ang="0">
                    <a:pos x="907" y="5321"/>
                  </a:cxn>
                  <a:cxn ang="0">
                    <a:pos x="1645" y="0"/>
                  </a:cxn>
                  <a:cxn ang="0">
                    <a:pos x="0" y="0"/>
                  </a:cxn>
                  <a:cxn ang="0">
                    <a:pos x="0" y="0"/>
                  </a:cxn>
                </a:cxnLst>
                <a:rect l="txL" t="txT" r="txR" b="txB"/>
                <a:pathLst>
                  <a:path w="54" h="89">
                    <a:moveTo>
                      <a:pt x="0" y="0"/>
                    </a:moveTo>
                    <a:lnTo>
                      <a:pt x="30" y="89"/>
                    </a:lnTo>
                    <a:lnTo>
                      <a:pt x="54" y="0"/>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8247" name="Freeform 87"/>
              <p:cNvSpPr>
                <a:spLocks noChangeAspect="1"/>
              </p:cNvSpPr>
              <p:nvPr/>
            </p:nvSpPr>
            <p:spPr>
              <a:xfrm>
                <a:off x="3394" y="3167"/>
                <a:ext cx="55" cy="62"/>
              </a:xfrm>
              <a:custGeom>
                <a:avLst/>
                <a:gdLst>
                  <a:gd name="txL" fmla="*/ 0 w 48"/>
                  <a:gd name="txT" fmla="*/ 0 h 54"/>
                  <a:gd name="txR" fmla="*/ 48 w 48"/>
                  <a:gd name="txB" fmla="*/ 54 h 54"/>
                </a:gdLst>
                <a:ahLst/>
                <a:cxnLst>
                  <a:cxn ang="0">
                    <a:pos x="0" y="273"/>
                  </a:cxn>
                  <a:cxn ang="0">
                    <a:pos x="251" y="273"/>
                  </a:cxn>
                  <a:cxn ang="0">
                    <a:pos x="557" y="865"/>
                  </a:cxn>
                  <a:cxn ang="0">
                    <a:pos x="557" y="1710"/>
                  </a:cxn>
                  <a:cxn ang="0">
                    <a:pos x="557" y="2276"/>
                  </a:cxn>
                  <a:cxn ang="0">
                    <a:pos x="838" y="2588"/>
                  </a:cxn>
                  <a:cxn ang="0">
                    <a:pos x="838" y="2588"/>
                  </a:cxn>
                  <a:cxn ang="0">
                    <a:pos x="838" y="2276"/>
                  </a:cxn>
                  <a:cxn ang="0">
                    <a:pos x="1378" y="1982"/>
                  </a:cxn>
                  <a:cxn ang="0">
                    <a:pos x="1650" y="1710"/>
                  </a:cxn>
                  <a:cxn ang="0">
                    <a:pos x="1896" y="1140"/>
                  </a:cxn>
                  <a:cxn ang="0">
                    <a:pos x="2173" y="865"/>
                  </a:cxn>
                  <a:cxn ang="0">
                    <a:pos x="2173" y="273"/>
                  </a:cxn>
                  <a:cxn ang="0">
                    <a:pos x="2173" y="273"/>
                  </a:cxn>
                  <a:cxn ang="0">
                    <a:pos x="1896" y="0"/>
                  </a:cxn>
                  <a:cxn ang="0">
                    <a:pos x="1896" y="0"/>
                  </a:cxn>
                  <a:cxn ang="0">
                    <a:pos x="1650" y="273"/>
                  </a:cxn>
                  <a:cxn ang="0">
                    <a:pos x="1896" y="571"/>
                  </a:cxn>
                  <a:cxn ang="0">
                    <a:pos x="1896" y="571"/>
                  </a:cxn>
                  <a:cxn ang="0">
                    <a:pos x="1650" y="1140"/>
                  </a:cxn>
                  <a:cxn ang="0">
                    <a:pos x="1378" y="1710"/>
                  </a:cxn>
                  <a:cxn ang="0">
                    <a:pos x="1100" y="1982"/>
                  </a:cxn>
                  <a:cxn ang="0">
                    <a:pos x="1100" y="1140"/>
                  </a:cxn>
                  <a:cxn ang="0">
                    <a:pos x="838" y="0"/>
                  </a:cxn>
                  <a:cxn ang="0">
                    <a:pos x="838" y="0"/>
                  </a:cxn>
                  <a:cxn ang="0">
                    <a:pos x="557" y="0"/>
                  </a:cxn>
                  <a:cxn ang="0">
                    <a:pos x="0" y="273"/>
                  </a:cxn>
                  <a:cxn ang="0">
                    <a:pos x="0" y="273"/>
                  </a:cxn>
                </a:cxnLst>
                <a:rect l="txL" t="txT" r="txR" b="txB"/>
                <a:pathLst>
                  <a:path w="48" h="54">
                    <a:moveTo>
                      <a:pt x="0" y="6"/>
                    </a:moveTo>
                    <a:lnTo>
                      <a:pt x="6" y="6"/>
                    </a:lnTo>
                    <a:lnTo>
                      <a:pt x="12" y="18"/>
                    </a:lnTo>
                    <a:lnTo>
                      <a:pt x="12" y="36"/>
                    </a:lnTo>
                    <a:lnTo>
                      <a:pt x="12" y="48"/>
                    </a:lnTo>
                    <a:lnTo>
                      <a:pt x="18" y="54"/>
                    </a:lnTo>
                    <a:lnTo>
                      <a:pt x="18" y="48"/>
                    </a:lnTo>
                    <a:lnTo>
                      <a:pt x="30" y="42"/>
                    </a:lnTo>
                    <a:lnTo>
                      <a:pt x="36" y="36"/>
                    </a:lnTo>
                    <a:lnTo>
                      <a:pt x="42" y="24"/>
                    </a:lnTo>
                    <a:lnTo>
                      <a:pt x="48" y="18"/>
                    </a:lnTo>
                    <a:lnTo>
                      <a:pt x="48" y="6"/>
                    </a:lnTo>
                    <a:lnTo>
                      <a:pt x="42" y="0"/>
                    </a:lnTo>
                    <a:lnTo>
                      <a:pt x="36" y="6"/>
                    </a:lnTo>
                    <a:lnTo>
                      <a:pt x="42" y="12"/>
                    </a:lnTo>
                    <a:lnTo>
                      <a:pt x="36" y="24"/>
                    </a:lnTo>
                    <a:lnTo>
                      <a:pt x="30" y="36"/>
                    </a:lnTo>
                    <a:lnTo>
                      <a:pt x="24" y="42"/>
                    </a:lnTo>
                    <a:lnTo>
                      <a:pt x="24" y="24"/>
                    </a:lnTo>
                    <a:lnTo>
                      <a:pt x="18" y="0"/>
                    </a:lnTo>
                    <a:lnTo>
                      <a:pt x="12"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48" name="Freeform 88"/>
              <p:cNvSpPr>
                <a:spLocks noChangeAspect="1"/>
              </p:cNvSpPr>
              <p:nvPr/>
            </p:nvSpPr>
            <p:spPr>
              <a:xfrm>
                <a:off x="3442" y="2701"/>
                <a:ext cx="75" cy="75"/>
              </a:xfrm>
              <a:custGeom>
                <a:avLst/>
                <a:gdLst>
                  <a:gd name="txL" fmla="*/ 0 w 66"/>
                  <a:gd name="txT" fmla="*/ 0 h 66"/>
                  <a:gd name="txR" fmla="*/ 66 w 66"/>
                  <a:gd name="txB" fmla="*/ 66 h 66"/>
                </a:gdLst>
                <a:ahLst/>
                <a:cxnLst>
                  <a:cxn ang="0">
                    <a:pos x="849" y="1085"/>
                  </a:cxn>
                  <a:cxn ang="0">
                    <a:pos x="0" y="1085"/>
                  </a:cxn>
                  <a:cxn ang="0">
                    <a:pos x="0" y="1281"/>
                  </a:cxn>
                  <a:cxn ang="0">
                    <a:pos x="849" y="1281"/>
                  </a:cxn>
                  <a:cxn ang="0">
                    <a:pos x="849" y="2364"/>
                  </a:cxn>
                  <a:cxn ang="0">
                    <a:pos x="1281" y="2364"/>
                  </a:cxn>
                  <a:cxn ang="0">
                    <a:pos x="1281" y="1281"/>
                  </a:cxn>
                  <a:cxn ang="0">
                    <a:pos x="2364" y="1281"/>
                  </a:cxn>
                  <a:cxn ang="0">
                    <a:pos x="2364" y="1085"/>
                  </a:cxn>
                  <a:cxn ang="0">
                    <a:pos x="1281" y="1085"/>
                  </a:cxn>
                  <a:cxn ang="0">
                    <a:pos x="1281" y="0"/>
                  </a:cxn>
                  <a:cxn ang="0">
                    <a:pos x="849" y="0"/>
                  </a:cxn>
                  <a:cxn ang="0">
                    <a:pos x="849" y="1085"/>
                  </a:cxn>
                </a:cxnLst>
                <a:rect l="txL" t="txT" r="txR" b="txB"/>
                <a:pathLst>
                  <a:path w="66" h="66">
                    <a:moveTo>
                      <a:pt x="24" y="30"/>
                    </a:moveTo>
                    <a:lnTo>
                      <a:pt x="0" y="30"/>
                    </a:lnTo>
                    <a:lnTo>
                      <a:pt x="0" y="36"/>
                    </a:lnTo>
                    <a:lnTo>
                      <a:pt x="24" y="36"/>
                    </a:lnTo>
                    <a:lnTo>
                      <a:pt x="24" y="66"/>
                    </a:lnTo>
                    <a:lnTo>
                      <a:pt x="36" y="66"/>
                    </a:lnTo>
                    <a:lnTo>
                      <a:pt x="36" y="36"/>
                    </a:lnTo>
                    <a:lnTo>
                      <a:pt x="66" y="36"/>
                    </a:lnTo>
                    <a:lnTo>
                      <a:pt x="66" y="30"/>
                    </a:lnTo>
                    <a:lnTo>
                      <a:pt x="36" y="30"/>
                    </a:lnTo>
                    <a:lnTo>
                      <a:pt x="36" y="0"/>
                    </a:lnTo>
                    <a:lnTo>
                      <a:pt x="24" y="0"/>
                    </a:lnTo>
                    <a:lnTo>
                      <a:pt x="24"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49" name="Rectangle 89"/>
              <p:cNvSpPr>
                <a:spLocks noChangeAspect="1"/>
              </p:cNvSpPr>
              <p:nvPr/>
            </p:nvSpPr>
            <p:spPr>
              <a:xfrm>
                <a:off x="3435" y="3580"/>
                <a:ext cx="82" cy="7"/>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grpSp>
      </p:grpSp>
      <p:sp>
        <p:nvSpPr>
          <p:cNvPr id="8196" name="Rectangle 90"/>
          <p:cNvSpPr/>
          <p:nvPr/>
        </p:nvSpPr>
        <p:spPr>
          <a:xfrm>
            <a:off x="909638" y="6080125"/>
            <a:ext cx="7418387" cy="360363"/>
          </a:xfrm>
          <a:prstGeom prst="rect">
            <a:avLst/>
          </a:prstGeom>
          <a:noFill/>
          <a:ln w="9525">
            <a:noFill/>
          </a:ln>
        </p:spPr>
        <p:txBody>
          <a:bodyPr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cs typeface="Arial" panose="020B0604020202020204" pitchFamily="34" charset="0"/>
              </a:rPr>
              <a:t>(a) </a:t>
            </a:r>
            <a:r>
              <a:rPr lang="zh-CN" altLang="en-US" sz="2000" dirty="0">
                <a:cs typeface="Arial" panose="020B0604020202020204" pitchFamily="34" charset="0"/>
              </a:rPr>
              <a:t>短路</a:t>
            </a:r>
            <a:r>
              <a:rPr lang="en-US" altLang="zh-CN" sz="2000" dirty="0">
                <a:cs typeface="Arial" panose="020B0604020202020204" pitchFamily="34" charset="0"/>
              </a:rPr>
              <a:t>(R = 0)                                 (b) </a:t>
            </a:r>
            <a:r>
              <a:rPr lang="zh-CN" altLang="en-US" sz="2000" dirty="0">
                <a:cs typeface="Arial" panose="020B0604020202020204" pitchFamily="34" charset="0"/>
              </a:rPr>
              <a:t>开路</a:t>
            </a:r>
            <a:r>
              <a:rPr lang="en-US" altLang="zh-CN" sz="2000" dirty="0">
                <a:cs typeface="Arial" panose="020B0604020202020204" pitchFamily="34" charset="0"/>
              </a:rPr>
              <a:t>(R=</a:t>
            </a:r>
            <a:r>
              <a:rPr lang="en-US" altLang="zh-CN" sz="2000" dirty="0">
                <a:cs typeface="Arial" panose="020B0604020202020204" pitchFamily="34" charset="0"/>
                <a:sym typeface="Symbol" panose="05050102010706020507" pitchFamily="18" charset="2"/>
              </a:rPr>
              <a:t></a:t>
            </a:r>
            <a:r>
              <a:rPr lang="en-US" altLang="zh-CN" sz="2000" dirty="0">
                <a:cs typeface="Arial" panose="020B0604020202020204" pitchFamily="34" charset="0"/>
              </a:rPr>
              <a:t>)</a:t>
            </a:r>
            <a:endParaRPr lang="en-US" altLang="zh-CN" sz="2000" dirty="0">
              <a:ea typeface="Arial" panose="020B0604020202020204" pitchFamily="34" charset="0"/>
            </a:endParaRPr>
          </a:p>
        </p:txBody>
      </p:sp>
      <p:sp>
        <p:nvSpPr>
          <p:cNvPr id="8197" name="Text Box 91"/>
          <p:cNvSpPr txBox="1"/>
          <p:nvPr/>
        </p:nvSpPr>
        <p:spPr>
          <a:xfrm>
            <a:off x="827088" y="908050"/>
            <a:ext cx="7488237" cy="461963"/>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Arial Black" panose="020B0A04020102020204" pitchFamily="34" charset="0"/>
                <a:cs typeface="Arial" panose="020B0604020202020204" pitchFamily="34" charset="0"/>
              </a:rPr>
              <a:t>短路</a:t>
            </a:r>
            <a:r>
              <a:rPr lang="zh-CN" altLang="en-US" sz="2400" b="1" dirty="0">
                <a:latin typeface="Arial Black" panose="020B0A04020102020204" pitchFamily="34" charset="0"/>
                <a:cs typeface="Arial" panose="020B0604020202020204" pitchFamily="34" charset="0"/>
              </a:rPr>
              <a:t>指的是电路元件的电阻接近</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Arial Black" panose="020B0A04020102020204" pitchFamily="34" charset="0"/>
                <a:cs typeface="Arial" panose="020B0604020202020204" pitchFamily="34" charset="0"/>
              </a:rPr>
              <a:t>的情况。</a:t>
            </a:r>
            <a:endParaRPr lang="en-US" altLang="zh-CN" sz="2400" b="1" dirty="0">
              <a:latin typeface="Arial Black" panose="020B0A04020102020204" pitchFamily="34" charset="0"/>
              <a:ea typeface="Arial" panose="020B0604020202020204" pitchFamily="34" charset="0"/>
            </a:endParaRPr>
          </a:p>
        </p:txBody>
      </p:sp>
      <p:sp>
        <p:nvSpPr>
          <p:cNvPr id="8198" name="Text Box 92"/>
          <p:cNvSpPr txBox="1"/>
          <p:nvPr/>
        </p:nvSpPr>
        <p:spPr>
          <a:xfrm>
            <a:off x="827088" y="1962150"/>
            <a:ext cx="7488237" cy="461963"/>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Arial Black" panose="020B0A04020102020204" pitchFamily="34" charset="0"/>
                <a:cs typeface="Arial" panose="020B0604020202020204" pitchFamily="34" charset="0"/>
              </a:rPr>
              <a:t>开路</a:t>
            </a:r>
            <a:r>
              <a:rPr lang="zh-CN" altLang="en-US" sz="2400" b="1" dirty="0">
                <a:latin typeface="Arial Black" panose="020B0A04020102020204" pitchFamily="34" charset="0"/>
                <a:cs typeface="Arial" panose="020B0604020202020204" pitchFamily="34" charset="0"/>
              </a:rPr>
              <a:t>指的是电路元件的电阻接近无穷大的情况。</a:t>
            </a:r>
            <a:endParaRPr lang="en-US" altLang="zh-CN" sz="2400" b="1" dirty="0">
              <a:latin typeface="Arial Black" panose="020B0A04020102020204" pitchFamily="34" charset="0"/>
              <a:ea typeface="Arial" panose="020B0604020202020204" pitchFamily="34" charset="0"/>
            </a:endParaRPr>
          </a:p>
        </p:txBody>
      </p:sp>
      <p:sp>
        <p:nvSpPr>
          <p:cNvPr id="8199"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p:nvPr>
        </p:nvSpPr>
        <p:spPr/>
        <p:txBody>
          <a:bodyPr vert="horz" wrap="square" lIns="91440" tIns="45720" rIns="91440" bIns="45720" anchor="ctr"/>
          <a:p>
            <a:pPr eaLnBrk="1" hangingPunct="1"/>
            <a:br>
              <a:rPr lang="en-US" altLang="zh-CN" dirty="0"/>
            </a:br>
            <a:endParaRPr lang="en-US" altLang="zh-CN" dirty="0"/>
          </a:p>
        </p:txBody>
      </p:sp>
      <p:sp>
        <p:nvSpPr>
          <p:cNvPr id="9219" name="Rectangle 3"/>
          <p:cNvSpPr>
            <a:spLocks noGrp="1"/>
          </p:cNvSpPr>
          <p:nvPr>
            <p:ph idx="1"/>
          </p:nvPr>
        </p:nvSpPr>
        <p:spPr>
          <a:xfrm>
            <a:off x="395288" y="836613"/>
            <a:ext cx="8229600" cy="2520950"/>
          </a:xfrm>
        </p:spPr>
        <p:txBody>
          <a:bodyPr vert="horz" wrap="square" lIns="91440" tIns="45720" rIns="91440" bIns="45720" anchor="t"/>
          <a:p>
            <a:pPr eaLnBrk="1" hangingPunct="1">
              <a:buClr>
                <a:srgbClr val="CC0000"/>
              </a:buClr>
            </a:pPr>
            <a:r>
              <a:rPr lang="zh-CN" altLang="en-US" sz="2800" b="1" dirty="0">
                <a:solidFill>
                  <a:srgbClr val="002060"/>
                </a:solidFill>
                <a:latin typeface="黑体" panose="02010609060101010101" pitchFamily="49" charset="-122"/>
                <a:ea typeface="黑体" panose="02010609060101010101" pitchFamily="49" charset="-122"/>
              </a:rPr>
              <a:t>拓展知识：</a:t>
            </a:r>
            <a:endParaRPr lang="en-US" altLang="zh-CN" sz="2800" dirty="0">
              <a:solidFill>
                <a:srgbClr val="002060"/>
              </a:solidFill>
              <a:latin typeface="黑体" panose="02010609060101010101" pitchFamily="49" charset="-122"/>
              <a:ea typeface="黑体" panose="02010609060101010101" pitchFamily="49" charset="-122"/>
            </a:endParaRPr>
          </a:p>
          <a:p>
            <a:pPr eaLnBrk="1" hangingPunct="1">
              <a:buNone/>
            </a:pPr>
            <a:r>
              <a:rPr lang="en-US" altLang="zh-CN" dirty="0"/>
              <a:t>  </a:t>
            </a:r>
            <a:endParaRPr lang="en-US" altLang="zh-CN" dirty="0"/>
          </a:p>
          <a:p>
            <a:pPr eaLnBrk="1" hangingPunct="1">
              <a:buNone/>
            </a:pPr>
            <a:endParaRPr lang="en-US" altLang="zh-CN" dirty="0"/>
          </a:p>
          <a:p>
            <a:pPr eaLnBrk="1" hangingPunct="1"/>
            <a:r>
              <a:rPr lang="zh-CN" altLang="en-US" sz="2400" b="1" dirty="0"/>
              <a:t>电阻参数</a:t>
            </a:r>
            <a:endParaRPr lang="zh-CN" altLang="en-US" sz="2400" b="1" dirty="0"/>
          </a:p>
          <a:p>
            <a:pPr eaLnBrk="1" hangingPunct="1"/>
            <a:endParaRPr lang="zh-CN" altLang="en-US" sz="2800" b="1" dirty="0"/>
          </a:p>
          <a:p>
            <a:pPr eaLnBrk="1" hangingPunct="1">
              <a:buNone/>
            </a:pPr>
            <a:r>
              <a:rPr lang="zh-CN" altLang="en-US" sz="2400" b="1" dirty="0"/>
              <a:t> </a:t>
            </a:r>
            <a:endParaRPr lang="en-US" altLang="zh-CN" sz="2400" b="1" dirty="0"/>
          </a:p>
          <a:p>
            <a:pPr eaLnBrk="1" hangingPunct="1"/>
            <a:r>
              <a:rPr lang="zh-CN" altLang="en-US" sz="2400" b="1" dirty="0"/>
              <a:t> </a:t>
            </a:r>
            <a:r>
              <a:rPr lang="zh-CN" altLang="en-US" sz="2400" b="1" dirty="0">
                <a:solidFill>
                  <a:srgbClr val="002060"/>
                </a:solidFill>
              </a:rPr>
              <a:t>色环标记</a:t>
            </a:r>
            <a:r>
              <a:rPr lang="zh-CN" altLang="en-US" sz="2400" b="1" dirty="0"/>
              <a:t>法：棕</a:t>
            </a:r>
            <a:r>
              <a:rPr lang="zh-CN" altLang="en-US" sz="2400" b="1" dirty="0">
                <a:ea typeface="隶书" panose="02010509060101010101" pitchFamily="49" charset="-122"/>
              </a:rPr>
              <a:t>、</a:t>
            </a:r>
            <a:r>
              <a:rPr lang="zh-CN" altLang="en-US" sz="2400" b="1" dirty="0"/>
              <a:t>红</a:t>
            </a:r>
            <a:r>
              <a:rPr lang="zh-CN" altLang="en-US" sz="2400" b="1" dirty="0">
                <a:ea typeface="隶书" panose="02010509060101010101" pitchFamily="49" charset="-122"/>
              </a:rPr>
              <a:t>、</a:t>
            </a:r>
            <a:r>
              <a:rPr lang="zh-CN" altLang="en-US" sz="2400" b="1" dirty="0"/>
              <a:t>橙</a:t>
            </a:r>
            <a:r>
              <a:rPr lang="zh-CN" altLang="en-US" sz="2400" b="1" dirty="0">
                <a:ea typeface="隶书" panose="02010509060101010101" pitchFamily="49" charset="-122"/>
              </a:rPr>
              <a:t>、</a:t>
            </a:r>
            <a:r>
              <a:rPr lang="zh-CN" altLang="en-US" sz="2400" b="1" dirty="0"/>
              <a:t>黄</a:t>
            </a:r>
            <a:r>
              <a:rPr lang="zh-CN" altLang="en-US" sz="2400" b="1" dirty="0">
                <a:ea typeface="隶书" panose="02010509060101010101" pitchFamily="49" charset="-122"/>
              </a:rPr>
              <a:t>、</a:t>
            </a:r>
            <a:r>
              <a:rPr lang="zh-CN" altLang="en-US" sz="2400" b="1" dirty="0"/>
              <a:t>绿</a:t>
            </a:r>
            <a:r>
              <a:rPr lang="zh-CN" altLang="en-US" sz="2400" b="1" dirty="0">
                <a:ea typeface="隶书" panose="02010509060101010101" pitchFamily="49" charset="-122"/>
              </a:rPr>
              <a:t>、</a:t>
            </a:r>
            <a:endParaRPr lang="zh-CN" altLang="en-US" sz="2400" b="1" dirty="0">
              <a:ea typeface="隶书" panose="02010509060101010101" pitchFamily="49" charset="-122"/>
            </a:endParaRPr>
          </a:p>
          <a:p>
            <a:pPr eaLnBrk="1" hangingPunct="1">
              <a:buNone/>
            </a:pPr>
            <a:r>
              <a:rPr lang="zh-CN" altLang="en-US" sz="2400" b="1" dirty="0"/>
              <a:t> 兰</a:t>
            </a:r>
            <a:r>
              <a:rPr lang="zh-CN" altLang="en-US" sz="2400" b="1" dirty="0">
                <a:ea typeface="隶书" panose="02010509060101010101" pitchFamily="49" charset="-122"/>
              </a:rPr>
              <a:t>、</a:t>
            </a:r>
            <a:r>
              <a:rPr lang="zh-CN" altLang="en-US" sz="2400" b="1" dirty="0"/>
              <a:t>紫</a:t>
            </a:r>
            <a:r>
              <a:rPr lang="zh-CN" altLang="en-US" sz="2400" b="1" dirty="0">
                <a:ea typeface="隶书" panose="02010509060101010101" pitchFamily="49" charset="-122"/>
              </a:rPr>
              <a:t>、</a:t>
            </a:r>
            <a:r>
              <a:rPr lang="zh-CN" altLang="en-US" sz="2400" b="1" dirty="0"/>
              <a:t>灰</a:t>
            </a:r>
            <a:r>
              <a:rPr lang="zh-CN" altLang="en-US" sz="2400" b="1" dirty="0">
                <a:ea typeface="隶书" panose="02010509060101010101" pitchFamily="49" charset="-122"/>
              </a:rPr>
              <a:t>、</a:t>
            </a:r>
            <a:r>
              <a:rPr lang="zh-CN" altLang="en-US" sz="2400" b="1" dirty="0"/>
              <a:t>白</a:t>
            </a:r>
            <a:r>
              <a:rPr lang="zh-CN" altLang="en-US" sz="2400" b="1" dirty="0">
                <a:ea typeface="隶书" panose="02010509060101010101" pitchFamily="49" charset="-122"/>
              </a:rPr>
              <a:t>、</a:t>
            </a:r>
            <a:r>
              <a:rPr lang="zh-CN" altLang="en-US" sz="2400" b="1" dirty="0"/>
              <a:t>黑，金</a:t>
            </a:r>
            <a:r>
              <a:rPr lang="zh-CN" altLang="en-US" sz="2400" b="1" dirty="0">
                <a:ea typeface="隶书" panose="02010509060101010101" pitchFamily="49" charset="-122"/>
              </a:rPr>
              <a:t>、</a:t>
            </a:r>
            <a:r>
              <a:rPr lang="zh-CN" altLang="en-US" sz="2400" b="1" dirty="0"/>
              <a:t>银</a:t>
            </a:r>
            <a:r>
              <a:rPr lang="zh-CN" altLang="en-US" sz="2400" b="1" dirty="0">
                <a:ea typeface="隶书" panose="02010509060101010101" pitchFamily="49" charset="-122"/>
              </a:rPr>
              <a:t>、</a:t>
            </a:r>
            <a:r>
              <a:rPr lang="zh-CN" altLang="en-US" sz="2400" b="1" dirty="0"/>
              <a:t>无色</a:t>
            </a:r>
            <a:endParaRPr lang="zh-CN" altLang="en-US" sz="2400" b="1" dirty="0"/>
          </a:p>
        </p:txBody>
      </p:sp>
      <p:sp>
        <p:nvSpPr>
          <p:cNvPr id="9220" name="AutoShape 4"/>
          <p:cNvSpPr/>
          <p:nvPr/>
        </p:nvSpPr>
        <p:spPr>
          <a:xfrm>
            <a:off x="2339975" y="2279650"/>
            <a:ext cx="431800" cy="790575"/>
          </a:xfrm>
          <a:prstGeom prst="leftBrace">
            <a:avLst>
              <a:gd name="adj1" fmla="val 15257"/>
              <a:gd name="adj2" fmla="val 50000"/>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9221" name="Text Box 5"/>
          <p:cNvSpPr txBox="1"/>
          <p:nvPr/>
        </p:nvSpPr>
        <p:spPr>
          <a:xfrm>
            <a:off x="2771775" y="2208213"/>
            <a:ext cx="11525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cs typeface="Arial" panose="020B0604020202020204" pitchFamily="34" charset="0"/>
              </a:rPr>
              <a:t>阻值</a:t>
            </a:r>
            <a:endParaRPr lang="zh-CN" altLang="en-US" sz="2400" b="1" dirty="0">
              <a:ea typeface="Arial" panose="020B0604020202020204" pitchFamily="34" charset="0"/>
            </a:endParaRPr>
          </a:p>
        </p:txBody>
      </p:sp>
      <p:sp>
        <p:nvSpPr>
          <p:cNvPr id="9222" name="Text Box 6"/>
          <p:cNvSpPr txBox="1"/>
          <p:nvPr/>
        </p:nvSpPr>
        <p:spPr>
          <a:xfrm>
            <a:off x="2771775" y="2711450"/>
            <a:ext cx="396081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cs typeface="Arial" panose="020B0604020202020204" pitchFamily="34" charset="0"/>
              </a:rPr>
              <a:t>功率</a:t>
            </a:r>
            <a:r>
              <a:rPr lang="en-US" altLang="zh-CN" sz="2400" b="1" dirty="0">
                <a:cs typeface="Arial" panose="020B0604020202020204" pitchFamily="34" charset="0"/>
              </a:rPr>
              <a:t>(1/8w,1/4w,1/2w</a:t>
            </a:r>
            <a:r>
              <a:rPr lang="en-US" altLang="zh-CN" sz="2000" b="1" dirty="0">
                <a:ea typeface="华文新魏" panose="02010800040101010101" pitchFamily="2" charset="-122"/>
              </a:rPr>
              <a:t>……</a:t>
            </a:r>
            <a:r>
              <a:rPr lang="zh-CN" altLang="en-US" sz="2400" b="1" dirty="0">
                <a:latin typeface="Arial Black" panose="020B0A04020102020204" pitchFamily="34" charset="0"/>
                <a:cs typeface="Arial" panose="020B0604020202020204" pitchFamily="34" charset="0"/>
              </a:rPr>
              <a:t>）</a:t>
            </a:r>
            <a:endParaRPr lang="zh-CN" altLang="en-US" sz="2400" b="1" dirty="0">
              <a:latin typeface="Arial Black" panose="020B0A04020102020204" pitchFamily="34" charset="0"/>
              <a:ea typeface="Arial" panose="020B0604020202020204" pitchFamily="34" charset="0"/>
            </a:endParaRPr>
          </a:p>
        </p:txBody>
      </p:sp>
      <p:sp>
        <p:nvSpPr>
          <p:cNvPr id="9223"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737117" y="1990036"/>
            <a:ext cx="4357494" cy="2235902"/>
          </a:xfrm>
          <a:prstGeom prst="rect">
            <a:avLst/>
          </a:prstGeom>
          <a:ln>
            <a:noFill/>
          </a:ln>
          <a:effectLst>
            <a:softEdge rad="112500"/>
          </a:effectLst>
        </p:spPr>
      </p:pic>
      <p:pic>
        <p:nvPicPr>
          <p:cNvPr id="4" name="图片 3"/>
          <p:cNvPicPr>
            <a:picLocks noChangeAspect="1"/>
          </p:cNvPicPr>
          <p:nvPr/>
        </p:nvPicPr>
        <p:blipFill>
          <a:blip r:embed="rId2"/>
          <a:stretch>
            <a:fillRect/>
          </a:stretch>
        </p:blipFill>
        <p:spPr>
          <a:xfrm>
            <a:off x="5407025" y="1100138"/>
            <a:ext cx="3459163" cy="4657725"/>
          </a:xfrm>
          <a:prstGeom prst="rect">
            <a:avLst/>
          </a:prstGeom>
          <a:noFill/>
          <a:ln w="9525">
            <a:noFill/>
          </a:ln>
        </p:spPr>
      </p:pic>
      <p:pic>
        <p:nvPicPr>
          <p:cNvPr id="11268" name="图片 6"/>
          <p:cNvPicPr>
            <a:picLocks noChangeAspect="1"/>
          </p:cNvPicPr>
          <p:nvPr/>
        </p:nvPicPr>
        <p:blipFill>
          <a:blip r:embed="rId3"/>
          <a:stretch>
            <a:fillRect/>
          </a:stretch>
        </p:blipFill>
        <p:spPr>
          <a:xfrm>
            <a:off x="611188" y="711200"/>
            <a:ext cx="3338512" cy="750888"/>
          </a:xfrm>
          <a:prstGeom prst="rect">
            <a:avLst/>
          </a:prstGeom>
          <a:noFill/>
          <a:ln w="9525">
            <a:noFill/>
          </a:ln>
        </p:spPr>
      </p:pic>
      <p:pic>
        <p:nvPicPr>
          <p:cNvPr id="5" name="图片 4"/>
          <p:cNvPicPr>
            <a:picLocks noChangeAspect="1"/>
          </p:cNvPicPr>
          <p:nvPr/>
        </p:nvPicPr>
        <p:blipFill>
          <a:blip r:embed="rId4"/>
          <a:stretch>
            <a:fillRect/>
          </a:stretch>
        </p:blipFill>
        <p:spPr>
          <a:xfrm>
            <a:off x="949325" y="4752975"/>
            <a:ext cx="2787650" cy="561975"/>
          </a:xfrm>
          <a:prstGeom prst="rect">
            <a:avLst/>
          </a:prstGeom>
          <a:noFill/>
          <a:ln w="9525">
            <a:noFill/>
          </a:ln>
        </p:spPr>
      </p:pic>
      <p:pic>
        <p:nvPicPr>
          <p:cNvPr id="6" name="图片 5"/>
          <p:cNvPicPr>
            <a:picLocks noChangeAspect="1"/>
          </p:cNvPicPr>
          <p:nvPr/>
        </p:nvPicPr>
        <p:blipFill>
          <a:blip r:embed="rId5"/>
          <a:stretch>
            <a:fillRect/>
          </a:stretch>
        </p:blipFill>
        <p:spPr>
          <a:xfrm>
            <a:off x="1419225" y="5314950"/>
            <a:ext cx="1847850" cy="685800"/>
          </a:xfrm>
          <a:prstGeom prst="rect">
            <a:avLst/>
          </a:prstGeom>
          <a:noFill/>
          <a:ln w="9525">
            <a:noFill/>
          </a:ln>
        </p:spPr>
      </p:pic>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p:txBody>
          <a:bodyPr vert="horz" wrap="square" lIns="91440" tIns="45720" rIns="91440" bIns="45720" anchor="ctr"/>
          <a:p>
            <a:pPr eaLnBrk="1" hangingPunct="1"/>
            <a:r>
              <a:rPr lang="en-US" altLang="zh-CN" dirty="0"/>
              <a:t> </a:t>
            </a:r>
            <a:endParaRPr lang="en-US" altLang="zh-CN" dirty="0"/>
          </a:p>
        </p:txBody>
      </p:sp>
      <p:sp>
        <p:nvSpPr>
          <p:cNvPr id="12291" name="Rectangle 3"/>
          <p:cNvSpPr>
            <a:spLocks noGrp="1"/>
          </p:cNvSpPr>
          <p:nvPr>
            <p:ph type="body" sz="half" idx="1"/>
          </p:nvPr>
        </p:nvSpPr>
        <p:spPr>
          <a:xfrm>
            <a:off x="539750" y="765175"/>
            <a:ext cx="7200900" cy="576263"/>
          </a:xfrm>
        </p:spPr>
        <p:txBody>
          <a:bodyPr vert="horz" wrap="square" lIns="91440" tIns="45720" rIns="91440" bIns="45720" anchor="t"/>
          <a:p>
            <a:pPr eaLnBrk="1" hangingPunct="1">
              <a:buClr>
                <a:schemeClr val="bg2"/>
              </a:buClr>
              <a:buSzPct val="75000"/>
              <a:buFont typeface="Wingdings" panose="05000000000000000000" pitchFamily="2" charset="2"/>
            </a:pPr>
            <a:r>
              <a:rPr lang="zh-CN" altLang="en-US" sz="2800" b="1" dirty="0">
                <a:latin typeface="Arial Black" panose="020B0A04020102020204" pitchFamily="34" charset="0"/>
              </a:rPr>
              <a:t>电导</a:t>
            </a:r>
            <a:endParaRPr lang="zh-CN" altLang="en-US" sz="2800" b="1" dirty="0">
              <a:latin typeface="Arial Black" panose="020B0A04020102020204" pitchFamily="34" charset="0"/>
            </a:endParaRPr>
          </a:p>
        </p:txBody>
      </p:sp>
      <p:graphicFrame>
        <p:nvGraphicFramePr>
          <p:cNvPr id="12292" name="Object 4"/>
          <p:cNvGraphicFramePr>
            <a:graphicFrameLocks noGrp="1" noChangeAspect="1"/>
          </p:cNvGraphicFramePr>
          <p:nvPr>
            <p:ph sz="quarter" idx="2"/>
          </p:nvPr>
        </p:nvGraphicFramePr>
        <p:xfrm>
          <a:off x="971550" y="3500438"/>
          <a:ext cx="2232025" cy="1281112"/>
        </p:xfrm>
        <a:graphic>
          <a:graphicData uri="http://schemas.openxmlformats.org/presentationml/2006/ole">
            <mc:AlternateContent xmlns:mc="http://schemas.openxmlformats.org/markup-compatibility/2006">
              <mc:Choice xmlns:v="urn:schemas-microsoft-com:vml" Requires="v">
                <p:oleObj spid="_x0000_s3078" name="" r:id="rId1" imgW="685800" imgH="393700" progId="Equation.3">
                  <p:embed/>
                </p:oleObj>
              </mc:Choice>
              <mc:Fallback>
                <p:oleObj name="" r:id="rId1" imgW="685800" imgH="393700" progId="Equation.3">
                  <p:embed/>
                  <p:pic>
                    <p:nvPicPr>
                      <p:cNvPr id="0" name="图片 3077"/>
                      <p:cNvPicPr/>
                      <p:nvPr/>
                    </p:nvPicPr>
                    <p:blipFill>
                      <a:blip r:embed="rId2"/>
                      <a:srcRect/>
                      <a:stretch>
                        <a:fillRect/>
                      </a:stretch>
                    </p:blipFill>
                    <p:spPr>
                      <a:xfrm>
                        <a:off x="971550" y="3500438"/>
                        <a:ext cx="2232025" cy="1281112"/>
                      </a:xfrm>
                      <a:prstGeom prst="rect">
                        <a:avLst/>
                      </a:prstGeom>
                      <a:noFill/>
                      <a:ln w="38100">
                        <a:miter/>
                      </a:ln>
                    </p:spPr>
                  </p:pic>
                </p:oleObj>
              </mc:Fallback>
            </mc:AlternateContent>
          </a:graphicData>
        </a:graphic>
      </p:graphicFrame>
      <p:sp>
        <p:nvSpPr>
          <p:cNvPr id="12293" name="Text Box 5"/>
          <p:cNvSpPr txBox="1"/>
          <p:nvPr/>
        </p:nvSpPr>
        <p:spPr>
          <a:xfrm>
            <a:off x="684213" y="1844675"/>
            <a:ext cx="7272337" cy="954088"/>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cs typeface="Arial" panose="020B0604020202020204" pitchFamily="34" charset="0"/>
              </a:rPr>
              <a:t>    </a:t>
            </a:r>
            <a:r>
              <a:rPr lang="zh-CN" altLang="en-US" sz="2800" b="1" dirty="0">
                <a:solidFill>
                  <a:srgbClr val="FF0000"/>
                </a:solidFill>
                <a:cs typeface="Arial" panose="020B0604020202020204" pitchFamily="34" charset="0"/>
              </a:rPr>
              <a:t>电导</a:t>
            </a:r>
            <a:r>
              <a:rPr lang="zh-CN" altLang="en-US" sz="2800" b="1" dirty="0">
                <a:cs typeface="Arial" panose="020B0604020202020204" pitchFamily="34" charset="0"/>
              </a:rPr>
              <a:t>指的是元件传导电流的能力，单位为</a:t>
            </a:r>
            <a:r>
              <a:rPr lang="zh-CN" altLang="en-US" sz="2800" b="1" dirty="0">
                <a:latin typeface="Arial Black" panose="020B0A04020102020204" pitchFamily="34" charset="0"/>
                <a:cs typeface="Arial" panose="020B0604020202020204" pitchFamily="34" charset="0"/>
              </a:rPr>
              <a:t>姆欧</a:t>
            </a:r>
            <a:r>
              <a:rPr lang="en-US" altLang="zh-CN" sz="2800" b="1" dirty="0">
                <a:latin typeface="Arial Black" panose="020B0A04020102020204" pitchFamily="34" charset="0"/>
                <a:cs typeface="Arial" panose="020B0604020202020204" pitchFamily="34" charset="0"/>
              </a:rPr>
              <a:t>(</a:t>
            </a:r>
            <a:r>
              <a:rPr lang="zh-CN" altLang="en-US" sz="2800" b="1" dirty="0">
                <a:latin typeface="Arial Black" panose="020B0A04020102020204" pitchFamily="34" charset="0"/>
                <a:cs typeface="Arial" panose="020B0604020202020204" pitchFamily="34" charset="0"/>
              </a:rPr>
              <a:t>   </a:t>
            </a:r>
            <a:r>
              <a:rPr lang="en-US" altLang="zh-CN" sz="2800" b="1" dirty="0">
                <a:latin typeface="Arial Black" panose="020B0A04020102020204" pitchFamily="34" charset="0"/>
                <a:cs typeface="Arial" panose="020B0604020202020204" pitchFamily="34" charset="0"/>
              </a:rPr>
              <a:t>)</a:t>
            </a:r>
            <a:r>
              <a:rPr lang="zh-CN" altLang="en-US" sz="2800" b="1" dirty="0">
                <a:latin typeface="Arial Black" panose="020B0A04020102020204" pitchFamily="34" charset="0"/>
                <a:cs typeface="Arial" panose="020B0604020202020204" pitchFamily="34" charset="0"/>
              </a:rPr>
              <a:t>或西门子</a:t>
            </a:r>
            <a:r>
              <a:rPr lang="en-US" altLang="zh-CN" sz="2800" b="1" dirty="0">
                <a:latin typeface="Times New Roman" panose="02020603050405020304" pitchFamily="18" charset="0"/>
                <a:cs typeface="Times New Roman" panose="02020603050405020304" pitchFamily="18" charset="0"/>
              </a:rPr>
              <a:t>(</a:t>
            </a:r>
            <a:r>
              <a:rPr lang="en-US" altLang="zh-CN" sz="2800" b="1" dirty="0">
                <a:solidFill>
                  <a:srgbClr val="FF0000"/>
                </a:solidFill>
                <a:latin typeface="Times New Roman" panose="02020603050405020304" pitchFamily="18" charset="0"/>
                <a:cs typeface="Times New Roman" panose="02020603050405020304" pitchFamily="18" charset="0"/>
              </a:rPr>
              <a:t>S</a:t>
            </a:r>
            <a:r>
              <a:rPr lang="en-US" altLang="zh-CN" sz="2800" b="1" dirty="0">
                <a:latin typeface="Times New Roman" panose="02020603050405020304" pitchFamily="18" charset="0"/>
                <a:cs typeface="Times New Roman" panose="02020603050405020304" pitchFamily="18" charset="0"/>
              </a:rPr>
              <a:t>)</a:t>
            </a:r>
            <a:endParaRPr lang="el-GR" altLang="zh-CN" sz="2400" b="1" dirty="0">
              <a:latin typeface="Times New Roman" panose="02020603050405020304" pitchFamily="18" charset="0"/>
              <a:ea typeface="Times New Roman" panose="02020603050405020304" pitchFamily="18" charset="0"/>
            </a:endParaRPr>
          </a:p>
        </p:txBody>
      </p:sp>
      <p:pic>
        <p:nvPicPr>
          <p:cNvPr id="12294" name="Picture 8"/>
          <p:cNvPicPr>
            <a:picLocks noChangeAspect="1"/>
          </p:cNvPicPr>
          <p:nvPr/>
        </p:nvPicPr>
        <p:blipFill>
          <a:blip r:embed="rId3"/>
          <a:stretch>
            <a:fillRect/>
          </a:stretch>
        </p:blipFill>
        <p:spPr>
          <a:xfrm>
            <a:off x="1619250" y="2376488"/>
            <a:ext cx="360363" cy="360362"/>
          </a:xfrm>
          <a:prstGeom prst="rect">
            <a:avLst/>
          </a:prstGeom>
          <a:noFill/>
          <a:ln w="9525">
            <a:noFill/>
          </a:ln>
        </p:spPr>
      </p:pic>
      <p:grpSp>
        <p:nvGrpSpPr>
          <p:cNvPr id="12295" name="Group 11"/>
          <p:cNvGrpSpPr/>
          <p:nvPr/>
        </p:nvGrpSpPr>
        <p:grpSpPr>
          <a:xfrm>
            <a:off x="4500563" y="3860800"/>
            <a:ext cx="3168650" cy="576263"/>
            <a:chOff x="2789" y="2387"/>
            <a:chExt cx="2132" cy="409"/>
          </a:xfrm>
        </p:grpSpPr>
        <p:pic>
          <p:nvPicPr>
            <p:cNvPr id="12297" name="Picture 6"/>
            <p:cNvPicPr>
              <a:picLocks noChangeAspect="1"/>
            </p:cNvPicPr>
            <p:nvPr/>
          </p:nvPicPr>
          <p:blipFill>
            <a:blip r:embed="rId4"/>
            <a:stretch>
              <a:fillRect/>
            </a:stretch>
          </p:blipFill>
          <p:spPr>
            <a:xfrm>
              <a:off x="3606" y="2432"/>
              <a:ext cx="363" cy="363"/>
            </a:xfrm>
            <a:prstGeom prst="rect">
              <a:avLst/>
            </a:prstGeom>
            <a:noFill/>
            <a:ln w="9525">
              <a:noFill/>
            </a:ln>
          </p:spPr>
        </p:pic>
        <p:graphicFrame>
          <p:nvGraphicFramePr>
            <p:cNvPr id="12298" name="Object 7"/>
            <p:cNvGraphicFramePr>
              <a:graphicFrameLocks noChangeAspect="1"/>
            </p:cNvGraphicFramePr>
            <p:nvPr/>
          </p:nvGraphicFramePr>
          <p:xfrm>
            <a:off x="2789" y="2387"/>
            <a:ext cx="907" cy="409"/>
          </p:xfrm>
          <a:graphic>
            <a:graphicData uri="http://schemas.openxmlformats.org/presentationml/2006/ole">
              <mc:AlternateContent xmlns:mc="http://schemas.openxmlformats.org/markup-compatibility/2006">
                <mc:Choice xmlns:v="urn:schemas-microsoft-com:vml" Requires="v">
                  <p:oleObj spid="_x0000_s3085" name="" r:id="rId5" imgW="393065" imgH="177800" progId="Equation.DSMT4">
                    <p:embed/>
                  </p:oleObj>
                </mc:Choice>
                <mc:Fallback>
                  <p:oleObj name="" r:id="rId5" imgW="393065" imgH="177800" progId="Equation.DSMT4">
                    <p:embed/>
                    <p:pic>
                      <p:nvPicPr>
                        <p:cNvPr id="0" name="图片 3084"/>
                        <p:cNvPicPr/>
                        <p:nvPr/>
                      </p:nvPicPr>
                      <p:blipFill>
                        <a:blip r:embed="rId6"/>
                        <a:stretch>
                          <a:fillRect/>
                        </a:stretch>
                      </p:blipFill>
                      <p:spPr>
                        <a:xfrm>
                          <a:off x="2789" y="2387"/>
                          <a:ext cx="907" cy="409"/>
                        </a:xfrm>
                        <a:prstGeom prst="rect">
                          <a:avLst/>
                        </a:prstGeom>
                        <a:noFill/>
                        <a:ln w="38100">
                          <a:noFill/>
                          <a:miter/>
                        </a:ln>
                      </p:spPr>
                    </p:pic>
                  </p:oleObj>
                </mc:Fallback>
              </mc:AlternateContent>
            </a:graphicData>
          </a:graphic>
        </p:graphicFrame>
        <p:graphicFrame>
          <p:nvGraphicFramePr>
            <p:cNvPr id="12299" name="Object 9"/>
            <p:cNvGraphicFramePr>
              <a:graphicFrameLocks noChangeAspect="1"/>
            </p:cNvGraphicFramePr>
            <p:nvPr/>
          </p:nvGraphicFramePr>
          <p:xfrm>
            <a:off x="3923" y="2432"/>
            <a:ext cx="998" cy="331"/>
          </p:xfrm>
          <a:graphic>
            <a:graphicData uri="http://schemas.openxmlformats.org/presentationml/2006/ole">
              <mc:AlternateContent xmlns:mc="http://schemas.openxmlformats.org/markup-compatibility/2006">
                <mc:Choice xmlns:v="urn:schemas-microsoft-com:vml" Requires="v">
                  <p:oleObj spid="_x0000_s3087" name="" r:id="rId7" imgW="685800" imgH="228600" progId="Equation.3">
                    <p:embed/>
                  </p:oleObj>
                </mc:Choice>
                <mc:Fallback>
                  <p:oleObj name="" r:id="rId7" imgW="685800" imgH="228600" progId="Equation.3">
                    <p:embed/>
                    <p:pic>
                      <p:nvPicPr>
                        <p:cNvPr id="0" name="图片 3086"/>
                        <p:cNvPicPr/>
                        <p:nvPr/>
                      </p:nvPicPr>
                      <p:blipFill>
                        <a:blip r:embed="rId8"/>
                        <a:stretch>
                          <a:fillRect/>
                        </a:stretch>
                      </p:blipFill>
                      <p:spPr>
                        <a:xfrm>
                          <a:off x="3923" y="2432"/>
                          <a:ext cx="998" cy="331"/>
                        </a:xfrm>
                        <a:prstGeom prst="rect">
                          <a:avLst/>
                        </a:prstGeom>
                        <a:noFill/>
                        <a:ln w="38100">
                          <a:noFill/>
                          <a:miter/>
                        </a:ln>
                      </p:spPr>
                    </p:pic>
                  </p:oleObj>
                </mc:Fallback>
              </mc:AlternateContent>
            </a:graphicData>
          </a:graphic>
        </p:graphicFrame>
      </p:grpSp>
      <p:sp>
        <p:nvSpPr>
          <p:cNvPr id="12296"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p:txBody>
          <a:bodyPr vert="horz" wrap="square" lIns="91440" tIns="45720" rIns="91440" bIns="45720" anchor="ctr"/>
          <a:p>
            <a:pPr eaLnBrk="1" hangingPunct="1"/>
            <a:r>
              <a:rPr lang="en-US" altLang="zh-CN" sz="2000" dirty="0">
                <a:latin typeface="Arial Black" panose="020B0A04020102020204" pitchFamily="34" charset="0"/>
              </a:rPr>
              <a:t> </a:t>
            </a:r>
            <a:endParaRPr lang="en-US" altLang="zh-CN" sz="2000" dirty="0">
              <a:latin typeface="Arial Black" panose="020B0A04020102020204" pitchFamily="34" charset="0"/>
            </a:endParaRPr>
          </a:p>
        </p:txBody>
      </p:sp>
      <p:sp>
        <p:nvSpPr>
          <p:cNvPr id="13315" name="Rectangle 3"/>
          <p:cNvSpPr>
            <a:spLocks noGrp="1"/>
          </p:cNvSpPr>
          <p:nvPr>
            <p:ph type="body" sz="half" idx="1"/>
          </p:nvPr>
        </p:nvSpPr>
        <p:spPr>
          <a:xfrm>
            <a:off x="450850" y="595313"/>
            <a:ext cx="4537075" cy="5976937"/>
          </a:xfrm>
        </p:spPr>
        <p:txBody>
          <a:bodyPr vert="horz" wrap="square" lIns="91440" tIns="45720" rIns="91440" bIns="45720" anchor="t"/>
          <a:p>
            <a:pPr marL="533400" indent="-533400" eaLnBrk="1" hangingPunct="1">
              <a:buClr>
                <a:schemeClr val="bg2"/>
              </a:buClr>
              <a:buSzPct val="75000"/>
              <a:buFont typeface="Wingdings" panose="05000000000000000000" pitchFamily="2" charset="2"/>
            </a:pPr>
            <a:r>
              <a:rPr lang="zh-CN" altLang="en-US" sz="2800" b="1" dirty="0"/>
              <a:t>电阻消耗的功率</a:t>
            </a:r>
            <a:endParaRPr lang="en-US" altLang="zh-CN" sz="2800" b="1" dirty="0"/>
          </a:p>
          <a:p>
            <a:pPr marL="533400" indent="-533400" eaLnBrk="1" hangingPunct="1">
              <a:buClr>
                <a:schemeClr val="bg2"/>
              </a:buClr>
              <a:buSzPct val="75000"/>
              <a:buFont typeface="Wingdings" panose="05000000000000000000" pitchFamily="2" charset="2"/>
            </a:pPr>
            <a:endParaRPr lang="en-US" altLang="zh-CN" sz="2400" b="1" dirty="0">
              <a:latin typeface="Times New Roman" panose="02020603050405020304" pitchFamily="18" charset="0"/>
            </a:endParaRPr>
          </a:p>
          <a:p>
            <a:pPr marL="533400" indent="-533400" eaLnBrk="1" hangingPunct="1">
              <a:buClr>
                <a:schemeClr val="bg2"/>
              </a:buClr>
              <a:buSzPct val="75000"/>
              <a:buFont typeface="Wingdings" panose="05000000000000000000" pitchFamily="2" charset="2"/>
            </a:pPr>
            <a:endParaRPr lang="en-US" altLang="zh-CN" sz="2100" dirty="0">
              <a:latin typeface="Arial Black" panose="020B0A04020102020204" pitchFamily="34" charset="0"/>
            </a:endParaRPr>
          </a:p>
          <a:p>
            <a:pPr marL="533400" indent="-533400" eaLnBrk="1" hangingPunct="1">
              <a:buClr>
                <a:schemeClr val="bg2"/>
              </a:buClr>
              <a:buSzPct val="75000"/>
              <a:buFont typeface="Wingdings" panose="05000000000000000000" pitchFamily="2" charset="2"/>
            </a:pPr>
            <a:endParaRPr lang="en-US" altLang="zh-CN" sz="2100" dirty="0">
              <a:latin typeface="Arial Black" panose="020B0A04020102020204" pitchFamily="34" charset="0"/>
            </a:endParaRPr>
          </a:p>
          <a:p>
            <a:pPr marL="533400" indent="-533400" eaLnBrk="1" hangingPunct="1">
              <a:buClr>
                <a:schemeClr val="bg2"/>
              </a:buClr>
              <a:buSzPct val="75000"/>
              <a:buFont typeface="Wingdings" panose="05000000000000000000" pitchFamily="2" charset="2"/>
            </a:pPr>
            <a:endParaRPr lang="en-US" altLang="zh-CN" sz="2100" dirty="0">
              <a:latin typeface="Arial Black" panose="020B0A04020102020204" pitchFamily="34" charset="0"/>
            </a:endParaRPr>
          </a:p>
          <a:p>
            <a:pPr marL="533400" indent="-533400" eaLnBrk="1" hangingPunct="1">
              <a:buClr>
                <a:schemeClr val="bg2"/>
              </a:buClr>
              <a:buSzPct val="75000"/>
              <a:buFont typeface="Wingdings" panose="05000000000000000000" pitchFamily="2" charset="2"/>
            </a:pPr>
            <a:endParaRPr lang="en-US" altLang="zh-CN" sz="2400" b="1" dirty="0">
              <a:latin typeface="Times New Roman" panose="02020603050405020304" pitchFamily="18" charset="0"/>
            </a:endParaRPr>
          </a:p>
          <a:p>
            <a:pPr marL="533400" indent="-533400" eaLnBrk="1" hangingPunct="1">
              <a:buClr>
                <a:schemeClr val="bg2"/>
              </a:buClr>
              <a:buSzPct val="75000"/>
              <a:buFont typeface="Wingdings" panose="05000000000000000000" pitchFamily="2" charset="2"/>
            </a:pPr>
            <a:endParaRPr lang="en-US" altLang="zh-CN" sz="2400" b="1" dirty="0">
              <a:latin typeface="Times New Roman" panose="02020603050405020304" pitchFamily="18" charset="0"/>
            </a:endParaRPr>
          </a:p>
          <a:p>
            <a:pPr marL="533400" indent="-533400" eaLnBrk="1" hangingPunct="1">
              <a:buClr>
                <a:schemeClr val="bg2"/>
              </a:buClr>
              <a:buSzPct val="75000"/>
              <a:buFont typeface="Wingdings" panose="05000000000000000000" pitchFamily="2" charset="2"/>
            </a:pPr>
            <a:r>
              <a:rPr lang="zh-CN" altLang="en-US" sz="2400" b="1" dirty="0">
                <a:latin typeface="Times New Roman" panose="02020603050405020304" pitchFamily="18" charset="0"/>
              </a:rPr>
              <a:t>需要注意两点：</a:t>
            </a:r>
            <a:endParaRPr lang="en-US" altLang="zh-CN" sz="2400" b="1" dirty="0">
              <a:latin typeface="Times New Roman" panose="02020603050405020304" pitchFamily="18" charset="0"/>
            </a:endParaRPr>
          </a:p>
          <a:p>
            <a:pPr marL="533400" indent="-533400" eaLnBrk="1" hangingPunct="1">
              <a:buClr>
                <a:schemeClr val="bg2"/>
              </a:buClr>
              <a:buSzPct val="75000"/>
              <a:buFont typeface="Wingdings" panose="05000000000000000000" pitchFamily="2" charset="2"/>
              <a:buAutoNum type="arabicPeriod"/>
            </a:pPr>
            <a:r>
              <a:rPr lang="zh-CN" altLang="en-US" sz="2400" b="1" dirty="0"/>
              <a:t>电阻中的功率耗散是</a:t>
            </a:r>
            <a:r>
              <a:rPr lang="zh-CN" altLang="en-US" sz="2400" b="1" dirty="0">
                <a:solidFill>
                  <a:schemeClr val="bg2"/>
                </a:solidFill>
                <a:latin typeface="Times New Roman" panose="02020603050405020304" pitchFamily="18" charset="0"/>
              </a:rPr>
              <a:t>电流或电压的非线性函数</a:t>
            </a:r>
            <a:r>
              <a:rPr lang="zh-CN" altLang="en-US" sz="2400" b="1" dirty="0"/>
              <a:t>。</a:t>
            </a:r>
            <a:br>
              <a:rPr lang="en-US" altLang="zh-CN" sz="2400" b="1" dirty="0"/>
            </a:br>
            <a:endParaRPr lang="en-US" altLang="zh-CN" sz="2400" b="1" dirty="0"/>
          </a:p>
          <a:p>
            <a:pPr marL="533400" indent="-533400" eaLnBrk="1" hangingPunct="1">
              <a:buClr>
                <a:schemeClr val="bg2"/>
              </a:buClr>
              <a:buSzPct val="75000"/>
              <a:buFont typeface="Wingdings" panose="05000000000000000000" pitchFamily="2" charset="2"/>
              <a:buAutoNum type="arabicPeriod"/>
            </a:pPr>
            <a:r>
              <a:rPr lang="zh-CN" altLang="en-US" sz="2400" b="1" dirty="0"/>
              <a:t>由于</a:t>
            </a:r>
            <a:r>
              <a:rPr lang="en-US" altLang="zh-CN" sz="2400" b="1" i="1" dirty="0">
                <a:latin typeface="Times New Roman" panose="02020603050405020304" pitchFamily="18" charset="0"/>
                <a:cs typeface="Times New Roman" panose="02020603050405020304" pitchFamily="18" charset="0"/>
              </a:rPr>
              <a:t>R</a:t>
            </a:r>
            <a:r>
              <a:rPr lang="zh-CN" altLang="en-US" sz="2400" b="1" dirty="0"/>
              <a:t>和</a:t>
            </a:r>
            <a:r>
              <a:rPr lang="en-US" altLang="zh-CN" sz="2400" b="1" i="1" dirty="0">
                <a:latin typeface="Times New Roman" panose="02020603050405020304" pitchFamily="18" charset="0"/>
                <a:cs typeface="Times New Roman" panose="02020603050405020304" pitchFamily="18" charset="0"/>
              </a:rPr>
              <a:t>G</a:t>
            </a:r>
            <a:r>
              <a:rPr lang="zh-CN" altLang="en-US" sz="2400" b="1" dirty="0"/>
              <a:t>是正的量，电阻中的功率损耗总是正的。因此，电阻</a:t>
            </a:r>
            <a:r>
              <a:rPr lang="zh-CN" altLang="en-US" sz="2400" b="1" dirty="0">
                <a:solidFill>
                  <a:srgbClr val="0000FF"/>
                </a:solidFill>
              </a:rPr>
              <a:t>总是从电路中吸收能量</a:t>
            </a:r>
            <a:r>
              <a:rPr lang="zh-CN" altLang="en-US" sz="2400" b="1" dirty="0"/>
              <a:t>。</a:t>
            </a:r>
            <a:endParaRPr lang="en-US" altLang="zh-CN" sz="2400" b="1" dirty="0"/>
          </a:p>
        </p:txBody>
      </p:sp>
      <p:graphicFrame>
        <p:nvGraphicFramePr>
          <p:cNvPr id="13316" name="Object 4"/>
          <p:cNvGraphicFramePr>
            <a:graphicFrameLocks noGrp="1" noChangeAspect="1"/>
          </p:cNvGraphicFramePr>
          <p:nvPr>
            <p:ph sz="half" idx="2"/>
          </p:nvPr>
        </p:nvGraphicFramePr>
        <p:xfrm>
          <a:off x="1150938" y="1162050"/>
          <a:ext cx="3241675" cy="1841500"/>
        </p:xfrm>
        <a:graphic>
          <a:graphicData uri="http://schemas.openxmlformats.org/presentationml/2006/ole">
            <mc:AlternateContent xmlns:mc="http://schemas.openxmlformats.org/markup-compatibility/2006">
              <mc:Choice xmlns:v="urn:schemas-microsoft-com:vml" Requires="v">
                <p:oleObj spid="_x0000_s3086" name="" r:id="rId1" imgW="1079500" imgH="838200" progId="Equation.3">
                  <p:embed/>
                </p:oleObj>
              </mc:Choice>
              <mc:Fallback>
                <p:oleObj name="" r:id="rId1" imgW="1079500" imgH="838200" progId="Equation.3">
                  <p:embed/>
                  <p:pic>
                    <p:nvPicPr>
                      <p:cNvPr id="0" name="图片 3085"/>
                      <p:cNvPicPr/>
                      <p:nvPr/>
                    </p:nvPicPr>
                    <p:blipFill>
                      <a:blip r:embed="rId2"/>
                      <a:srcRect/>
                      <a:stretch>
                        <a:fillRect/>
                      </a:stretch>
                    </p:blipFill>
                    <p:spPr>
                      <a:xfrm>
                        <a:off x="1150938" y="1162050"/>
                        <a:ext cx="3241675" cy="1841500"/>
                      </a:xfrm>
                      <a:prstGeom prst="rect">
                        <a:avLst/>
                      </a:prstGeom>
                      <a:noFill/>
                      <a:ln w="38100">
                        <a:miter/>
                      </a:ln>
                    </p:spPr>
                  </p:pic>
                </p:oleObj>
              </mc:Fallback>
            </mc:AlternateContent>
          </a:graphicData>
        </a:graphic>
      </p:graphicFrame>
      <p:sp>
        <p:nvSpPr>
          <p:cNvPr id="13317" name="Line 5"/>
          <p:cNvSpPr/>
          <p:nvPr/>
        </p:nvSpPr>
        <p:spPr>
          <a:xfrm flipV="1">
            <a:off x="6084888" y="620713"/>
            <a:ext cx="0" cy="2232025"/>
          </a:xfrm>
          <a:prstGeom prst="line">
            <a:avLst/>
          </a:prstGeom>
          <a:ln w="9525" cap="flat" cmpd="sng">
            <a:solidFill>
              <a:schemeClr val="tx1"/>
            </a:solidFill>
            <a:prstDash val="solid"/>
            <a:headEnd type="none" w="med" len="med"/>
            <a:tailEnd type="triangle" w="med" len="med"/>
          </a:ln>
        </p:spPr>
      </p:sp>
      <p:sp>
        <p:nvSpPr>
          <p:cNvPr id="13318" name="Line 6"/>
          <p:cNvSpPr/>
          <p:nvPr/>
        </p:nvSpPr>
        <p:spPr>
          <a:xfrm>
            <a:off x="5651500" y="2565400"/>
            <a:ext cx="3241675" cy="0"/>
          </a:xfrm>
          <a:prstGeom prst="line">
            <a:avLst/>
          </a:prstGeom>
          <a:ln w="9525" cap="flat" cmpd="sng">
            <a:solidFill>
              <a:schemeClr val="tx1"/>
            </a:solidFill>
            <a:prstDash val="solid"/>
            <a:headEnd type="none" w="med" len="med"/>
            <a:tailEnd type="triangle" w="med" len="med"/>
          </a:ln>
        </p:spPr>
      </p:sp>
      <p:sp>
        <p:nvSpPr>
          <p:cNvPr id="13319" name="Line 7"/>
          <p:cNvSpPr/>
          <p:nvPr/>
        </p:nvSpPr>
        <p:spPr>
          <a:xfrm flipV="1">
            <a:off x="5651500" y="1412875"/>
            <a:ext cx="2305050" cy="1368425"/>
          </a:xfrm>
          <a:prstGeom prst="line">
            <a:avLst/>
          </a:prstGeom>
          <a:ln w="9525" cap="flat" cmpd="sng">
            <a:solidFill>
              <a:schemeClr val="tx1"/>
            </a:solidFill>
            <a:prstDash val="solid"/>
            <a:headEnd type="none" w="med" len="med"/>
            <a:tailEnd type="none" w="med" len="med"/>
          </a:ln>
        </p:spPr>
      </p:sp>
      <p:sp>
        <p:nvSpPr>
          <p:cNvPr id="13320" name="Line 8"/>
          <p:cNvSpPr/>
          <p:nvPr/>
        </p:nvSpPr>
        <p:spPr>
          <a:xfrm flipH="1" flipV="1">
            <a:off x="7310438" y="1808163"/>
            <a:ext cx="646112" cy="307975"/>
          </a:xfrm>
          <a:prstGeom prst="line">
            <a:avLst/>
          </a:prstGeom>
          <a:ln w="9525" cap="flat" cmpd="sng">
            <a:solidFill>
              <a:schemeClr val="tx1"/>
            </a:solidFill>
            <a:prstDash val="solid"/>
            <a:headEnd type="none" w="med" len="med"/>
            <a:tailEnd type="triangle" w="med" len="med"/>
          </a:ln>
        </p:spPr>
      </p:sp>
      <p:sp>
        <p:nvSpPr>
          <p:cNvPr id="13321" name="Text Box 9"/>
          <p:cNvSpPr txBox="1"/>
          <p:nvPr/>
        </p:nvSpPr>
        <p:spPr>
          <a:xfrm>
            <a:off x="8764588" y="2566988"/>
            <a:ext cx="288925"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000" dirty="0">
                <a:latin typeface="Monotype Corsiva" panose="03010101010201010101" pitchFamily="66" charset="0"/>
                <a:cs typeface="Arial" panose="020B0604020202020204" pitchFamily="34" charset="0"/>
              </a:rPr>
              <a:t>i</a:t>
            </a:r>
            <a:endParaRPr lang="en-US" altLang="zh-CN" sz="2000" dirty="0">
              <a:latin typeface="Monotype Corsiva" panose="03010101010201010101" pitchFamily="66" charset="0"/>
              <a:ea typeface="Arial" panose="020B0604020202020204" pitchFamily="34" charset="0"/>
            </a:endParaRPr>
          </a:p>
        </p:txBody>
      </p:sp>
      <p:sp>
        <p:nvSpPr>
          <p:cNvPr id="13322" name="Text Box 10"/>
          <p:cNvSpPr txBox="1"/>
          <p:nvPr/>
        </p:nvSpPr>
        <p:spPr>
          <a:xfrm>
            <a:off x="5715000" y="296863"/>
            <a:ext cx="288925"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latin typeface="Monotype Corsiva" panose="03010101010201010101" pitchFamily="66" charset="0"/>
                <a:cs typeface="Arial" panose="020B0604020202020204" pitchFamily="34" charset="0"/>
              </a:rPr>
              <a:t>v</a:t>
            </a:r>
            <a:endParaRPr lang="en-US" altLang="zh-CN" sz="2400" dirty="0">
              <a:latin typeface="Monotype Corsiva" panose="03010101010201010101" pitchFamily="66" charset="0"/>
              <a:ea typeface="Arial" panose="020B0604020202020204" pitchFamily="34" charset="0"/>
            </a:endParaRPr>
          </a:p>
        </p:txBody>
      </p:sp>
      <p:sp>
        <p:nvSpPr>
          <p:cNvPr id="13323" name="Text Box 11"/>
          <p:cNvSpPr txBox="1"/>
          <p:nvPr/>
        </p:nvSpPr>
        <p:spPr>
          <a:xfrm>
            <a:off x="7885113" y="1989138"/>
            <a:ext cx="1258887" cy="3698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dirty="0">
                <a:cs typeface="Arial" panose="020B0604020202020204" pitchFamily="34" charset="0"/>
              </a:rPr>
              <a:t>斜率</a:t>
            </a:r>
            <a:r>
              <a:rPr lang="en-US" altLang="zh-CN" sz="1800" dirty="0">
                <a:cs typeface="Arial" panose="020B0604020202020204" pitchFamily="34" charset="0"/>
              </a:rPr>
              <a:t>=R</a:t>
            </a:r>
            <a:endParaRPr lang="en-US" altLang="zh-CN" sz="1800" dirty="0">
              <a:ea typeface="Arial" panose="020B0604020202020204" pitchFamily="34" charset="0"/>
            </a:endParaRPr>
          </a:p>
        </p:txBody>
      </p:sp>
      <p:sp>
        <p:nvSpPr>
          <p:cNvPr id="13324" name="Text Box 12"/>
          <p:cNvSpPr txBox="1"/>
          <p:nvPr/>
        </p:nvSpPr>
        <p:spPr>
          <a:xfrm>
            <a:off x="6642100" y="2828925"/>
            <a:ext cx="10795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dirty="0">
                <a:cs typeface="Arial" panose="020B0604020202020204" pitchFamily="34" charset="0"/>
              </a:rPr>
              <a:t>(a)</a:t>
            </a:r>
            <a:endParaRPr lang="en-US" altLang="zh-CN" sz="1800" dirty="0">
              <a:ea typeface="Arial" panose="020B0604020202020204" pitchFamily="34" charset="0"/>
            </a:endParaRPr>
          </a:p>
        </p:txBody>
      </p:sp>
      <p:sp>
        <p:nvSpPr>
          <p:cNvPr id="13325" name="Line 13"/>
          <p:cNvSpPr/>
          <p:nvPr/>
        </p:nvSpPr>
        <p:spPr>
          <a:xfrm flipV="1">
            <a:off x="6107113" y="3606800"/>
            <a:ext cx="0" cy="2232025"/>
          </a:xfrm>
          <a:prstGeom prst="line">
            <a:avLst/>
          </a:prstGeom>
          <a:ln w="9525" cap="flat" cmpd="sng">
            <a:solidFill>
              <a:schemeClr val="tx1"/>
            </a:solidFill>
            <a:prstDash val="solid"/>
            <a:headEnd type="none" w="med" len="med"/>
            <a:tailEnd type="triangle" w="med" len="med"/>
          </a:ln>
        </p:spPr>
      </p:sp>
      <p:sp>
        <p:nvSpPr>
          <p:cNvPr id="13326" name="Line 14"/>
          <p:cNvSpPr/>
          <p:nvPr/>
        </p:nvSpPr>
        <p:spPr>
          <a:xfrm>
            <a:off x="5746750" y="5551488"/>
            <a:ext cx="3168650" cy="0"/>
          </a:xfrm>
          <a:prstGeom prst="line">
            <a:avLst/>
          </a:prstGeom>
          <a:ln w="9525" cap="flat" cmpd="sng">
            <a:solidFill>
              <a:schemeClr val="tx1"/>
            </a:solidFill>
            <a:prstDash val="solid"/>
            <a:headEnd type="none" w="med" len="med"/>
            <a:tailEnd type="triangle" w="med" len="med"/>
          </a:ln>
        </p:spPr>
      </p:sp>
      <p:sp>
        <p:nvSpPr>
          <p:cNvPr id="13327" name="Freeform 15"/>
          <p:cNvSpPr/>
          <p:nvPr/>
        </p:nvSpPr>
        <p:spPr>
          <a:xfrm>
            <a:off x="5746750" y="4470400"/>
            <a:ext cx="2376488" cy="1368425"/>
          </a:xfrm>
          <a:custGeom>
            <a:avLst/>
            <a:gdLst>
              <a:gd name="txL" fmla="*/ 0 w 1497"/>
              <a:gd name="txT" fmla="*/ 0 h 862"/>
              <a:gd name="txR" fmla="*/ 1497 w 1497"/>
              <a:gd name="txB" fmla="*/ 862 h 862"/>
            </a:gdLst>
            <a:ahLst/>
            <a:cxnLst>
              <a:cxn ang="0">
                <a:pos x="0" y="2147483646"/>
              </a:cxn>
              <a:cxn ang="0">
                <a:pos x="2147483646" y="2147483646"/>
              </a:cxn>
              <a:cxn ang="0">
                <a:pos x="2147483646" y="2147483646"/>
              </a:cxn>
              <a:cxn ang="0">
                <a:pos x="2147483646" y="0"/>
              </a:cxn>
            </a:cxnLst>
            <a:rect l="txL" t="txT" r="txR" b="txB"/>
            <a:pathLst>
              <a:path w="1497" h="862">
                <a:moveTo>
                  <a:pt x="0" y="862"/>
                </a:moveTo>
                <a:cubicBezTo>
                  <a:pt x="15" y="809"/>
                  <a:pt x="31" y="757"/>
                  <a:pt x="227" y="681"/>
                </a:cubicBezTo>
                <a:cubicBezTo>
                  <a:pt x="423" y="605"/>
                  <a:pt x="967" y="521"/>
                  <a:pt x="1179" y="408"/>
                </a:cubicBezTo>
                <a:cubicBezTo>
                  <a:pt x="1391" y="295"/>
                  <a:pt x="1444" y="68"/>
                  <a:pt x="1497" y="0"/>
                </a:cubicBez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3328" name="Line 16"/>
          <p:cNvSpPr/>
          <p:nvPr/>
        </p:nvSpPr>
        <p:spPr>
          <a:xfrm flipH="1" flipV="1">
            <a:off x="7654925" y="5084763"/>
            <a:ext cx="431800" cy="144462"/>
          </a:xfrm>
          <a:prstGeom prst="line">
            <a:avLst/>
          </a:prstGeom>
          <a:ln w="9525" cap="flat" cmpd="sng">
            <a:solidFill>
              <a:schemeClr val="tx1"/>
            </a:solidFill>
            <a:prstDash val="solid"/>
            <a:headEnd type="none" w="med" len="med"/>
            <a:tailEnd type="triangle" w="med" len="med"/>
          </a:ln>
        </p:spPr>
      </p:sp>
      <p:sp>
        <p:nvSpPr>
          <p:cNvPr id="13329" name="Text Box 17"/>
          <p:cNvSpPr txBox="1"/>
          <p:nvPr/>
        </p:nvSpPr>
        <p:spPr>
          <a:xfrm>
            <a:off x="8013700" y="5046663"/>
            <a:ext cx="1152525"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dirty="0">
                <a:cs typeface="Arial" panose="020B0604020202020204" pitchFamily="34" charset="0"/>
              </a:rPr>
              <a:t>斜率</a:t>
            </a:r>
            <a:r>
              <a:rPr lang="en-US" altLang="zh-CN" sz="1800" dirty="0">
                <a:cs typeface="Arial" panose="020B0604020202020204" pitchFamily="34" charset="0"/>
              </a:rPr>
              <a:t>=R</a:t>
            </a:r>
            <a:endParaRPr lang="en-US" altLang="zh-CN" sz="1800" dirty="0">
              <a:ea typeface="Arial" panose="020B0604020202020204" pitchFamily="34" charset="0"/>
            </a:endParaRPr>
          </a:p>
        </p:txBody>
      </p:sp>
      <p:sp>
        <p:nvSpPr>
          <p:cNvPr id="13330" name="Text Box 18"/>
          <p:cNvSpPr txBox="1"/>
          <p:nvPr/>
        </p:nvSpPr>
        <p:spPr>
          <a:xfrm>
            <a:off x="6419850" y="5954713"/>
            <a:ext cx="936625"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dirty="0">
                <a:cs typeface="Arial" panose="020B0604020202020204" pitchFamily="34" charset="0"/>
              </a:rPr>
              <a:t>(b)</a:t>
            </a:r>
            <a:endParaRPr lang="en-US" altLang="zh-CN" sz="1800" dirty="0">
              <a:ea typeface="Arial" panose="020B0604020202020204" pitchFamily="34" charset="0"/>
            </a:endParaRPr>
          </a:p>
        </p:txBody>
      </p:sp>
      <p:sp>
        <p:nvSpPr>
          <p:cNvPr id="13331" name="Text Box 19"/>
          <p:cNvSpPr txBox="1"/>
          <p:nvPr/>
        </p:nvSpPr>
        <p:spPr>
          <a:xfrm>
            <a:off x="6831013" y="5984875"/>
            <a:ext cx="1647825" cy="3381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600" b="1" dirty="0">
                <a:solidFill>
                  <a:srgbClr val="002060"/>
                </a:solidFill>
                <a:cs typeface="Arial" panose="020B0604020202020204" pitchFamily="34" charset="0"/>
              </a:rPr>
              <a:t>非线性</a:t>
            </a:r>
            <a:r>
              <a:rPr lang="zh-CN" altLang="en-US" sz="1600" b="1" dirty="0">
                <a:cs typeface="Arial" panose="020B0604020202020204" pitchFamily="34" charset="0"/>
              </a:rPr>
              <a:t>电阻</a:t>
            </a:r>
            <a:endParaRPr lang="en-US" altLang="zh-CN" sz="1600" b="1" dirty="0">
              <a:ea typeface="Arial" panose="020B0604020202020204" pitchFamily="34" charset="0"/>
            </a:endParaRPr>
          </a:p>
        </p:txBody>
      </p:sp>
      <p:sp>
        <p:nvSpPr>
          <p:cNvPr id="13332" name="灯片编号占位符 2"/>
          <p:cNvSpPr txBox="1">
            <a:spLocks noGrp="1"/>
          </p:cNvSpPr>
          <p:nvPr>
            <p:ph type="sldNum" sz="quarter" idx="11"/>
          </p:nvPr>
        </p:nvSpPr>
        <p:spPr>
          <a:xfrm>
            <a:off x="6673850" y="6205538"/>
            <a:ext cx="2133600" cy="457200"/>
          </a:xfrm>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13333" name="文本框 21"/>
          <p:cNvSpPr txBox="1"/>
          <p:nvPr/>
        </p:nvSpPr>
        <p:spPr>
          <a:xfrm>
            <a:off x="7069138" y="2890838"/>
            <a:ext cx="1174750" cy="3381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600" b="1" dirty="0">
                <a:solidFill>
                  <a:srgbClr val="002060"/>
                </a:solidFill>
                <a:cs typeface="Arial" panose="020B0604020202020204" pitchFamily="34" charset="0"/>
              </a:rPr>
              <a:t>线性</a:t>
            </a:r>
            <a:r>
              <a:rPr lang="zh-CN" altLang="en-US" sz="1600" b="1" dirty="0">
                <a:cs typeface="Arial" panose="020B0604020202020204" pitchFamily="34" charset="0"/>
              </a:rPr>
              <a:t>电阻</a:t>
            </a:r>
            <a:endParaRPr lang="en-US" altLang="zh-CN" sz="1600" b="1" dirty="0">
              <a:ea typeface="Arial" panose="020B0604020202020204" pitchFamily="34" charset="0"/>
            </a:endParaRPr>
          </a:p>
        </p:txBody>
      </p:sp>
      <p:sp>
        <p:nvSpPr>
          <p:cNvPr id="13334" name="Text Box 10"/>
          <p:cNvSpPr txBox="1"/>
          <p:nvPr/>
        </p:nvSpPr>
        <p:spPr>
          <a:xfrm>
            <a:off x="5729288" y="3429000"/>
            <a:ext cx="288925"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latin typeface="Monotype Corsiva" panose="03010101010201010101" pitchFamily="66" charset="0"/>
                <a:cs typeface="Arial" panose="020B0604020202020204" pitchFamily="34" charset="0"/>
              </a:rPr>
              <a:t>v</a:t>
            </a:r>
            <a:endParaRPr lang="en-US" altLang="zh-CN" sz="2400" dirty="0">
              <a:latin typeface="Monotype Corsiva" panose="03010101010201010101" pitchFamily="66" charset="0"/>
              <a:ea typeface="Arial" panose="020B0604020202020204" pitchFamily="34" charset="0"/>
            </a:endParaRPr>
          </a:p>
        </p:txBody>
      </p:sp>
      <p:sp>
        <p:nvSpPr>
          <p:cNvPr id="13335" name="Text Box 9"/>
          <p:cNvSpPr txBox="1"/>
          <p:nvPr/>
        </p:nvSpPr>
        <p:spPr>
          <a:xfrm>
            <a:off x="8855075" y="5575300"/>
            <a:ext cx="288925"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000" dirty="0">
                <a:latin typeface="Monotype Corsiva" panose="03010101010201010101" pitchFamily="66" charset="0"/>
                <a:cs typeface="Arial" panose="020B0604020202020204" pitchFamily="34" charset="0"/>
              </a:rPr>
              <a:t>i</a:t>
            </a:r>
            <a:endParaRPr lang="en-US" altLang="zh-CN" sz="2000" dirty="0">
              <a:latin typeface="Monotype Corsiva" panose="03010101010201010101" pitchFamily="66" charset="0"/>
              <a:ea typeface="Arial" panose="020B0604020202020204" pitchFamily="34" charset="0"/>
            </a:endParaRPr>
          </a:p>
        </p:txBody>
      </p:sp>
      <p:sp>
        <p:nvSpPr>
          <p:cNvPr id="3" name="文本框 2"/>
          <p:cNvSpPr txBox="1"/>
          <p:nvPr/>
        </p:nvSpPr>
        <p:spPr>
          <a:xfrm>
            <a:off x="6236970" y="859155"/>
            <a:ext cx="2570480" cy="3683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r>
              <a:rPr lang="zh-CN" altLang="en-US"/>
              <a:t>线性电阻服从欧姆定律</a:t>
            </a:r>
            <a:endParaRPr lang="zh-CN" altLang="en-US"/>
          </a:p>
        </p:txBody>
      </p:sp>
      <p:sp>
        <p:nvSpPr>
          <p:cNvPr id="4" name="文本框 3"/>
          <p:cNvSpPr txBox="1"/>
          <p:nvPr/>
        </p:nvSpPr>
        <p:spPr>
          <a:xfrm>
            <a:off x="6160770" y="4014470"/>
            <a:ext cx="2945130" cy="3683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r>
              <a:rPr lang="zh-CN" altLang="en-US"/>
              <a:t>非线性电阻不服从欧姆定律</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4" grpId="0" bldLvl="0" animBg="1"/>
      <p:bldP spid="4"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内容占位符 4"/>
          <p:cNvPicPr>
            <a:picLocks noChangeAspect="1"/>
          </p:cNvPicPr>
          <p:nvPr>
            <p:ph sz="half" idx="2"/>
          </p:nvPr>
        </p:nvPicPr>
        <p:blipFill>
          <a:blip r:embed="rId1"/>
          <a:stretch>
            <a:fillRect/>
          </a:stretch>
        </p:blipFill>
        <p:spPr>
          <a:xfrm>
            <a:off x="844550" y="631825"/>
            <a:ext cx="7701915" cy="443230"/>
          </a:xfrm>
          <a:prstGeom prst="rect">
            <a:avLst/>
          </a:prstGeom>
        </p:spPr>
      </p:pic>
      <p:sp>
        <p:nvSpPr>
          <p:cNvPr id="6" name="文本框 5"/>
          <p:cNvSpPr txBox="1"/>
          <p:nvPr/>
        </p:nvSpPr>
        <p:spPr>
          <a:xfrm>
            <a:off x="941705" y="1223645"/>
            <a:ext cx="7507605" cy="368300"/>
          </a:xfrm>
          <a:prstGeom prst="rect">
            <a:avLst/>
          </a:prstGeom>
          <a:noFill/>
        </p:spPr>
        <p:txBody>
          <a:bodyPr wrap="square" rtlCol="0">
            <a:spAutoFit/>
          </a:bodyPr>
          <a:p>
            <a:r>
              <a:rPr lang="zh-CN" altLang="en-US"/>
              <a:t>解：</a:t>
            </a:r>
            <a:r>
              <a:rPr lang="en-US" altLang="zh-CN"/>
              <a:t>R=V/I=120V/2A=60 </a:t>
            </a:r>
            <a:r>
              <a:rPr lang="en-US" altLang="zh-CN">
                <a:latin typeface="微软雅黑" panose="020B0503020204020204" charset="-122"/>
                <a:ea typeface="微软雅黑" panose="020B0503020204020204" charset="-122"/>
              </a:rPr>
              <a:t>Ω</a:t>
            </a:r>
            <a:endParaRPr lang="en-US" altLang="zh-CN">
              <a:latin typeface="微软雅黑" panose="020B0503020204020204" charset="-122"/>
              <a:ea typeface="微软雅黑" panose="020B0503020204020204" charset="-122"/>
            </a:endParaRPr>
          </a:p>
        </p:txBody>
      </p:sp>
      <p:pic>
        <p:nvPicPr>
          <p:cNvPr id="7" name="图片 6"/>
          <p:cNvPicPr>
            <a:picLocks noChangeAspect="1"/>
          </p:cNvPicPr>
          <p:nvPr/>
        </p:nvPicPr>
        <p:blipFill>
          <a:blip r:embed="rId2"/>
          <a:stretch>
            <a:fillRect/>
          </a:stretch>
        </p:blipFill>
        <p:spPr>
          <a:xfrm>
            <a:off x="380365" y="1787525"/>
            <a:ext cx="8278495" cy="723900"/>
          </a:xfrm>
          <a:prstGeom prst="rect">
            <a:avLst/>
          </a:prstGeom>
        </p:spPr>
      </p:pic>
      <p:sp>
        <p:nvSpPr>
          <p:cNvPr id="8" name="文本框 7"/>
          <p:cNvSpPr txBox="1"/>
          <p:nvPr/>
        </p:nvSpPr>
        <p:spPr>
          <a:xfrm>
            <a:off x="652145" y="2583815"/>
            <a:ext cx="7507605" cy="368300"/>
          </a:xfrm>
          <a:prstGeom prst="rect">
            <a:avLst/>
          </a:prstGeom>
          <a:noFill/>
        </p:spPr>
        <p:txBody>
          <a:bodyPr wrap="square" rtlCol="0">
            <a:spAutoFit/>
          </a:bodyPr>
          <a:p>
            <a:r>
              <a:rPr lang="zh-CN" altLang="en-US"/>
              <a:t>解：</a:t>
            </a:r>
            <a:r>
              <a:rPr lang="en-US" altLang="zh-CN"/>
              <a:t>I</a:t>
            </a:r>
            <a:r>
              <a:rPr lang="en-US" altLang="zh-CN"/>
              <a:t>=V/R=110V/15 </a:t>
            </a:r>
            <a:r>
              <a:rPr lang="en-US" altLang="zh-CN">
                <a:latin typeface="微软雅黑" panose="020B0503020204020204" charset="-122"/>
                <a:ea typeface="微软雅黑" panose="020B0503020204020204" charset="-122"/>
              </a:rPr>
              <a:t>Ω=7.3333.....A</a:t>
            </a:r>
            <a:endParaRPr lang="en-US" altLang="zh-CN">
              <a:latin typeface="微软雅黑" panose="020B0503020204020204" charset="-122"/>
              <a:ea typeface="微软雅黑" panose="020B0503020204020204" charset="-122"/>
            </a:endParaRPr>
          </a:p>
        </p:txBody>
      </p:sp>
      <p:pic>
        <p:nvPicPr>
          <p:cNvPr id="9" name="图片 8"/>
          <p:cNvPicPr>
            <a:picLocks noChangeAspect="1"/>
          </p:cNvPicPr>
          <p:nvPr/>
        </p:nvPicPr>
        <p:blipFill>
          <a:blip r:embed="rId3"/>
          <a:stretch>
            <a:fillRect/>
          </a:stretch>
        </p:blipFill>
        <p:spPr>
          <a:xfrm>
            <a:off x="420370" y="3051175"/>
            <a:ext cx="4943475" cy="628650"/>
          </a:xfrm>
          <a:prstGeom prst="rect">
            <a:avLst/>
          </a:prstGeom>
        </p:spPr>
      </p:pic>
      <p:sp>
        <p:nvSpPr>
          <p:cNvPr id="10" name="文本框 9"/>
          <p:cNvSpPr txBox="1"/>
          <p:nvPr/>
        </p:nvSpPr>
        <p:spPr>
          <a:xfrm>
            <a:off x="631190" y="3908425"/>
            <a:ext cx="724535" cy="368300"/>
          </a:xfrm>
          <a:prstGeom prst="rect">
            <a:avLst/>
          </a:prstGeom>
          <a:noFill/>
        </p:spPr>
        <p:txBody>
          <a:bodyPr wrap="square" rtlCol="0">
            <a:spAutoFit/>
          </a:bodyPr>
          <a:p>
            <a:r>
              <a:rPr lang="zh-CN" altLang="en-US"/>
              <a:t>解：</a:t>
            </a:r>
            <a:endParaRPr lang="en-US" altLang="zh-CN"/>
          </a:p>
        </p:txBody>
      </p:sp>
      <p:graphicFrame>
        <p:nvGraphicFramePr>
          <p:cNvPr id="13" name="对象 12"/>
          <p:cNvGraphicFramePr/>
          <p:nvPr/>
        </p:nvGraphicFramePr>
        <p:xfrm>
          <a:off x="1381125" y="3846195"/>
          <a:ext cx="6382385" cy="492760"/>
        </p:xfrm>
        <a:graphic>
          <a:graphicData uri="http://schemas.openxmlformats.org/presentationml/2006/ole">
            <mc:AlternateContent xmlns:mc="http://schemas.openxmlformats.org/markup-compatibility/2006">
              <mc:Choice xmlns:v="urn:schemas-microsoft-com:vml" Requires="v">
                <p:oleObj spid="_x0000_s14" name="" r:id="rId4" imgW="6327775" imgH="475615" progId="Equation.KSEE3">
                  <p:embed/>
                </p:oleObj>
              </mc:Choice>
              <mc:Fallback>
                <p:oleObj name="" r:id="rId4" imgW="6327775" imgH="475615" progId="Equation.KSEE3">
                  <p:embed/>
                  <p:pic>
                    <p:nvPicPr>
                      <p:cNvPr id="0" name="图片 13"/>
                      <p:cNvPicPr/>
                      <p:nvPr/>
                    </p:nvPicPr>
                    <p:blipFill>
                      <a:blip r:embed="rId5"/>
                      <a:stretch>
                        <a:fillRect/>
                      </a:stretch>
                    </p:blipFill>
                    <p:spPr>
                      <a:xfrm>
                        <a:off x="1381125" y="3846195"/>
                        <a:ext cx="6382385" cy="492760"/>
                      </a:xfrm>
                      <a:prstGeom prst="rect">
                        <a:avLst/>
                      </a:prstGeom>
                    </p:spPr>
                  </p:pic>
                </p:oleObj>
              </mc:Fallback>
            </mc:AlternateContent>
          </a:graphicData>
        </a:graphic>
      </p:graphicFrame>
      <p:graphicFrame>
        <p:nvGraphicFramePr>
          <p:cNvPr id="15" name="对象 14">
            <a:hlinkClick r:id="" action="ppaction://ole?verb="/>
          </p:cNvPr>
          <p:cNvGraphicFramePr>
            <a:graphicFrameLocks noChangeAspect="1"/>
          </p:cNvGraphicFramePr>
          <p:nvPr/>
        </p:nvGraphicFramePr>
        <p:xfrm>
          <a:off x="1237615" y="4685665"/>
          <a:ext cx="7040245" cy="504190"/>
        </p:xfrm>
        <a:graphic>
          <a:graphicData uri="http://schemas.openxmlformats.org/presentationml/2006/ole">
            <mc:AlternateContent xmlns:mc="http://schemas.openxmlformats.org/markup-compatibility/2006">
              <mc:Choice xmlns:v="urn:schemas-microsoft-com:vml" Requires="v">
                <p:oleObj spid="_x0000_s1027" name="" r:id="rId6" imgW="3035300" imgH="228600" progId="Equation.KSEE3">
                  <p:embed/>
                </p:oleObj>
              </mc:Choice>
              <mc:Fallback>
                <p:oleObj name="" r:id="rId6" imgW="3035300" imgH="228600" progId="Equation.KSEE3">
                  <p:embed/>
                  <p:pic>
                    <p:nvPicPr>
                      <p:cNvPr id="0" name="图片 1026"/>
                      <p:cNvPicPr/>
                      <p:nvPr/>
                    </p:nvPicPr>
                    <p:blipFill>
                      <a:blip r:embed="rId7"/>
                      <a:stretch>
                        <a:fillRect/>
                      </a:stretch>
                    </p:blipFill>
                    <p:spPr>
                      <a:xfrm>
                        <a:off x="1237615" y="4685665"/>
                        <a:ext cx="7040245" cy="504190"/>
                      </a:xfrm>
                      <a:prstGeom prst="rect">
                        <a:avLst/>
                      </a:prstGeom>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xfrm>
            <a:off x="573088" y="1349375"/>
            <a:ext cx="7859712" cy="360363"/>
          </a:xfrm>
        </p:spPr>
        <p:txBody>
          <a:bodyPr vert="horz" wrap="square" lIns="91440" tIns="45720" rIns="91440" bIns="45720" anchor="ctr"/>
          <a:p>
            <a:pPr eaLnBrk="1" hangingPunct="1"/>
            <a:r>
              <a:rPr lang="en-US" altLang="zh-CN" sz="2400" b="1" dirty="0">
                <a:solidFill>
                  <a:srgbClr val="FF0000"/>
                </a:solidFill>
                <a:latin typeface="Arial Black" panose="020B0A04020102020204" pitchFamily="34" charset="0"/>
              </a:rPr>
              <a:t> </a:t>
            </a:r>
            <a:r>
              <a:rPr lang="zh-CN" altLang="en-US" sz="2800" b="1" dirty="0">
                <a:solidFill>
                  <a:srgbClr val="FF0000"/>
                </a:solidFill>
                <a:latin typeface="Arial Black" panose="020B0A04020102020204" pitchFamily="34" charset="0"/>
              </a:rPr>
              <a:t>例</a:t>
            </a:r>
            <a:r>
              <a:rPr lang="en-US" altLang="zh-CN" sz="2800" b="1" dirty="0">
                <a:solidFill>
                  <a:srgbClr val="FF0000"/>
                </a:solidFill>
                <a:latin typeface="Arial Black" panose="020B0A04020102020204" pitchFamily="34" charset="0"/>
              </a:rPr>
              <a:t>2-3</a:t>
            </a:r>
            <a:endParaRPr lang="en-US" altLang="zh-CN" sz="2800" b="1" dirty="0">
              <a:solidFill>
                <a:srgbClr val="FF0000"/>
              </a:solidFill>
              <a:latin typeface="Arial Black" panose="020B0A04020102020204" pitchFamily="34" charset="0"/>
            </a:endParaRPr>
          </a:p>
        </p:txBody>
      </p:sp>
      <p:sp>
        <p:nvSpPr>
          <p:cNvPr id="38915"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mn-ea"/>
                <a:cs typeface="+mn-cs"/>
              </a:rPr>
              <a:t>            一</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个               </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V</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的电压源和一个             的电阻器相连。求出通过电阻器的电流和功率损耗。</a:t>
            </a:r>
            <a:endPar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zh-CN" altLang="en-US" sz="2400" b="1" i="0" u="none" strike="noStrike" kern="0" cap="none" spc="0" normalizeH="0" baseline="0" noProof="0" dirty="0">
                <a:ln>
                  <a:noFill/>
                </a:ln>
                <a:solidFill>
                  <a:srgbClr val="0000CC"/>
                </a:solidFill>
                <a:effectLst/>
                <a:uLnTx/>
                <a:uFillTx/>
                <a:latin typeface="Times New Roman" panose="02020603050405020304" pitchFamily="18" charset="0"/>
                <a:ea typeface="+mn-ea"/>
                <a:cs typeface="+mn-cs"/>
              </a:rPr>
              <a:t>解</a:t>
            </a:r>
            <a:r>
              <a:rPr kumimoji="0" lang="en-US" altLang="zh-CN" sz="2400" b="1" i="0" u="none" strike="noStrike" kern="0" cap="none" spc="0" normalizeH="0" baseline="0" noProof="0" dirty="0">
                <a:ln>
                  <a:noFill/>
                </a:ln>
                <a:solidFill>
                  <a:srgbClr val="0000CC"/>
                </a:solidFill>
                <a:effectLst/>
                <a:uLnTx/>
                <a:uFillTx/>
                <a:latin typeface="Times New Roman" panose="02020603050405020304" pitchFamily="18" charset="0"/>
                <a:ea typeface="+mn-ea"/>
                <a:cs typeface="+mn-cs"/>
              </a:rPr>
              <a:t>:</a:t>
            </a:r>
            <a:endParaRPr kumimoji="0" lang="en-US" altLang="zh-CN" sz="2400" b="1" i="0" u="none" strike="noStrike" kern="0" cap="none" spc="0" normalizeH="0" baseline="0" noProof="0" dirty="0">
              <a:ln>
                <a:noFill/>
              </a:ln>
              <a:solidFill>
                <a:srgbClr val="0000CC"/>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         因此</a:t>
            </a:r>
            <a:r>
              <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a:t>
            </a:r>
            <a:endPar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342900" marR="0" lvl="0" indent="-3429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uLnTx/>
                <a:uFillTx/>
                <a:latin typeface="+mn-lt"/>
                <a:ea typeface="+mn-ea"/>
                <a:cs typeface="+mn-cs"/>
              </a:rPr>
              <a:t> </a:t>
            </a:r>
            <a:endParaRPr kumimoji="0" lang="en-US" altLang="zh-CN" sz="3200" b="0" i="0" u="none" strike="noStrike" kern="0" cap="none" spc="0" normalizeH="0" baseline="0" noProof="0" dirty="0">
              <a:ln>
                <a:noFill/>
              </a:ln>
              <a:solidFill>
                <a:schemeClr val="tx1"/>
              </a:solidFill>
              <a:effectLst/>
              <a:uLnTx/>
              <a:uFillTx/>
              <a:latin typeface="+mn-lt"/>
              <a:ea typeface="+mn-ea"/>
              <a:cs typeface="+mn-cs"/>
            </a:endParaRPr>
          </a:p>
        </p:txBody>
      </p:sp>
      <p:sp>
        <p:nvSpPr>
          <p:cNvPr id="15364" name="Rectangle 4"/>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graphicFrame>
        <p:nvGraphicFramePr>
          <p:cNvPr id="15365" name="Object 5"/>
          <p:cNvGraphicFramePr>
            <a:graphicFrameLocks noChangeAspect="1"/>
          </p:cNvGraphicFramePr>
          <p:nvPr/>
        </p:nvGraphicFramePr>
        <p:xfrm>
          <a:off x="0" y="0"/>
          <a:ext cx="533400" cy="180975"/>
        </p:xfrm>
        <a:graphic>
          <a:graphicData uri="http://schemas.openxmlformats.org/presentationml/2006/ole">
            <mc:AlternateContent xmlns:mc="http://schemas.openxmlformats.org/markup-compatibility/2006">
              <mc:Choice xmlns:v="urn:schemas-microsoft-com:vml" Requires="v">
                <p:oleObj spid="_x0000_s3082" name="" r:id="rId1" imgW="532765" imgH="177800" progId="Equation.3">
                  <p:embed/>
                </p:oleObj>
              </mc:Choice>
              <mc:Fallback>
                <p:oleObj name="" r:id="rId1" imgW="532765" imgH="177800" progId="Equation.3">
                  <p:embed/>
                  <p:pic>
                    <p:nvPicPr>
                      <p:cNvPr id="0" name="图片 3081"/>
                      <p:cNvPicPr/>
                      <p:nvPr/>
                    </p:nvPicPr>
                    <p:blipFill>
                      <a:blip r:embed="rId2"/>
                      <a:stretch>
                        <a:fillRect/>
                      </a:stretch>
                    </p:blipFill>
                    <p:spPr>
                      <a:xfrm>
                        <a:off x="0" y="0"/>
                        <a:ext cx="533400" cy="180975"/>
                      </a:xfrm>
                      <a:prstGeom prst="rect">
                        <a:avLst/>
                      </a:prstGeom>
                      <a:noFill/>
                      <a:ln w="38100">
                        <a:noFill/>
                        <a:miter/>
                      </a:ln>
                    </p:spPr>
                  </p:pic>
                </p:oleObj>
              </mc:Fallback>
            </mc:AlternateContent>
          </a:graphicData>
        </a:graphic>
      </p:graphicFrame>
      <p:sp>
        <p:nvSpPr>
          <p:cNvPr id="15366" name="Rectangle 6"/>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graphicFrame>
        <p:nvGraphicFramePr>
          <p:cNvPr id="15367" name="Object 7"/>
          <p:cNvGraphicFramePr>
            <a:graphicFrameLocks noChangeAspect="1"/>
          </p:cNvGraphicFramePr>
          <p:nvPr/>
        </p:nvGraphicFramePr>
        <p:xfrm>
          <a:off x="0" y="0"/>
          <a:ext cx="533400" cy="180975"/>
        </p:xfrm>
        <a:graphic>
          <a:graphicData uri="http://schemas.openxmlformats.org/presentationml/2006/ole">
            <mc:AlternateContent xmlns:mc="http://schemas.openxmlformats.org/markup-compatibility/2006">
              <mc:Choice xmlns:v="urn:schemas-microsoft-com:vml" Requires="v">
                <p:oleObj spid="_x0000_s3084" name="" r:id="rId3" imgW="532765" imgH="177800" progId="Equation.3">
                  <p:embed/>
                </p:oleObj>
              </mc:Choice>
              <mc:Fallback>
                <p:oleObj name="" r:id="rId3" imgW="532765" imgH="177800" progId="Equation.3">
                  <p:embed/>
                  <p:pic>
                    <p:nvPicPr>
                      <p:cNvPr id="0" name="图片 3083"/>
                      <p:cNvPicPr/>
                      <p:nvPr/>
                    </p:nvPicPr>
                    <p:blipFill>
                      <a:blip r:embed="rId2"/>
                      <a:stretch>
                        <a:fillRect/>
                      </a:stretch>
                    </p:blipFill>
                    <p:spPr>
                      <a:xfrm>
                        <a:off x="0" y="0"/>
                        <a:ext cx="533400" cy="180975"/>
                      </a:xfrm>
                      <a:prstGeom prst="rect">
                        <a:avLst/>
                      </a:prstGeom>
                      <a:noFill/>
                      <a:ln w="38100">
                        <a:noFill/>
                        <a:miter/>
                      </a:ln>
                    </p:spPr>
                  </p:pic>
                </p:oleObj>
              </mc:Fallback>
            </mc:AlternateContent>
          </a:graphicData>
        </a:graphic>
      </p:graphicFrame>
      <p:sp>
        <p:nvSpPr>
          <p:cNvPr id="15368" name="Rectangle 8"/>
          <p:cNvSpPr/>
          <p:nvPr/>
        </p:nvSpPr>
        <p:spPr>
          <a:xfrm>
            <a:off x="6248400" y="3978275"/>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graphicFrame>
        <p:nvGraphicFramePr>
          <p:cNvPr id="15369" name="Object 9"/>
          <p:cNvGraphicFramePr>
            <a:graphicFrameLocks noChangeAspect="1"/>
          </p:cNvGraphicFramePr>
          <p:nvPr/>
        </p:nvGraphicFramePr>
        <p:xfrm>
          <a:off x="2149475" y="3397250"/>
          <a:ext cx="4708525" cy="958850"/>
        </p:xfrm>
        <a:graphic>
          <a:graphicData uri="http://schemas.openxmlformats.org/presentationml/2006/ole">
            <mc:AlternateContent xmlns:mc="http://schemas.openxmlformats.org/markup-compatibility/2006">
              <mc:Choice xmlns:v="urn:schemas-microsoft-com:vml" Requires="v">
                <p:oleObj spid="_x0000_s3079" name="" r:id="rId4" imgW="1917065" imgH="393700" progId="Equation.3">
                  <p:embed/>
                </p:oleObj>
              </mc:Choice>
              <mc:Fallback>
                <p:oleObj name="" r:id="rId4" imgW="1917065" imgH="393700" progId="Equation.3">
                  <p:embed/>
                  <p:pic>
                    <p:nvPicPr>
                      <p:cNvPr id="0" name="图片 3078"/>
                      <p:cNvPicPr/>
                      <p:nvPr/>
                    </p:nvPicPr>
                    <p:blipFill>
                      <a:blip r:embed="rId5"/>
                      <a:stretch>
                        <a:fillRect/>
                      </a:stretch>
                    </p:blipFill>
                    <p:spPr>
                      <a:xfrm>
                        <a:off x="2149475" y="3397250"/>
                        <a:ext cx="4708525" cy="958850"/>
                      </a:xfrm>
                      <a:prstGeom prst="rect">
                        <a:avLst/>
                      </a:prstGeom>
                      <a:noFill/>
                      <a:ln w="38100">
                        <a:noFill/>
                        <a:miter/>
                      </a:ln>
                    </p:spPr>
                  </p:pic>
                </p:oleObj>
              </mc:Fallback>
            </mc:AlternateContent>
          </a:graphicData>
        </a:graphic>
      </p:graphicFrame>
      <p:sp>
        <p:nvSpPr>
          <p:cNvPr id="15370" name="Rectangle 10"/>
          <p:cNvSpPr/>
          <p:nvPr/>
        </p:nvSpPr>
        <p:spPr>
          <a:xfrm>
            <a:off x="6553200" y="4770438"/>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graphicFrame>
        <p:nvGraphicFramePr>
          <p:cNvPr id="15371" name="Object 11"/>
          <p:cNvGraphicFramePr>
            <a:graphicFrameLocks noChangeAspect="1"/>
          </p:cNvGraphicFramePr>
          <p:nvPr/>
        </p:nvGraphicFramePr>
        <p:xfrm>
          <a:off x="2119313" y="5383213"/>
          <a:ext cx="3965575" cy="612775"/>
        </p:xfrm>
        <a:graphic>
          <a:graphicData uri="http://schemas.openxmlformats.org/presentationml/2006/ole">
            <mc:AlternateContent xmlns:mc="http://schemas.openxmlformats.org/markup-compatibility/2006">
              <mc:Choice xmlns:v="urn:schemas-microsoft-com:vml" Requires="v">
                <p:oleObj spid="_x0000_s3080" name="" r:id="rId6" imgW="1485900" imgH="228600" progId="Equation.3">
                  <p:embed/>
                </p:oleObj>
              </mc:Choice>
              <mc:Fallback>
                <p:oleObj name="" r:id="rId6" imgW="1485900" imgH="228600" progId="Equation.3">
                  <p:embed/>
                  <p:pic>
                    <p:nvPicPr>
                      <p:cNvPr id="0" name="图片 3079"/>
                      <p:cNvPicPr/>
                      <p:nvPr/>
                    </p:nvPicPr>
                    <p:blipFill>
                      <a:blip r:embed="rId7"/>
                      <a:stretch>
                        <a:fillRect/>
                      </a:stretch>
                    </p:blipFill>
                    <p:spPr>
                      <a:xfrm>
                        <a:off x="2119313" y="5383213"/>
                        <a:ext cx="3965575" cy="612775"/>
                      </a:xfrm>
                      <a:prstGeom prst="rect">
                        <a:avLst/>
                      </a:prstGeom>
                      <a:noFill/>
                      <a:ln w="38100">
                        <a:noFill/>
                        <a:miter/>
                      </a:ln>
                    </p:spPr>
                  </p:pic>
                </p:oleObj>
              </mc:Fallback>
            </mc:AlternateContent>
          </a:graphicData>
        </a:graphic>
      </p:graphicFrame>
      <p:sp>
        <p:nvSpPr>
          <p:cNvPr id="15372" name="Rectangle 12"/>
          <p:cNvSpPr/>
          <p:nvPr/>
        </p:nvSpPr>
        <p:spPr>
          <a:xfrm>
            <a:off x="6354763" y="2941638"/>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graphicFrame>
        <p:nvGraphicFramePr>
          <p:cNvPr id="15373" name="Object 13"/>
          <p:cNvGraphicFramePr>
            <a:graphicFrameLocks noChangeAspect="1"/>
          </p:cNvGraphicFramePr>
          <p:nvPr/>
        </p:nvGraphicFramePr>
        <p:xfrm>
          <a:off x="2149475" y="2052638"/>
          <a:ext cx="1006475" cy="315912"/>
        </p:xfrm>
        <a:graphic>
          <a:graphicData uri="http://schemas.openxmlformats.org/presentationml/2006/ole">
            <mc:AlternateContent xmlns:mc="http://schemas.openxmlformats.org/markup-compatibility/2006">
              <mc:Choice xmlns:v="urn:schemas-microsoft-com:vml" Requires="v">
                <p:oleObj spid="_x0000_s3081" name="" r:id="rId8" imgW="532765" imgH="177800" progId="Equation.3">
                  <p:embed/>
                </p:oleObj>
              </mc:Choice>
              <mc:Fallback>
                <p:oleObj name="" r:id="rId8" imgW="532765" imgH="177800" progId="Equation.3">
                  <p:embed/>
                  <p:pic>
                    <p:nvPicPr>
                      <p:cNvPr id="0" name="图片 3080"/>
                      <p:cNvPicPr/>
                      <p:nvPr/>
                    </p:nvPicPr>
                    <p:blipFill>
                      <a:blip r:embed="rId2"/>
                      <a:stretch>
                        <a:fillRect/>
                      </a:stretch>
                    </p:blipFill>
                    <p:spPr>
                      <a:xfrm>
                        <a:off x="2149475" y="2052638"/>
                        <a:ext cx="1006475" cy="315912"/>
                      </a:xfrm>
                      <a:prstGeom prst="rect">
                        <a:avLst/>
                      </a:prstGeom>
                      <a:noFill/>
                      <a:ln w="38100">
                        <a:noFill/>
                        <a:miter/>
                      </a:ln>
                    </p:spPr>
                  </p:pic>
                </p:oleObj>
              </mc:Fallback>
            </mc:AlternateContent>
          </a:graphicData>
        </a:graphic>
      </p:graphicFrame>
      <p:sp>
        <p:nvSpPr>
          <p:cNvPr id="15374" name="Rectangle 14"/>
          <p:cNvSpPr/>
          <p:nvPr/>
        </p:nvSpPr>
        <p:spPr>
          <a:xfrm>
            <a:off x="6705600" y="350520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graphicFrame>
        <p:nvGraphicFramePr>
          <p:cNvPr id="15375" name="Object 15"/>
          <p:cNvGraphicFramePr>
            <a:graphicFrameLocks noChangeAspect="1"/>
          </p:cNvGraphicFramePr>
          <p:nvPr/>
        </p:nvGraphicFramePr>
        <p:xfrm>
          <a:off x="5683250" y="2024063"/>
          <a:ext cx="863600" cy="373062"/>
        </p:xfrm>
        <a:graphic>
          <a:graphicData uri="http://schemas.openxmlformats.org/presentationml/2006/ole">
            <mc:AlternateContent xmlns:mc="http://schemas.openxmlformats.org/markup-compatibility/2006">
              <mc:Choice xmlns:v="urn:schemas-microsoft-com:vml" Requires="v">
                <p:oleObj spid="_x0000_s3083" name="" r:id="rId9" imgW="355600" imgH="190500" progId="Equation.3">
                  <p:embed/>
                </p:oleObj>
              </mc:Choice>
              <mc:Fallback>
                <p:oleObj name="" r:id="rId9" imgW="355600" imgH="190500" progId="Equation.3">
                  <p:embed/>
                  <p:pic>
                    <p:nvPicPr>
                      <p:cNvPr id="0" name="图片 3082"/>
                      <p:cNvPicPr/>
                      <p:nvPr/>
                    </p:nvPicPr>
                    <p:blipFill>
                      <a:blip r:embed="rId10"/>
                      <a:stretch>
                        <a:fillRect/>
                      </a:stretch>
                    </p:blipFill>
                    <p:spPr>
                      <a:xfrm>
                        <a:off x="5683250" y="2024063"/>
                        <a:ext cx="863600" cy="373062"/>
                      </a:xfrm>
                      <a:prstGeom prst="rect">
                        <a:avLst/>
                      </a:prstGeom>
                      <a:noFill/>
                      <a:ln w="38100">
                        <a:noFill/>
                        <a:miter/>
                      </a:ln>
                    </p:spPr>
                  </p:pic>
                </p:oleObj>
              </mc:Fallback>
            </mc:AlternateContent>
          </a:graphicData>
        </a:graphic>
      </p:graphicFrame>
      <p:sp>
        <p:nvSpPr>
          <p:cNvPr id="15376"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469900" y="927735"/>
            <a:ext cx="7581900" cy="676275"/>
          </a:xfrm>
          <a:prstGeom prst="rect">
            <a:avLst/>
          </a:prstGeom>
        </p:spPr>
      </p:pic>
      <p:sp>
        <p:nvSpPr>
          <p:cNvPr id="5" name="文本框 4"/>
          <p:cNvSpPr txBox="1"/>
          <p:nvPr/>
        </p:nvSpPr>
        <p:spPr>
          <a:xfrm>
            <a:off x="647065" y="1909445"/>
            <a:ext cx="925830" cy="368300"/>
          </a:xfrm>
          <a:prstGeom prst="rect">
            <a:avLst/>
          </a:prstGeom>
          <a:noFill/>
        </p:spPr>
        <p:txBody>
          <a:bodyPr wrap="square" rtlCol="0">
            <a:spAutoFit/>
          </a:bodyPr>
          <a:p>
            <a:r>
              <a:rPr lang="zh-CN" altLang="zh-CN"/>
              <a:t>解：</a:t>
            </a:r>
            <a:endParaRPr lang="en-US" altLang="zh-CN"/>
          </a:p>
        </p:txBody>
      </p:sp>
      <p:graphicFrame>
        <p:nvGraphicFramePr>
          <p:cNvPr id="6" name="对象 5">
            <a:hlinkClick r:id="" action="ppaction://ole?verb="/>
          </p:cNvPr>
          <p:cNvGraphicFramePr>
            <a:graphicFrameLocks noChangeAspect="1"/>
          </p:cNvGraphicFramePr>
          <p:nvPr/>
        </p:nvGraphicFramePr>
        <p:xfrm>
          <a:off x="1907540" y="1909445"/>
          <a:ext cx="3013710" cy="464185"/>
        </p:xfrm>
        <a:graphic>
          <a:graphicData uri="http://schemas.openxmlformats.org/presentationml/2006/ole">
            <mc:AlternateContent xmlns:mc="http://schemas.openxmlformats.org/markup-compatibility/2006">
              <mc:Choice xmlns:v="urn:schemas-microsoft-com:vml" Requires="v">
                <p:oleObj spid="_x0000_s2049" name="" r:id="rId2" imgW="1320165" imgH="203200" progId="Equation.KSEE3">
                  <p:embed/>
                </p:oleObj>
              </mc:Choice>
              <mc:Fallback>
                <p:oleObj name="" r:id="rId2" imgW="1320165" imgH="203200" progId="Equation.KSEE3">
                  <p:embed/>
                  <p:pic>
                    <p:nvPicPr>
                      <p:cNvPr id="0" name="图片 2048"/>
                      <p:cNvPicPr/>
                      <p:nvPr/>
                    </p:nvPicPr>
                    <p:blipFill>
                      <a:blip r:embed="rId3"/>
                      <a:stretch>
                        <a:fillRect/>
                      </a:stretch>
                    </p:blipFill>
                    <p:spPr>
                      <a:xfrm>
                        <a:off x="1907540" y="1909445"/>
                        <a:ext cx="3013710" cy="464185"/>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2051050" y="2602865"/>
          <a:ext cx="2150110" cy="344805"/>
        </p:xfrm>
        <a:graphic>
          <a:graphicData uri="http://schemas.openxmlformats.org/presentationml/2006/ole">
            <mc:AlternateContent xmlns:mc="http://schemas.openxmlformats.org/markup-compatibility/2006">
              <mc:Choice xmlns:v="urn:schemas-microsoft-com:vml" Requires="v">
                <p:oleObj spid="_x0000_s2050" name="" r:id="rId4" imgW="1104900" imgH="177165" progId="Equation.KSEE3">
                  <p:embed/>
                </p:oleObj>
              </mc:Choice>
              <mc:Fallback>
                <p:oleObj name="" r:id="rId4" imgW="1104900" imgH="177165" progId="Equation.KSEE3">
                  <p:embed/>
                  <p:pic>
                    <p:nvPicPr>
                      <p:cNvPr id="0" name="图片 2049"/>
                      <p:cNvPicPr/>
                      <p:nvPr/>
                    </p:nvPicPr>
                    <p:blipFill>
                      <a:blip r:embed="rId5"/>
                      <a:stretch>
                        <a:fillRect/>
                      </a:stretch>
                    </p:blipFill>
                    <p:spPr>
                      <a:xfrm>
                        <a:off x="2051050" y="2602865"/>
                        <a:ext cx="2150110" cy="344805"/>
                      </a:xfrm>
                      <a:prstGeom prst="rect">
                        <a:avLst/>
                      </a:prstGeom>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a:xfrm>
            <a:off x="561975" y="234950"/>
            <a:ext cx="8229600" cy="1371600"/>
          </a:xfrm>
        </p:spPr>
        <p:txBody>
          <a:bodyPr vert="horz" wrap="square" lIns="91440" tIns="45720" rIns="91440" bIns="45720" anchor="ctr"/>
          <a:p>
            <a:pPr eaLnBrk="1" hangingPunct="1"/>
            <a:r>
              <a:rPr lang="en-US" altLang="zh-CN" sz="4000" b="1" dirty="0">
                <a:solidFill>
                  <a:srgbClr val="0000FF"/>
                </a:solidFill>
                <a:latin typeface="Franklin Gothic Medium" panose="020B0603020102020204" pitchFamily="34" charset="0"/>
              </a:rPr>
              <a:t>2.3  </a:t>
            </a:r>
            <a:r>
              <a:rPr lang="zh-CN" altLang="en-US" sz="4000" b="1" dirty="0">
                <a:solidFill>
                  <a:srgbClr val="0000FF"/>
                </a:solidFill>
                <a:latin typeface="Franklin Gothic Medium" panose="020B0603020102020204" pitchFamily="34" charset="0"/>
              </a:rPr>
              <a:t>节点、支路、回路</a:t>
            </a:r>
            <a:endParaRPr lang="en-US" altLang="zh-CN" sz="4000" b="1" dirty="0">
              <a:solidFill>
                <a:srgbClr val="0000FF"/>
              </a:solidFill>
              <a:latin typeface="Franklin Gothic Medium" panose="020B0603020102020204" pitchFamily="34" charset="0"/>
            </a:endParaRPr>
          </a:p>
        </p:txBody>
      </p:sp>
      <p:sp>
        <p:nvSpPr>
          <p:cNvPr id="16387" name="Text Box 4"/>
          <p:cNvSpPr txBox="1"/>
          <p:nvPr/>
        </p:nvSpPr>
        <p:spPr>
          <a:xfrm>
            <a:off x="619125" y="1690688"/>
            <a:ext cx="2160588"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Arial Black" panose="020B0A04020102020204" pitchFamily="34" charset="0"/>
                <a:cs typeface="Arial" panose="020B0604020202020204" pitchFamily="34" charset="0"/>
              </a:rPr>
              <a:t>支路</a:t>
            </a:r>
            <a:r>
              <a:rPr lang="en-US" altLang="zh-CN" sz="2400" i="1" dirty="0">
                <a:latin typeface="Arial Black" panose="020B0A04020102020204" pitchFamily="34" charset="0"/>
                <a:cs typeface="Arial" panose="020B0604020202020204" pitchFamily="34" charset="0"/>
              </a:rPr>
              <a:t> </a:t>
            </a:r>
            <a:endParaRPr lang="en-US" altLang="zh-CN" sz="2400" i="1" dirty="0">
              <a:latin typeface="Arial Black" panose="020B0A04020102020204" pitchFamily="34" charset="0"/>
              <a:ea typeface="Arial" panose="020B0604020202020204" pitchFamily="34" charset="0"/>
            </a:endParaRPr>
          </a:p>
        </p:txBody>
      </p:sp>
      <p:sp>
        <p:nvSpPr>
          <p:cNvPr id="16388" name="Text Box 5"/>
          <p:cNvSpPr txBox="1"/>
          <p:nvPr/>
        </p:nvSpPr>
        <p:spPr>
          <a:xfrm>
            <a:off x="971550" y="2286000"/>
            <a:ext cx="5832475" cy="461963"/>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Arial Black" panose="020B0A04020102020204" pitchFamily="34" charset="0"/>
                <a:cs typeface="Arial" panose="020B0604020202020204" pitchFamily="34" charset="0"/>
              </a:rPr>
              <a:t>支路</a:t>
            </a:r>
            <a:r>
              <a:rPr lang="zh-CN" altLang="en-US" sz="2400" b="1" dirty="0">
                <a:latin typeface="Arial Black" panose="020B0A04020102020204" pitchFamily="34" charset="0"/>
                <a:cs typeface="Arial" panose="020B0604020202020204" pitchFamily="34" charset="0"/>
              </a:rPr>
              <a:t>表示单个元件，如电压源或电阻器。</a:t>
            </a:r>
            <a:endParaRPr lang="en-US" altLang="zh-CN" sz="2400" b="1" dirty="0">
              <a:latin typeface="Arial Black" panose="020B0A04020102020204" pitchFamily="34" charset="0"/>
              <a:ea typeface="Arial" panose="020B0604020202020204" pitchFamily="34" charset="0"/>
            </a:endParaRPr>
          </a:p>
        </p:txBody>
      </p:sp>
      <p:sp>
        <p:nvSpPr>
          <p:cNvPr id="16389" name="Text Box 8"/>
          <p:cNvSpPr txBox="1"/>
          <p:nvPr/>
        </p:nvSpPr>
        <p:spPr>
          <a:xfrm>
            <a:off x="858838" y="3755073"/>
            <a:ext cx="3495675"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Arial Black" panose="020B0A04020102020204" pitchFamily="34" charset="0"/>
                <a:cs typeface="Arial" panose="020B0604020202020204" pitchFamily="34" charset="0"/>
              </a:rPr>
              <a:t>节点</a:t>
            </a:r>
            <a:endParaRPr lang="en-US" altLang="zh-CN" sz="2400" b="1" dirty="0">
              <a:latin typeface="Arial Black" panose="020B0A04020102020204" pitchFamily="34" charset="0"/>
              <a:ea typeface="Arial" panose="020B0604020202020204" pitchFamily="34" charset="0"/>
            </a:endParaRPr>
          </a:p>
        </p:txBody>
      </p:sp>
      <p:sp>
        <p:nvSpPr>
          <p:cNvPr id="16390" name="Text Box 9"/>
          <p:cNvSpPr txBox="1"/>
          <p:nvPr/>
        </p:nvSpPr>
        <p:spPr>
          <a:xfrm>
            <a:off x="971550" y="4730433"/>
            <a:ext cx="5832475" cy="461962"/>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Arial Black" panose="020B0A04020102020204" pitchFamily="34" charset="0"/>
                <a:cs typeface="Arial" panose="020B0604020202020204" pitchFamily="34" charset="0"/>
              </a:rPr>
              <a:t>节点</a:t>
            </a:r>
            <a:r>
              <a:rPr lang="zh-CN" altLang="en-US" sz="2400" b="1" dirty="0">
                <a:latin typeface="Arial Black" panose="020B0A04020102020204" pitchFamily="34" charset="0"/>
                <a:cs typeface="Arial" panose="020B0604020202020204" pitchFamily="34" charset="0"/>
              </a:rPr>
              <a:t>是两个或多个支路之间的连接点。</a:t>
            </a:r>
            <a:endParaRPr lang="en-US" altLang="zh-CN" sz="2400" b="1" dirty="0">
              <a:latin typeface="Arial Black" panose="020B0A04020102020204" pitchFamily="34" charset="0"/>
              <a:ea typeface="Arial" panose="020B0604020202020204" pitchFamily="34" charset="0"/>
            </a:endParaRPr>
          </a:p>
        </p:txBody>
      </p:sp>
      <p:sp>
        <p:nvSpPr>
          <p:cNvPr id="16391"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16392" name="TextBox 1"/>
          <p:cNvSpPr txBox="1"/>
          <p:nvPr/>
        </p:nvSpPr>
        <p:spPr>
          <a:xfrm>
            <a:off x="712788" y="2916238"/>
            <a:ext cx="538734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2400" b="1" dirty="0">
                <a:latin typeface="Arial Black" panose="020B0A04020102020204" pitchFamily="34" charset="0"/>
                <a:cs typeface="Arial" panose="020B0604020202020204" pitchFamily="34" charset="0"/>
              </a:rPr>
              <a:t>      一条</a:t>
            </a:r>
            <a:r>
              <a:rPr lang="zh-CN" altLang="en-US" sz="2400" b="1" dirty="0">
                <a:solidFill>
                  <a:srgbClr val="FF0000"/>
                </a:solidFill>
                <a:latin typeface="Arial Black" panose="020B0A04020102020204" pitchFamily="34" charset="0"/>
                <a:cs typeface="Arial" panose="020B0604020202020204" pitchFamily="34" charset="0"/>
              </a:rPr>
              <a:t>支路</a:t>
            </a:r>
            <a:r>
              <a:rPr lang="zh-CN" altLang="en-US" sz="2400" b="1" dirty="0">
                <a:latin typeface="Arial Black" panose="020B0A04020102020204" pitchFamily="34" charset="0"/>
                <a:cs typeface="Arial" panose="020B0604020202020204" pitchFamily="34" charset="0"/>
              </a:rPr>
              <a:t>表示任意一个二端元件。</a:t>
            </a:r>
            <a:endParaRPr lang="en-US" altLang="zh-CN" sz="2400" b="1" dirty="0">
              <a:latin typeface="Arial Black" panose="020B0A04020102020204" pitchFamily="34" charset="0"/>
              <a:ea typeface="Arial" panose="020B0604020202020204" pitchFamily="34" charset="0"/>
            </a:endParaRPr>
          </a:p>
        </p:txBody>
      </p:sp>
      <p:sp>
        <p:nvSpPr>
          <p:cNvPr id="16393" name="矩形 1"/>
          <p:cNvSpPr/>
          <p:nvPr/>
        </p:nvSpPr>
        <p:spPr>
          <a:xfrm>
            <a:off x="1082040" y="5501640"/>
            <a:ext cx="541655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2400" b="1" dirty="0">
                <a:latin typeface="Arial Black" panose="020B0A04020102020204" pitchFamily="34" charset="0"/>
                <a:cs typeface="Arial" panose="020B0604020202020204" pitchFamily="34" charset="0"/>
              </a:rPr>
              <a:t>具有</a:t>
            </a:r>
            <a:r>
              <a:rPr lang="zh-CN" altLang="en-US" sz="2400" b="1" dirty="0">
                <a:solidFill>
                  <a:srgbClr val="FF0000"/>
                </a:solidFill>
                <a:latin typeface="Arial Black" panose="020B0A04020102020204" pitchFamily="34" charset="0"/>
                <a:cs typeface="Arial" panose="020B0604020202020204" pitchFamily="34" charset="0"/>
              </a:rPr>
              <a:t>相同电位</a:t>
            </a:r>
            <a:r>
              <a:rPr lang="zh-CN" altLang="en-US" sz="2400" b="1" dirty="0">
                <a:latin typeface="Arial Black" panose="020B0A04020102020204" pitchFamily="34" charset="0"/>
                <a:cs typeface="Arial" panose="020B0604020202020204" pitchFamily="34" charset="0"/>
              </a:rPr>
              <a:t>的节点可视为同一节点。</a:t>
            </a:r>
            <a:endParaRPr lang="en-US" altLang="zh-CN" sz="2400" b="1" dirty="0">
              <a:latin typeface="Arial Black" panose="020B0A04020102020204" pitchFamily="34" charset="0"/>
              <a:ea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410" name="Picture 118"/>
          <p:cNvPicPr preferRelativeResize="0">
            <a:picLocks noChangeAspect="1"/>
          </p:cNvPicPr>
          <p:nvPr/>
        </p:nvPicPr>
        <p:blipFill>
          <a:blip r:embed="rId1"/>
          <a:stretch>
            <a:fillRect/>
          </a:stretch>
        </p:blipFill>
        <p:spPr>
          <a:xfrm>
            <a:off x="4271963" y="4086225"/>
            <a:ext cx="4392612" cy="2132013"/>
          </a:xfrm>
          <a:prstGeom prst="rect">
            <a:avLst/>
          </a:prstGeom>
          <a:noFill/>
          <a:ln w="9525">
            <a:noFill/>
          </a:ln>
        </p:spPr>
      </p:pic>
      <p:pic>
        <p:nvPicPr>
          <p:cNvPr id="17411" name="Picture 123"/>
          <p:cNvPicPr>
            <a:picLocks noChangeAspect="1"/>
          </p:cNvPicPr>
          <p:nvPr/>
        </p:nvPicPr>
        <p:blipFill>
          <a:blip r:embed="rId2"/>
          <a:stretch>
            <a:fillRect/>
          </a:stretch>
        </p:blipFill>
        <p:spPr>
          <a:xfrm>
            <a:off x="4283075" y="2927350"/>
            <a:ext cx="1600200" cy="1581150"/>
          </a:xfrm>
          <a:prstGeom prst="rect">
            <a:avLst/>
          </a:prstGeom>
          <a:noFill/>
          <a:ln w="9525">
            <a:noFill/>
          </a:ln>
        </p:spPr>
      </p:pic>
      <p:grpSp>
        <p:nvGrpSpPr>
          <p:cNvPr id="17412" name="Group 116"/>
          <p:cNvGrpSpPr>
            <a:grpSpLocks noChangeAspect="1"/>
          </p:cNvGrpSpPr>
          <p:nvPr/>
        </p:nvGrpSpPr>
        <p:grpSpPr>
          <a:xfrm>
            <a:off x="107950" y="1125538"/>
            <a:ext cx="4679950" cy="2339975"/>
            <a:chOff x="839" y="1570"/>
            <a:chExt cx="3901" cy="2359"/>
          </a:xfrm>
        </p:grpSpPr>
        <p:sp>
          <p:nvSpPr>
            <p:cNvPr id="17418" name="Freeform 7"/>
            <p:cNvSpPr>
              <a:spLocks noChangeAspect="1"/>
            </p:cNvSpPr>
            <p:nvPr/>
          </p:nvSpPr>
          <p:spPr>
            <a:xfrm>
              <a:off x="4129" y="1980"/>
              <a:ext cx="1" cy="1588"/>
            </a:xfrm>
            <a:custGeom>
              <a:avLst/>
              <a:gdLst>
                <a:gd name="txL" fmla="*/ 0 w 1"/>
                <a:gd name="txT" fmla="*/ 0 h 1362"/>
                <a:gd name="txR" fmla="*/ 1 w 1"/>
                <a:gd name="txB" fmla="*/ 1362 h 1362"/>
              </a:gdLst>
              <a:ahLst/>
              <a:cxnLst>
                <a:cxn ang="0">
                  <a:pos x="0" y="100246"/>
                </a:cxn>
                <a:cxn ang="0">
                  <a:pos x="0" y="0"/>
                </a:cxn>
                <a:cxn ang="0">
                  <a:pos x="0" y="100246"/>
                </a:cxn>
                <a:cxn ang="0">
                  <a:pos x="0" y="100246"/>
                </a:cxn>
              </a:cxnLst>
              <a:rect l="txL" t="txT" r="txR" b="txB"/>
              <a:pathLst>
                <a:path w="1" h="1362">
                  <a:moveTo>
                    <a:pt x="0" y="1362"/>
                  </a:moveTo>
                  <a:lnTo>
                    <a:pt x="0" y="0"/>
                  </a:lnTo>
                  <a:lnTo>
                    <a:pt x="0" y="136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19" name="Freeform 8"/>
            <p:cNvSpPr>
              <a:spLocks noChangeAspect="1" noEditPoints="1"/>
            </p:cNvSpPr>
            <p:nvPr/>
          </p:nvSpPr>
          <p:spPr>
            <a:xfrm flipV="1">
              <a:off x="2355" y="1953"/>
              <a:ext cx="1767" cy="55"/>
            </a:xfrm>
            <a:custGeom>
              <a:avLst/>
              <a:gdLst>
                <a:gd name="txL" fmla="*/ 0 w 2166"/>
                <a:gd name="txT" fmla="*/ 0 h 55"/>
                <a:gd name="txR" fmla="*/ 2166 w 2166"/>
                <a:gd name="txB" fmla="*/ 55 h 55"/>
              </a:gdLst>
              <a:ahLst/>
              <a:cxnLst>
                <a:cxn ang="0">
                  <a:pos x="7" y="0"/>
                </a:cxn>
                <a:cxn ang="0">
                  <a:pos x="0" y="0"/>
                </a:cxn>
                <a:cxn ang="0">
                  <a:pos x="7" y="0"/>
                </a:cxn>
                <a:cxn ang="0">
                  <a:pos x="7" y="0"/>
                </a:cxn>
                <a:cxn ang="0">
                  <a:pos x="7" y="0"/>
                </a:cxn>
                <a:cxn ang="0">
                  <a:pos x="7" y="0"/>
                </a:cxn>
                <a:cxn ang="0">
                  <a:pos x="7" y="0"/>
                </a:cxn>
              </a:cxnLst>
              <a:rect l="txL" t="txT" r="txR" b="txB"/>
              <a:pathLst>
                <a:path w="2166" h="55">
                  <a:moveTo>
                    <a:pt x="2166" y="0"/>
                  </a:moveTo>
                  <a:lnTo>
                    <a:pt x="0" y="0"/>
                  </a:lnTo>
                  <a:lnTo>
                    <a:pt x="2166" y="0"/>
                  </a:lnTo>
                  <a:close/>
                  <a:moveTo>
                    <a:pt x="2166" y="0"/>
                  </a:moveTo>
                  <a:lnTo>
                    <a:pt x="216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20" name="Freeform 9"/>
            <p:cNvSpPr>
              <a:spLocks noChangeAspect="1" noEditPoints="1"/>
            </p:cNvSpPr>
            <p:nvPr/>
          </p:nvSpPr>
          <p:spPr>
            <a:xfrm>
              <a:off x="1494" y="1980"/>
              <a:ext cx="1" cy="1588"/>
            </a:xfrm>
            <a:custGeom>
              <a:avLst/>
              <a:gdLst>
                <a:gd name="txL" fmla="*/ 0 w 1"/>
                <a:gd name="txT" fmla="*/ 0 h 1362"/>
                <a:gd name="txR" fmla="*/ 1 w 1"/>
                <a:gd name="txB" fmla="*/ 1362 h 1362"/>
              </a:gdLst>
              <a:ahLst/>
              <a:cxnLst>
                <a:cxn ang="0">
                  <a:pos x="0" y="0"/>
                </a:cxn>
                <a:cxn ang="0">
                  <a:pos x="0" y="100246"/>
                </a:cxn>
                <a:cxn ang="0">
                  <a:pos x="0" y="0"/>
                </a:cxn>
                <a:cxn ang="0">
                  <a:pos x="0" y="0"/>
                </a:cxn>
                <a:cxn ang="0">
                  <a:pos x="0" y="0"/>
                </a:cxn>
                <a:cxn ang="0">
                  <a:pos x="0" y="0"/>
                </a:cxn>
                <a:cxn ang="0">
                  <a:pos x="0" y="0"/>
                </a:cxn>
              </a:cxnLst>
              <a:rect l="txL" t="txT" r="txR" b="txB"/>
              <a:pathLst>
                <a:path w="1" h="1362">
                  <a:moveTo>
                    <a:pt x="0" y="0"/>
                  </a:moveTo>
                  <a:lnTo>
                    <a:pt x="0" y="1362"/>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21" name="Freeform 10"/>
            <p:cNvSpPr>
              <a:spLocks noChangeAspect="1" noEditPoints="1"/>
            </p:cNvSpPr>
            <p:nvPr/>
          </p:nvSpPr>
          <p:spPr>
            <a:xfrm>
              <a:off x="1494" y="3568"/>
              <a:ext cx="2635" cy="1"/>
            </a:xfrm>
            <a:custGeom>
              <a:avLst/>
              <a:gdLst>
                <a:gd name="txL" fmla="*/ 0 w 2166"/>
                <a:gd name="txT" fmla="*/ 0 h 1"/>
                <a:gd name="txR" fmla="*/ 2166 w 2166"/>
                <a:gd name="txB" fmla="*/ 1 h 1"/>
              </a:gdLst>
              <a:ahLst/>
              <a:cxnLst>
                <a:cxn ang="0">
                  <a:pos x="0" y="0"/>
                </a:cxn>
                <a:cxn ang="0">
                  <a:pos x="523717" y="0"/>
                </a:cxn>
                <a:cxn ang="0">
                  <a:pos x="0" y="0"/>
                </a:cxn>
                <a:cxn ang="0">
                  <a:pos x="0" y="0"/>
                </a:cxn>
                <a:cxn ang="0">
                  <a:pos x="0" y="0"/>
                </a:cxn>
                <a:cxn ang="0">
                  <a:pos x="0" y="0"/>
                </a:cxn>
                <a:cxn ang="0">
                  <a:pos x="0" y="0"/>
                </a:cxn>
              </a:cxnLst>
              <a:rect l="txL" t="txT" r="txR" b="txB"/>
              <a:pathLst>
                <a:path w="2166" h="1">
                  <a:moveTo>
                    <a:pt x="0" y="0"/>
                  </a:moveTo>
                  <a:lnTo>
                    <a:pt x="2166" y="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22" name="Freeform 11"/>
            <p:cNvSpPr>
              <a:spLocks noChangeAspect="1"/>
            </p:cNvSpPr>
            <p:nvPr/>
          </p:nvSpPr>
          <p:spPr>
            <a:xfrm>
              <a:off x="4129" y="3568"/>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23" name="Freeform 12"/>
            <p:cNvSpPr>
              <a:spLocks noChangeAspect="1"/>
            </p:cNvSpPr>
            <p:nvPr/>
          </p:nvSpPr>
          <p:spPr>
            <a:xfrm flipH="1">
              <a:off x="2698" y="1987"/>
              <a:ext cx="57" cy="504"/>
            </a:xfrm>
            <a:custGeom>
              <a:avLst/>
              <a:gdLst>
                <a:gd name="txL" fmla="*/ 0 w 57"/>
                <a:gd name="txT" fmla="*/ 0 h 1362"/>
                <a:gd name="txR" fmla="*/ 57 w 57"/>
                <a:gd name="txB" fmla="*/ 1362 h 1362"/>
              </a:gdLst>
              <a:ahLst/>
              <a:cxnLst>
                <a:cxn ang="0">
                  <a:pos x="0" y="0"/>
                </a:cxn>
                <a:cxn ang="0">
                  <a:pos x="0" y="0"/>
                </a:cxn>
                <a:cxn ang="0">
                  <a:pos x="0" y="0"/>
                </a:cxn>
                <a:cxn ang="0">
                  <a:pos x="0" y="0"/>
                </a:cxn>
              </a:cxnLst>
              <a:rect l="txL" t="txT" r="txR" b="txB"/>
              <a:pathLst>
                <a:path w="57" h="1362">
                  <a:moveTo>
                    <a:pt x="0" y="0"/>
                  </a:moveTo>
                  <a:lnTo>
                    <a:pt x="0" y="1362"/>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24" name="Freeform 13"/>
            <p:cNvSpPr>
              <a:spLocks noChangeAspect="1"/>
            </p:cNvSpPr>
            <p:nvPr/>
          </p:nvSpPr>
          <p:spPr>
            <a:xfrm flipH="1">
              <a:off x="3392" y="1987"/>
              <a:ext cx="57" cy="504"/>
            </a:xfrm>
            <a:custGeom>
              <a:avLst/>
              <a:gdLst>
                <a:gd name="txL" fmla="*/ 0 w 57"/>
                <a:gd name="txT" fmla="*/ 0 h 1362"/>
                <a:gd name="txR" fmla="*/ 57 w 57"/>
                <a:gd name="txB" fmla="*/ 1362 h 1362"/>
              </a:gdLst>
              <a:ahLst/>
              <a:cxnLst>
                <a:cxn ang="0">
                  <a:pos x="0" y="0"/>
                </a:cxn>
                <a:cxn ang="0">
                  <a:pos x="0" y="0"/>
                </a:cxn>
                <a:cxn ang="0">
                  <a:pos x="0" y="0"/>
                </a:cxn>
                <a:cxn ang="0">
                  <a:pos x="0" y="0"/>
                </a:cxn>
              </a:cxnLst>
              <a:rect l="txL" t="txT" r="txR" b="txB"/>
              <a:pathLst>
                <a:path w="57" h="1362">
                  <a:moveTo>
                    <a:pt x="0" y="0"/>
                  </a:moveTo>
                  <a:lnTo>
                    <a:pt x="0" y="1362"/>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25" name="Freeform 14"/>
            <p:cNvSpPr>
              <a:spLocks noChangeAspect="1"/>
            </p:cNvSpPr>
            <p:nvPr/>
          </p:nvSpPr>
          <p:spPr>
            <a:xfrm>
              <a:off x="839" y="2669"/>
              <a:ext cx="58" cy="161"/>
            </a:xfrm>
            <a:custGeom>
              <a:avLst/>
              <a:gdLst>
                <a:gd name="txL" fmla="*/ 0 w 48"/>
                <a:gd name="txT" fmla="*/ 0 h 138"/>
                <a:gd name="txR" fmla="*/ 48 w 48"/>
                <a:gd name="txB" fmla="*/ 138 h 138"/>
              </a:gdLst>
              <a:ahLst/>
              <a:cxnLst>
                <a:cxn ang="0">
                  <a:pos x="0" y="10374"/>
                </a:cxn>
                <a:cxn ang="0">
                  <a:pos x="9679" y="10374"/>
                </a:cxn>
                <a:cxn ang="0">
                  <a:pos x="9679" y="10374"/>
                </a:cxn>
                <a:cxn ang="0">
                  <a:pos x="7199" y="9949"/>
                </a:cxn>
                <a:cxn ang="0">
                  <a:pos x="5958" y="9426"/>
                </a:cxn>
                <a:cxn ang="0">
                  <a:pos x="5958" y="0"/>
                </a:cxn>
                <a:cxn ang="0">
                  <a:pos x="5958" y="0"/>
                </a:cxn>
                <a:cxn ang="0">
                  <a:pos x="0" y="1381"/>
                </a:cxn>
                <a:cxn ang="0">
                  <a:pos x="0" y="1381"/>
                </a:cxn>
                <a:cxn ang="0">
                  <a:pos x="1207" y="1381"/>
                </a:cxn>
                <a:cxn ang="0">
                  <a:pos x="2573" y="1381"/>
                </a:cxn>
                <a:cxn ang="0">
                  <a:pos x="3757" y="1869"/>
                </a:cxn>
                <a:cxn ang="0">
                  <a:pos x="3757" y="1869"/>
                </a:cxn>
                <a:cxn ang="0">
                  <a:pos x="3757" y="8982"/>
                </a:cxn>
                <a:cxn ang="0">
                  <a:pos x="3757" y="9949"/>
                </a:cxn>
                <a:cxn ang="0">
                  <a:pos x="2573" y="10374"/>
                </a:cxn>
                <a:cxn ang="0">
                  <a:pos x="0" y="10374"/>
                </a:cxn>
                <a:cxn ang="0">
                  <a:pos x="0" y="10374"/>
                </a:cxn>
              </a:cxnLst>
              <a:rect l="txL" t="txT" r="txR" b="txB"/>
              <a:pathLst>
                <a:path w="48" h="138">
                  <a:moveTo>
                    <a:pt x="0" y="138"/>
                  </a:moveTo>
                  <a:lnTo>
                    <a:pt x="48" y="138"/>
                  </a:lnTo>
                  <a:lnTo>
                    <a:pt x="36" y="132"/>
                  </a:lnTo>
                  <a:lnTo>
                    <a:pt x="30" y="126"/>
                  </a:lnTo>
                  <a:lnTo>
                    <a:pt x="30" y="0"/>
                  </a:lnTo>
                  <a:lnTo>
                    <a:pt x="0" y="18"/>
                  </a:lnTo>
                  <a:lnTo>
                    <a:pt x="6" y="18"/>
                  </a:lnTo>
                  <a:lnTo>
                    <a:pt x="12" y="18"/>
                  </a:lnTo>
                  <a:lnTo>
                    <a:pt x="18" y="24"/>
                  </a:lnTo>
                  <a:lnTo>
                    <a:pt x="18" y="120"/>
                  </a:lnTo>
                  <a:lnTo>
                    <a:pt x="18" y="132"/>
                  </a:lnTo>
                  <a:lnTo>
                    <a:pt x="12" y="138"/>
                  </a:lnTo>
                  <a:lnTo>
                    <a:pt x="0" y="13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26" name="Freeform 15"/>
            <p:cNvSpPr>
              <a:spLocks noChangeAspect="1" noEditPoints="1"/>
            </p:cNvSpPr>
            <p:nvPr/>
          </p:nvSpPr>
          <p:spPr>
            <a:xfrm>
              <a:off x="927" y="2669"/>
              <a:ext cx="93" cy="168"/>
            </a:xfrm>
            <a:custGeom>
              <a:avLst/>
              <a:gdLst>
                <a:gd name="txL" fmla="*/ 0 w 77"/>
                <a:gd name="txT" fmla="*/ 0 h 144"/>
                <a:gd name="txR" fmla="*/ 77 w 77"/>
                <a:gd name="txB" fmla="*/ 144 h 144"/>
              </a:gdLst>
              <a:ahLst/>
              <a:cxnLst>
                <a:cxn ang="0">
                  <a:pos x="7097" y="429"/>
                </a:cxn>
                <a:cxn ang="0">
                  <a:pos x="9562" y="904"/>
                </a:cxn>
                <a:cxn ang="0">
                  <a:pos x="11766" y="2280"/>
                </a:cxn>
                <a:cxn ang="0">
                  <a:pos x="11766" y="3957"/>
                </a:cxn>
                <a:cxn ang="0">
                  <a:pos x="11766" y="5382"/>
                </a:cxn>
                <a:cxn ang="0">
                  <a:pos x="11766" y="6728"/>
                </a:cxn>
                <a:cxn ang="0">
                  <a:pos x="11766" y="8114"/>
                </a:cxn>
                <a:cxn ang="0">
                  <a:pos x="9562" y="9949"/>
                </a:cxn>
                <a:cxn ang="0">
                  <a:pos x="7097" y="10374"/>
                </a:cxn>
                <a:cxn ang="0">
                  <a:pos x="4811" y="9949"/>
                </a:cxn>
                <a:cxn ang="0">
                  <a:pos x="3720" y="8547"/>
                </a:cxn>
                <a:cxn ang="0">
                  <a:pos x="2286" y="6728"/>
                </a:cxn>
                <a:cxn ang="0">
                  <a:pos x="2286" y="5382"/>
                </a:cxn>
                <a:cxn ang="0">
                  <a:pos x="2286" y="3957"/>
                </a:cxn>
                <a:cxn ang="0">
                  <a:pos x="3720" y="2280"/>
                </a:cxn>
                <a:cxn ang="0">
                  <a:pos x="4811" y="904"/>
                </a:cxn>
                <a:cxn ang="0">
                  <a:pos x="7097" y="429"/>
                </a:cxn>
                <a:cxn ang="0">
                  <a:pos x="7097" y="429"/>
                </a:cxn>
                <a:cxn ang="0">
                  <a:pos x="7097" y="0"/>
                </a:cxn>
                <a:cxn ang="0">
                  <a:pos x="3720" y="429"/>
                </a:cxn>
                <a:cxn ang="0">
                  <a:pos x="1074" y="2280"/>
                </a:cxn>
                <a:cxn ang="0">
                  <a:pos x="0" y="3620"/>
                </a:cxn>
                <a:cxn ang="0">
                  <a:pos x="0" y="5382"/>
                </a:cxn>
                <a:cxn ang="0">
                  <a:pos x="0" y="7287"/>
                </a:cxn>
                <a:cxn ang="0">
                  <a:pos x="1074" y="8982"/>
                </a:cxn>
                <a:cxn ang="0">
                  <a:pos x="3720" y="10374"/>
                </a:cxn>
                <a:cxn ang="0">
                  <a:pos x="7097" y="10858"/>
                </a:cxn>
                <a:cxn ang="0">
                  <a:pos x="11766" y="10374"/>
                </a:cxn>
                <a:cxn ang="0">
                  <a:pos x="14211" y="8982"/>
                </a:cxn>
                <a:cxn ang="0">
                  <a:pos x="15128" y="7287"/>
                </a:cxn>
                <a:cxn ang="0">
                  <a:pos x="15128" y="5382"/>
                </a:cxn>
                <a:cxn ang="0">
                  <a:pos x="15128" y="3620"/>
                </a:cxn>
                <a:cxn ang="0">
                  <a:pos x="14211" y="2280"/>
                </a:cxn>
                <a:cxn ang="0">
                  <a:pos x="11766" y="429"/>
                </a:cxn>
                <a:cxn ang="0">
                  <a:pos x="7097" y="0"/>
                </a:cxn>
                <a:cxn ang="0">
                  <a:pos x="7097" y="0"/>
                </a:cxn>
              </a:cxnLst>
              <a:rect l="txL" t="txT" r="txR" b="txB"/>
              <a:pathLst>
                <a:path w="77" h="144">
                  <a:moveTo>
                    <a:pt x="36" y="6"/>
                  </a:moveTo>
                  <a:lnTo>
                    <a:pt x="48" y="12"/>
                  </a:lnTo>
                  <a:lnTo>
                    <a:pt x="60" y="30"/>
                  </a:lnTo>
                  <a:lnTo>
                    <a:pt x="60" y="54"/>
                  </a:lnTo>
                  <a:lnTo>
                    <a:pt x="60" y="72"/>
                  </a:lnTo>
                  <a:lnTo>
                    <a:pt x="60" y="90"/>
                  </a:lnTo>
                  <a:lnTo>
                    <a:pt x="60" y="108"/>
                  </a:lnTo>
                  <a:lnTo>
                    <a:pt x="48" y="132"/>
                  </a:lnTo>
                  <a:lnTo>
                    <a:pt x="36" y="138"/>
                  </a:lnTo>
                  <a:lnTo>
                    <a:pt x="24" y="132"/>
                  </a:lnTo>
                  <a:lnTo>
                    <a:pt x="18" y="114"/>
                  </a:lnTo>
                  <a:lnTo>
                    <a:pt x="12" y="90"/>
                  </a:lnTo>
                  <a:lnTo>
                    <a:pt x="12" y="72"/>
                  </a:lnTo>
                  <a:lnTo>
                    <a:pt x="12" y="54"/>
                  </a:lnTo>
                  <a:lnTo>
                    <a:pt x="18" y="30"/>
                  </a:lnTo>
                  <a:lnTo>
                    <a:pt x="24" y="12"/>
                  </a:lnTo>
                  <a:lnTo>
                    <a:pt x="36" y="6"/>
                  </a:lnTo>
                  <a:close/>
                  <a:moveTo>
                    <a:pt x="36" y="0"/>
                  </a:moveTo>
                  <a:lnTo>
                    <a:pt x="18" y="6"/>
                  </a:lnTo>
                  <a:lnTo>
                    <a:pt x="6" y="30"/>
                  </a:lnTo>
                  <a:lnTo>
                    <a:pt x="0" y="48"/>
                  </a:lnTo>
                  <a:lnTo>
                    <a:pt x="0" y="72"/>
                  </a:lnTo>
                  <a:lnTo>
                    <a:pt x="0" y="96"/>
                  </a:lnTo>
                  <a:lnTo>
                    <a:pt x="6" y="120"/>
                  </a:lnTo>
                  <a:lnTo>
                    <a:pt x="18" y="138"/>
                  </a:lnTo>
                  <a:lnTo>
                    <a:pt x="36" y="144"/>
                  </a:lnTo>
                  <a:lnTo>
                    <a:pt x="60" y="138"/>
                  </a:lnTo>
                  <a:lnTo>
                    <a:pt x="72" y="120"/>
                  </a:lnTo>
                  <a:lnTo>
                    <a:pt x="77" y="96"/>
                  </a:lnTo>
                  <a:lnTo>
                    <a:pt x="77" y="72"/>
                  </a:lnTo>
                  <a:lnTo>
                    <a:pt x="77" y="48"/>
                  </a:lnTo>
                  <a:lnTo>
                    <a:pt x="72" y="30"/>
                  </a:lnTo>
                  <a:lnTo>
                    <a:pt x="60" y="6"/>
                  </a:lnTo>
                  <a:lnTo>
                    <a:pt x="3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27" name="Freeform 16"/>
            <p:cNvSpPr>
              <a:spLocks noChangeAspect="1"/>
            </p:cNvSpPr>
            <p:nvPr/>
          </p:nvSpPr>
          <p:spPr>
            <a:xfrm>
              <a:off x="1079" y="2669"/>
              <a:ext cx="146" cy="168"/>
            </a:xfrm>
            <a:custGeom>
              <a:avLst/>
              <a:gdLst>
                <a:gd name="txL" fmla="*/ 0 w 120"/>
                <a:gd name="txT" fmla="*/ 0 h 144"/>
                <a:gd name="txR" fmla="*/ 120 w 120"/>
                <a:gd name="txB" fmla="*/ 144 h 144"/>
              </a:gdLst>
              <a:ahLst/>
              <a:cxnLst>
                <a:cxn ang="0">
                  <a:pos x="29257" y="0"/>
                </a:cxn>
                <a:cxn ang="0">
                  <a:pos x="20439" y="0"/>
                </a:cxn>
                <a:cxn ang="0">
                  <a:pos x="20439" y="429"/>
                </a:cxn>
                <a:cxn ang="0">
                  <a:pos x="21872" y="429"/>
                </a:cxn>
                <a:cxn ang="0">
                  <a:pos x="23268" y="1381"/>
                </a:cxn>
                <a:cxn ang="0">
                  <a:pos x="23268" y="1869"/>
                </a:cxn>
                <a:cxn ang="0">
                  <a:pos x="23268" y="2280"/>
                </a:cxn>
                <a:cxn ang="0">
                  <a:pos x="15886" y="8114"/>
                </a:cxn>
                <a:cxn ang="0">
                  <a:pos x="10091" y="2713"/>
                </a:cxn>
                <a:cxn ang="0">
                  <a:pos x="8821" y="1869"/>
                </a:cxn>
                <a:cxn ang="0">
                  <a:pos x="8821" y="904"/>
                </a:cxn>
                <a:cxn ang="0">
                  <a:pos x="8821" y="429"/>
                </a:cxn>
                <a:cxn ang="0">
                  <a:pos x="11653" y="429"/>
                </a:cxn>
                <a:cxn ang="0">
                  <a:pos x="11653" y="0"/>
                </a:cxn>
                <a:cxn ang="0">
                  <a:pos x="0" y="0"/>
                </a:cxn>
                <a:cxn ang="0">
                  <a:pos x="0" y="429"/>
                </a:cxn>
                <a:cxn ang="0">
                  <a:pos x="3011" y="904"/>
                </a:cxn>
                <a:cxn ang="0">
                  <a:pos x="3011" y="1381"/>
                </a:cxn>
                <a:cxn ang="0">
                  <a:pos x="4457" y="2280"/>
                </a:cxn>
                <a:cxn ang="0">
                  <a:pos x="14458" y="10858"/>
                </a:cxn>
                <a:cxn ang="0">
                  <a:pos x="15886" y="10858"/>
                </a:cxn>
                <a:cxn ang="0">
                  <a:pos x="24867" y="1869"/>
                </a:cxn>
                <a:cxn ang="0">
                  <a:pos x="26039" y="904"/>
                </a:cxn>
                <a:cxn ang="0">
                  <a:pos x="27744" y="429"/>
                </a:cxn>
                <a:cxn ang="0">
                  <a:pos x="29257" y="429"/>
                </a:cxn>
                <a:cxn ang="0">
                  <a:pos x="29257" y="0"/>
                </a:cxn>
              </a:cxnLst>
              <a:rect l="txL" t="txT" r="txR" b="txB"/>
              <a:pathLst>
                <a:path w="120" h="144">
                  <a:moveTo>
                    <a:pt x="120" y="0"/>
                  </a:moveTo>
                  <a:lnTo>
                    <a:pt x="84" y="0"/>
                  </a:lnTo>
                  <a:lnTo>
                    <a:pt x="84" y="6"/>
                  </a:lnTo>
                  <a:lnTo>
                    <a:pt x="90" y="6"/>
                  </a:lnTo>
                  <a:lnTo>
                    <a:pt x="96" y="18"/>
                  </a:lnTo>
                  <a:lnTo>
                    <a:pt x="96" y="24"/>
                  </a:lnTo>
                  <a:lnTo>
                    <a:pt x="96" y="30"/>
                  </a:lnTo>
                  <a:lnTo>
                    <a:pt x="66" y="108"/>
                  </a:lnTo>
                  <a:lnTo>
                    <a:pt x="42" y="36"/>
                  </a:lnTo>
                  <a:lnTo>
                    <a:pt x="36" y="24"/>
                  </a:lnTo>
                  <a:lnTo>
                    <a:pt x="36" y="12"/>
                  </a:lnTo>
                  <a:lnTo>
                    <a:pt x="36" y="6"/>
                  </a:lnTo>
                  <a:lnTo>
                    <a:pt x="48" y="6"/>
                  </a:lnTo>
                  <a:lnTo>
                    <a:pt x="48" y="0"/>
                  </a:lnTo>
                  <a:lnTo>
                    <a:pt x="0" y="0"/>
                  </a:lnTo>
                  <a:lnTo>
                    <a:pt x="0" y="6"/>
                  </a:lnTo>
                  <a:lnTo>
                    <a:pt x="12" y="12"/>
                  </a:lnTo>
                  <a:lnTo>
                    <a:pt x="12" y="18"/>
                  </a:lnTo>
                  <a:lnTo>
                    <a:pt x="18" y="30"/>
                  </a:lnTo>
                  <a:lnTo>
                    <a:pt x="60" y="144"/>
                  </a:lnTo>
                  <a:lnTo>
                    <a:pt x="66" y="144"/>
                  </a:lnTo>
                  <a:lnTo>
                    <a:pt x="102" y="24"/>
                  </a:lnTo>
                  <a:lnTo>
                    <a:pt x="108" y="12"/>
                  </a:lnTo>
                  <a:lnTo>
                    <a:pt x="114" y="6"/>
                  </a:lnTo>
                  <a:lnTo>
                    <a:pt x="120" y="6"/>
                  </a:lnTo>
                  <a:lnTo>
                    <a:pt x="12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28" name="Freeform 17"/>
            <p:cNvSpPr>
              <a:spLocks noChangeAspect="1"/>
            </p:cNvSpPr>
            <p:nvPr/>
          </p:nvSpPr>
          <p:spPr>
            <a:xfrm>
              <a:off x="4435" y="2648"/>
              <a:ext cx="94" cy="168"/>
            </a:xfrm>
            <a:custGeom>
              <a:avLst/>
              <a:gdLst>
                <a:gd name="txL" fmla="*/ 0 w 78"/>
                <a:gd name="txT" fmla="*/ 0 h 144"/>
                <a:gd name="txR" fmla="*/ 78 w 78"/>
                <a:gd name="txB" fmla="*/ 144 h 144"/>
              </a:gdLst>
              <a:ahLst/>
              <a:cxnLst>
                <a:cxn ang="0">
                  <a:pos x="14488" y="8547"/>
                </a:cxn>
                <a:cxn ang="0">
                  <a:pos x="14488" y="8547"/>
                </a:cxn>
                <a:cxn ang="0">
                  <a:pos x="13483" y="9426"/>
                </a:cxn>
                <a:cxn ang="0">
                  <a:pos x="11188" y="9426"/>
                </a:cxn>
                <a:cxn ang="0">
                  <a:pos x="3517" y="9426"/>
                </a:cxn>
                <a:cxn ang="0">
                  <a:pos x="8940" y="6728"/>
                </a:cxn>
                <a:cxn ang="0">
                  <a:pos x="11188" y="4971"/>
                </a:cxn>
                <a:cxn ang="0">
                  <a:pos x="13483" y="3957"/>
                </a:cxn>
                <a:cxn ang="0">
                  <a:pos x="13483" y="3165"/>
                </a:cxn>
                <a:cxn ang="0">
                  <a:pos x="13483" y="1869"/>
                </a:cxn>
                <a:cxn ang="0">
                  <a:pos x="11188" y="904"/>
                </a:cxn>
                <a:cxn ang="0">
                  <a:pos x="8940" y="429"/>
                </a:cxn>
                <a:cxn ang="0">
                  <a:pos x="6726" y="0"/>
                </a:cxn>
                <a:cxn ang="0">
                  <a:pos x="3517" y="904"/>
                </a:cxn>
                <a:cxn ang="0">
                  <a:pos x="1000" y="1869"/>
                </a:cxn>
                <a:cxn ang="0">
                  <a:pos x="0" y="3165"/>
                </a:cxn>
                <a:cxn ang="0">
                  <a:pos x="1000" y="3165"/>
                </a:cxn>
                <a:cxn ang="0">
                  <a:pos x="2109" y="2280"/>
                </a:cxn>
                <a:cxn ang="0">
                  <a:pos x="3517" y="1869"/>
                </a:cxn>
                <a:cxn ang="0">
                  <a:pos x="5581" y="1381"/>
                </a:cxn>
                <a:cxn ang="0">
                  <a:pos x="7784" y="1869"/>
                </a:cxn>
                <a:cxn ang="0">
                  <a:pos x="9976" y="2280"/>
                </a:cxn>
                <a:cxn ang="0">
                  <a:pos x="9976" y="3620"/>
                </a:cxn>
                <a:cxn ang="0">
                  <a:pos x="8940" y="5382"/>
                </a:cxn>
                <a:cxn ang="0">
                  <a:pos x="5581" y="7641"/>
                </a:cxn>
                <a:cxn ang="0">
                  <a:pos x="0" y="10374"/>
                </a:cxn>
                <a:cxn ang="0">
                  <a:pos x="0" y="10858"/>
                </a:cxn>
                <a:cxn ang="0">
                  <a:pos x="13483" y="10858"/>
                </a:cxn>
                <a:cxn ang="0">
                  <a:pos x="14488" y="8547"/>
                </a:cxn>
              </a:cxnLst>
              <a:rect l="txL" t="txT" r="txR" b="txB"/>
              <a:pathLst>
                <a:path w="78" h="144">
                  <a:moveTo>
                    <a:pt x="78" y="114"/>
                  </a:moveTo>
                  <a:lnTo>
                    <a:pt x="78" y="114"/>
                  </a:lnTo>
                  <a:lnTo>
                    <a:pt x="72" y="126"/>
                  </a:lnTo>
                  <a:lnTo>
                    <a:pt x="60" y="126"/>
                  </a:lnTo>
                  <a:lnTo>
                    <a:pt x="18" y="126"/>
                  </a:lnTo>
                  <a:lnTo>
                    <a:pt x="48" y="90"/>
                  </a:lnTo>
                  <a:lnTo>
                    <a:pt x="60" y="66"/>
                  </a:lnTo>
                  <a:lnTo>
                    <a:pt x="72" y="54"/>
                  </a:lnTo>
                  <a:lnTo>
                    <a:pt x="72" y="42"/>
                  </a:lnTo>
                  <a:lnTo>
                    <a:pt x="72" y="24"/>
                  </a:lnTo>
                  <a:lnTo>
                    <a:pt x="60" y="12"/>
                  </a:lnTo>
                  <a:lnTo>
                    <a:pt x="48" y="6"/>
                  </a:lnTo>
                  <a:lnTo>
                    <a:pt x="36" y="0"/>
                  </a:lnTo>
                  <a:lnTo>
                    <a:pt x="18" y="12"/>
                  </a:lnTo>
                  <a:lnTo>
                    <a:pt x="6" y="24"/>
                  </a:lnTo>
                  <a:lnTo>
                    <a:pt x="0" y="42"/>
                  </a:lnTo>
                  <a:lnTo>
                    <a:pt x="6" y="42"/>
                  </a:lnTo>
                  <a:lnTo>
                    <a:pt x="12" y="30"/>
                  </a:lnTo>
                  <a:lnTo>
                    <a:pt x="18" y="24"/>
                  </a:lnTo>
                  <a:lnTo>
                    <a:pt x="30" y="18"/>
                  </a:lnTo>
                  <a:lnTo>
                    <a:pt x="42" y="24"/>
                  </a:lnTo>
                  <a:lnTo>
                    <a:pt x="54" y="30"/>
                  </a:lnTo>
                  <a:lnTo>
                    <a:pt x="54" y="48"/>
                  </a:lnTo>
                  <a:lnTo>
                    <a:pt x="48" y="72"/>
                  </a:lnTo>
                  <a:lnTo>
                    <a:pt x="30" y="102"/>
                  </a:lnTo>
                  <a:lnTo>
                    <a:pt x="0" y="138"/>
                  </a:lnTo>
                  <a:lnTo>
                    <a:pt x="0" y="144"/>
                  </a:lnTo>
                  <a:lnTo>
                    <a:pt x="72" y="144"/>
                  </a:lnTo>
                  <a:lnTo>
                    <a:pt x="78" y="11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29" name="Freeform 18"/>
            <p:cNvSpPr>
              <a:spLocks noChangeAspect="1" noEditPoints="1"/>
            </p:cNvSpPr>
            <p:nvPr/>
          </p:nvSpPr>
          <p:spPr>
            <a:xfrm>
              <a:off x="4594" y="2648"/>
              <a:ext cx="146" cy="168"/>
            </a:xfrm>
            <a:custGeom>
              <a:avLst/>
              <a:gdLst>
                <a:gd name="txL" fmla="*/ 0 w 120"/>
                <a:gd name="txT" fmla="*/ 0 h 144"/>
                <a:gd name="txR" fmla="*/ 120 w 120"/>
                <a:gd name="txB" fmla="*/ 144 h 144"/>
              </a:gdLst>
              <a:ahLst/>
              <a:cxnLst>
                <a:cxn ang="0">
                  <a:pos x="29257" y="10374"/>
                </a:cxn>
                <a:cxn ang="0">
                  <a:pos x="26039" y="10374"/>
                </a:cxn>
                <a:cxn ang="0">
                  <a:pos x="26039" y="9949"/>
                </a:cxn>
                <a:cxn ang="0">
                  <a:pos x="24867" y="8982"/>
                </a:cxn>
                <a:cxn ang="0">
                  <a:pos x="14458" y="0"/>
                </a:cxn>
                <a:cxn ang="0">
                  <a:pos x="13057" y="0"/>
                </a:cxn>
                <a:cxn ang="0">
                  <a:pos x="4457" y="7641"/>
                </a:cxn>
                <a:cxn ang="0">
                  <a:pos x="3011" y="8982"/>
                </a:cxn>
                <a:cxn ang="0">
                  <a:pos x="3011" y="9949"/>
                </a:cxn>
                <a:cxn ang="0">
                  <a:pos x="1403" y="9949"/>
                </a:cxn>
                <a:cxn ang="0">
                  <a:pos x="1403" y="10374"/>
                </a:cxn>
                <a:cxn ang="0">
                  <a:pos x="0" y="10374"/>
                </a:cxn>
                <a:cxn ang="0">
                  <a:pos x="0" y="10858"/>
                </a:cxn>
                <a:cxn ang="0">
                  <a:pos x="7467" y="10858"/>
                </a:cxn>
                <a:cxn ang="0">
                  <a:pos x="7467" y="10374"/>
                </a:cxn>
                <a:cxn ang="0">
                  <a:pos x="5778" y="10374"/>
                </a:cxn>
                <a:cxn ang="0">
                  <a:pos x="4457" y="9949"/>
                </a:cxn>
                <a:cxn ang="0">
                  <a:pos x="4457" y="9426"/>
                </a:cxn>
                <a:cxn ang="0">
                  <a:pos x="5778" y="8982"/>
                </a:cxn>
                <a:cxn ang="0">
                  <a:pos x="7467" y="7287"/>
                </a:cxn>
                <a:cxn ang="0">
                  <a:pos x="18954" y="7287"/>
                </a:cxn>
                <a:cxn ang="0">
                  <a:pos x="20439" y="8982"/>
                </a:cxn>
                <a:cxn ang="0">
                  <a:pos x="20439" y="9426"/>
                </a:cxn>
                <a:cxn ang="0">
                  <a:pos x="20439" y="9949"/>
                </a:cxn>
                <a:cxn ang="0">
                  <a:pos x="18954" y="10374"/>
                </a:cxn>
                <a:cxn ang="0">
                  <a:pos x="17484" y="10374"/>
                </a:cxn>
                <a:cxn ang="0">
                  <a:pos x="17484" y="10858"/>
                </a:cxn>
                <a:cxn ang="0">
                  <a:pos x="29257" y="10858"/>
                </a:cxn>
                <a:cxn ang="0">
                  <a:pos x="29257" y="10374"/>
                </a:cxn>
                <a:cxn ang="0">
                  <a:pos x="7467" y="6728"/>
                </a:cxn>
                <a:cxn ang="0">
                  <a:pos x="13057" y="2280"/>
                </a:cxn>
                <a:cxn ang="0">
                  <a:pos x="17484" y="6728"/>
                </a:cxn>
                <a:cxn ang="0">
                  <a:pos x="7467" y="6728"/>
                </a:cxn>
              </a:cxnLst>
              <a:rect l="txL" t="txT" r="txR" b="txB"/>
              <a:pathLst>
                <a:path w="120" h="144">
                  <a:moveTo>
                    <a:pt x="120" y="138"/>
                  </a:moveTo>
                  <a:lnTo>
                    <a:pt x="108" y="138"/>
                  </a:lnTo>
                  <a:lnTo>
                    <a:pt x="108" y="132"/>
                  </a:lnTo>
                  <a:lnTo>
                    <a:pt x="102" y="120"/>
                  </a:lnTo>
                  <a:lnTo>
                    <a:pt x="60" y="0"/>
                  </a:lnTo>
                  <a:lnTo>
                    <a:pt x="54" y="0"/>
                  </a:lnTo>
                  <a:lnTo>
                    <a:pt x="18" y="102"/>
                  </a:lnTo>
                  <a:lnTo>
                    <a:pt x="12" y="120"/>
                  </a:lnTo>
                  <a:lnTo>
                    <a:pt x="12" y="132"/>
                  </a:lnTo>
                  <a:lnTo>
                    <a:pt x="6" y="132"/>
                  </a:lnTo>
                  <a:lnTo>
                    <a:pt x="6" y="138"/>
                  </a:lnTo>
                  <a:lnTo>
                    <a:pt x="0" y="138"/>
                  </a:lnTo>
                  <a:lnTo>
                    <a:pt x="0" y="144"/>
                  </a:lnTo>
                  <a:lnTo>
                    <a:pt x="30" y="144"/>
                  </a:lnTo>
                  <a:lnTo>
                    <a:pt x="30" y="138"/>
                  </a:lnTo>
                  <a:lnTo>
                    <a:pt x="24" y="138"/>
                  </a:lnTo>
                  <a:lnTo>
                    <a:pt x="18" y="132"/>
                  </a:lnTo>
                  <a:lnTo>
                    <a:pt x="18" y="126"/>
                  </a:lnTo>
                  <a:lnTo>
                    <a:pt x="24" y="120"/>
                  </a:lnTo>
                  <a:lnTo>
                    <a:pt x="30" y="96"/>
                  </a:lnTo>
                  <a:lnTo>
                    <a:pt x="78" y="96"/>
                  </a:lnTo>
                  <a:lnTo>
                    <a:pt x="84" y="120"/>
                  </a:lnTo>
                  <a:lnTo>
                    <a:pt x="84" y="126"/>
                  </a:lnTo>
                  <a:lnTo>
                    <a:pt x="84" y="132"/>
                  </a:lnTo>
                  <a:lnTo>
                    <a:pt x="78" y="138"/>
                  </a:lnTo>
                  <a:lnTo>
                    <a:pt x="72" y="138"/>
                  </a:lnTo>
                  <a:lnTo>
                    <a:pt x="72" y="144"/>
                  </a:lnTo>
                  <a:lnTo>
                    <a:pt x="120" y="144"/>
                  </a:lnTo>
                  <a:lnTo>
                    <a:pt x="120" y="138"/>
                  </a:lnTo>
                  <a:close/>
                  <a:moveTo>
                    <a:pt x="30" y="90"/>
                  </a:moveTo>
                  <a:lnTo>
                    <a:pt x="54" y="30"/>
                  </a:lnTo>
                  <a:lnTo>
                    <a:pt x="72" y="90"/>
                  </a:lnTo>
                  <a:lnTo>
                    <a:pt x="30" y="9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30" name="Freeform 19"/>
            <p:cNvSpPr>
              <a:spLocks noChangeAspect="1" noEditPoints="1"/>
            </p:cNvSpPr>
            <p:nvPr/>
          </p:nvSpPr>
          <p:spPr>
            <a:xfrm>
              <a:off x="1450" y="1688"/>
              <a:ext cx="95" cy="105"/>
            </a:xfrm>
            <a:custGeom>
              <a:avLst/>
              <a:gdLst>
                <a:gd name="txL" fmla="*/ 0 w 78"/>
                <a:gd name="txT" fmla="*/ 0 h 90"/>
                <a:gd name="txR" fmla="*/ 78 w 78"/>
                <a:gd name="txB" fmla="*/ 90 h 90"/>
              </a:gdLst>
              <a:ahLst/>
              <a:cxnLst>
                <a:cxn ang="0">
                  <a:pos x="19594" y="4971"/>
                </a:cxn>
                <a:cxn ang="0">
                  <a:pos x="17929" y="5865"/>
                </a:cxn>
                <a:cxn ang="0">
                  <a:pos x="16258" y="6279"/>
                </a:cxn>
                <a:cxn ang="0">
                  <a:pos x="14994" y="6279"/>
                </a:cxn>
                <a:cxn ang="0">
                  <a:pos x="14994" y="5865"/>
                </a:cxn>
                <a:cxn ang="0">
                  <a:pos x="14994" y="5382"/>
                </a:cxn>
                <a:cxn ang="0">
                  <a:pos x="16258" y="4971"/>
                </a:cxn>
                <a:cxn ang="0">
                  <a:pos x="17929" y="2713"/>
                </a:cxn>
                <a:cxn ang="0">
                  <a:pos x="19594" y="904"/>
                </a:cxn>
                <a:cxn ang="0">
                  <a:pos x="19594" y="429"/>
                </a:cxn>
                <a:cxn ang="0">
                  <a:pos x="19594" y="0"/>
                </a:cxn>
                <a:cxn ang="0">
                  <a:pos x="19594" y="0"/>
                </a:cxn>
                <a:cxn ang="0">
                  <a:pos x="16258" y="0"/>
                </a:cxn>
                <a:cxn ang="0">
                  <a:pos x="16258" y="0"/>
                </a:cxn>
                <a:cxn ang="0">
                  <a:pos x="16258" y="904"/>
                </a:cxn>
                <a:cxn ang="0">
                  <a:pos x="16258" y="904"/>
                </a:cxn>
                <a:cxn ang="0">
                  <a:pos x="14994" y="429"/>
                </a:cxn>
                <a:cxn ang="0">
                  <a:pos x="11915" y="0"/>
                </a:cxn>
                <a:cxn ang="0">
                  <a:pos x="7638" y="429"/>
                </a:cxn>
                <a:cxn ang="0">
                  <a:pos x="4594" y="1869"/>
                </a:cxn>
                <a:cxn ang="0">
                  <a:pos x="1425" y="3165"/>
                </a:cxn>
                <a:cxn ang="0">
                  <a:pos x="0" y="4971"/>
                </a:cxn>
                <a:cxn ang="0">
                  <a:pos x="0" y="5865"/>
                </a:cxn>
                <a:cxn ang="0">
                  <a:pos x="1425" y="6728"/>
                </a:cxn>
                <a:cxn ang="0">
                  <a:pos x="4594" y="6728"/>
                </a:cxn>
                <a:cxn ang="0">
                  <a:pos x="8999" y="6279"/>
                </a:cxn>
                <a:cxn ang="0">
                  <a:pos x="10575" y="5865"/>
                </a:cxn>
                <a:cxn ang="0">
                  <a:pos x="13349" y="4589"/>
                </a:cxn>
                <a:cxn ang="0">
                  <a:pos x="13349" y="4589"/>
                </a:cxn>
                <a:cxn ang="0">
                  <a:pos x="11915" y="5382"/>
                </a:cxn>
                <a:cxn ang="0">
                  <a:pos x="11915" y="6279"/>
                </a:cxn>
                <a:cxn ang="0">
                  <a:pos x="11915" y="6728"/>
                </a:cxn>
                <a:cxn ang="0">
                  <a:pos x="13349" y="6728"/>
                </a:cxn>
                <a:cxn ang="0">
                  <a:pos x="16258" y="6279"/>
                </a:cxn>
                <a:cxn ang="0">
                  <a:pos x="19594" y="5382"/>
                </a:cxn>
                <a:cxn ang="0">
                  <a:pos x="19594" y="4971"/>
                </a:cxn>
                <a:cxn ang="0">
                  <a:pos x="3097" y="4971"/>
                </a:cxn>
                <a:cxn ang="0">
                  <a:pos x="4594" y="3620"/>
                </a:cxn>
                <a:cxn ang="0">
                  <a:pos x="5895" y="1869"/>
                </a:cxn>
                <a:cxn ang="0">
                  <a:pos x="8999" y="429"/>
                </a:cxn>
                <a:cxn ang="0">
                  <a:pos x="11915" y="0"/>
                </a:cxn>
                <a:cxn ang="0">
                  <a:pos x="13349" y="429"/>
                </a:cxn>
                <a:cxn ang="0">
                  <a:pos x="14994" y="1412"/>
                </a:cxn>
                <a:cxn ang="0">
                  <a:pos x="14994" y="2713"/>
                </a:cxn>
                <a:cxn ang="0">
                  <a:pos x="11915" y="4589"/>
                </a:cxn>
                <a:cxn ang="0">
                  <a:pos x="8999" y="5865"/>
                </a:cxn>
                <a:cxn ang="0">
                  <a:pos x="5895" y="6279"/>
                </a:cxn>
                <a:cxn ang="0">
                  <a:pos x="4594" y="5865"/>
                </a:cxn>
                <a:cxn ang="0">
                  <a:pos x="3097" y="4971"/>
                </a:cxn>
                <a:cxn ang="0">
                  <a:pos x="3097" y="4971"/>
                </a:cxn>
              </a:cxnLst>
              <a:rect l="txL" t="txT" r="txR" b="txB"/>
              <a:pathLst>
                <a:path w="78" h="90">
                  <a:moveTo>
                    <a:pt x="78" y="66"/>
                  </a:moveTo>
                  <a:lnTo>
                    <a:pt x="72" y="78"/>
                  </a:lnTo>
                  <a:lnTo>
                    <a:pt x="66" y="84"/>
                  </a:lnTo>
                  <a:lnTo>
                    <a:pt x="60" y="84"/>
                  </a:lnTo>
                  <a:lnTo>
                    <a:pt x="60" y="78"/>
                  </a:lnTo>
                  <a:lnTo>
                    <a:pt x="60" y="72"/>
                  </a:lnTo>
                  <a:lnTo>
                    <a:pt x="66" y="66"/>
                  </a:lnTo>
                  <a:lnTo>
                    <a:pt x="72" y="36"/>
                  </a:lnTo>
                  <a:lnTo>
                    <a:pt x="78" y="12"/>
                  </a:lnTo>
                  <a:lnTo>
                    <a:pt x="78" y="6"/>
                  </a:lnTo>
                  <a:lnTo>
                    <a:pt x="78" y="0"/>
                  </a:lnTo>
                  <a:lnTo>
                    <a:pt x="66" y="0"/>
                  </a:lnTo>
                  <a:lnTo>
                    <a:pt x="66" y="12"/>
                  </a:lnTo>
                  <a:lnTo>
                    <a:pt x="60" y="6"/>
                  </a:lnTo>
                  <a:lnTo>
                    <a:pt x="48" y="0"/>
                  </a:lnTo>
                  <a:lnTo>
                    <a:pt x="30" y="6"/>
                  </a:lnTo>
                  <a:lnTo>
                    <a:pt x="18" y="24"/>
                  </a:lnTo>
                  <a:lnTo>
                    <a:pt x="6" y="42"/>
                  </a:lnTo>
                  <a:lnTo>
                    <a:pt x="0" y="66"/>
                  </a:lnTo>
                  <a:lnTo>
                    <a:pt x="0" y="78"/>
                  </a:lnTo>
                  <a:lnTo>
                    <a:pt x="6" y="90"/>
                  </a:lnTo>
                  <a:lnTo>
                    <a:pt x="18" y="90"/>
                  </a:lnTo>
                  <a:lnTo>
                    <a:pt x="36" y="84"/>
                  </a:lnTo>
                  <a:lnTo>
                    <a:pt x="42" y="78"/>
                  </a:lnTo>
                  <a:lnTo>
                    <a:pt x="54" y="60"/>
                  </a:lnTo>
                  <a:lnTo>
                    <a:pt x="48" y="72"/>
                  </a:lnTo>
                  <a:lnTo>
                    <a:pt x="48" y="84"/>
                  </a:lnTo>
                  <a:lnTo>
                    <a:pt x="48" y="90"/>
                  </a:lnTo>
                  <a:lnTo>
                    <a:pt x="54" y="90"/>
                  </a:lnTo>
                  <a:lnTo>
                    <a:pt x="66" y="84"/>
                  </a:lnTo>
                  <a:lnTo>
                    <a:pt x="78" y="72"/>
                  </a:lnTo>
                  <a:lnTo>
                    <a:pt x="78" y="66"/>
                  </a:lnTo>
                  <a:close/>
                  <a:moveTo>
                    <a:pt x="12" y="66"/>
                  </a:moveTo>
                  <a:lnTo>
                    <a:pt x="18" y="48"/>
                  </a:lnTo>
                  <a:lnTo>
                    <a:pt x="24" y="24"/>
                  </a:lnTo>
                  <a:lnTo>
                    <a:pt x="36" y="6"/>
                  </a:lnTo>
                  <a:lnTo>
                    <a:pt x="48" y="0"/>
                  </a:lnTo>
                  <a:lnTo>
                    <a:pt x="54" y="6"/>
                  </a:lnTo>
                  <a:lnTo>
                    <a:pt x="60" y="18"/>
                  </a:lnTo>
                  <a:lnTo>
                    <a:pt x="60" y="36"/>
                  </a:lnTo>
                  <a:lnTo>
                    <a:pt x="48" y="60"/>
                  </a:lnTo>
                  <a:lnTo>
                    <a:pt x="36" y="78"/>
                  </a:lnTo>
                  <a:lnTo>
                    <a:pt x="24" y="84"/>
                  </a:lnTo>
                  <a:lnTo>
                    <a:pt x="18" y="78"/>
                  </a:lnTo>
                  <a:lnTo>
                    <a:pt x="12" y="6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31" name="Freeform 20"/>
            <p:cNvSpPr>
              <a:spLocks noChangeAspect="1" noEditPoints="1"/>
            </p:cNvSpPr>
            <p:nvPr/>
          </p:nvSpPr>
          <p:spPr>
            <a:xfrm>
              <a:off x="3378" y="1570"/>
              <a:ext cx="95" cy="167"/>
            </a:xfrm>
            <a:custGeom>
              <a:avLst/>
              <a:gdLst>
                <a:gd name="txL" fmla="*/ 0 w 78"/>
                <a:gd name="txT" fmla="*/ 0 h 143"/>
                <a:gd name="txR" fmla="*/ 78 w 78"/>
                <a:gd name="txB" fmla="*/ 143 h 143"/>
              </a:gdLst>
              <a:ahLst/>
              <a:cxnLst>
                <a:cxn ang="0">
                  <a:pos x="14994" y="5930"/>
                </a:cxn>
                <a:cxn ang="0">
                  <a:pos x="14994" y="7394"/>
                </a:cxn>
                <a:cxn ang="0">
                  <a:pos x="11915" y="8671"/>
                </a:cxn>
                <a:cxn ang="0">
                  <a:pos x="8999" y="10099"/>
                </a:cxn>
                <a:cxn ang="0">
                  <a:pos x="4594" y="10571"/>
                </a:cxn>
                <a:cxn ang="0">
                  <a:pos x="3097" y="10571"/>
                </a:cxn>
                <a:cxn ang="0">
                  <a:pos x="3097" y="10099"/>
                </a:cxn>
                <a:cxn ang="0">
                  <a:pos x="4594" y="8302"/>
                </a:cxn>
                <a:cxn ang="0">
                  <a:pos x="5895" y="6835"/>
                </a:cxn>
                <a:cxn ang="0">
                  <a:pos x="8999" y="5012"/>
                </a:cxn>
                <a:cxn ang="0">
                  <a:pos x="11915" y="4650"/>
                </a:cxn>
                <a:cxn ang="0">
                  <a:pos x="14994" y="5012"/>
                </a:cxn>
                <a:cxn ang="0">
                  <a:pos x="14994" y="5930"/>
                </a:cxn>
                <a:cxn ang="0">
                  <a:pos x="14994" y="5930"/>
                </a:cxn>
                <a:cxn ang="0">
                  <a:pos x="3097" y="481"/>
                </a:cxn>
                <a:cxn ang="0">
                  <a:pos x="5895" y="481"/>
                </a:cxn>
                <a:cxn ang="0">
                  <a:pos x="5895" y="910"/>
                </a:cxn>
                <a:cxn ang="0">
                  <a:pos x="5895" y="1918"/>
                </a:cxn>
                <a:cxn ang="0">
                  <a:pos x="4594" y="2308"/>
                </a:cxn>
                <a:cxn ang="0">
                  <a:pos x="0" y="10099"/>
                </a:cxn>
                <a:cxn ang="0">
                  <a:pos x="0" y="10099"/>
                </a:cxn>
                <a:cxn ang="0">
                  <a:pos x="1425" y="10571"/>
                </a:cxn>
                <a:cxn ang="0">
                  <a:pos x="4594" y="11002"/>
                </a:cxn>
                <a:cxn ang="0">
                  <a:pos x="10575" y="10571"/>
                </a:cxn>
                <a:cxn ang="0">
                  <a:pos x="14994" y="9156"/>
                </a:cxn>
                <a:cxn ang="0">
                  <a:pos x="17929" y="7794"/>
                </a:cxn>
                <a:cxn ang="0">
                  <a:pos x="19594" y="5930"/>
                </a:cxn>
                <a:cxn ang="0">
                  <a:pos x="17929" y="4167"/>
                </a:cxn>
                <a:cxn ang="0">
                  <a:pos x="13349" y="3675"/>
                </a:cxn>
                <a:cxn ang="0">
                  <a:pos x="11915" y="4167"/>
                </a:cxn>
                <a:cxn ang="0">
                  <a:pos x="8999" y="4650"/>
                </a:cxn>
                <a:cxn ang="0">
                  <a:pos x="7638" y="5444"/>
                </a:cxn>
                <a:cxn ang="0">
                  <a:pos x="5895" y="5930"/>
                </a:cxn>
                <a:cxn ang="0">
                  <a:pos x="5895" y="5930"/>
                </a:cxn>
                <a:cxn ang="0">
                  <a:pos x="8999" y="2761"/>
                </a:cxn>
                <a:cxn ang="0">
                  <a:pos x="8999" y="1425"/>
                </a:cxn>
                <a:cxn ang="0">
                  <a:pos x="10575" y="0"/>
                </a:cxn>
                <a:cxn ang="0">
                  <a:pos x="8999" y="0"/>
                </a:cxn>
                <a:cxn ang="0">
                  <a:pos x="5895" y="0"/>
                </a:cxn>
                <a:cxn ang="0">
                  <a:pos x="3097" y="481"/>
                </a:cxn>
                <a:cxn ang="0">
                  <a:pos x="3097" y="481"/>
                </a:cxn>
              </a:cxnLst>
              <a:rect l="txL" t="txT" r="txR" b="txB"/>
              <a:pathLst>
                <a:path w="78" h="143">
                  <a:moveTo>
                    <a:pt x="60" y="77"/>
                  </a:moveTo>
                  <a:lnTo>
                    <a:pt x="60" y="95"/>
                  </a:lnTo>
                  <a:lnTo>
                    <a:pt x="48" y="113"/>
                  </a:lnTo>
                  <a:lnTo>
                    <a:pt x="36" y="131"/>
                  </a:lnTo>
                  <a:lnTo>
                    <a:pt x="18" y="137"/>
                  </a:lnTo>
                  <a:lnTo>
                    <a:pt x="12" y="137"/>
                  </a:lnTo>
                  <a:lnTo>
                    <a:pt x="12" y="131"/>
                  </a:lnTo>
                  <a:lnTo>
                    <a:pt x="18" y="107"/>
                  </a:lnTo>
                  <a:lnTo>
                    <a:pt x="24" y="89"/>
                  </a:lnTo>
                  <a:lnTo>
                    <a:pt x="36" y="65"/>
                  </a:lnTo>
                  <a:lnTo>
                    <a:pt x="48" y="60"/>
                  </a:lnTo>
                  <a:lnTo>
                    <a:pt x="60" y="65"/>
                  </a:lnTo>
                  <a:lnTo>
                    <a:pt x="60" y="77"/>
                  </a:lnTo>
                  <a:close/>
                  <a:moveTo>
                    <a:pt x="12" y="6"/>
                  </a:moveTo>
                  <a:lnTo>
                    <a:pt x="24" y="6"/>
                  </a:lnTo>
                  <a:lnTo>
                    <a:pt x="24" y="12"/>
                  </a:lnTo>
                  <a:lnTo>
                    <a:pt x="24" y="24"/>
                  </a:lnTo>
                  <a:lnTo>
                    <a:pt x="18" y="30"/>
                  </a:lnTo>
                  <a:lnTo>
                    <a:pt x="0" y="131"/>
                  </a:lnTo>
                  <a:lnTo>
                    <a:pt x="6" y="137"/>
                  </a:lnTo>
                  <a:lnTo>
                    <a:pt x="18" y="143"/>
                  </a:lnTo>
                  <a:lnTo>
                    <a:pt x="42" y="137"/>
                  </a:lnTo>
                  <a:lnTo>
                    <a:pt x="60" y="119"/>
                  </a:lnTo>
                  <a:lnTo>
                    <a:pt x="72" y="101"/>
                  </a:lnTo>
                  <a:lnTo>
                    <a:pt x="78" y="77"/>
                  </a:lnTo>
                  <a:lnTo>
                    <a:pt x="72" y="54"/>
                  </a:lnTo>
                  <a:lnTo>
                    <a:pt x="54" y="48"/>
                  </a:lnTo>
                  <a:lnTo>
                    <a:pt x="48" y="54"/>
                  </a:lnTo>
                  <a:lnTo>
                    <a:pt x="36" y="60"/>
                  </a:lnTo>
                  <a:lnTo>
                    <a:pt x="30" y="71"/>
                  </a:lnTo>
                  <a:lnTo>
                    <a:pt x="24" y="77"/>
                  </a:lnTo>
                  <a:lnTo>
                    <a:pt x="36" y="36"/>
                  </a:lnTo>
                  <a:lnTo>
                    <a:pt x="36" y="18"/>
                  </a:lnTo>
                  <a:lnTo>
                    <a:pt x="42" y="0"/>
                  </a:lnTo>
                  <a:lnTo>
                    <a:pt x="36" y="0"/>
                  </a:lnTo>
                  <a:lnTo>
                    <a:pt x="24" y="0"/>
                  </a:lnTo>
                  <a:lnTo>
                    <a:pt x="12"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32" name="Freeform 21"/>
            <p:cNvSpPr>
              <a:spLocks noChangeAspect="1"/>
            </p:cNvSpPr>
            <p:nvPr/>
          </p:nvSpPr>
          <p:spPr>
            <a:xfrm>
              <a:off x="2687" y="3825"/>
              <a:ext cx="81" cy="104"/>
            </a:xfrm>
            <a:custGeom>
              <a:avLst/>
              <a:gdLst>
                <a:gd name="txL" fmla="*/ 0 w 66"/>
                <a:gd name="txT" fmla="*/ 0 h 89"/>
                <a:gd name="txR" fmla="*/ 66 w 66"/>
                <a:gd name="txB" fmla="*/ 89 h 89"/>
              </a:gdLst>
              <a:ahLst/>
              <a:cxnLst>
                <a:cxn ang="0">
                  <a:pos x="16647" y="5115"/>
                </a:cxn>
                <a:cxn ang="0">
                  <a:pos x="13194" y="6031"/>
                </a:cxn>
                <a:cxn ang="0">
                  <a:pos x="9223" y="6447"/>
                </a:cxn>
                <a:cxn ang="0">
                  <a:pos x="5566" y="6031"/>
                </a:cxn>
                <a:cxn ang="0">
                  <a:pos x="3695" y="4680"/>
                </a:cxn>
                <a:cxn ang="0">
                  <a:pos x="7337" y="1937"/>
                </a:cxn>
                <a:cxn ang="0">
                  <a:pos x="9223" y="488"/>
                </a:cxn>
                <a:cxn ang="0">
                  <a:pos x="14704" y="0"/>
                </a:cxn>
                <a:cxn ang="0">
                  <a:pos x="16647" y="0"/>
                </a:cxn>
                <a:cxn ang="0">
                  <a:pos x="16647" y="488"/>
                </a:cxn>
                <a:cxn ang="0">
                  <a:pos x="16647" y="922"/>
                </a:cxn>
                <a:cxn ang="0">
                  <a:pos x="14704" y="1450"/>
                </a:cxn>
                <a:cxn ang="0">
                  <a:pos x="16647" y="1937"/>
                </a:cxn>
                <a:cxn ang="0">
                  <a:pos x="18733" y="1937"/>
                </a:cxn>
                <a:cxn ang="0">
                  <a:pos x="20430" y="1450"/>
                </a:cxn>
                <a:cxn ang="0">
                  <a:pos x="20430" y="922"/>
                </a:cxn>
                <a:cxn ang="0">
                  <a:pos x="18733" y="488"/>
                </a:cxn>
                <a:cxn ang="0">
                  <a:pos x="14704" y="0"/>
                </a:cxn>
                <a:cxn ang="0">
                  <a:pos x="9223" y="488"/>
                </a:cxn>
                <a:cxn ang="0">
                  <a:pos x="5566" y="1450"/>
                </a:cxn>
                <a:cxn ang="0">
                  <a:pos x="1897" y="2744"/>
                </a:cxn>
                <a:cxn ang="0">
                  <a:pos x="0" y="4680"/>
                </a:cxn>
                <a:cxn ang="0">
                  <a:pos x="0" y="6031"/>
                </a:cxn>
                <a:cxn ang="0">
                  <a:pos x="1897" y="6447"/>
                </a:cxn>
                <a:cxn ang="0">
                  <a:pos x="7337" y="6984"/>
                </a:cxn>
                <a:cxn ang="0">
                  <a:pos x="14704" y="6447"/>
                </a:cxn>
                <a:cxn ang="0">
                  <a:pos x="16647" y="5115"/>
                </a:cxn>
                <a:cxn ang="0">
                  <a:pos x="16647" y="5115"/>
                </a:cxn>
              </a:cxnLst>
              <a:rect l="txL" t="txT" r="txR" b="txB"/>
              <a:pathLst>
                <a:path w="66" h="89">
                  <a:moveTo>
                    <a:pt x="54" y="65"/>
                  </a:moveTo>
                  <a:lnTo>
                    <a:pt x="42" y="77"/>
                  </a:lnTo>
                  <a:lnTo>
                    <a:pt x="30" y="83"/>
                  </a:lnTo>
                  <a:lnTo>
                    <a:pt x="18" y="77"/>
                  </a:lnTo>
                  <a:lnTo>
                    <a:pt x="12" y="59"/>
                  </a:lnTo>
                  <a:lnTo>
                    <a:pt x="24" y="24"/>
                  </a:lnTo>
                  <a:lnTo>
                    <a:pt x="30" y="6"/>
                  </a:lnTo>
                  <a:lnTo>
                    <a:pt x="48" y="0"/>
                  </a:lnTo>
                  <a:lnTo>
                    <a:pt x="54" y="0"/>
                  </a:lnTo>
                  <a:lnTo>
                    <a:pt x="54" y="6"/>
                  </a:lnTo>
                  <a:lnTo>
                    <a:pt x="54" y="12"/>
                  </a:lnTo>
                  <a:lnTo>
                    <a:pt x="48" y="18"/>
                  </a:lnTo>
                  <a:lnTo>
                    <a:pt x="54" y="24"/>
                  </a:lnTo>
                  <a:lnTo>
                    <a:pt x="60" y="24"/>
                  </a:lnTo>
                  <a:lnTo>
                    <a:pt x="66" y="18"/>
                  </a:lnTo>
                  <a:lnTo>
                    <a:pt x="66" y="12"/>
                  </a:lnTo>
                  <a:lnTo>
                    <a:pt x="60" y="6"/>
                  </a:lnTo>
                  <a:lnTo>
                    <a:pt x="48" y="0"/>
                  </a:lnTo>
                  <a:lnTo>
                    <a:pt x="30" y="6"/>
                  </a:lnTo>
                  <a:lnTo>
                    <a:pt x="18" y="18"/>
                  </a:lnTo>
                  <a:lnTo>
                    <a:pt x="6" y="35"/>
                  </a:lnTo>
                  <a:lnTo>
                    <a:pt x="0" y="59"/>
                  </a:lnTo>
                  <a:lnTo>
                    <a:pt x="0" y="77"/>
                  </a:lnTo>
                  <a:lnTo>
                    <a:pt x="6" y="83"/>
                  </a:lnTo>
                  <a:lnTo>
                    <a:pt x="24" y="89"/>
                  </a:lnTo>
                  <a:lnTo>
                    <a:pt x="48" y="83"/>
                  </a:lnTo>
                  <a:lnTo>
                    <a:pt x="54" y="6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33" name="Freeform 22"/>
            <p:cNvSpPr>
              <a:spLocks noChangeAspect="1"/>
            </p:cNvSpPr>
            <p:nvPr/>
          </p:nvSpPr>
          <p:spPr>
            <a:xfrm>
              <a:off x="1967" y="1591"/>
              <a:ext cx="88" cy="174"/>
            </a:xfrm>
            <a:custGeom>
              <a:avLst/>
              <a:gdLst>
                <a:gd name="txL" fmla="*/ 0 w 72"/>
                <a:gd name="txT" fmla="*/ 0 h 149"/>
                <a:gd name="txR" fmla="*/ 72 w 72"/>
                <a:gd name="txB" fmla="*/ 149 h 149"/>
              </a:gdLst>
              <a:ahLst/>
              <a:cxnLst>
                <a:cxn ang="0">
                  <a:pos x="6550" y="1918"/>
                </a:cxn>
                <a:cxn ang="0">
                  <a:pos x="16457" y="1918"/>
                </a:cxn>
                <a:cxn ang="0">
                  <a:pos x="16457" y="1918"/>
                </a:cxn>
                <a:cxn ang="0">
                  <a:pos x="19965" y="481"/>
                </a:cxn>
                <a:cxn ang="0">
                  <a:pos x="18286" y="0"/>
                </a:cxn>
                <a:cxn ang="0">
                  <a:pos x="18286" y="481"/>
                </a:cxn>
                <a:cxn ang="0">
                  <a:pos x="16457" y="481"/>
                </a:cxn>
                <a:cxn ang="0">
                  <a:pos x="6550" y="481"/>
                </a:cxn>
                <a:cxn ang="0">
                  <a:pos x="1608" y="4016"/>
                </a:cxn>
                <a:cxn ang="0">
                  <a:pos x="1608" y="4642"/>
                </a:cxn>
                <a:cxn ang="0">
                  <a:pos x="1608" y="4642"/>
                </a:cxn>
                <a:cxn ang="0">
                  <a:pos x="10015" y="5438"/>
                </a:cxn>
                <a:cxn ang="0">
                  <a:pos x="13365" y="6350"/>
                </a:cxn>
                <a:cxn ang="0">
                  <a:pos x="14961" y="7791"/>
                </a:cxn>
                <a:cxn ang="0">
                  <a:pos x="14961" y="9151"/>
                </a:cxn>
                <a:cxn ang="0">
                  <a:pos x="13365" y="10097"/>
                </a:cxn>
                <a:cxn ang="0">
                  <a:pos x="8210" y="10566"/>
                </a:cxn>
                <a:cxn ang="0">
                  <a:pos x="4937" y="10097"/>
                </a:cxn>
                <a:cxn ang="0">
                  <a:pos x="1608" y="9579"/>
                </a:cxn>
                <a:cxn ang="0">
                  <a:pos x="0" y="10097"/>
                </a:cxn>
                <a:cxn ang="0">
                  <a:pos x="0" y="10566"/>
                </a:cxn>
                <a:cxn ang="0">
                  <a:pos x="1608" y="10999"/>
                </a:cxn>
                <a:cxn ang="0">
                  <a:pos x="4937" y="11430"/>
                </a:cxn>
                <a:cxn ang="0">
                  <a:pos x="10015" y="10999"/>
                </a:cxn>
                <a:cxn ang="0">
                  <a:pos x="14961" y="10097"/>
                </a:cxn>
                <a:cxn ang="0">
                  <a:pos x="16457" y="9151"/>
                </a:cxn>
                <a:cxn ang="0">
                  <a:pos x="18286" y="7393"/>
                </a:cxn>
                <a:cxn ang="0">
                  <a:pos x="18286" y="5930"/>
                </a:cxn>
                <a:cxn ang="0">
                  <a:pos x="16457" y="5012"/>
                </a:cxn>
                <a:cxn ang="0">
                  <a:pos x="11493" y="3614"/>
                </a:cxn>
                <a:cxn ang="0">
                  <a:pos x="4937" y="3224"/>
                </a:cxn>
                <a:cxn ang="0">
                  <a:pos x="6550" y="1918"/>
                </a:cxn>
              </a:cxnLst>
              <a:rect l="txL" t="txT" r="txR" b="txB"/>
              <a:pathLst>
                <a:path w="72" h="149">
                  <a:moveTo>
                    <a:pt x="24" y="24"/>
                  </a:moveTo>
                  <a:lnTo>
                    <a:pt x="60" y="24"/>
                  </a:lnTo>
                  <a:lnTo>
                    <a:pt x="72" y="6"/>
                  </a:lnTo>
                  <a:lnTo>
                    <a:pt x="66" y="0"/>
                  </a:lnTo>
                  <a:lnTo>
                    <a:pt x="66" y="6"/>
                  </a:lnTo>
                  <a:lnTo>
                    <a:pt x="60" y="6"/>
                  </a:lnTo>
                  <a:lnTo>
                    <a:pt x="24" y="6"/>
                  </a:lnTo>
                  <a:lnTo>
                    <a:pt x="6" y="53"/>
                  </a:lnTo>
                  <a:lnTo>
                    <a:pt x="6" y="59"/>
                  </a:lnTo>
                  <a:lnTo>
                    <a:pt x="36" y="71"/>
                  </a:lnTo>
                  <a:lnTo>
                    <a:pt x="48" y="83"/>
                  </a:lnTo>
                  <a:lnTo>
                    <a:pt x="54" y="101"/>
                  </a:lnTo>
                  <a:lnTo>
                    <a:pt x="54" y="119"/>
                  </a:lnTo>
                  <a:lnTo>
                    <a:pt x="48" y="131"/>
                  </a:lnTo>
                  <a:lnTo>
                    <a:pt x="30" y="137"/>
                  </a:lnTo>
                  <a:lnTo>
                    <a:pt x="18" y="131"/>
                  </a:lnTo>
                  <a:lnTo>
                    <a:pt x="6" y="125"/>
                  </a:lnTo>
                  <a:lnTo>
                    <a:pt x="0" y="131"/>
                  </a:lnTo>
                  <a:lnTo>
                    <a:pt x="0" y="137"/>
                  </a:lnTo>
                  <a:lnTo>
                    <a:pt x="6" y="143"/>
                  </a:lnTo>
                  <a:lnTo>
                    <a:pt x="18" y="149"/>
                  </a:lnTo>
                  <a:lnTo>
                    <a:pt x="36" y="143"/>
                  </a:lnTo>
                  <a:lnTo>
                    <a:pt x="54" y="131"/>
                  </a:lnTo>
                  <a:lnTo>
                    <a:pt x="60" y="119"/>
                  </a:lnTo>
                  <a:lnTo>
                    <a:pt x="66" y="95"/>
                  </a:lnTo>
                  <a:lnTo>
                    <a:pt x="66" y="77"/>
                  </a:lnTo>
                  <a:lnTo>
                    <a:pt x="60" y="65"/>
                  </a:lnTo>
                  <a:lnTo>
                    <a:pt x="42" y="47"/>
                  </a:lnTo>
                  <a:lnTo>
                    <a:pt x="18" y="42"/>
                  </a:lnTo>
                  <a:lnTo>
                    <a:pt x="24" y="2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34" name="Freeform 23"/>
            <p:cNvSpPr>
              <a:spLocks noChangeAspect="1"/>
            </p:cNvSpPr>
            <p:nvPr/>
          </p:nvSpPr>
          <p:spPr>
            <a:xfrm>
              <a:off x="2128" y="1591"/>
              <a:ext cx="144" cy="167"/>
            </a:xfrm>
            <a:custGeom>
              <a:avLst/>
              <a:gdLst>
                <a:gd name="txL" fmla="*/ 0 w 119"/>
                <a:gd name="txT" fmla="*/ 0 h 143"/>
                <a:gd name="txR" fmla="*/ 119 w 119"/>
                <a:gd name="txB" fmla="*/ 143 h 143"/>
              </a:gdLst>
              <a:ahLst/>
              <a:cxnLst>
                <a:cxn ang="0">
                  <a:pos x="9994" y="8671"/>
                </a:cxn>
                <a:cxn ang="0">
                  <a:pos x="7547" y="8302"/>
                </a:cxn>
                <a:cxn ang="0">
                  <a:pos x="5004" y="6835"/>
                </a:cxn>
                <a:cxn ang="0">
                  <a:pos x="5004" y="5444"/>
                </a:cxn>
                <a:cxn ang="0">
                  <a:pos x="5004" y="4017"/>
                </a:cxn>
                <a:cxn ang="0">
                  <a:pos x="5004" y="2761"/>
                </a:cxn>
                <a:cxn ang="0">
                  <a:pos x="7547" y="1425"/>
                </a:cxn>
                <a:cxn ang="0">
                  <a:pos x="9994" y="910"/>
                </a:cxn>
                <a:cxn ang="0">
                  <a:pos x="12255" y="481"/>
                </a:cxn>
                <a:cxn ang="0">
                  <a:pos x="14830" y="910"/>
                </a:cxn>
                <a:cxn ang="0">
                  <a:pos x="17183" y="1425"/>
                </a:cxn>
                <a:cxn ang="0">
                  <a:pos x="19807" y="2761"/>
                </a:cxn>
                <a:cxn ang="0">
                  <a:pos x="19807" y="4017"/>
                </a:cxn>
                <a:cxn ang="0">
                  <a:pos x="19807" y="5444"/>
                </a:cxn>
                <a:cxn ang="0">
                  <a:pos x="18616" y="6835"/>
                </a:cxn>
                <a:cxn ang="0">
                  <a:pos x="17183" y="8302"/>
                </a:cxn>
                <a:cxn ang="0">
                  <a:pos x="14830" y="8671"/>
                </a:cxn>
                <a:cxn ang="0">
                  <a:pos x="13584" y="11002"/>
                </a:cxn>
                <a:cxn ang="0">
                  <a:pos x="24821" y="11002"/>
                </a:cxn>
                <a:cxn ang="0">
                  <a:pos x="24821" y="8671"/>
                </a:cxn>
                <a:cxn ang="0">
                  <a:pos x="24821" y="8671"/>
                </a:cxn>
                <a:cxn ang="0">
                  <a:pos x="23698" y="9156"/>
                </a:cxn>
                <a:cxn ang="0">
                  <a:pos x="22241" y="9695"/>
                </a:cxn>
                <a:cxn ang="0">
                  <a:pos x="16184" y="9695"/>
                </a:cxn>
                <a:cxn ang="0">
                  <a:pos x="16184" y="9156"/>
                </a:cxn>
                <a:cxn ang="0">
                  <a:pos x="19807" y="8302"/>
                </a:cxn>
                <a:cxn ang="0">
                  <a:pos x="22241" y="7394"/>
                </a:cxn>
                <a:cxn ang="0">
                  <a:pos x="24821" y="4642"/>
                </a:cxn>
                <a:cxn ang="0">
                  <a:pos x="22241" y="2761"/>
                </a:cxn>
                <a:cxn ang="0">
                  <a:pos x="21105" y="1425"/>
                </a:cxn>
                <a:cxn ang="0">
                  <a:pos x="18616" y="910"/>
                </a:cxn>
                <a:cxn ang="0">
                  <a:pos x="16184" y="481"/>
                </a:cxn>
                <a:cxn ang="0">
                  <a:pos x="12255" y="0"/>
                </a:cxn>
                <a:cxn ang="0">
                  <a:pos x="8866" y="481"/>
                </a:cxn>
                <a:cxn ang="0">
                  <a:pos x="5004" y="910"/>
                </a:cxn>
                <a:cxn ang="0">
                  <a:pos x="3852" y="1425"/>
                </a:cxn>
                <a:cxn ang="0">
                  <a:pos x="1226" y="2761"/>
                </a:cxn>
                <a:cxn ang="0">
                  <a:pos x="0" y="4642"/>
                </a:cxn>
                <a:cxn ang="0">
                  <a:pos x="2630" y="7394"/>
                </a:cxn>
                <a:cxn ang="0">
                  <a:pos x="5004" y="8302"/>
                </a:cxn>
                <a:cxn ang="0">
                  <a:pos x="7547" y="9156"/>
                </a:cxn>
                <a:cxn ang="0">
                  <a:pos x="8866" y="9695"/>
                </a:cxn>
                <a:cxn ang="0">
                  <a:pos x="2630" y="9695"/>
                </a:cxn>
                <a:cxn ang="0">
                  <a:pos x="1226" y="9156"/>
                </a:cxn>
                <a:cxn ang="0">
                  <a:pos x="0" y="8671"/>
                </a:cxn>
                <a:cxn ang="0">
                  <a:pos x="0" y="8671"/>
                </a:cxn>
                <a:cxn ang="0">
                  <a:pos x="0" y="11002"/>
                </a:cxn>
                <a:cxn ang="0">
                  <a:pos x="9994" y="11002"/>
                </a:cxn>
                <a:cxn ang="0">
                  <a:pos x="9994" y="8671"/>
                </a:cxn>
              </a:cxnLst>
              <a:rect l="txL" t="txT" r="txR" b="txB"/>
              <a:pathLst>
                <a:path w="119" h="143">
                  <a:moveTo>
                    <a:pt x="48" y="113"/>
                  </a:moveTo>
                  <a:lnTo>
                    <a:pt x="36" y="107"/>
                  </a:lnTo>
                  <a:lnTo>
                    <a:pt x="24" y="89"/>
                  </a:lnTo>
                  <a:lnTo>
                    <a:pt x="24" y="71"/>
                  </a:lnTo>
                  <a:lnTo>
                    <a:pt x="24" y="53"/>
                  </a:lnTo>
                  <a:lnTo>
                    <a:pt x="24" y="36"/>
                  </a:lnTo>
                  <a:lnTo>
                    <a:pt x="36" y="18"/>
                  </a:lnTo>
                  <a:lnTo>
                    <a:pt x="48" y="12"/>
                  </a:lnTo>
                  <a:lnTo>
                    <a:pt x="59" y="6"/>
                  </a:lnTo>
                  <a:lnTo>
                    <a:pt x="71" y="12"/>
                  </a:lnTo>
                  <a:lnTo>
                    <a:pt x="83" y="18"/>
                  </a:lnTo>
                  <a:lnTo>
                    <a:pt x="95" y="36"/>
                  </a:lnTo>
                  <a:lnTo>
                    <a:pt x="95" y="53"/>
                  </a:lnTo>
                  <a:lnTo>
                    <a:pt x="95" y="71"/>
                  </a:lnTo>
                  <a:lnTo>
                    <a:pt x="89" y="89"/>
                  </a:lnTo>
                  <a:lnTo>
                    <a:pt x="83" y="107"/>
                  </a:lnTo>
                  <a:lnTo>
                    <a:pt x="71" y="113"/>
                  </a:lnTo>
                  <a:lnTo>
                    <a:pt x="65" y="143"/>
                  </a:lnTo>
                  <a:lnTo>
                    <a:pt x="119" y="143"/>
                  </a:lnTo>
                  <a:lnTo>
                    <a:pt x="119" y="113"/>
                  </a:lnTo>
                  <a:lnTo>
                    <a:pt x="113" y="119"/>
                  </a:lnTo>
                  <a:lnTo>
                    <a:pt x="107" y="125"/>
                  </a:lnTo>
                  <a:lnTo>
                    <a:pt x="77" y="125"/>
                  </a:lnTo>
                  <a:lnTo>
                    <a:pt x="77" y="119"/>
                  </a:lnTo>
                  <a:lnTo>
                    <a:pt x="95" y="107"/>
                  </a:lnTo>
                  <a:lnTo>
                    <a:pt x="107" y="95"/>
                  </a:lnTo>
                  <a:lnTo>
                    <a:pt x="119" y="59"/>
                  </a:lnTo>
                  <a:lnTo>
                    <a:pt x="107" y="36"/>
                  </a:lnTo>
                  <a:lnTo>
                    <a:pt x="101" y="18"/>
                  </a:lnTo>
                  <a:lnTo>
                    <a:pt x="89" y="12"/>
                  </a:lnTo>
                  <a:lnTo>
                    <a:pt x="77" y="6"/>
                  </a:lnTo>
                  <a:lnTo>
                    <a:pt x="59" y="0"/>
                  </a:lnTo>
                  <a:lnTo>
                    <a:pt x="42" y="6"/>
                  </a:lnTo>
                  <a:lnTo>
                    <a:pt x="24" y="12"/>
                  </a:lnTo>
                  <a:lnTo>
                    <a:pt x="18" y="18"/>
                  </a:lnTo>
                  <a:lnTo>
                    <a:pt x="6" y="36"/>
                  </a:lnTo>
                  <a:lnTo>
                    <a:pt x="0" y="59"/>
                  </a:lnTo>
                  <a:lnTo>
                    <a:pt x="12" y="95"/>
                  </a:lnTo>
                  <a:lnTo>
                    <a:pt x="24" y="107"/>
                  </a:lnTo>
                  <a:lnTo>
                    <a:pt x="36" y="119"/>
                  </a:lnTo>
                  <a:lnTo>
                    <a:pt x="42" y="125"/>
                  </a:lnTo>
                  <a:lnTo>
                    <a:pt x="12" y="125"/>
                  </a:lnTo>
                  <a:lnTo>
                    <a:pt x="6" y="119"/>
                  </a:lnTo>
                  <a:lnTo>
                    <a:pt x="0" y="113"/>
                  </a:lnTo>
                  <a:lnTo>
                    <a:pt x="0" y="143"/>
                  </a:lnTo>
                  <a:lnTo>
                    <a:pt x="48" y="143"/>
                  </a:lnTo>
                  <a:lnTo>
                    <a:pt x="48" y="11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35" name="Freeform 24"/>
            <p:cNvSpPr>
              <a:spLocks noChangeAspect="1"/>
            </p:cNvSpPr>
            <p:nvPr/>
          </p:nvSpPr>
          <p:spPr>
            <a:xfrm>
              <a:off x="1320" y="2551"/>
              <a:ext cx="356" cy="411"/>
            </a:xfrm>
            <a:custGeom>
              <a:avLst/>
              <a:gdLst>
                <a:gd name="txL" fmla="*/ 0 w 293"/>
                <a:gd name="txT" fmla="*/ 0 h 352"/>
                <a:gd name="txR" fmla="*/ 293 w 293"/>
                <a:gd name="txB" fmla="*/ 352 h 352"/>
              </a:gdLst>
              <a:ahLst/>
              <a:cxnLst>
                <a:cxn ang="0">
                  <a:pos x="33327" y="27001"/>
                </a:cxn>
                <a:cxn ang="0">
                  <a:pos x="40410" y="26517"/>
                </a:cxn>
                <a:cxn ang="0">
                  <a:pos x="47507" y="26110"/>
                </a:cxn>
                <a:cxn ang="0">
                  <a:pos x="53012" y="24695"/>
                </a:cxn>
                <a:cxn ang="0">
                  <a:pos x="58721" y="22792"/>
                </a:cxn>
                <a:cxn ang="0">
                  <a:pos x="65468" y="18371"/>
                </a:cxn>
                <a:cxn ang="0">
                  <a:pos x="68444" y="16022"/>
                </a:cxn>
                <a:cxn ang="0">
                  <a:pos x="68444" y="13287"/>
                </a:cxn>
                <a:cxn ang="0">
                  <a:pos x="68444" y="10503"/>
                </a:cxn>
                <a:cxn ang="0">
                  <a:pos x="65468" y="8166"/>
                </a:cxn>
                <a:cxn ang="0">
                  <a:pos x="58721" y="4145"/>
                </a:cxn>
                <a:cxn ang="0">
                  <a:pos x="47507" y="908"/>
                </a:cxn>
                <a:cxn ang="0">
                  <a:pos x="40410" y="481"/>
                </a:cxn>
                <a:cxn ang="0">
                  <a:pos x="33327" y="0"/>
                </a:cxn>
                <a:cxn ang="0">
                  <a:pos x="26310" y="481"/>
                </a:cxn>
                <a:cxn ang="0">
                  <a:pos x="20564" y="908"/>
                </a:cxn>
                <a:cxn ang="0">
                  <a:pos x="9780" y="4145"/>
                </a:cxn>
                <a:cxn ang="0">
                  <a:pos x="2933" y="8166"/>
                </a:cxn>
                <a:cxn ang="0">
                  <a:pos x="1366" y="10503"/>
                </a:cxn>
                <a:cxn ang="0">
                  <a:pos x="0" y="13287"/>
                </a:cxn>
                <a:cxn ang="0">
                  <a:pos x="1366" y="16022"/>
                </a:cxn>
                <a:cxn ang="0">
                  <a:pos x="2933" y="18371"/>
                </a:cxn>
                <a:cxn ang="0">
                  <a:pos x="9780" y="22792"/>
                </a:cxn>
                <a:cxn ang="0">
                  <a:pos x="15292" y="24695"/>
                </a:cxn>
                <a:cxn ang="0">
                  <a:pos x="20564" y="26110"/>
                </a:cxn>
                <a:cxn ang="0">
                  <a:pos x="26310" y="26517"/>
                </a:cxn>
                <a:cxn ang="0">
                  <a:pos x="33327" y="27001"/>
                </a:cxn>
                <a:cxn ang="0">
                  <a:pos x="33327" y="27001"/>
                </a:cxn>
              </a:cxnLst>
              <a:rect l="txL" t="txT" r="txR" b="txB"/>
              <a:pathLst>
                <a:path w="293" h="352">
                  <a:moveTo>
                    <a:pt x="143" y="352"/>
                  </a:moveTo>
                  <a:lnTo>
                    <a:pt x="173" y="346"/>
                  </a:lnTo>
                  <a:lnTo>
                    <a:pt x="203" y="340"/>
                  </a:lnTo>
                  <a:lnTo>
                    <a:pt x="227" y="322"/>
                  </a:lnTo>
                  <a:lnTo>
                    <a:pt x="251" y="298"/>
                  </a:lnTo>
                  <a:lnTo>
                    <a:pt x="281" y="239"/>
                  </a:lnTo>
                  <a:lnTo>
                    <a:pt x="293" y="209"/>
                  </a:lnTo>
                  <a:lnTo>
                    <a:pt x="293" y="173"/>
                  </a:lnTo>
                  <a:lnTo>
                    <a:pt x="293" y="137"/>
                  </a:lnTo>
                  <a:lnTo>
                    <a:pt x="281" y="107"/>
                  </a:lnTo>
                  <a:lnTo>
                    <a:pt x="251" y="54"/>
                  </a:lnTo>
                  <a:lnTo>
                    <a:pt x="203" y="12"/>
                  </a:lnTo>
                  <a:lnTo>
                    <a:pt x="173" y="6"/>
                  </a:lnTo>
                  <a:lnTo>
                    <a:pt x="143" y="0"/>
                  </a:lnTo>
                  <a:lnTo>
                    <a:pt x="113" y="6"/>
                  </a:lnTo>
                  <a:lnTo>
                    <a:pt x="89" y="12"/>
                  </a:lnTo>
                  <a:lnTo>
                    <a:pt x="42" y="54"/>
                  </a:lnTo>
                  <a:lnTo>
                    <a:pt x="12" y="107"/>
                  </a:lnTo>
                  <a:lnTo>
                    <a:pt x="6" y="137"/>
                  </a:lnTo>
                  <a:lnTo>
                    <a:pt x="0" y="173"/>
                  </a:lnTo>
                  <a:lnTo>
                    <a:pt x="6" y="209"/>
                  </a:lnTo>
                  <a:lnTo>
                    <a:pt x="12" y="239"/>
                  </a:lnTo>
                  <a:lnTo>
                    <a:pt x="42" y="298"/>
                  </a:lnTo>
                  <a:lnTo>
                    <a:pt x="66" y="322"/>
                  </a:lnTo>
                  <a:lnTo>
                    <a:pt x="89" y="340"/>
                  </a:lnTo>
                  <a:lnTo>
                    <a:pt x="113" y="346"/>
                  </a:lnTo>
                  <a:lnTo>
                    <a:pt x="143" y="352"/>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36" name="Freeform 25"/>
            <p:cNvSpPr>
              <a:spLocks noChangeAspect="1"/>
            </p:cNvSpPr>
            <p:nvPr/>
          </p:nvSpPr>
          <p:spPr>
            <a:xfrm>
              <a:off x="1494" y="2753"/>
              <a:ext cx="182" cy="209"/>
            </a:xfrm>
            <a:custGeom>
              <a:avLst/>
              <a:gdLst>
                <a:gd name="txL" fmla="*/ 0 w 150"/>
                <a:gd name="txT" fmla="*/ 0 h 179"/>
                <a:gd name="txR" fmla="*/ 150 w 150"/>
                <a:gd name="txB" fmla="*/ 179 h 179"/>
              </a:gdLst>
              <a:ahLst/>
              <a:cxnLst>
                <a:cxn ang="0">
                  <a:pos x="0" y="13722"/>
                </a:cxn>
                <a:cxn ang="0">
                  <a:pos x="6696" y="13286"/>
                </a:cxn>
                <a:cxn ang="0">
                  <a:pos x="13571" y="12804"/>
                </a:cxn>
                <a:cxn ang="0">
                  <a:pos x="18833" y="11389"/>
                </a:cxn>
                <a:cxn ang="0">
                  <a:pos x="24241" y="9535"/>
                </a:cxn>
                <a:cxn ang="0">
                  <a:pos x="30916" y="5063"/>
                </a:cxn>
                <a:cxn ang="0">
                  <a:pos x="33641" y="2754"/>
                </a:cxn>
                <a:cxn ang="0">
                  <a:pos x="33641" y="0"/>
                </a:cxn>
                <a:cxn ang="0">
                  <a:pos x="33641" y="0"/>
                </a:cxn>
                <a:cxn ang="0">
                  <a:pos x="33641" y="2754"/>
                </a:cxn>
                <a:cxn ang="0">
                  <a:pos x="30916" y="5063"/>
                </a:cxn>
                <a:cxn ang="0">
                  <a:pos x="24241" y="9535"/>
                </a:cxn>
                <a:cxn ang="0">
                  <a:pos x="18833" y="11389"/>
                </a:cxn>
                <a:cxn ang="0">
                  <a:pos x="13571" y="12804"/>
                </a:cxn>
                <a:cxn ang="0">
                  <a:pos x="6696" y="13286"/>
                </a:cxn>
                <a:cxn ang="0">
                  <a:pos x="0" y="13722"/>
                </a:cxn>
                <a:cxn ang="0">
                  <a:pos x="0" y="13722"/>
                </a:cxn>
              </a:cxnLst>
              <a:rect l="txL" t="txT" r="txR" b="txB"/>
              <a:pathLst>
                <a:path w="150" h="179">
                  <a:moveTo>
                    <a:pt x="0" y="179"/>
                  </a:moveTo>
                  <a:lnTo>
                    <a:pt x="30" y="173"/>
                  </a:lnTo>
                  <a:lnTo>
                    <a:pt x="60" y="167"/>
                  </a:lnTo>
                  <a:lnTo>
                    <a:pt x="84" y="149"/>
                  </a:lnTo>
                  <a:lnTo>
                    <a:pt x="108" y="125"/>
                  </a:lnTo>
                  <a:lnTo>
                    <a:pt x="138" y="66"/>
                  </a:lnTo>
                  <a:lnTo>
                    <a:pt x="150" y="36"/>
                  </a:lnTo>
                  <a:lnTo>
                    <a:pt x="150" y="0"/>
                  </a:lnTo>
                  <a:lnTo>
                    <a:pt x="150" y="36"/>
                  </a:lnTo>
                  <a:lnTo>
                    <a:pt x="138" y="66"/>
                  </a:lnTo>
                  <a:lnTo>
                    <a:pt x="108" y="125"/>
                  </a:lnTo>
                  <a:lnTo>
                    <a:pt x="84" y="149"/>
                  </a:lnTo>
                  <a:lnTo>
                    <a:pt x="60" y="167"/>
                  </a:lnTo>
                  <a:lnTo>
                    <a:pt x="30" y="173"/>
                  </a:lnTo>
                  <a:lnTo>
                    <a:pt x="0" y="17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37" name="Freeform 26"/>
            <p:cNvSpPr>
              <a:spLocks noChangeAspect="1" noEditPoints="1"/>
            </p:cNvSpPr>
            <p:nvPr/>
          </p:nvSpPr>
          <p:spPr>
            <a:xfrm>
              <a:off x="1494" y="2551"/>
              <a:ext cx="182" cy="202"/>
            </a:xfrm>
            <a:custGeom>
              <a:avLst/>
              <a:gdLst>
                <a:gd name="txL" fmla="*/ 0 w 150"/>
                <a:gd name="txT" fmla="*/ 0 h 173"/>
                <a:gd name="txR" fmla="*/ 150 w 150"/>
                <a:gd name="txB" fmla="*/ 173 h 173"/>
              </a:gdLst>
              <a:ahLst/>
              <a:cxnLst>
                <a:cxn ang="0">
                  <a:pos x="33641" y="13288"/>
                </a:cxn>
                <a:cxn ang="0">
                  <a:pos x="33641" y="10505"/>
                </a:cxn>
                <a:cxn ang="0">
                  <a:pos x="30916" y="8168"/>
                </a:cxn>
                <a:cxn ang="0">
                  <a:pos x="24241" y="4146"/>
                </a:cxn>
                <a:cxn ang="0">
                  <a:pos x="13571" y="908"/>
                </a:cxn>
                <a:cxn ang="0">
                  <a:pos x="6696" y="481"/>
                </a:cxn>
                <a:cxn ang="0">
                  <a:pos x="0" y="0"/>
                </a:cxn>
                <a:cxn ang="0">
                  <a:pos x="0" y="0"/>
                </a:cxn>
                <a:cxn ang="0">
                  <a:pos x="6696" y="481"/>
                </a:cxn>
                <a:cxn ang="0">
                  <a:pos x="13571" y="908"/>
                </a:cxn>
                <a:cxn ang="0">
                  <a:pos x="24241" y="4146"/>
                </a:cxn>
                <a:cxn ang="0">
                  <a:pos x="30916" y="8168"/>
                </a:cxn>
                <a:cxn ang="0">
                  <a:pos x="33641" y="10505"/>
                </a:cxn>
                <a:cxn ang="0">
                  <a:pos x="33641" y="13288"/>
                </a:cxn>
                <a:cxn ang="0">
                  <a:pos x="33641" y="13288"/>
                </a:cxn>
                <a:cxn ang="0">
                  <a:pos x="33641" y="13288"/>
                </a:cxn>
                <a:cxn ang="0">
                  <a:pos x="33641" y="13288"/>
                </a:cxn>
                <a:cxn ang="0">
                  <a:pos x="33641" y="13288"/>
                </a:cxn>
              </a:cxnLst>
              <a:rect l="txL" t="txT" r="txR" b="txB"/>
              <a:pathLst>
                <a:path w="150" h="173">
                  <a:moveTo>
                    <a:pt x="150" y="173"/>
                  </a:moveTo>
                  <a:lnTo>
                    <a:pt x="150" y="137"/>
                  </a:lnTo>
                  <a:lnTo>
                    <a:pt x="138" y="107"/>
                  </a:lnTo>
                  <a:lnTo>
                    <a:pt x="108" y="54"/>
                  </a:lnTo>
                  <a:lnTo>
                    <a:pt x="60" y="12"/>
                  </a:lnTo>
                  <a:lnTo>
                    <a:pt x="30" y="6"/>
                  </a:lnTo>
                  <a:lnTo>
                    <a:pt x="0" y="0"/>
                  </a:lnTo>
                  <a:lnTo>
                    <a:pt x="30" y="6"/>
                  </a:lnTo>
                  <a:lnTo>
                    <a:pt x="60" y="12"/>
                  </a:lnTo>
                  <a:lnTo>
                    <a:pt x="108" y="54"/>
                  </a:lnTo>
                  <a:lnTo>
                    <a:pt x="138" y="107"/>
                  </a:lnTo>
                  <a:lnTo>
                    <a:pt x="150" y="137"/>
                  </a:lnTo>
                  <a:lnTo>
                    <a:pt x="150" y="173"/>
                  </a:lnTo>
                  <a:close/>
                  <a:moveTo>
                    <a:pt x="150" y="173"/>
                  </a:moveTo>
                  <a:lnTo>
                    <a:pt x="150" y="17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38" name="Freeform 27"/>
            <p:cNvSpPr>
              <a:spLocks noChangeAspect="1" noEditPoints="1"/>
            </p:cNvSpPr>
            <p:nvPr/>
          </p:nvSpPr>
          <p:spPr>
            <a:xfrm>
              <a:off x="1320" y="2551"/>
              <a:ext cx="174" cy="202"/>
            </a:xfrm>
            <a:custGeom>
              <a:avLst/>
              <a:gdLst>
                <a:gd name="txL" fmla="*/ 0 w 143"/>
                <a:gd name="txT" fmla="*/ 0 h 173"/>
                <a:gd name="txR" fmla="*/ 143 w 143"/>
                <a:gd name="txB" fmla="*/ 173 h 173"/>
              </a:gdLst>
              <a:ahLst/>
              <a:cxnLst>
                <a:cxn ang="0">
                  <a:pos x="34867" y="0"/>
                </a:cxn>
                <a:cxn ang="0">
                  <a:pos x="27396" y="481"/>
                </a:cxn>
                <a:cxn ang="0">
                  <a:pos x="21430" y="908"/>
                </a:cxn>
                <a:cxn ang="0">
                  <a:pos x="10113" y="4146"/>
                </a:cxn>
                <a:cxn ang="0">
                  <a:pos x="3012" y="8168"/>
                </a:cxn>
                <a:cxn ang="0">
                  <a:pos x="1407" y="10505"/>
                </a:cxn>
                <a:cxn ang="0">
                  <a:pos x="0" y="13288"/>
                </a:cxn>
                <a:cxn ang="0">
                  <a:pos x="0" y="13288"/>
                </a:cxn>
                <a:cxn ang="0">
                  <a:pos x="1407" y="10505"/>
                </a:cxn>
                <a:cxn ang="0">
                  <a:pos x="3012" y="8168"/>
                </a:cxn>
                <a:cxn ang="0">
                  <a:pos x="10113" y="4146"/>
                </a:cxn>
                <a:cxn ang="0">
                  <a:pos x="21430" y="908"/>
                </a:cxn>
                <a:cxn ang="0">
                  <a:pos x="27396" y="481"/>
                </a:cxn>
                <a:cxn ang="0">
                  <a:pos x="34867" y="0"/>
                </a:cxn>
                <a:cxn ang="0">
                  <a:pos x="34867" y="0"/>
                </a:cxn>
                <a:cxn ang="0">
                  <a:pos x="34867" y="0"/>
                </a:cxn>
                <a:cxn ang="0">
                  <a:pos x="34867" y="0"/>
                </a:cxn>
                <a:cxn ang="0">
                  <a:pos x="34867" y="0"/>
                </a:cxn>
              </a:cxnLst>
              <a:rect l="txL" t="txT" r="txR" b="txB"/>
              <a:pathLst>
                <a:path w="143" h="173">
                  <a:moveTo>
                    <a:pt x="143" y="0"/>
                  </a:moveTo>
                  <a:lnTo>
                    <a:pt x="113" y="6"/>
                  </a:lnTo>
                  <a:lnTo>
                    <a:pt x="89" y="12"/>
                  </a:lnTo>
                  <a:lnTo>
                    <a:pt x="42" y="54"/>
                  </a:lnTo>
                  <a:lnTo>
                    <a:pt x="12" y="107"/>
                  </a:lnTo>
                  <a:lnTo>
                    <a:pt x="6" y="137"/>
                  </a:lnTo>
                  <a:lnTo>
                    <a:pt x="0" y="173"/>
                  </a:lnTo>
                  <a:lnTo>
                    <a:pt x="6" y="137"/>
                  </a:lnTo>
                  <a:lnTo>
                    <a:pt x="12" y="107"/>
                  </a:lnTo>
                  <a:lnTo>
                    <a:pt x="42" y="54"/>
                  </a:lnTo>
                  <a:lnTo>
                    <a:pt x="89" y="12"/>
                  </a:lnTo>
                  <a:lnTo>
                    <a:pt x="113" y="6"/>
                  </a:lnTo>
                  <a:lnTo>
                    <a:pt x="143" y="0"/>
                  </a:lnTo>
                  <a:close/>
                  <a:moveTo>
                    <a:pt x="143" y="0"/>
                  </a:moveTo>
                  <a:lnTo>
                    <a:pt x="143"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39" name="Freeform 28"/>
            <p:cNvSpPr>
              <a:spLocks noChangeAspect="1" noEditPoints="1"/>
            </p:cNvSpPr>
            <p:nvPr/>
          </p:nvSpPr>
          <p:spPr>
            <a:xfrm>
              <a:off x="1320" y="2753"/>
              <a:ext cx="174" cy="209"/>
            </a:xfrm>
            <a:custGeom>
              <a:avLst/>
              <a:gdLst>
                <a:gd name="txL" fmla="*/ 0 w 143"/>
                <a:gd name="txT" fmla="*/ 0 h 179"/>
                <a:gd name="txR" fmla="*/ 143 w 143"/>
                <a:gd name="txB" fmla="*/ 179 h 179"/>
              </a:gdLst>
              <a:ahLst/>
              <a:cxnLst>
                <a:cxn ang="0">
                  <a:pos x="0" y="0"/>
                </a:cxn>
                <a:cxn ang="0">
                  <a:pos x="1407" y="2754"/>
                </a:cxn>
                <a:cxn ang="0">
                  <a:pos x="3012" y="5063"/>
                </a:cxn>
                <a:cxn ang="0">
                  <a:pos x="10113" y="9535"/>
                </a:cxn>
                <a:cxn ang="0">
                  <a:pos x="15945" y="11389"/>
                </a:cxn>
                <a:cxn ang="0">
                  <a:pos x="21430" y="12804"/>
                </a:cxn>
                <a:cxn ang="0">
                  <a:pos x="27396" y="13286"/>
                </a:cxn>
                <a:cxn ang="0">
                  <a:pos x="34867" y="13722"/>
                </a:cxn>
                <a:cxn ang="0">
                  <a:pos x="34867" y="13722"/>
                </a:cxn>
                <a:cxn ang="0">
                  <a:pos x="27396" y="13286"/>
                </a:cxn>
                <a:cxn ang="0">
                  <a:pos x="21430" y="12804"/>
                </a:cxn>
                <a:cxn ang="0">
                  <a:pos x="15945" y="11389"/>
                </a:cxn>
                <a:cxn ang="0">
                  <a:pos x="10113" y="9535"/>
                </a:cxn>
                <a:cxn ang="0">
                  <a:pos x="3012" y="5063"/>
                </a:cxn>
                <a:cxn ang="0">
                  <a:pos x="1407" y="2754"/>
                </a:cxn>
                <a:cxn ang="0">
                  <a:pos x="0" y="0"/>
                </a:cxn>
                <a:cxn ang="0">
                  <a:pos x="0" y="0"/>
                </a:cxn>
                <a:cxn ang="0">
                  <a:pos x="0" y="0"/>
                </a:cxn>
                <a:cxn ang="0">
                  <a:pos x="0" y="0"/>
                </a:cxn>
                <a:cxn ang="0">
                  <a:pos x="0" y="0"/>
                </a:cxn>
              </a:cxnLst>
              <a:rect l="txL" t="txT" r="txR" b="txB"/>
              <a:pathLst>
                <a:path w="143" h="179">
                  <a:moveTo>
                    <a:pt x="0" y="0"/>
                  </a:moveTo>
                  <a:lnTo>
                    <a:pt x="6" y="36"/>
                  </a:lnTo>
                  <a:lnTo>
                    <a:pt x="12" y="66"/>
                  </a:lnTo>
                  <a:lnTo>
                    <a:pt x="42" y="125"/>
                  </a:lnTo>
                  <a:lnTo>
                    <a:pt x="66" y="149"/>
                  </a:lnTo>
                  <a:lnTo>
                    <a:pt x="89" y="167"/>
                  </a:lnTo>
                  <a:lnTo>
                    <a:pt x="113" y="173"/>
                  </a:lnTo>
                  <a:lnTo>
                    <a:pt x="143" y="179"/>
                  </a:lnTo>
                  <a:lnTo>
                    <a:pt x="113" y="173"/>
                  </a:lnTo>
                  <a:lnTo>
                    <a:pt x="89" y="167"/>
                  </a:lnTo>
                  <a:lnTo>
                    <a:pt x="66" y="149"/>
                  </a:lnTo>
                  <a:lnTo>
                    <a:pt x="42" y="125"/>
                  </a:lnTo>
                  <a:lnTo>
                    <a:pt x="12" y="66"/>
                  </a:lnTo>
                  <a:lnTo>
                    <a:pt x="6" y="36"/>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40" name="Freeform 29"/>
            <p:cNvSpPr>
              <a:spLocks noChangeAspect="1"/>
            </p:cNvSpPr>
            <p:nvPr/>
          </p:nvSpPr>
          <p:spPr>
            <a:xfrm>
              <a:off x="1494" y="2962"/>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41" name="Freeform 30"/>
            <p:cNvSpPr>
              <a:spLocks noChangeAspect="1"/>
            </p:cNvSpPr>
            <p:nvPr/>
          </p:nvSpPr>
          <p:spPr>
            <a:xfrm>
              <a:off x="1443" y="2621"/>
              <a:ext cx="102" cy="125"/>
            </a:xfrm>
            <a:custGeom>
              <a:avLst/>
              <a:gdLst>
                <a:gd name="txL" fmla="*/ 0 w 84"/>
                <a:gd name="txT" fmla="*/ 0 h 107"/>
                <a:gd name="txR" fmla="*/ 84 w 84"/>
                <a:gd name="txB" fmla="*/ 107 h 107"/>
              </a:gdLst>
              <a:ahLst/>
              <a:cxnLst>
                <a:cxn ang="0">
                  <a:pos x="8252" y="3676"/>
                </a:cxn>
                <a:cxn ang="0">
                  <a:pos x="0" y="3676"/>
                </a:cxn>
                <a:cxn ang="0">
                  <a:pos x="0" y="4665"/>
                </a:cxn>
                <a:cxn ang="0">
                  <a:pos x="8252" y="4665"/>
                </a:cxn>
                <a:cxn ang="0">
                  <a:pos x="8252" y="8379"/>
                </a:cxn>
                <a:cxn ang="0">
                  <a:pos x="10926" y="8379"/>
                </a:cxn>
                <a:cxn ang="0">
                  <a:pos x="10926" y="4665"/>
                </a:cxn>
                <a:cxn ang="0">
                  <a:pos x="19358" y="4665"/>
                </a:cxn>
                <a:cxn ang="0">
                  <a:pos x="19358" y="3676"/>
                </a:cxn>
                <a:cxn ang="0">
                  <a:pos x="10926" y="3676"/>
                </a:cxn>
                <a:cxn ang="0">
                  <a:pos x="10926" y="0"/>
                </a:cxn>
                <a:cxn ang="0">
                  <a:pos x="8252" y="0"/>
                </a:cxn>
                <a:cxn ang="0">
                  <a:pos x="8252" y="3676"/>
                </a:cxn>
              </a:cxnLst>
              <a:rect l="txL" t="txT" r="txR" b="txB"/>
              <a:pathLst>
                <a:path w="84" h="107">
                  <a:moveTo>
                    <a:pt x="36" y="47"/>
                  </a:moveTo>
                  <a:lnTo>
                    <a:pt x="0" y="47"/>
                  </a:lnTo>
                  <a:lnTo>
                    <a:pt x="0" y="59"/>
                  </a:lnTo>
                  <a:lnTo>
                    <a:pt x="36" y="59"/>
                  </a:lnTo>
                  <a:lnTo>
                    <a:pt x="36" y="107"/>
                  </a:lnTo>
                  <a:lnTo>
                    <a:pt x="48" y="107"/>
                  </a:lnTo>
                  <a:lnTo>
                    <a:pt x="48" y="59"/>
                  </a:lnTo>
                  <a:lnTo>
                    <a:pt x="84" y="59"/>
                  </a:lnTo>
                  <a:lnTo>
                    <a:pt x="84" y="47"/>
                  </a:lnTo>
                  <a:lnTo>
                    <a:pt x="48" y="47"/>
                  </a:lnTo>
                  <a:lnTo>
                    <a:pt x="48" y="0"/>
                  </a:lnTo>
                  <a:lnTo>
                    <a:pt x="36" y="0"/>
                  </a:lnTo>
                  <a:lnTo>
                    <a:pt x="36" y="4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42" name="Rectangle 31"/>
            <p:cNvSpPr>
              <a:spLocks noChangeAspect="1"/>
            </p:cNvSpPr>
            <p:nvPr/>
          </p:nvSpPr>
          <p:spPr>
            <a:xfrm>
              <a:off x="1435" y="2837"/>
              <a:ext cx="117" cy="14"/>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17443" name="Freeform 32"/>
            <p:cNvSpPr>
              <a:spLocks noChangeAspect="1"/>
            </p:cNvSpPr>
            <p:nvPr/>
          </p:nvSpPr>
          <p:spPr>
            <a:xfrm>
              <a:off x="3954" y="2551"/>
              <a:ext cx="356" cy="411"/>
            </a:xfrm>
            <a:custGeom>
              <a:avLst/>
              <a:gdLst>
                <a:gd name="txL" fmla="*/ 0 w 293"/>
                <a:gd name="txT" fmla="*/ 0 h 352"/>
                <a:gd name="txR" fmla="*/ 293 w 293"/>
                <a:gd name="txB" fmla="*/ 352 h 352"/>
              </a:gdLst>
              <a:ahLst/>
              <a:cxnLst>
                <a:cxn ang="0">
                  <a:pos x="35029" y="27001"/>
                </a:cxn>
                <a:cxn ang="0">
                  <a:pos x="41834" y="26517"/>
                </a:cxn>
                <a:cxn ang="0">
                  <a:pos x="47507" y="26110"/>
                </a:cxn>
                <a:cxn ang="0">
                  <a:pos x="53012" y="24695"/>
                </a:cxn>
                <a:cxn ang="0">
                  <a:pos x="58721" y="22792"/>
                </a:cxn>
                <a:cxn ang="0">
                  <a:pos x="65468" y="18371"/>
                </a:cxn>
                <a:cxn ang="0">
                  <a:pos x="68444" y="16022"/>
                </a:cxn>
                <a:cxn ang="0">
                  <a:pos x="68444" y="13287"/>
                </a:cxn>
                <a:cxn ang="0">
                  <a:pos x="68444" y="10503"/>
                </a:cxn>
                <a:cxn ang="0">
                  <a:pos x="65468" y="8166"/>
                </a:cxn>
                <a:cxn ang="0">
                  <a:pos x="58721" y="4145"/>
                </a:cxn>
                <a:cxn ang="0">
                  <a:pos x="47507" y="908"/>
                </a:cxn>
                <a:cxn ang="0">
                  <a:pos x="41834" y="481"/>
                </a:cxn>
                <a:cxn ang="0">
                  <a:pos x="35029" y="0"/>
                </a:cxn>
                <a:cxn ang="0">
                  <a:pos x="28005" y="481"/>
                </a:cxn>
                <a:cxn ang="0">
                  <a:pos x="20878" y="908"/>
                </a:cxn>
                <a:cxn ang="0">
                  <a:pos x="9780" y="4145"/>
                </a:cxn>
                <a:cxn ang="0">
                  <a:pos x="2933" y="8166"/>
                </a:cxn>
                <a:cxn ang="0">
                  <a:pos x="1366" y="10503"/>
                </a:cxn>
                <a:cxn ang="0">
                  <a:pos x="0" y="13287"/>
                </a:cxn>
                <a:cxn ang="0">
                  <a:pos x="1366" y="16022"/>
                </a:cxn>
                <a:cxn ang="0">
                  <a:pos x="2933" y="18371"/>
                </a:cxn>
                <a:cxn ang="0">
                  <a:pos x="9780" y="22792"/>
                </a:cxn>
                <a:cxn ang="0">
                  <a:pos x="15292" y="24695"/>
                </a:cxn>
                <a:cxn ang="0">
                  <a:pos x="20878" y="26110"/>
                </a:cxn>
                <a:cxn ang="0">
                  <a:pos x="28005" y="26517"/>
                </a:cxn>
                <a:cxn ang="0">
                  <a:pos x="35029" y="27001"/>
                </a:cxn>
                <a:cxn ang="0">
                  <a:pos x="35029" y="27001"/>
                </a:cxn>
              </a:cxnLst>
              <a:rect l="txL" t="txT" r="txR" b="txB"/>
              <a:pathLst>
                <a:path w="293" h="352">
                  <a:moveTo>
                    <a:pt x="150" y="352"/>
                  </a:moveTo>
                  <a:lnTo>
                    <a:pt x="179" y="346"/>
                  </a:lnTo>
                  <a:lnTo>
                    <a:pt x="203" y="340"/>
                  </a:lnTo>
                  <a:lnTo>
                    <a:pt x="227" y="322"/>
                  </a:lnTo>
                  <a:lnTo>
                    <a:pt x="251" y="298"/>
                  </a:lnTo>
                  <a:lnTo>
                    <a:pt x="281" y="239"/>
                  </a:lnTo>
                  <a:lnTo>
                    <a:pt x="293" y="209"/>
                  </a:lnTo>
                  <a:lnTo>
                    <a:pt x="293" y="173"/>
                  </a:lnTo>
                  <a:lnTo>
                    <a:pt x="293" y="137"/>
                  </a:lnTo>
                  <a:lnTo>
                    <a:pt x="281" y="107"/>
                  </a:lnTo>
                  <a:lnTo>
                    <a:pt x="251" y="54"/>
                  </a:lnTo>
                  <a:lnTo>
                    <a:pt x="203" y="12"/>
                  </a:lnTo>
                  <a:lnTo>
                    <a:pt x="179" y="6"/>
                  </a:lnTo>
                  <a:lnTo>
                    <a:pt x="150" y="0"/>
                  </a:lnTo>
                  <a:lnTo>
                    <a:pt x="120" y="6"/>
                  </a:lnTo>
                  <a:lnTo>
                    <a:pt x="90" y="12"/>
                  </a:lnTo>
                  <a:lnTo>
                    <a:pt x="42" y="54"/>
                  </a:lnTo>
                  <a:lnTo>
                    <a:pt x="12" y="107"/>
                  </a:lnTo>
                  <a:lnTo>
                    <a:pt x="6" y="137"/>
                  </a:lnTo>
                  <a:lnTo>
                    <a:pt x="0" y="173"/>
                  </a:lnTo>
                  <a:lnTo>
                    <a:pt x="6" y="209"/>
                  </a:lnTo>
                  <a:lnTo>
                    <a:pt x="12" y="239"/>
                  </a:lnTo>
                  <a:lnTo>
                    <a:pt x="42" y="298"/>
                  </a:lnTo>
                  <a:lnTo>
                    <a:pt x="66" y="322"/>
                  </a:lnTo>
                  <a:lnTo>
                    <a:pt x="90" y="340"/>
                  </a:lnTo>
                  <a:lnTo>
                    <a:pt x="120" y="346"/>
                  </a:lnTo>
                  <a:lnTo>
                    <a:pt x="150" y="352"/>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44" name="Freeform 33"/>
            <p:cNvSpPr>
              <a:spLocks noChangeAspect="1"/>
            </p:cNvSpPr>
            <p:nvPr/>
          </p:nvSpPr>
          <p:spPr>
            <a:xfrm>
              <a:off x="4136" y="2753"/>
              <a:ext cx="174" cy="209"/>
            </a:xfrm>
            <a:custGeom>
              <a:avLst/>
              <a:gdLst>
                <a:gd name="txL" fmla="*/ 0 w 143"/>
                <a:gd name="txT" fmla="*/ 0 h 179"/>
                <a:gd name="txR" fmla="*/ 143 w 143"/>
                <a:gd name="txB" fmla="*/ 179 h 179"/>
              </a:gdLst>
              <a:ahLst/>
              <a:cxnLst>
                <a:cxn ang="0">
                  <a:pos x="0" y="13722"/>
                </a:cxn>
                <a:cxn ang="0">
                  <a:pos x="7035" y="13286"/>
                </a:cxn>
                <a:cxn ang="0">
                  <a:pos x="12870" y="12804"/>
                </a:cxn>
                <a:cxn ang="0">
                  <a:pos x="18765" y="11389"/>
                </a:cxn>
                <a:cxn ang="0">
                  <a:pos x="24753" y="9535"/>
                </a:cxn>
                <a:cxn ang="0">
                  <a:pos x="31729" y="5063"/>
                </a:cxn>
                <a:cxn ang="0">
                  <a:pos x="34867" y="2754"/>
                </a:cxn>
                <a:cxn ang="0">
                  <a:pos x="34867" y="0"/>
                </a:cxn>
                <a:cxn ang="0">
                  <a:pos x="34867" y="0"/>
                </a:cxn>
                <a:cxn ang="0">
                  <a:pos x="34867" y="2754"/>
                </a:cxn>
                <a:cxn ang="0">
                  <a:pos x="31729" y="5063"/>
                </a:cxn>
                <a:cxn ang="0">
                  <a:pos x="24753" y="9535"/>
                </a:cxn>
                <a:cxn ang="0">
                  <a:pos x="18765" y="11389"/>
                </a:cxn>
                <a:cxn ang="0">
                  <a:pos x="12870" y="12804"/>
                </a:cxn>
                <a:cxn ang="0">
                  <a:pos x="7035" y="13286"/>
                </a:cxn>
                <a:cxn ang="0">
                  <a:pos x="0" y="13722"/>
                </a:cxn>
                <a:cxn ang="0">
                  <a:pos x="0" y="13722"/>
                </a:cxn>
              </a:cxnLst>
              <a:rect l="txL" t="txT" r="txR" b="txB"/>
              <a:pathLst>
                <a:path w="143" h="179">
                  <a:moveTo>
                    <a:pt x="0" y="179"/>
                  </a:moveTo>
                  <a:lnTo>
                    <a:pt x="29" y="173"/>
                  </a:lnTo>
                  <a:lnTo>
                    <a:pt x="53" y="167"/>
                  </a:lnTo>
                  <a:lnTo>
                    <a:pt x="77" y="149"/>
                  </a:lnTo>
                  <a:lnTo>
                    <a:pt x="101" y="125"/>
                  </a:lnTo>
                  <a:lnTo>
                    <a:pt x="131" y="66"/>
                  </a:lnTo>
                  <a:lnTo>
                    <a:pt x="143" y="36"/>
                  </a:lnTo>
                  <a:lnTo>
                    <a:pt x="143" y="0"/>
                  </a:lnTo>
                  <a:lnTo>
                    <a:pt x="143" y="36"/>
                  </a:lnTo>
                  <a:lnTo>
                    <a:pt x="131" y="66"/>
                  </a:lnTo>
                  <a:lnTo>
                    <a:pt x="101" y="125"/>
                  </a:lnTo>
                  <a:lnTo>
                    <a:pt x="77" y="149"/>
                  </a:lnTo>
                  <a:lnTo>
                    <a:pt x="53" y="167"/>
                  </a:lnTo>
                  <a:lnTo>
                    <a:pt x="29" y="173"/>
                  </a:lnTo>
                  <a:lnTo>
                    <a:pt x="0" y="17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45" name="Freeform 34"/>
            <p:cNvSpPr>
              <a:spLocks noChangeAspect="1" noEditPoints="1"/>
            </p:cNvSpPr>
            <p:nvPr/>
          </p:nvSpPr>
          <p:spPr>
            <a:xfrm>
              <a:off x="4136" y="2551"/>
              <a:ext cx="174" cy="202"/>
            </a:xfrm>
            <a:custGeom>
              <a:avLst/>
              <a:gdLst>
                <a:gd name="txL" fmla="*/ 0 w 143"/>
                <a:gd name="txT" fmla="*/ 0 h 173"/>
                <a:gd name="txR" fmla="*/ 143 w 143"/>
                <a:gd name="txB" fmla="*/ 173 h 173"/>
              </a:gdLst>
              <a:ahLst/>
              <a:cxnLst>
                <a:cxn ang="0">
                  <a:pos x="34867" y="13288"/>
                </a:cxn>
                <a:cxn ang="0">
                  <a:pos x="34867" y="10505"/>
                </a:cxn>
                <a:cxn ang="0">
                  <a:pos x="31729" y="8168"/>
                </a:cxn>
                <a:cxn ang="0">
                  <a:pos x="24753" y="4146"/>
                </a:cxn>
                <a:cxn ang="0">
                  <a:pos x="12870" y="908"/>
                </a:cxn>
                <a:cxn ang="0">
                  <a:pos x="7035" y="481"/>
                </a:cxn>
                <a:cxn ang="0">
                  <a:pos x="0" y="0"/>
                </a:cxn>
                <a:cxn ang="0">
                  <a:pos x="0" y="0"/>
                </a:cxn>
                <a:cxn ang="0">
                  <a:pos x="7035" y="481"/>
                </a:cxn>
                <a:cxn ang="0">
                  <a:pos x="12870" y="908"/>
                </a:cxn>
                <a:cxn ang="0">
                  <a:pos x="24753" y="4146"/>
                </a:cxn>
                <a:cxn ang="0">
                  <a:pos x="31729" y="8168"/>
                </a:cxn>
                <a:cxn ang="0">
                  <a:pos x="34867" y="10505"/>
                </a:cxn>
                <a:cxn ang="0">
                  <a:pos x="34867" y="13288"/>
                </a:cxn>
                <a:cxn ang="0">
                  <a:pos x="34867" y="13288"/>
                </a:cxn>
                <a:cxn ang="0">
                  <a:pos x="34867" y="13288"/>
                </a:cxn>
                <a:cxn ang="0">
                  <a:pos x="34867" y="13288"/>
                </a:cxn>
                <a:cxn ang="0">
                  <a:pos x="34867" y="13288"/>
                </a:cxn>
              </a:cxnLst>
              <a:rect l="txL" t="txT" r="txR" b="txB"/>
              <a:pathLst>
                <a:path w="143" h="173">
                  <a:moveTo>
                    <a:pt x="143" y="173"/>
                  </a:moveTo>
                  <a:lnTo>
                    <a:pt x="143" y="137"/>
                  </a:lnTo>
                  <a:lnTo>
                    <a:pt x="131" y="107"/>
                  </a:lnTo>
                  <a:lnTo>
                    <a:pt x="101" y="54"/>
                  </a:lnTo>
                  <a:lnTo>
                    <a:pt x="53" y="12"/>
                  </a:lnTo>
                  <a:lnTo>
                    <a:pt x="29" y="6"/>
                  </a:lnTo>
                  <a:lnTo>
                    <a:pt x="0" y="0"/>
                  </a:lnTo>
                  <a:lnTo>
                    <a:pt x="29" y="6"/>
                  </a:lnTo>
                  <a:lnTo>
                    <a:pt x="53" y="12"/>
                  </a:lnTo>
                  <a:lnTo>
                    <a:pt x="101" y="54"/>
                  </a:lnTo>
                  <a:lnTo>
                    <a:pt x="131" y="107"/>
                  </a:lnTo>
                  <a:lnTo>
                    <a:pt x="143" y="137"/>
                  </a:lnTo>
                  <a:lnTo>
                    <a:pt x="143" y="173"/>
                  </a:lnTo>
                  <a:close/>
                  <a:moveTo>
                    <a:pt x="143" y="173"/>
                  </a:moveTo>
                  <a:lnTo>
                    <a:pt x="143" y="17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46" name="Freeform 35"/>
            <p:cNvSpPr>
              <a:spLocks noChangeAspect="1" noEditPoints="1"/>
            </p:cNvSpPr>
            <p:nvPr/>
          </p:nvSpPr>
          <p:spPr>
            <a:xfrm>
              <a:off x="3954" y="2551"/>
              <a:ext cx="182" cy="202"/>
            </a:xfrm>
            <a:custGeom>
              <a:avLst/>
              <a:gdLst>
                <a:gd name="txL" fmla="*/ 0 w 150"/>
                <a:gd name="txT" fmla="*/ 0 h 173"/>
                <a:gd name="txR" fmla="*/ 150 w 150"/>
                <a:gd name="txB" fmla="*/ 173 h 173"/>
              </a:gdLst>
              <a:ahLst/>
              <a:cxnLst>
                <a:cxn ang="0">
                  <a:pos x="33641" y="0"/>
                </a:cxn>
                <a:cxn ang="0">
                  <a:pos x="27106" y="481"/>
                </a:cxn>
                <a:cxn ang="0">
                  <a:pos x="20095" y="908"/>
                </a:cxn>
                <a:cxn ang="0">
                  <a:pos x="9322" y="4146"/>
                </a:cxn>
                <a:cxn ang="0">
                  <a:pos x="2856" y="8168"/>
                </a:cxn>
                <a:cxn ang="0">
                  <a:pos x="1318" y="10505"/>
                </a:cxn>
                <a:cxn ang="0">
                  <a:pos x="0" y="13288"/>
                </a:cxn>
                <a:cxn ang="0">
                  <a:pos x="0" y="13288"/>
                </a:cxn>
                <a:cxn ang="0">
                  <a:pos x="1318" y="10505"/>
                </a:cxn>
                <a:cxn ang="0">
                  <a:pos x="2856" y="8168"/>
                </a:cxn>
                <a:cxn ang="0">
                  <a:pos x="9322" y="4146"/>
                </a:cxn>
                <a:cxn ang="0">
                  <a:pos x="20095" y="908"/>
                </a:cxn>
                <a:cxn ang="0">
                  <a:pos x="27106" y="481"/>
                </a:cxn>
                <a:cxn ang="0">
                  <a:pos x="33641" y="0"/>
                </a:cxn>
                <a:cxn ang="0">
                  <a:pos x="33641" y="0"/>
                </a:cxn>
                <a:cxn ang="0">
                  <a:pos x="33641" y="0"/>
                </a:cxn>
                <a:cxn ang="0">
                  <a:pos x="33641" y="0"/>
                </a:cxn>
                <a:cxn ang="0">
                  <a:pos x="33641" y="0"/>
                </a:cxn>
              </a:cxnLst>
              <a:rect l="txL" t="txT" r="txR" b="txB"/>
              <a:pathLst>
                <a:path w="150" h="173">
                  <a:moveTo>
                    <a:pt x="150" y="0"/>
                  </a:moveTo>
                  <a:lnTo>
                    <a:pt x="120" y="6"/>
                  </a:lnTo>
                  <a:lnTo>
                    <a:pt x="90" y="12"/>
                  </a:lnTo>
                  <a:lnTo>
                    <a:pt x="42" y="54"/>
                  </a:lnTo>
                  <a:lnTo>
                    <a:pt x="12" y="107"/>
                  </a:lnTo>
                  <a:lnTo>
                    <a:pt x="6" y="137"/>
                  </a:lnTo>
                  <a:lnTo>
                    <a:pt x="0" y="173"/>
                  </a:lnTo>
                  <a:lnTo>
                    <a:pt x="6" y="137"/>
                  </a:lnTo>
                  <a:lnTo>
                    <a:pt x="12" y="107"/>
                  </a:lnTo>
                  <a:lnTo>
                    <a:pt x="42" y="54"/>
                  </a:lnTo>
                  <a:lnTo>
                    <a:pt x="90" y="12"/>
                  </a:lnTo>
                  <a:lnTo>
                    <a:pt x="120" y="6"/>
                  </a:lnTo>
                  <a:lnTo>
                    <a:pt x="150" y="0"/>
                  </a:lnTo>
                  <a:close/>
                  <a:moveTo>
                    <a:pt x="150" y="0"/>
                  </a:moveTo>
                  <a:lnTo>
                    <a:pt x="15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47" name="Freeform 36"/>
            <p:cNvSpPr>
              <a:spLocks noChangeAspect="1" noEditPoints="1"/>
            </p:cNvSpPr>
            <p:nvPr/>
          </p:nvSpPr>
          <p:spPr>
            <a:xfrm>
              <a:off x="3954" y="2753"/>
              <a:ext cx="182" cy="209"/>
            </a:xfrm>
            <a:custGeom>
              <a:avLst/>
              <a:gdLst>
                <a:gd name="txL" fmla="*/ 0 w 150"/>
                <a:gd name="txT" fmla="*/ 0 h 179"/>
                <a:gd name="txR" fmla="*/ 150 w 150"/>
                <a:gd name="txB" fmla="*/ 179 h 179"/>
              </a:gdLst>
              <a:ahLst/>
              <a:cxnLst>
                <a:cxn ang="0">
                  <a:pos x="0" y="0"/>
                </a:cxn>
                <a:cxn ang="0">
                  <a:pos x="1318" y="2754"/>
                </a:cxn>
                <a:cxn ang="0">
                  <a:pos x="2856" y="5063"/>
                </a:cxn>
                <a:cxn ang="0">
                  <a:pos x="9322" y="9535"/>
                </a:cxn>
                <a:cxn ang="0">
                  <a:pos x="14823" y="11389"/>
                </a:cxn>
                <a:cxn ang="0">
                  <a:pos x="20095" y="12804"/>
                </a:cxn>
                <a:cxn ang="0">
                  <a:pos x="27106" y="13286"/>
                </a:cxn>
                <a:cxn ang="0">
                  <a:pos x="33641" y="13722"/>
                </a:cxn>
                <a:cxn ang="0">
                  <a:pos x="33641" y="13722"/>
                </a:cxn>
                <a:cxn ang="0">
                  <a:pos x="27106" y="13286"/>
                </a:cxn>
                <a:cxn ang="0">
                  <a:pos x="20095" y="12804"/>
                </a:cxn>
                <a:cxn ang="0">
                  <a:pos x="14823" y="11389"/>
                </a:cxn>
                <a:cxn ang="0">
                  <a:pos x="9322" y="9535"/>
                </a:cxn>
                <a:cxn ang="0">
                  <a:pos x="2856" y="5063"/>
                </a:cxn>
                <a:cxn ang="0">
                  <a:pos x="1318" y="2754"/>
                </a:cxn>
                <a:cxn ang="0">
                  <a:pos x="0" y="0"/>
                </a:cxn>
                <a:cxn ang="0">
                  <a:pos x="0" y="0"/>
                </a:cxn>
                <a:cxn ang="0">
                  <a:pos x="0" y="0"/>
                </a:cxn>
                <a:cxn ang="0">
                  <a:pos x="0" y="0"/>
                </a:cxn>
                <a:cxn ang="0">
                  <a:pos x="0" y="0"/>
                </a:cxn>
              </a:cxnLst>
              <a:rect l="txL" t="txT" r="txR" b="txB"/>
              <a:pathLst>
                <a:path w="150" h="179">
                  <a:moveTo>
                    <a:pt x="0" y="0"/>
                  </a:moveTo>
                  <a:lnTo>
                    <a:pt x="6" y="36"/>
                  </a:lnTo>
                  <a:lnTo>
                    <a:pt x="12" y="66"/>
                  </a:lnTo>
                  <a:lnTo>
                    <a:pt x="42" y="125"/>
                  </a:lnTo>
                  <a:lnTo>
                    <a:pt x="66" y="149"/>
                  </a:lnTo>
                  <a:lnTo>
                    <a:pt x="90" y="167"/>
                  </a:lnTo>
                  <a:lnTo>
                    <a:pt x="120" y="173"/>
                  </a:lnTo>
                  <a:lnTo>
                    <a:pt x="150" y="179"/>
                  </a:lnTo>
                  <a:lnTo>
                    <a:pt x="120" y="173"/>
                  </a:lnTo>
                  <a:lnTo>
                    <a:pt x="90" y="167"/>
                  </a:lnTo>
                  <a:lnTo>
                    <a:pt x="66" y="149"/>
                  </a:lnTo>
                  <a:lnTo>
                    <a:pt x="42" y="125"/>
                  </a:lnTo>
                  <a:lnTo>
                    <a:pt x="12" y="66"/>
                  </a:lnTo>
                  <a:lnTo>
                    <a:pt x="6" y="36"/>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48" name="Freeform 37"/>
            <p:cNvSpPr>
              <a:spLocks noChangeAspect="1"/>
            </p:cNvSpPr>
            <p:nvPr/>
          </p:nvSpPr>
          <p:spPr>
            <a:xfrm>
              <a:off x="4136" y="2962"/>
              <a:ext cx="2" cy="1"/>
            </a:xfrm>
            <a:custGeom>
              <a:avLst/>
              <a:gdLst>
                <a:gd name="txL" fmla="*/ 0 w 2"/>
                <a:gd name="txT" fmla="*/ 0 h 1"/>
                <a:gd name="txR" fmla="*/ 2 w 2"/>
                <a:gd name="txB" fmla="*/ 1 h 1"/>
              </a:gdLst>
              <a:ahLst/>
              <a:cxnLst>
                <a:cxn ang="0">
                  <a:pos x="0" y="0"/>
                </a:cxn>
                <a:cxn ang="0">
                  <a:pos x="0" y="0"/>
                </a:cxn>
                <a:cxn ang="0">
                  <a:pos x="0" y="0"/>
                </a:cxn>
              </a:cxnLst>
              <a:rect l="txL" t="txT" r="txR" b="txB"/>
              <a:pathLst>
                <a:path w="2"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49" name="Freeform 38"/>
            <p:cNvSpPr>
              <a:spLocks noChangeAspect="1"/>
            </p:cNvSpPr>
            <p:nvPr/>
          </p:nvSpPr>
          <p:spPr>
            <a:xfrm>
              <a:off x="4129" y="2753"/>
              <a:ext cx="1" cy="160"/>
            </a:xfrm>
            <a:custGeom>
              <a:avLst/>
              <a:gdLst>
                <a:gd name="txL" fmla="*/ 0 w 1"/>
                <a:gd name="txT" fmla="*/ 0 h 137"/>
                <a:gd name="txR" fmla="*/ 1 w 1"/>
                <a:gd name="txB" fmla="*/ 137 h 137"/>
              </a:gdLst>
              <a:ahLst/>
              <a:cxnLst>
                <a:cxn ang="0">
                  <a:pos x="0" y="10573"/>
                </a:cxn>
                <a:cxn ang="0">
                  <a:pos x="0" y="0"/>
                </a:cxn>
                <a:cxn ang="0">
                  <a:pos x="0" y="10573"/>
                </a:cxn>
                <a:cxn ang="0">
                  <a:pos x="0" y="10573"/>
                </a:cxn>
              </a:cxnLst>
              <a:rect l="txL" t="txT" r="txR" b="txB"/>
              <a:pathLst>
                <a:path w="1" h="137">
                  <a:moveTo>
                    <a:pt x="0" y="137"/>
                  </a:moveTo>
                  <a:lnTo>
                    <a:pt x="0" y="0"/>
                  </a:lnTo>
                  <a:lnTo>
                    <a:pt x="0" y="13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50" name="Freeform 39"/>
            <p:cNvSpPr>
              <a:spLocks noChangeAspect="1"/>
            </p:cNvSpPr>
            <p:nvPr/>
          </p:nvSpPr>
          <p:spPr>
            <a:xfrm>
              <a:off x="4085" y="2600"/>
              <a:ext cx="87" cy="188"/>
            </a:xfrm>
            <a:custGeom>
              <a:avLst/>
              <a:gdLst>
                <a:gd name="txL" fmla="*/ 0 w 71"/>
                <a:gd name="txT" fmla="*/ 0 h 161"/>
                <a:gd name="txR" fmla="*/ 71 w 71"/>
                <a:gd name="txB" fmla="*/ 161 h 161"/>
              </a:gdLst>
              <a:ahLst/>
              <a:cxnLst>
                <a:cxn ang="0">
                  <a:pos x="21001" y="12393"/>
                </a:cxn>
                <a:cxn ang="0">
                  <a:pos x="10533" y="0"/>
                </a:cxn>
                <a:cxn ang="0">
                  <a:pos x="0" y="12393"/>
                </a:cxn>
                <a:cxn ang="0">
                  <a:pos x="21001" y="12393"/>
                </a:cxn>
                <a:cxn ang="0">
                  <a:pos x="21001" y="12393"/>
                </a:cxn>
              </a:cxnLst>
              <a:rect l="txL" t="txT" r="txR" b="txB"/>
              <a:pathLst>
                <a:path w="71" h="161">
                  <a:moveTo>
                    <a:pt x="71" y="161"/>
                  </a:moveTo>
                  <a:lnTo>
                    <a:pt x="36" y="0"/>
                  </a:lnTo>
                  <a:lnTo>
                    <a:pt x="0" y="161"/>
                  </a:lnTo>
                  <a:lnTo>
                    <a:pt x="71" y="16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51" name="Freeform 40"/>
            <p:cNvSpPr>
              <a:spLocks noChangeAspect="1"/>
            </p:cNvSpPr>
            <p:nvPr/>
          </p:nvSpPr>
          <p:spPr>
            <a:xfrm>
              <a:off x="2229" y="2697"/>
              <a:ext cx="94" cy="168"/>
            </a:xfrm>
            <a:custGeom>
              <a:avLst/>
              <a:gdLst>
                <a:gd name="txL" fmla="*/ 0 w 78"/>
                <a:gd name="txT" fmla="*/ 0 h 144"/>
                <a:gd name="txR" fmla="*/ 78 w 78"/>
                <a:gd name="txB" fmla="*/ 144 h 144"/>
              </a:gdLst>
              <a:ahLst/>
              <a:cxnLst>
                <a:cxn ang="0">
                  <a:pos x="14488" y="8547"/>
                </a:cxn>
                <a:cxn ang="0">
                  <a:pos x="14488" y="8547"/>
                </a:cxn>
                <a:cxn ang="0">
                  <a:pos x="12347" y="9426"/>
                </a:cxn>
                <a:cxn ang="0">
                  <a:pos x="11188" y="9426"/>
                </a:cxn>
                <a:cxn ang="0">
                  <a:pos x="3517" y="9426"/>
                </a:cxn>
                <a:cxn ang="0">
                  <a:pos x="8940" y="6728"/>
                </a:cxn>
                <a:cxn ang="0">
                  <a:pos x="9976" y="6279"/>
                </a:cxn>
                <a:cxn ang="0">
                  <a:pos x="11188" y="5382"/>
                </a:cxn>
                <a:cxn ang="0">
                  <a:pos x="12347" y="3165"/>
                </a:cxn>
                <a:cxn ang="0">
                  <a:pos x="11188" y="904"/>
                </a:cxn>
                <a:cxn ang="0">
                  <a:pos x="8940" y="429"/>
                </a:cxn>
                <a:cxn ang="0">
                  <a:pos x="6726" y="0"/>
                </a:cxn>
                <a:cxn ang="0">
                  <a:pos x="3517" y="904"/>
                </a:cxn>
                <a:cxn ang="0">
                  <a:pos x="1000" y="1869"/>
                </a:cxn>
                <a:cxn ang="0">
                  <a:pos x="0" y="3165"/>
                </a:cxn>
                <a:cxn ang="0">
                  <a:pos x="1000" y="3620"/>
                </a:cxn>
                <a:cxn ang="0">
                  <a:pos x="2109" y="2280"/>
                </a:cxn>
                <a:cxn ang="0">
                  <a:pos x="3517" y="1869"/>
                </a:cxn>
                <a:cxn ang="0">
                  <a:pos x="5581" y="1381"/>
                </a:cxn>
                <a:cxn ang="0">
                  <a:pos x="7784" y="1869"/>
                </a:cxn>
                <a:cxn ang="0">
                  <a:pos x="8940" y="2280"/>
                </a:cxn>
                <a:cxn ang="0">
                  <a:pos x="9976" y="3620"/>
                </a:cxn>
                <a:cxn ang="0">
                  <a:pos x="8940" y="5865"/>
                </a:cxn>
                <a:cxn ang="0">
                  <a:pos x="5581" y="7641"/>
                </a:cxn>
                <a:cxn ang="0">
                  <a:pos x="0" y="10858"/>
                </a:cxn>
                <a:cxn ang="0">
                  <a:pos x="0" y="10858"/>
                </a:cxn>
                <a:cxn ang="0">
                  <a:pos x="12347" y="10858"/>
                </a:cxn>
                <a:cxn ang="0">
                  <a:pos x="14488" y="8547"/>
                </a:cxn>
              </a:cxnLst>
              <a:rect l="txL" t="txT" r="txR" b="txB"/>
              <a:pathLst>
                <a:path w="78" h="144">
                  <a:moveTo>
                    <a:pt x="78" y="114"/>
                  </a:moveTo>
                  <a:lnTo>
                    <a:pt x="78" y="114"/>
                  </a:lnTo>
                  <a:lnTo>
                    <a:pt x="66" y="126"/>
                  </a:lnTo>
                  <a:lnTo>
                    <a:pt x="60" y="126"/>
                  </a:lnTo>
                  <a:lnTo>
                    <a:pt x="18" y="126"/>
                  </a:lnTo>
                  <a:lnTo>
                    <a:pt x="48" y="90"/>
                  </a:lnTo>
                  <a:lnTo>
                    <a:pt x="54" y="84"/>
                  </a:lnTo>
                  <a:lnTo>
                    <a:pt x="60" y="72"/>
                  </a:lnTo>
                  <a:lnTo>
                    <a:pt x="66" y="42"/>
                  </a:lnTo>
                  <a:lnTo>
                    <a:pt x="60" y="12"/>
                  </a:lnTo>
                  <a:lnTo>
                    <a:pt x="48" y="6"/>
                  </a:lnTo>
                  <a:lnTo>
                    <a:pt x="36" y="0"/>
                  </a:lnTo>
                  <a:lnTo>
                    <a:pt x="18" y="12"/>
                  </a:lnTo>
                  <a:lnTo>
                    <a:pt x="6" y="24"/>
                  </a:lnTo>
                  <a:lnTo>
                    <a:pt x="0" y="42"/>
                  </a:lnTo>
                  <a:lnTo>
                    <a:pt x="6" y="48"/>
                  </a:lnTo>
                  <a:lnTo>
                    <a:pt x="12" y="30"/>
                  </a:lnTo>
                  <a:lnTo>
                    <a:pt x="18" y="24"/>
                  </a:lnTo>
                  <a:lnTo>
                    <a:pt x="30" y="18"/>
                  </a:lnTo>
                  <a:lnTo>
                    <a:pt x="42" y="24"/>
                  </a:lnTo>
                  <a:lnTo>
                    <a:pt x="48" y="30"/>
                  </a:lnTo>
                  <a:lnTo>
                    <a:pt x="54" y="48"/>
                  </a:lnTo>
                  <a:lnTo>
                    <a:pt x="48" y="78"/>
                  </a:lnTo>
                  <a:lnTo>
                    <a:pt x="30" y="102"/>
                  </a:lnTo>
                  <a:lnTo>
                    <a:pt x="0" y="144"/>
                  </a:lnTo>
                  <a:lnTo>
                    <a:pt x="66" y="144"/>
                  </a:lnTo>
                  <a:lnTo>
                    <a:pt x="78" y="11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52" name="Freeform 41"/>
            <p:cNvSpPr>
              <a:spLocks noChangeAspect="1"/>
            </p:cNvSpPr>
            <p:nvPr/>
          </p:nvSpPr>
          <p:spPr>
            <a:xfrm>
              <a:off x="2389" y="2697"/>
              <a:ext cx="146" cy="168"/>
            </a:xfrm>
            <a:custGeom>
              <a:avLst/>
              <a:gdLst>
                <a:gd name="txL" fmla="*/ 0 w 120"/>
                <a:gd name="txT" fmla="*/ 0 h 144"/>
                <a:gd name="txR" fmla="*/ 120 w 120"/>
                <a:gd name="txB" fmla="*/ 144 h 144"/>
              </a:gdLst>
              <a:ahLst/>
              <a:cxnLst>
                <a:cxn ang="0">
                  <a:pos x="11653" y="8547"/>
                </a:cxn>
                <a:cxn ang="0">
                  <a:pos x="10091" y="8114"/>
                </a:cxn>
                <a:cxn ang="0">
                  <a:pos x="8821" y="7641"/>
                </a:cxn>
                <a:cxn ang="0">
                  <a:pos x="7467" y="6728"/>
                </a:cxn>
                <a:cxn ang="0">
                  <a:pos x="5778" y="5382"/>
                </a:cxn>
                <a:cxn ang="0">
                  <a:pos x="5778" y="3957"/>
                </a:cxn>
                <a:cxn ang="0">
                  <a:pos x="5778" y="2713"/>
                </a:cxn>
                <a:cxn ang="0">
                  <a:pos x="8821" y="1381"/>
                </a:cxn>
                <a:cxn ang="0">
                  <a:pos x="11653" y="904"/>
                </a:cxn>
                <a:cxn ang="0">
                  <a:pos x="14458" y="429"/>
                </a:cxn>
                <a:cxn ang="0">
                  <a:pos x="17484" y="904"/>
                </a:cxn>
                <a:cxn ang="0">
                  <a:pos x="20439" y="1381"/>
                </a:cxn>
                <a:cxn ang="0">
                  <a:pos x="23268" y="2713"/>
                </a:cxn>
                <a:cxn ang="0">
                  <a:pos x="24867" y="3957"/>
                </a:cxn>
                <a:cxn ang="0">
                  <a:pos x="24867" y="5382"/>
                </a:cxn>
                <a:cxn ang="0">
                  <a:pos x="23268" y="6728"/>
                </a:cxn>
                <a:cxn ang="0">
                  <a:pos x="21872" y="7641"/>
                </a:cxn>
                <a:cxn ang="0">
                  <a:pos x="20439" y="8114"/>
                </a:cxn>
                <a:cxn ang="0">
                  <a:pos x="17484" y="8547"/>
                </a:cxn>
                <a:cxn ang="0">
                  <a:pos x="17484" y="10858"/>
                </a:cxn>
                <a:cxn ang="0">
                  <a:pos x="29257" y="10858"/>
                </a:cxn>
                <a:cxn ang="0">
                  <a:pos x="29257" y="8114"/>
                </a:cxn>
                <a:cxn ang="0">
                  <a:pos x="29257" y="8114"/>
                </a:cxn>
                <a:cxn ang="0">
                  <a:pos x="27744" y="8982"/>
                </a:cxn>
                <a:cxn ang="0">
                  <a:pos x="26039" y="8982"/>
                </a:cxn>
                <a:cxn ang="0">
                  <a:pos x="18954" y="8982"/>
                </a:cxn>
                <a:cxn ang="0">
                  <a:pos x="18954" y="8547"/>
                </a:cxn>
                <a:cxn ang="0">
                  <a:pos x="23268" y="8114"/>
                </a:cxn>
                <a:cxn ang="0">
                  <a:pos x="26039" y="7287"/>
                </a:cxn>
                <a:cxn ang="0">
                  <a:pos x="29257" y="4548"/>
                </a:cxn>
                <a:cxn ang="0">
                  <a:pos x="27744" y="2280"/>
                </a:cxn>
                <a:cxn ang="0">
                  <a:pos x="24867" y="1381"/>
                </a:cxn>
                <a:cxn ang="0">
                  <a:pos x="21872" y="904"/>
                </a:cxn>
                <a:cxn ang="0">
                  <a:pos x="18954" y="429"/>
                </a:cxn>
                <a:cxn ang="0">
                  <a:pos x="14458" y="0"/>
                </a:cxn>
                <a:cxn ang="0">
                  <a:pos x="10091" y="429"/>
                </a:cxn>
                <a:cxn ang="0">
                  <a:pos x="7467" y="904"/>
                </a:cxn>
                <a:cxn ang="0">
                  <a:pos x="4457" y="1381"/>
                </a:cxn>
                <a:cxn ang="0">
                  <a:pos x="1403" y="2280"/>
                </a:cxn>
                <a:cxn ang="0">
                  <a:pos x="0" y="4548"/>
                </a:cxn>
                <a:cxn ang="0">
                  <a:pos x="3011" y="7287"/>
                </a:cxn>
                <a:cxn ang="0">
                  <a:pos x="5778" y="8114"/>
                </a:cxn>
                <a:cxn ang="0">
                  <a:pos x="10091" y="8547"/>
                </a:cxn>
                <a:cxn ang="0">
                  <a:pos x="10091" y="8982"/>
                </a:cxn>
                <a:cxn ang="0">
                  <a:pos x="3011" y="8982"/>
                </a:cxn>
                <a:cxn ang="0">
                  <a:pos x="1403" y="8982"/>
                </a:cxn>
                <a:cxn ang="0">
                  <a:pos x="0" y="8114"/>
                </a:cxn>
                <a:cxn ang="0">
                  <a:pos x="0" y="8114"/>
                </a:cxn>
                <a:cxn ang="0">
                  <a:pos x="0" y="10858"/>
                </a:cxn>
                <a:cxn ang="0">
                  <a:pos x="11653" y="10858"/>
                </a:cxn>
                <a:cxn ang="0">
                  <a:pos x="11653" y="8547"/>
                </a:cxn>
              </a:cxnLst>
              <a:rect l="txL" t="txT" r="txR" b="txB"/>
              <a:pathLst>
                <a:path w="120" h="144">
                  <a:moveTo>
                    <a:pt x="48" y="114"/>
                  </a:moveTo>
                  <a:lnTo>
                    <a:pt x="42" y="108"/>
                  </a:lnTo>
                  <a:lnTo>
                    <a:pt x="36" y="102"/>
                  </a:lnTo>
                  <a:lnTo>
                    <a:pt x="30" y="90"/>
                  </a:lnTo>
                  <a:lnTo>
                    <a:pt x="24" y="72"/>
                  </a:lnTo>
                  <a:lnTo>
                    <a:pt x="24" y="54"/>
                  </a:lnTo>
                  <a:lnTo>
                    <a:pt x="24" y="36"/>
                  </a:lnTo>
                  <a:lnTo>
                    <a:pt x="36" y="18"/>
                  </a:lnTo>
                  <a:lnTo>
                    <a:pt x="48" y="12"/>
                  </a:lnTo>
                  <a:lnTo>
                    <a:pt x="60" y="6"/>
                  </a:lnTo>
                  <a:lnTo>
                    <a:pt x="72" y="12"/>
                  </a:lnTo>
                  <a:lnTo>
                    <a:pt x="84" y="18"/>
                  </a:lnTo>
                  <a:lnTo>
                    <a:pt x="96" y="36"/>
                  </a:lnTo>
                  <a:lnTo>
                    <a:pt x="102" y="54"/>
                  </a:lnTo>
                  <a:lnTo>
                    <a:pt x="102" y="72"/>
                  </a:lnTo>
                  <a:lnTo>
                    <a:pt x="96" y="90"/>
                  </a:lnTo>
                  <a:lnTo>
                    <a:pt x="90" y="102"/>
                  </a:lnTo>
                  <a:lnTo>
                    <a:pt x="84" y="108"/>
                  </a:lnTo>
                  <a:lnTo>
                    <a:pt x="72" y="114"/>
                  </a:lnTo>
                  <a:lnTo>
                    <a:pt x="72" y="144"/>
                  </a:lnTo>
                  <a:lnTo>
                    <a:pt x="120" y="144"/>
                  </a:lnTo>
                  <a:lnTo>
                    <a:pt x="120" y="108"/>
                  </a:lnTo>
                  <a:lnTo>
                    <a:pt x="114" y="120"/>
                  </a:lnTo>
                  <a:lnTo>
                    <a:pt x="108" y="120"/>
                  </a:lnTo>
                  <a:lnTo>
                    <a:pt x="78" y="120"/>
                  </a:lnTo>
                  <a:lnTo>
                    <a:pt x="78" y="114"/>
                  </a:lnTo>
                  <a:lnTo>
                    <a:pt x="96" y="108"/>
                  </a:lnTo>
                  <a:lnTo>
                    <a:pt x="108" y="96"/>
                  </a:lnTo>
                  <a:lnTo>
                    <a:pt x="120" y="60"/>
                  </a:lnTo>
                  <a:lnTo>
                    <a:pt x="114" y="30"/>
                  </a:lnTo>
                  <a:lnTo>
                    <a:pt x="102" y="18"/>
                  </a:lnTo>
                  <a:lnTo>
                    <a:pt x="90" y="12"/>
                  </a:lnTo>
                  <a:lnTo>
                    <a:pt x="78" y="6"/>
                  </a:lnTo>
                  <a:lnTo>
                    <a:pt x="60" y="0"/>
                  </a:lnTo>
                  <a:lnTo>
                    <a:pt x="42" y="6"/>
                  </a:lnTo>
                  <a:lnTo>
                    <a:pt x="30" y="12"/>
                  </a:lnTo>
                  <a:lnTo>
                    <a:pt x="18" y="18"/>
                  </a:lnTo>
                  <a:lnTo>
                    <a:pt x="6" y="30"/>
                  </a:lnTo>
                  <a:lnTo>
                    <a:pt x="0" y="60"/>
                  </a:lnTo>
                  <a:lnTo>
                    <a:pt x="12" y="96"/>
                  </a:lnTo>
                  <a:lnTo>
                    <a:pt x="24" y="108"/>
                  </a:lnTo>
                  <a:lnTo>
                    <a:pt x="42" y="114"/>
                  </a:lnTo>
                  <a:lnTo>
                    <a:pt x="42" y="120"/>
                  </a:lnTo>
                  <a:lnTo>
                    <a:pt x="12" y="120"/>
                  </a:lnTo>
                  <a:lnTo>
                    <a:pt x="6" y="120"/>
                  </a:lnTo>
                  <a:lnTo>
                    <a:pt x="0" y="108"/>
                  </a:lnTo>
                  <a:lnTo>
                    <a:pt x="0" y="144"/>
                  </a:lnTo>
                  <a:lnTo>
                    <a:pt x="48" y="144"/>
                  </a:lnTo>
                  <a:lnTo>
                    <a:pt x="48" y="11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53" name="Freeform 42"/>
            <p:cNvSpPr>
              <a:spLocks noChangeAspect="1"/>
            </p:cNvSpPr>
            <p:nvPr/>
          </p:nvSpPr>
          <p:spPr>
            <a:xfrm>
              <a:off x="2658" y="2969"/>
              <a:ext cx="66" cy="35"/>
            </a:xfrm>
            <a:custGeom>
              <a:avLst/>
              <a:gdLst>
                <a:gd name="txL" fmla="*/ 0 w 54"/>
                <a:gd name="txT" fmla="*/ 0 h 30"/>
                <a:gd name="txR" fmla="*/ 54 w 54"/>
                <a:gd name="txB" fmla="*/ 30 h 30"/>
              </a:gdLst>
              <a:ahLst/>
              <a:cxnLst>
                <a:cxn ang="0">
                  <a:pos x="14961" y="2280"/>
                </a:cxn>
                <a:cxn ang="0">
                  <a:pos x="0" y="0"/>
                </a:cxn>
                <a:cxn ang="0">
                  <a:pos x="14961" y="2280"/>
                </a:cxn>
                <a:cxn ang="0">
                  <a:pos x="14961" y="2280"/>
                </a:cxn>
              </a:cxnLst>
              <a:rect l="txL" t="txT" r="txR" b="txB"/>
              <a:pathLst>
                <a:path w="54" h="30">
                  <a:moveTo>
                    <a:pt x="54" y="30"/>
                  </a:moveTo>
                  <a:lnTo>
                    <a:pt x="0" y="0"/>
                  </a:lnTo>
                  <a:lnTo>
                    <a:pt x="54"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54" name="Freeform 43"/>
            <p:cNvSpPr>
              <a:spLocks noChangeAspect="1" noEditPoints="1"/>
            </p:cNvSpPr>
            <p:nvPr/>
          </p:nvSpPr>
          <p:spPr>
            <a:xfrm>
              <a:off x="2658" y="2941"/>
              <a:ext cx="66" cy="28"/>
            </a:xfrm>
            <a:custGeom>
              <a:avLst/>
              <a:gdLst>
                <a:gd name="txL" fmla="*/ 0 w 54"/>
                <a:gd name="txT" fmla="*/ 0 h 24"/>
                <a:gd name="txR" fmla="*/ 54 w 54"/>
                <a:gd name="txB" fmla="*/ 24 h 24"/>
              </a:gdLst>
              <a:ahLst/>
              <a:cxnLst>
                <a:cxn ang="0">
                  <a:pos x="0" y="1869"/>
                </a:cxn>
                <a:cxn ang="0">
                  <a:pos x="14961" y="0"/>
                </a:cxn>
                <a:cxn ang="0">
                  <a:pos x="0" y="1869"/>
                </a:cxn>
                <a:cxn ang="0">
                  <a:pos x="0" y="1869"/>
                </a:cxn>
                <a:cxn ang="0">
                  <a:pos x="0" y="1869"/>
                </a:cxn>
                <a:cxn ang="0">
                  <a:pos x="0" y="1869"/>
                </a:cxn>
                <a:cxn ang="0">
                  <a:pos x="0" y="1869"/>
                </a:cxn>
              </a:cxnLst>
              <a:rect l="txL" t="txT" r="txR" b="txB"/>
              <a:pathLst>
                <a:path w="54" h="24">
                  <a:moveTo>
                    <a:pt x="0" y="24"/>
                  </a:moveTo>
                  <a:lnTo>
                    <a:pt x="54"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55" name="Freeform 44"/>
            <p:cNvSpPr>
              <a:spLocks noChangeAspect="1" noEditPoints="1"/>
            </p:cNvSpPr>
            <p:nvPr/>
          </p:nvSpPr>
          <p:spPr>
            <a:xfrm>
              <a:off x="2724" y="2906"/>
              <a:ext cx="66" cy="35"/>
            </a:xfrm>
            <a:custGeom>
              <a:avLst/>
              <a:gdLst>
                <a:gd name="txL" fmla="*/ 0 w 54"/>
                <a:gd name="txT" fmla="*/ 0 h 30"/>
                <a:gd name="txR" fmla="*/ 54 w 54"/>
                <a:gd name="txB" fmla="*/ 30 h 30"/>
              </a:gdLst>
              <a:ahLst/>
              <a:cxnLst>
                <a:cxn ang="0">
                  <a:pos x="0" y="2280"/>
                </a:cxn>
                <a:cxn ang="0">
                  <a:pos x="14961" y="0"/>
                </a:cxn>
                <a:cxn ang="0">
                  <a:pos x="0" y="2280"/>
                </a:cxn>
                <a:cxn ang="0">
                  <a:pos x="0" y="2280"/>
                </a:cxn>
                <a:cxn ang="0">
                  <a:pos x="0" y="2280"/>
                </a:cxn>
                <a:cxn ang="0">
                  <a:pos x="0" y="2280"/>
                </a:cxn>
                <a:cxn ang="0">
                  <a:pos x="0" y="2280"/>
                </a:cxn>
              </a:cxnLst>
              <a:rect l="txL" t="txT" r="txR" b="txB"/>
              <a:pathLst>
                <a:path w="54" h="30">
                  <a:moveTo>
                    <a:pt x="0" y="30"/>
                  </a:moveTo>
                  <a:lnTo>
                    <a:pt x="54"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56" name="Freeform 45"/>
            <p:cNvSpPr>
              <a:spLocks noChangeAspect="1" noEditPoints="1"/>
            </p:cNvSpPr>
            <p:nvPr/>
          </p:nvSpPr>
          <p:spPr>
            <a:xfrm>
              <a:off x="2724" y="2878"/>
              <a:ext cx="66" cy="28"/>
            </a:xfrm>
            <a:custGeom>
              <a:avLst/>
              <a:gdLst>
                <a:gd name="txL" fmla="*/ 0 w 54"/>
                <a:gd name="txT" fmla="*/ 0 h 24"/>
                <a:gd name="txR" fmla="*/ 54 w 54"/>
                <a:gd name="txB" fmla="*/ 24 h 24"/>
              </a:gdLst>
              <a:ahLst/>
              <a:cxnLst>
                <a:cxn ang="0">
                  <a:pos x="14961" y="1869"/>
                </a:cxn>
                <a:cxn ang="0">
                  <a:pos x="0" y="0"/>
                </a:cxn>
                <a:cxn ang="0">
                  <a:pos x="14961" y="1869"/>
                </a:cxn>
                <a:cxn ang="0">
                  <a:pos x="14961" y="1869"/>
                </a:cxn>
                <a:cxn ang="0">
                  <a:pos x="14961" y="1869"/>
                </a:cxn>
                <a:cxn ang="0">
                  <a:pos x="14961" y="1869"/>
                </a:cxn>
                <a:cxn ang="0">
                  <a:pos x="14961" y="1869"/>
                </a:cxn>
              </a:cxnLst>
              <a:rect l="txL" t="txT" r="txR" b="txB"/>
              <a:pathLst>
                <a:path w="54" h="24">
                  <a:moveTo>
                    <a:pt x="54" y="24"/>
                  </a:moveTo>
                  <a:lnTo>
                    <a:pt x="0" y="0"/>
                  </a:lnTo>
                  <a:lnTo>
                    <a:pt x="54" y="24"/>
                  </a:lnTo>
                  <a:close/>
                  <a:moveTo>
                    <a:pt x="54" y="24"/>
                  </a:moveTo>
                  <a:lnTo>
                    <a:pt x="54"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57" name="Freeform 46"/>
            <p:cNvSpPr>
              <a:spLocks noChangeAspect="1" noEditPoints="1"/>
            </p:cNvSpPr>
            <p:nvPr/>
          </p:nvSpPr>
          <p:spPr>
            <a:xfrm>
              <a:off x="2724" y="2878"/>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58" name="Freeform 47"/>
            <p:cNvSpPr>
              <a:spLocks noChangeAspect="1" noEditPoints="1"/>
            </p:cNvSpPr>
            <p:nvPr/>
          </p:nvSpPr>
          <p:spPr>
            <a:xfrm>
              <a:off x="2658" y="2844"/>
              <a:ext cx="66" cy="34"/>
            </a:xfrm>
            <a:custGeom>
              <a:avLst/>
              <a:gdLst>
                <a:gd name="txL" fmla="*/ 0 w 54"/>
                <a:gd name="txT" fmla="*/ 0 h 29"/>
                <a:gd name="txR" fmla="*/ 54 w 54"/>
                <a:gd name="txB" fmla="*/ 29 h 29"/>
              </a:gdLst>
              <a:ahLst/>
              <a:cxnLst>
                <a:cxn ang="0">
                  <a:pos x="14961" y="2477"/>
                </a:cxn>
                <a:cxn ang="0">
                  <a:pos x="0" y="0"/>
                </a:cxn>
                <a:cxn ang="0">
                  <a:pos x="14961" y="2477"/>
                </a:cxn>
                <a:cxn ang="0">
                  <a:pos x="14961" y="2477"/>
                </a:cxn>
                <a:cxn ang="0">
                  <a:pos x="14961" y="2477"/>
                </a:cxn>
                <a:cxn ang="0">
                  <a:pos x="14961" y="2477"/>
                </a:cxn>
                <a:cxn ang="0">
                  <a:pos x="14961" y="2477"/>
                </a:cxn>
              </a:cxnLst>
              <a:rect l="txL" t="txT" r="txR" b="txB"/>
              <a:pathLst>
                <a:path w="54" h="29">
                  <a:moveTo>
                    <a:pt x="54" y="29"/>
                  </a:moveTo>
                  <a:lnTo>
                    <a:pt x="0" y="0"/>
                  </a:lnTo>
                  <a:lnTo>
                    <a:pt x="54" y="29"/>
                  </a:lnTo>
                  <a:close/>
                  <a:moveTo>
                    <a:pt x="54" y="29"/>
                  </a:moveTo>
                  <a:lnTo>
                    <a:pt x="54" y="2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59" name="Freeform 48"/>
            <p:cNvSpPr>
              <a:spLocks noChangeAspect="1" noEditPoints="1"/>
            </p:cNvSpPr>
            <p:nvPr/>
          </p:nvSpPr>
          <p:spPr>
            <a:xfrm>
              <a:off x="2658" y="2816"/>
              <a:ext cx="66" cy="28"/>
            </a:xfrm>
            <a:custGeom>
              <a:avLst/>
              <a:gdLst>
                <a:gd name="txL" fmla="*/ 0 w 54"/>
                <a:gd name="txT" fmla="*/ 0 h 24"/>
                <a:gd name="txR" fmla="*/ 54 w 54"/>
                <a:gd name="txB" fmla="*/ 24 h 24"/>
              </a:gdLst>
              <a:ahLst/>
              <a:cxnLst>
                <a:cxn ang="0">
                  <a:pos x="0" y="1869"/>
                </a:cxn>
                <a:cxn ang="0">
                  <a:pos x="14961" y="0"/>
                </a:cxn>
                <a:cxn ang="0">
                  <a:pos x="0" y="1869"/>
                </a:cxn>
                <a:cxn ang="0">
                  <a:pos x="0" y="1869"/>
                </a:cxn>
                <a:cxn ang="0">
                  <a:pos x="0" y="1869"/>
                </a:cxn>
                <a:cxn ang="0">
                  <a:pos x="0" y="1869"/>
                </a:cxn>
                <a:cxn ang="0">
                  <a:pos x="0" y="1869"/>
                </a:cxn>
              </a:cxnLst>
              <a:rect l="txL" t="txT" r="txR" b="txB"/>
              <a:pathLst>
                <a:path w="54" h="24">
                  <a:moveTo>
                    <a:pt x="0" y="24"/>
                  </a:moveTo>
                  <a:lnTo>
                    <a:pt x="54"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60" name="Freeform 49"/>
            <p:cNvSpPr>
              <a:spLocks noChangeAspect="1" noEditPoints="1"/>
            </p:cNvSpPr>
            <p:nvPr/>
          </p:nvSpPr>
          <p:spPr>
            <a:xfrm>
              <a:off x="2724" y="2781"/>
              <a:ext cx="66" cy="35"/>
            </a:xfrm>
            <a:custGeom>
              <a:avLst/>
              <a:gdLst>
                <a:gd name="txL" fmla="*/ 0 w 54"/>
                <a:gd name="txT" fmla="*/ 0 h 30"/>
                <a:gd name="txR" fmla="*/ 54 w 54"/>
                <a:gd name="txB" fmla="*/ 30 h 30"/>
              </a:gdLst>
              <a:ahLst/>
              <a:cxnLst>
                <a:cxn ang="0">
                  <a:pos x="0" y="2280"/>
                </a:cxn>
                <a:cxn ang="0">
                  <a:pos x="14961" y="0"/>
                </a:cxn>
                <a:cxn ang="0">
                  <a:pos x="0" y="2280"/>
                </a:cxn>
                <a:cxn ang="0">
                  <a:pos x="0" y="2280"/>
                </a:cxn>
                <a:cxn ang="0">
                  <a:pos x="0" y="2280"/>
                </a:cxn>
                <a:cxn ang="0">
                  <a:pos x="0" y="2280"/>
                </a:cxn>
                <a:cxn ang="0">
                  <a:pos x="0" y="2280"/>
                </a:cxn>
              </a:cxnLst>
              <a:rect l="txL" t="txT" r="txR" b="txB"/>
              <a:pathLst>
                <a:path w="54" h="30">
                  <a:moveTo>
                    <a:pt x="0" y="30"/>
                  </a:moveTo>
                  <a:lnTo>
                    <a:pt x="54"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61" name="Freeform 50"/>
            <p:cNvSpPr>
              <a:spLocks noChangeAspect="1" noEditPoints="1"/>
            </p:cNvSpPr>
            <p:nvPr/>
          </p:nvSpPr>
          <p:spPr>
            <a:xfrm>
              <a:off x="2724" y="2753"/>
              <a:ext cx="66" cy="28"/>
            </a:xfrm>
            <a:custGeom>
              <a:avLst/>
              <a:gdLst>
                <a:gd name="txL" fmla="*/ 0 w 54"/>
                <a:gd name="txT" fmla="*/ 0 h 24"/>
                <a:gd name="txR" fmla="*/ 54 w 54"/>
                <a:gd name="txB" fmla="*/ 24 h 24"/>
              </a:gdLst>
              <a:ahLst/>
              <a:cxnLst>
                <a:cxn ang="0">
                  <a:pos x="14961" y="1869"/>
                </a:cxn>
                <a:cxn ang="0">
                  <a:pos x="0" y="0"/>
                </a:cxn>
                <a:cxn ang="0">
                  <a:pos x="14961" y="1869"/>
                </a:cxn>
                <a:cxn ang="0">
                  <a:pos x="14961" y="1869"/>
                </a:cxn>
                <a:cxn ang="0">
                  <a:pos x="14961" y="1869"/>
                </a:cxn>
                <a:cxn ang="0">
                  <a:pos x="14961" y="1869"/>
                </a:cxn>
                <a:cxn ang="0">
                  <a:pos x="14961" y="1869"/>
                </a:cxn>
              </a:cxnLst>
              <a:rect l="txL" t="txT" r="txR" b="txB"/>
              <a:pathLst>
                <a:path w="54" h="24">
                  <a:moveTo>
                    <a:pt x="54" y="24"/>
                  </a:moveTo>
                  <a:lnTo>
                    <a:pt x="0" y="0"/>
                  </a:lnTo>
                  <a:lnTo>
                    <a:pt x="54" y="24"/>
                  </a:lnTo>
                  <a:close/>
                  <a:moveTo>
                    <a:pt x="54" y="24"/>
                  </a:moveTo>
                  <a:lnTo>
                    <a:pt x="54"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62" name="Freeform 51"/>
            <p:cNvSpPr>
              <a:spLocks noChangeAspect="1" noEditPoints="1"/>
            </p:cNvSpPr>
            <p:nvPr/>
          </p:nvSpPr>
          <p:spPr>
            <a:xfrm>
              <a:off x="2658" y="2718"/>
              <a:ext cx="66" cy="35"/>
            </a:xfrm>
            <a:custGeom>
              <a:avLst/>
              <a:gdLst>
                <a:gd name="txL" fmla="*/ 0 w 54"/>
                <a:gd name="txT" fmla="*/ 0 h 30"/>
                <a:gd name="txR" fmla="*/ 54 w 54"/>
                <a:gd name="txB" fmla="*/ 30 h 30"/>
              </a:gdLst>
              <a:ahLst/>
              <a:cxnLst>
                <a:cxn ang="0">
                  <a:pos x="14961" y="2280"/>
                </a:cxn>
                <a:cxn ang="0">
                  <a:pos x="0" y="0"/>
                </a:cxn>
                <a:cxn ang="0">
                  <a:pos x="14961" y="2280"/>
                </a:cxn>
                <a:cxn ang="0">
                  <a:pos x="14961" y="2280"/>
                </a:cxn>
                <a:cxn ang="0">
                  <a:pos x="14961" y="2280"/>
                </a:cxn>
                <a:cxn ang="0">
                  <a:pos x="14961" y="2280"/>
                </a:cxn>
                <a:cxn ang="0">
                  <a:pos x="14961" y="2280"/>
                </a:cxn>
              </a:cxnLst>
              <a:rect l="txL" t="txT" r="txR" b="txB"/>
              <a:pathLst>
                <a:path w="54" h="30">
                  <a:moveTo>
                    <a:pt x="54" y="30"/>
                  </a:moveTo>
                  <a:lnTo>
                    <a:pt x="0" y="0"/>
                  </a:lnTo>
                  <a:lnTo>
                    <a:pt x="54" y="30"/>
                  </a:lnTo>
                  <a:close/>
                  <a:moveTo>
                    <a:pt x="54" y="30"/>
                  </a:moveTo>
                  <a:lnTo>
                    <a:pt x="54"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63" name="Freeform 52"/>
            <p:cNvSpPr>
              <a:spLocks noChangeAspect="1" noEditPoints="1"/>
            </p:cNvSpPr>
            <p:nvPr/>
          </p:nvSpPr>
          <p:spPr>
            <a:xfrm>
              <a:off x="2658" y="2690"/>
              <a:ext cx="66" cy="28"/>
            </a:xfrm>
            <a:custGeom>
              <a:avLst/>
              <a:gdLst>
                <a:gd name="txL" fmla="*/ 0 w 54"/>
                <a:gd name="txT" fmla="*/ 0 h 24"/>
                <a:gd name="txR" fmla="*/ 54 w 54"/>
                <a:gd name="txB" fmla="*/ 24 h 24"/>
              </a:gdLst>
              <a:ahLst/>
              <a:cxnLst>
                <a:cxn ang="0">
                  <a:pos x="0" y="1869"/>
                </a:cxn>
                <a:cxn ang="0">
                  <a:pos x="14961" y="0"/>
                </a:cxn>
                <a:cxn ang="0">
                  <a:pos x="0" y="1869"/>
                </a:cxn>
                <a:cxn ang="0">
                  <a:pos x="0" y="1869"/>
                </a:cxn>
                <a:cxn ang="0">
                  <a:pos x="0" y="1869"/>
                </a:cxn>
                <a:cxn ang="0">
                  <a:pos x="0" y="1869"/>
                </a:cxn>
                <a:cxn ang="0">
                  <a:pos x="0" y="1869"/>
                </a:cxn>
              </a:cxnLst>
              <a:rect l="txL" t="txT" r="txR" b="txB"/>
              <a:pathLst>
                <a:path w="54" h="24">
                  <a:moveTo>
                    <a:pt x="0" y="24"/>
                  </a:moveTo>
                  <a:lnTo>
                    <a:pt x="54"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64" name="Freeform 53"/>
            <p:cNvSpPr>
              <a:spLocks noChangeAspect="1" noEditPoints="1"/>
            </p:cNvSpPr>
            <p:nvPr/>
          </p:nvSpPr>
          <p:spPr>
            <a:xfrm>
              <a:off x="2724" y="2655"/>
              <a:ext cx="66" cy="35"/>
            </a:xfrm>
            <a:custGeom>
              <a:avLst/>
              <a:gdLst>
                <a:gd name="txL" fmla="*/ 0 w 54"/>
                <a:gd name="txT" fmla="*/ 0 h 30"/>
                <a:gd name="txR" fmla="*/ 54 w 54"/>
                <a:gd name="txB" fmla="*/ 30 h 30"/>
              </a:gdLst>
              <a:ahLst/>
              <a:cxnLst>
                <a:cxn ang="0">
                  <a:pos x="0" y="2280"/>
                </a:cxn>
                <a:cxn ang="0">
                  <a:pos x="14961" y="0"/>
                </a:cxn>
                <a:cxn ang="0">
                  <a:pos x="0" y="2280"/>
                </a:cxn>
                <a:cxn ang="0">
                  <a:pos x="0" y="2280"/>
                </a:cxn>
                <a:cxn ang="0">
                  <a:pos x="0" y="2280"/>
                </a:cxn>
                <a:cxn ang="0">
                  <a:pos x="0" y="2280"/>
                </a:cxn>
                <a:cxn ang="0">
                  <a:pos x="0" y="2280"/>
                </a:cxn>
              </a:cxnLst>
              <a:rect l="txL" t="txT" r="txR" b="txB"/>
              <a:pathLst>
                <a:path w="54" h="30">
                  <a:moveTo>
                    <a:pt x="0" y="30"/>
                  </a:moveTo>
                  <a:lnTo>
                    <a:pt x="54"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65" name="Freeform 54"/>
            <p:cNvSpPr>
              <a:spLocks noChangeAspect="1" noEditPoints="1"/>
            </p:cNvSpPr>
            <p:nvPr/>
          </p:nvSpPr>
          <p:spPr>
            <a:xfrm>
              <a:off x="2724" y="2628"/>
              <a:ext cx="66" cy="27"/>
            </a:xfrm>
            <a:custGeom>
              <a:avLst/>
              <a:gdLst>
                <a:gd name="txL" fmla="*/ 0 w 54"/>
                <a:gd name="txT" fmla="*/ 0 h 23"/>
                <a:gd name="txR" fmla="*/ 54 w 54"/>
                <a:gd name="txB" fmla="*/ 23 h 23"/>
              </a:gdLst>
              <a:ahLst/>
              <a:cxnLst>
                <a:cxn ang="0">
                  <a:pos x="14961" y="2139"/>
                </a:cxn>
                <a:cxn ang="0">
                  <a:pos x="0" y="0"/>
                </a:cxn>
                <a:cxn ang="0">
                  <a:pos x="14961" y="2139"/>
                </a:cxn>
                <a:cxn ang="0">
                  <a:pos x="14961" y="2139"/>
                </a:cxn>
                <a:cxn ang="0">
                  <a:pos x="14961" y="2139"/>
                </a:cxn>
                <a:cxn ang="0">
                  <a:pos x="14961" y="2139"/>
                </a:cxn>
                <a:cxn ang="0">
                  <a:pos x="14961" y="2139"/>
                </a:cxn>
              </a:cxnLst>
              <a:rect l="txL" t="txT" r="txR" b="txB"/>
              <a:pathLst>
                <a:path w="54" h="23">
                  <a:moveTo>
                    <a:pt x="54" y="23"/>
                  </a:moveTo>
                  <a:lnTo>
                    <a:pt x="0" y="0"/>
                  </a:lnTo>
                  <a:lnTo>
                    <a:pt x="54" y="23"/>
                  </a:lnTo>
                  <a:close/>
                  <a:moveTo>
                    <a:pt x="54" y="23"/>
                  </a:moveTo>
                  <a:lnTo>
                    <a:pt x="54" y="2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66" name="Freeform 55"/>
            <p:cNvSpPr>
              <a:spLocks noChangeAspect="1" noEditPoints="1"/>
            </p:cNvSpPr>
            <p:nvPr/>
          </p:nvSpPr>
          <p:spPr>
            <a:xfrm>
              <a:off x="2658" y="2593"/>
              <a:ext cx="66" cy="35"/>
            </a:xfrm>
            <a:custGeom>
              <a:avLst/>
              <a:gdLst>
                <a:gd name="txL" fmla="*/ 0 w 54"/>
                <a:gd name="txT" fmla="*/ 0 h 30"/>
                <a:gd name="txR" fmla="*/ 54 w 54"/>
                <a:gd name="txB" fmla="*/ 30 h 30"/>
              </a:gdLst>
              <a:ahLst/>
              <a:cxnLst>
                <a:cxn ang="0">
                  <a:pos x="14961" y="2280"/>
                </a:cxn>
                <a:cxn ang="0">
                  <a:pos x="0" y="0"/>
                </a:cxn>
                <a:cxn ang="0">
                  <a:pos x="14961" y="2280"/>
                </a:cxn>
                <a:cxn ang="0">
                  <a:pos x="14961" y="2280"/>
                </a:cxn>
                <a:cxn ang="0">
                  <a:pos x="14961" y="2280"/>
                </a:cxn>
                <a:cxn ang="0">
                  <a:pos x="14961" y="2280"/>
                </a:cxn>
                <a:cxn ang="0">
                  <a:pos x="14961" y="2280"/>
                </a:cxn>
              </a:cxnLst>
              <a:rect l="txL" t="txT" r="txR" b="txB"/>
              <a:pathLst>
                <a:path w="54" h="30">
                  <a:moveTo>
                    <a:pt x="54" y="30"/>
                  </a:moveTo>
                  <a:lnTo>
                    <a:pt x="0" y="0"/>
                  </a:lnTo>
                  <a:lnTo>
                    <a:pt x="54" y="30"/>
                  </a:lnTo>
                  <a:close/>
                  <a:moveTo>
                    <a:pt x="54" y="30"/>
                  </a:moveTo>
                  <a:lnTo>
                    <a:pt x="54"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67" name="Freeform 56"/>
            <p:cNvSpPr>
              <a:spLocks noChangeAspect="1" noEditPoints="1"/>
            </p:cNvSpPr>
            <p:nvPr/>
          </p:nvSpPr>
          <p:spPr>
            <a:xfrm>
              <a:off x="2658" y="2565"/>
              <a:ext cx="66" cy="28"/>
            </a:xfrm>
            <a:custGeom>
              <a:avLst/>
              <a:gdLst>
                <a:gd name="txL" fmla="*/ 0 w 54"/>
                <a:gd name="txT" fmla="*/ 0 h 24"/>
                <a:gd name="txR" fmla="*/ 54 w 54"/>
                <a:gd name="txB" fmla="*/ 24 h 24"/>
              </a:gdLst>
              <a:ahLst/>
              <a:cxnLst>
                <a:cxn ang="0">
                  <a:pos x="0" y="1869"/>
                </a:cxn>
                <a:cxn ang="0">
                  <a:pos x="14961" y="0"/>
                </a:cxn>
                <a:cxn ang="0">
                  <a:pos x="0" y="1869"/>
                </a:cxn>
                <a:cxn ang="0">
                  <a:pos x="0" y="1869"/>
                </a:cxn>
                <a:cxn ang="0">
                  <a:pos x="0" y="1869"/>
                </a:cxn>
                <a:cxn ang="0">
                  <a:pos x="0" y="1869"/>
                </a:cxn>
                <a:cxn ang="0">
                  <a:pos x="0" y="1869"/>
                </a:cxn>
              </a:cxnLst>
              <a:rect l="txL" t="txT" r="txR" b="txB"/>
              <a:pathLst>
                <a:path w="54" h="24">
                  <a:moveTo>
                    <a:pt x="0" y="24"/>
                  </a:moveTo>
                  <a:lnTo>
                    <a:pt x="54"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68" name="Freeform 57"/>
            <p:cNvSpPr>
              <a:spLocks noChangeAspect="1" noEditPoints="1"/>
            </p:cNvSpPr>
            <p:nvPr/>
          </p:nvSpPr>
          <p:spPr>
            <a:xfrm>
              <a:off x="2724" y="2530"/>
              <a:ext cx="66" cy="35"/>
            </a:xfrm>
            <a:custGeom>
              <a:avLst/>
              <a:gdLst>
                <a:gd name="txL" fmla="*/ 0 w 54"/>
                <a:gd name="txT" fmla="*/ 0 h 30"/>
                <a:gd name="txR" fmla="*/ 54 w 54"/>
                <a:gd name="txB" fmla="*/ 30 h 30"/>
              </a:gdLst>
              <a:ahLst/>
              <a:cxnLst>
                <a:cxn ang="0">
                  <a:pos x="0" y="2280"/>
                </a:cxn>
                <a:cxn ang="0">
                  <a:pos x="14961" y="0"/>
                </a:cxn>
                <a:cxn ang="0">
                  <a:pos x="0" y="2280"/>
                </a:cxn>
                <a:cxn ang="0">
                  <a:pos x="0" y="2280"/>
                </a:cxn>
                <a:cxn ang="0">
                  <a:pos x="0" y="2280"/>
                </a:cxn>
                <a:cxn ang="0">
                  <a:pos x="0" y="2280"/>
                </a:cxn>
                <a:cxn ang="0">
                  <a:pos x="0" y="2280"/>
                </a:cxn>
              </a:cxnLst>
              <a:rect l="txL" t="txT" r="txR" b="txB"/>
              <a:pathLst>
                <a:path w="54" h="30">
                  <a:moveTo>
                    <a:pt x="0" y="30"/>
                  </a:moveTo>
                  <a:lnTo>
                    <a:pt x="54"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69" name="Freeform 58"/>
            <p:cNvSpPr>
              <a:spLocks noChangeAspect="1" noEditPoints="1"/>
            </p:cNvSpPr>
            <p:nvPr/>
          </p:nvSpPr>
          <p:spPr>
            <a:xfrm>
              <a:off x="2724" y="2502"/>
              <a:ext cx="66" cy="28"/>
            </a:xfrm>
            <a:custGeom>
              <a:avLst/>
              <a:gdLst>
                <a:gd name="txL" fmla="*/ 0 w 54"/>
                <a:gd name="txT" fmla="*/ 0 h 24"/>
                <a:gd name="txR" fmla="*/ 54 w 54"/>
                <a:gd name="txB" fmla="*/ 24 h 24"/>
              </a:gdLst>
              <a:ahLst/>
              <a:cxnLst>
                <a:cxn ang="0">
                  <a:pos x="14961" y="1869"/>
                </a:cxn>
                <a:cxn ang="0">
                  <a:pos x="0" y="0"/>
                </a:cxn>
                <a:cxn ang="0">
                  <a:pos x="14961" y="1869"/>
                </a:cxn>
                <a:cxn ang="0">
                  <a:pos x="14961" y="1869"/>
                </a:cxn>
                <a:cxn ang="0">
                  <a:pos x="14961" y="1869"/>
                </a:cxn>
                <a:cxn ang="0">
                  <a:pos x="14961" y="1869"/>
                </a:cxn>
                <a:cxn ang="0">
                  <a:pos x="14961" y="1869"/>
                </a:cxn>
              </a:cxnLst>
              <a:rect l="txL" t="txT" r="txR" b="txB"/>
              <a:pathLst>
                <a:path w="54" h="24">
                  <a:moveTo>
                    <a:pt x="54" y="24"/>
                  </a:moveTo>
                  <a:lnTo>
                    <a:pt x="0" y="0"/>
                  </a:lnTo>
                  <a:lnTo>
                    <a:pt x="54" y="24"/>
                  </a:lnTo>
                  <a:close/>
                  <a:moveTo>
                    <a:pt x="54" y="24"/>
                  </a:moveTo>
                  <a:lnTo>
                    <a:pt x="54"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70" name="Freeform 59"/>
            <p:cNvSpPr>
              <a:spLocks noChangeAspect="1"/>
            </p:cNvSpPr>
            <p:nvPr/>
          </p:nvSpPr>
          <p:spPr>
            <a:xfrm>
              <a:off x="2936" y="2697"/>
              <a:ext cx="79" cy="168"/>
            </a:xfrm>
            <a:custGeom>
              <a:avLst/>
              <a:gdLst>
                <a:gd name="txL" fmla="*/ 0 w 65"/>
                <a:gd name="txT" fmla="*/ 0 h 144"/>
                <a:gd name="txR" fmla="*/ 65 w 65"/>
                <a:gd name="txB" fmla="*/ 144 h 144"/>
              </a:gdLst>
              <a:ahLst/>
              <a:cxnLst>
                <a:cxn ang="0">
                  <a:pos x="4398" y="5382"/>
                </a:cxn>
                <a:cxn ang="0">
                  <a:pos x="6933" y="5865"/>
                </a:cxn>
                <a:cxn ang="0">
                  <a:pos x="9608" y="5865"/>
                </a:cxn>
                <a:cxn ang="0">
                  <a:pos x="12447" y="7287"/>
                </a:cxn>
                <a:cxn ang="0">
                  <a:pos x="12447" y="8114"/>
                </a:cxn>
                <a:cxn ang="0">
                  <a:pos x="11078" y="9426"/>
                </a:cxn>
                <a:cxn ang="0">
                  <a:pos x="9608" y="10374"/>
                </a:cxn>
                <a:cxn ang="0">
                  <a:pos x="6933" y="10374"/>
                </a:cxn>
                <a:cxn ang="0">
                  <a:pos x="4398" y="9949"/>
                </a:cxn>
                <a:cxn ang="0">
                  <a:pos x="1366" y="9426"/>
                </a:cxn>
                <a:cxn ang="0">
                  <a:pos x="0" y="9426"/>
                </a:cxn>
                <a:cxn ang="0">
                  <a:pos x="0" y="9949"/>
                </a:cxn>
                <a:cxn ang="0">
                  <a:pos x="1366" y="10858"/>
                </a:cxn>
                <a:cxn ang="0">
                  <a:pos x="4398" y="10858"/>
                </a:cxn>
                <a:cxn ang="0">
                  <a:pos x="8426" y="10374"/>
                </a:cxn>
                <a:cxn ang="0">
                  <a:pos x="12447" y="9949"/>
                </a:cxn>
                <a:cxn ang="0">
                  <a:pos x="13998" y="8547"/>
                </a:cxn>
                <a:cxn ang="0">
                  <a:pos x="15344" y="7287"/>
                </a:cxn>
                <a:cxn ang="0">
                  <a:pos x="15344" y="6279"/>
                </a:cxn>
                <a:cxn ang="0">
                  <a:pos x="13998" y="5382"/>
                </a:cxn>
                <a:cxn ang="0">
                  <a:pos x="9608" y="4548"/>
                </a:cxn>
                <a:cxn ang="0">
                  <a:pos x="12447" y="3620"/>
                </a:cxn>
                <a:cxn ang="0">
                  <a:pos x="13998" y="2280"/>
                </a:cxn>
                <a:cxn ang="0">
                  <a:pos x="13998" y="1869"/>
                </a:cxn>
                <a:cxn ang="0">
                  <a:pos x="12447" y="904"/>
                </a:cxn>
                <a:cxn ang="0">
                  <a:pos x="11078" y="429"/>
                </a:cxn>
                <a:cxn ang="0">
                  <a:pos x="8426" y="0"/>
                </a:cxn>
                <a:cxn ang="0">
                  <a:pos x="4398" y="904"/>
                </a:cxn>
                <a:cxn ang="0">
                  <a:pos x="0" y="2713"/>
                </a:cxn>
                <a:cxn ang="0">
                  <a:pos x="0" y="2713"/>
                </a:cxn>
                <a:cxn ang="0">
                  <a:pos x="2978" y="1869"/>
                </a:cxn>
                <a:cxn ang="0">
                  <a:pos x="6933" y="1381"/>
                </a:cxn>
                <a:cxn ang="0">
                  <a:pos x="9608" y="1869"/>
                </a:cxn>
                <a:cxn ang="0">
                  <a:pos x="11078" y="2713"/>
                </a:cxn>
                <a:cxn ang="0">
                  <a:pos x="9608" y="4548"/>
                </a:cxn>
                <a:cxn ang="0">
                  <a:pos x="4398" y="5382"/>
                </a:cxn>
                <a:cxn ang="0">
                  <a:pos x="4398" y="5382"/>
                </a:cxn>
              </a:cxnLst>
              <a:rect l="txL" t="txT" r="txR" b="txB"/>
              <a:pathLst>
                <a:path w="65" h="144">
                  <a:moveTo>
                    <a:pt x="18" y="72"/>
                  </a:moveTo>
                  <a:lnTo>
                    <a:pt x="30" y="78"/>
                  </a:lnTo>
                  <a:lnTo>
                    <a:pt x="41" y="78"/>
                  </a:lnTo>
                  <a:lnTo>
                    <a:pt x="53" y="96"/>
                  </a:lnTo>
                  <a:lnTo>
                    <a:pt x="53" y="108"/>
                  </a:lnTo>
                  <a:lnTo>
                    <a:pt x="47" y="126"/>
                  </a:lnTo>
                  <a:lnTo>
                    <a:pt x="41" y="138"/>
                  </a:lnTo>
                  <a:lnTo>
                    <a:pt x="30" y="138"/>
                  </a:lnTo>
                  <a:lnTo>
                    <a:pt x="18" y="132"/>
                  </a:lnTo>
                  <a:lnTo>
                    <a:pt x="6" y="126"/>
                  </a:lnTo>
                  <a:lnTo>
                    <a:pt x="0" y="126"/>
                  </a:lnTo>
                  <a:lnTo>
                    <a:pt x="0" y="132"/>
                  </a:lnTo>
                  <a:lnTo>
                    <a:pt x="6" y="144"/>
                  </a:lnTo>
                  <a:lnTo>
                    <a:pt x="18" y="144"/>
                  </a:lnTo>
                  <a:lnTo>
                    <a:pt x="36" y="138"/>
                  </a:lnTo>
                  <a:lnTo>
                    <a:pt x="53" y="132"/>
                  </a:lnTo>
                  <a:lnTo>
                    <a:pt x="59" y="114"/>
                  </a:lnTo>
                  <a:lnTo>
                    <a:pt x="65" y="96"/>
                  </a:lnTo>
                  <a:lnTo>
                    <a:pt x="65" y="84"/>
                  </a:lnTo>
                  <a:lnTo>
                    <a:pt x="59" y="72"/>
                  </a:lnTo>
                  <a:lnTo>
                    <a:pt x="41" y="60"/>
                  </a:lnTo>
                  <a:lnTo>
                    <a:pt x="53" y="48"/>
                  </a:lnTo>
                  <a:lnTo>
                    <a:pt x="59" y="30"/>
                  </a:lnTo>
                  <a:lnTo>
                    <a:pt x="59" y="24"/>
                  </a:lnTo>
                  <a:lnTo>
                    <a:pt x="53" y="12"/>
                  </a:lnTo>
                  <a:lnTo>
                    <a:pt x="47" y="6"/>
                  </a:lnTo>
                  <a:lnTo>
                    <a:pt x="36" y="0"/>
                  </a:lnTo>
                  <a:lnTo>
                    <a:pt x="18" y="12"/>
                  </a:lnTo>
                  <a:lnTo>
                    <a:pt x="0" y="36"/>
                  </a:lnTo>
                  <a:lnTo>
                    <a:pt x="12" y="24"/>
                  </a:lnTo>
                  <a:lnTo>
                    <a:pt x="30" y="18"/>
                  </a:lnTo>
                  <a:lnTo>
                    <a:pt x="41" y="24"/>
                  </a:lnTo>
                  <a:lnTo>
                    <a:pt x="47" y="36"/>
                  </a:lnTo>
                  <a:lnTo>
                    <a:pt x="41" y="60"/>
                  </a:lnTo>
                  <a:lnTo>
                    <a:pt x="18" y="7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71" name="Freeform 60"/>
            <p:cNvSpPr>
              <a:spLocks noChangeAspect="1"/>
            </p:cNvSpPr>
            <p:nvPr/>
          </p:nvSpPr>
          <p:spPr>
            <a:xfrm>
              <a:off x="3088" y="2697"/>
              <a:ext cx="153" cy="168"/>
            </a:xfrm>
            <a:custGeom>
              <a:avLst/>
              <a:gdLst>
                <a:gd name="txL" fmla="*/ 0 w 126"/>
                <a:gd name="txT" fmla="*/ 0 h 144"/>
                <a:gd name="txR" fmla="*/ 126 w 126"/>
                <a:gd name="txB" fmla="*/ 144 h 144"/>
              </a:gdLst>
              <a:ahLst/>
              <a:cxnLst>
                <a:cxn ang="0">
                  <a:pos x="10926" y="8547"/>
                </a:cxn>
                <a:cxn ang="0">
                  <a:pos x="9683" y="8114"/>
                </a:cxn>
                <a:cxn ang="0">
                  <a:pos x="8252" y="7641"/>
                </a:cxn>
                <a:cxn ang="0">
                  <a:pos x="6796" y="6728"/>
                </a:cxn>
                <a:cxn ang="0">
                  <a:pos x="5526" y="5382"/>
                </a:cxn>
                <a:cxn ang="0">
                  <a:pos x="5526" y="3957"/>
                </a:cxn>
                <a:cxn ang="0">
                  <a:pos x="6796" y="2713"/>
                </a:cxn>
                <a:cxn ang="0">
                  <a:pos x="8252" y="1381"/>
                </a:cxn>
                <a:cxn ang="0">
                  <a:pos x="10926" y="904"/>
                </a:cxn>
                <a:cxn ang="0">
                  <a:pos x="13795" y="429"/>
                </a:cxn>
                <a:cxn ang="0">
                  <a:pos x="17940" y="904"/>
                </a:cxn>
                <a:cxn ang="0">
                  <a:pos x="20615" y="1381"/>
                </a:cxn>
                <a:cxn ang="0">
                  <a:pos x="22016" y="2713"/>
                </a:cxn>
                <a:cxn ang="0">
                  <a:pos x="23506" y="3957"/>
                </a:cxn>
                <a:cxn ang="0">
                  <a:pos x="23506" y="5382"/>
                </a:cxn>
                <a:cxn ang="0">
                  <a:pos x="22016" y="6728"/>
                </a:cxn>
                <a:cxn ang="0">
                  <a:pos x="20615" y="7641"/>
                </a:cxn>
                <a:cxn ang="0">
                  <a:pos x="20615" y="8114"/>
                </a:cxn>
                <a:cxn ang="0">
                  <a:pos x="17940" y="8547"/>
                </a:cxn>
                <a:cxn ang="0">
                  <a:pos x="16591" y="10858"/>
                </a:cxn>
                <a:cxn ang="0">
                  <a:pos x="28957" y="10858"/>
                </a:cxn>
                <a:cxn ang="0">
                  <a:pos x="28957" y="8114"/>
                </a:cxn>
                <a:cxn ang="0">
                  <a:pos x="27618" y="8114"/>
                </a:cxn>
                <a:cxn ang="0">
                  <a:pos x="27618" y="8982"/>
                </a:cxn>
                <a:cxn ang="0">
                  <a:pos x="24700" y="8982"/>
                </a:cxn>
                <a:cxn ang="0">
                  <a:pos x="19358" y="8982"/>
                </a:cxn>
                <a:cxn ang="0">
                  <a:pos x="19358" y="8547"/>
                </a:cxn>
                <a:cxn ang="0">
                  <a:pos x="23506" y="8114"/>
                </a:cxn>
                <a:cxn ang="0">
                  <a:pos x="26119" y="7287"/>
                </a:cxn>
                <a:cxn ang="0">
                  <a:pos x="27618" y="5865"/>
                </a:cxn>
                <a:cxn ang="0">
                  <a:pos x="27618" y="4548"/>
                </a:cxn>
                <a:cxn ang="0">
                  <a:pos x="26119" y="2280"/>
                </a:cxn>
                <a:cxn ang="0">
                  <a:pos x="24700" y="1381"/>
                </a:cxn>
                <a:cxn ang="0">
                  <a:pos x="22016" y="904"/>
                </a:cxn>
                <a:cxn ang="0">
                  <a:pos x="17940" y="429"/>
                </a:cxn>
                <a:cxn ang="0">
                  <a:pos x="13795" y="0"/>
                </a:cxn>
                <a:cxn ang="0">
                  <a:pos x="10926" y="429"/>
                </a:cxn>
                <a:cxn ang="0">
                  <a:pos x="6796" y="904"/>
                </a:cxn>
                <a:cxn ang="0">
                  <a:pos x="5526" y="1381"/>
                </a:cxn>
                <a:cxn ang="0">
                  <a:pos x="2891" y="2280"/>
                </a:cxn>
                <a:cxn ang="0">
                  <a:pos x="1360" y="4548"/>
                </a:cxn>
                <a:cxn ang="0">
                  <a:pos x="1360" y="5865"/>
                </a:cxn>
                <a:cxn ang="0">
                  <a:pos x="2891" y="7287"/>
                </a:cxn>
                <a:cxn ang="0">
                  <a:pos x="6796" y="8114"/>
                </a:cxn>
                <a:cxn ang="0">
                  <a:pos x="9683" y="8547"/>
                </a:cxn>
                <a:cxn ang="0">
                  <a:pos x="9683" y="8982"/>
                </a:cxn>
                <a:cxn ang="0">
                  <a:pos x="4262" y="8982"/>
                </a:cxn>
                <a:cxn ang="0">
                  <a:pos x="1360" y="8982"/>
                </a:cxn>
                <a:cxn ang="0">
                  <a:pos x="1360" y="8114"/>
                </a:cxn>
                <a:cxn ang="0">
                  <a:pos x="0" y="8114"/>
                </a:cxn>
                <a:cxn ang="0">
                  <a:pos x="0" y="10858"/>
                </a:cxn>
                <a:cxn ang="0">
                  <a:pos x="12446" y="10858"/>
                </a:cxn>
                <a:cxn ang="0">
                  <a:pos x="10926" y="8547"/>
                </a:cxn>
              </a:cxnLst>
              <a:rect l="txL" t="txT" r="txR" b="txB"/>
              <a:pathLst>
                <a:path w="126" h="144">
                  <a:moveTo>
                    <a:pt x="48" y="114"/>
                  </a:moveTo>
                  <a:lnTo>
                    <a:pt x="42" y="108"/>
                  </a:lnTo>
                  <a:lnTo>
                    <a:pt x="36" y="102"/>
                  </a:lnTo>
                  <a:lnTo>
                    <a:pt x="30" y="90"/>
                  </a:lnTo>
                  <a:lnTo>
                    <a:pt x="24" y="72"/>
                  </a:lnTo>
                  <a:lnTo>
                    <a:pt x="24" y="54"/>
                  </a:lnTo>
                  <a:lnTo>
                    <a:pt x="30" y="36"/>
                  </a:lnTo>
                  <a:lnTo>
                    <a:pt x="36" y="18"/>
                  </a:lnTo>
                  <a:lnTo>
                    <a:pt x="48" y="12"/>
                  </a:lnTo>
                  <a:lnTo>
                    <a:pt x="60" y="6"/>
                  </a:lnTo>
                  <a:lnTo>
                    <a:pt x="78" y="12"/>
                  </a:lnTo>
                  <a:lnTo>
                    <a:pt x="90" y="18"/>
                  </a:lnTo>
                  <a:lnTo>
                    <a:pt x="96" y="36"/>
                  </a:lnTo>
                  <a:lnTo>
                    <a:pt x="102" y="54"/>
                  </a:lnTo>
                  <a:lnTo>
                    <a:pt x="102" y="72"/>
                  </a:lnTo>
                  <a:lnTo>
                    <a:pt x="96" y="90"/>
                  </a:lnTo>
                  <a:lnTo>
                    <a:pt x="90" y="102"/>
                  </a:lnTo>
                  <a:lnTo>
                    <a:pt x="90" y="108"/>
                  </a:lnTo>
                  <a:lnTo>
                    <a:pt x="78" y="114"/>
                  </a:lnTo>
                  <a:lnTo>
                    <a:pt x="72" y="144"/>
                  </a:lnTo>
                  <a:lnTo>
                    <a:pt x="126" y="144"/>
                  </a:lnTo>
                  <a:lnTo>
                    <a:pt x="126" y="108"/>
                  </a:lnTo>
                  <a:lnTo>
                    <a:pt x="120" y="108"/>
                  </a:lnTo>
                  <a:lnTo>
                    <a:pt x="120" y="120"/>
                  </a:lnTo>
                  <a:lnTo>
                    <a:pt x="108" y="120"/>
                  </a:lnTo>
                  <a:lnTo>
                    <a:pt x="84" y="120"/>
                  </a:lnTo>
                  <a:lnTo>
                    <a:pt x="84" y="114"/>
                  </a:lnTo>
                  <a:lnTo>
                    <a:pt x="102" y="108"/>
                  </a:lnTo>
                  <a:lnTo>
                    <a:pt x="114" y="96"/>
                  </a:lnTo>
                  <a:lnTo>
                    <a:pt x="120" y="78"/>
                  </a:lnTo>
                  <a:lnTo>
                    <a:pt x="120" y="60"/>
                  </a:lnTo>
                  <a:lnTo>
                    <a:pt x="114" y="30"/>
                  </a:lnTo>
                  <a:lnTo>
                    <a:pt x="108" y="18"/>
                  </a:lnTo>
                  <a:lnTo>
                    <a:pt x="96" y="12"/>
                  </a:lnTo>
                  <a:lnTo>
                    <a:pt x="78" y="6"/>
                  </a:lnTo>
                  <a:lnTo>
                    <a:pt x="60" y="0"/>
                  </a:lnTo>
                  <a:lnTo>
                    <a:pt x="48" y="6"/>
                  </a:lnTo>
                  <a:lnTo>
                    <a:pt x="30" y="12"/>
                  </a:lnTo>
                  <a:lnTo>
                    <a:pt x="24" y="18"/>
                  </a:lnTo>
                  <a:lnTo>
                    <a:pt x="12" y="30"/>
                  </a:lnTo>
                  <a:lnTo>
                    <a:pt x="6" y="60"/>
                  </a:lnTo>
                  <a:lnTo>
                    <a:pt x="6" y="78"/>
                  </a:lnTo>
                  <a:lnTo>
                    <a:pt x="12" y="96"/>
                  </a:lnTo>
                  <a:lnTo>
                    <a:pt x="30" y="108"/>
                  </a:lnTo>
                  <a:lnTo>
                    <a:pt x="42" y="114"/>
                  </a:lnTo>
                  <a:lnTo>
                    <a:pt x="42" y="120"/>
                  </a:lnTo>
                  <a:lnTo>
                    <a:pt x="18" y="120"/>
                  </a:lnTo>
                  <a:lnTo>
                    <a:pt x="6" y="120"/>
                  </a:lnTo>
                  <a:lnTo>
                    <a:pt x="6" y="108"/>
                  </a:lnTo>
                  <a:lnTo>
                    <a:pt x="0" y="108"/>
                  </a:lnTo>
                  <a:lnTo>
                    <a:pt x="0" y="144"/>
                  </a:lnTo>
                  <a:lnTo>
                    <a:pt x="54" y="144"/>
                  </a:lnTo>
                  <a:lnTo>
                    <a:pt x="48" y="11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472" name="Freeform 61"/>
            <p:cNvSpPr>
              <a:spLocks noChangeAspect="1"/>
            </p:cNvSpPr>
            <p:nvPr/>
          </p:nvSpPr>
          <p:spPr>
            <a:xfrm>
              <a:off x="3365" y="2969"/>
              <a:ext cx="57" cy="35"/>
            </a:xfrm>
            <a:custGeom>
              <a:avLst/>
              <a:gdLst>
                <a:gd name="txL" fmla="*/ 0 w 47"/>
                <a:gd name="txT" fmla="*/ 0 h 30"/>
                <a:gd name="txR" fmla="*/ 47 w 47"/>
                <a:gd name="txB" fmla="*/ 30 h 30"/>
              </a:gdLst>
              <a:ahLst/>
              <a:cxnLst>
                <a:cxn ang="0">
                  <a:pos x="10471" y="2280"/>
                </a:cxn>
                <a:cxn ang="0">
                  <a:pos x="0" y="0"/>
                </a:cxn>
                <a:cxn ang="0">
                  <a:pos x="10471" y="2280"/>
                </a:cxn>
                <a:cxn ang="0">
                  <a:pos x="10471" y="2280"/>
                </a:cxn>
              </a:cxnLst>
              <a:rect l="txL" t="txT" r="txR" b="txB"/>
              <a:pathLst>
                <a:path w="47" h="30">
                  <a:moveTo>
                    <a:pt x="47" y="30"/>
                  </a:moveTo>
                  <a:lnTo>
                    <a:pt x="0" y="0"/>
                  </a:lnTo>
                  <a:lnTo>
                    <a:pt x="47"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73" name="Freeform 62"/>
            <p:cNvSpPr>
              <a:spLocks noChangeAspect="1" noEditPoints="1"/>
            </p:cNvSpPr>
            <p:nvPr/>
          </p:nvSpPr>
          <p:spPr>
            <a:xfrm>
              <a:off x="3365" y="2941"/>
              <a:ext cx="57" cy="28"/>
            </a:xfrm>
            <a:custGeom>
              <a:avLst/>
              <a:gdLst>
                <a:gd name="txL" fmla="*/ 0 w 47"/>
                <a:gd name="txT" fmla="*/ 0 h 24"/>
                <a:gd name="txR" fmla="*/ 47 w 47"/>
                <a:gd name="txB" fmla="*/ 24 h 24"/>
              </a:gdLst>
              <a:ahLst/>
              <a:cxnLst>
                <a:cxn ang="0">
                  <a:pos x="0" y="1869"/>
                </a:cxn>
                <a:cxn ang="0">
                  <a:pos x="10471" y="0"/>
                </a:cxn>
                <a:cxn ang="0">
                  <a:pos x="0" y="1869"/>
                </a:cxn>
                <a:cxn ang="0">
                  <a:pos x="0" y="1869"/>
                </a:cxn>
                <a:cxn ang="0">
                  <a:pos x="0" y="1869"/>
                </a:cxn>
                <a:cxn ang="0">
                  <a:pos x="0" y="1869"/>
                </a:cxn>
                <a:cxn ang="0">
                  <a:pos x="0" y="1869"/>
                </a:cxn>
              </a:cxnLst>
              <a:rect l="txL" t="txT" r="txR" b="txB"/>
              <a:pathLst>
                <a:path w="47" h="24">
                  <a:moveTo>
                    <a:pt x="0" y="24"/>
                  </a:moveTo>
                  <a:lnTo>
                    <a:pt x="47"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74" name="Freeform 63"/>
            <p:cNvSpPr>
              <a:spLocks noChangeAspect="1" noEditPoints="1"/>
            </p:cNvSpPr>
            <p:nvPr/>
          </p:nvSpPr>
          <p:spPr>
            <a:xfrm>
              <a:off x="3422" y="2906"/>
              <a:ext cx="66" cy="35"/>
            </a:xfrm>
            <a:custGeom>
              <a:avLst/>
              <a:gdLst>
                <a:gd name="txL" fmla="*/ 0 w 54"/>
                <a:gd name="txT" fmla="*/ 0 h 30"/>
                <a:gd name="txR" fmla="*/ 54 w 54"/>
                <a:gd name="txB" fmla="*/ 30 h 30"/>
              </a:gdLst>
              <a:ahLst/>
              <a:cxnLst>
                <a:cxn ang="0">
                  <a:pos x="0" y="2280"/>
                </a:cxn>
                <a:cxn ang="0">
                  <a:pos x="14961" y="0"/>
                </a:cxn>
                <a:cxn ang="0">
                  <a:pos x="0" y="2280"/>
                </a:cxn>
                <a:cxn ang="0">
                  <a:pos x="0" y="2280"/>
                </a:cxn>
                <a:cxn ang="0">
                  <a:pos x="0" y="2280"/>
                </a:cxn>
                <a:cxn ang="0">
                  <a:pos x="0" y="2280"/>
                </a:cxn>
                <a:cxn ang="0">
                  <a:pos x="0" y="2280"/>
                </a:cxn>
              </a:cxnLst>
              <a:rect l="txL" t="txT" r="txR" b="txB"/>
              <a:pathLst>
                <a:path w="54" h="30">
                  <a:moveTo>
                    <a:pt x="0" y="30"/>
                  </a:moveTo>
                  <a:lnTo>
                    <a:pt x="54"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75" name="Freeform 64"/>
            <p:cNvSpPr>
              <a:spLocks noChangeAspect="1" noEditPoints="1"/>
            </p:cNvSpPr>
            <p:nvPr/>
          </p:nvSpPr>
          <p:spPr>
            <a:xfrm>
              <a:off x="3422" y="2878"/>
              <a:ext cx="66" cy="28"/>
            </a:xfrm>
            <a:custGeom>
              <a:avLst/>
              <a:gdLst>
                <a:gd name="txL" fmla="*/ 0 w 54"/>
                <a:gd name="txT" fmla="*/ 0 h 24"/>
                <a:gd name="txR" fmla="*/ 54 w 54"/>
                <a:gd name="txB" fmla="*/ 24 h 24"/>
              </a:gdLst>
              <a:ahLst/>
              <a:cxnLst>
                <a:cxn ang="0">
                  <a:pos x="14961" y="1869"/>
                </a:cxn>
                <a:cxn ang="0">
                  <a:pos x="0" y="0"/>
                </a:cxn>
                <a:cxn ang="0">
                  <a:pos x="14961" y="1869"/>
                </a:cxn>
                <a:cxn ang="0">
                  <a:pos x="14961" y="1869"/>
                </a:cxn>
                <a:cxn ang="0">
                  <a:pos x="14961" y="1869"/>
                </a:cxn>
                <a:cxn ang="0">
                  <a:pos x="14961" y="1869"/>
                </a:cxn>
                <a:cxn ang="0">
                  <a:pos x="14961" y="1869"/>
                </a:cxn>
              </a:cxnLst>
              <a:rect l="txL" t="txT" r="txR" b="txB"/>
              <a:pathLst>
                <a:path w="54" h="24">
                  <a:moveTo>
                    <a:pt x="54" y="24"/>
                  </a:moveTo>
                  <a:lnTo>
                    <a:pt x="0" y="0"/>
                  </a:lnTo>
                  <a:lnTo>
                    <a:pt x="54" y="24"/>
                  </a:lnTo>
                  <a:close/>
                  <a:moveTo>
                    <a:pt x="54" y="24"/>
                  </a:moveTo>
                  <a:lnTo>
                    <a:pt x="54"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76" name="Freeform 65"/>
            <p:cNvSpPr>
              <a:spLocks noChangeAspect="1" noEditPoints="1"/>
            </p:cNvSpPr>
            <p:nvPr/>
          </p:nvSpPr>
          <p:spPr>
            <a:xfrm>
              <a:off x="3422" y="2878"/>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77" name="Freeform 66"/>
            <p:cNvSpPr>
              <a:spLocks noChangeAspect="1" noEditPoints="1"/>
            </p:cNvSpPr>
            <p:nvPr/>
          </p:nvSpPr>
          <p:spPr>
            <a:xfrm>
              <a:off x="3365" y="2844"/>
              <a:ext cx="57" cy="34"/>
            </a:xfrm>
            <a:custGeom>
              <a:avLst/>
              <a:gdLst>
                <a:gd name="txL" fmla="*/ 0 w 47"/>
                <a:gd name="txT" fmla="*/ 0 h 29"/>
                <a:gd name="txR" fmla="*/ 47 w 47"/>
                <a:gd name="txB" fmla="*/ 29 h 29"/>
              </a:gdLst>
              <a:ahLst/>
              <a:cxnLst>
                <a:cxn ang="0">
                  <a:pos x="10471" y="2477"/>
                </a:cxn>
                <a:cxn ang="0">
                  <a:pos x="0" y="0"/>
                </a:cxn>
                <a:cxn ang="0">
                  <a:pos x="10471" y="2477"/>
                </a:cxn>
                <a:cxn ang="0">
                  <a:pos x="10471" y="2477"/>
                </a:cxn>
                <a:cxn ang="0">
                  <a:pos x="10471" y="2477"/>
                </a:cxn>
                <a:cxn ang="0">
                  <a:pos x="10471" y="2477"/>
                </a:cxn>
                <a:cxn ang="0">
                  <a:pos x="10471" y="2477"/>
                </a:cxn>
              </a:cxnLst>
              <a:rect l="txL" t="txT" r="txR" b="txB"/>
              <a:pathLst>
                <a:path w="47" h="29">
                  <a:moveTo>
                    <a:pt x="47" y="29"/>
                  </a:moveTo>
                  <a:lnTo>
                    <a:pt x="0" y="0"/>
                  </a:lnTo>
                  <a:lnTo>
                    <a:pt x="47" y="29"/>
                  </a:lnTo>
                  <a:close/>
                  <a:moveTo>
                    <a:pt x="47" y="29"/>
                  </a:moveTo>
                  <a:lnTo>
                    <a:pt x="47" y="2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78" name="Freeform 67"/>
            <p:cNvSpPr>
              <a:spLocks noChangeAspect="1" noEditPoints="1"/>
            </p:cNvSpPr>
            <p:nvPr/>
          </p:nvSpPr>
          <p:spPr>
            <a:xfrm>
              <a:off x="3365" y="2816"/>
              <a:ext cx="57" cy="28"/>
            </a:xfrm>
            <a:custGeom>
              <a:avLst/>
              <a:gdLst>
                <a:gd name="txL" fmla="*/ 0 w 47"/>
                <a:gd name="txT" fmla="*/ 0 h 24"/>
                <a:gd name="txR" fmla="*/ 47 w 47"/>
                <a:gd name="txB" fmla="*/ 24 h 24"/>
              </a:gdLst>
              <a:ahLst/>
              <a:cxnLst>
                <a:cxn ang="0">
                  <a:pos x="0" y="1869"/>
                </a:cxn>
                <a:cxn ang="0">
                  <a:pos x="10471" y="0"/>
                </a:cxn>
                <a:cxn ang="0">
                  <a:pos x="0" y="1869"/>
                </a:cxn>
                <a:cxn ang="0">
                  <a:pos x="0" y="1869"/>
                </a:cxn>
                <a:cxn ang="0">
                  <a:pos x="0" y="1869"/>
                </a:cxn>
                <a:cxn ang="0">
                  <a:pos x="0" y="1869"/>
                </a:cxn>
                <a:cxn ang="0">
                  <a:pos x="0" y="1869"/>
                </a:cxn>
              </a:cxnLst>
              <a:rect l="txL" t="txT" r="txR" b="txB"/>
              <a:pathLst>
                <a:path w="47" h="24">
                  <a:moveTo>
                    <a:pt x="0" y="24"/>
                  </a:moveTo>
                  <a:lnTo>
                    <a:pt x="47"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79" name="Freeform 68"/>
            <p:cNvSpPr>
              <a:spLocks noChangeAspect="1" noEditPoints="1"/>
            </p:cNvSpPr>
            <p:nvPr/>
          </p:nvSpPr>
          <p:spPr>
            <a:xfrm>
              <a:off x="3422" y="2781"/>
              <a:ext cx="66" cy="35"/>
            </a:xfrm>
            <a:custGeom>
              <a:avLst/>
              <a:gdLst>
                <a:gd name="txL" fmla="*/ 0 w 54"/>
                <a:gd name="txT" fmla="*/ 0 h 30"/>
                <a:gd name="txR" fmla="*/ 54 w 54"/>
                <a:gd name="txB" fmla="*/ 30 h 30"/>
              </a:gdLst>
              <a:ahLst/>
              <a:cxnLst>
                <a:cxn ang="0">
                  <a:pos x="0" y="2280"/>
                </a:cxn>
                <a:cxn ang="0">
                  <a:pos x="14961" y="0"/>
                </a:cxn>
                <a:cxn ang="0">
                  <a:pos x="0" y="2280"/>
                </a:cxn>
                <a:cxn ang="0">
                  <a:pos x="0" y="2280"/>
                </a:cxn>
                <a:cxn ang="0">
                  <a:pos x="0" y="2280"/>
                </a:cxn>
                <a:cxn ang="0">
                  <a:pos x="0" y="2280"/>
                </a:cxn>
                <a:cxn ang="0">
                  <a:pos x="0" y="2280"/>
                </a:cxn>
              </a:cxnLst>
              <a:rect l="txL" t="txT" r="txR" b="txB"/>
              <a:pathLst>
                <a:path w="54" h="30">
                  <a:moveTo>
                    <a:pt x="0" y="30"/>
                  </a:moveTo>
                  <a:lnTo>
                    <a:pt x="54"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80" name="Freeform 69"/>
            <p:cNvSpPr>
              <a:spLocks noChangeAspect="1" noEditPoints="1"/>
            </p:cNvSpPr>
            <p:nvPr/>
          </p:nvSpPr>
          <p:spPr>
            <a:xfrm>
              <a:off x="3422" y="2753"/>
              <a:ext cx="66" cy="28"/>
            </a:xfrm>
            <a:custGeom>
              <a:avLst/>
              <a:gdLst>
                <a:gd name="txL" fmla="*/ 0 w 54"/>
                <a:gd name="txT" fmla="*/ 0 h 24"/>
                <a:gd name="txR" fmla="*/ 54 w 54"/>
                <a:gd name="txB" fmla="*/ 24 h 24"/>
              </a:gdLst>
              <a:ahLst/>
              <a:cxnLst>
                <a:cxn ang="0">
                  <a:pos x="14961" y="1869"/>
                </a:cxn>
                <a:cxn ang="0">
                  <a:pos x="0" y="0"/>
                </a:cxn>
                <a:cxn ang="0">
                  <a:pos x="14961" y="1869"/>
                </a:cxn>
                <a:cxn ang="0">
                  <a:pos x="14961" y="1869"/>
                </a:cxn>
                <a:cxn ang="0">
                  <a:pos x="14961" y="1869"/>
                </a:cxn>
                <a:cxn ang="0">
                  <a:pos x="14961" y="1869"/>
                </a:cxn>
                <a:cxn ang="0">
                  <a:pos x="14961" y="1869"/>
                </a:cxn>
              </a:cxnLst>
              <a:rect l="txL" t="txT" r="txR" b="txB"/>
              <a:pathLst>
                <a:path w="54" h="24">
                  <a:moveTo>
                    <a:pt x="54" y="24"/>
                  </a:moveTo>
                  <a:lnTo>
                    <a:pt x="0" y="0"/>
                  </a:lnTo>
                  <a:lnTo>
                    <a:pt x="54" y="24"/>
                  </a:lnTo>
                  <a:close/>
                  <a:moveTo>
                    <a:pt x="54" y="24"/>
                  </a:moveTo>
                  <a:lnTo>
                    <a:pt x="54"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81" name="Freeform 70"/>
            <p:cNvSpPr>
              <a:spLocks noChangeAspect="1" noEditPoints="1"/>
            </p:cNvSpPr>
            <p:nvPr/>
          </p:nvSpPr>
          <p:spPr>
            <a:xfrm>
              <a:off x="3365" y="2718"/>
              <a:ext cx="57" cy="35"/>
            </a:xfrm>
            <a:custGeom>
              <a:avLst/>
              <a:gdLst>
                <a:gd name="txL" fmla="*/ 0 w 47"/>
                <a:gd name="txT" fmla="*/ 0 h 30"/>
                <a:gd name="txR" fmla="*/ 47 w 47"/>
                <a:gd name="txB" fmla="*/ 30 h 30"/>
              </a:gdLst>
              <a:ahLst/>
              <a:cxnLst>
                <a:cxn ang="0">
                  <a:pos x="10471" y="2280"/>
                </a:cxn>
                <a:cxn ang="0">
                  <a:pos x="0" y="0"/>
                </a:cxn>
                <a:cxn ang="0">
                  <a:pos x="10471" y="2280"/>
                </a:cxn>
                <a:cxn ang="0">
                  <a:pos x="10471" y="2280"/>
                </a:cxn>
                <a:cxn ang="0">
                  <a:pos x="10471" y="2280"/>
                </a:cxn>
                <a:cxn ang="0">
                  <a:pos x="10471" y="2280"/>
                </a:cxn>
                <a:cxn ang="0">
                  <a:pos x="10471" y="2280"/>
                </a:cxn>
              </a:cxnLst>
              <a:rect l="txL" t="txT" r="txR" b="txB"/>
              <a:pathLst>
                <a:path w="47" h="30">
                  <a:moveTo>
                    <a:pt x="47" y="30"/>
                  </a:moveTo>
                  <a:lnTo>
                    <a:pt x="0" y="0"/>
                  </a:lnTo>
                  <a:lnTo>
                    <a:pt x="47" y="30"/>
                  </a:lnTo>
                  <a:close/>
                  <a:moveTo>
                    <a:pt x="47" y="30"/>
                  </a:moveTo>
                  <a:lnTo>
                    <a:pt x="47"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82" name="Freeform 71"/>
            <p:cNvSpPr>
              <a:spLocks noChangeAspect="1" noEditPoints="1"/>
            </p:cNvSpPr>
            <p:nvPr/>
          </p:nvSpPr>
          <p:spPr>
            <a:xfrm>
              <a:off x="3365" y="2690"/>
              <a:ext cx="57" cy="28"/>
            </a:xfrm>
            <a:custGeom>
              <a:avLst/>
              <a:gdLst>
                <a:gd name="txL" fmla="*/ 0 w 47"/>
                <a:gd name="txT" fmla="*/ 0 h 24"/>
                <a:gd name="txR" fmla="*/ 47 w 47"/>
                <a:gd name="txB" fmla="*/ 24 h 24"/>
              </a:gdLst>
              <a:ahLst/>
              <a:cxnLst>
                <a:cxn ang="0">
                  <a:pos x="0" y="1869"/>
                </a:cxn>
                <a:cxn ang="0">
                  <a:pos x="10471" y="0"/>
                </a:cxn>
                <a:cxn ang="0">
                  <a:pos x="0" y="1869"/>
                </a:cxn>
                <a:cxn ang="0">
                  <a:pos x="0" y="1869"/>
                </a:cxn>
                <a:cxn ang="0">
                  <a:pos x="0" y="1869"/>
                </a:cxn>
                <a:cxn ang="0">
                  <a:pos x="0" y="1869"/>
                </a:cxn>
                <a:cxn ang="0">
                  <a:pos x="0" y="1869"/>
                </a:cxn>
              </a:cxnLst>
              <a:rect l="txL" t="txT" r="txR" b="txB"/>
              <a:pathLst>
                <a:path w="47" h="24">
                  <a:moveTo>
                    <a:pt x="0" y="24"/>
                  </a:moveTo>
                  <a:lnTo>
                    <a:pt x="47"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83" name="Freeform 72"/>
            <p:cNvSpPr>
              <a:spLocks noChangeAspect="1" noEditPoints="1"/>
            </p:cNvSpPr>
            <p:nvPr/>
          </p:nvSpPr>
          <p:spPr>
            <a:xfrm>
              <a:off x="3422" y="2655"/>
              <a:ext cx="66" cy="35"/>
            </a:xfrm>
            <a:custGeom>
              <a:avLst/>
              <a:gdLst>
                <a:gd name="txL" fmla="*/ 0 w 54"/>
                <a:gd name="txT" fmla="*/ 0 h 30"/>
                <a:gd name="txR" fmla="*/ 54 w 54"/>
                <a:gd name="txB" fmla="*/ 30 h 30"/>
              </a:gdLst>
              <a:ahLst/>
              <a:cxnLst>
                <a:cxn ang="0">
                  <a:pos x="0" y="2280"/>
                </a:cxn>
                <a:cxn ang="0">
                  <a:pos x="14961" y="0"/>
                </a:cxn>
                <a:cxn ang="0">
                  <a:pos x="0" y="2280"/>
                </a:cxn>
                <a:cxn ang="0">
                  <a:pos x="0" y="2280"/>
                </a:cxn>
                <a:cxn ang="0">
                  <a:pos x="0" y="2280"/>
                </a:cxn>
                <a:cxn ang="0">
                  <a:pos x="0" y="2280"/>
                </a:cxn>
                <a:cxn ang="0">
                  <a:pos x="0" y="2280"/>
                </a:cxn>
              </a:cxnLst>
              <a:rect l="txL" t="txT" r="txR" b="txB"/>
              <a:pathLst>
                <a:path w="54" h="30">
                  <a:moveTo>
                    <a:pt x="0" y="30"/>
                  </a:moveTo>
                  <a:lnTo>
                    <a:pt x="54"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84" name="Freeform 73"/>
            <p:cNvSpPr>
              <a:spLocks noChangeAspect="1" noEditPoints="1"/>
            </p:cNvSpPr>
            <p:nvPr/>
          </p:nvSpPr>
          <p:spPr>
            <a:xfrm>
              <a:off x="3422" y="2628"/>
              <a:ext cx="66" cy="27"/>
            </a:xfrm>
            <a:custGeom>
              <a:avLst/>
              <a:gdLst>
                <a:gd name="txL" fmla="*/ 0 w 54"/>
                <a:gd name="txT" fmla="*/ 0 h 23"/>
                <a:gd name="txR" fmla="*/ 54 w 54"/>
                <a:gd name="txB" fmla="*/ 23 h 23"/>
              </a:gdLst>
              <a:ahLst/>
              <a:cxnLst>
                <a:cxn ang="0">
                  <a:pos x="14961" y="2139"/>
                </a:cxn>
                <a:cxn ang="0">
                  <a:pos x="0" y="0"/>
                </a:cxn>
                <a:cxn ang="0">
                  <a:pos x="14961" y="2139"/>
                </a:cxn>
                <a:cxn ang="0">
                  <a:pos x="14961" y="2139"/>
                </a:cxn>
                <a:cxn ang="0">
                  <a:pos x="14961" y="2139"/>
                </a:cxn>
                <a:cxn ang="0">
                  <a:pos x="14961" y="2139"/>
                </a:cxn>
                <a:cxn ang="0">
                  <a:pos x="14961" y="2139"/>
                </a:cxn>
              </a:cxnLst>
              <a:rect l="txL" t="txT" r="txR" b="txB"/>
              <a:pathLst>
                <a:path w="54" h="23">
                  <a:moveTo>
                    <a:pt x="54" y="23"/>
                  </a:moveTo>
                  <a:lnTo>
                    <a:pt x="0" y="0"/>
                  </a:lnTo>
                  <a:lnTo>
                    <a:pt x="54" y="23"/>
                  </a:lnTo>
                  <a:close/>
                  <a:moveTo>
                    <a:pt x="54" y="23"/>
                  </a:moveTo>
                  <a:lnTo>
                    <a:pt x="54" y="2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85" name="Freeform 74"/>
            <p:cNvSpPr>
              <a:spLocks noChangeAspect="1" noEditPoints="1"/>
            </p:cNvSpPr>
            <p:nvPr/>
          </p:nvSpPr>
          <p:spPr>
            <a:xfrm>
              <a:off x="3365" y="2593"/>
              <a:ext cx="57" cy="35"/>
            </a:xfrm>
            <a:custGeom>
              <a:avLst/>
              <a:gdLst>
                <a:gd name="txL" fmla="*/ 0 w 47"/>
                <a:gd name="txT" fmla="*/ 0 h 30"/>
                <a:gd name="txR" fmla="*/ 47 w 47"/>
                <a:gd name="txB" fmla="*/ 30 h 30"/>
              </a:gdLst>
              <a:ahLst/>
              <a:cxnLst>
                <a:cxn ang="0">
                  <a:pos x="10471" y="2280"/>
                </a:cxn>
                <a:cxn ang="0">
                  <a:pos x="0" y="0"/>
                </a:cxn>
                <a:cxn ang="0">
                  <a:pos x="10471" y="2280"/>
                </a:cxn>
                <a:cxn ang="0">
                  <a:pos x="10471" y="2280"/>
                </a:cxn>
                <a:cxn ang="0">
                  <a:pos x="10471" y="2280"/>
                </a:cxn>
                <a:cxn ang="0">
                  <a:pos x="10471" y="2280"/>
                </a:cxn>
                <a:cxn ang="0">
                  <a:pos x="10471" y="2280"/>
                </a:cxn>
              </a:cxnLst>
              <a:rect l="txL" t="txT" r="txR" b="txB"/>
              <a:pathLst>
                <a:path w="47" h="30">
                  <a:moveTo>
                    <a:pt x="47" y="30"/>
                  </a:moveTo>
                  <a:lnTo>
                    <a:pt x="0" y="0"/>
                  </a:lnTo>
                  <a:lnTo>
                    <a:pt x="47" y="30"/>
                  </a:lnTo>
                  <a:close/>
                  <a:moveTo>
                    <a:pt x="47" y="30"/>
                  </a:moveTo>
                  <a:lnTo>
                    <a:pt x="47"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86" name="Freeform 75"/>
            <p:cNvSpPr>
              <a:spLocks noChangeAspect="1" noEditPoints="1"/>
            </p:cNvSpPr>
            <p:nvPr/>
          </p:nvSpPr>
          <p:spPr>
            <a:xfrm>
              <a:off x="3365" y="2565"/>
              <a:ext cx="57" cy="28"/>
            </a:xfrm>
            <a:custGeom>
              <a:avLst/>
              <a:gdLst>
                <a:gd name="txL" fmla="*/ 0 w 47"/>
                <a:gd name="txT" fmla="*/ 0 h 24"/>
                <a:gd name="txR" fmla="*/ 47 w 47"/>
                <a:gd name="txB" fmla="*/ 24 h 24"/>
              </a:gdLst>
              <a:ahLst/>
              <a:cxnLst>
                <a:cxn ang="0">
                  <a:pos x="0" y="1869"/>
                </a:cxn>
                <a:cxn ang="0">
                  <a:pos x="10471" y="0"/>
                </a:cxn>
                <a:cxn ang="0">
                  <a:pos x="0" y="1869"/>
                </a:cxn>
                <a:cxn ang="0">
                  <a:pos x="0" y="1869"/>
                </a:cxn>
                <a:cxn ang="0">
                  <a:pos x="0" y="1869"/>
                </a:cxn>
                <a:cxn ang="0">
                  <a:pos x="0" y="1869"/>
                </a:cxn>
                <a:cxn ang="0">
                  <a:pos x="0" y="1869"/>
                </a:cxn>
              </a:cxnLst>
              <a:rect l="txL" t="txT" r="txR" b="txB"/>
              <a:pathLst>
                <a:path w="47" h="24">
                  <a:moveTo>
                    <a:pt x="0" y="24"/>
                  </a:moveTo>
                  <a:lnTo>
                    <a:pt x="47"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87" name="Freeform 76"/>
            <p:cNvSpPr>
              <a:spLocks noChangeAspect="1" noEditPoints="1"/>
            </p:cNvSpPr>
            <p:nvPr/>
          </p:nvSpPr>
          <p:spPr>
            <a:xfrm>
              <a:off x="3422" y="2530"/>
              <a:ext cx="66" cy="35"/>
            </a:xfrm>
            <a:custGeom>
              <a:avLst/>
              <a:gdLst>
                <a:gd name="txL" fmla="*/ 0 w 54"/>
                <a:gd name="txT" fmla="*/ 0 h 30"/>
                <a:gd name="txR" fmla="*/ 54 w 54"/>
                <a:gd name="txB" fmla="*/ 30 h 30"/>
              </a:gdLst>
              <a:ahLst/>
              <a:cxnLst>
                <a:cxn ang="0">
                  <a:pos x="0" y="2280"/>
                </a:cxn>
                <a:cxn ang="0">
                  <a:pos x="14961" y="0"/>
                </a:cxn>
                <a:cxn ang="0">
                  <a:pos x="0" y="2280"/>
                </a:cxn>
                <a:cxn ang="0">
                  <a:pos x="0" y="2280"/>
                </a:cxn>
                <a:cxn ang="0">
                  <a:pos x="0" y="2280"/>
                </a:cxn>
                <a:cxn ang="0">
                  <a:pos x="0" y="2280"/>
                </a:cxn>
                <a:cxn ang="0">
                  <a:pos x="0" y="2280"/>
                </a:cxn>
              </a:cxnLst>
              <a:rect l="txL" t="txT" r="txR" b="txB"/>
              <a:pathLst>
                <a:path w="54" h="30">
                  <a:moveTo>
                    <a:pt x="0" y="30"/>
                  </a:moveTo>
                  <a:lnTo>
                    <a:pt x="54"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88" name="Freeform 77"/>
            <p:cNvSpPr>
              <a:spLocks noChangeAspect="1" noEditPoints="1"/>
            </p:cNvSpPr>
            <p:nvPr/>
          </p:nvSpPr>
          <p:spPr>
            <a:xfrm>
              <a:off x="3422" y="2502"/>
              <a:ext cx="66" cy="28"/>
            </a:xfrm>
            <a:custGeom>
              <a:avLst/>
              <a:gdLst>
                <a:gd name="txL" fmla="*/ 0 w 54"/>
                <a:gd name="txT" fmla="*/ 0 h 24"/>
                <a:gd name="txR" fmla="*/ 54 w 54"/>
                <a:gd name="txB" fmla="*/ 24 h 24"/>
              </a:gdLst>
              <a:ahLst/>
              <a:cxnLst>
                <a:cxn ang="0">
                  <a:pos x="14961" y="1869"/>
                </a:cxn>
                <a:cxn ang="0">
                  <a:pos x="0" y="0"/>
                </a:cxn>
                <a:cxn ang="0">
                  <a:pos x="14961" y="1869"/>
                </a:cxn>
                <a:cxn ang="0">
                  <a:pos x="14961" y="1869"/>
                </a:cxn>
                <a:cxn ang="0">
                  <a:pos x="14961" y="1869"/>
                </a:cxn>
                <a:cxn ang="0">
                  <a:pos x="14961" y="1869"/>
                </a:cxn>
                <a:cxn ang="0">
                  <a:pos x="14961" y="1869"/>
                </a:cxn>
              </a:cxnLst>
              <a:rect l="txL" t="txT" r="txR" b="txB"/>
              <a:pathLst>
                <a:path w="54" h="24">
                  <a:moveTo>
                    <a:pt x="54" y="24"/>
                  </a:moveTo>
                  <a:lnTo>
                    <a:pt x="0" y="0"/>
                  </a:lnTo>
                  <a:lnTo>
                    <a:pt x="54" y="24"/>
                  </a:lnTo>
                  <a:close/>
                  <a:moveTo>
                    <a:pt x="54" y="24"/>
                  </a:moveTo>
                  <a:lnTo>
                    <a:pt x="54"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89" name="Freeform 78"/>
            <p:cNvSpPr>
              <a:spLocks noChangeAspect="1"/>
            </p:cNvSpPr>
            <p:nvPr/>
          </p:nvSpPr>
          <p:spPr>
            <a:xfrm>
              <a:off x="2316" y="1980"/>
              <a:ext cx="29" cy="77"/>
            </a:xfrm>
            <a:custGeom>
              <a:avLst/>
              <a:gdLst>
                <a:gd name="txL" fmla="*/ 0 w 24"/>
                <a:gd name="txT" fmla="*/ 0 h 66"/>
                <a:gd name="txR" fmla="*/ 24 w 24"/>
                <a:gd name="txB" fmla="*/ 66 h 66"/>
              </a:gdLst>
              <a:ahLst/>
              <a:cxnLst>
                <a:cxn ang="0">
                  <a:pos x="4876" y="0"/>
                </a:cxn>
                <a:cxn ang="0">
                  <a:pos x="0" y="4971"/>
                </a:cxn>
                <a:cxn ang="0">
                  <a:pos x="4876" y="0"/>
                </a:cxn>
                <a:cxn ang="0">
                  <a:pos x="4876" y="0"/>
                </a:cxn>
              </a:cxnLst>
              <a:rect l="txL" t="txT" r="txR" b="txB"/>
              <a:pathLst>
                <a:path w="24" h="66">
                  <a:moveTo>
                    <a:pt x="24" y="0"/>
                  </a:moveTo>
                  <a:lnTo>
                    <a:pt x="0" y="66"/>
                  </a:ln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90" name="Freeform 79"/>
            <p:cNvSpPr>
              <a:spLocks noChangeAspect="1" noEditPoints="1"/>
            </p:cNvSpPr>
            <p:nvPr/>
          </p:nvSpPr>
          <p:spPr>
            <a:xfrm>
              <a:off x="2287" y="1980"/>
              <a:ext cx="29" cy="77"/>
            </a:xfrm>
            <a:custGeom>
              <a:avLst/>
              <a:gdLst>
                <a:gd name="txL" fmla="*/ 0 w 24"/>
                <a:gd name="txT" fmla="*/ 0 h 66"/>
                <a:gd name="txR" fmla="*/ 24 w 24"/>
                <a:gd name="txB" fmla="*/ 66 h 66"/>
              </a:gdLst>
              <a:ahLst/>
              <a:cxnLst>
                <a:cxn ang="0">
                  <a:pos x="4876" y="4971"/>
                </a:cxn>
                <a:cxn ang="0">
                  <a:pos x="0" y="0"/>
                </a:cxn>
                <a:cxn ang="0">
                  <a:pos x="4876" y="4971"/>
                </a:cxn>
                <a:cxn ang="0">
                  <a:pos x="4876" y="4971"/>
                </a:cxn>
                <a:cxn ang="0">
                  <a:pos x="4876" y="4971"/>
                </a:cxn>
                <a:cxn ang="0">
                  <a:pos x="4876" y="4971"/>
                </a:cxn>
                <a:cxn ang="0">
                  <a:pos x="4876" y="4971"/>
                </a:cxn>
              </a:cxnLst>
              <a:rect l="txL" t="txT" r="txR" b="txB"/>
              <a:pathLst>
                <a:path w="24" h="66">
                  <a:moveTo>
                    <a:pt x="24" y="66"/>
                  </a:moveTo>
                  <a:lnTo>
                    <a:pt x="0" y="0"/>
                  </a:lnTo>
                  <a:lnTo>
                    <a:pt x="24" y="66"/>
                  </a:lnTo>
                  <a:close/>
                  <a:moveTo>
                    <a:pt x="24" y="66"/>
                  </a:moveTo>
                  <a:lnTo>
                    <a:pt x="24" y="6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91" name="Freeform 80"/>
            <p:cNvSpPr>
              <a:spLocks noChangeAspect="1" noEditPoints="1"/>
            </p:cNvSpPr>
            <p:nvPr/>
          </p:nvSpPr>
          <p:spPr>
            <a:xfrm>
              <a:off x="2265" y="1903"/>
              <a:ext cx="22" cy="77"/>
            </a:xfrm>
            <a:custGeom>
              <a:avLst/>
              <a:gdLst>
                <a:gd name="txL" fmla="*/ 0 w 18"/>
                <a:gd name="txT" fmla="*/ 0 h 66"/>
                <a:gd name="txR" fmla="*/ 18 w 18"/>
                <a:gd name="txB" fmla="*/ 66 h 66"/>
              </a:gdLst>
              <a:ahLst/>
              <a:cxnLst>
                <a:cxn ang="0">
                  <a:pos x="4937" y="4971"/>
                </a:cxn>
                <a:cxn ang="0">
                  <a:pos x="0" y="0"/>
                </a:cxn>
                <a:cxn ang="0">
                  <a:pos x="4937" y="4971"/>
                </a:cxn>
                <a:cxn ang="0">
                  <a:pos x="4937" y="4971"/>
                </a:cxn>
                <a:cxn ang="0">
                  <a:pos x="4937" y="4971"/>
                </a:cxn>
                <a:cxn ang="0">
                  <a:pos x="4937" y="4971"/>
                </a:cxn>
                <a:cxn ang="0">
                  <a:pos x="4937" y="4971"/>
                </a:cxn>
              </a:cxnLst>
              <a:rect l="txL" t="txT" r="txR" b="txB"/>
              <a:pathLst>
                <a:path w="18" h="66">
                  <a:moveTo>
                    <a:pt x="18" y="66"/>
                  </a:moveTo>
                  <a:lnTo>
                    <a:pt x="0" y="0"/>
                  </a:lnTo>
                  <a:lnTo>
                    <a:pt x="18" y="66"/>
                  </a:lnTo>
                  <a:close/>
                  <a:moveTo>
                    <a:pt x="18" y="66"/>
                  </a:moveTo>
                  <a:lnTo>
                    <a:pt x="18" y="6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92" name="Freeform 81"/>
            <p:cNvSpPr>
              <a:spLocks noChangeAspect="1" noEditPoints="1"/>
            </p:cNvSpPr>
            <p:nvPr/>
          </p:nvSpPr>
          <p:spPr>
            <a:xfrm>
              <a:off x="2236" y="1903"/>
              <a:ext cx="29" cy="77"/>
            </a:xfrm>
            <a:custGeom>
              <a:avLst/>
              <a:gdLst>
                <a:gd name="txL" fmla="*/ 0 w 24"/>
                <a:gd name="txT" fmla="*/ 0 h 66"/>
                <a:gd name="txR" fmla="*/ 24 w 24"/>
                <a:gd name="txB" fmla="*/ 66 h 66"/>
              </a:gdLst>
              <a:ahLst/>
              <a:cxnLst>
                <a:cxn ang="0">
                  <a:pos x="4876" y="0"/>
                </a:cxn>
                <a:cxn ang="0">
                  <a:pos x="0" y="4971"/>
                </a:cxn>
                <a:cxn ang="0">
                  <a:pos x="4876" y="0"/>
                </a:cxn>
                <a:cxn ang="0">
                  <a:pos x="4876" y="0"/>
                </a:cxn>
                <a:cxn ang="0">
                  <a:pos x="4876" y="0"/>
                </a:cxn>
                <a:cxn ang="0">
                  <a:pos x="4876" y="0"/>
                </a:cxn>
                <a:cxn ang="0">
                  <a:pos x="4876" y="0"/>
                </a:cxn>
              </a:cxnLst>
              <a:rect l="txL" t="txT" r="txR" b="txB"/>
              <a:pathLst>
                <a:path w="24" h="66">
                  <a:moveTo>
                    <a:pt x="24" y="0"/>
                  </a:moveTo>
                  <a:lnTo>
                    <a:pt x="0" y="66"/>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93" name="Freeform 82"/>
            <p:cNvSpPr>
              <a:spLocks noChangeAspect="1" noEditPoints="1"/>
            </p:cNvSpPr>
            <p:nvPr/>
          </p:nvSpPr>
          <p:spPr>
            <a:xfrm>
              <a:off x="2236" y="1980"/>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94" name="Freeform 83"/>
            <p:cNvSpPr>
              <a:spLocks noChangeAspect="1" noEditPoints="1"/>
            </p:cNvSpPr>
            <p:nvPr/>
          </p:nvSpPr>
          <p:spPr>
            <a:xfrm>
              <a:off x="2207" y="1980"/>
              <a:ext cx="29" cy="77"/>
            </a:xfrm>
            <a:custGeom>
              <a:avLst/>
              <a:gdLst>
                <a:gd name="txL" fmla="*/ 0 w 24"/>
                <a:gd name="txT" fmla="*/ 0 h 66"/>
                <a:gd name="txR" fmla="*/ 24 w 24"/>
                <a:gd name="txB" fmla="*/ 66 h 66"/>
              </a:gdLst>
              <a:ahLst/>
              <a:cxnLst>
                <a:cxn ang="0">
                  <a:pos x="4876" y="0"/>
                </a:cxn>
                <a:cxn ang="0">
                  <a:pos x="0" y="4971"/>
                </a:cxn>
                <a:cxn ang="0">
                  <a:pos x="4876" y="0"/>
                </a:cxn>
                <a:cxn ang="0">
                  <a:pos x="4876" y="0"/>
                </a:cxn>
                <a:cxn ang="0">
                  <a:pos x="4876" y="0"/>
                </a:cxn>
                <a:cxn ang="0">
                  <a:pos x="4876" y="0"/>
                </a:cxn>
                <a:cxn ang="0">
                  <a:pos x="4876" y="0"/>
                </a:cxn>
              </a:cxnLst>
              <a:rect l="txL" t="txT" r="txR" b="txB"/>
              <a:pathLst>
                <a:path w="24" h="66">
                  <a:moveTo>
                    <a:pt x="24" y="0"/>
                  </a:moveTo>
                  <a:lnTo>
                    <a:pt x="0" y="66"/>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95" name="Freeform 84"/>
            <p:cNvSpPr>
              <a:spLocks noChangeAspect="1" noEditPoints="1"/>
            </p:cNvSpPr>
            <p:nvPr/>
          </p:nvSpPr>
          <p:spPr>
            <a:xfrm>
              <a:off x="2179" y="1980"/>
              <a:ext cx="28" cy="77"/>
            </a:xfrm>
            <a:custGeom>
              <a:avLst/>
              <a:gdLst>
                <a:gd name="txL" fmla="*/ 0 w 23"/>
                <a:gd name="txT" fmla="*/ 0 h 66"/>
                <a:gd name="txR" fmla="*/ 23 w 23"/>
                <a:gd name="txB" fmla="*/ 66 h 66"/>
              </a:gdLst>
              <a:ahLst/>
              <a:cxnLst>
                <a:cxn ang="0">
                  <a:pos x="5617" y="4971"/>
                </a:cxn>
                <a:cxn ang="0">
                  <a:pos x="0" y="0"/>
                </a:cxn>
                <a:cxn ang="0">
                  <a:pos x="5617" y="4971"/>
                </a:cxn>
                <a:cxn ang="0">
                  <a:pos x="5617" y="4971"/>
                </a:cxn>
                <a:cxn ang="0">
                  <a:pos x="5617" y="4971"/>
                </a:cxn>
                <a:cxn ang="0">
                  <a:pos x="5617" y="4971"/>
                </a:cxn>
                <a:cxn ang="0">
                  <a:pos x="5617" y="4971"/>
                </a:cxn>
              </a:cxnLst>
              <a:rect l="txL" t="txT" r="txR" b="txB"/>
              <a:pathLst>
                <a:path w="23" h="66">
                  <a:moveTo>
                    <a:pt x="23" y="66"/>
                  </a:moveTo>
                  <a:lnTo>
                    <a:pt x="0" y="0"/>
                  </a:lnTo>
                  <a:lnTo>
                    <a:pt x="23" y="66"/>
                  </a:lnTo>
                  <a:close/>
                  <a:moveTo>
                    <a:pt x="23" y="66"/>
                  </a:moveTo>
                  <a:lnTo>
                    <a:pt x="23" y="6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96" name="Freeform 85"/>
            <p:cNvSpPr>
              <a:spLocks noChangeAspect="1" noEditPoints="1"/>
            </p:cNvSpPr>
            <p:nvPr/>
          </p:nvSpPr>
          <p:spPr>
            <a:xfrm>
              <a:off x="2149" y="1903"/>
              <a:ext cx="30" cy="77"/>
            </a:xfrm>
            <a:custGeom>
              <a:avLst/>
              <a:gdLst>
                <a:gd name="txL" fmla="*/ 0 w 24"/>
                <a:gd name="txT" fmla="*/ 0 h 66"/>
                <a:gd name="txR" fmla="*/ 24 w 24"/>
                <a:gd name="txB" fmla="*/ 66 h 66"/>
              </a:gdLst>
              <a:ahLst/>
              <a:cxnLst>
                <a:cxn ang="0">
                  <a:pos x="12248" y="4971"/>
                </a:cxn>
                <a:cxn ang="0">
                  <a:pos x="0" y="0"/>
                </a:cxn>
                <a:cxn ang="0">
                  <a:pos x="12248" y="4971"/>
                </a:cxn>
                <a:cxn ang="0">
                  <a:pos x="12248" y="4971"/>
                </a:cxn>
                <a:cxn ang="0">
                  <a:pos x="12248" y="4971"/>
                </a:cxn>
                <a:cxn ang="0">
                  <a:pos x="12248" y="4971"/>
                </a:cxn>
                <a:cxn ang="0">
                  <a:pos x="12248" y="4971"/>
                </a:cxn>
              </a:cxnLst>
              <a:rect l="txL" t="txT" r="txR" b="txB"/>
              <a:pathLst>
                <a:path w="24" h="66">
                  <a:moveTo>
                    <a:pt x="24" y="66"/>
                  </a:moveTo>
                  <a:lnTo>
                    <a:pt x="0" y="0"/>
                  </a:lnTo>
                  <a:lnTo>
                    <a:pt x="24" y="66"/>
                  </a:lnTo>
                  <a:close/>
                  <a:moveTo>
                    <a:pt x="24" y="66"/>
                  </a:moveTo>
                  <a:lnTo>
                    <a:pt x="24" y="6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97" name="Freeform 86"/>
            <p:cNvSpPr>
              <a:spLocks noChangeAspect="1" noEditPoints="1"/>
            </p:cNvSpPr>
            <p:nvPr/>
          </p:nvSpPr>
          <p:spPr>
            <a:xfrm>
              <a:off x="2128" y="1903"/>
              <a:ext cx="21" cy="77"/>
            </a:xfrm>
            <a:custGeom>
              <a:avLst/>
              <a:gdLst>
                <a:gd name="txL" fmla="*/ 0 w 18"/>
                <a:gd name="txT" fmla="*/ 0 h 66"/>
                <a:gd name="txR" fmla="*/ 18 w 18"/>
                <a:gd name="txB" fmla="*/ 66 h 66"/>
              </a:gdLst>
              <a:ahLst/>
              <a:cxnLst>
                <a:cxn ang="0">
                  <a:pos x="1381" y="0"/>
                </a:cxn>
                <a:cxn ang="0">
                  <a:pos x="0" y="4971"/>
                </a:cxn>
                <a:cxn ang="0">
                  <a:pos x="1381" y="0"/>
                </a:cxn>
                <a:cxn ang="0">
                  <a:pos x="1381" y="0"/>
                </a:cxn>
                <a:cxn ang="0">
                  <a:pos x="1381" y="0"/>
                </a:cxn>
                <a:cxn ang="0">
                  <a:pos x="1381" y="0"/>
                </a:cxn>
                <a:cxn ang="0">
                  <a:pos x="1381" y="0"/>
                </a:cxn>
              </a:cxnLst>
              <a:rect l="txL" t="txT" r="txR" b="txB"/>
              <a:pathLst>
                <a:path w="18" h="66">
                  <a:moveTo>
                    <a:pt x="18" y="0"/>
                  </a:moveTo>
                  <a:lnTo>
                    <a:pt x="0" y="66"/>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98" name="Freeform 87"/>
            <p:cNvSpPr>
              <a:spLocks noChangeAspect="1" noEditPoints="1"/>
            </p:cNvSpPr>
            <p:nvPr/>
          </p:nvSpPr>
          <p:spPr>
            <a:xfrm>
              <a:off x="2098" y="1980"/>
              <a:ext cx="30" cy="77"/>
            </a:xfrm>
            <a:custGeom>
              <a:avLst/>
              <a:gdLst>
                <a:gd name="txL" fmla="*/ 0 w 24"/>
                <a:gd name="txT" fmla="*/ 0 h 66"/>
                <a:gd name="txR" fmla="*/ 24 w 24"/>
                <a:gd name="txB" fmla="*/ 66 h 66"/>
              </a:gdLst>
              <a:ahLst/>
              <a:cxnLst>
                <a:cxn ang="0">
                  <a:pos x="12248" y="0"/>
                </a:cxn>
                <a:cxn ang="0">
                  <a:pos x="0" y="4971"/>
                </a:cxn>
                <a:cxn ang="0">
                  <a:pos x="12248" y="0"/>
                </a:cxn>
                <a:cxn ang="0">
                  <a:pos x="12248" y="0"/>
                </a:cxn>
                <a:cxn ang="0">
                  <a:pos x="12248" y="0"/>
                </a:cxn>
                <a:cxn ang="0">
                  <a:pos x="12248" y="0"/>
                </a:cxn>
                <a:cxn ang="0">
                  <a:pos x="12248" y="0"/>
                </a:cxn>
              </a:cxnLst>
              <a:rect l="txL" t="txT" r="txR" b="txB"/>
              <a:pathLst>
                <a:path w="24" h="66">
                  <a:moveTo>
                    <a:pt x="24" y="0"/>
                  </a:moveTo>
                  <a:lnTo>
                    <a:pt x="0" y="66"/>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499" name="Freeform 88"/>
            <p:cNvSpPr>
              <a:spLocks noChangeAspect="1" noEditPoints="1"/>
            </p:cNvSpPr>
            <p:nvPr/>
          </p:nvSpPr>
          <p:spPr>
            <a:xfrm>
              <a:off x="2069" y="1980"/>
              <a:ext cx="29" cy="77"/>
            </a:xfrm>
            <a:custGeom>
              <a:avLst/>
              <a:gdLst>
                <a:gd name="txL" fmla="*/ 0 w 24"/>
                <a:gd name="txT" fmla="*/ 0 h 66"/>
                <a:gd name="txR" fmla="*/ 24 w 24"/>
                <a:gd name="txB" fmla="*/ 66 h 66"/>
              </a:gdLst>
              <a:ahLst/>
              <a:cxnLst>
                <a:cxn ang="0">
                  <a:pos x="4876" y="4971"/>
                </a:cxn>
                <a:cxn ang="0">
                  <a:pos x="0" y="0"/>
                </a:cxn>
                <a:cxn ang="0">
                  <a:pos x="4876" y="4971"/>
                </a:cxn>
                <a:cxn ang="0">
                  <a:pos x="4876" y="4971"/>
                </a:cxn>
                <a:cxn ang="0">
                  <a:pos x="4876" y="4971"/>
                </a:cxn>
                <a:cxn ang="0">
                  <a:pos x="4876" y="4971"/>
                </a:cxn>
                <a:cxn ang="0">
                  <a:pos x="4876" y="4971"/>
                </a:cxn>
              </a:cxnLst>
              <a:rect l="txL" t="txT" r="txR" b="txB"/>
              <a:pathLst>
                <a:path w="24" h="66">
                  <a:moveTo>
                    <a:pt x="24" y="66"/>
                  </a:moveTo>
                  <a:lnTo>
                    <a:pt x="0" y="0"/>
                  </a:lnTo>
                  <a:lnTo>
                    <a:pt x="24" y="66"/>
                  </a:lnTo>
                  <a:close/>
                  <a:moveTo>
                    <a:pt x="24" y="66"/>
                  </a:moveTo>
                  <a:lnTo>
                    <a:pt x="24" y="6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500" name="Freeform 89"/>
            <p:cNvSpPr>
              <a:spLocks noChangeAspect="1" noEditPoints="1"/>
            </p:cNvSpPr>
            <p:nvPr/>
          </p:nvSpPr>
          <p:spPr>
            <a:xfrm>
              <a:off x="2040" y="1903"/>
              <a:ext cx="29" cy="77"/>
            </a:xfrm>
            <a:custGeom>
              <a:avLst/>
              <a:gdLst>
                <a:gd name="txL" fmla="*/ 0 w 24"/>
                <a:gd name="txT" fmla="*/ 0 h 66"/>
                <a:gd name="txR" fmla="*/ 24 w 24"/>
                <a:gd name="txB" fmla="*/ 66 h 66"/>
              </a:gdLst>
              <a:ahLst/>
              <a:cxnLst>
                <a:cxn ang="0">
                  <a:pos x="4876" y="4971"/>
                </a:cxn>
                <a:cxn ang="0">
                  <a:pos x="0" y="0"/>
                </a:cxn>
                <a:cxn ang="0">
                  <a:pos x="4876" y="4971"/>
                </a:cxn>
                <a:cxn ang="0">
                  <a:pos x="4876" y="4971"/>
                </a:cxn>
                <a:cxn ang="0">
                  <a:pos x="4876" y="4971"/>
                </a:cxn>
                <a:cxn ang="0">
                  <a:pos x="4876" y="4971"/>
                </a:cxn>
                <a:cxn ang="0">
                  <a:pos x="4876" y="4971"/>
                </a:cxn>
              </a:cxnLst>
              <a:rect l="txL" t="txT" r="txR" b="txB"/>
              <a:pathLst>
                <a:path w="24" h="66">
                  <a:moveTo>
                    <a:pt x="24" y="66"/>
                  </a:moveTo>
                  <a:lnTo>
                    <a:pt x="0" y="0"/>
                  </a:lnTo>
                  <a:lnTo>
                    <a:pt x="24" y="66"/>
                  </a:lnTo>
                  <a:close/>
                  <a:moveTo>
                    <a:pt x="24" y="66"/>
                  </a:moveTo>
                  <a:lnTo>
                    <a:pt x="24" y="6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501" name="Freeform 90"/>
            <p:cNvSpPr>
              <a:spLocks noChangeAspect="1" noEditPoints="1"/>
            </p:cNvSpPr>
            <p:nvPr/>
          </p:nvSpPr>
          <p:spPr>
            <a:xfrm>
              <a:off x="2018" y="1903"/>
              <a:ext cx="22" cy="77"/>
            </a:xfrm>
            <a:custGeom>
              <a:avLst/>
              <a:gdLst>
                <a:gd name="txL" fmla="*/ 0 w 18"/>
                <a:gd name="txT" fmla="*/ 0 h 66"/>
                <a:gd name="txR" fmla="*/ 18 w 18"/>
                <a:gd name="txB" fmla="*/ 66 h 66"/>
              </a:gdLst>
              <a:ahLst/>
              <a:cxnLst>
                <a:cxn ang="0">
                  <a:pos x="4937" y="0"/>
                </a:cxn>
                <a:cxn ang="0">
                  <a:pos x="0" y="4971"/>
                </a:cxn>
                <a:cxn ang="0">
                  <a:pos x="4937" y="0"/>
                </a:cxn>
                <a:cxn ang="0">
                  <a:pos x="4937" y="0"/>
                </a:cxn>
                <a:cxn ang="0">
                  <a:pos x="4937" y="0"/>
                </a:cxn>
                <a:cxn ang="0">
                  <a:pos x="4937" y="0"/>
                </a:cxn>
                <a:cxn ang="0">
                  <a:pos x="4937" y="0"/>
                </a:cxn>
              </a:cxnLst>
              <a:rect l="txL" t="txT" r="txR" b="txB"/>
              <a:pathLst>
                <a:path w="18" h="66">
                  <a:moveTo>
                    <a:pt x="18" y="0"/>
                  </a:moveTo>
                  <a:lnTo>
                    <a:pt x="0" y="66"/>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502" name="Freeform 91"/>
            <p:cNvSpPr>
              <a:spLocks noChangeAspect="1" noEditPoints="1"/>
            </p:cNvSpPr>
            <p:nvPr/>
          </p:nvSpPr>
          <p:spPr>
            <a:xfrm>
              <a:off x="1989" y="1980"/>
              <a:ext cx="29" cy="77"/>
            </a:xfrm>
            <a:custGeom>
              <a:avLst/>
              <a:gdLst>
                <a:gd name="txL" fmla="*/ 0 w 24"/>
                <a:gd name="txT" fmla="*/ 0 h 66"/>
                <a:gd name="txR" fmla="*/ 24 w 24"/>
                <a:gd name="txB" fmla="*/ 66 h 66"/>
              </a:gdLst>
              <a:ahLst/>
              <a:cxnLst>
                <a:cxn ang="0">
                  <a:pos x="4876" y="0"/>
                </a:cxn>
                <a:cxn ang="0">
                  <a:pos x="0" y="4971"/>
                </a:cxn>
                <a:cxn ang="0">
                  <a:pos x="4876" y="0"/>
                </a:cxn>
                <a:cxn ang="0">
                  <a:pos x="4876" y="0"/>
                </a:cxn>
                <a:cxn ang="0">
                  <a:pos x="4876" y="0"/>
                </a:cxn>
                <a:cxn ang="0">
                  <a:pos x="4876" y="0"/>
                </a:cxn>
                <a:cxn ang="0">
                  <a:pos x="4876" y="0"/>
                </a:cxn>
              </a:cxnLst>
              <a:rect l="txL" t="txT" r="txR" b="txB"/>
              <a:pathLst>
                <a:path w="24" h="66">
                  <a:moveTo>
                    <a:pt x="24" y="0"/>
                  </a:moveTo>
                  <a:lnTo>
                    <a:pt x="0" y="66"/>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503" name="Freeform 92"/>
            <p:cNvSpPr>
              <a:spLocks noChangeAspect="1" noEditPoints="1"/>
            </p:cNvSpPr>
            <p:nvPr/>
          </p:nvSpPr>
          <p:spPr>
            <a:xfrm>
              <a:off x="1960" y="1980"/>
              <a:ext cx="29" cy="77"/>
            </a:xfrm>
            <a:custGeom>
              <a:avLst/>
              <a:gdLst>
                <a:gd name="txL" fmla="*/ 0 w 24"/>
                <a:gd name="txT" fmla="*/ 0 h 66"/>
                <a:gd name="txR" fmla="*/ 24 w 24"/>
                <a:gd name="txB" fmla="*/ 66 h 66"/>
              </a:gdLst>
              <a:ahLst/>
              <a:cxnLst>
                <a:cxn ang="0">
                  <a:pos x="4876" y="4971"/>
                </a:cxn>
                <a:cxn ang="0">
                  <a:pos x="0" y="0"/>
                </a:cxn>
                <a:cxn ang="0">
                  <a:pos x="4876" y="4971"/>
                </a:cxn>
                <a:cxn ang="0">
                  <a:pos x="4876" y="4971"/>
                </a:cxn>
                <a:cxn ang="0">
                  <a:pos x="4876" y="4971"/>
                </a:cxn>
                <a:cxn ang="0">
                  <a:pos x="4876" y="4971"/>
                </a:cxn>
                <a:cxn ang="0">
                  <a:pos x="4876" y="4971"/>
                </a:cxn>
              </a:cxnLst>
              <a:rect l="txL" t="txT" r="txR" b="txB"/>
              <a:pathLst>
                <a:path w="24" h="66">
                  <a:moveTo>
                    <a:pt x="24" y="66"/>
                  </a:moveTo>
                  <a:lnTo>
                    <a:pt x="0" y="0"/>
                  </a:lnTo>
                  <a:lnTo>
                    <a:pt x="24" y="66"/>
                  </a:lnTo>
                  <a:close/>
                  <a:moveTo>
                    <a:pt x="24" y="66"/>
                  </a:moveTo>
                  <a:lnTo>
                    <a:pt x="24" y="6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504" name="Freeform 93"/>
            <p:cNvSpPr>
              <a:spLocks noChangeAspect="1" noEditPoints="1"/>
            </p:cNvSpPr>
            <p:nvPr/>
          </p:nvSpPr>
          <p:spPr>
            <a:xfrm>
              <a:off x="1938" y="1903"/>
              <a:ext cx="22" cy="77"/>
            </a:xfrm>
            <a:custGeom>
              <a:avLst/>
              <a:gdLst>
                <a:gd name="txL" fmla="*/ 0 w 18"/>
                <a:gd name="txT" fmla="*/ 0 h 66"/>
                <a:gd name="txR" fmla="*/ 18 w 18"/>
                <a:gd name="txB" fmla="*/ 66 h 66"/>
              </a:gdLst>
              <a:ahLst/>
              <a:cxnLst>
                <a:cxn ang="0">
                  <a:pos x="4937" y="4971"/>
                </a:cxn>
                <a:cxn ang="0">
                  <a:pos x="0" y="0"/>
                </a:cxn>
                <a:cxn ang="0">
                  <a:pos x="4937" y="4971"/>
                </a:cxn>
                <a:cxn ang="0">
                  <a:pos x="4937" y="4971"/>
                </a:cxn>
                <a:cxn ang="0">
                  <a:pos x="4937" y="4971"/>
                </a:cxn>
                <a:cxn ang="0">
                  <a:pos x="4937" y="4971"/>
                </a:cxn>
                <a:cxn ang="0">
                  <a:pos x="4937" y="4971"/>
                </a:cxn>
              </a:cxnLst>
              <a:rect l="txL" t="txT" r="txR" b="txB"/>
              <a:pathLst>
                <a:path w="18" h="66">
                  <a:moveTo>
                    <a:pt x="18" y="66"/>
                  </a:moveTo>
                  <a:lnTo>
                    <a:pt x="0" y="0"/>
                  </a:lnTo>
                  <a:lnTo>
                    <a:pt x="18" y="66"/>
                  </a:lnTo>
                  <a:close/>
                  <a:moveTo>
                    <a:pt x="18" y="66"/>
                  </a:moveTo>
                  <a:lnTo>
                    <a:pt x="18" y="6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505" name="Freeform 94"/>
            <p:cNvSpPr>
              <a:spLocks noChangeAspect="1" noEditPoints="1"/>
            </p:cNvSpPr>
            <p:nvPr/>
          </p:nvSpPr>
          <p:spPr>
            <a:xfrm>
              <a:off x="1909" y="1903"/>
              <a:ext cx="29" cy="77"/>
            </a:xfrm>
            <a:custGeom>
              <a:avLst/>
              <a:gdLst>
                <a:gd name="txL" fmla="*/ 0 w 24"/>
                <a:gd name="txT" fmla="*/ 0 h 66"/>
                <a:gd name="txR" fmla="*/ 24 w 24"/>
                <a:gd name="txB" fmla="*/ 66 h 66"/>
              </a:gdLst>
              <a:ahLst/>
              <a:cxnLst>
                <a:cxn ang="0">
                  <a:pos x="4876" y="0"/>
                </a:cxn>
                <a:cxn ang="0">
                  <a:pos x="0" y="4971"/>
                </a:cxn>
                <a:cxn ang="0">
                  <a:pos x="4876" y="0"/>
                </a:cxn>
                <a:cxn ang="0">
                  <a:pos x="4876" y="0"/>
                </a:cxn>
                <a:cxn ang="0">
                  <a:pos x="4876" y="0"/>
                </a:cxn>
                <a:cxn ang="0">
                  <a:pos x="4876" y="0"/>
                </a:cxn>
                <a:cxn ang="0">
                  <a:pos x="4876" y="0"/>
                </a:cxn>
              </a:cxnLst>
              <a:rect l="txL" t="txT" r="txR" b="txB"/>
              <a:pathLst>
                <a:path w="24" h="66">
                  <a:moveTo>
                    <a:pt x="24" y="0"/>
                  </a:moveTo>
                  <a:lnTo>
                    <a:pt x="0" y="66"/>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506" name="Freeform 95"/>
            <p:cNvSpPr>
              <a:spLocks noChangeAspect="1"/>
            </p:cNvSpPr>
            <p:nvPr/>
          </p:nvSpPr>
          <p:spPr>
            <a:xfrm>
              <a:off x="4085" y="3519"/>
              <a:ext cx="87" cy="103"/>
            </a:xfrm>
            <a:custGeom>
              <a:avLst/>
              <a:gdLst>
                <a:gd name="txL" fmla="*/ 0 w 71"/>
                <a:gd name="txT" fmla="*/ 0 h 89"/>
                <a:gd name="txR" fmla="*/ 71 w 71"/>
                <a:gd name="txB" fmla="*/ 89 h 89"/>
              </a:gdLst>
              <a:ahLst/>
              <a:cxnLst>
                <a:cxn ang="0">
                  <a:pos x="10533" y="5321"/>
                </a:cxn>
                <a:cxn ang="0">
                  <a:pos x="14194" y="4928"/>
                </a:cxn>
                <a:cxn ang="0">
                  <a:pos x="18000" y="4620"/>
                </a:cxn>
                <a:cxn ang="0">
                  <a:pos x="21001" y="3604"/>
                </a:cxn>
                <a:cxn ang="0">
                  <a:pos x="21001" y="2560"/>
                </a:cxn>
                <a:cxn ang="0">
                  <a:pos x="21001" y="1436"/>
                </a:cxn>
                <a:cxn ang="0">
                  <a:pos x="18000" y="722"/>
                </a:cxn>
                <a:cxn ang="0">
                  <a:pos x="14194" y="348"/>
                </a:cxn>
                <a:cxn ang="0">
                  <a:pos x="10533" y="0"/>
                </a:cxn>
                <a:cxn ang="0">
                  <a:pos x="7015" y="348"/>
                </a:cxn>
                <a:cxn ang="0">
                  <a:pos x="3542" y="722"/>
                </a:cxn>
                <a:cxn ang="0">
                  <a:pos x="1834" y="1436"/>
                </a:cxn>
                <a:cxn ang="0">
                  <a:pos x="0" y="2560"/>
                </a:cxn>
                <a:cxn ang="0">
                  <a:pos x="1834" y="3604"/>
                </a:cxn>
                <a:cxn ang="0">
                  <a:pos x="3542" y="4620"/>
                </a:cxn>
                <a:cxn ang="0">
                  <a:pos x="7015" y="4928"/>
                </a:cxn>
                <a:cxn ang="0">
                  <a:pos x="10533" y="5321"/>
                </a:cxn>
                <a:cxn ang="0">
                  <a:pos x="10533" y="5321"/>
                </a:cxn>
              </a:cxnLst>
              <a:rect l="txL" t="txT" r="txR" b="txB"/>
              <a:pathLst>
                <a:path w="71" h="89">
                  <a:moveTo>
                    <a:pt x="36" y="89"/>
                  </a:moveTo>
                  <a:lnTo>
                    <a:pt x="48" y="83"/>
                  </a:lnTo>
                  <a:lnTo>
                    <a:pt x="60" y="78"/>
                  </a:lnTo>
                  <a:lnTo>
                    <a:pt x="71" y="60"/>
                  </a:lnTo>
                  <a:lnTo>
                    <a:pt x="71" y="42"/>
                  </a:lnTo>
                  <a:lnTo>
                    <a:pt x="71" y="24"/>
                  </a:lnTo>
                  <a:lnTo>
                    <a:pt x="60" y="12"/>
                  </a:lnTo>
                  <a:lnTo>
                    <a:pt x="48" y="6"/>
                  </a:lnTo>
                  <a:lnTo>
                    <a:pt x="36" y="0"/>
                  </a:lnTo>
                  <a:lnTo>
                    <a:pt x="24" y="6"/>
                  </a:lnTo>
                  <a:lnTo>
                    <a:pt x="12" y="12"/>
                  </a:lnTo>
                  <a:lnTo>
                    <a:pt x="6" y="24"/>
                  </a:lnTo>
                  <a:lnTo>
                    <a:pt x="0" y="42"/>
                  </a:lnTo>
                  <a:lnTo>
                    <a:pt x="6" y="60"/>
                  </a:lnTo>
                  <a:lnTo>
                    <a:pt x="12" y="78"/>
                  </a:lnTo>
                  <a:lnTo>
                    <a:pt x="24" y="83"/>
                  </a:lnTo>
                  <a:lnTo>
                    <a:pt x="36" y="8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07" name="Freeform 96"/>
            <p:cNvSpPr>
              <a:spLocks noChangeAspect="1"/>
            </p:cNvSpPr>
            <p:nvPr/>
          </p:nvSpPr>
          <p:spPr>
            <a:xfrm>
              <a:off x="3378" y="3519"/>
              <a:ext cx="88" cy="103"/>
            </a:xfrm>
            <a:custGeom>
              <a:avLst/>
              <a:gdLst>
                <a:gd name="txL" fmla="*/ 0 w 72"/>
                <a:gd name="txT" fmla="*/ 0 h 89"/>
                <a:gd name="txR" fmla="*/ 72 w 72"/>
                <a:gd name="txB" fmla="*/ 89 h 89"/>
              </a:gdLst>
              <a:ahLst/>
              <a:cxnLst>
                <a:cxn ang="0">
                  <a:pos x="10015" y="5321"/>
                </a:cxn>
                <a:cxn ang="0">
                  <a:pos x="13365" y="4928"/>
                </a:cxn>
                <a:cxn ang="0">
                  <a:pos x="16457" y="4620"/>
                </a:cxn>
                <a:cxn ang="0">
                  <a:pos x="19965" y="3604"/>
                </a:cxn>
                <a:cxn ang="0">
                  <a:pos x="19965" y="2560"/>
                </a:cxn>
                <a:cxn ang="0">
                  <a:pos x="19965" y="1436"/>
                </a:cxn>
                <a:cxn ang="0">
                  <a:pos x="16457" y="722"/>
                </a:cxn>
                <a:cxn ang="0">
                  <a:pos x="13365" y="348"/>
                </a:cxn>
                <a:cxn ang="0">
                  <a:pos x="10015" y="0"/>
                </a:cxn>
                <a:cxn ang="0">
                  <a:pos x="6550" y="348"/>
                </a:cxn>
                <a:cxn ang="0">
                  <a:pos x="3305" y="722"/>
                </a:cxn>
                <a:cxn ang="0">
                  <a:pos x="1608" y="1436"/>
                </a:cxn>
                <a:cxn ang="0">
                  <a:pos x="0" y="2560"/>
                </a:cxn>
                <a:cxn ang="0">
                  <a:pos x="1608" y="3604"/>
                </a:cxn>
                <a:cxn ang="0">
                  <a:pos x="3305" y="4620"/>
                </a:cxn>
                <a:cxn ang="0">
                  <a:pos x="6550" y="4928"/>
                </a:cxn>
                <a:cxn ang="0">
                  <a:pos x="10015" y="5321"/>
                </a:cxn>
                <a:cxn ang="0">
                  <a:pos x="10015" y="5321"/>
                </a:cxn>
              </a:cxnLst>
              <a:rect l="txL" t="txT" r="txR" b="txB"/>
              <a:pathLst>
                <a:path w="72" h="89">
                  <a:moveTo>
                    <a:pt x="36" y="89"/>
                  </a:moveTo>
                  <a:lnTo>
                    <a:pt x="48" y="83"/>
                  </a:lnTo>
                  <a:lnTo>
                    <a:pt x="60" y="78"/>
                  </a:lnTo>
                  <a:lnTo>
                    <a:pt x="72" y="60"/>
                  </a:lnTo>
                  <a:lnTo>
                    <a:pt x="72" y="42"/>
                  </a:lnTo>
                  <a:lnTo>
                    <a:pt x="72" y="24"/>
                  </a:lnTo>
                  <a:lnTo>
                    <a:pt x="60" y="12"/>
                  </a:lnTo>
                  <a:lnTo>
                    <a:pt x="48" y="6"/>
                  </a:lnTo>
                  <a:lnTo>
                    <a:pt x="36" y="0"/>
                  </a:lnTo>
                  <a:lnTo>
                    <a:pt x="24" y="6"/>
                  </a:lnTo>
                  <a:lnTo>
                    <a:pt x="12" y="12"/>
                  </a:lnTo>
                  <a:lnTo>
                    <a:pt x="6" y="24"/>
                  </a:lnTo>
                  <a:lnTo>
                    <a:pt x="0" y="42"/>
                  </a:lnTo>
                  <a:lnTo>
                    <a:pt x="6" y="60"/>
                  </a:lnTo>
                  <a:lnTo>
                    <a:pt x="12" y="78"/>
                  </a:lnTo>
                  <a:lnTo>
                    <a:pt x="24" y="83"/>
                  </a:lnTo>
                  <a:lnTo>
                    <a:pt x="36" y="8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08" name="Freeform 97"/>
            <p:cNvSpPr>
              <a:spLocks noChangeAspect="1"/>
            </p:cNvSpPr>
            <p:nvPr/>
          </p:nvSpPr>
          <p:spPr>
            <a:xfrm>
              <a:off x="2680" y="3519"/>
              <a:ext cx="88" cy="103"/>
            </a:xfrm>
            <a:custGeom>
              <a:avLst/>
              <a:gdLst>
                <a:gd name="txL" fmla="*/ 0 w 72"/>
                <a:gd name="txT" fmla="*/ 0 h 89"/>
                <a:gd name="txR" fmla="*/ 72 w 72"/>
                <a:gd name="txB" fmla="*/ 89 h 89"/>
              </a:gdLst>
              <a:ahLst/>
              <a:cxnLst>
                <a:cxn ang="0">
                  <a:pos x="10015" y="5321"/>
                </a:cxn>
                <a:cxn ang="0">
                  <a:pos x="13365" y="4928"/>
                </a:cxn>
                <a:cxn ang="0">
                  <a:pos x="16457" y="4620"/>
                </a:cxn>
                <a:cxn ang="0">
                  <a:pos x="19965" y="3604"/>
                </a:cxn>
                <a:cxn ang="0">
                  <a:pos x="19965" y="2560"/>
                </a:cxn>
                <a:cxn ang="0">
                  <a:pos x="19965" y="1436"/>
                </a:cxn>
                <a:cxn ang="0">
                  <a:pos x="16457" y="722"/>
                </a:cxn>
                <a:cxn ang="0">
                  <a:pos x="13365" y="348"/>
                </a:cxn>
                <a:cxn ang="0">
                  <a:pos x="10015" y="0"/>
                </a:cxn>
                <a:cxn ang="0">
                  <a:pos x="4937" y="348"/>
                </a:cxn>
                <a:cxn ang="0">
                  <a:pos x="3305" y="722"/>
                </a:cxn>
                <a:cxn ang="0">
                  <a:pos x="0" y="2560"/>
                </a:cxn>
                <a:cxn ang="0">
                  <a:pos x="3305" y="4620"/>
                </a:cxn>
                <a:cxn ang="0">
                  <a:pos x="4937" y="4928"/>
                </a:cxn>
                <a:cxn ang="0">
                  <a:pos x="10015" y="5321"/>
                </a:cxn>
                <a:cxn ang="0">
                  <a:pos x="10015" y="5321"/>
                </a:cxn>
              </a:cxnLst>
              <a:rect l="txL" t="txT" r="txR" b="txB"/>
              <a:pathLst>
                <a:path w="72" h="89">
                  <a:moveTo>
                    <a:pt x="36" y="89"/>
                  </a:moveTo>
                  <a:lnTo>
                    <a:pt x="48" y="83"/>
                  </a:lnTo>
                  <a:lnTo>
                    <a:pt x="60" y="78"/>
                  </a:lnTo>
                  <a:lnTo>
                    <a:pt x="72" y="60"/>
                  </a:lnTo>
                  <a:lnTo>
                    <a:pt x="72" y="42"/>
                  </a:lnTo>
                  <a:lnTo>
                    <a:pt x="72" y="24"/>
                  </a:lnTo>
                  <a:lnTo>
                    <a:pt x="60" y="12"/>
                  </a:lnTo>
                  <a:lnTo>
                    <a:pt x="48" y="6"/>
                  </a:lnTo>
                  <a:lnTo>
                    <a:pt x="36" y="0"/>
                  </a:lnTo>
                  <a:lnTo>
                    <a:pt x="18" y="6"/>
                  </a:lnTo>
                  <a:lnTo>
                    <a:pt x="12" y="12"/>
                  </a:lnTo>
                  <a:lnTo>
                    <a:pt x="0" y="42"/>
                  </a:lnTo>
                  <a:lnTo>
                    <a:pt x="12" y="78"/>
                  </a:lnTo>
                  <a:lnTo>
                    <a:pt x="18" y="83"/>
                  </a:lnTo>
                  <a:lnTo>
                    <a:pt x="36" y="8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09" name="Freeform 98"/>
            <p:cNvSpPr>
              <a:spLocks noChangeAspect="1"/>
            </p:cNvSpPr>
            <p:nvPr/>
          </p:nvSpPr>
          <p:spPr>
            <a:xfrm>
              <a:off x="1450" y="3519"/>
              <a:ext cx="87" cy="103"/>
            </a:xfrm>
            <a:custGeom>
              <a:avLst/>
              <a:gdLst>
                <a:gd name="txL" fmla="*/ 0 w 72"/>
                <a:gd name="txT" fmla="*/ 0 h 89"/>
                <a:gd name="txR" fmla="*/ 72 w 72"/>
                <a:gd name="txB" fmla="*/ 89 h 89"/>
              </a:gdLst>
              <a:ahLst/>
              <a:cxnLst>
                <a:cxn ang="0">
                  <a:pos x="7199" y="5321"/>
                </a:cxn>
                <a:cxn ang="0">
                  <a:pos x="9679" y="4928"/>
                </a:cxn>
                <a:cxn ang="0">
                  <a:pos x="11897" y="4620"/>
                </a:cxn>
                <a:cxn ang="0">
                  <a:pos x="14376" y="3604"/>
                </a:cxn>
                <a:cxn ang="0">
                  <a:pos x="14376" y="2560"/>
                </a:cxn>
                <a:cxn ang="0">
                  <a:pos x="14376" y="1436"/>
                </a:cxn>
                <a:cxn ang="0">
                  <a:pos x="11897" y="722"/>
                </a:cxn>
                <a:cxn ang="0">
                  <a:pos x="9679" y="348"/>
                </a:cxn>
                <a:cxn ang="0">
                  <a:pos x="7199" y="0"/>
                </a:cxn>
                <a:cxn ang="0">
                  <a:pos x="4876" y="348"/>
                </a:cxn>
                <a:cxn ang="0">
                  <a:pos x="2313" y="722"/>
                </a:cxn>
                <a:cxn ang="0">
                  <a:pos x="1085" y="1436"/>
                </a:cxn>
                <a:cxn ang="0">
                  <a:pos x="0" y="2560"/>
                </a:cxn>
                <a:cxn ang="0">
                  <a:pos x="1085" y="3604"/>
                </a:cxn>
                <a:cxn ang="0">
                  <a:pos x="2313" y="4620"/>
                </a:cxn>
                <a:cxn ang="0">
                  <a:pos x="4876" y="4928"/>
                </a:cxn>
                <a:cxn ang="0">
                  <a:pos x="7199" y="5321"/>
                </a:cxn>
                <a:cxn ang="0">
                  <a:pos x="7199" y="5321"/>
                </a:cxn>
              </a:cxnLst>
              <a:rect l="txL" t="txT" r="txR" b="txB"/>
              <a:pathLst>
                <a:path w="72" h="89">
                  <a:moveTo>
                    <a:pt x="36" y="89"/>
                  </a:moveTo>
                  <a:lnTo>
                    <a:pt x="48" y="83"/>
                  </a:lnTo>
                  <a:lnTo>
                    <a:pt x="60" y="78"/>
                  </a:lnTo>
                  <a:lnTo>
                    <a:pt x="72" y="60"/>
                  </a:lnTo>
                  <a:lnTo>
                    <a:pt x="72" y="42"/>
                  </a:lnTo>
                  <a:lnTo>
                    <a:pt x="72" y="24"/>
                  </a:lnTo>
                  <a:lnTo>
                    <a:pt x="60" y="12"/>
                  </a:lnTo>
                  <a:lnTo>
                    <a:pt x="48" y="6"/>
                  </a:lnTo>
                  <a:lnTo>
                    <a:pt x="36" y="0"/>
                  </a:lnTo>
                  <a:lnTo>
                    <a:pt x="24" y="6"/>
                  </a:lnTo>
                  <a:lnTo>
                    <a:pt x="12" y="12"/>
                  </a:lnTo>
                  <a:lnTo>
                    <a:pt x="6" y="24"/>
                  </a:lnTo>
                  <a:lnTo>
                    <a:pt x="0" y="42"/>
                  </a:lnTo>
                  <a:lnTo>
                    <a:pt x="6" y="60"/>
                  </a:lnTo>
                  <a:lnTo>
                    <a:pt x="12" y="78"/>
                  </a:lnTo>
                  <a:lnTo>
                    <a:pt x="24" y="83"/>
                  </a:lnTo>
                  <a:lnTo>
                    <a:pt x="36" y="8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10" name="Freeform 99"/>
            <p:cNvSpPr>
              <a:spLocks noChangeAspect="1"/>
            </p:cNvSpPr>
            <p:nvPr/>
          </p:nvSpPr>
          <p:spPr>
            <a:xfrm>
              <a:off x="4085" y="1931"/>
              <a:ext cx="87" cy="98"/>
            </a:xfrm>
            <a:custGeom>
              <a:avLst/>
              <a:gdLst>
                <a:gd name="txL" fmla="*/ 0 w 71"/>
                <a:gd name="txT" fmla="*/ 0 h 84"/>
                <a:gd name="txR" fmla="*/ 71 w 71"/>
                <a:gd name="txB" fmla="*/ 84 h 84"/>
              </a:gdLst>
              <a:ahLst/>
              <a:cxnLst>
                <a:cxn ang="0">
                  <a:pos x="10533" y="6279"/>
                </a:cxn>
                <a:cxn ang="0">
                  <a:pos x="15816" y="6279"/>
                </a:cxn>
                <a:cxn ang="0">
                  <a:pos x="19368" y="5382"/>
                </a:cxn>
                <a:cxn ang="0">
                  <a:pos x="21001" y="3165"/>
                </a:cxn>
                <a:cxn ang="0">
                  <a:pos x="19368" y="904"/>
                </a:cxn>
                <a:cxn ang="0">
                  <a:pos x="15816" y="429"/>
                </a:cxn>
                <a:cxn ang="0">
                  <a:pos x="10533" y="0"/>
                </a:cxn>
                <a:cxn ang="0">
                  <a:pos x="7015" y="429"/>
                </a:cxn>
                <a:cxn ang="0">
                  <a:pos x="3542" y="904"/>
                </a:cxn>
                <a:cxn ang="0">
                  <a:pos x="1834" y="1869"/>
                </a:cxn>
                <a:cxn ang="0">
                  <a:pos x="0" y="3165"/>
                </a:cxn>
                <a:cxn ang="0">
                  <a:pos x="1834" y="4589"/>
                </a:cxn>
                <a:cxn ang="0">
                  <a:pos x="3542" y="5382"/>
                </a:cxn>
                <a:cxn ang="0">
                  <a:pos x="7015" y="6279"/>
                </a:cxn>
                <a:cxn ang="0">
                  <a:pos x="10533" y="6279"/>
                </a:cxn>
                <a:cxn ang="0">
                  <a:pos x="10533" y="6279"/>
                </a:cxn>
              </a:cxnLst>
              <a:rect l="txL" t="txT" r="txR" b="txB"/>
              <a:pathLst>
                <a:path w="71" h="84">
                  <a:moveTo>
                    <a:pt x="36" y="84"/>
                  </a:moveTo>
                  <a:lnTo>
                    <a:pt x="54" y="84"/>
                  </a:lnTo>
                  <a:lnTo>
                    <a:pt x="65" y="72"/>
                  </a:lnTo>
                  <a:lnTo>
                    <a:pt x="71" y="42"/>
                  </a:lnTo>
                  <a:lnTo>
                    <a:pt x="65" y="12"/>
                  </a:lnTo>
                  <a:lnTo>
                    <a:pt x="54" y="6"/>
                  </a:lnTo>
                  <a:lnTo>
                    <a:pt x="36" y="0"/>
                  </a:lnTo>
                  <a:lnTo>
                    <a:pt x="24" y="6"/>
                  </a:lnTo>
                  <a:lnTo>
                    <a:pt x="12" y="12"/>
                  </a:lnTo>
                  <a:lnTo>
                    <a:pt x="6" y="24"/>
                  </a:lnTo>
                  <a:lnTo>
                    <a:pt x="0" y="42"/>
                  </a:lnTo>
                  <a:lnTo>
                    <a:pt x="6" y="60"/>
                  </a:lnTo>
                  <a:lnTo>
                    <a:pt x="12" y="72"/>
                  </a:lnTo>
                  <a:lnTo>
                    <a:pt x="24" y="84"/>
                  </a:lnTo>
                  <a:lnTo>
                    <a:pt x="36" y="8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11" name="Freeform 100"/>
            <p:cNvSpPr>
              <a:spLocks noChangeAspect="1"/>
            </p:cNvSpPr>
            <p:nvPr/>
          </p:nvSpPr>
          <p:spPr>
            <a:xfrm>
              <a:off x="3378" y="1931"/>
              <a:ext cx="88" cy="98"/>
            </a:xfrm>
            <a:custGeom>
              <a:avLst/>
              <a:gdLst>
                <a:gd name="txL" fmla="*/ 0 w 72"/>
                <a:gd name="txT" fmla="*/ 0 h 84"/>
                <a:gd name="txR" fmla="*/ 72 w 72"/>
                <a:gd name="txB" fmla="*/ 84 h 84"/>
              </a:gdLst>
              <a:ahLst/>
              <a:cxnLst>
                <a:cxn ang="0">
                  <a:pos x="10015" y="6279"/>
                </a:cxn>
                <a:cxn ang="0">
                  <a:pos x="13365" y="6279"/>
                </a:cxn>
                <a:cxn ang="0">
                  <a:pos x="16457" y="5382"/>
                </a:cxn>
                <a:cxn ang="0">
                  <a:pos x="19965" y="4589"/>
                </a:cxn>
                <a:cxn ang="0">
                  <a:pos x="19965" y="3165"/>
                </a:cxn>
                <a:cxn ang="0">
                  <a:pos x="19965" y="1869"/>
                </a:cxn>
                <a:cxn ang="0">
                  <a:pos x="16457" y="904"/>
                </a:cxn>
                <a:cxn ang="0">
                  <a:pos x="13365" y="429"/>
                </a:cxn>
                <a:cxn ang="0">
                  <a:pos x="10015" y="0"/>
                </a:cxn>
                <a:cxn ang="0">
                  <a:pos x="6550" y="429"/>
                </a:cxn>
                <a:cxn ang="0">
                  <a:pos x="3305" y="904"/>
                </a:cxn>
                <a:cxn ang="0">
                  <a:pos x="1608" y="1869"/>
                </a:cxn>
                <a:cxn ang="0">
                  <a:pos x="0" y="3165"/>
                </a:cxn>
                <a:cxn ang="0">
                  <a:pos x="1608" y="4589"/>
                </a:cxn>
                <a:cxn ang="0">
                  <a:pos x="3305" y="5382"/>
                </a:cxn>
                <a:cxn ang="0">
                  <a:pos x="6550" y="6279"/>
                </a:cxn>
                <a:cxn ang="0">
                  <a:pos x="10015" y="6279"/>
                </a:cxn>
                <a:cxn ang="0">
                  <a:pos x="10015" y="6279"/>
                </a:cxn>
              </a:cxnLst>
              <a:rect l="txL" t="txT" r="txR" b="txB"/>
              <a:pathLst>
                <a:path w="72" h="84">
                  <a:moveTo>
                    <a:pt x="36" y="84"/>
                  </a:moveTo>
                  <a:lnTo>
                    <a:pt x="48" y="84"/>
                  </a:lnTo>
                  <a:lnTo>
                    <a:pt x="60" y="72"/>
                  </a:lnTo>
                  <a:lnTo>
                    <a:pt x="72" y="60"/>
                  </a:lnTo>
                  <a:lnTo>
                    <a:pt x="72" y="42"/>
                  </a:lnTo>
                  <a:lnTo>
                    <a:pt x="72" y="24"/>
                  </a:lnTo>
                  <a:lnTo>
                    <a:pt x="60" y="12"/>
                  </a:lnTo>
                  <a:lnTo>
                    <a:pt x="48" y="6"/>
                  </a:lnTo>
                  <a:lnTo>
                    <a:pt x="36" y="0"/>
                  </a:lnTo>
                  <a:lnTo>
                    <a:pt x="24" y="6"/>
                  </a:lnTo>
                  <a:lnTo>
                    <a:pt x="12" y="12"/>
                  </a:lnTo>
                  <a:lnTo>
                    <a:pt x="6" y="24"/>
                  </a:lnTo>
                  <a:lnTo>
                    <a:pt x="0" y="42"/>
                  </a:lnTo>
                  <a:lnTo>
                    <a:pt x="6" y="60"/>
                  </a:lnTo>
                  <a:lnTo>
                    <a:pt x="12" y="72"/>
                  </a:lnTo>
                  <a:lnTo>
                    <a:pt x="24" y="84"/>
                  </a:lnTo>
                  <a:lnTo>
                    <a:pt x="36" y="8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12" name="Freeform 101"/>
            <p:cNvSpPr>
              <a:spLocks noChangeAspect="1"/>
            </p:cNvSpPr>
            <p:nvPr/>
          </p:nvSpPr>
          <p:spPr>
            <a:xfrm>
              <a:off x="2680" y="1931"/>
              <a:ext cx="88" cy="98"/>
            </a:xfrm>
            <a:custGeom>
              <a:avLst/>
              <a:gdLst>
                <a:gd name="txL" fmla="*/ 0 w 72"/>
                <a:gd name="txT" fmla="*/ 0 h 84"/>
                <a:gd name="txR" fmla="*/ 72 w 72"/>
                <a:gd name="txB" fmla="*/ 84 h 84"/>
              </a:gdLst>
              <a:ahLst/>
              <a:cxnLst>
                <a:cxn ang="0">
                  <a:pos x="10015" y="6279"/>
                </a:cxn>
                <a:cxn ang="0">
                  <a:pos x="13365" y="6279"/>
                </a:cxn>
                <a:cxn ang="0">
                  <a:pos x="16457" y="5382"/>
                </a:cxn>
                <a:cxn ang="0">
                  <a:pos x="19965" y="4589"/>
                </a:cxn>
                <a:cxn ang="0">
                  <a:pos x="19965" y="3165"/>
                </a:cxn>
                <a:cxn ang="0">
                  <a:pos x="19965" y="1869"/>
                </a:cxn>
                <a:cxn ang="0">
                  <a:pos x="16457" y="904"/>
                </a:cxn>
                <a:cxn ang="0">
                  <a:pos x="13365" y="429"/>
                </a:cxn>
                <a:cxn ang="0">
                  <a:pos x="10015" y="0"/>
                </a:cxn>
                <a:cxn ang="0">
                  <a:pos x="4937" y="429"/>
                </a:cxn>
                <a:cxn ang="0">
                  <a:pos x="3305" y="904"/>
                </a:cxn>
                <a:cxn ang="0">
                  <a:pos x="0" y="3165"/>
                </a:cxn>
                <a:cxn ang="0">
                  <a:pos x="3305" y="5382"/>
                </a:cxn>
                <a:cxn ang="0">
                  <a:pos x="4937" y="6279"/>
                </a:cxn>
                <a:cxn ang="0">
                  <a:pos x="10015" y="6279"/>
                </a:cxn>
                <a:cxn ang="0">
                  <a:pos x="10015" y="6279"/>
                </a:cxn>
              </a:cxnLst>
              <a:rect l="txL" t="txT" r="txR" b="txB"/>
              <a:pathLst>
                <a:path w="72" h="84">
                  <a:moveTo>
                    <a:pt x="36" y="84"/>
                  </a:moveTo>
                  <a:lnTo>
                    <a:pt x="48" y="84"/>
                  </a:lnTo>
                  <a:lnTo>
                    <a:pt x="60" y="72"/>
                  </a:lnTo>
                  <a:lnTo>
                    <a:pt x="72" y="60"/>
                  </a:lnTo>
                  <a:lnTo>
                    <a:pt x="72" y="42"/>
                  </a:lnTo>
                  <a:lnTo>
                    <a:pt x="72" y="24"/>
                  </a:lnTo>
                  <a:lnTo>
                    <a:pt x="60" y="12"/>
                  </a:lnTo>
                  <a:lnTo>
                    <a:pt x="48" y="6"/>
                  </a:lnTo>
                  <a:lnTo>
                    <a:pt x="36" y="0"/>
                  </a:lnTo>
                  <a:lnTo>
                    <a:pt x="18" y="6"/>
                  </a:lnTo>
                  <a:lnTo>
                    <a:pt x="12" y="12"/>
                  </a:lnTo>
                  <a:lnTo>
                    <a:pt x="0" y="42"/>
                  </a:lnTo>
                  <a:lnTo>
                    <a:pt x="12" y="72"/>
                  </a:lnTo>
                  <a:lnTo>
                    <a:pt x="18" y="84"/>
                  </a:lnTo>
                  <a:lnTo>
                    <a:pt x="36" y="8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13" name="Freeform 102"/>
            <p:cNvSpPr>
              <a:spLocks noChangeAspect="1"/>
            </p:cNvSpPr>
            <p:nvPr/>
          </p:nvSpPr>
          <p:spPr>
            <a:xfrm>
              <a:off x="1450" y="1931"/>
              <a:ext cx="87" cy="98"/>
            </a:xfrm>
            <a:custGeom>
              <a:avLst/>
              <a:gdLst>
                <a:gd name="txL" fmla="*/ 0 w 72"/>
                <a:gd name="txT" fmla="*/ 0 h 84"/>
                <a:gd name="txR" fmla="*/ 72 w 72"/>
                <a:gd name="txB" fmla="*/ 84 h 84"/>
              </a:gdLst>
              <a:ahLst/>
              <a:cxnLst>
                <a:cxn ang="0">
                  <a:pos x="7199" y="6279"/>
                </a:cxn>
                <a:cxn ang="0">
                  <a:pos x="9679" y="6279"/>
                </a:cxn>
                <a:cxn ang="0">
                  <a:pos x="11897" y="5382"/>
                </a:cxn>
                <a:cxn ang="0">
                  <a:pos x="14376" y="4589"/>
                </a:cxn>
                <a:cxn ang="0">
                  <a:pos x="14376" y="3165"/>
                </a:cxn>
                <a:cxn ang="0">
                  <a:pos x="14376" y="1869"/>
                </a:cxn>
                <a:cxn ang="0">
                  <a:pos x="11897" y="904"/>
                </a:cxn>
                <a:cxn ang="0">
                  <a:pos x="9679" y="429"/>
                </a:cxn>
                <a:cxn ang="0">
                  <a:pos x="7199" y="0"/>
                </a:cxn>
                <a:cxn ang="0">
                  <a:pos x="4876" y="429"/>
                </a:cxn>
                <a:cxn ang="0">
                  <a:pos x="2313" y="904"/>
                </a:cxn>
                <a:cxn ang="0">
                  <a:pos x="1085" y="1869"/>
                </a:cxn>
                <a:cxn ang="0">
                  <a:pos x="0" y="3165"/>
                </a:cxn>
                <a:cxn ang="0">
                  <a:pos x="1085" y="4589"/>
                </a:cxn>
                <a:cxn ang="0">
                  <a:pos x="2313" y="5382"/>
                </a:cxn>
                <a:cxn ang="0">
                  <a:pos x="4876" y="6279"/>
                </a:cxn>
                <a:cxn ang="0">
                  <a:pos x="7199" y="6279"/>
                </a:cxn>
                <a:cxn ang="0">
                  <a:pos x="7199" y="6279"/>
                </a:cxn>
              </a:cxnLst>
              <a:rect l="txL" t="txT" r="txR" b="txB"/>
              <a:pathLst>
                <a:path w="72" h="84">
                  <a:moveTo>
                    <a:pt x="36" y="84"/>
                  </a:moveTo>
                  <a:lnTo>
                    <a:pt x="48" y="84"/>
                  </a:lnTo>
                  <a:lnTo>
                    <a:pt x="60" y="72"/>
                  </a:lnTo>
                  <a:lnTo>
                    <a:pt x="72" y="60"/>
                  </a:lnTo>
                  <a:lnTo>
                    <a:pt x="72" y="42"/>
                  </a:lnTo>
                  <a:lnTo>
                    <a:pt x="72" y="24"/>
                  </a:lnTo>
                  <a:lnTo>
                    <a:pt x="60" y="12"/>
                  </a:lnTo>
                  <a:lnTo>
                    <a:pt x="48" y="6"/>
                  </a:lnTo>
                  <a:lnTo>
                    <a:pt x="36" y="0"/>
                  </a:lnTo>
                  <a:lnTo>
                    <a:pt x="24" y="6"/>
                  </a:lnTo>
                  <a:lnTo>
                    <a:pt x="12" y="12"/>
                  </a:lnTo>
                  <a:lnTo>
                    <a:pt x="6" y="24"/>
                  </a:lnTo>
                  <a:lnTo>
                    <a:pt x="0" y="42"/>
                  </a:lnTo>
                  <a:lnTo>
                    <a:pt x="6" y="60"/>
                  </a:lnTo>
                  <a:lnTo>
                    <a:pt x="12" y="72"/>
                  </a:lnTo>
                  <a:lnTo>
                    <a:pt x="24" y="84"/>
                  </a:lnTo>
                  <a:lnTo>
                    <a:pt x="36" y="8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14" name="Freeform 103"/>
            <p:cNvSpPr>
              <a:spLocks noChangeAspect="1" noEditPoints="1"/>
            </p:cNvSpPr>
            <p:nvPr/>
          </p:nvSpPr>
          <p:spPr>
            <a:xfrm>
              <a:off x="2716" y="1980"/>
              <a:ext cx="1485" cy="133"/>
            </a:xfrm>
            <a:custGeom>
              <a:avLst/>
              <a:gdLst>
                <a:gd name="txL" fmla="*/ 0 w 1220"/>
                <a:gd name="txT" fmla="*/ 0 h 114"/>
                <a:gd name="txR" fmla="*/ 1220 w 1220"/>
                <a:gd name="txB" fmla="*/ 114 h 114"/>
              </a:gdLst>
              <a:ahLst/>
              <a:cxnLst>
                <a:cxn ang="0">
                  <a:pos x="0" y="8547"/>
                </a:cxn>
                <a:cxn ang="0">
                  <a:pos x="285242" y="8547"/>
                </a:cxn>
                <a:cxn ang="0">
                  <a:pos x="0" y="8547"/>
                </a:cxn>
                <a:cxn ang="0">
                  <a:pos x="0" y="8547"/>
                </a:cxn>
                <a:cxn ang="0">
                  <a:pos x="286493" y="8155"/>
                </a:cxn>
                <a:cxn ang="0">
                  <a:pos x="292278" y="7287"/>
                </a:cxn>
                <a:cxn ang="0">
                  <a:pos x="296632" y="5382"/>
                </a:cxn>
                <a:cxn ang="0">
                  <a:pos x="298268" y="3165"/>
                </a:cxn>
                <a:cxn ang="0">
                  <a:pos x="299716" y="0"/>
                </a:cxn>
                <a:cxn ang="0">
                  <a:pos x="299716" y="0"/>
                </a:cxn>
                <a:cxn ang="0">
                  <a:pos x="298268" y="3165"/>
                </a:cxn>
                <a:cxn ang="0">
                  <a:pos x="296632" y="5382"/>
                </a:cxn>
                <a:cxn ang="0">
                  <a:pos x="292278" y="7287"/>
                </a:cxn>
                <a:cxn ang="0">
                  <a:pos x="286493" y="8155"/>
                </a:cxn>
                <a:cxn ang="0">
                  <a:pos x="286493" y="8155"/>
                </a:cxn>
              </a:cxnLst>
              <a:rect l="txL" t="txT" r="txR" b="txB"/>
              <a:pathLst>
                <a:path w="1220" h="114">
                  <a:moveTo>
                    <a:pt x="0" y="114"/>
                  </a:moveTo>
                  <a:lnTo>
                    <a:pt x="1161" y="114"/>
                  </a:lnTo>
                  <a:lnTo>
                    <a:pt x="0" y="114"/>
                  </a:lnTo>
                  <a:close/>
                  <a:moveTo>
                    <a:pt x="1167" y="108"/>
                  </a:moveTo>
                  <a:lnTo>
                    <a:pt x="1190" y="96"/>
                  </a:lnTo>
                  <a:lnTo>
                    <a:pt x="1208" y="72"/>
                  </a:lnTo>
                  <a:lnTo>
                    <a:pt x="1214" y="42"/>
                  </a:lnTo>
                  <a:lnTo>
                    <a:pt x="1220" y="0"/>
                  </a:lnTo>
                  <a:lnTo>
                    <a:pt x="1214" y="42"/>
                  </a:lnTo>
                  <a:lnTo>
                    <a:pt x="1208" y="72"/>
                  </a:lnTo>
                  <a:lnTo>
                    <a:pt x="1190" y="96"/>
                  </a:lnTo>
                  <a:lnTo>
                    <a:pt x="1167" y="10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515" name="Freeform 104"/>
            <p:cNvSpPr>
              <a:spLocks noChangeAspect="1" noEditPoints="1"/>
            </p:cNvSpPr>
            <p:nvPr/>
          </p:nvSpPr>
          <p:spPr>
            <a:xfrm>
              <a:off x="4136" y="1856"/>
              <a:ext cx="65" cy="124"/>
            </a:xfrm>
            <a:custGeom>
              <a:avLst/>
              <a:gdLst>
                <a:gd name="txL" fmla="*/ 0 w 53"/>
                <a:gd name="txT" fmla="*/ 0 h 107"/>
                <a:gd name="txR" fmla="*/ 53 w 53"/>
                <a:gd name="txB" fmla="*/ 107 h 107"/>
              </a:gdLst>
              <a:ahLst/>
              <a:cxnLst>
                <a:cxn ang="0">
                  <a:pos x="16050" y="6711"/>
                </a:cxn>
                <a:cxn ang="0">
                  <a:pos x="14316" y="4359"/>
                </a:cxn>
                <a:cxn ang="0">
                  <a:pos x="12354" y="2246"/>
                </a:cxn>
                <a:cxn ang="0">
                  <a:pos x="6988" y="737"/>
                </a:cxn>
                <a:cxn ang="0">
                  <a:pos x="0" y="0"/>
                </a:cxn>
                <a:cxn ang="0">
                  <a:pos x="0" y="0"/>
                </a:cxn>
                <a:cxn ang="0">
                  <a:pos x="6988" y="737"/>
                </a:cxn>
                <a:cxn ang="0">
                  <a:pos x="12354" y="2246"/>
                </a:cxn>
                <a:cxn ang="0">
                  <a:pos x="14316" y="4359"/>
                </a:cxn>
                <a:cxn ang="0">
                  <a:pos x="16050" y="6711"/>
                </a:cxn>
                <a:cxn ang="0">
                  <a:pos x="16050" y="6711"/>
                </a:cxn>
                <a:cxn ang="0">
                  <a:pos x="16050" y="6711"/>
                </a:cxn>
                <a:cxn ang="0">
                  <a:pos x="16050" y="6711"/>
                </a:cxn>
                <a:cxn ang="0">
                  <a:pos x="16050" y="6711"/>
                </a:cxn>
              </a:cxnLst>
              <a:rect l="txL" t="txT" r="txR" b="txB"/>
              <a:pathLst>
                <a:path w="53" h="107">
                  <a:moveTo>
                    <a:pt x="53" y="107"/>
                  </a:moveTo>
                  <a:lnTo>
                    <a:pt x="47" y="71"/>
                  </a:lnTo>
                  <a:lnTo>
                    <a:pt x="41" y="35"/>
                  </a:lnTo>
                  <a:lnTo>
                    <a:pt x="23" y="12"/>
                  </a:lnTo>
                  <a:lnTo>
                    <a:pt x="0" y="0"/>
                  </a:lnTo>
                  <a:lnTo>
                    <a:pt x="23" y="12"/>
                  </a:lnTo>
                  <a:lnTo>
                    <a:pt x="41" y="35"/>
                  </a:lnTo>
                  <a:lnTo>
                    <a:pt x="47" y="71"/>
                  </a:lnTo>
                  <a:lnTo>
                    <a:pt x="53" y="107"/>
                  </a:lnTo>
                  <a:close/>
                  <a:moveTo>
                    <a:pt x="53" y="107"/>
                  </a:moveTo>
                  <a:lnTo>
                    <a:pt x="53" y="107"/>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516" name="Freeform 105"/>
            <p:cNvSpPr>
              <a:spLocks noChangeAspect="1" noEditPoints="1"/>
            </p:cNvSpPr>
            <p:nvPr/>
          </p:nvSpPr>
          <p:spPr>
            <a:xfrm>
              <a:off x="2643" y="1856"/>
              <a:ext cx="73" cy="257"/>
            </a:xfrm>
            <a:custGeom>
              <a:avLst/>
              <a:gdLst>
                <a:gd name="txL" fmla="*/ 0 w 60"/>
                <a:gd name="txT" fmla="*/ 0 h 221"/>
                <a:gd name="txR" fmla="*/ 60 w 60"/>
                <a:gd name="txB" fmla="*/ 221 h 221"/>
              </a:gdLst>
              <a:ahLst/>
              <a:cxnLst>
                <a:cxn ang="0">
                  <a:pos x="13057" y="0"/>
                </a:cxn>
                <a:cxn ang="0">
                  <a:pos x="7467" y="840"/>
                </a:cxn>
                <a:cxn ang="0">
                  <a:pos x="3011" y="2415"/>
                </a:cxn>
                <a:cxn ang="0">
                  <a:pos x="1403" y="4888"/>
                </a:cxn>
                <a:cxn ang="0">
                  <a:pos x="0" y="7687"/>
                </a:cxn>
                <a:cxn ang="0">
                  <a:pos x="0" y="7687"/>
                </a:cxn>
                <a:cxn ang="0">
                  <a:pos x="1403" y="4888"/>
                </a:cxn>
                <a:cxn ang="0">
                  <a:pos x="3011" y="2415"/>
                </a:cxn>
                <a:cxn ang="0">
                  <a:pos x="8821" y="840"/>
                </a:cxn>
                <a:cxn ang="0">
                  <a:pos x="14458" y="0"/>
                </a:cxn>
                <a:cxn ang="0">
                  <a:pos x="13057" y="0"/>
                </a:cxn>
                <a:cxn ang="0">
                  <a:pos x="0" y="7687"/>
                </a:cxn>
                <a:cxn ang="0">
                  <a:pos x="1403" y="10167"/>
                </a:cxn>
                <a:cxn ang="0">
                  <a:pos x="3011" y="12628"/>
                </a:cxn>
                <a:cxn ang="0">
                  <a:pos x="7467" y="14295"/>
                </a:cxn>
                <a:cxn ang="0">
                  <a:pos x="13057" y="15166"/>
                </a:cxn>
                <a:cxn ang="0">
                  <a:pos x="13057" y="15166"/>
                </a:cxn>
                <a:cxn ang="0">
                  <a:pos x="7467" y="14295"/>
                </a:cxn>
                <a:cxn ang="0">
                  <a:pos x="3011" y="12628"/>
                </a:cxn>
                <a:cxn ang="0">
                  <a:pos x="1403" y="10167"/>
                </a:cxn>
                <a:cxn ang="0">
                  <a:pos x="0" y="7687"/>
                </a:cxn>
                <a:cxn ang="0">
                  <a:pos x="0" y="7687"/>
                </a:cxn>
              </a:cxnLst>
              <a:rect l="txL" t="txT" r="txR" b="txB"/>
              <a:pathLst>
                <a:path w="60" h="221">
                  <a:moveTo>
                    <a:pt x="54" y="0"/>
                  </a:moveTo>
                  <a:lnTo>
                    <a:pt x="30" y="12"/>
                  </a:lnTo>
                  <a:lnTo>
                    <a:pt x="12" y="35"/>
                  </a:lnTo>
                  <a:lnTo>
                    <a:pt x="6" y="71"/>
                  </a:lnTo>
                  <a:lnTo>
                    <a:pt x="0" y="113"/>
                  </a:lnTo>
                  <a:lnTo>
                    <a:pt x="6" y="71"/>
                  </a:lnTo>
                  <a:lnTo>
                    <a:pt x="12" y="35"/>
                  </a:lnTo>
                  <a:lnTo>
                    <a:pt x="36" y="12"/>
                  </a:lnTo>
                  <a:lnTo>
                    <a:pt x="60" y="0"/>
                  </a:lnTo>
                  <a:lnTo>
                    <a:pt x="54" y="0"/>
                  </a:lnTo>
                  <a:close/>
                  <a:moveTo>
                    <a:pt x="0" y="113"/>
                  </a:moveTo>
                  <a:lnTo>
                    <a:pt x="6" y="149"/>
                  </a:lnTo>
                  <a:lnTo>
                    <a:pt x="12" y="185"/>
                  </a:lnTo>
                  <a:lnTo>
                    <a:pt x="30" y="209"/>
                  </a:lnTo>
                  <a:lnTo>
                    <a:pt x="54" y="221"/>
                  </a:lnTo>
                  <a:lnTo>
                    <a:pt x="30" y="209"/>
                  </a:lnTo>
                  <a:lnTo>
                    <a:pt x="12" y="185"/>
                  </a:lnTo>
                  <a:lnTo>
                    <a:pt x="6" y="149"/>
                  </a:lnTo>
                  <a:lnTo>
                    <a:pt x="0" y="1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517" name="Freeform 106"/>
            <p:cNvSpPr>
              <a:spLocks noChangeAspect="1"/>
            </p:cNvSpPr>
            <p:nvPr/>
          </p:nvSpPr>
          <p:spPr>
            <a:xfrm>
              <a:off x="2643" y="1987"/>
              <a:ext cx="2" cy="1"/>
            </a:xfrm>
            <a:custGeom>
              <a:avLst/>
              <a:gdLst>
                <a:gd name="txL" fmla="*/ 0 w 2"/>
                <a:gd name="txT" fmla="*/ 0 h 1"/>
                <a:gd name="txR" fmla="*/ 2 w 2"/>
                <a:gd name="txB" fmla="*/ 1 h 1"/>
              </a:gdLst>
              <a:ahLst/>
              <a:cxnLst>
                <a:cxn ang="0">
                  <a:pos x="0" y="0"/>
                </a:cxn>
                <a:cxn ang="0">
                  <a:pos x="0" y="0"/>
                </a:cxn>
                <a:cxn ang="0">
                  <a:pos x="0" y="0"/>
                </a:cxn>
              </a:cxnLst>
              <a:rect l="txL" t="txT" r="txR" b="txB"/>
              <a:pathLst>
                <a:path w="2" h="1">
                  <a:moveTo>
                    <a:pt x="0" y="0"/>
                  </a:moveTo>
                  <a:lnTo>
                    <a:pt x="0" y="0"/>
                  </a:lnTo>
                  <a:close/>
                </a:path>
              </a:pathLst>
            </a:custGeom>
            <a:solidFill>
              <a:srgbClr val="F0027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18" name="Freeform 107"/>
            <p:cNvSpPr>
              <a:spLocks noChangeAspect="1" noEditPoints="1"/>
            </p:cNvSpPr>
            <p:nvPr/>
          </p:nvSpPr>
          <p:spPr>
            <a:xfrm>
              <a:off x="1494" y="3568"/>
              <a:ext cx="2707" cy="131"/>
            </a:xfrm>
            <a:custGeom>
              <a:avLst/>
              <a:gdLst>
                <a:gd name="txL" fmla="*/ 0 w 2225"/>
                <a:gd name="txT" fmla="*/ 0 h 113"/>
                <a:gd name="txR" fmla="*/ 2225 w 2225"/>
                <a:gd name="txB" fmla="*/ 113 h 113"/>
              </a:gdLst>
              <a:ahLst/>
              <a:cxnLst>
                <a:cxn ang="0">
                  <a:pos x="0" y="7102"/>
                </a:cxn>
                <a:cxn ang="0">
                  <a:pos x="525025" y="7102"/>
                </a:cxn>
                <a:cxn ang="0">
                  <a:pos x="0" y="7102"/>
                </a:cxn>
                <a:cxn ang="0">
                  <a:pos x="0" y="7102"/>
                </a:cxn>
                <a:cxn ang="0">
                  <a:pos x="526620" y="7102"/>
                </a:cxn>
                <a:cxn ang="0">
                  <a:pos x="532141" y="6354"/>
                </a:cxn>
                <a:cxn ang="0">
                  <a:pos x="536094" y="4786"/>
                </a:cxn>
                <a:cxn ang="0">
                  <a:pos x="537871" y="2618"/>
                </a:cxn>
                <a:cxn ang="0">
                  <a:pos x="539199" y="383"/>
                </a:cxn>
                <a:cxn ang="0">
                  <a:pos x="539199" y="0"/>
                </a:cxn>
                <a:cxn ang="0">
                  <a:pos x="537871" y="2618"/>
                </a:cxn>
                <a:cxn ang="0">
                  <a:pos x="536094" y="4786"/>
                </a:cxn>
                <a:cxn ang="0">
                  <a:pos x="532141" y="6354"/>
                </a:cxn>
                <a:cxn ang="0">
                  <a:pos x="526620" y="7102"/>
                </a:cxn>
                <a:cxn ang="0">
                  <a:pos x="526620" y="7102"/>
                </a:cxn>
              </a:cxnLst>
              <a:rect l="txL" t="txT" r="txR" b="txB"/>
              <a:pathLst>
                <a:path w="2225" h="113">
                  <a:moveTo>
                    <a:pt x="0" y="113"/>
                  </a:moveTo>
                  <a:lnTo>
                    <a:pt x="2166" y="113"/>
                  </a:lnTo>
                  <a:lnTo>
                    <a:pt x="0" y="113"/>
                  </a:lnTo>
                  <a:close/>
                  <a:moveTo>
                    <a:pt x="2172" y="113"/>
                  </a:moveTo>
                  <a:lnTo>
                    <a:pt x="2195" y="101"/>
                  </a:lnTo>
                  <a:lnTo>
                    <a:pt x="2213" y="77"/>
                  </a:lnTo>
                  <a:lnTo>
                    <a:pt x="2219" y="41"/>
                  </a:lnTo>
                  <a:lnTo>
                    <a:pt x="2225" y="6"/>
                  </a:lnTo>
                  <a:lnTo>
                    <a:pt x="2225" y="0"/>
                  </a:lnTo>
                  <a:lnTo>
                    <a:pt x="2219" y="41"/>
                  </a:lnTo>
                  <a:lnTo>
                    <a:pt x="2213" y="77"/>
                  </a:lnTo>
                  <a:lnTo>
                    <a:pt x="2195" y="101"/>
                  </a:lnTo>
                  <a:lnTo>
                    <a:pt x="2172" y="1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519" name="Freeform 108"/>
            <p:cNvSpPr>
              <a:spLocks noChangeAspect="1" noEditPoints="1"/>
            </p:cNvSpPr>
            <p:nvPr/>
          </p:nvSpPr>
          <p:spPr>
            <a:xfrm>
              <a:off x="4136" y="3442"/>
              <a:ext cx="65" cy="133"/>
            </a:xfrm>
            <a:custGeom>
              <a:avLst/>
              <a:gdLst>
                <a:gd name="txL" fmla="*/ 0 w 53"/>
                <a:gd name="txT" fmla="*/ 0 h 114"/>
                <a:gd name="txR" fmla="*/ 53 w 53"/>
                <a:gd name="txB" fmla="*/ 114 h 114"/>
              </a:gdLst>
              <a:ahLst/>
              <a:cxnLst>
                <a:cxn ang="0">
                  <a:pos x="16050" y="8155"/>
                </a:cxn>
                <a:cxn ang="0">
                  <a:pos x="14316" y="5382"/>
                </a:cxn>
                <a:cxn ang="0">
                  <a:pos x="12354" y="2713"/>
                </a:cxn>
                <a:cxn ang="0">
                  <a:pos x="6988" y="904"/>
                </a:cxn>
                <a:cxn ang="0">
                  <a:pos x="0" y="0"/>
                </a:cxn>
                <a:cxn ang="0">
                  <a:pos x="0" y="0"/>
                </a:cxn>
                <a:cxn ang="0">
                  <a:pos x="6988" y="904"/>
                </a:cxn>
                <a:cxn ang="0">
                  <a:pos x="12354" y="2713"/>
                </a:cxn>
                <a:cxn ang="0">
                  <a:pos x="14316" y="5382"/>
                </a:cxn>
                <a:cxn ang="0">
                  <a:pos x="16050" y="8547"/>
                </a:cxn>
                <a:cxn ang="0">
                  <a:pos x="16050" y="8155"/>
                </a:cxn>
                <a:cxn ang="0">
                  <a:pos x="16050" y="8155"/>
                </a:cxn>
                <a:cxn ang="0">
                  <a:pos x="16050" y="8155"/>
                </a:cxn>
                <a:cxn ang="0">
                  <a:pos x="16050" y="8155"/>
                </a:cxn>
              </a:cxnLst>
              <a:rect l="txL" t="txT" r="txR" b="txB"/>
              <a:pathLst>
                <a:path w="53" h="114">
                  <a:moveTo>
                    <a:pt x="53" y="108"/>
                  </a:moveTo>
                  <a:lnTo>
                    <a:pt x="47" y="72"/>
                  </a:lnTo>
                  <a:lnTo>
                    <a:pt x="41" y="36"/>
                  </a:lnTo>
                  <a:lnTo>
                    <a:pt x="23" y="12"/>
                  </a:lnTo>
                  <a:lnTo>
                    <a:pt x="0" y="0"/>
                  </a:lnTo>
                  <a:lnTo>
                    <a:pt x="23" y="12"/>
                  </a:lnTo>
                  <a:lnTo>
                    <a:pt x="41" y="36"/>
                  </a:lnTo>
                  <a:lnTo>
                    <a:pt x="47" y="72"/>
                  </a:lnTo>
                  <a:lnTo>
                    <a:pt x="53" y="114"/>
                  </a:lnTo>
                  <a:lnTo>
                    <a:pt x="53" y="108"/>
                  </a:lnTo>
                  <a:close/>
                  <a:moveTo>
                    <a:pt x="53" y="108"/>
                  </a:moveTo>
                  <a:lnTo>
                    <a:pt x="53" y="10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520" name="Freeform 109"/>
            <p:cNvSpPr>
              <a:spLocks noChangeAspect="1" noEditPoints="1"/>
            </p:cNvSpPr>
            <p:nvPr/>
          </p:nvSpPr>
          <p:spPr>
            <a:xfrm>
              <a:off x="1421" y="3449"/>
              <a:ext cx="73" cy="250"/>
            </a:xfrm>
            <a:custGeom>
              <a:avLst/>
              <a:gdLst>
                <a:gd name="txL" fmla="*/ 0 w 60"/>
                <a:gd name="txT" fmla="*/ 0 h 215"/>
                <a:gd name="txR" fmla="*/ 60 w 60"/>
                <a:gd name="txB" fmla="*/ 215 h 215"/>
              </a:gdLst>
              <a:ahLst/>
              <a:cxnLst>
                <a:cxn ang="0">
                  <a:pos x="14458" y="0"/>
                </a:cxn>
                <a:cxn ang="0">
                  <a:pos x="8821" y="840"/>
                </a:cxn>
                <a:cxn ang="0">
                  <a:pos x="3011" y="2485"/>
                </a:cxn>
                <a:cxn ang="0">
                  <a:pos x="1403" y="4543"/>
                </a:cxn>
                <a:cxn ang="0">
                  <a:pos x="0" y="7423"/>
                </a:cxn>
                <a:cxn ang="0">
                  <a:pos x="0" y="7423"/>
                </a:cxn>
                <a:cxn ang="0">
                  <a:pos x="1403" y="4543"/>
                </a:cxn>
                <a:cxn ang="0">
                  <a:pos x="3011" y="2485"/>
                </a:cxn>
                <a:cxn ang="0">
                  <a:pos x="8821" y="840"/>
                </a:cxn>
                <a:cxn ang="0">
                  <a:pos x="14458" y="0"/>
                </a:cxn>
                <a:cxn ang="0">
                  <a:pos x="14458" y="0"/>
                </a:cxn>
                <a:cxn ang="0">
                  <a:pos x="0" y="7423"/>
                </a:cxn>
                <a:cxn ang="0">
                  <a:pos x="1403" y="9684"/>
                </a:cxn>
                <a:cxn ang="0">
                  <a:pos x="4457" y="12209"/>
                </a:cxn>
                <a:cxn ang="0">
                  <a:pos x="8821" y="13837"/>
                </a:cxn>
                <a:cxn ang="0">
                  <a:pos x="14458" y="14657"/>
                </a:cxn>
                <a:cxn ang="0">
                  <a:pos x="14458" y="14657"/>
                </a:cxn>
                <a:cxn ang="0">
                  <a:pos x="8821" y="13837"/>
                </a:cxn>
                <a:cxn ang="0">
                  <a:pos x="4457" y="12209"/>
                </a:cxn>
                <a:cxn ang="0">
                  <a:pos x="1403" y="9684"/>
                </a:cxn>
                <a:cxn ang="0">
                  <a:pos x="0" y="7423"/>
                </a:cxn>
                <a:cxn ang="0">
                  <a:pos x="0" y="7423"/>
                </a:cxn>
              </a:cxnLst>
              <a:rect l="txL" t="txT" r="txR" b="txB"/>
              <a:pathLst>
                <a:path w="60" h="215">
                  <a:moveTo>
                    <a:pt x="60" y="0"/>
                  </a:moveTo>
                  <a:lnTo>
                    <a:pt x="36" y="12"/>
                  </a:lnTo>
                  <a:lnTo>
                    <a:pt x="12" y="36"/>
                  </a:lnTo>
                  <a:lnTo>
                    <a:pt x="6" y="66"/>
                  </a:lnTo>
                  <a:lnTo>
                    <a:pt x="0" y="108"/>
                  </a:lnTo>
                  <a:lnTo>
                    <a:pt x="6" y="66"/>
                  </a:lnTo>
                  <a:lnTo>
                    <a:pt x="12" y="36"/>
                  </a:lnTo>
                  <a:lnTo>
                    <a:pt x="36" y="12"/>
                  </a:lnTo>
                  <a:lnTo>
                    <a:pt x="60" y="0"/>
                  </a:lnTo>
                  <a:close/>
                  <a:moveTo>
                    <a:pt x="0" y="108"/>
                  </a:moveTo>
                  <a:lnTo>
                    <a:pt x="6" y="143"/>
                  </a:lnTo>
                  <a:lnTo>
                    <a:pt x="18" y="179"/>
                  </a:lnTo>
                  <a:lnTo>
                    <a:pt x="36" y="203"/>
                  </a:lnTo>
                  <a:lnTo>
                    <a:pt x="60" y="215"/>
                  </a:lnTo>
                  <a:lnTo>
                    <a:pt x="36" y="203"/>
                  </a:lnTo>
                  <a:lnTo>
                    <a:pt x="18" y="179"/>
                  </a:lnTo>
                  <a:lnTo>
                    <a:pt x="6" y="143"/>
                  </a:lnTo>
                  <a:lnTo>
                    <a:pt x="0" y="10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521" name="Freeform 110"/>
            <p:cNvSpPr>
              <a:spLocks noChangeAspect="1"/>
            </p:cNvSpPr>
            <p:nvPr/>
          </p:nvSpPr>
          <p:spPr>
            <a:xfrm>
              <a:off x="1421" y="3575"/>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F0027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22" name="Freeform 111"/>
            <p:cNvSpPr>
              <a:spLocks noChangeAspect="1"/>
            </p:cNvSpPr>
            <p:nvPr/>
          </p:nvSpPr>
          <p:spPr>
            <a:xfrm>
              <a:off x="2716" y="1856"/>
              <a:ext cx="1413" cy="1"/>
            </a:xfrm>
            <a:custGeom>
              <a:avLst/>
              <a:gdLst>
                <a:gd name="txL" fmla="*/ 0 w 1161"/>
                <a:gd name="txT" fmla="*/ 0 h 1"/>
                <a:gd name="txR" fmla="*/ 1161 w 1161"/>
                <a:gd name="txB" fmla="*/ 1 h 1"/>
              </a:gdLst>
              <a:ahLst/>
              <a:cxnLst>
                <a:cxn ang="0">
                  <a:pos x="0" y="0"/>
                </a:cxn>
                <a:cxn ang="0">
                  <a:pos x="284131" y="0"/>
                </a:cxn>
                <a:cxn ang="0">
                  <a:pos x="0" y="0"/>
                </a:cxn>
                <a:cxn ang="0">
                  <a:pos x="0" y="0"/>
                </a:cxn>
              </a:cxnLst>
              <a:rect l="txL" t="txT" r="txR" b="txB"/>
              <a:pathLst>
                <a:path w="1161" h="1">
                  <a:moveTo>
                    <a:pt x="0" y="0"/>
                  </a:moveTo>
                  <a:lnTo>
                    <a:pt x="1161" y="0"/>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523" name="Freeform 112"/>
            <p:cNvSpPr>
              <a:spLocks noChangeAspect="1"/>
            </p:cNvSpPr>
            <p:nvPr/>
          </p:nvSpPr>
          <p:spPr>
            <a:xfrm>
              <a:off x="1494" y="3442"/>
              <a:ext cx="2635" cy="1"/>
            </a:xfrm>
            <a:custGeom>
              <a:avLst/>
              <a:gdLst>
                <a:gd name="txL" fmla="*/ 0 w 2166"/>
                <a:gd name="txT" fmla="*/ 0 h 1"/>
                <a:gd name="txR" fmla="*/ 2166 w 2166"/>
                <a:gd name="txB" fmla="*/ 1 h 1"/>
              </a:gdLst>
              <a:ahLst/>
              <a:cxnLst>
                <a:cxn ang="0">
                  <a:pos x="0" y="0"/>
                </a:cxn>
                <a:cxn ang="0">
                  <a:pos x="523717" y="0"/>
                </a:cxn>
                <a:cxn ang="0">
                  <a:pos x="0" y="0"/>
                </a:cxn>
                <a:cxn ang="0">
                  <a:pos x="0" y="0"/>
                </a:cxn>
              </a:cxnLst>
              <a:rect l="txL" t="txT" r="txR" b="txB"/>
              <a:pathLst>
                <a:path w="2166" h="1">
                  <a:moveTo>
                    <a:pt x="0" y="0"/>
                  </a:moveTo>
                  <a:lnTo>
                    <a:pt x="2166" y="0"/>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17524" name="Freeform 113"/>
            <p:cNvSpPr>
              <a:spLocks noChangeAspect="1"/>
            </p:cNvSpPr>
            <p:nvPr/>
          </p:nvSpPr>
          <p:spPr>
            <a:xfrm flipH="1">
              <a:off x="2697" y="3004"/>
              <a:ext cx="57" cy="580"/>
            </a:xfrm>
            <a:custGeom>
              <a:avLst/>
              <a:gdLst>
                <a:gd name="txL" fmla="*/ 0 w 57"/>
                <a:gd name="txT" fmla="*/ 0 h 1362"/>
                <a:gd name="txR" fmla="*/ 57 w 57"/>
                <a:gd name="txB" fmla="*/ 1362 h 1362"/>
              </a:gdLst>
              <a:ahLst/>
              <a:cxnLst>
                <a:cxn ang="0">
                  <a:pos x="0" y="0"/>
                </a:cxn>
                <a:cxn ang="0">
                  <a:pos x="0" y="0"/>
                </a:cxn>
                <a:cxn ang="0">
                  <a:pos x="0" y="0"/>
                </a:cxn>
                <a:cxn ang="0">
                  <a:pos x="0" y="0"/>
                </a:cxn>
              </a:cxnLst>
              <a:rect l="txL" t="txT" r="txR" b="txB"/>
              <a:pathLst>
                <a:path w="57" h="1362">
                  <a:moveTo>
                    <a:pt x="0" y="0"/>
                  </a:moveTo>
                  <a:lnTo>
                    <a:pt x="0" y="1362"/>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25" name="Freeform 114"/>
            <p:cNvSpPr>
              <a:spLocks noChangeAspect="1"/>
            </p:cNvSpPr>
            <p:nvPr/>
          </p:nvSpPr>
          <p:spPr>
            <a:xfrm flipH="1">
              <a:off x="3391" y="3004"/>
              <a:ext cx="57" cy="566"/>
            </a:xfrm>
            <a:custGeom>
              <a:avLst/>
              <a:gdLst>
                <a:gd name="txL" fmla="*/ 0 w 57"/>
                <a:gd name="txT" fmla="*/ 0 h 1362"/>
                <a:gd name="txR" fmla="*/ 57 w 57"/>
                <a:gd name="txB" fmla="*/ 1362 h 1362"/>
              </a:gdLst>
              <a:ahLst/>
              <a:cxnLst>
                <a:cxn ang="0">
                  <a:pos x="0" y="0"/>
                </a:cxn>
                <a:cxn ang="0">
                  <a:pos x="0" y="0"/>
                </a:cxn>
                <a:cxn ang="0">
                  <a:pos x="0" y="0"/>
                </a:cxn>
                <a:cxn ang="0">
                  <a:pos x="0" y="0"/>
                </a:cxn>
              </a:cxnLst>
              <a:rect l="txL" t="txT" r="txR" b="txB"/>
              <a:pathLst>
                <a:path w="57" h="1362">
                  <a:moveTo>
                    <a:pt x="0" y="0"/>
                  </a:moveTo>
                  <a:lnTo>
                    <a:pt x="0" y="1362"/>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26" name="Line 115"/>
            <p:cNvSpPr>
              <a:spLocks noChangeAspect="1"/>
            </p:cNvSpPr>
            <p:nvPr/>
          </p:nvSpPr>
          <p:spPr>
            <a:xfrm flipH="1">
              <a:off x="1500" y="1983"/>
              <a:ext cx="409" cy="0"/>
            </a:xfrm>
            <a:prstGeom prst="line">
              <a:avLst/>
            </a:prstGeom>
            <a:ln w="9525" cap="flat" cmpd="sng">
              <a:solidFill>
                <a:schemeClr val="tx1"/>
              </a:solidFill>
              <a:prstDash val="solid"/>
              <a:headEnd type="none" w="med" len="med"/>
              <a:tailEnd type="none" w="med" len="med"/>
            </a:ln>
          </p:spPr>
        </p:sp>
      </p:grpSp>
      <p:sp>
        <p:nvSpPr>
          <p:cNvPr id="17413" name="Text Box 120"/>
          <p:cNvSpPr txBox="1"/>
          <p:nvPr/>
        </p:nvSpPr>
        <p:spPr>
          <a:xfrm>
            <a:off x="3592513" y="3632200"/>
            <a:ext cx="1717675"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cs typeface="Arial" panose="020B0604020202020204" pitchFamily="34" charset="0"/>
              </a:rPr>
              <a:t>等效的电路图</a:t>
            </a:r>
            <a:endParaRPr lang="en-US" altLang="zh-CN" sz="1800" b="1" dirty="0">
              <a:ea typeface="Arial" panose="020B0604020202020204" pitchFamily="34" charset="0"/>
            </a:endParaRPr>
          </a:p>
        </p:txBody>
      </p:sp>
      <p:sp>
        <p:nvSpPr>
          <p:cNvPr id="17414" name="Text Box 124"/>
          <p:cNvSpPr txBox="1"/>
          <p:nvPr/>
        </p:nvSpPr>
        <p:spPr>
          <a:xfrm>
            <a:off x="4789488" y="639763"/>
            <a:ext cx="295116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Arial Black" panose="020B0A04020102020204" pitchFamily="34" charset="0"/>
                <a:cs typeface="Arial" panose="020B0604020202020204" pitchFamily="34" charset="0"/>
              </a:rPr>
              <a:t>回路</a:t>
            </a:r>
            <a:endParaRPr lang="en-US" altLang="zh-CN" sz="2400" b="1" dirty="0">
              <a:latin typeface="Arial Black" panose="020B0A04020102020204" pitchFamily="34" charset="0"/>
              <a:ea typeface="Arial" panose="020B0604020202020204" pitchFamily="34" charset="0"/>
            </a:endParaRPr>
          </a:p>
        </p:txBody>
      </p:sp>
      <p:sp>
        <p:nvSpPr>
          <p:cNvPr id="17415" name="Text Box 125"/>
          <p:cNvSpPr txBox="1"/>
          <p:nvPr/>
        </p:nvSpPr>
        <p:spPr>
          <a:xfrm>
            <a:off x="5081588" y="1177925"/>
            <a:ext cx="3778250" cy="830263"/>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cs typeface="Arial" panose="020B0604020202020204" pitchFamily="34" charset="0"/>
              </a:rPr>
              <a:t>回路</a:t>
            </a:r>
            <a:r>
              <a:rPr lang="zh-CN" altLang="en-US" sz="2400" b="1" dirty="0">
                <a:cs typeface="Arial" panose="020B0604020202020204" pitchFamily="34" charset="0"/>
              </a:rPr>
              <a:t>是指电路中的任何闭合路径。</a:t>
            </a:r>
            <a:endParaRPr lang="en-US" altLang="zh-CN" sz="2400" b="1" dirty="0">
              <a:ea typeface="Arial" panose="020B0604020202020204" pitchFamily="34" charset="0"/>
            </a:endParaRPr>
          </a:p>
        </p:txBody>
      </p:sp>
      <p:sp>
        <p:nvSpPr>
          <p:cNvPr id="17416" name="Text Box 126"/>
          <p:cNvSpPr txBox="1"/>
          <p:nvPr/>
        </p:nvSpPr>
        <p:spPr>
          <a:xfrm>
            <a:off x="5310188" y="2174875"/>
            <a:ext cx="3779837"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SzTx/>
            </a:pPr>
            <a:r>
              <a:rPr lang="zh-CN" altLang="en-US" sz="2400" b="1" dirty="0">
                <a:solidFill>
                  <a:srgbClr val="FF0000"/>
                </a:solidFill>
                <a:latin typeface="Times New Roman" panose="02020603050405020304" pitchFamily="18" charset="0"/>
                <a:cs typeface="Arial" panose="020B0604020202020204" pitchFamily="34" charset="0"/>
              </a:rPr>
              <a:t>网孔</a:t>
            </a:r>
            <a:r>
              <a:rPr lang="zh-CN" altLang="en-US" sz="2400" b="1" dirty="0">
                <a:latin typeface="Times New Roman" panose="02020603050405020304" pitchFamily="18" charset="0"/>
                <a:cs typeface="Arial" panose="020B0604020202020204" pitchFamily="34" charset="0"/>
              </a:rPr>
              <a:t> </a:t>
            </a:r>
            <a:r>
              <a:rPr lang="en-US" altLang="zh-CN" sz="2400" b="1" dirty="0">
                <a:latin typeface="Times New Roman" panose="02020603050405020304" pitchFamily="18" charset="0"/>
                <a:cs typeface="Arial" panose="020B0604020202020204" pitchFamily="34" charset="0"/>
              </a:rPr>
              <a:t>(</a:t>
            </a:r>
            <a:r>
              <a:rPr lang="zh-CN" altLang="en-US" sz="2400" b="1" dirty="0">
                <a:latin typeface="Times New Roman" panose="02020603050405020304" pitchFamily="18" charset="0"/>
                <a:cs typeface="Arial" panose="020B0604020202020204" pitchFamily="34" charset="0"/>
              </a:rPr>
              <a:t>最小的回路</a:t>
            </a:r>
            <a:r>
              <a:rPr lang="en-US" altLang="zh-CN" sz="2400" b="1" dirty="0">
                <a:latin typeface="Times New Roman" panose="02020603050405020304" pitchFamily="18" charset="0"/>
                <a:cs typeface="Arial" panose="020B0604020202020204" pitchFamily="34" charset="0"/>
              </a:rPr>
              <a:t> )</a:t>
            </a:r>
            <a:endParaRPr lang="en-US" altLang="zh-CN" sz="2400" b="1" dirty="0">
              <a:latin typeface="Times New Roman" panose="02020603050405020304" pitchFamily="18" charset="0"/>
              <a:ea typeface="Arial" panose="020B0604020202020204" pitchFamily="34" charset="0"/>
            </a:endParaRPr>
          </a:p>
        </p:txBody>
      </p:sp>
      <p:sp>
        <p:nvSpPr>
          <p:cNvPr id="17417" name="灯片编号占位符 2"/>
          <p:cNvSpPr txBox="1">
            <a:spLocks noGrp="1"/>
          </p:cNvSpPr>
          <p:nvPr>
            <p:ph type="sldNum" sz="quarter" idx="11"/>
          </p:nvPr>
        </p:nvSpPr>
        <p:spPr>
          <a:xfrm>
            <a:off x="6956425" y="6381750"/>
            <a:ext cx="2133600" cy="457200"/>
          </a:xfrm>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2" name="文本框 1"/>
          <p:cNvSpPr txBox="1"/>
          <p:nvPr/>
        </p:nvSpPr>
        <p:spPr>
          <a:xfrm>
            <a:off x="810895" y="3924300"/>
            <a:ext cx="2545715" cy="3683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r>
              <a:rPr lang="zh-CN" altLang="en-US"/>
              <a:t>几个节点？几条支路？</a:t>
            </a:r>
            <a:endParaRPr lang="zh-CN" altLang="en-US"/>
          </a:p>
        </p:txBody>
      </p:sp>
      <p:sp>
        <p:nvSpPr>
          <p:cNvPr id="3" name="文本框 2"/>
          <p:cNvSpPr txBox="1"/>
          <p:nvPr/>
        </p:nvSpPr>
        <p:spPr>
          <a:xfrm>
            <a:off x="735330" y="4781550"/>
            <a:ext cx="2756535" cy="36830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p>
            <a:r>
              <a:rPr lang="zh-CN" altLang="en-US"/>
              <a:t>答：</a:t>
            </a:r>
            <a:r>
              <a:rPr lang="en-US" altLang="zh-CN"/>
              <a:t>3</a:t>
            </a:r>
            <a:r>
              <a:rPr lang="zh-CN" altLang="en-US"/>
              <a:t>个节点，</a:t>
            </a:r>
            <a:r>
              <a:rPr lang="en-US" altLang="zh-CN"/>
              <a:t>5</a:t>
            </a:r>
            <a:r>
              <a:rPr lang="zh-CN" altLang="en-US"/>
              <a:t>条支路。</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ext Box 7"/>
          <p:cNvSpPr txBox="1"/>
          <p:nvPr/>
        </p:nvSpPr>
        <p:spPr>
          <a:xfrm>
            <a:off x="323850" y="1484313"/>
            <a:ext cx="8207375" cy="1754187"/>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Arial Black" panose="020B0A04020102020204" pitchFamily="34" charset="0"/>
                <a:cs typeface="Arial" panose="020B0604020202020204" pitchFamily="34" charset="0"/>
              </a:rPr>
              <a:t>      如果两个或者多个元件首尾相连，并传递同一</a:t>
            </a:r>
            <a:r>
              <a:rPr lang="zh-CN" altLang="en-US" sz="2400" b="1" dirty="0">
                <a:solidFill>
                  <a:srgbClr val="FF0000"/>
                </a:solidFill>
                <a:latin typeface="Arial Black" panose="020B0A04020102020204" pitchFamily="34" charset="0"/>
                <a:cs typeface="Arial" panose="020B0604020202020204" pitchFamily="34" charset="0"/>
              </a:rPr>
              <a:t>电流</a:t>
            </a:r>
            <a:r>
              <a:rPr lang="zh-CN" altLang="en-US" sz="2400" b="1" dirty="0">
                <a:latin typeface="Arial Black" panose="020B0A04020102020204" pitchFamily="34" charset="0"/>
                <a:cs typeface="Arial" panose="020B0604020202020204" pitchFamily="34" charset="0"/>
              </a:rPr>
              <a:t>，则称这种连接方式为</a:t>
            </a:r>
            <a:r>
              <a:rPr lang="zh-CN" altLang="en-US" sz="2400" b="1" dirty="0">
                <a:solidFill>
                  <a:srgbClr val="FF0000"/>
                </a:solidFill>
                <a:latin typeface="黑体" panose="02010609060101010101" pitchFamily="49" charset="-122"/>
                <a:ea typeface="黑体" panose="02010609060101010101" pitchFamily="49" charset="-122"/>
              </a:rPr>
              <a:t>串联</a:t>
            </a:r>
            <a:r>
              <a:rPr lang="zh-CN" altLang="en-US" sz="2400" b="1" dirty="0">
                <a:solidFill>
                  <a:srgbClr val="FF0000"/>
                </a:solidFill>
                <a:latin typeface="Arial Black" panose="020B0A04020102020204" pitchFamily="34" charset="0"/>
                <a:cs typeface="Arial" panose="020B0604020202020204" pitchFamily="34" charset="0"/>
              </a:rPr>
              <a:t>。</a:t>
            </a:r>
            <a:endParaRPr lang="en-US" altLang="zh-CN" sz="2400" b="1" dirty="0">
              <a:latin typeface="Arial Black" panose="020B0A04020102020204" pitchFamily="34" charset="0"/>
              <a:cs typeface="Arial" panose="020B0604020202020204" pitchFamily="34" charset="0"/>
            </a:endParaRPr>
          </a:p>
          <a:p>
            <a:pPr marL="0" lvl="0" indent="0" eaLnBrk="1" hangingPunct="1">
              <a:spcBef>
                <a:spcPct val="50000"/>
              </a:spcBef>
              <a:buClrTx/>
              <a:buSzTx/>
              <a:buFontTx/>
              <a:buNone/>
            </a:pPr>
            <a:r>
              <a:rPr lang="zh-CN" altLang="en-US" sz="2400" b="1" dirty="0">
                <a:latin typeface="Arial Black" panose="020B0A04020102020204" pitchFamily="34" charset="0"/>
                <a:cs typeface="Arial" panose="020B0604020202020204" pitchFamily="34" charset="0"/>
              </a:rPr>
              <a:t>      如果两个或者多个元件分别连接到相同的两个节点上，并且它们两端的</a:t>
            </a:r>
            <a:r>
              <a:rPr lang="zh-CN" altLang="en-US" sz="2400" b="1" dirty="0">
                <a:solidFill>
                  <a:srgbClr val="FF0000"/>
                </a:solidFill>
                <a:latin typeface="Arial Black" panose="020B0A04020102020204" pitchFamily="34" charset="0"/>
                <a:cs typeface="Arial" panose="020B0604020202020204" pitchFamily="34" charset="0"/>
              </a:rPr>
              <a:t>电压</a:t>
            </a:r>
            <a:r>
              <a:rPr lang="zh-CN" altLang="en-US" sz="2400" b="1" dirty="0">
                <a:latin typeface="Arial Black" panose="020B0A04020102020204" pitchFamily="34" charset="0"/>
                <a:cs typeface="Arial" panose="020B0604020202020204" pitchFamily="34" charset="0"/>
              </a:rPr>
              <a:t>是相同的，则称这种连接方式为</a:t>
            </a:r>
            <a:r>
              <a:rPr lang="zh-CN" altLang="en-US" sz="2400" b="1" dirty="0">
                <a:solidFill>
                  <a:srgbClr val="FF0000"/>
                </a:solidFill>
                <a:latin typeface="黑体" panose="02010609060101010101" pitchFamily="49" charset="-122"/>
                <a:ea typeface="黑体" panose="02010609060101010101" pitchFamily="49" charset="-122"/>
              </a:rPr>
              <a:t>并联</a:t>
            </a:r>
            <a:r>
              <a:rPr lang="zh-CN" altLang="en-US" sz="2400" b="1" dirty="0">
                <a:solidFill>
                  <a:srgbClr val="FF0000"/>
                </a:solidFill>
                <a:latin typeface="Arial Black" panose="020B0A04020102020204" pitchFamily="34" charset="0"/>
                <a:cs typeface="Arial" panose="020B0604020202020204" pitchFamily="34" charset="0"/>
              </a:rPr>
              <a:t>。</a:t>
            </a:r>
            <a:endParaRPr lang="en-US" altLang="zh-CN" sz="2400" b="1" dirty="0">
              <a:latin typeface="Arial Black" panose="020B0A04020102020204" pitchFamily="34" charset="0"/>
              <a:ea typeface="Arial" panose="020B0604020202020204" pitchFamily="34" charset="0"/>
            </a:endParaRPr>
          </a:p>
        </p:txBody>
      </p:sp>
      <p:sp>
        <p:nvSpPr>
          <p:cNvPr id="13315" name="Text Box 9"/>
          <p:cNvSpPr txBox="1">
            <a:spLocks noChangeArrowheads="1"/>
          </p:cNvSpPr>
          <p:nvPr/>
        </p:nvSpPr>
        <p:spPr bwMode="auto">
          <a:xfrm>
            <a:off x="485775" y="692150"/>
            <a:ext cx="4535488" cy="523875"/>
          </a:xfrm>
          <a:prstGeom prst="rect">
            <a:avLst/>
          </a:prstGeom>
          <a:noFill/>
          <a:ln w="9525">
            <a:noFill/>
            <a:miter lim="800000"/>
          </a:ln>
        </p:spPr>
        <p:txBody>
          <a:bodyPr>
            <a:spAutoFit/>
          </a:bodyPr>
          <a:lstStyle/>
          <a:p>
            <a:pPr marR="0" defTabSz="914400" eaLnBrk="1" hangingPunct="1">
              <a:spcBef>
                <a:spcPct val="50000"/>
              </a:spcBef>
              <a:buClrTx/>
              <a:buSzTx/>
              <a:buFontTx/>
              <a:defRPr/>
            </a:pPr>
            <a:r>
              <a:rPr kumimoji="0" lang="zh-CN" altLang="en-US" sz="2800" b="1" kern="1200" cap="none" spc="0" normalizeH="0" baseline="0" noProof="0" dirty="0">
                <a:solidFill>
                  <a:schemeClr val="bg2">
                    <a:lumMod val="60000"/>
                    <a:lumOff val="40000"/>
                  </a:schemeClr>
                </a:solidFill>
                <a:latin typeface="Arial Black" panose="020B0A04020102020204" pitchFamily="34" charset="0"/>
                <a:ea typeface="宋体" panose="02010600030101010101" pitchFamily="2" charset="-122"/>
                <a:cs typeface="+mn-cs"/>
              </a:rPr>
              <a:t>串联和并联</a:t>
            </a:r>
            <a:endParaRPr kumimoji="0" lang="en-US" altLang="zh-CN" sz="2800" b="1" kern="1200" cap="none" spc="0" normalizeH="0" baseline="0" noProof="0" dirty="0">
              <a:solidFill>
                <a:schemeClr val="bg2">
                  <a:lumMod val="60000"/>
                  <a:lumOff val="40000"/>
                </a:schemeClr>
              </a:solidFill>
              <a:latin typeface="Arial Black" panose="020B0A04020102020204" pitchFamily="34" charset="0"/>
              <a:ea typeface="宋体" panose="02010600030101010101" pitchFamily="2" charset="-122"/>
              <a:cs typeface="+mn-cs"/>
            </a:endParaRPr>
          </a:p>
        </p:txBody>
      </p:sp>
      <p:sp>
        <p:nvSpPr>
          <p:cNvPr id="19460"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pic>
        <p:nvPicPr>
          <p:cNvPr id="19461" name="Picture 7"/>
          <p:cNvPicPr>
            <a:picLocks noChangeAspect="1"/>
          </p:cNvPicPr>
          <p:nvPr/>
        </p:nvPicPr>
        <p:blipFill>
          <a:blip r:embed="rId1"/>
          <a:stretch>
            <a:fillRect/>
          </a:stretch>
        </p:blipFill>
        <p:spPr>
          <a:xfrm>
            <a:off x="4572000" y="3716338"/>
            <a:ext cx="4321175" cy="2301875"/>
          </a:xfrm>
          <a:prstGeom prst="rect">
            <a:avLst/>
          </a:prstGeom>
          <a:noFill/>
          <a:ln w="9525">
            <a:noFill/>
          </a:ln>
        </p:spPr>
      </p:pic>
      <p:sp>
        <p:nvSpPr>
          <p:cNvPr id="19462" name="Text Box 5"/>
          <p:cNvSpPr txBox="1"/>
          <p:nvPr/>
        </p:nvSpPr>
        <p:spPr>
          <a:xfrm>
            <a:off x="323850" y="3900488"/>
            <a:ext cx="3860800" cy="212280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Times New Roman" panose="02020603050405020304" pitchFamily="18" charset="0"/>
                <a:cs typeface="Arial" panose="020B0604020202020204" pitchFamily="34" charset="0"/>
              </a:rPr>
              <a:t>例</a:t>
            </a:r>
            <a:r>
              <a:rPr lang="en-US" altLang="zh-CN" sz="2400" b="1" dirty="0">
                <a:solidFill>
                  <a:srgbClr val="FF0000"/>
                </a:solidFill>
                <a:latin typeface="Times New Roman" panose="02020603050405020304" pitchFamily="18" charset="0"/>
                <a:cs typeface="Arial" panose="020B0604020202020204" pitchFamily="34" charset="0"/>
              </a:rPr>
              <a:t>2-4</a:t>
            </a:r>
            <a:r>
              <a:rPr lang="zh-CN" altLang="en-US" sz="2400" b="1" dirty="0">
                <a:solidFill>
                  <a:srgbClr val="FF0000"/>
                </a:solidFill>
                <a:latin typeface="Times New Roman" panose="02020603050405020304" pitchFamily="18" charset="0"/>
                <a:cs typeface="Arial" panose="020B0604020202020204" pitchFamily="34" charset="0"/>
              </a:rPr>
              <a:t>：</a:t>
            </a:r>
            <a:endParaRPr lang="en-US" altLang="zh-CN" sz="2400" b="1" dirty="0">
              <a:solidFill>
                <a:srgbClr val="FF0000"/>
              </a:solidFill>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solidFill>
                  <a:srgbClr val="FF0000"/>
                </a:solidFill>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试确定右图电路中支路和节点的数量，并确定哪些元件是串联的，哪些元件是并联的。</a:t>
            </a:r>
            <a:endParaRPr lang="en-US" altLang="zh-CN" sz="2400" b="1" dirty="0">
              <a:latin typeface="Times New Roman" panose="02020603050405020304" pitchFamily="18" charset="0"/>
              <a:ea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xfrm>
            <a:off x="539750" y="1416050"/>
            <a:ext cx="5903913" cy="1638300"/>
          </a:xfrm>
        </p:spPr>
        <p:txBody>
          <a:bodyPr vert="horz" wrap="square" lIns="91440" tIns="45720" rIns="91440" bIns="45720" anchor="ctr"/>
          <a:p>
            <a:r>
              <a:rPr lang="zh-CN" altLang="en-US" sz="2800" b="1" dirty="0">
                <a:solidFill>
                  <a:schemeClr val="bg2"/>
                </a:solidFill>
                <a:latin typeface="Times New Roman" panose="02020603050405020304" pitchFamily="18" charset="0"/>
              </a:rPr>
              <a:t>解</a:t>
            </a:r>
            <a:r>
              <a:rPr lang="en-US" altLang="zh-CN" sz="2800" b="1" dirty="0">
                <a:solidFill>
                  <a:schemeClr val="bg2"/>
                </a:solidFill>
                <a:latin typeface="Times New Roman" panose="02020603050405020304" pitchFamily="18" charset="0"/>
              </a:rPr>
              <a:t>:</a:t>
            </a:r>
            <a:br>
              <a:rPr lang="en-US" altLang="zh-CN" sz="2800" b="1" dirty="0">
                <a:solidFill>
                  <a:schemeClr val="bg2"/>
                </a:solidFill>
                <a:latin typeface="Times New Roman" panose="02020603050405020304" pitchFamily="18" charset="0"/>
              </a:rPr>
            </a:br>
            <a:br>
              <a:rPr lang="en-US" altLang="zh-CN" sz="2400" b="1" dirty="0">
                <a:latin typeface="Times New Roman" panose="02020603050405020304" pitchFamily="18" charset="0"/>
              </a:rPr>
            </a:br>
            <a:r>
              <a:rPr lang="zh-CN" altLang="en-US" sz="2400" b="1" dirty="0">
                <a:latin typeface="Times New Roman" panose="02020603050405020304" pitchFamily="18" charset="0"/>
              </a:rPr>
              <a:t>电路有</a:t>
            </a:r>
            <a:r>
              <a:rPr lang="en-US" altLang="zh-CN" sz="2400" b="1" dirty="0">
                <a:latin typeface="Times New Roman" panose="02020603050405020304" pitchFamily="18" charset="0"/>
              </a:rPr>
              <a:t>4</a:t>
            </a:r>
            <a:r>
              <a:rPr lang="zh-CN" altLang="en-US" sz="2400" b="1" dirty="0">
                <a:latin typeface="Times New Roman" panose="02020603050405020304" pitchFamily="18" charset="0"/>
              </a:rPr>
              <a:t>条支路。电路有</a:t>
            </a:r>
            <a:r>
              <a:rPr lang="en-US" altLang="zh-CN" sz="2400" b="1" dirty="0">
                <a:latin typeface="Times New Roman" panose="02020603050405020304" pitchFamily="18" charset="0"/>
              </a:rPr>
              <a:t>3</a:t>
            </a:r>
            <a:r>
              <a:rPr lang="zh-CN" altLang="en-US" sz="2400" b="1" dirty="0">
                <a:latin typeface="Times New Roman" panose="02020603050405020304" pitchFamily="18" charset="0"/>
              </a:rPr>
              <a:t>个节点。</a:t>
            </a:r>
            <a:br>
              <a:rPr lang="en-US" altLang="zh-CN" sz="2400" b="1" dirty="0">
                <a:latin typeface="Times New Roman" panose="02020603050405020304" pitchFamily="18" charset="0"/>
              </a:rPr>
            </a:br>
            <a:r>
              <a:rPr lang="en-US" altLang="zh-CN" sz="2400" b="1" dirty="0">
                <a:latin typeface="Times New Roman" panose="02020603050405020304" pitchFamily="18" charset="0"/>
              </a:rPr>
              <a:t>5-Ω</a:t>
            </a:r>
            <a:r>
              <a:rPr lang="zh-CN" altLang="en-US" sz="2400" b="1" dirty="0">
                <a:latin typeface="Times New Roman" panose="02020603050405020304" pitchFamily="18" charset="0"/>
              </a:rPr>
              <a:t>电阻是</a:t>
            </a:r>
            <a:r>
              <a:rPr lang="en-US" altLang="zh-CN" sz="2400" b="1" dirty="0">
                <a:latin typeface="Times New Roman" panose="02020603050405020304" pitchFamily="18" charset="0"/>
              </a:rPr>
              <a:t>10 V</a:t>
            </a:r>
            <a:r>
              <a:rPr lang="zh-CN" altLang="en-US" sz="2400" b="1" dirty="0">
                <a:latin typeface="Times New Roman" panose="02020603050405020304" pitchFamily="18" charset="0"/>
              </a:rPr>
              <a:t>电压源串联在一起。</a:t>
            </a:r>
            <a:br>
              <a:rPr lang="en-US" altLang="zh-CN" sz="2400" b="1" dirty="0">
                <a:latin typeface="Times New Roman" panose="02020603050405020304" pitchFamily="18" charset="0"/>
              </a:rPr>
            </a:br>
            <a:r>
              <a:rPr lang="en-US" altLang="zh-CN" sz="2400" b="1" dirty="0">
                <a:latin typeface="Times New Roman" panose="02020603050405020304" pitchFamily="18" charset="0"/>
              </a:rPr>
              <a:t>6-Ω</a:t>
            </a:r>
            <a:r>
              <a:rPr lang="zh-CN" altLang="en-US" sz="2400" b="1" dirty="0">
                <a:latin typeface="Times New Roman" panose="02020603050405020304" pitchFamily="18" charset="0"/>
              </a:rPr>
              <a:t>电阻与</a:t>
            </a:r>
            <a:r>
              <a:rPr lang="en-US" altLang="zh-CN" sz="2400" b="1" dirty="0">
                <a:latin typeface="Times New Roman" panose="02020603050405020304" pitchFamily="18" charset="0"/>
              </a:rPr>
              <a:t>2-A</a:t>
            </a:r>
            <a:r>
              <a:rPr lang="zh-CN" altLang="en-US" sz="2400" b="1" dirty="0">
                <a:latin typeface="Times New Roman" panose="02020603050405020304" pitchFamily="18" charset="0"/>
              </a:rPr>
              <a:t>电流源并联。</a:t>
            </a:r>
            <a:br>
              <a:rPr lang="en-US" altLang="zh-CN" sz="2400" b="1" dirty="0">
                <a:latin typeface="Times New Roman" panose="02020603050405020304" pitchFamily="18" charset="0"/>
              </a:rPr>
            </a:br>
            <a:endParaRPr lang="zh-CN" altLang="en-US" sz="2400" b="1" dirty="0">
              <a:latin typeface="Times New Roman" panose="02020603050405020304" pitchFamily="18" charset="0"/>
            </a:endParaRPr>
          </a:p>
        </p:txBody>
      </p:sp>
      <p:pic>
        <p:nvPicPr>
          <p:cNvPr id="21507" name="Picture 6"/>
          <p:cNvPicPr>
            <a:picLocks noGrp="1" noChangeAspect="1"/>
          </p:cNvPicPr>
          <p:nvPr>
            <p:ph idx="1"/>
          </p:nvPr>
        </p:nvPicPr>
        <p:blipFill>
          <a:blip r:embed="rId1"/>
          <a:srcRect/>
          <a:stretch>
            <a:fillRect/>
          </a:stretch>
        </p:blipFill>
        <p:spPr>
          <a:xfrm>
            <a:off x="1601788" y="3429000"/>
            <a:ext cx="5256212" cy="2794000"/>
          </a:xfrm>
        </p:spPr>
      </p:pic>
      <p:sp>
        <p:nvSpPr>
          <p:cNvPr id="21508" name="Text Box 5"/>
          <p:cNvSpPr txBox="1"/>
          <p:nvPr/>
        </p:nvSpPr>
        <p:spPr>
          <a:xfrm>
            <a:off x="2392363" y="4946650"/>
            <a:ext cx="184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21509"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21510" name="文本框 1"/>
          <p:cNvSpPr txBox="1"/>
          <p:nvPr/>
        </p:nvSpPr>
        <p:spPr>
          <a:xfrm>
            <a:off x="5087938" y="528638"/>
            <a:ext cx="3540125" cy="1016000"/>
          </a:xfrm>
          <a:prstGeom prst="rect">
            <a:avLst/>
          </a:prstGeom>
          <a:noFill/>
          <a:ln w="9525" cap="flat" cmpd="sng">
            <a:solidFill>
              <a:srgbClr val="FF0000"/>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en-US" altLang="zh-CN" sz="2000" b="1" dirty="0"/>
              <a:t>Note</a:t>
            </a:r>
            <a:r>
              <a:rPr lang="zh-CN" altLang="en-US" sz="2000" b="1" dirty="0"/>
              <a:t>：</a:t>
            </a:r>
            <a:endParaRPr lang="en-US" altLang="zh-CN" sz="2000" b="1" dirty="0"/>
          </a:p>
          <a:p>
            <a:pPr marL="0" lvl="0" indent="0">
              <a:spcBef>
                <a:spcPct val="0"/>
              </a:spcBef>
              <a:buClrTx/>
              <a:buSzTx/>
              <a:buFontTx/>
              <a:buNone/>
            </a:pPr>
            <a:r>
              <a:rPr lang="zh-CN" altLang="en-US" sz="2000" b="1" dirty="0"/>
              <a:t>不同的节点具有不同的电压，</a:t>
            </a:r>
            <a:endParaRPr lang="en-US" altLang="zh-CN" sz="2000" b="1" dirty="0"/>
          </a:p>
          <a:p>
            <a:pPr marL="0" lvl="0" indent="0">
              <a:spcBef>
                <a:spcPct val="0"/>
              </a:spcBef>
              <a:buClrTx/>
              <a:buSzTx/>
              <a:buFontTx/>
              <a:buNone/>
            </a:pPr>
            <a:r>
              <a:rPr lang="zh-CN" altLang="en-US" sz="2000" b="1" dirty="0"/>
              <a:t>不同的支路具有不同的电流。</a:t>
            </a:r>
            <a:endParaRPr lang="zh-CN" altLang="en-US" sz="2000"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842645" y="3386455"/>
            <a:ext cx="2545715" cy="3683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r>
              <a:rPr lang="zh-CN" altLang="en-US"/>
              <a:t>几个节点？几条支路？</a:t>
            </a:r>
            <a:endParaRPr lang="zh-CN" altLang="en-US"/>
          </a:p>
        </p:txBody>
      </p:sp>
      <p:sp>
        <p:nvSpPr>
          <p:cNvPr id="5" name="文本框 4"/>
          <p:cNvSpPr txBox="1"/>
          <p:nvPr/>
        </p:nvSpPr>
        <p:spPr>
          <a:xfrm>
            <a:off x="4655185" y="3520440"/>
            <a:ext cx="2756535" cy="36830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p>
            <a:r>
              <a:rPr lang="zh-CN" altLang="en-US"/>
              <a:t>答：</a:t>
            </a:r>
            <a:r>
              <a:rPr lang="en-US" altLang="zh-CN"/>
              <a:t>3</a:t>
            </a:r>
            <a:r>
              <a:rPr lang="zh-CN" altLang="en-US"/>
              <a:t>个节点，</a:t>
            </a:r>
            <a:r>
              <a:rPr lang="en-US" altLang="zh-CN"/>
              <a:t>5</a:t>
            </a:r>
            <a:r>
              <a:rPr lang="zh-CN" altLang="en-US"/>
              <a:t>条支路。</a:t>
            </a:r>
            <a:endParaRPr lang="zh-CN" altLang="en-US"/>
          </a:p>
        </p:txBody>
      </p:sp>
      <p:sp>
        <p:nvSpPr>
          <p:cNvPr id="19462" name="Text Box 5"/>
          <p:cNvSpPr txBox="1"/>
          <p:nvPr/>
        </p:nvSpPr>
        <p:spPr>
          <a:xfrm>
            <a:off x="614045" y="872173"/>
            <a:ext cx="3860800" cy="212280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Times New Roman" panose="02020603050405020304" pitchFamily="18" charset="0"/>
                <a:cs typeface="Arial" panose="020B0604020202020204" pitchFamily="34" charset="0"/>
              </a:rPr>
              <a:t>练习</a:t>
            </a:r>
            <a:r>
              <a:rPr lang="en-US" altLang="zh-CN" sz="2400" b="1" dirty="0">
                <a:solidFill>
                  <a:srgbClr val="FF0000"/>
                </a:solidFill>
                <a:latin typeface="Times New Roman" panose="02020603050405020304" pitchFamily="18" charset="0"/>
                <a:cs typeface="Arial" panose="020B0604020202020204" pitchFamily="34" charset="0"/>
              </a:rPr>
              <a:t>2-4</a:t>
            </a:r>
            <a:r>
              <a:rPr lang="zh-CN" altLang="en-US" sz="2400" b="1" dirty="0">
                <a:solidFill>
                  <a:srgbClr val="FF0000"/>
                </a:solidFill>
                <a:latin typeface="Times New Roman" panose="02020603050405020304" pitchFamily="18" charset="0"/>
                <a:cs typeface="Arial" panose="020B0604020202020204" pitchFamily="34" charset="0"/>
              </a:rPr>
              <a:t>：</a:t>
            </a:r>
            <a:endParaRPr lang="en-US" altLang="zh-CN" sz="2400" b="1" dirty="0">
              <a:solidFill>
                <a:srgbClr val="FF0000"/>
              </a:solidFill>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solidFill>
                  <a:srgbClr val="FF0000"/>
                </a:solidFill>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试确定右图电路中支路和节点的数量，并确定哪些元件是串联的，哪些元件是并联的。</a:t>
            </a:r>
            <a:endParaRPr lang="en-US" altLang="zh-CN" sz="2400" b="1" dirty="0">
              <a:latin typeface="Times New Roman" panose="02020603050405020304" pitchFamily="18" charset="0"/>
              <a:ea typeface="Arial" panose="020B0604020202020204" pitchFamily="34" charset="0"/>
            </a:endParaRPr>
          </a:p>
        </p:txBody>
      </p:sp>
      <p:pic>
        <p:nvPicPr>
          <p:cNvPr id="6" name="图片 5"/>
          <p:cNvPicPr>
            <a:picLocks noChangeAspect="1"/>
          </p:cNvPicPr>
          <p:nvPr/>
        </p:nvPicPr>
        <p:blipFill>
          <a:blip r:embed="rId1"/>
          <a:stretch>
            <a:fillRect/>
          </a:stretch>
        </p:blipFill>
        <p:spPr>
          <a:xfrm>
            <a:off x="4474845" y="1094740"/>
            <a:ext cx="3923030" cy="2343785"/>
          </a:xfrm>
          <a:prstGeom prst="rect">
            <a:avLst/>
          </a:prstGeom>
        </p:spPr>
      </p:pic>
      <p:pic>
        <p:nvPicPr>
          <p:cNvPr id="7" name="图片 6"/>
          <p:cNvPicPr>
            <a:picLocks noChangeAspect="1"/>
          </p:cNvPicPr>
          <p:nvPr/>
        </p:nvPicPr>
        <p:blipFill>
          <a:blip r:embed="rId2"/>
          <a:stretch>
            <a:fillRect/>
          </a:stretch>
        </p:blipFill>
        <p:spPr>
          <a:xfrm>
            <a:off x="842645" y="4611370"/>
            <a:ext cx="6973570" cy="8629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535940" y="601980"/>
            <a:ext cx="7574280" cy="1889125"/>
          </a:xfrm>
          <a:prstGeom prst="rect">
            <a:avLst/>
          </a:prstGeom>
        </p:spPr>
      </p:pic>
      <p:pic>
        <p:nvPicPr>
          <p:cNvPr id="5" name="图片 4"/>
          <p:cNvPicPr>
            <a:picLocks noChangeAspect="1"/>
          </p:cNvPicPr>
          <p:nvPr/>
        </p:nvPicPr>
        <p:blipFill>
          <a:blip r:embed="rId2"/>
          <a:stretch>
            <a:fillRect/>
          </a:stretch>
        </p:blipFill>
        <p:spPr>
          <a:xfrm>
            <a:off x="578485" y="2966720"/>
            <a:ext cx="7987030" cy="923925"/>
          </a:xfrm>
          <a:prstGeom prst="rect">
            <a:avLst/>
          </a:prstGeom>
        </p:spPr>
      </p:pic>
      <p:sp>
        <p:nvSpPr>
          <p:cNvPr id="6" name="文本框 5"/>
          <p:cNvSpPr txBox="1"/>
          <p:nvPr/>
        </p:nvSpPr>
        <p:spPr>
          <a:xfrm>
            <a:off x="2155825" y="4573270"/>
            <a:ext cx="2046605" cy="368300"/>
          </a:xfrm>
          <a:prstGeom prst="rect">
            <a:avLst/>
          </a:prstGeom>
          <a:noFill/>
        </p:spPr>
        <p:txBody>
          <a:bodyPr wrap="square" rtlCol="0">
            <a:spAutoFit/>
          </a:bodyPr>
          <a:p>
            <a:r>
              <a:rPr lang="zh-CN" altLang="en-US"/>
              <a:t>答：（</a:t>
            </a:r>
            <a:r>
              <a:rPr lang="en-US" altLang="zh-CN"/>
              <a:t>C)</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a:xfrm>
            <a:off x="457200" y="457200"/>
            <a:ext cx="8229600" cy="811213"/>
          </a:xfrm>
        </p:spPr>
        <p:txBody>
          <a:bodyPr vert="horz" wrap="square" lIns="91440" tIns="45720" rIns="91440" bIns="45720" anchor="ctr"/>
          <a:p>
            <a:pPr eaLnBrk="1" hangingPunct="1"/>
            <a:r>
              <a:rPr lang="en-US" altLang="zh-CN" b="1" dirty="0">
                <a:solidFill>
                  <a:srgbClr val="0000FF"/>
                </a:solidFill>
                <a:latin typeface="Franklin Gothic Medium" panose="020B0603020102020204" pitchFamily="34" charset="0"/>
              </a:rPr>
              <a:t>2.4  </a:t>
            </a:r>
            <a:r>
              <a:rPr lang="zh-CN" altLang="en-US" b="1" dirty="0">
                <a:solidFill>
                  <a:srgbClr val="0000FF"/>
                </a:solidFill>
                <a:latin typeface="Franklin Gothic Medium" panose="020B0603020102020204" pitchFamily="34" charset="0"/>
              </a:rPr>
              <a:t>基尔霍夫定律</a:t>
            </a:r>
            <a:r>
              <a:rPr lang="zh-CN" altLang="en-US" sz="4000" b="1" dirty="0">
                <a:solidFill>
                  <a:srgbClr val="C00000"/>
                </a:solidFill>
                <a:latin typeface="Franklin Gothic Medium" panose="020B0603020102020204" pitchFamily="34" charset="0"/>
                <a:cs typeface="Arial" panose="020B0604020202020204" pitchFamily="34" charset="0"/>
              </a:rPr>
              <a:t>（拓扑约束）</a:t>
            </a:r>
            <a:endParaRPr lang="en-US" altLang="zh-CN" b="1" dirty="0">
              <a:solidFill>
                <a:srgbClr val="0000FF"/>
              </a:solidFill>
              <a:latin typeface="Franklin Gothic Medium" panose="020B0603020102020204" pitchFamily="34" charset="0"/>
            </a:endParaRPr>
          </a:p>
        </p:txBody>
      </p:sp>
      <p:sp>
        <p:nvSpPr>
          <p:cNvPr id="22531" name="Text Box 4"/>
          <p:cNvSpPr txBox="1"/>
          <p:nvPr/>
        </p:nvSpPr>
        <p:spPr>
          <a:xfrm>
            <a:off x="395288" y="1571625"/>
            <a:ext cx="5111750" cy="523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457200" lvl="0" indent="-457200" eaLnBrk="1" hangingPunct="1">
              <a:spcBef>
                <a:spcPct val="50000"/>
              </a:spcBef>
              <a:buClrTx/>
              <a:buSzTx/>
            </a:pPr>
            <a:r>
              <a:rPr lang="zh-CN" altLang="en-US" sz="2800" b="1" dirty="0">
                <a:latin typeface="Arial Black" panose="020B0A04020102020204" pitchFamily="34" charset="0"/>
                <a:cs typeface="Arial" panose="020B0604020202020204" pitchFamily="34" charset="0"/>
              </a:rPr>
              <a:t>基尔霍夫电流定律（</a:t>
            </a:r>
            <a:r>
              <a:rPr lang="en-US" altLang="zh-CN" sz="2800" b="1" dirty="0">
                <a:solidFill>
                  <a:srgbClr val="C00000"/>
                </a:solidFill>
                <a:latin typeface="Arial Black" panose="020B0A04020102020204" pitchFamily="34" charset="0"/>
                <a:cs typeface="Arial" panose="020B0604020202020204" pitchFamily="34" charset="0"/>
              </a:rPr>
              <a:t>KCL</a:t>
            </a:r>
            <a:r>
              <a:rPr lang="zh-CN" altLang="en-US" sz="2800" b="1" dirty="0">
                <a:latin typeface="Arial Black" panose="020B0A04020102020204" pitchFamily="34" charset="0"/>
                <a:cs typeface="Arial" panose="020B0604020202020204" pitchFamily="34" charset="0"/>
              </a:rPr>
              <a:t>）</a:t>
            </a:r>
            <a:endParaRPr lang="en-US" altLang="zh-CN" sz="2800" b="1" dirty="0">
              <a:latin typeface="Arial Black" panose="020B0A04020102020204" pitchFamily="34" charset="0"/>
              <a:ea typeface="Arial" panose="020B0604020202020204" pitchFamily="34" charset="0"/>
            </a:endParaRPr>
          </a:p>
        </p:txBody>
      </p:sp>
      <p:sp>
        <p:nvSpPr>
          <p:cNvPr id="22532" name="Text Box 5"/>
          <p:cNvSpPr txBox="1"/>
          <p:nvPr/>
        </p:nvSpPr>
        <p:spPr>
          <a:xfrm>
            <a:off x="481013" y="2362200"/>
            <a:ext cx="8137525" cy="830263"/>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Arial Black" panose="020B0A04020102020204" pitchFamily="34" charset="0"/>
                <a:cs typeface="Arial" panose="020B0604020202020204" pitchFamily="34" charset="0"/>
              </a:rPr>
              <a:t>    基尔霍夫电流定律</a:t>
            </a:r>
            <a:r>
              <a:rPr lang="zh-CN" altLang="en-US" sz="2400" b="1" dirty="0">
                <a:latin typeface="Arial Black" panose="020B0A04020102020204" pitchFamily="34" charset="0"/>
                <a:cs typeface="Arial" panose="020B0604020202020204" pitchFamily="34" charset="0"/>
              </a:rPr>
              <a:t>指出，流进一个节点</a:t>
            </a:r>
            <a:r>
              <a:rPr lang="en-US" altLang="zh-CN" sz="2400" b="1" dirty="0">
                <a:latin typeface="Arial Black" panose="020B0A04020102020204" pitchFamily="34" charset="0"/>
                <a:cs typeface="Arial" panose="020B0604020202020204" pitchFamily="34" charset="0"/>
              </a:rPr>
              <a:t>(</a:t>
            </a:r>
            <a:r>
              <a:rPr lang="zh-CN" altLang="en-US" sz="2400" b="1" dirty="0">
                <a:latin typeface="Arial Black" panose="020B0A04020102020204" pitchFamily="34" charset="0"/>
                <a:cs typeface="Arial" panose="020B0604020202020204" pitchFamily="34" charset="0"/>
              </a:rPr>
              <a:t>或一个闭合界面</a:t>
            </a:r>
            <a:r>
              <a:rPr lang="en-US" altLang="zh-CN" sz="2400" b="1" dirty="0">
                <a:latin typeface="Arial Black" panose="020B0A04020102020204" pitchFamily="34" charset="0"/>
                <a:cs typeface="Arial" panose="020B0604020202020204" pitchFamily="34" charset="0"/>
              </a:rPr>
              <a:t>)</a:t>
            </a:r>
            <a:r>
              <a:rPr lang="zh-CN" altLang="en-US" sz="2400" b="1" dirty="0">
                <a:latin typeface="Arial Black" panose="020B0A04020102020204" pitchFamily="34" charset="0"/>
                <a:cs typeface="Arial" panose="020B0604020202020204" pitchFamily="34" charset="0"/>
              </a:rPr>
              <a:t>的电流代数和为零。</a:t>
            </a:r>
            <a:endParaRPr lang="en-US" altLang="zh-CN" sz="2400" b="1" dirty="0">
              <a:latin typeface="Arial Black" panose="020B0A04020102020204" pitchFamily="34" charset="0"/>
              <a:ea typeface="Arial" panose="020B0604020202020204" pitchFamily="34" charset="0"/>
            </a:endParaRPr>
          </a:p>
        </p:txBody>
      </p:sp>
      <p:graphicFrame>
        <p:nvGraphicFramePr>
          <p:cNvPr id="22533" name="Object 7"/>
          <p:cNvGraphicFramePr>
            <a:graphicFrameLocks noChangeAspect="1"/>
          </p:cNvGraphicFramePr>
          <p:nvPr/>
        </p:nvGraphicFramePr>
        <p:xfrm>
          <a:off x="2484438" y="3462338"/>
          <a:ext cx="1873250" cy="1446212"/>
        </p:xfrm>
        <a:graphic>
          <a:graphicData uri="http://schemas.openxmlformats.org/presentationml/2006/ole">
            <mc:AlternateContent xmlns:mc="http://schemas.openxmlformats.org/markup-compatibility/2006">
              <mc:Choice xmlns:v="urn:schemas-microsoft-com:vml" Requires="v">
                <p:oleObj spid="_x0000_s3076" name="" r:id="rId1" imgW="558800" imgH="431800" progId="Equation.DSMT4">
                  <p:embed/>
                </p:oleObj>
              </mc:Choice>
              <mc:Fallback>
                <p:oleObj name="" r:id="rId1" imgW="558800" imgH="431800" progId="Equation.DSMT4">
                  <p:embed/>
                  <p:pic>
                    <p:nvPicPr>
                      <p:cNvPr id="0" name="图片 3075"/>
                      <p:cNvPicPr/>
                      <p:nvPr/>
                    </p:nvPicPr>
                    <p:blipFill>
                      <a:blip r:embed="rId2"/>
                      <a:stretch>
                        <a:fillRect/>
                      </a:stretch>
                    </p:blipFill>
                    <p:spPr>
                      <a:xfrm>
                        <a:off x="2484438" y="3462338"/>
                        <a:ext cx="1873250" cy="1446212"/>
                      </a:xfrm>
                      <a:prstGeom prst="rect">
                        <a:avLst/>
                      </a:prstGeom>
                      <a:noFill/>
                      <a:ln w="9525" cap="flat" cmpd="sng">
                        <a:solidFill>
                          <a:srgbClr val="CC0000"/>
                        </a:solidFill>
                        <a:prstDash val="solid"/>
                        <a:miter/>
                        <a:headEnd type="none" w="med" len="med"/>
                        <a:tailEnd type="none" w="med" len="med"/>
                      </a:ln>
                    </p:spPr>
                  </p:pic>
                </p:oleObj>
              </mc:Fallback>
            </mc:AlternateContent>
          </a:graphicData>
        </a:graphic>
      </p:graphicFrame>
      <p:sp>
        <p:nvSpPr>
          <p:cNvPr id="22534" name="Text Box 8"/>
          <p:cNvSpPr txBox="1"/>
          <p:nvPr/>
        </p:nvSpPr>
        <p:spPr>
          <a:xfrm>
            <a:off x="481013" y="5516563"/>
            <a:ext cx="8424862"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ClrTx/>
              <a:buSzTx/>
            </a:pPr>
            <a:r>
              <a:rPr lang="zh-CN" altLang="en-US" sz="2400" b="1" dirty="0">
                <a:latin typeface="Times New Roman" panose="02020603050405020304" pitchFamily="18" charset="0"/>
                <a:cs typeface="Arial" panose="020B0604020202020204" pitchFamily="34" charset="0"/>
              </a:rPr>
              <a:t>流进节点的电流可视为</a:t>
            </a:r>
            <a:r>
              <a:rPr lang="zh-CN" altLang="en-US" sz="2400" b="1" dirty="0">
                <a:solidFill>
                  <a:srgbClr val="FF0000"/>
                </a:solidFill>
                <a:latin typeface="Times New Roman" panose="02020603050405020304" pitchFamily="18" charset="0"/>
                <a:cs typeface="Arial" panose="020B0604020202020204" pitchFamily="34" charset="0"/>
              </a:rPr>
              <a:t>正</a:t>
            </a:r>
            <a:r>
              <a:rPr lang="zh-CN" altLang="en-US" sz="2400" b="1" dirty="0">
                <a:latin typeface="Times New Roman" panose="02020603050405020304" pitchFamily="18" charset="0"/>
                <a:cs typeface="Arial" panose="020B0604020202020204" pitchFamily="34" charset="0"/>
              </a:rPr>
              <a:t>电流，离开节点的电流可视为</a:t>
            </a:r>
            <a:r>
              <a:rPr lang="zh-CN" altLang="en-US" sz="2400" b="1" dirty="0">
                <a:solidFill>
                  <a:srgbClr val="FF0000"/>
                </a:solidFill>
                <a:latin typeface="Times New Roman" panose="02020603050405020304" pitchFamily="18" charset="0"/>
                <a:cs typeface="Arial" panose="020B0604020202020204" pitchFamily="34" charset="0"/>
              </a:rPr>
              <a:t>负</a:t>
            </a:r>
            <a:r>
              <a:rPr lang="zh-CN" altLang="en-US" sz="2400" b="1" dirty="0">
                <a:latin typeface="Times New Roman" panose="02020603050405020304" pitchFamily="18" charset="0"/>
                <a:cs typeface="Arial" panose="020B0604020202020204" pitchFamily="34" charset="0"/>
              </a:rPr>
              <a:t>电流，反之亦然。</a:t>
            </a:r>
            <a:endParaRPr lang="en-US" altLang="zh-CN" sz="2400" b="1" dirty="0">
              <a:latin typeface="Times New Roman" panose="02020603050405020304" pitchFamily="18" charset="0"/>
              <a:ea typeface="Arial" panose="020B0604020202020204" pitchFamily="34" charset="0"/>
            </a:endParaRPr>
          </a:p>
        </p:txBody>
      </p:sp>
      <p:sp>
        <p:nvSpPr>
          <p:cNvPr id="22535"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22536" name="文本框 9"/>
          <p:cNvSpPr txBox="1"/>
          <p:nvPr/>
        </p:nvSpPr>
        <p:spPr>
          <a:xfrm>
            <a:off x="4859338" y="3940175"/>
            <a:ext cx="2041525"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2400" b="1" dirty="0"/>
              <a:t>（电荷守恒）</a:t>
            </a:r>
            <a:endParaRPr lang="zh-CN" altLang="en-US" sz="24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4"/>
          <p:cNvSpPr>
            <a:spLocks noGrp="1"/>
          </p:cNvSpPr>
          <p:nvPr>
            <p:ph type="title"/>
          </p:nvPr>
        </p:nvSpPr>
        <p:spPr>
          <a:xfrm>
            <a:off x="1160463" y="5830888"/>
            <a:ext cx="2344737" cy="457200"/>
          </a:xfrm>
        </p:spPr>
        <p:txBody>
          <a:bodyPr vert="horz" wrap="square" lIns="91440" tIns="45720" rIns="91440" bIns="45720" anchor="ctr"/>
          <a:p>
            <a:pPr eaLnBrk="1" hangingPunct="1"/>
            <a:r>
              <a:rPr lang="zh-CN" altLang="en-US" sz="2000" b="1" dirty="0"/>
              <a:t>节点和节点电流</a:t>
            </a:r>
            <a:endParaRPr lang="en-US" altLang="zh-CN" sz="2000" b="1" dirty="0"/>
          </a:p>
        </p:txBody>
      </p:sp>
      <p:grpSp>
        <p:nvGrpSpPr>
          <p:cNvPr id="23555" name="Group 5"/>
          <p:cNvGrpSpPr>
            <a:grpSpLocks noChangeAspect="1"/>
          </p:cNvGrpSpPr>
          <p:nvPr/>
        </p:nvGrpSpPr>
        <p:grpSpPr>
          <a:xfrm>
            <a:off x="1042988" y="2997200"/>
            <a:ext cx="2462212" cy="2439988"/>
            <a:chOff x="1136" y="476"/>
            <a:chExt cx="3475" cy="3362"/>
          </a:xfrm>
        </p:grpSpPr>
        <p:sp>
          <p:nvSpPr>
            <p:cNvPr id="23563" name="Freeform 6"/>
            <p:cNvSpPr>
              <a:spLocks noChangeAspect="1"/>
            </p:cNvSpPr>
            <p:nvPr/>
          </p:nvSpPr>
          <p:spPr>
            <a:xfrm>
              <a:off x="1573" y="476"/>
              <a:ext cx="1244" cy="1636"/>
            </a:xfrm>
            <a:custGeom>
              <a:avLst/>
              <a:gdLst>
                <a:gd name="txL" fmla="*/ 0 w 1244"/>
                <a:gd name="txT" fmla="*/ 0 h 1636"/>
                <a:gd name="txR" fmla="*/ 1244 w 1244"/>
                <a:gd name="txB" fmla="*/ 1636 h 1636"/>
              </a:gdLst>
              <a:ahLst/>
              <a:cxnLst>
                <a:cxn ang="0">
                  <a:pos x="0" y="0"/>
                </a:cxn>
                <a:cxn ang="0">
                  <a:pos x="1244" y="1636"/>
                </a:cxn>
                <a:cxn ang="0">
                  <a:pos x="0" y="0"/>
                </a:cxn>
                <a:cxn ang="0">
                  <a:pos x="0" y="0"/>
                </a:cxn>
              </a:cxnLst>
              <a:rect l="txL" t="txT" r="txR" b="txB"/>
              <a:pathLst>
                <a:path w="1244" h="1636">
                  <a:moveTo>
                    <a:pt x="0" y="0"/>
                  </a:moveTo>
                  <a:lnTo>
                    <a:pt x="1244" y="1636"/>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64" name="Freeform 7"/>
            <p:cNvSpPr>
              <a:spLocks noChangeAspect="1" noEditPoints="1"/>
            </p:cNvSpPr>
            <p:nvPr/>
          </p:nvSpPr>
          <p:spPr>
            <a:xfrm>
              <a:off x="2817" y="2112"/>
              <a:ext cx="1794" cy="1165"/>
            </a:xfrm>
            <a:custGeom>
              <a:avLst/>
              <a:gdLst>
                <a:gd name="txL" fmla="*/ 0 w 1794"/>
                <a:gd name="txT" fmla="*/ 0 h 1165"/>
                <a:gd name="txR" fmla="*/ 1794 w 1794"/>
                <a:gd name="txB" fmla="*/ 1165 h 1165"/>
              </a:gdLst>
              <a:ahLst/>
              <a:cxnLst>
                <a:cxn ang="0">
                  <a:pos x="0" y="0"/>
                </a:cxn>
                <a:cxn ang="0">
                  <a:pos x="1794" y="1165"/>
                </a:cxn>
                <a:cxn ang="0">
                  <a:pos x="0" y="0"/>
                </a:cxn>
                <a:cxn ang="0">
                  <a:pos x="0" y="0"/>
                </a:cxn>
                <a:cxn ang="0">
                  <a:pos x="0" y="0"/>
                </a:cxn>
                <a:cxn ang="0">
                  <a:pos x="0" y="0"/>
                </a:cxn>
                <a:cxn ang="0">
                  <a:pos x="0" y="0"/>
                </a:cxn>
              </a:cxnLst>
              <a:rect l="txL" t="txT" r="txR" b="txB"/>
              <a:pathLst>
                <a:path w="1794" h="1165">
                  <a:moveTo>
                    <a:pt x="0" y="0"/>
                  </a:moveTo>
                  <a:lnTo>
                    <a:pt x="1794" y="1165"/>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65" name="Freeform 8"/>
            <p:cNvSpPr>
              <a:spLocks noChangeAspect="1"/>
            </p:cNvSpPr>
            <p:nvPr/>
          </p:nvSpPr>
          <p:spPr>
            <a:xfrm>
              <a:off x="2805" y="1193"/>
              <a:ext cx="1304" cy="919"/>
            </a:xfrm>
            <a:custGeom>
              <a:avLst/>
              <a:gdLst>
                <a:gd name="txL" fmla="*/ 0 w 1304"/>
                <a:gd name="txT" fmla="*/ 0 h 919"/>
                <a:gd name="txR" fmla="*/ 1304 w 1304"/>
                <a:gd name="txB" fmla="*/ 919 h 919"/>
              </a:gdLst>
              <a:ahLst/>
              <a:cxnLst>
                <a:cxn ang="0">
                  <a:pos x="1304" y="0"/>
                </a:cxn>
                <a:cxn ang="0">
                  <a:pos x="0" y="919"/>
                </a:cxn>
                <a:cxn ang="0">
                  <a:pos x="1304" y="0"/>
                </a:cxn>
                <a:cxn ang="0">
                  <a:pos x="1304" y="0"/>
                </a:cxn>
              </a:cxnLst>
              <a:rect l="txL" t="txT" r="txR" b="txB"/>
              <a:pathLst>
                <a:path w="1304" h="919">
                  <a:moveTo>
                    <a:pt x="1304" y="0"/>
                  </a:moveTo>
                  <a:lnTo>
                    <a:pt x="0" y="919"/>
                  </a:lnTo>
                  <a:lnTo>
                    <a:pt x="1304"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66" name="Freeform 9"/>
            <p:cNvSpPr>
              <a:spLocks noChangeAspect="1" noEditPoints="1"/>
            </p:cNvSpPr>
            <p:nvPr/>
          </p:nvSpPr>
          <p:spPr>
            <a:xfrm>
              <a:off x="1136" y="2112"/>
              <a:ext cx="1669" cy="783"/>
            </a:xfrm>
            <a:custGeom>
              <a:avLst/>
              <a:gdLst>
                <a:gd name="txL" fmla="*/ 0 w 1669"/>
                <a:gd name="txT" fmla="*/ 0 h 783"/>
                <a:gd name="txR" fmla="*/ 1669 w 1669"/>
                <a:gd name="txB" fmla="*/ 783 h 783"/>
              </a:gdLst>
              <a:ahLst/>
              <a:cxnLst>
                <a:cxn ang="0">
                  <a:pos x="1669" y="0"/>
                </a:cxn>
                <a:cxn ang="0">
                  <a:pos x="0" y="783"/>
                </a:cxn>
                <a:cxn ang="0">
                  <a:pos x="1669" y="0"/>
                </a:cxn>
                <a:cxn ang="0">
                  <a:pos x="1669" y="0"/>
                </a:cxn>
                <a:cxn ang="0">
                  <a:pos x="1669" y="0"/>
                </a:cxn>
                <a:cxn ang="0">
                  <a:pos x="1669" y="0"/>
                </a:cxn>
                <a:cxn ang="0">
                  <a:pos x="1669" y="0"/>
                </a:cxn>
              </a:cxnLst>
              <a:rect l="txL" t="txT" r="txR" b="txB"/>
              <a:pathLst>
                <a:path w="1669" h="783">
                  <a:moveTo>
                    <a:pt x="1669" y="0"/>
                  </a:moveTo>
                  <a:lnTo>
                    <a:pt x="0" y="783"/>
                  </a:lnTo>
                  <a:lnTo>
                    <a:pt x="1669" y="0"/>
                  </a:lnTo>
                  <a:close/>
                  <a:moveTo>
                    <a:pt x="1669" y="0"/>
                  </a:moveTo>
                  <a:lnTo>
                    <a:pt x="1669"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67" name="Freeform 10"/>
            <p:cNvSpPr>
              <a:spLocks noChangeAspect="1"/>
            </p:cNvSpPr>
            <p:nvPr/>
          </p:nvSpPr>
          <p:spPr>
            <a:xfrm>
              <a:off x="2805" y="2106"/>
              <a:ext cx="6" cy="1732"/>
            </a:xfrm>
            <a:custGeom>
              <a:avLst/>
              <a:gdLst>
                <a:gd name="txL" fmla="*/ 0 w 6"/>
                <a:gd name="txT" fmla="*/ 0 h 1732"/>
                <a:gd name="txR" fmla="*/ 6 w 6"/>
                <a:gd name="txB" fmla="*/ 1732 h 1732"/>
              </a:gdLst>
              <a:ahLst/>
              <a:cxnLst>
                <a:cxn ang="0">
                  <a:pos x="6" y="0"/>
                </a:cxn>
                <a:cxn ang="0">
                  <a:pos x="0" y="1732"/>
                </a:cxn>
                <a:cxn ang="0">
                  <a:pos x="6" y="0"/>
                </a:cxn>
                <a:cxn ang="0">
                  <a:pos x="6" y="0"/>
                </a:cxn>
              </a:cxnLst>
              <a:rect l="txL" t="txT" r="txR" b="txB"/>
              <a:pathLst>
                <a:path w="6" h="1732">
                  <a:moveTo>
                    <a:pt x="6" y="0"/>
                  </a:moveTo>
                  <a:lnTo>
                    <a:pt x="0" y="1732"/>
                  </a:lnTo>
                  <a:lnTo>
                    <a:pt x="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68" name="Freeform 11"/>
            <p:cNvSpPr>
              <a:spLocks noChangeAspect="1" noEditPoints="1"/>
            </p:cNvSpPr>
            <p:nvPr/>
          </p:nvSpPr>
          <p:spPr>
            <a:xfrm>
              <a:off x="1818" y="1330"/>
              <a:ext cx="84" cy="227"/>
            </a:xfrm>
            <a:custGeom>
              <a:avLst/>
              <a:gdLst>
                <a:gd name="txL" fmla="*/ 0 w 84"/>
                <a:gd name="txT" fmla="*/ 0 h 227"/>
                <a:gd name="txR" fmla="*/ 84 w 84"/>
                <a:gd name="txB" fmla="*/ 227 h 227"/>
              </a:gdLst>
              <a:ahLst/>
              <a:cxnLst>
                <a:cxn ang="0">
                  <a:pos x="66" y="185"/>
                </a:cxn>
                <a:cxn ang="0">
                  <a:pos x="48" y="203"/>
                </a:cxn>
                <a:cxn ang="0">
                  <a:pos x="36" y="209"/>
                </a:cxn>
                <a:cxn ang="0">
                  <a:pos x="30" y="209"/>
                </a:cxn>
                <a:cxn ang="0">
                  <a:pos x="30" y="203"/>
                </a:cxn>
                <a:cxn ang="0">
                  <a:pos x="36" y="197"/>
                </a:cxn>
                <a:cxn ang="0">
                  <a:pos x="36" y="185"/>
                </a:cxn>
                <a:cxn ang="0">
                  <a:pos x="72" y="72"/>
                </a:cxn>
                <a:cxn ang="0">
                  <a:pos x="66" y="72"/>
                </a:cxn>
                <a:cxn ang="0">
                  <a:pos x="54" y="78"/>
                </a:cxn>
                <a:cxn ang="0">
                  <a:pos x="36" y="78"/>
                </a:cxn>
                <a:cxn ang="0">
                  <a:pos x="6" y="84"/>
                </a:cxn>
                <a:cxn ang="0">
                  <a:pos x="6" y="90"/>
                </a:cxn>
                <a:cxn ang="0">
                  <a:pos x="18" y="90"/>
                </a:cxn>
                <a:cxn ang="0">
                  <a:pos x="30" y="90"/>
                </a:cxn>
                <a:cxn ang="0">
                  <a:pos x="30" y="95"/>
                </a:cxn>
                <a:cxn ang="0">
                  <a:pos x="30" y="101"/>
                </a:cxn>
                <a:cxn ang="0">
                  <a:pos x="24" y="113"/>
                </a:cxn>
                <a:cxn ang="0">
                  <a:pos x="18" y="149"/>
                </a:cxn>
                <a:cxn ang="0">
                  <a:pos x="6" y="185"/>
                </a:cxn>
                <a:cxn ang="0">
                  <a:pos x="0" y="197"/>
                </a:cxn>
                <a:cxn ang="0">
                  <a:pos x="0" y="203"/>
                </a:cxn>
                <a:cxn ang="0">
                  <a:pos x="0" y="215"/>
                </a:cxn>
                <a:cxn ang="0">
                  <a:pos x="6" y="227"/>
                </a:cxn>
                <a:cxn ang="0">
                  <a:pos x="18" y="227"/>
                </a:cxn>
                <a:cxn ang="0">
                  <a:pos x="36" y="227"/>
                </a:cxn>
                <a:cxn ang="0">
                  <a:pos x="48" y="215"/>
                </a:cxn>
                <a:cxn ang="0">
                  <a:pos x="72" y="191"/>
                </a:cxn>
                <a:cxn ang="0">
                  <a:pos x="66" y="185"/>
                </a:cxn>
                <a:cxn ang="0">
                  <a:pos x="84" y="18"/>
                </a:cxn>
                <a:cxn ang="0">
                  <a:pos x="78" y="6"/>
                </a:cxn>
                <a:cxn ang="0">
                  <a:pos x="66" y="0"/>
                </a:cxn>
                <a:cxn ang="0">
                  <a:pos x="54" y="6"/>
                </a:cxn>
                <a:cxn ang="0">
                  <a:pos x="48" y="18"/>
                </a:cxn>
                <a:cxn ang="0">
                  <a:pos x="54" y="30"/>
                </a:cxn>
                <a:cxn ang="0">
                  <a:pos x="66" y="36"/>
                </a:cxn>
                <a:cxn ang="0">
                  <a:pos x="78" y="30"/>
                </a:cxn>
                <a:cxn ang="0">
                  <a:pos x="84" y="18"/>
                </a:cxn>
                <a:cxn ang="0">
                  <a:pos x="84" y="18"/>
                </a:cxn>
              </a:cxnLst>
              <a:rect l="txL" t="txT" r="txR" b="txB"/>
              <a:pathLst>
                <a:path w="84" h="227">
                  <a:moveTo>
                    <a:pt x="66" y="185"/>
                  </a:moveTo>
                  <a:lnTo>
                    <a:pt x="48" y="203"/>
                  </a:lnTo>
                  <a:lnTo>
                    <a:pt x="36" y="209"/>
                  </a:lnTo>
                  <a:lnTo>
                    <a:pt x="30" y="209"/>
                  </a:lnTo>
                  <a:lnTo>
                    <a:pt x="30" y="203"/>
                  </a:lnTo>
                  <a:lnTo>
                    <a:pt x="36" y="197"/>
                  </a:lnTo>
                  <a:lnTo>
                    <a:pt x="36" y="185"/>
                  </a:lnTo>
                  <a:lnTo>
                    <a:pt x="72" y="72"/>
                  </a:lnTo>
                  <a:lnTo>
                    <a:pt x="66" y="72"/>
                  </a:lnTo>
                  <a:lnTo>
                    <a:pt x="54" y="78"/>
                  </a:lnTo>
                  <a:lnTo>
                    <a:pt x="36" y="78"/>
                  </a:lnTo>
                  <a:lnTo>
                    <a:pt x="6" y="84"/>
                  </a:lnTo>
                  <a:lnTo>
                    <a:pt x="6" y="90"/>
                  </a:lnTo>
                  <a:lnTo>
                    <a:pt x="18" y="90"/>
                  </a:lnTo>
                  <a:lnTo>
                    <a:pt x="30" y="90"/>
                  </a:lnTo>
                  <a:lnTo>
                    <a:pt x="30" y="95"/>
                  </a:lnTo>
                  <a:lnTo>
                    <a:pt x="30" y="101"/>
                  </a:lnTo>
                  <a:lnTo>
                    <a:pt x="24" y="113"/>
                  </a:lnTo>
                  <a:lnTo>
                    <a:pt x="18" y="149"/>
                  </a:lnTo>
                  <a:lnTo>
                    <a:pt x="6" y="185"/>
                  </a:lnTo>
                  <a:lnTo>
                    <a:pt x="0" y="197"/>
                  </a:lnTo>
                  <a:lnTo>
                    <a:pt x="0" y="203"/>
                  </a:lnTo>
                  <a:lnTo>
                    <a:pt x="0" y="215"/>
                  </a:lnTo>
                  <a:lnTo>
                    <a:pt x="6" y="227"/>
                  </a:lnTo>
                  <a:lnTo>
                    <a:pt x="18" y="227"/>
                  </a:lnTo>
                  <a:lnTo>
                    <a:pt x="36" y="227"/>
                  </a:lnTo>
                  <a:lnTo>
                    <a:pt x="48" y="215"/>
                  </a:lnTo>
                  <a:lnTo>
                    <a:pt x="72" y="191"/>
                  </a:lnTo>
                  <a:lnTo>
                    <a:pt x="66" y="185"/>
                  </a:lnTo>
                  <a:close/>
                  <a:moveTo>
                    <a:pt x="84" y="18"/>
                  </a:moveTo>
                  <a:lnTo>
                    <a:pt x="78" y="6"/>
                  </a:lnTo>
                  <a:lnTo>
                    <a:pt x="66" y="0"/>
                  </a:lnTo>
                  <a:lnTo>
                    <a:pt x="54" y="6"/>
                  </a:lnTo>
                  <a:lnTo>
                    <a:pt x="48" y="18"/>
                  </a:lnTo>
                  <a:lnTo>
                    <a:pt x="54" y="30"/>
                  </a:lnTo>
                  <a:lnTo>
                    <a:pt x="66" y="36"/>
                  </a:lnTo>
                  <a:lnTo>
                    <a:pt x="78" y="30"/>
                  </a:lnTo>
                  <a:lnTo>
                    <a:pt x="84" y="1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69" name="Freeform 12"/>
            <p:cNvSpPr>
              <a:spLocks noChangeAspect="1"/>
            </p:cNvSpPr>
            <p:nvPr/>
          </p:nvSpPr>
          <p:spPr>
            <a:xfrm>
              <a:off x="1937" y="1467"/>
              <a:ext cx="78" cy="173"/>
            </a:xfrm>
            <a:custGeom>
              <a:avLst/>
              <a:gdLst>
                <a:gd name="txL" fmla="*/ 0 w 78"/>
                <a:gd name="txT" fmla="*/ 0 h 173"/>
                <a:gd name="txR" fmla="*/ 78 w 78"/>
                <a:gd name="txB" fmla="*/ 173 h 173"/>
              </a:gdLst>
              <a:ahLst/>
              <a:cxnLst>
                <a:cxn ang="0">
                  <a:pos x="0" y="173"/>
                </a:cxn>
                <a:cxn ang="0">
                  <a:pos x="78" y="173"/>
                </a:cxn>
                <a:cxn ang="0">
                  <a:pos x="78" y="167"/>
                </a:cxn>
                <a:cxn ang="0">
                  <a:pos x="60" y="162"/>
                </a:cxn>
                <a:cxn ang="0">
                  <a:pos x="54" y="150"/>
                </a:cxn>
                <a:cxn ang="0">
                  <a:pos x="54" y="0"/>
                </a:cxn>
                <a:cxn ang="0">
                  <a:pos x="54" y="0"/>
                </a:cxn>
                <a:cxn ang="0">
                  <a:pos x="0" y="24"/>
                </a:cxn>
                <a:cxn ang="0">
                  <a:pos x="0" y="24"/>
                </a:cxn>
                <a:cxn ang="0">
                  <a:pos x="12" y="18"/>
                </a:cxn>
                <a:cxn ang="0">
                  <a:pos x="18" y="18"/>
                </a:cxn>
                <a:cxn ang="0">
                  <a:pos x="18" y="18"/>
                </a:cxn>
                <a:cxn ang="0">
                  <a:pos x="30" y="24"/>
                </a:cxn>
                <a:cxn ang="0">
                  <a:pos x="30" y="30"/>
                </a:cxn>
                <a:cxn ang="0">
                  <a:pos x="30" y="150"/>
                </a:cxn>
                <a:cxn ang="0">
                  <a:pos x="30" y="162"/>
                </a:cxn>
                <a:cxn ang="0">
                  <a:pos x="24" y="167"/>
                </a:cxn>
                <a:cxn ang="0">
                  <a:pos x="0" y="167"/>
                </a:cxn>
                <a:cxn ang="0">
                  <a:pos x="0" y="173"/>
                </a:cxn>
              </a:cxnLst>
              <a:rect l="txL" t="txT" r="txR" b="txB"/>
              <a:pathLst>
                <a:path w="78" h="173">
                  <a:moveTo>
                    <a:pt x="0" y="173"/>
                  </a:moveTo>
                  <a:lnTo>
                    <a:pt x="78" y="173"/>
                  </a:lnTo>
                  <a:lnTo>
                    <a:pt x="78" y="167"/>
                  </a:lnTo>
                  <a:lnTo>
                    <a:pt x="60" y="162"/>
                  </a:lnTo>
                  <a:lnTo>
                    <a:pt x="54" y="150"/>
                  </a:lnTo>
                  <a:lnTo>
                    <a:pt x="54" y="0"/>
                  </a:lnTo>
                  <a:lnTo>
                    <a:pt x="0" y="24"/>
                  </a:lnTo>
                  <a:lnTo>
                    <a:pt x="12" y="18"/>
                  </a:lnTo>
                  <a:lnTo>
                    <a:pt x="18" y="18"/>
                  </a:lnTo>
                  <a:lnTo>
                    <a:pt x="30" y="24"/>
                  </a:lnTo>
                  <a:lnTo>
                    <a:pt x="30" y="30"/>
                  </a:lnTo>
                  <a:lnTo>
                    <a:pt x="30" y="150"/>
                  </a:lnTo>
                  <a:lnTo>
                    <a:pt x="30" y="162"/>
                  </a:lnTo>
                  <a:lnTo>
                    <a:pt x="24" y="167"/>
                  </a:lnTo>
                  <a:lnTo>
                    <a:pt x="0" y="167"/>
                  </a:lnTo>
                  <a:lnTo>
                    <a:pt x="0" y="17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70" name="Freeform 13"/>
            <p:cNvSpPr>
              <a:spLocks noChangeAspect="1" noEditPoints="1"/>
            </p:cNvSpPr>
            <p:nvPr/>
          </p:nvSpPr>
          <p:spPr>
            <a:xfrm>
              <a:off x="3247" y="1097"/>
              <a:ext cx="84" cy="221"/>
            </a:xfrm>
            <a:custGeom>
              <a:avLst/>
              <a:gdLst>
                <a:gd name="txL" fmla="*/ 0 w 84"/>
                <a:gd name="txT" fmla="*/ 0 h 221"/>
                <a:gd name="txR" fmla="*/ 84 w 84"/>
                <a:gd name="txB" fmla="*/ 221 h 221"/>
              </a:gdLst>
              <a:ahLst/>
              <a:cxnLst>
                <a:cxn ang="0">
                  <a:pos x="66" y="179"/>
                </a:cxn>
                <a:cxn ang="0">
                  <a:pos x="60" y="197"/>
                </a:cxn>
                <a:cxn ang="0">
                  <a:pos x="48" y="203"/>
                </a:cxn>
                <a:cxn ang="0">
                  <a:pos x="36" y="209"/>
                </a:cxn>
                <a:cxn ang="0">
                  <a:pos x="36" y="209"/>
                </a:cxn>
                <a:cxn ang="0">
                  <a:pos x="30" y="203"/>
                </a:cxn>
                <a:cxn ang="0">
                  <a:pos x="36" y="191"/>
                </a:cxn>
                <a:cxn ang="0">
                  <a:pos x="36" y="179"/>
                </a:cxn>
                <a:cxn ang="0">
                  <a:pos x="72" y="72"/>
                </a:cxn>
                <a:cxn ang="0">
                  <a:pos x="72" y="72"/>
                </a:cxn>
                <a:cxn ang="0">
                  <a:pos x="42" y="78"/>
                </a:cxn>
                <a:cxn ang="0">
                  <a:pos x="24" y="78"/>
                </a:cxn>
                <a:cxn ang="0">
                  <a:pos x="12" y="78"/>
                </a:cxn>
                <a:cxn ang="0">
                  <a:pos x="12" y="84"/>
                </a:cxn>
                <a:cxn ang="0">
                  <a:pos x="24" y="84"/>
                </a:cxn>
                <a:cxn ang="0">
                  <a:pos x="30" y="84"/>
                </a:cxn>
                <a:cxn ang="0">
                  <a:pos x="30" y="90"/>
                </a:cxn>
                <a:cxn ang="0">
                  <a:pos x="30" y="96"/>
                </a:cxn>
                <a:cxn ang="0">
                  <a:pos x="24" y="108"/>
                </a:cxn>
                <a:cxn ang="0">
                  <a:pos x="18" y="143"/>
                </a:cxn>
                <a:cxn ang="0">
                  <a:pos x="6" y="179"/>
                </a:cxn>
                <a:cxn ang="0">
                  <a:pos x="0" y="191"/>
                </a:cxn>
                <a:cxn ang="0">
                  <a:pos x="0" y="203"/>
                </a:cxn>
                <a:cxn ang="0">
                  <a:pos x="0" y="215"/>
                </a:cxn>
                <a:cxn ang="0">
                  <a:pos x="6" y="221"/>
                </a:cxn>
                <a:cxn ang="0">
                  <a:pos x="18" y="221"/>
                </a:cxn>
                <a:cxn ang="0">
                  <a:pos x="36" y="221"/>
                </a:cxn>
                <a:cxn ang="0">
                  <a:pos x="48" y="209"/>
                </a:cxn>
                <a:cxn ang="0">
                  <a:pos x="72" y="185"/>
                </a:cxn>
                <a:cxn ang="0">
                  <a:pos x="66" y="179"/>
                </a:cxn>
                <a:cxn ang="0">
                  <a:pos x="84" y="18"/>
                </a:cxn>
                <a:cxn ang="0">
                  <a:pos x="78" y="6"/>
                </a:cxn>
                <a:cxn ang="0">
                  <a:pos x="66" y="0"/>
                </a:cxn>
                <a:cxn ang="0">
                  <a:pos x="54" y="6"/>
                </a:cxn>
                <a:cxn ang="0">
                  <a:pos x="48" y="18"/>
                </a:cxn>
                <a:cxn ang="0">
                  <a:pos x="54" y="30"/>
                </a:cxn>
                <a:cxn ang="0">
                  <a:pos x="66" y="36"/>
                </a:cxn>
                <a:cxn ang="0">
                  <a:pos x="78" y="30"/>
                </a:cxn>
                <a:cxn ang="0">
                  <a:pos x="84" y="18"/>
                </a:cxn>
                <a:cxn ang="0">
                  <a:pos x="84" y="18"/>
                </a:cxn>
              </a:cxnLst>
              <a:rect l="txL" t="txT" r="txR" b="txB"/>
              <a:pathLst>
                <a:path w="84" h="221">
                  <a:moveTo>
                    <a:pt x="66" y="179"/>
                  </a:moveTo>
                  <a:lnTo>
                    <a:pt x="60" y="197"/>
                  </a:lnTo>
                  <a:lnTo>
                    <a:pt x="48" y="203"/>
                  </a:lnTo>
                  <a:lnTo>
                    <a:pt x="36" y="209"/>
                  </a:lnTo>
                  <a:lnTo>
                    <a:pt x="30" y="203"/>
                  </a:lnTo>
                  <a:lnTo>
                    <a:pt x="36" y="191"/>
                  </a:lnTo>
                  <a:lnTo>
                    <a:pt x="36" y="179"/>
                  </a:lnTo>
                  <a:lnTo>
                    <a:pt x="72" y="72"/>
                  </a:lnTo>
                  <a:lnTo>
                    <a:pt x="42" y="78"/>
                  </a:lnTo>
                  <a:lnTo>
                    <a:pt x="24" y="78"/>
                  </a:lnTo>
                  <a:lnTo>
                    <a:pt x="12" y="78"/>
                  </a:lnTo>
                  <a:lnTo>
                    <a:pt x="12" y="84"/>
                  </a:lnTo>
                  <a:lnTo>
                    <a:pt x="24" y="84"/>
                  </a:lnTo>
                  <a:lnTo>
                    <a:pt x="30" y="84"/>
                  </a:lnTo>
                  <a:lnTo>
                    <a:pt x="30" y="90"/>
                  </a:lnTo>
                  <a:lnTo>
                    <a:pt x="30" y="96"/>
                  </a:lnTo>
                  <a:lnTo>
                    <a:pt x="24" y="108"/>
                  </a:lnTo>
                  <a:lnTo>
                    <a:pt x="18" y="143"/>
                  </a:lnTo>
                  <a:lnTo>
                    <a:pt x="6" y="179"/>
                  </a:lnTo>
                  <a:lnTo>
                    <a:pt x="0" y="191"/>
                  </a:lnTo>
                  <a:lnTo>
                    <a:pt x="0" y="203"/>
                  </a:lnTo>
                  <a:lnTo>
                    <a:pt x="0" y="215"/>
                  </a:lnTo>
                  <a:lnTo>
                    <a:pt x="6" y="221"/>
                  </a:lnTo>
                  <a:lnTo>
                    <a:pt x="18" y="221"/>
                  </a:lnTo>
                  <a:lnTo>
                    <a:pt x="36" y="221"/>
                  </a:lnTo>
                  <a:lnTo>
                    <a:pt x="48" y="209"/>
                  </a:lnTo>
                  <a:lnTo>
                    <a:pt x="72" y="185"/>
                  </a:lnTo>
                  <a:lnTo>
                    <a:pt x="66" y="179"/>
                  </a:lnTo>
                  <a:close/>
                  <a:moveTo>
                    <a:pt x="84" y="18"/>
                  </a:moveTo>
                  <a:lnTo>
                    <a:pt x="78" y="6"/>
                  </a:lnTo>
                  <a:lnTo>
                    <a:pt x="66" y="0"/>
                  </a:lnTo>
                  <a:lnTo>
                    <a:pt x="54" y="6"/>
                  </a:lnTo>
                  <a:lnTo>
                    <a:pt x="48" y="18"/>
                  </a:lnTo>
                  <a:lnTo>
                    <a:pt x="54" y="30"/>
                  </a:lnTo>
                  <a:lnTo>
                    <a:pt x="66" y="36"/>
                  </a:lnTo>
                  <a:lnTo>
                    <a:pt x="78" y="30"/>
                  </a:lnTo>
                  <a:lnTo>
                    <a:pt x="84" y="1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71" name="Freeform 14"/>
            <p:cNvSpPr>
              <a:spLocks noChangeAspect="1"/>
            </p:cNvSpPr>
            <p:nvPr/>
          </p:nvSpPr>
          <p:spPr>
            <a:xfrm>
              <a:off x="3343" y="1228"/>
              <a:ext cx="120" cy="180"/>
            </a:xfrm>
            <a:custGeom>
              <a:avLst/>
              <a:gdLst>
                <a:gd name="txL" fmla="*/ 0 w 120"/>
                <a:gd name="txT" fmla="*/ 0 h 180"/>
                <a:gd name="txR" fmla="*/ 120 w 120"/>
                <a:gd name="txB" fmla="*/ 180 h 180"/>
              </a:gdLst>
              <a:ahLst/>
              <a:cxnLst>
                <a:cxn ang="0">
                  <a:pos x="48" y="24"/>
                </a:cxn>
                <a:cxn ang="0">
                  <a:pos x="102" y="24"/>
                </a:cxn>
                <a:cxn ang="0">
                  <a:pos x="108" y="24"/>
                </a:cxn>
                <a:cxn ang="0">
                  <a:pos x="108" y="24"/>
                </a:cxn>
                <a:cxn ang="0">
                  <a:pos x="120" y="0"/>
                </a:cxn>
                <a:cxn ang="0">
                  <a:pos x="114" y="0"/>
                </a:cxn>
                <a:cxn ang="0">
                  <a:pos x="108" y="6"/>
                </a:cxn>
                <a:cxn ang="0">
                  <a:pos x="102" y="6"/>
                </a:cxn>
                <a:cxn ang="0">
                  <a:pos x="42" y="6"/>
                </a:cxn>
                <a:cxn ang="0">
                  <a:pos x="12" y="66"/>
                </a:cxn>
                <a:cxn ang="0">
                  <a:pos x="12" y="66"/>
                </a:cxn>
                <a:cxn ang="0">
                  <a:pos x="36" y="72"/>
                </a:cxn>
                <a:cxn ang="0">
                  <a:pos x="66" y="84"/>
                </a:cxn>
                <a:cxn ang="0">
                  <a:pos x="90" y="96"/>
                </a:cxn>
                <a:cxn ang="0">
                  <a:pos x="96" y="120"/>
                </a:cxn>
                <a:cxn ang="0">
                  <a:pos x="90" y="144"/>
                </a:cxn>
                <a:cxn ang="0">
                  <a:pos x="84" y="156"/>
                </a:cxn>
                <a:cxn ang="0">
                  <a:pos x="66" y="168"/>
                </a:cxn>
                <a:cxn ang="0">
                  <a:pos x="54" y="168"/>
                </a:cxn>
                <a:cxn ang="0">
                  <a:pos x="48" y="168"/>
                </a:cxn>
                <a:cxn ang="0">
                  <a:pos x="36" y="162"/>
                </a:cxn>
                <a:cxn ang="0">
                  <a:pos x="24" y="156"/>
                </a:cxn>
                <a:cxn ang="0">
                  <a:pos x="12" y="150"/>
                </a:cxn>
                <a:cxn ang="0">
                  <a:pos x="0" y="156"/>
                </a:cxn>
                <a:cxn ang="0">
                  <a:pos x="0" y="162"/>
                </a:cxn>
                <a:cxn ang="0">
                  <a:pos x="6" y="168"/>
                </a:cxn>
                <a:cxn ang="0">
                  <a:pos x="12" y="174"/>
                </a:cxn>
                <a:cxn ang="0">
                  <a:pos x="36" y="180"/>
                </a:cxn>
                <a:cxn ang="0">
                  <a:pos x="66" y="174"/>
                </a:cxn>
                <a:cxn ang="0">
                  <a:pos x="96" y="162"/>
                </a:cxn>
                <a:cxn ang="0">
                  <a:pos x="108" y="138"/>
                </a:cxn>
                <a:cxn ang="0">
                  <a:pos x="114" y="114"/>
                </a:cxn>
                <a:cxn ang="0">
                  <a:pos x="114" y="90"/>
                </a:cxn>
                <a:cxn ang="0">
                  <a:pos x="102" y="72"/>
                </a:cxn>
                <a:cxn ang="0">
                  <a:pos x="72" y="54"/>
                </a:cxn>
                <a:cxn ang="0">
                  <a:pos x="36" y="48"/>
                </a:cxn>
                <a:cxn ang="0">
                  <a:pos x="48" y="24"/>
                </a:cxn>
              </a:cxnLst>
              <a:rect l="txL" t="txT" r="txR" b="txB"/>
              <a:pathLst>
                <a:path w="120" h="180">
                  <a:moveTo>
                    <a:pt x="48" y="24"/>
                  </a:moveTo>
                  <a:lnTo>
                    <a:pt x="102" y="24"/>
                  </a:lnTo>
                  <a:lnTo>
                    <a:pt x="108" y="24"/>
                  </a:lnTo>
                  <a:lnTo>
                    <a:pt x="120" y="0"/>
                  </a:lnTo>
                  <a:lnTo>
                    <a:pt x="114" y="0"/>
                  </a:lnTo>
                  <a:lnTo>
                    <a:pt x="108" y="6"/>
                  </a:lnTo>
                  <a:lnTo>
                    <a:pt x="102" y="6"/>
                  </a:lnTo>
                  <a:lnTo>
                    <a:pt x="42" y="6"/>
                  </a:lnTo>
                  <a:lnTo>
                    <a:pt x="12" y="66"/>
                  </a:lnTo>
                  <a:lnTo>
                    <a:pt x="36" y="72"/>
                  </a:lnTo>
                  <a:lnTo>
                    <a:pt x="66" y="84"/>
                  </a:lnTo>
                  <a:lnTo>
                    <a:pt x="90" y="96"/>
                  </a:lnTo>
                  <a:lnTo>
                    <a:pt x="96" y="120"/>
                  </a:lnTo>
                  <a:lnTo>
                    <a:pt x="90" y="144"/>
                  </a:lnTo>
                  <a:lnTo>
                    <a:pt x="84" y="156"/>
                  </a:lnTo>
                  <a:lnTo>
                    <a:pt x="66" y="168"/>
                  </a:lnTo>
                  <a:lnTo>
                    <a:pt x="54" y="168"/>
                  </a:lnTo>
                  <a:lnTo>
                    <a:pt x="48" y="168"/>
                  </a:lnTo>
                  <a:lnTo>
                    <a:pt x="36" y="162"/>
                  </a:lnTo>
                  <a:lnTo>
                    <a:pt x="24" y="156"/>
                  </a:lnTo>
                  <a:lnTo>
                    <a:pt x="12" y="150"/>
                  </a:lnTo>
                  <a:lnTo>
                    <a:pt x="0" y="156"/>
                  </a:lnTo>
                  <a:lnTo>
                    <a:pt x="0" y="162"/>
                  </a:lnTo>
                  <a:lnTo>
                    <a:pt x="6" y="168"/>
                  </a:lnTo>
                  <a:lnTo>
                    <a:pt x="12" y="174"/>
                  </a:lnTo>
                  <a:lnTo>
                    <a:pt x="36" y="180"/>
                  </a:lnTo>
                  <a:lnTo>
                    <a:pt x="66" y="174"/>
                  </a:lnTo>
                  <a:lnTo>
                    <a:pt x="96" y="162"/>
                  </a:lnTo>
                  <a:lnTo>
                    <a:pt x="108" y="138"/>
                  </a:lnTo>
                  <a:lnTo>
                    <a:pt x="114" y="114"/>
                  </a:lnTo>
                  <a:lnTo>
                    <a:pt x="114" y="90"/>
                  </a:lnTo>
                  <a:lnTo>
                    <a:pt x="102" y="72"/>
                  </a:lnTo>
                  <a:lnTo>
                    <a:pt x="72" y="54"/>
                  </a:lnTo>
                  <a:lnTo>
                    <a:pt x="36" y="48"/>
                  </a:lnTo>
                  <a:lnTo>
                    <a:pt x="48" y="2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72" name="Freeform 15"/>
            <p:cNvSpPr>
              <a:spLocks noChangeAspect="1" noEditPoints="1"/>
            </p:cNvSpPr>
            <p:nvPr/>
          </p:nvSpPr>
          <p:spPr>
            <a:xfrm>
              <a:off x="3594" y="2184"/>
              <a:ext cx="84" cy="227"/>
            </a:xfrm>
            <a:custGeom>
              <a:avLst/>
              <a:gdLst>
                <a:gd name="txL" fmla="*/ 0 w 84"/>
                <a:gd name="txT" fmla="*/ 0 h 227"/>
                <a:gd name="txR" fmla="*/ 84 w 84"/>
                <a:gd name="txB" fmla="*/ 227 h 227"/>
              </a:gdLst>
              <a:ahLst/>
              <a:cxnLst>
                <a:cxn ang="0">
                  <a:pos x="66" y="185"/>
                </a:cxn>
                <a:cxn ang="0">
                  <a:pos x="48" y="203"/>
                </a:cxn>
                <a:cxn ang="0">
                  <a:pos x="36" y="209"/>
                </a:cxn>
                <a:cxn ang="0">
                  <a:pos x="30" y="209"/>
                </a:cxn>
                <a:cxn ang="0">
                  <a:pos x="30" y="203"/>
                </a:cxn>
                <a:cxn ang="0">
                  <a:pos x="30" y="203"/>
                </a:cxn>
                <a:cxn ang="0">
                  <a:pos x="36" y="197"/>
                </a:cxn>
                <a:cxn ang="0">
                  <a:pos x="36" y="191"/>
                </a:cxn>
                <a:cxn ang="0">
                  <a:pos x="36" y="185"/>
                </a:cxn>
                <a:cxn ang="0">
                  <a:pos x="72" y="72"/>
                </a:cxn>
                <a:cxn ang="0">
                  <a:pos x="66" y="72"/>
                </a:cxn>
                <a:cxn ang="0">
                  <a:pos x="54" y="78"/>
                </a:cxn>
                <a:cxn ang="0">
                  <a:pos x="36" y="78"/>
                </a:cxn>
                <a:cxn ang="0">
                  <a:pos x="6" y="83"/>
                </a:cxn>
                <a:cxn ang="0">
                  <a:pos x="6" y="83"/>
                </a:cxn>
                <a:cxn ang="0">
                  <a:pos x="18" y="83"/>
                </a:cxn>
                <a:cxn ang="0">
                  <a:pos x="30" y="89"/>
                </a:cxn>
                <a:cxn ang="0">
                  <a:pos x="30" y="95"/>
                </a:cxn>
                <a:cxn ang="0">
                  <a:pos x="30" y="101"/>
                </a:cxn>
                <a:cxn ang="0">
                  <a:pos x="24" y="113"/>
                </a:cxn>
                <a:cxn ang="0">
                  <a:pos x="18" y="149"/>
                </a:cxn>
                <a:cxn ang="0">
                  <a:pos x="6" y="185"/>
                </a:cxn>
                <a:cxn ang="0">
                  <a:pos x="0" y="197"/>
                </a:cxn>
                <a:cxn ang="0">
                  <a:pos x="0" y="203"/>
                </a:cxn>
                <a:cxn ang="0">
                  <a:pos x="0" y="215"/>
                </a:cxn>
                <a:cxn ang="0">
                  <a:pos x="6" y="227"/>
                </a:cxn>
                <a:cxn ang="0">
                  <a:pos x="18" y="227"/>
                </a:cxn>
                <a:cxn ang="0">
                  <a:pos x="36" y="227"/>
                </a:cxn>
                <a:cxn ang="0">
                  <a:pos x="48" y="215"/>
                </a:cxn>
                <a:cxn ang="0">
                  <a:pos x="72" y="185"/>
                </a:cxn>
                <a:cxn ang="0">
                  <a:pos x="66" y="185"/>
                </a:cxn>
                <a:cxn ang="0">
                  <a:pos x="84" y="18"/>
                </a:cxn>
                <a:cxn ang="0">
                  <a:pos x="78" y="6"/>
                </a:cxn>
                <a:cxn ang="0">
                  <a:pos x="66" y="0"/>
                </a:cxn>
                <a:cxn ang="0">
                  <a:pos x="54" y="6"/>
                </a:cxn>
                <a:cxn ang="0">
                  <a:pos x="48" y="18"/>
                </a:cxn>
                <a:cxn ang="0">
                  <a:pos x="54" y="30"/>
                </a:cxn>
                <a:cxn ang="0">
                  <a:pos x="66" y="36"/>
                </a:cxn>
                <a:cxn ang="0">
                  <a:pos x="78" y="30"/>
                </a:cxn>
                <a:cxn ang="0">
                  <a:pos x="84" y="18"/>
                </a:cxn>
                <a:cxn ang="0">
                  <a:pos x="84" y="18"/>
                </a:cxn>
              </a:cxnLst>
              <a:rect l="txL" t="txT" r="txR" b="txB"/>
              <a:pathLst>
                <a:path w="84" h="227">
                  <a:moveTo>
                    <a:pt x="66" y="185"/>
                  </a:moveTo>
                  <a:lnTo>
                    <a:pt x="48" y="203"/>
                  </a:lnTo>
                  <a:lnTo>
                    <a:pt x="36" y="209"/>
                  </a:lnTo>
                  <a:lnTo>
                    <a:pt x="30" y="209"/>
                  </a:lnTo>
                  <a:lnTo>
                    <a:pt x="30" y="203"/>
                  </a:lnTo>
                  <a:lnTo>
                    <a:pt x="36" y="197"/>
                  </a:lnTo>
                  <a:lnTo>
                    <a:pt x="36" y="191"/>
                  </a:lnTo>
                  <a:lnTo>
                    <a:pt x="36" y="185"/>
                  </a:lnTo>
                  <a:lnTo>
                    <a:pt x="72" y="72"/>
                  </a:lnTo>
                  <a:lnTo>
                    <a:pt x="66" y="72"/>
                  </a:lnTo>
                  <a:lnTo>
                    <a:pt x="54" y="78"/>
                  </a:lnTo>
                  <a:lnTo>
                    <a:pt x="36" y="78"/>
                  </a:lnTo>
                  <a:lnTo>
                    <a:pt x="6" y="83"/>
                  </a:lnTo>
                  <a:lnTo>
                    <a:pt x="18" y="83"/>
                  </a:lnTo>
                  <a:lnTo>
                    <a:pt x="30" y="89"/>
                  </a:lnTo>
                  <a:lnTo>
                    <a:pt x="30" y="95"/>
                  </a:lnTo>
                  <a:lnTo>
                    <a:pt x="30" y="101"/>
                  </a:lnTo>
                  <a:lnTo>
                    <a:pt x="24" y="113"/>
                  </a:lnTo>
                  <a:lnTo>
                    <a:pt x="18" y="149"/>
                  </a:lnTo>
                  <a:lnTo>
                    <a:pt x="6" y="185"/>
                  </a:lnTo>
                  <a:lnTo>
                    <a:pt x="0" y="197"/>
                  </a:lnTo>
                  <a:lnTo>
                    <a:pt x="0" y="203"/>
                  </a:lnTo>
                  <a:lnTo>
                    <a:pt x="0" y="215"/>
                  </a:lnTo>
                  <a:lnTo>
                    <a:pt x="6" y="227"/>
                  </a:lnTo>
                  <a:lnTo>
                    <a:pt x="18" y="227"/>
                  </a:lnTo>
                  <a:lnTo>
                    <a:pt x="36" y="227"/>
                  </a:lnTo>
                  <a:lnTo>
                    <a:pt x="48" y="215"/>
                  </a:lnTo>
                  <a:lnTo>
                    <a:pt x="72" y="185"/>
                  </a:lnTo>
                  <a:lnTo>
                    <a:pt x="66" y="185"/>
                  </a:lnTo>
                  <a:close/>
                  <a:moveTo>
                    <a:pt x="84" y="18"/>
                  </a:moveTo>
                  <a:lnTo>
                    <a:pt x="78" y="6"/>
                  </a:lnTo>
                  <a:lnTo>
                    <a:pt x="66" y="0"/>
                  </a:lnTo>
                  <a:lnTo>
                    <a:pt x="54" y="6"/>
                  </a:lnTo>
                  <a:lnTo>
                    <a:pt x="48" y="18"/>
                  </a:lnTo>
                  <a:lnTo>
                    <a:pt x="54" y="30"/>
                  </a:lnTo>
                  <a:lnTo>
                    <a:pt x="66" y="36"/>
                  </a:lnTo>
                  <a:lnTo>
                    <a:pt x="78" y="30"/>
                  </a:lnTo>
                  <a:lnTo>
                    <a:pt x="84" y="1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73" name="Freeform 16"/>
            <p:cNvSpPr>
              <a:spLocks noChangeAspect="1" noEditPoints="1"/>
            </p:cNvSpPr>
            <p:nvPr/>
          </p:nvSpPr>
          <p:spPr>
            <a:xfrm>
              <a:off x="3684" y="2321"/>
              <a:ext cx="132" cy="167"/>
            </a:xfrm>
            <a:custGeom>
              <a:avLst/>
              <a:gdLst>
                <a:gd name="txL" fmla="*/ 0 w 132"/>
                <a:gd name="txT" fmla="*/ 0 h 167"/>
                <a:gd name="txR" fmla="*/ 132 w 132"/>
                <a:gd name="txB" fmla="*/ 167 h 167"/>
              </a:gdLst>
              <a:ahLst/>
              <a:cxnLst>
                <a:cxn ang="0">
                  <a:pos x="132" y="114"/>
                </a:cxn>
                <a:cxn ang="0">
                  <a:pos x="102" y="114"/>
                </a:cxn>
                <a:cxn ang="0">
                  <a:pos x="102" y="0"/>
                </a:cxn>
                <a:cxn ang="0">
                  <a:pos x="90" y="0"/>
                </a:cxn>
                <a:cxn ang="0">
                  <a:pos x="0" y="114"/>
                </a:cxn>
                <a:cxn ang="0">
                  <a:pos x="0" y="126"/>
                </a:cxn>
                <a:cxn ang="0">
                  <a:pos x="84" y="126"/>
                </a:cxn>
                <a:cxn ang="0">
                  <a:pos x="84" y="167"/>
                </a:cxn>
                <a:cxn ang="0">
                  <a:pos x="102" y="167"/>
                </a:cxn>
                <a:cxn ang="0">
                  <a:pos x="102" y="126"/>
                </a:cxn>
                <a:cxn ang="0">
                  <a:pos x="132" y="126"/>
                </a:cxn>
                <a:cxn ang="0">
                  <a:pos x="132" y="114"/>
                </a:cxn>
                <a:cxn ang="0">
                  <a:pos x="84" y="114"/>
                </a:cxn>
                <a:cxn ang="0">
                  <a:pos x="12" y="114"/>
                </a:cxn>
                <a:cxn ang="0">
                  <a:pos x="78" y="24"/>
                </a:cxn>
                <a:cxn ang="0">
                  <a:pos x="84" y="24"/>
                </a:cxn>
                <a:cxn ang="0">
                  <a:pos x="84" y="114"/>
                </a:cxn>
              </a:cxnLst>
              <a:rect l="txL" t="txT" r="txR" b="txB"/>
              <a:pathLst>
                <a:path w="132" h="167">
                  <a:moveTo>
                    <a:pt x="132" y="114"/>
                  </a:moveTo>
                  <a:lnTo>
                    <a:pt x="102" y="114"/>
                  </a:lnTo>
                  <a:lnTo>
                    <a:pt x="102" y="0"/>
                  </a:lnTo>
                  <a:lnTo>
                    <a:pt x="90" y="0"/>
                  </a:lnTo>
                  <a:lnTo>
                    <a:pt x="0" y="114"/>
                  </a:lnTo>
                  <a:lnTo>
                    <a:pt x="0" y="126"/>
                  </a:lnTo>
                  <a:lnTo>
                    <a:pt x="84" y="126"/>
                  </a:lnTo>
                  <a:lnTo>
                    <a:pt x="84" y="167"/>
                  </a:lnTo>
                  <a:lnTo>
                    <a:pt x="102" y="167"/>
                  </a:lnTo>
                  <a:lnTo>
                    <a:pt x="102" y="126"/>
                  </a:lnTo>
                  <a:lnTo>
                    <a:pt x="132" y="126"/>
                  </a:lnTo>
                  <a:lnTo>
                    <a:pt x="132" y="114"/>
                  </a:lnTo>
                  <a:close/>
                  <a:moveTo>
                    <a:pt x="84" y="114"/>
                  </a:moveTo>
                  <a:lnTo>
                    <a:pt x="12" y="114"/>
                  </a:lnTo>
                  <a:lnTo>
                    <a:pt x="78" y="24"/>
                  </a:lnTo>
                  <a:lnTo>
                    <a:pt x="84" y="24"/>
                  </a:lnTo>
                  <a:lnTo>
                    <a:pt x="84" y="11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74" name="Freeform 17"/>
            <p:cNvSpPr>
              <a:spLocks noChangeAspect="1" noEditPoints="1"/>
            </p:cNvSpPr>
            <p:nvPr/>
          </p:nvSpPr>
          <p:spPr>
            <a:xfrm>
              <a:off x="3080" y="2889"/>
              <a:ext cx="78" cy="226"/>
            </a:xfrm>
            <a:custGeom>
              <a:avLst/>
              <a:gdLst>
                <a:gd name="txL" fmla="*/ 0 w 78"/>
                <a:gd name="txT" fmla="*/ 0 h 226"/>
                <a:gd name="txR" fmla="*/ 78 w 78"/>
                <a:gd name="txB" fmla="*/ 226 h 226"/>
              </a:gdLst>
              <a:ahLst/>
              <a:cxnLst>
                <a:cxn ang="0">
                  <a:pos x="66" y="185"/>
                </a:cxn>
                <a:cxn ang="0">
                  <a:pos x="42" y="209"/>
                </a:cxn>
                <a:cxn ang="0">
                  <a:pos x="30" y="215"/>
                </a:cxn>
                <a:cxn ang="0">
                  <a:pos x="30" y="215"/>
                </a:cxn>
                <a:cxn ang="0">
                  <a:pos x="24" y="209"/>
                </a:cxn>
                <a:cxn ang="0">
                  <a:pos x="30" y="197"/>
                </a:cxn>
                <a:cxn ang="0">
                  <a:pos x="30" y="185"/>
                </a:cxn>
                <a:cxn ang="0">
                  <a:pos x="66" y="77"/>
                </a:cxn>
                <a:cxn ang="0">
                  <a:pos x="66" y="77"/>
                </a:cxn>
                <a:cxn ang="0">
                  <a:pos x="36" y="83"/>
                </a:cxn>
                <a:cxn ang="0">
                  <a:pos x="18" y="83"/>
                </a:cxn>
                <a:cxn ang="0">
                  <a:pos x="6" y="83"/>
                </a:cxn>
                <a:cxn ang="0">
                  <a:pos x="6" y="89"/>
                </a:cxn>
                <a:cxn ang="0">
                  <a:pos x="24" y="89"/>
                </a:cxn>
                <a:cxn ang="0">
                  <a:pos x="30" y="95"/>
                </a:cxn>
                <a:cxn ang="0">
                  <a:pos x="30" y="101"/>
                </a:cxn>
                <a:cxn ang="0">
                  <a:pos x="24" y="113"/>
                </a:cxn>
                <a:cxn ang="0">
                  <a:pos x="18" y="149"/>
                </a:cxn>
                <a:cxn ang="0">
                  <a:pos x="6" y="185"/>
                </a:cxn>
                <a:cxn ang="0">
                  <a:pos x="0" y="197"/>
                </a:cxn>
                <a:cxn ang="0">
                  <a:pos x="0" y="209"/>
                </a:cxn>
                <a:cxn ang="0">
                  <a:pos x="0" y="220"/>
                </a:cxn>
                <a:cxn ang="0">
                  <a:pos x="6" y="226"/>
                </a:cxn>
                <a:cxn ang="0">
                  <a:pos x="18" y="226"/>
                </a:cxn>
                <a:cxn ang="0">
                  <a:pos x="30" y="226"/>
                </a:cxn>
                <a:cxn ang="0">
                  <a:pos x="42" y="215"/>
                </a:cxn>
                <a:cxn ang="0">
                  <a:pos x="66" y="191"/>
                </a:cxn>
                <a:cxn ang="0">
                  <a:pos x="66" y="185"/>
                </a:cxn>
                <a:cxn ang="0">
                  <a:pos x="78" y="23"/>
                </a:cxn>
                <a:cxn ang="0">
                  <a:pos x="72" y="6"/>
                </a:cxn>
                <a:cxn ang="0">
                  <a:pos x="60" y="0"/>
                </a:cxn>
                <a:cxn ang="0">
                  <a:pos x="48" y="6"/>
                </a:cxn>
                <a:cxn ang="0">
                  <a:pos x="42" y="23"/>
                </a:cxn>
                <a:cxn ang="0">
                  <a:pos x="48" y="35"/>
                </a:cxn>
                <a:cxn ang="0">
                  <a:pos x="60" y="35"/>
                </a:cxn>
                <a:cxn ang="0">
                  <a:pos x="72" y="29"/>
                </a:cxn>
                <a:cxn ang="0">
                  <a:pos x="78" y="23"/>
                </a:cxn>
                <a:cxn ang="0">
                  <a:pos x="78" y="23"/>
                </a:cxn>
              </a:cxnLst>
              <a:rect l="txL" t="txT" r="txR" b="txB"/>
              <a:pathLst>
                <a:path w="78" h="226">
                  <a:moveTo>
                    <a:pt x="66" y="185"/>
                  </a:moveTo>
                  <a:lnTo>
                    <a:pt x="42" y="209"/>
                  </a:lnTo>
                  <a:lnTo>
                    <a:pt x="30" y="215"/>
                  </a:lnTo>
                  <a:lnTo>
                    <a:pt x="24" y="209"/>
                  </a:lnTo>
                  <a:lnTo>
                    <a:pt x="30" y="197"/>
                  </a:lnTo>
                  <a:lnTo>
                    <a:pt x="30" y="185"/>
                  </a:lnTo>
                  <a:lnTo>
                    <a:pt x="66" y="77"/>
                  </a:lnTo>
                  <a:lnTo>
                    <a:pt x="36" y="83"/>
                  </a:lnTo>
                  <a:lnTo>
                    <a:pt x="18" y="83"/>
                  </a:lnTo>
                  <a:lnTo>
                    <a:pt x="6" y="83"/>
                  </a:lnTo>
                  <a:lnTo>
                    <a:pt x="6" y="89"/>
                  </a:lnTo>
                  <a:lnTo>
                    <a:pt x="24" y="89"/>
                  </a:lnTo>
                  <a:lnTo>
                    <a:pt x="30" y="95"/>
                  </a:lnTo>
                  <a:lnTo>
                    <a:pt x="30" y="101"/>
                  </a:lnTo>
                  <a:lnTo>
                    <a:pt x="24" y="113"/>
                  </a:lnTo>
                  <a:lnTo>
                    <a:pt x="18" y="149"/>
                  </a:lnTo>
                  <a:lnTo>
                    <a:pt x="6" y="185"/>
                  </a:lnTo>
                  <a:lnTo>
                    <a:pt x="0" y="197"/>
                  </a:lnTo>
                  <a:lnTo>
                    <a:pt x="0" y="209"/>
                  </a:lnTo>
                  <a:lnTo>
                    <a:pt x="0" y="220"/>
                  </a:lnTo>
                  <a:lnTo>
                    <a:pt x="6" y="226"/>
                  </a:lnTo>
                  <a:lnTo>
                    <a:pt x="18" y="226"/>
                  </a:lnTo>
                  <a:lnTo>
                    <a:pt x="30" y="226"/>
                  </a:lnTo>
                  <a:lnTo>
                    <a:pt x="42" y="215"/>
                  </a:lnTo>
                  <a:lnTo>
                    <a:pt x="66" y="191"/>
                  </a:lnTo>
                  <a:lnTo>
                    <a:pt x="66" y="185"/>
                  </a:lnTo>
                  <a:close/>
                  <a:moveTo>
                    <a:pt x="78" y="23"/>
                  </a:moveTo>
                  <a:lnTo>
                    <a:pt x="72" y="6"/>
                  </a:lnTo>
                  <a:lnTo>
                    <a:pt x="60" y="0"/>
                  </a:lnTo>
                  <a:lnTo>
                    <a:pt x="48" y="6"/>
                  </a:lnTo>
                  <a:lnTo>
                    <a:pt x="42" y="23"/>
                  </a:lnTo>
                  <a:lnTo>
                    <a:pt x="48" y="35"/>
                  </a:lnTo>
                  <a:lnTo>
                    <a:pt x="60" y="35"/>
                  </a:lnTo>
                  <a:lnTo>
                    <a:pt x="72" y="29"/>
                  </a:lnTo>
                  <a:lnTo>
                    <a:pt x="78" y="2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75" name="Freeform 18"/>
            <p:cNvSpPr>
              <a:spLocks noChangeAspect="1"/>
            </p:cNvSpPr>
            <p:nvPr/>
          </p:nvSpPr>
          <p:spPr>
            <a:xfrm>
              <a:off x="3176" y="3026"/>
              <a:ext cx="113" cy="173"/>
            </a:xfrm>
            <a:custGeom>
              <a:avLst/>
              <a:gdLst>
                <a:gd name="txL" fmla="*/ 0 w 113"/>
                <a:gd name="txT" fmla="*/ 0 h 173"/>
                <a:gd name="txR" fmla="*/ 113 w 113"/>
                <a:gd name="txB" fmla="*/ 173 h 173"/>
              </a:gdLst>
              <a:ahLst/>
              <a:cxnLst>
                <a:cxn ang="0">
                  <a:pos x="29" y="89"/>
                </a:cxn>
                <a:cxn ang="0">
                  <a:pos x="47" y="89"/>
                </a:cxn>
                <a:cxn ang="0">
                  <a:pos x="53" y="89"/>
                </a:cxn>
                <a:cxn ang="0">
                  <a:pos x="71" y="95"/>
                </a:cxn>
                <a:cxn ang="0">
                  <a:pos x="83" y="101"/>
                </a:cxn>
                <a:cxn ang="0">
                  <a:pos x="89" y="113"/>
                </a:cxn>
                <a:cxn ang="0">
                  <a:pos x="89" y="125"/>
                </a:cxn>
                <a:cxn ang="0">
                  <a:pos x="83" y="155"/>
                </a:cxn>
                <a:cxn ang="0">
                  <a:pos x="71" y="167"/>
                </a:cxn>
                <a:cxn ang="0">
                  <a:pos x="53" y="167"/>
                </a:cxn>
                <a:cxn ang="0">
                  <a:pos x="41" y="167"/>
                </a:cxn>
                <a:cxn ang="0">
                  <a:pos x="29" y="161"/>
                </a:cxn>
                <a:cxn ang="0">
                  <a:pos x="23" y="155"/>
                </a:cxn>
                <a:cxn ang="0">
                  <a:pos x="12" y="149"/>
                </a:cxn>
                <a:cxn ang="0">
                  <a:pos x="6" y="155"/>
                </a:cxn>
                <a:cxn ang="0">
                  <a:pos x="0" y="161"/>
                </a:cxn>
                <a:cxn ang="0">
                  <a:pos x="6" y="167"/>
                </a:cxn>
                <a:cxn ang="0">
                  <a:pos x="12" y="173"/>
                </a:cxn>
                <a:cxn ang="0">
                  <a:pos x="23" y="173"/>
                </a:cxn>
                <a:cxn ang="0">
                  <a:pos x="29" y="173"/>
                </a:cxn>
                <a:cxn ang="0">
                  <a:pos x="65" y="167"/>
                </a:cxn>
                <a:cxn ang="0">
                  <a:pos x="89" y="161"/>
                </a:cxn>
                <a:cxn ang="0">
                  <a:pos x="107" y="143"/>
                </a:cxn>
                <a:cxn ang="0">
                  <a:pos x="113" y="119"/>
                </a:cxn>
                <a:cxn ang="0">
                  <a:pos x="107" y="95"/>
                </a:cxn>
                <a:cxn ang="0">
                  <a:pos x="101" y="83"/>
                </a:cxn>
                <a:cxn ang="0">
                  <a:pos x="89" y="72"/>
                </a:cxn>
                <a:cxn ang="0">
                  <a:pos x="77" y="72"/>
                </a:cxn>
                <a:cxn ang="0">
                  <a:pos x="95" y="54"/>
                </a:cxn>
                <a:cxn ang="0">
                  <a:pos x="101" y="36"/>
                </a:cxn>
                <a:cxn ang="0">
                  <a:pos x="101" y="24"/>
                </a:cxn>
                <a:cxn ang="0">
                  <a:pos x="95" y="12"/>
                </a:cxn>
                <a:cxn ang="0">
                  <a:pos x="83" y="6"/>
                </a:cxn>
                <a:cxn ang="0">
                  <a:pos x="59" y="0"/>
                </a:cxn>
                <a:cxn ang="0">
                  <a:pos x="41" y="0"/>
                </a:cxn>
                <a:cxn ang="0">
                  <a:pos x="23" y="6"/>
                </a:cxn>
                <a:cxn ang="0">
                  <a:pos x="12" y="18"/>
                </a:cxn>
                <a:cxn ang="0">
                  <a:pos x="0" y="42"/>
                </a:cxn>
                <a:cxn ang="0">
                  <a:pos x="6" y="42"/>
                </a:cxn>
                <a:cxn ang="0">
                  <a:pos x="18" y="30"/>
                </a:cxn>
                <a:cxn ang="0">
                  <a:pos x="29" y="24"/>
                </a:cxn>
                <a:cxn ang="0">
                  <a:pos x="47" y="18"/>
                </a:cxn>
                <a:cxn ang="0">
                  <a:pos x="65" y="18"/>
                </a:cxn>
                <a:cxn ang="0">
                  <a:pos x="71" y="24"/>
                </a:cxn>
                <a:cxn ang="0">
                  <a:pos x="77" y="42"/>
                </a:cxn>
                <a:cxn ang="0">
                  <a:pos x="71" y="60"/>
                </a:cxn>
                <a:cxn ang="0">
                  <a:pos x="65" y="72"/>
                </a:cxn>
                <a:cxn ang="0">
                  <a:pos x="29" y="83"/>
                </a:cxn>
                <a:cxn ang="0">
                  <a:pos x="29" y="89"/>
                </a:cxn>
              </a:cxnLst>
              <a:rect l="txL" t="txT" r="txR" b="txB"/>
              <a:pathLst>
                <a:path w="113" h="173">
                  <a:moveTo>
                    <a:pt x="29" y="89"/>
                  </a:moveTo>
                  <a:lnTo>
                    <a:pt x="47" y="89"/>
                  </a:lnTo>
                  <a:lnTo>
                    <a:pt x="53" y="89"/>
                  </a:lnTo>
                  <a:lnTo>
                    <a:pt x="71" y="95"/>
                  </a:lnTo>
                  <a:lnTo>
                    <a:pt x="83" y="101"/>
                  </a:lnTo>
                  <a:lnTo>
                    <a:pt x="89" y="113"/>
                  </a:lnTo>
                  <a:lnTo>
                    <a:pt x="89" y="125"/>
                  </a:lnTo>
                  <a:lnTo>
                    <a:pt x="83" y="155"/>
                  </a:lnTo>
                  <a:lnTo>
                    <a:pt x="71" y="167"/>
                  </a:lnTo>
                  <a:lnTo>
                    <a:pt x="53" y="167"/>
                  </a:lnTo>
                  <a:lnTo>
                    <a:pt x="41" y="167"/>
                  </a:lnTo>
                  <a:lnTo>
                    <a:pt x="29" y="161"/>
                  </a:lnTo>
                  <a:lnTo>
                    <a:pt x="23" y="155"/>
                  </a:lnTo>
                  <a:lnTo>
                    <a:pt x="12" y="149"/>
                  </a:lnTo>
                  <a:lnTo>
                    <a:pt x="6" y="155"/>
                  </a:lnTo>
                  <a:lnTo>
                    <a:pt x="0" y="161"/>
                  </a:lnTo>
                  <a:lnTo>
                    <a:pt x="6" y="167"/>
                  </a:lnTo>
                  <a:lnTo>
                    <a:pt x="12" y="173"/>
                  </a:lnTo>
                  <a:lnTo>
                    <a:pt x="23" y="173"/>
                  </a:lnTo>
                  <a:lnTo>
                    <a:pt x="29" y="173"/>
                  </a:lnTo>
                  <a:lnTo>
                    <a:pt x="65" y="167"/>
                  </a:lnTo>
                  <a:lnTo>
                    <a:pt x="89" y="161"/>
                  </a:lnTo>
                  <a:lnTo>
                    <a:pt x="107" y="143"/>
                  </a:lnTo>
                  <a:lnTo>
                    <a:pt x="113" y="119"/>
                  </a:lnTo>
                  <a:lnTo>
                    <a:pt x="107" y="95"/>
                  </a:lnTo>
                  <a:lnTo>
                    <a:pt x="101" y="83"/>
                  </a:lnTo>
                  <a:lnTo>
                    <a:pt x="89" y="72"/>
                  </a:lnTo>
                  <a:lnTo>
                    <a:pt x="77" y="72"/>
                  </a:lnTo>
                  <a:lnTo>
                    <a:pt x="95" y="54"/>
                  </a:lnTo>
                  <a:lnTo>
                    <a:pt x="101" y="36"/>
                  </a:lnTo>
                  <a:lnTo>
                    <a:pt x="101" y="24"/>
                  </a:lnTo>
                  <a:lnTo>
                    <a:pt x="95" y="12"/>
                  </a:lnTo>
                  <a:lnTo>
                    <a:pt x="83" y="6"/>
                  </a:lnTo>
                  <a:lnTo>
                    <a:pt x="59" y="0"/>
                  </a:lnTo>
                  <a:lnTo>
                    <a:pt x="41" y="0"/>
                  </a:lnTo>
                  <a:lnTo>
                    <a:pt x="23" y="6"/>
                  </a:lnTo>
                  <a:lnTo>
                    <a:pt x="12" y="18"/>
                  </a:lnTo>
                  <a:lnTo>
                    <a:pt x="0" y="42"/>
                  </a:lnTo>
                  <a:lnTo>
                    <a:pt x="6" y="42"/>
                  </a:lnTo>
                  <a:lnTo>
                    <a:pt x="18" y="30"/>
                  </a:lnTo>
                  <a:lnTo>
                    <a:pt x="29" y="24"/>
                  </a:lnTo>
                  <a:lnTo>
                    <a:pt x="47" y="18"/>
                  </a:lnTo>
                  <a:lnTo>
                    <a:pt x="65" y="18"/>
                  </a:lnTo>
                  <a:lnTo>
                    <a:pt x="71" y="24"/>
                  </a:lnTo>
                  <a:lnTo>
                    <a:pt x="77" y="42"/>
                  </a:lnTo>
                  <a:lnTo>
                    <a:pt x="71" y="60"/>
                  </a:lnTo>
                  <a:lnTo>
                    <a:pt x="65" y="72"/>
                  </a:lnTo>
                  <a:lnTo>
                    <a:pt x="29" y="83"/>
                  </a:lnTo>
                  <a:lnTo>
                    <a:pt x="29" y="8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76" name="Freeform 19"/>
            <p:cNvSpPr>
              <a:spLocks noChangeAspect="1" noEditPoints="1"/>
            </p:cNvSpPr>
            <p:nvPr/>
          </p:nvSpPr>
          <p:spPr>
            <a:xfrm>
              <a:off x="2051" y="2608"/>
              <a:ext cx="78" cy="227"/>
            </a:xfrm>
            <a:custGeom>
              <a:avLst/>
              <a:gdLst>
                <a:gd name="txL" fmla="*/ 0 w 78"/>
                <a:gd name="txT" fmla="*/ 0 h 227"/>
                <a:gd name="txR" fmla="*/ 78 w 78"/>
                <a:gd name="txB" fmla="*/ 227 h 227"/>
              </a:gdLst>
              <a:ahLst/>
              <a:cxnLst>
                <a:cxn ang="0">
                  <a:pos x="60" y="179"/>
                </a:cxn>
                <a:cxn ang="0">
                  <a:pos x="54" y="197"/>
                </a:cxn>
                <a:cxn ang="0">
                  <a:pos x="42" y="203"/>
                </a:cxn>
                <a:cxn ang="0">
                  <a:pos x="30" y="209"/>
                </a:cxn>
                <a:cxn ang="0">
                  <a:pos x="30" y="209"/>
                </a:cxn>
                <a:cxn ang="0">
                  <a:pos x="24" y="203"/>
                </a:cxn>
                <a:cxn ang="0">
                  <a:pos x="30" y="191"/>
                </a:cxn>
                <a:cxn ang="0">
                  <a:pos x="30" y="179"/>
                </a:cxn>
                <a:cxn ang="0">
                  <a:pos x="66" y="72"/>
                </a:cxn>
                <a:cxn ang="0">
                  <a:pos x="66" y="72"/>
                </a:cxn>
                <a:cxn ang="0">
                  <a:pos x="36" y="78"/>
                </a:cxn>
                <a:cxn ang="0">
                  <a:pos x="18" y="78"/>
                </a:cxn>
                <a:cxn ang="0">
                  <a:pos x="6" y="78"/>
                </a:cxn>
                <a:cxn ang="0">
                  <a:pos x="6" y="83"/>
                </a:cxn>
                <a:cxn ang="0">
                  <a:pos x="24" y="83"/>
                </a:cxn>
                <a:cxn ang="0">
                  <a:pos x="30" y="95"/>
                </a:cxn>
                <a:cxn ang="0">
                  <a:pos x="30" y="101"/>
                </a:cxn>
                <a:cxn ang="0">
                  <a:pos x="24" y="113"/>
                </a:cxn>
                <a:cxn ang="0">
                  <a:pos x="18" y="143"/>
                </a:cxn>
                <a:cxn ang="0">
                  <a:pos x="6" y="179"/>
                </a:cxn>
                <a:cxn ang="0">
                  <a:pos x="0" y="191"/>
                </a:cxn>
                <a:cxn ang="0">
                  <a:pos x="0" y="203"/>
                </a:cxn>
                <a:cxn ang="0">
                  <a:pos x="0" y="215"/>
                </a:cxn>
                <a:cxn ang="0">
                  <a:pos x="6" y="227"/>
                </a:cxn>
                <a:cxn ang="0">
                  <a:pos x="12" y="227"/>
                </a:cxn>
                <a:cxn ang="0">
                  <a:pos x="30" y="221"/>
                </a:cxn>
                <a:cxn ang="0">
                  <a:pos x="42" y="215"/>
                </a:cxn>
                <a:cxn ang="0">
                  <a:pos x="66" y="185"/>
                </a:cxn>
                <a:cxn ang="0">
                  <a:pos x="60" y="179"/>
                </a:cxn>
                <a:cxn ang="0">
                  <a:pos x="78" y="18"/>
                </a:cxn>
                <a:cxn ang="0">
                  <a:pos x="72" y="6"/>
                </a:cxn>
                <a:cxn ang="0">
                  <a:pos x="60" y="0"/>
                </a:cxn>
                <a:cxn ang="0">
                  <a:pos x="48" y="6"/>
                </a:cxn>
                <a:cxn ang="0">
                  <a:pos x="42" y="18"/>
                </a:cxn>
                <a:cxn ang="0">
                  <a:pos x="48" y="30"/>
                </a:cxn>
                <a:cxn ang="0">
                  <a:pos x="60" y="36"/>
                </a:cxn>
                <a:cxn ang="0">
                  <a:pos x="72" y="30"/>
                </a:cxn>
                <a:cxn ang="0">
                  <a:pos x="78" y="18"/>
                </a:cxn>
                <a:cxn ang="0">
                  <a:pos x="78" y="18"/>
                </a:cxn>
              </a:cxnLst>
              <a:rect l="txL" t="txT" r="txR" b="txB"/>
              <a:pathLst>
                <a:path w="78" h="227">
                  <a:moveTo>
                    <a:pt x="60" y="179"/>
                  </a:moveTo>
                  <a:lnTo>
                    <a:pt x="54" y="197"/>
                  </a:lnTo>
                  <a:lnTo>
                    <a:pt x="42" y="203"/>
                  </a:lnTo>
                  <a:lnTo>
                    <a:pt x="30" y="209"/>
                  </a:lnTo>
                  <a:lnTo>
                    <a:pt x="24" y="203"/>
                  </a:lnTo>
                  <a:lnTo>
                    <a:pt x="30" y="191"/>
                  </a:lnTo>
                  <a:lnTo>
                    <a:pt x="30" y="179"/>
                  </a:lnTo>
                  <a:lnTo>
                    <a:pt x="66" y="72"/>
                  </a:lnTo>
                  <a:lnTo>
                    <a:pt x="36" y="78"/>
                  </a:lnTo>
                  <a:lnTo>
                    <a:pt x="18" y="78"/>
                  </a:lnTo>
                  <a:lnTo>
                    <a:pt x="6" y="78"/>
                  </a:lnTo>
                  <a:lnTo>
                    <a:pt x="6" y="83"/>
                  </a:lnTo>
                  <a:lnTo>
                    <a:pt x="24" y="83"/>
                  </a:lnTo>
                  <a:lnTo>
                    <a:pt x="30" y="95"/>
                  </a:lnTo>
                  <a:lnTo>
                    <a:pt x="30" y="101"/>
                  </a:lnTo>
                  <a:lnTo>
                    <a:pt x="24" y="113"/>
                  </a:lnTo>
                  <a:lnTo>
                    <a:pt x="18" y="143"/>
                  </a:lnTo>
                  <a:lnTo>
                    <a:pt x="6" y="179"/>
                  </a:lnTo>
                  <a:lnTo>
                    <a:pt x="0" y="191"/>
                  </a:lnTo>
                  <a:lnTo>
                    <a:pt x="0" y="203"/>
                  </a:lnTo>
                  <a:lnTo>
                    <a:pt x="0" y="215"/>
                  </a:lnTo>
                  <a:lnTo>
                    <a:pt x="6" y="227"/>
                  </a:lnTo>
                  <a:lnTo>
                    <a:pt x="12" y="227"/>
                  </a:lnTo>
                  <a:lnTo>
                    <a:pt x="30" y="221"/>
                  </a:lnTo>
                  <a:lnTo>
                    <a:pt x="42" y="215"/>
                  </a:lnTo>
                  <a:lnTo>
                    <a:pt x="66" y="185"/>
                  </a:lnTo>
                  <a:lnTo>
                    <a:pt x="60" y="179"/>
                  </a:lnTo>
                  <a:close/>
                  <a:moveTo>
                    <a:pt x="78" y="18"/>
                  </a:moveTo>
                  <a:lnTo>
                    <a:pt x="72" y="6"/>
                  </a:lnTo>
                  <a:lnTo>
                    <a:pt x="60" y="0"/>
                  </a:lnTo>
                  <a:lnTo>
                    <a:pt x="48" y="6"/>
                  </a:lnTo>
                  <a:lnTo>
                    <a:pt x="42" y="18"/>
                  </a:lnTo>
                  <a:lnTo>
                    <a:pt x="48" y="30"/>
                  </a:lnTo>
                  <a:lnTo>
                    <a:pt x="60" y="36"/>
                  </a:lnTo>
                  <a:lnTo>
                    <a:pt x="72" y="30"/>
                  </a:lnTo>
                  <a:lnTo>
                    <a:pt x="78" y="1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77" name="Freeform 20"/>
            <p:cNvSpPr>
              <a:spLocks noChangeAspect="1"/>
            </p:cNvSpPr>
            <p:nvPr/>
          </p:nvSpPr>
          <p:spPr>
            <a:xfrm>
              <a:off x="2141" y="2739"/>
              <a:ext cx="131" cy="173"/>
            </a:xfrm>
            <a:custGeom>
              <a:avLst/>
              <a:gdLst>
                <a:gd name="txL" fmla="*/ 0 w 131"/>
                <a:gd name="txT" fmla="*/ 0 h 173"/>
                <a:gd name="txR" fmla="*/ 131 w 131"/>
                <a:gd name="txB" fmla="*/ 173 h 173"/>
              </a:gdLst>
              <a:ahLst/>
              <a:cxnLst>
                <a:cxn ang="0">
                  <a:pos x="131" y="138"/>
                </a:cxn>
                <a:cxn ang="0">
                  <a:pos x="125" y="138"/>
                </a:cxn>
                <a:cxn ang="0">
                  <a:pos x="119" y="150"/>
                </a:cxn>
                <a:cxn ang="0">
                  <a:pos x="113" y="156"/>
                </a:cxn>
                <a:cxn ang="0">
                  <a:pos x="96" y="156"/>
                </a:cxn>
                <a:cxn ang="0">
                  <a:pos x="30" y="156"/>
                </a:cxn>
                <a:cxn ang="0">
                  <a:pos x="78" y="108"/>
                </a:cxn>
                <a:cxn ang="0">
                  <a:pos x="102" y="84"/>
                </a:cxn>
                <a:cxn ang="0">
                  <a:pos x="107" y="66"/>
                </a:cxn>
                <a:cxn ang="0">
                  <a:pos x="113" y="48"/>
                </a:cxn>
                <a:cxn ang="0">
                  <a:pos x="107" y="30"/>
                </a:cxn>
                <a:cxn ang="0">
                  <a:pos x="102" y="12"/>
                </a:cxn>
                <a:cxn ang="0">
                  <a:pos x="84" y="6"/>
                </a:cxn>
                <a:cxn ang="0">
                  <a:pos x="66" y="0"/>
                </a:cxn>
                <a:cxn ang="0">
                  <a:pos x="42" y="0"/>
                </a:cxn>
                <a:cxn ang="0">
                  <a:pos x="24" y="12"/>
                </a:cxn>
                <a:cxn ang="0">
                  <a:pos x="12" y="30"/>
                </a:cxn>
                <a:cxn ang="0">
                  <a:pos x="0" y="54"/>
                </a:cxn>
                <a:cxn ang="0">
                  <a:pos x="6" y="54"/>
                </a:cxn>
                <a:cxn ang="0">
                  <a:pos x="18" y="30"/>
                </a:cxn>
                <a:cxn ang="0">
                  <a:pos x="30" y="24"/>
                </a:cxn>
                <a:cxn ang="0">
                  <a:pos x="48" y="18"/>
                </a:cxn>
                <a:cxn ang="0">
                  <a:pos x="72" y="24"/>
                </a:cxn>
                <a:cxn ang="0">
                  <a:pos x="84" y="30"/>
                </a:cxn>
                <a:cxn ang="0">
                  <a:pos x="90" y="48"/>
                </a:cxn>
                <a:cxn ang="0">
                  <a:pos x="90" y="60"/>
                </a:cxn>
                <a:cxn ang="0">
                  <a:pos x="84" y="90"/>
                </a:cxn>
                <a:cxn ang="0">
                  <a:pos x="54" y="126"/>
                </a:cxn>
                <a:cxn ang="0">
                  <a:pos x="0" y="173"/>
                </a:cxn>
                <a:cxn ang="0">
                  <a:pos x="0" y="173"/>
                </a:cxn>
                <a:cxn ang="0">
                  <a:pos x="113" y="173"/>
                </a:cxn>
                <a:cxn ang="0">
                  <a:pos x="131" y="138"/>
                </a:cxn>
              </a:cxnLst>
              <a:rect l="txL" t="txT" r="txR" b="txB"/>
              <a:pathLst>
                <a:path w="131" h="173">
                  <a:moveTo>
                    <a:pt x="131" y="138"/>
                  </a:moveTo>
                  <a:lnTo>
                    <a:pt x="125" y="138"/>
                  </a:lnTo>
                  <a:lnTo>
                    <a:pt x="119" y="150"/>
                  </a:lnTo>
                  <a:lnTo>
                    <a:pt x="113" y="156"/>
                  </a:lnTo>
                  <a:lnTo>
                    <a:pt x="96" y="156"/>
                  </a:lnTo>
                  <a:lnTo>
                    <a:pt x="30" y="156"/>
                  </a:lnTo>
                  <a:lnTo>
                    <a:pt x="78" y="108"/>
                  </a:lnTo>
                  <a:lnTo>
                    <a:pt x="102" y="84"/>
                  </a:lnTo>
                  <a:lnTo>
                    <a:pt x="107" y="66"/>
                  </a:lnTo>
                  <a:lnTo>
                    <a:pt x="113" y="48"/>
                  </a:lnTo>
                  <a:lnTo>
                    <a:pt x="107" y="30"/>
                  </a:lnTo>
                  <a:lnTo>
                    <a:pt x="102" y="12"/>
                  </a:lnTo>
                  <a:lnTo>
                    <a:pt x="84" y="6"/>
                  </a:lnTo>
                  <a:lnTo>
                    <a:pt x="66" y="0"/>
                  </a:lnTo>
                  <a:lnTo>
                    <a:pt x="42" y="0"/>
                  </a:lnTo>
                  <a:lnTo>
                    <a:pt x="24" y="12"/>
                  </a:lnTo>
                  <a:lnTo>
                    <a:pt x="12" y="30"/>
                  </a:lnTo>
                  <a:lnTo>
                    <a:pt x="0" y="54"/>
                  </a:lnTo>
                  <a:lnTo>
                    <a:pt x="6" y="54"/>
                  </a:lnTo>
                  <a:lnTo>
                    <a:pt x="18" y="30"/>
                  </a:lnTo>
                  <a:lnTo>
                    <a:pt x="30" y="24"/>
                  </a:lnTo>
                  <a:lnTo>
                    <a:pt x="48" y="18"/>
                  </a:lnTo>
                  <a:lnTo>
                    <a:pt x="72" y="24"/>
                  </a:lnTo>
                  <a:lnTo>
                    <a:pt x="84" y="30"/>
                  </a:lnTo>
                  <a:lnTo>
                    <a:pt x="90" y="48"/>
                  </a:lnTo>
                  <a:lnTo>
                    <a:pt x="90" y="60"/>
                  </a:lnTo>
                  <a:lnTo>
                    <a:pt x="84" y="90"/>
                  </a:lnTo>
                  <a:lnTo>
                    <a:pt x="54" y="126"/>
                  </a:lnTo>
                  <a:lnTo>
                    <a:pt x="0" y="173"/>
                  </a:lnTo>
                  <a:lnTo>
                    <a:pt x="113" y="173"/>
                  </a:lnTo>
                  <a:lnTo>
                    <a:pt x="131" y="13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78" name="Freeform 21"/>
            <p:cNvSpPr>
              <a:spLocks noChangeAspect="1"/>
            </p:cNvSpPr>
            <p:nvPr/>
          </p:nvSpPr>
          <p:spPr>
            <a:xfrm>
              <a:off x="2733" y="2877"/>
              <a:ext cx="155" cy="256"/>
            </a:xfrm>
            <a:custGeom>
              <a:avLst/>
              <a:gdLst>
                <a:gd name="txL" fmla="*/ 0 w 155"/>
                <a:gd name="txT" fmla="*/ 0 h 256"/>
                <a:gd name="txR" fmla="*/ 155 w 155"/>
                <a:gd name="txB" fmla="*/ 256 h 256"/>
              </a:gdLst>
              <a:ahLst/>
              <a:cxnLst>
                <a:cxn ang="0">
                  <a:pos x="155" y="256"/>
                </a:cxn>
                <a:cxn ang="0">
                  <a:pos x="78" y="0"/>
                </a:cxn>
                <a:cxn ang="0">
                  <a:pos x="0" y="256"/>
                </a:cxn>
                <a:cxn ang="0">
                  <a:pos x="155" y="256"/>
                </a:cxn>
                <a:cxn ang="0">
                  <a:pos x="155" y="256"/>
                </a:cxn>
              </a:cxnLst>
              <a:rect l="txL" t="txT" r="txR" b="txB"/>
              <a:pathLst>
                <a:path w="155" h="256">
                  <a:moveTo>
                    <a:pt x="155" y="256"/>
                  </a:moveTo>
                  <a:lnTo>
                    <a:pt x="78" y="0"/>
                  </a:lnTo>
                  <a:lnTo>
                    <a:pt x="0" y="256"/>
                  </a:lnTo>
                  <a:lnTo>
                    <a:pt x="155" y="25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79" name="Freeform 22"/>
            <p:cNvSpPr>
              <a:spLocks noChangeAspect="1"/>
            </p:cNvSpPr>
            <p:nvPr/>
          </p:nvSpPr>
          <p:spPr>
            <a:xfrm>
              <a:off x="3516" y="2566"/>
              <a:ext cx="276" cy="209"/>
            </a:xfrm>
            <a:custGeom>
              <a:avLst/>
              <a:gdLst>
                <a:gd name="txL" fmla="*/ 0 w 276"/>
                <a:gd name="txT" fmla="*/ 0 h 209"/>
                <a:gd name="txR" fmla="*/ 276 w 276"/>
                <a:gd name="txB" fmla="*/ 209 h 209"/>
              </a:gdLst>
              <a:ahLst/>
              <a:cxnLst>
                <a:cxn ang="0">
                  <a:pos x="276" y="96"/>
                </a:cxn>
                <a:cxn ang="0">
                  <a:pos x="0" y="0"/>
                </a:cxn>
                <a:cxn ang="0">
                  <a:pos x="186" y="209"/>
                </a:cxn>
                <a:cxn ang="0">
                  <a:pos x="276" y="96"/>
                </a:cxn>
                <a:cxn ang="0">
                  <a:pos x="276" y="96"/>
                </a:cxn>
              </a:cxnLst>
              <a:rect l="txL" t="txT" r="txR" b="txB"/>
              <a:pathLst>
                <a:path w="276" h="209">
                  <a:moveTo>
                    <a:pt x="276" y="96"/>
                  </a:moveTo>
                  <a:lnTo>
                    <a:pt x="0" y="0"/>
                  </a:lnTo>
                  <a:lnTo>
                    <a:pt x="186" y="209"/>
                  </a:lnTo>
                  <a:lnTo>
                    <a:pt x="276" y="9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80" name="Freeform 23"/>
            <p:cNvSpPr>
              <a:spLocks noChangeAspect="1"/>
            </p:cNvSpPr>
            <p:nvPr/>
          </p:nvSpPr>
          <p:spPr>
            <a:xfrm>
              <a:off x="3445" y="1473"/>
              <a:ext cx="275" cy="209"/>
            </a:xfrm>
            <a:custGeom>
              <a:avLst/>
              <a:gdLst>
                <a:gd name="txL" fmla="*/ 0 w 275"/>
                <a:gd name="txT" fmla="*/ 0 h 209"/>
                <a:gd name="txR" fmla="*/ 275 w 275"/>
                <a:gd name="txB" fmla="*/ 209 h 209"/>
              </a:gdLst>
              <a:ahLst/>
              <a:cxnLst>
                <a:cxn ang="0">
                  <a:pos x="95" y="209"/>
                </a:cxn>
                <a:cxn ang="0">
                  <a:pos x="275" y="0"/>
                </a:cxn>
                <a:cxn ang="0">
                  <a:pos x="0" y="102"/>
                </a:cxn>
                <a:cxn ang="0">
                  <a:pos x="95" y="209"/>
                </a:cxn>
                <a:cxn ang="0">
                  <a:pos x="95" y="209"/>
                </a:cxn>
              </a:cxnLst>
              <a:rect l="txL" t="txT" r="txR" b="txB"/>
              <a:pathLst>
                <a:path w="275" h="209">
                  <a:moveTo>
                    <a:pt x="95" y="209"/>
                  </a:moveTo>
                  <a:lnTo>
                    <a:pt x="275" y="0"/>
                  </a:lnTo>
                  <a:lnTo>
                    <a:pt x="0" y="102"/>
                  </a:lnTo>
                  <a:lnTo>
                    <a:pt x="95" y="20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81" name="Freeform 24"/>
            <p:cNvSpPr>
              <a:spLocks noChangeAspect="1"/>
            </p:cNvSpPr>
            <p:nvPr/>
          </p:nvSpPr>
          <p:spPr>
            <a:xfrm>
              <a:off x="2099" y="1216"/>
              <a:ext cx="233" cy="251"/>
            </a:xfrm>
            <a:custGeom>
              <a:avLst/>
              <a:gdLst>
                <a:gd name="txL" fmla="*/ 0 w 233"/>
                <a:gd name="txT" fmla="*/ 0 h 251"/>
                <a:gd name="txR" fmla="*/ 233 w 233"/>
                <a:gd name="txB" fmla="*/ 251 h 251"/>
              </a:gdLst>
              <a:ahLst/>
              <a:cxnLst>
                <a:cxn ang="0">
                  <a:pos x="0" y="84"/>
                </a:cxn>
                <a:cxn ang="0">
                  <a:pos x="233" y="251"/>
                </a:cxn>
                <a:cxn ang="0">
                  <a:pos x="120" y="0"/>
                </a:cxn>
                <a:cxn ang="0">
                  <a:pos x="0" y="84"/>
                </a:cxn>
                <a:cxn ang="0">
                  <a:pos x="0" y="84"/>
                </a:cxn>
              </a:cxnLst>
              <a:rect l="txL" t="txT" r="txR" b="txB"/>
              <a:pathLst>
                <a:path w="233" h="251">
                  <a:moveTo>
                    <a:pt x="0" y="84"/>
                  </a:moveTo>
                  <a:lnTo>
                    <a:pt x="233" y="251"/>
                  </a:lnTo>
                  <a:lnTo>
                    <a:pt x="120" y="0"/>
                  </a:lnTo>
                  <a:lnTo>
                    <a:pt x="0" y="8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82" name="Freeform 25"/>
            <p:cNvSpPr>
              <a:spLocks noChangeAspect="1"/>
            </p:cNvSpPr>
            <p:nvPr/>
          </p:nvSpPr>
          <p:spPr>
            <a:xfrm>
              <a:off x="1794" y="2405"/>
              <a:ext cx="287" cy="185"/>
            </a:xfrm>
            <a:custGeom>
              <a:avLst/>
              <a:gdLst>
                <a:gd name="txL" fmla="*/ 0 w 287"/>
                <a:gd name="txT" fmla="*/ 0 h 185"/>
                <a:gd name="txR" fmla="*/ 287 w 287"/>
                <a:gd name="txB" fmla="*/ 185 h 185"/>
              </a:gdLst>
              <a:ahLst/>
              <a:cxnLst>
                <a:cxn ang="0">
                  <a:pos x="215" y="0"/>
                </a:cxn>
                <a:cxn ang="0">
                  <a:pos x="0" y="185"/>
                </a:cxn>
                <a:cxn ang="0">
                  <a:pos x="287" y="119"/>
                </a:cxn>
                <a:cxn ang="0">
                  <a:pos x="215" y="0"/>
                </a:cxn>
                <a:cxn ang="0">
                  <a:pos x="215" y="0"/>
                </a:cxn>
              </a:cxnLst>
              <a:rect l="txL" t="txT" r="txR" b="txB"/>
              <a:pathLst>
                <a:path w="287" h="185">
                  <a:moveTo>
                    <a:pt x="215" y="0"/>
                  </a:moveTo>
                  <a:lnTo>
                    <a:pt x="0" y="185"/>
                  </a:lnTo>
                  <a:lnTo>
                    <a:pt x="287" y="119"/>
                  </a:lnTo>
                  <a:lnTo>
                    <a:pt x="215"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grpSp>
      <p:pic>
        <p:nvPicPr>
          <p:cNvPr id="23556" name="Picture 28"/>
          <p:cNvPicPr>
            <a:picLocks noChangeAspect="1"/>
          </p:cNvPicPr>
          <p:nvPr/>
        </p:nvPicPr>
        <p:blipFill>
          <a:blip r:embed="rId1"/>
          <a:stretch>
            <a:fillRect/>
          </a:stretch>
        </p:blipFill>
        <p:spPr>
          <a:xfrm>
            <a:off x="4932363" y="2446338"/>
            <a:ext cx="3311525" cy="3281362"/>
          </a:xfrm>
          <a:prstGeom prst="rect">
            <a:avLst/>
          </a:prstGeom>
          <a:noFill/>
          <a:ln w="9525">
            <a:noFill/>
          </a:ln>
        </p:spPr>
      </p:pic>
      <p:sp>
        <p:nvSpPr>
          <p:cNvPr id="23557" name="Text Box 29"/>
          <p:cNvSpPr txBox="1"/>
          <p:nvPr/>
        </p:nvSpPr>
        <p:spPr>
          <a:xfrm>
            <a:off x="5581650" y="5756275"/>
            <a:ext cx="3311525" cy="7842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cs typeface="Arial" panose="020B0604020202020204" pitchFamily="34" charset="0"/>
              </a:rPr>
              <a:t>KCL</a:t>
            </a:r>
            <a:r>
              <a:rPr lang="zh-CN" altLang="en-US" sz="1800" b="1" dirty="0">
                <a:cs typeface="Arial" panose="020B0604020202020204" pitchFamily="34" charset="0"/>
              </a:rPr>
              <a:t>应用于封闭边界</a:t>
            </a:r>
            <a:endParaRPr lang="en-US" altLang="zh-CN" sz="1800" b="1" dirty="0">
              <a:cs typeface="Arial" panose="020B0604020202020204" pitchFamily="34" charset="0"/>
            </a:endParaRPr>
          </a:p>
          <a:p>
            <a:pPr marL="0" lvl="0" indent="0" eaLnBrk="1" hangingPunct="1">
              <a:spcBef>
                <a:spcPct val="50000"/>
              </a:spcBef>
              <a:buClrTx/>
              <a:buSzTx/>
              <a:buFontTx/>
              <a:buNone/>
            </a:pPr>
            <a:r>
              <a:rPr lang="zh-CN" altLang="en-US" sz="1800" b="1" dirty="0">
                <a:cs typeface="Arial" panose="020B0604020202020204" pitchFamily="34" charset="0"/>
              </a:rPr>
              <a:t>     （广义节点）</a:t>
            </a:r>
            <a:endParaRPr lang="en-US" altLang="zh-CN" sz="1800" b="1" dirty="0">
              <a:ea typeface="Arial" panose="020B0604020202020204" pitchFamily="34" charset="0"/>
            </a:endParaRPr>
          </a:p>
        </p:txBody>
      </p:sp>
      <p:sp>
        <p:nvSpPr>
          <p:cNvPr id="23558" name="Text Box 30"/>
          <p:cNvSpPr txBox="1"/>
          <p:nvPr/>
        </p:nvSpPr>
        <p:spPr>
          <a:xfrm>
            <a:off x="539750" y="1206500"/>
            <a:ext cx="6551613" cy="461963"/>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dirty="0">
                <a:latin typeface="Arial Black" panose="020B0A04020102020204" pitchFamily="34" charset="0"/>
                <a:cs typeface="Arial" panose="020B0604020202020204" pitchFamily="34" charset="0"/>
              </a:rPr>
              <a:t>流进节点的电流之和等于离开节点的电流之和。</a:t>
            </a:r>
            <a:endParaRPr lang="en-US" altLang="zh-CN" sz="2400" dirty="0">
              <a:latin typeface="Arial Black" panose="020B0A04020102020204" pitchFamily="34" charset="0"/>
              <a:ea typeface="Arial" panose="020B0604020202020204" pitchFamily="34" charset="0"/>
            </a:endParaRPr>
          </a:p>
        </p:txBody>
      </p:sp>
      <p:sp>
        <p:nvSpPr>
          <p:cNvPr id="23559"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23560" name="文本框 1"/>
          <p:cNvSpPr txBox="1"/>
          <p:nvPr/>
        </p:nvSpPr>
        <p:spPr>
          <a:xfrm>
            <a:off x="722313" y="519113"/>
            <a:ext cx="80010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2400" dirty="0"/>
              <a:t>或：</a:t>
            </a:r>
            <a:endParaRPr lang="zh-CN" altLang="en-US" sz="2400" dirty="0"/>
          </a:p>
        </p:txBody>
      </p:sp>
      <p:sp>
        <p:nvSpPr>
          <p:cNvPr id="23561" name="Text Box 6"/>
          <p:cNvSpPr txBox="1"/>
          <p:nvPr/>
        </p:nvSpPr>
        <p:spPr>
          <a:xfrm>
            <a:off x="1358900" y="560388"/>
            <a:ext cx="4667250"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Arial Black" panose="020B0A04020102020204" pitchFamily="34" charset="0"/>
                <a:cs typeface="Arial" panose="020B0604020202020204" pitchFamily="34" charset="0"/>
              </a:rPr>
              <a:t>基尔霍夫电流定律（</a:t>
            </a:r>
            <a:r>
              <a:rPr lang="en-US" altLang="zh-CN" sz="2400" b="1" dirty="0">
                <a:solidFill>
                  <a:srgbClr val="FF0000"/>
                </a:solidFill>
                <a:latin typeface="Arial Black" panose="020B0A04020102020204" pitchFamily="34" charset="0"/>
                <a:cs typeface="Arial" panose="020B0604020202020204" pitchFamily="34" charset="0"/>
              </a:rPr>
              <a:t>KCL</a:t>
            </a:r>
            <a:r>
              <a:rPr lang="zh-CN" altLang="en-US" sz="2400" b="1" dirty="0">
                <a:latin typeface="Arial Black" panose="020B0A04020102020204" pitchFamily="34" charset="0"/>
                <a:cs typeface="Arial" panose="020B0604020202020204" pitchFamily="34" charset="0"/>
              </a:rPr>
              <a:t>）</a:t>
            </a:r>
            <a:endParaRPr lang="en-US" altLang="zh-CN" sz="2400" b="1" dirty="0">
              <a:latin typeface="Arial Black" panose="020B0A04020102020204" pitchFamily="34" charset="0"/>
              <a:ea typeface="Arial" panose="020B0604020202020204" pitchFamily="34" charset="0"/>
            </a:endParaRPr>
          </a:p>
        </p:txBody>
      </p:sp>
      <p:graphicFrame>
        <p:nvGraphicFramePr>
          <p:cNvPr id="23562" name="Object 7"/>
          <p:cNvGraphicFramePr>
            <a:graphicFrameLocks noChangeAspect="1"/>
          </p:cNvGraphicFramePr>
          <p:nvPr/>
        </p:nvGraphicFramePr>
        <p:xfrm>
          <a:off x="2760663" y="1990725"/>
          <a:ext cx="1573212" cy="766763"/>
        </p:xfrm>
        <a:graphic>
          <a:graphicData uri="http://schemas.openxmlformats.org/presentationml/2006/ole">
            <mc:AlternateContent xmlns:mc="http://schemas.openxmlformats.org/markup-compatibility/2006">
              <mc:Choice xmlns:v="urn:schemas-microsoft-com:vml" Requires="v">
                <p:oleObj spid="_x0000_s3077" name="" r:id="rId2" imgW="469900" imgH="228600" progId="Equation.DSMT4">
                  <p:embed/>
                </p:oleObj>
              </mc:Choice>
              <mc:Fallback>
                <p:oleObj name="" r:id="rId2" imgW="469900" imgH="228600" progId="Equation.DSMT4">
                  <p:embed/>
                  <p:pic>
                    <p:nvPicPr>
                      <p:cNvPr id="0" name="图片 3076"/>
                      <p:cNvPicPr/>
                      <p:nvPr/>
                    </p:nvPicPr>
                    <p:blipFill>
                      <a:blip r:embed="rId3"/>
                      <a:stretch>
                        <a:fillRect/>
                      </a:stretch>
                    </p:blipFill>
                    <p:spPr>
                      <a:xfrm>
                        <a:off x="2760663" y="1990725"/>
                        <a:ext cx="1573212" cy="766763"/>
                      </a:xfrm>
                      <a:prstGeom prst="rect">
                        <a:avLst/>
                      </a:prstGeom>
                      <a:noFill/>
                      <a:ln w="9525" cap="flat" cmpd="sng">
                        <a:solidFill>
                          <a:srgbClr val="CC0000"/>
                        </a:solidFill>
                        <a:prstDash val="solid"/>
                        <a:miter/>
                        <a:headEnd type="none" w="med" len="med"/>
                        <a:tailEnd type="none" w="med" len="med"/>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5602" name="Group 12"/>
          <p:cNvGrpSpPr/>
          <p:nvPr/>
        </p:nvGrpSpPr>
        <p:grpSpPr>
          <a:xfrm>
            <a:off x="323850" y="2781300"/>
            <a:ext cx="9655175" cy="3467100"/>
            <a:chOff x="340" y="1207"/>
            <a:chExt cx="5881" cy="2184"/>
          </a:xfrm>
        </p:grpSpPr>
        <p:pic>
          <p:nvPicPr>
            <p:cNvPr id="25608" name="Picture 7"/>
            <p:cNvPicPr>
              <a:picLocks noChangeAspect="1"/>
            </p:cNvPicPr>
            <p:nvPr/>
          </p:nvPicPr>
          <p:blipFill>
            <a:blip r:embed="rId1"/>
            <a:stretch>
              <a:fillRect/>
            </a:stretch>
          </p:blipFill>
          <p:spPr>
            <a:xfrm>
              <a:off x="340" y="1207"/>
              <a:ext cx="2665" cy="1352"/>
            </a:xfrm>
            <a:prstGeom prst="rect">
              <a:avLst/>
            </a:prstGeom>
            <a:noFill/>
            <a:ln w="9525">
              <a:noFill/>
            </a:ln>
          </p:spPr>
        </p:pic>
        <p:pic>
          <p:nvPicPr>
            <p:cNvPr id="25609" name="Picture 8"/>
            <p:cNvPicPr>
              <a:picLocks noChangeAspect="1"/>
            </p:cNvPicPr>
            <p:nvPr/>
          </p:nvPicPr>
          <p:blipFill>
            <a:blip r:embed="rId2"/>
            <a:stretch>
              <a:fillRect/>
            </a:stretch>
          </p:blipFill>
          <p:spPr>
            <a:xfrm>
              <a:off x="4014" y="1253"/>
              <a:ext cx="1633" cy="1315"/>
            </a:xfrm>
            <a:prstGeom prst="rect">
              <a:avLst/>
            </a:prstGeom>
            <a:noFill/>
            <a:ln w="9525">
              <a:noFill/>
            </a:ln>
          </p:spPr>
        </p:pic>
        <p:sp>
          <p:nvSpPr>
            <p:cNvPr id="25610" name="Text Box 9"/>
            <p:cNvSpPr txBox="1"/>
            <p:nvPr/>
          </p:nvSpPr>
          <p:spPr>
            <a:xfrm>
              <a:off x="1383" y="2614"/>
              <a:ext cx="931" cy="23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cs typeface="Arial" panose="020B0604020202020204" pitchFamily="34" charset="0"/>
                </a:rPr>
                <a:t>(a)</a:t>
              </a:r>
              <a:r>
                <a:rPr lang="zh-CN" altLang="en-US" sz="1800" b="1" dirty="0">
                  <a:cs typeface="Arial" panose="020B0604020202020204" pitchFamily="34" charset="0"/>
                </a:rPr>
                <a:t>原电路</a:t>
              </a:r>
              <a:endParaRPr lang="en-US" altLang="zh-CN" sz="1800" b="1" dirty="0">
                <a:ea typeface="Arial" panose="020B0604020202020204" pitchFamily="34" charset="0"/>
              </a:endParaRPr>
            </a:p>
          </p:txBody>
        </p:sp>
        <p:sp>
          <p:nvSpPr>
            <p:cNvPr id="25611" name="Text Box 10"/>
            <p:cNvSpPr txBox="1"/>
            <p:nvPr/>
          </p:nvSpPr>
          <p:spPr>
            <a:xfrm>
              <a:off x="4014" y="2625"/>
              <a:ext cx="1018" cy="23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cs typeface="Arial" panose="020B0604020202020204" pitchFamily="34" charset="0"/>
                </a:rPr>
                <a:t>(b)</a:t>
              </a:r>
              <a:r>
                <a:rPr lang="zh-CN" altLang="en-US" sz="1800" b="1" dirty="0">
                  <a:cs typeface="Arial" panose="020B0604020202020204" pitchFamily="34" charset="0"/>
                </a:rPr>
                <a:t>等效电路</a:t>
              </a:r>
              <a:endParaRPr lang="en-US" altLang="zh-CN" sz="1800" b="1" dirty="0">
                <a:ea typeface="Arial" panose="020B0604020202020204" pitchFamily="34" charset="0"/>
              </a:endParaRPr>
            </a:p>
          </p:txBody>
        </p:sp>
        <p:sp>
          <p:nvSpPr>
            <p:cNvPr id="25612" name="Text Box 11"/>
            <p:cNvSpPr txBox="1"/>
            <p:nvPr/>
          </p:nvSpPr>
          <p:spPr>
            <a:xfrm>
              <a:off x="2048" y="3139"/>
              <a:ext cx="4173" cy="25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cs typeface="Arial" panose="020B0604020202020204" pitchFamily="34" charset="0"/>
                </a:rPr>
                <a:t>并联电流源的等效</a:t>
              </a:r>
              <a:endParaRPr lang="en-US" altLang="zh-CN" sz="2000" b="1" dirty="0">
                <a:ea typeface="Arial" panose="020B0604020202020204" pitchFamily="34" charset="0"/>
              </a:endParaRPr>
            </a:p>
          </p:txBody>
        </p:sp>
      </p:grpSp>
      <p:sp>
        <p:nvSpPr>
          <p:cNvPr id="25603" name="Text Box 13"/>
          <p:cNvSpPr txBox="1"/>
          <p:nvPr/>
        </p:nvSpPr>
        <p:spPr>
          <a:xfrm>
            <a:off x="334963" y="836613"/>
            <a:ext cx="8569325" cy="9540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457200" lvl="0" indent="-457200" eaLnBrk="1" hangingPunct="1">
              <a:spcBef>
                <a:spcPct val="50000"/>
              </a:spcBef>
              <a:buClrTx/>
              <a:buSzTx/>
            </a:pPr>
            <a:r>
              <a:rPr lang="zh-CN" altLang="en-US" sz="2800" b="1" dirty="0">
                <a:latin typeface="Times New Roman" panose="02020603050405020304" pitchFamily="18" charset="0"/>
                <a:cs typeface="Arial" panose="020B0604020202020204" pitchFamily="34" charset="0"/>
              </a:rPr>
              <a:t>如果两个电源</a:t>
            </a:r>
            <a:r>
              <a:rPr lang="en-US" altLang="zh-CN" sz="2800" b="1" dirty="0">
                <a:latin typeface="Times New Roman" panose="02020603050405020304" pitchFamily="18" charset="0"/>
                <a:cs typeface="Arial" panose="020B0604020202020204" pitchFamily="34" charset="0"/>
              </a:rPr>
              <a:t>(</a:t>
            </a:r>
            <a:r>
              <a:rPr lang="zh-CN" altLang="en-US" sz="2800" b="1" dirty="0">
                <a:latin typeface="Times New Roman" panose="02020603050405020304" pitchFamily="18" charset="0"/>
                <a:cs typeface="Arial" panose="020B0604020202020204" pitchFamily="34" charset="0"/>
              </a:rPr>
              <a:t>或电路</a:t>
            </a:r>
            <a:r>
              <a:rPr lang="en-US" altLang="zh-CN" sz="2800" b="1" dirty="0">
                <a:latin typeface="Times New Roman" panose="02020603050405020304" pitchFamily="18" charset="0"/>
                <a:cs typeface="Arial" panose="020B0604020202020204" pitchFamily="34" charset="0"/>
              </a:rPr>
              <a:t>)</a:t>
            </a:r>
            <a:r>
              <a:rPr lang="zh-CN" altLang="en-US" sz="2800" b="1" dirty="0">
                <a:latin typeface="Times New Roman" panose="02020603050405020304" pitchFamily="18" charset="0"/>
                <a:cs typeface="Arial" panose="020B0604020202020204" pitchFamily="34" charset="0"/>
              </a:rPr>
              <a:t>在端口处有相同的电流</a:t>
            </a:r>
            <a:r>
              <a:rPr lang="en-US" altLang="zh-CN" sz="2800" b="1" dirty="0">
                <a:latin typeface="Times New Roman" panose="02020603050405020304" pitchFamily="18" charset="0"/>
                <a:cs typeface="Arial" panose="020B0604020202020204" pitchFamily="34" charset="0"/>
              </a:rPr>
              <a:t>-</a:t>
            </a:r>
            <a:r>
              <a:rPr lang="zh-CN" altLang="en-US" sz="2800" b="1" dirty="0">
                <a:latin typeface="Times New Roman" panose="02020603050405020304" pitchFamily="18" charset="0"/>
                <a:cs typeface="Arial" panose="020B0604020202020204" pitchFamily="34" charset="0"/>
              </a:rPr>
              <a:t>电压关系（</a:t>
            </a:r>
            <a:r>
              <a:rPr lang="en-US" altLang="zh-CN" sz="2800" b="1" dirty="0">
                <a:latin typeface="Times New Roman" panose="02020603050405020304" pitchFamily="18" charset="0"/>
                <a:cs typeface="Arial" panose="020B0604020202020204" pitchFamily="34" charset="0"/>
              </a:rPr>
              <a:t>VCR</a:t>
            </a:r>
            <a:r>
              <a:rPr lang="zh-CN" altLang="en-US" sz="2800" b="1" dirty="0">
                <a:latin typeface="Times New Roman" panose="02020603050405020304" pitchFamily="18" charset="0"/>
                <a:cs typeface="Arial" panose="020B0604020202020204" pitchFamily="34" charset="0"/>
              </a:rPr>
              <a:t>），那么就说它们是</a:t>
            </a:r>
            <a:r>
              <a:rPr lang="zh-CN" altLang="en-US" sz="2800" b="1" dirty="0">
                <a:solidFill>
                  <a:srgbClr val="FF0000"/>
                </a:solidFill>
                <a:latin typeface="黑体" panose="02010609060101010101" pitchFamily="49" charset="-122"/>
                <a:ea typeface="黑体" panose="02010609060101010101" pitchFamily="49" charset="-122"/>
              </a:rPr>
              <a:t>等效</a:t>
            </a:r>
            <a:r>
              <a:rPr lang="zh-CN" altLang="en-US" sz="2800" b="1" dirty="0">
                <a:latin typeface="Times New Roman" panose="02020603050405020304" pitchFamily="18" charset="0"/>
                <a:cs typeface="Arial" panose="020B0604020202020204" pitchFamily="34" charset="0"/>
              </a:rPr>
              <a:t>的。</a:t>
            </a:r>
            <a:endParaRPr lang="en-US" altLang="zh-CN" sz="2800" b="1" dirty="0">
              <a:latin typeface="Times New Roman" panose="02020603050405020304" pitchFamily="18" charset="0"/>
              <a:ea typeface="Arial" panose="020B0604020202020204" pitchFamily="34" charset="0"/>
            </a:endParaRPr>
          </a:p>
        </p:txBody>
      </p:sp>
      <p:grpSp>
        <p:nvGrpSpPr>
          <p:cNvPr id="25604" name="Group 16"/>
          <p:cNvGrpSpPr/>
          <p:nvPr/>
        </p:nvGrpSpPr>
        <p:grpSpPr>
          <a:xfrm>
            <a:off x="4951413" y="3613150"/>
            <a:ext cx="1349375" cy="790575"/>
            <a:chOff x="3243" y="2688"/>
            <a:chExt cx="850" cy="498"/>
          </a:xfrm>
        </p:grpSpPr>
        <p:pic>
          <p:nvPicPr>
            <p:cNvPr id="25606" name="Picture 14"/>
            <p:cNvPicPr>
              <a:picLocks noChangeAspect="1"/>
            </p:cNvPicPr>
            <p:nvPr/>
          </p:nvPicPr>
          <p:blipFill>
            <a:blip r:embed="rId3"/>
            <a:stretch>
              <a:fillRect/>
            </a:stretch>
          </p:blipFill>
          <p:spPr>
            <a:xfrm>
              <a:off x="3243" y="2795"/>
              <a:ext cx="816" cy="391"/>
            </a:xfrm>
            <a:prstGeom prst="rect">
              <a:avLst/>
            </a:prstGeom>
            <a:noFill/>
            <a:ln w="9525">
              <a:noFill/>
            </a:ln>
          </p:spPr>
        </p:pic>
        <p:sp>
          <p:nvSpPr>
            <p:cNvPr id="25607" name="Rectangle 15"/>
            <p:cNvSpPr/>
            <p:nvPr/>
          </p:nvSpPr>
          <p:spPr>
            <a:xfrm>
              <a:off x="3321" y="2688"/>
              <a:ext cx="772" cy="2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600" b="1" dirty="0">
                  <a:cs typeface="Arial" panose="020B0604020202020204" pitchFamily="34" charset="0"/>
                </a:rPr>
                <a:t>等效电路</a:t>
              </a:r>
              <a:endParaRPr lang="en-US" altLang="zh-CN" sz="1600" b="1" dirty="0">
                <a:ea typeface="Arial" panose="020B0604020202020204" pitchFamily="34" charset="0"/>
              </a:endParaRPr>
            </a:p>
          </p:txBody>
        </p:sp>
      </p:grpSp>
      <p:sp>
        <p:nvSpPr>
          <p:cNvPr id="25605"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 Box 4"/>
          <p:cNvSpPr txBox="1"/>
          <p:nvPr/>
        </p:nvSpPr>
        <p:spPr>
          <a:xfrm>
            <a:off x="469900" y="414338"/>
            <a:ext cx="8135938" cy="584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pPr>
            <a:r>
              <a:rPr lang="zh-CN" altLang="en-US" b="1" dirty="0">
                <a:latin typeface="Arial Black" panose="020B0A04020102020204" pitchFamily="34" charset="0"/>
                <a:cs typeface="Arial" panose="020B0604020202020204" pitchFamily="34" charset="0"/>
              </a:rPr>
              <a:t>基尔霍夫电压定律</a:t>
            </a:r>
            <a:r>
              <a:rPr lang="en-US" altLang="zh-CN" sz="2400" dirty="0">
                <a:solidFill>
                  <a:srgbClr val="000000"/>
                </a:solidFill>
                <a:latin typeface="Arial Black" panose="020B0A04020102020204" pitchFamily="34" charset="0"/>
                <a:cs typeface="Arial" panose="020B0604020202020204" pitchFamily="34" charset="0"/>
              </a:rPr>
              <a:t>(</a:t>
            </a:r>
            <a:r>
              <a:rPr lang="en-US" altLang="zh-CN" sz="2400" dirty="0">
                <a:solidFill>
                  <a:srgbClr val="FF0000"/>
                </a:solidFill>
                <a:latin typeface="Arial Black" panose="020B0A04020102020204" pitchFamily="34" charset="0"/>
                <a:cs typeface="Arial" panose="020B0604020202020204" pitchFamily="34" charset="0"/>
              </a:rPr>
              <a:t>KVL</a:t>
            </a:r>
            <a:r>
              <a:rPr lang="en-US" altLang="zh-CN" sz="2400" dirty="0">
                <a:solidFill>
                  <a:srgbClr val="000000"/>
                </a:solidFill>
                <a:latin typeface="Arial Black" panose="020B0A04020102020204" pitchFamily="34" charset="0"/>
                <a:cs typeface="Arial" panose="020B0604020202020204" pitchFamily="34" charset="0"/>
              </a:rPr>
              <a:t>) </a:t>
            </a:r>
            <a:endParaRPr lang="en-US" altLang="zh-CN" b="1" dirty="0">
              <a:latin typeface="Times New Roman" panose="02020603050405020304" pitchFamily="18" charset="0"/>
              <a:ea typeface="Arial" panose="020B0604020202020204" pitchFamily="34" charset="0"/>
            </a:endParaRPr>
          </a:p>
        </p:txBody>
      </p:sp>
      <p:sp>
        <p:nvSpPr>
          <p:cNvPr id="27651" name="Text Box 5"/>
          <p:cNvSpPr txBox="1"/>
          <p:nvPr/>
        </p:nvSpPr>
        <p:spPr>
          <a:xfrm>
            <a:off x="636588" y="1319213"/>
            <a:ext cx="7864475" cy="954087"/>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dirty="0">
                <a:latin typeface="Arial Black" panose="020B0A04020102020204" pitchFamily="34" charset="0"/>
                <a:cs typeface="Arial" panose="020B0604020202020204" pitchFamily="34" charset="0"/>
              </a:rPr>
              <a:t>      </a:t>
            </a:r>
            <a:r>
              <a:rPr lang="zh-CN" altLang="en-US" sz="2800" b="1" dirty="0">
                <a:solidFill>
                  <a:srgbClr val="FF0000"/>
                </a:solidFill>
                <a:latin typeface="Arial Black" panose="020B0A04020102020204" pitchFamily="34" charset="0"/>
                <a:cs typeface="Arial" panose="020B0604020202020204" pitchFamily="34" charset="0"/>
              </a:rPr>
              <a:t>基尔霍夫电压定律</a:t>
            </a:r>
            <a:r>
              <a:rPr lang="zh-CN" altLang="en-US" sz="2800" b="1" dirty="0">
                <a:latin typeface="Arial Black" panose="020B0A04020102020204" pitchFamily="34" charset="0"/>
                <a:cs typeface="Arial" panose="020B0604020202020204" pitchFamily="34" charset="0"/>
              </a:rPr>
              <a:t>指出，闭合路径</a:t>
            </a:r>
            <a:r>
              <a:rPr lang="en-US" altLang="zh-CN" sz="2800" b="1" dirty="0">
                <a:latin typeface="Arial Black" panose="020B0A04020102020204" pitchFamily="34" charset="0"/>
                <a:cs typeface="Arial" panose="020B0604020202020204" pitchFamily="34" charset="0"/>
              </a:rPr>
              <a:t>(</a:t>
            </a:r>
            <a:r>
              <a:rPr lang="zh-CN" altLang="en-US" sz="2800" b="1" dirty="0">
                <a:latin typeface="Arial Black" panose="020B0A04020102020204" pitchFamily="34" charset="0"/>
                <a:cs typeface="Arial" panose="020B0604020202020204" pitchFamily="34" charset="0"/>
              </a:rPr>
              <a:t>或回路</a:t>
            </a:r>
            <a:r>
              <a:rPr lang="en-US" altLang="zh-CN" sz="2800" b="1" dirty="0">
                <a:latin typeface="Arial Black" panose="020B0A04020102020204" pitchFamily="34" charset="0"/>
                <a:cs typeface="Arial" panose="020B0604020202020204" pitchFamily="34" charset="0"/>
              </a:rPr>
              <a:t>)</a:t>
            </a:r>
            <a:r>
              <a:rPr lang="zh-CN" altLang="en-US" sz="2800" b="1" dirty="0">
                <a:latin typeface="Arial Black" panose="020B0A04020102020204" pitchFamily="34" charset="0"/>
                <a:cs typeface="Arial" panose="020B0604020202020204" pitchFamily="34" charset="0"/>
              </a:rPr>
              <a:t>上所有电压的代数和为零。</a:t>
            </a:r>
            <a:endParaRPr lang="en-US" altLang="zh-CN" sz="2400" b="1" dirty="0">
              <a:latin typeface="Arial Black" panose="020B0A04020102020204" pitchFamily="34" charset="0"/>
              <a:ea typeface="Arial" panose="020B0604020202020204" pitchFamily="34" charset="0"/>
            </a:endParaRPr>
          </a:p>
        </p:txBody>
      </p:sp>
      <p:graphicFrame>
        <p:nvGraphicFramePr>
          <p:cNvPr id="27652" name="Object 7"/>
          <p:cNvGraphicFramePr>
            <a:graphicFrameLocks noChangeAspect="1"/>
          </p:cNvGraphicFramePr>
          <p:nvPr/>
        </p:nvGraphicFramePr>
        <p:xfrm>
          <a:off x="1427163" y="2459038"/>
          <a:ext cx="1479550" cy="1071562"/>
        </p:xfrm>
        <a:graphic>
          <a:graphicData uri="http://schemas.openxmlformats.org/presentationml/2006/ole">
            <mc:AlternateContent xmlns:mc="http://schemas.openxmlformats.org/markup-compatibility/2006">
              <mc:Choice xmlns:v="urn:schemas-microsoft-com:vml" Requires="v">
                <p:oleObj spid="_x0000_s3078" name="" r:id="rId1" imgW="596900" imgH="431800" progId="Equation.3">
                  <p:embed/>
                </p:oleObj>
              </mc:Choice>
              <mc:Fallback>
                <p:oleObj name="" r:id="rId1" imgW="596900" imgH="431800" progId="Equation.3">
                  <p:embed/>
                  <p:pic>
                    <p:nvPicPr>
                      <p:cNvPr id="0" name="图片 3077"/>
                      <p:cNvPicPr/>
                      <p:nvPr/>
                    </p:nvPicPr>
                    <p:blipFill>
                      <a:blip r:embed="rId2"/>
                      <a:stretch>
                        <a:fillRect/>
                      </a:stretch>
                    </p:blipFill>
                    <p:spPr>
                      <a:xfrm>
                        <a:off x="1427163" y="2459038"/>
                        <a:ext cx="1479550" cy="1071562"/>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grpSp>
        <p:nvGrpSpPr>
          <p:cNvPr id="27653" name="Group 9"/>
          <p:cNvGrpSpPr>
            <a:grpSpLocks noChangeAspect="1"/>
          </p:cNvGrpSpPr>
          <p:nvPr/>
        </p:nvGrpSpPr>
        <p:grpSpPr>
          <a:xfrm>
            <a:off x="77788" y="4321175"/>
            <a:ext cx="3914775" cy="2341563"/>
            <a:chOff x="1074" y="1019"/>
            <a:chExt cx="3600" cy="2347"/>
          </a:xfrm>
        </p:grpSpPr>
        <p:sp>
          <p:nvSpPr>
            <p:cNvPr id="27659" name="Freeform 10"/>
            <p:cNvSpPr>
              <a:spLocks noChangeAspect="1"/>
            </p:cNvSpPr>
            <p:nvPr/>
          </p:nvSpPr>
          <p:spPr>
            <a:xfrm>
              <a:off x="4172" y="1437"/>
              <a:ext cx="1" cy="1446"/>
            </a:xfrm>
            <a:custGeom>
              <a:avLst/>
              <a:gdLst>
                <a:gd name="txL" fmla="*/ 0 w 1"/>
                <a:gd name="txT" fmla="*/ 0 h 1446"/>
                <a:gd name="txR" fmla="*/ 1 w 1"/>
                <a:gd name="txB" fmla="*/ 1446 h 1446"/>
              </a:gdLst>
              <a:ahLst/>
              <a:cxnLst>
                <a:cxn ang="0">
                  <a:pos x="0" y="1446"/>
                </a:cxn>
                <a:cxn ang="0">
                  <a:pos x="0" y="0"/>
                </a:cxn>
                <a:cxn ang="0">
                  <a:pos x="0" y="1446"/>
                </a:cxn>
                <a:cxn ang="0">
                  <a:pos x="0" y="1446"/>
                </a:cxn>
              </a:cxnLst>
              <a:rect l="txL" t="txT" r="txR" b="txB"/>
              <a:pathLst>
                <a:path w="1" h="1446">
                  <a:moveTo>
                    <a:pt x="0" y="1446"/>
                  </a:moveTo>
                  <a:lnTo>
                    <a:pt x="0" y="0"/>
                  </a:lnTo>
                  <a:lnTo>
                    <a:pt x="0" y="144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60" name="Freeform 11"/>
            <p:cNvSpPr>
              <a:spLocks noChangeAspect="1" noEditPoints="1"/>
            </p:cNvSpPr>
            <p:nvPr/>
          </p:nvSpPr>
          <p:spPr>
            <a:xfrm flipV="1">
              <a:off x="3682" y="1411"/>
              <a:ext cx="490" cy="47"/>
            </a:xfrm>
            <a:custGeom>
              <a:avLst/>
              <a:gdLst>
                <a:gd name="txL" fmla="*/ 0 w 2632"/>
                <a:gd name="txT" fmla="*/ 0 h 47"/>
                <a:gd name="txR" fmla="*/ 2632 w 2632"/>
                <a:gd name="txB" fmla="*/ 47 h 47"/>
              </a:gdLst>
              <a:ahLst/>
              <a:cxnLst>
                <a:cxn ang="0">
                  <a:pos x="0" y="0"/>
                </a:cxn>
                <a:cxn ang="0">
                  <a:pos x="0" y="0"/>
                </a:cxn>
                <a:cxn ang="0">
                  <a:pos x="0" y="0"/>
                </a:cxn>
                <a:cxn ang="0">
                  <a:pos x="0" y="0"/>
                </a:cxn>
                <a:cxn ang="0">
                  <a:pos x="0" y="0"/>
                </a:cxn>
                <a:cxn ang="0">
                  <a:pos x="0" y="0"/>
                </a:cxn>
                <a:cxn ang="0">
                  <a:pos x="0" y="0"/>
                </a:cxn>
              </a:cxnLst>
              <a:rect l="txL" t="txT" r="txR" b="txB"/>
              <a:pathLst>
                <a:path w="2632" h="47">
                  <a:moveTo>
                    <a:pt x="2632" y="0"/>
                  </a:moveTo>
                  <a:lnTo>
                    <a:pt x="0" y="0"/>
                  </a:lnTo>
                  <a:lnTo>
                    <a:pt x="2632" y="0"/>
                  </a:lnTo>
                  <a:close/>
                  <a:moveTo>
                    <a:pt x="2632" y="0"/>
                  </a:moveTo>
                  <a:lnTo>
                    <a:pt x="2632"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61" name="Freeform 12"/>
            <p:cNvSpPr>
              <a:spLocks noChangeAspect="1" noEditPoints="1"/>
            </p:cNvSpPr>
            <p:nvPr/>
          </p:nvSpPr>
          <p:spPr>
            <a:xfrm>
              <a:off x="1540" y="1437"/>
              <a:ext cx="1" cy="1446"/>
            </a:xfrm>
            <a:custGeom>
              <a:avLst/>
              <a:gdLst>
                <a:gd name="txL" fmla="*/ 0 w 1"/>
                <a:gd name="txT" fmla="*/ 0 h 1446"/>
                <a:gd name="txR" fmla="*/ 1 w 1"/>
                <a:gd name="txB" fmla="*/ 1446 h 1446"/>
              </a:gdLst>
              <a:ahLst/>
              <a:cxnLst>
                <a:cxn ang="0">
                  <a:pos x="0" y="0"/>
                </a:cxn>
                <a:cxn ang="0">
                  <a:pos x="0" y="1446"/>
                </a:cxn>
                <a:cxn ang="0">
                  <a:pos x="0" y="0"/>
                </a:cxn>
                <a:cxn ang="0">
                  <a:pos x="0" y="0"/>
                </a:cxn>
                <a:cxn ang="0">
                  <a:pos x="0" y="0"/>
                </a:cxn>
                <a:cxn ang="0">
                  <a:pos x="0" y="0"/>
                </a:cxn>
                <a:cxn ang="0">
                  <a:pos x="0" y="0"/>
                </a:cxn>
              </a:cxnLst>
              <a:rect l="txL" t="txT" r="txR" b="txB"/>
              <a:pathLst>
                <a:path w="1" h="1446">
                  <a:moveTo>
                    <a:pt x="0" y="0"/>
                  </a:moveTo>
                  <a:lnTo>
                    <a:pt x="0" y="1446"/>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62" name="Freeform 13"/>
            <p:cNvSpPr>
              <a:spLocks noChangeAspect="1" noEditPoints="1"/>
            </p:cNvSpPr>
            <p:nvPr/>
          </p:nvSpPr>
          <p:spPr>
            <a:xfrm>
              <a:off x="1540" y="2883"/>
              <a:ext cx="2632" cy="1"/>
            </a:xfrm>
            <a:custGeom>
              <a:avLst/>
              <a:gdLst>
                <a:gd name="txL" fmla="*/ 0 w 2632"/>
                <a:gd name="txT" fmla="*/ 0 h 1"/>
                <a:gd name="txR" fmla="*/ 2632 w 2632"/>
                <a:gd name="txB" fmla="*/ 1 h 1"/>
              </a:gdLst>
              <a:ahLst/>
              <a:cxnLst>
                <a:cxn ang="0">
                  <a:pos x="0" y="0"/>
                </a:cxn>
                <a:cxn ang="0">
                  <a:pos x="2632" y="0"/>
                </a:cxn>
                <a:cxn ang="0">
                  <a:pos x="0" y="0"/>
                </a:cxn>
                <a:cxn ang="0">
                  <a:pos x="0" y="0"/>
                </a:cxn>
                <a:cxn ang="0">
                  <a:pos x="0" y="0"/>
                </a:cxn>
                <a:cxn ang="0">
                  <a:pos x="0" y="0"/>
                </a:cxn>
                <a:cxn ang="0">
                  <a:pos x="0" y="0"/>
                </a:cxn>
              </a:cxnLst>
              <a:rect l="txL" t="txT" r="txR" b="txB"/>
              <a:pathLst>
                <a:path w="2632" h="1">
                  <a:moveTo>
                    <a:pt x="0" y="0"/>
                  </a:moveTo>
                  <a:lnTo>
                    <a:pt x="2632" y="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63" name="Freeform 14"/>
            <p:cNvSpPr>
              <a:spLocks noChangeAspect="1"/>
            </p:cNvSpPr>
            <p:nvPr/>
          </p:nvSpPr>
          <p:spPr>
            <a:xfrm>
              <a:off x="4172" y="2883"/>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64" name="Freeform 15"/>
            <p:cNvSpPr>
              <a:spLocks noChangeAspect="1"/>
            </p:cNvSpPr>
            <p:nvPr/>
          </p:nvSpPr>
          <p:spPr>
            <a:xfrm>
              <a:off x="4495" y="2088"/>
              <a:ext cx="89" cy="120"/>
            </a:xfrm>
            <a:custGeom>
              <a:avLst/>
              <a:gdLst>
                <a:gd name="txL" fmla="*/ 0 w 89"/>
                <a:gd name="txT" fmla="*/ 0 h 120"/>
                <a:gd name="txR" fmla="*/ 89 w 89"/>
                <a:gd name="txB" fmla="*/ 120 h 120"/>
              </a:gdLst>
              <a:ahLst/>
              <a:cxnLst>
                <a:cxn ang="0">
                  <a:pos x="0" y="12"/>
                </a:cxn>
                <a:cxn ang="0">
                  <a:pos x="12" y="12"/>
                </a:cxn>
                <a:cxn ang="0">
                  <a:pos x="18" y="18"/>
                </a:cxn>
                <a:cxn ang="0">
                  <a:pos x="18" y="24"/>
                </a:cxn>
                <a:cxn ang="0">
                  <a:pos x="18" y="36"/>
                </a:cxn>
                <a:cxn ang="0">
                  <a:pos x="24" y="54"/>
                </a:cxn>
                <a:cxn ang="0">
                  <a:pos x="24" y="78"/>
                </a:cxn>
                <a:cxn ang="0">
                  <a:pos x="24" y="96"/>
                </a:cxn>
                <a:cxn ang="0">
                  <a:pos x="24" y="114"/>
                </a:cxn>
                <a:cxn ang="0">
                  <a:pos x="30" y="120"/>
                </a:cxn>
                <a:cxn ang="0">
                  <a:pos x="30" y="120"/>
                </a:cxn>
                <a:cxn ang="0">
                  <a:pos x="36" y="114"/>
                </a:cxn>
                <a:cxn ang="0">
                  <a:pos x="53" y="96"/>
                </a:cxn>
                <a:cxn ang="0">
                  <a:pos x="59" y="84"/>
                </a:cxn>
                <a:cxn ang="0">
                  <a:pos x="71" y="66"/>
                </a:cxn>
                <a:cxn ang="0">
                  <a:pos x="83" y="42"/>
                </a:cxn>
                <a:cxn ang="0">
                  <a:pos x="89" y="18"/>
                </a:cxn>
                <a:cxn ang="0">
                  <a:pos x="83" y="6"/>
                </a:cxn>
                <a:cxn ang="0">
                  <a:pos x="77" y="0"/>
                </a:cxn>
                <a:cxn ang="0">
                  <a:pos x="71" y="6"/>
                </a:cxn>
                <a:cxn ang="0">
                  <a:pos x="71" y="12"/>
                </a:cxn>
                <a:cxn ang="0">
                  <a:pos x="77" y="24"/>
                </a:cxn>
                <a:cxn ang="0">
                  <a:pos x="77" y="30"/>
                </a:cxn>
                <a:cxn ang="0">
                  <a:pos x="77" y="42"/>
                </a:cxn>
                <a:cxn ang="0">
                  <a:pos x="65" y="60"/>
                </a:cxn>
                <a:cxn ang="0">
                  <a:pos x="59" y="78"/>
                </a:cxn>
                <a:cxn ang="0">
                  <a:pos x="47" y="90"/>
                </a:cxn>
                <a:cxn ang="0">
                  <a:pos x="41" y="96"/>
                </a:cxn>
                <a:cxn ang="0">
                  <a:pos x="36" y="54"/>
                </a:cxn>
                <a:cxn ang="0">
                  <a:pos x="30" y="6"/>
                </a:cxn>
                <a:cxn ang="0">
                  <a:pos x="30" y="0"/>
                </a:cxn>
                <a:cxn ang="0">
                  <a:pos x="30" y="0"/>
                </a:cxn>
                <a:cxn ang="0">
                  <a:pos x="18" y="6"/>
                </a:cxn>
                <a:cxn ang="0">
                  <a:pos x="0" y="12"/>
                </a:cxn>
                <a:cxn ang="0">
                  <a:pos x="0" y="12"/>
                </a:cxn>
              </a:cxnLst>
              <a:rect l="txL" t="txT" r="txR" b="txB"/>
              <a:pathLst>
                <a:path w="89" h="120">
                  <a:moveTo>
                    <a:pt x="0" y="12"/>
                  </a:moveTo>
                  <a:lnTo>
                    <a:pt x="12" y="12"/>
                  </a:lnTo>
                  <a:lnTo>
                    <a:pt x="18" y="18"/>
                  </a:lnTo>
                  <a:lnTo>
                    <a:pt x="18" y="24"/>
                  </a:lnTo>
                  <a:lnTo>
                    <a:pt x="18" y="36"/>
                  </a:lnTo>
                  <a:lnTo>
                    <a:pt x="24" y="54"/>
                  </a:lnTo>
                  <a:lnTo>
                    <a:pt x="24" y="78"/>
                  </a:lnTo>
                  <a:lnTo>
                    <a:pt x="24" y="96"/>
                  </a:lnTo>
                  <a:lnTo>
                    <a:pt x="24" y="114"/>
                  </a:lnTo>
                  <a:lnTo>
                    <a:pt x="30" y="120"/>
                  </a:lnTo>
                  <a:lnTo>
                    <a:pt x="36" y="114"/>
                  </a:lnTo>
                  <a:lnTo>
                    <a:pt x="53" y="96"/>
                  </a:lnTo>
                  <a:lnTo>
                    <a:pt x="59" y="84"/>
                  </a:lnTo>
                  <a:lnTo>
                    <a:pt x="71" y="66"/>
                  </a:lnTo>
                  <a:lnTo>
                    <a:pt x="83" y="42"/>
                  </a:lnTo>
                  <a:lnTo>
                    <a:pt x="89" y="18"/>
                  </a:lnTo>
                  <a:lnTo>
                    <a:pt x="83" y="6"/>
                  </a:lnTo>
                  <a:lnTo>
                    <a:pt x="77" y="0"/>
                  </a:lnTo>
                  <a:lnTo>
                    <a:pt x="71" y="6"/>
                  </a:lnTo>
                  <a:lnTo>
                    <a:pt x="71" y="12"/>
                  </a:lnTo>
                  <a:lnTo>
                    <a:pt x="77" y="24"/>
                  </a:lnTo>
                  <a:lnTo>
                    <a:pt x="77" y="30"/>
                  </a:lnTo>
                  <a:lnTo>
                    <a:pt x="77" y="42"/>
                  </a:lnTo>
                  <a:lnTo>
                    <a:pt x="65" y="60"/>
                  </a:lnTo>
                  <a:lnTo>
                    <a:pt x="59" y="78"/>
                  </a:lnTo>
                  <a:lnTo>
                    <a:pt x="47" y="90"/>
                  </a:lnTo>
                  <a:lnTo>
                    <a:pt x="41" y="96"/>
                  </a:lnTo>
                  <a:lnTo>
                    <a:pt x="36" y="54"/>
                  </a:lnTo>
                  <a:lnTo>
                    <a:pt x="30" y="6"/>
                  </a:lnTo>
                  <a:lnTo>
                    <a:pt x="30" y="0"/>
                  </a:lnTo>
                  <a:lnTo>
                    <a:pt x="18" y="6"/>
                  </a:lnTo>
                  <a:lnTo>
                    <a:pt x="0"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65" name="Freeform 16"/>
            <p:cNvSpPr>
              <a:spLocks noChangeAspect="1" noEditPoints="1"/>
            </p:cNvSpPr>
            <p:nvPr/>
          </p:nvSpPr>
          <p:spPr>
            <a:xfrm>
              <a:off x="4590" y="2130"/>
              <a:ext cx="84" cy="143"/>
            </a:xfrm>
            <a:custGeom>
              <a:avLst/>
              <a:gdLst>
                <a:gd name="txL" fmla="*/ 0 w 84"/>
                <a:gd name="txT" fmla="*/ 0 h 143"/>
                <a:gd name="txR" fmla="*/ 84 w 84"/>
                <a:gd name="txB" fmla="*/ 143 h 143"/>
              </a:gdLst>
              <a:ahLst/>
              <a:cxnLst>
                <a:cxn ang="0">
                  <a:pos x="84" y="96"/>
                </a:cxn>
                <a:cxn ang="0">
                  <a:pos x="66" y="96"/>
                </a:cxn>
                <a:cxn ang="0">
                  <a:pos x="66" y="0"/>
                </a:cxn>
                <a:cxn ang="0">
                  <a:pos x="60" y="0"/>
                </a:cxn>
                <a:cxn ang="0">
                  <a:pos x="0" y="96"/>
                </a:cxn>
                <a:cxn ang="0">
                  <a:pos x="0" y="108"/>
                </a:cxn>
                <a:cxn ang="0">
                  <a:pos x="54" y="108"/>
                </a:cxn>
                <a:cxn ang="0">
                  <a:pos x="54" y="143"/>
                </a:cxn>
                <a:cxn ang="0">
                  <a:pos x="66" y="143"/>
                </a:cxn>
                <a:cxn ang="0">
                  <a:pos x="66" y="108"/>
                </a:cxn>
                <a:cxn ang="0">
                  <a:pos x="84" y="108"/>
                </a:cxn>
                <a:cxn ang="0">
                  <a:pos x="84" y="96"/>
                </a:cxn>
                <a:cxn ang="0">
                  <a:pos x="54" y="96"/>
                </a:cxn>
                <a:cxn ang="0">
                  <a:pos x="12" y="96"/>
                </a:cxn>
                <a:cxn ang="0">
                  <a:pos x="54" y="24"/>
                </a:cxn>
                <a:cxn ang="0">
                  <a:pos x="54" y="24"/>
                </a:cxn>
                <a:cxn ang="0">
                  <a:pos x="54" y="96"/>
                </a:cxn>
              </a:cxnLst>
              <a:rect l="txL" t="txT" r="txR" b="txB"/>
              <a:pathLst>
                <a:path w="84" h="143">
                  <a:moveTo>
                    <a:pt x="84" y="96"/>
                  </a:moveTo>
                  <a:lnTo>
                    <a:pt x="66" y="96"/>
                  </a:lnTo>
                  <a:lnTo>
                    <a:pt x="66" y="0"/>
                  </a:lnTo>
                  <a:lnTo>
                    <a:pt x="60" y="0"/>
                  </a:lnTo>
                  <a:lnTo>
                    <a:pt x="0" y="96"/>
                  </a:lnTo>
                  <a:lnTo>
                    <a:pt x="0" y="108"/>
                  </a:lnTo>
                  <a:lnTo>
                    <a:pt x="54" y="108"/>
                  </a:lnTo>
                  <a:lnTo>
                    <a:pt x="54" y="143"/>
                  </a:lnTo>
                  <a:lnTo>
                    <a:pt x="66" y="143"/>
                  </a:lnTo>
                  <a:lnTo>
                    <a:pt x="66" y="108"/>
                  </a:lnTo>
                  <a:lnTo>
                    <a:pt x="84" y="108"/>
                  </a:lnTo>
                  <a:lnTo>
                    <a:pt x="84" y="96"/>
                  </a:lnTo>
                  <a:close/>
                  <a:moveTo>
                    <a:pt x="54" y="96"/>
                  </a:moveTo>
                  <a:lnTo>
                    <a:pt x="12" y="96"/>
                  </a:lnTo>
                  <a:lnTo>
                    <a:pt x="54" y="24"/>
                  </a:lnTo>
                  <a:lnTo>
                    <a:pt x="54" y="9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66" name="Freeform 17"/>
            <p:cNvSpPr>
              <a:spLocks noChangeAspect="1"/>
            </p:cNvSpPr>
            <p:nvPr/>
          </p:nvSpPr>
          <p:spPr>
            <a:xfrm>
              <a:off x="1074" y="2106"/>
              <a:ext cx="90" cy="114"/>
            </a:xfrm>
            <a:custGeom>
              <a:avLst/>
              <a:gdLst>
                <a:gd name="txL" fmla="*/ 0 w 90"/>
                <a:gd name="txT" fmla="*/ 0 h 114"/>
                <a:gd name="txR" fmla="*/ 90 w 90"/>
                <a:gd name="txB" fmla="*/ 114 h 114"/>
              </a:gdLst>
              <a:ahLst/>
              <a:cxnLst>
                <a:cxn ang="0">
                  <a:pos x="0" y="6"/>
                </a:cxn>
                <a:cxn ang="0">
                  <a:pos x="12" y="6"/>
                </a:cxn>
                <a:cxn ang="0">
                  <a:pos x="18" y="12"/>
                </a:cxn>
                <a:cxn ang="0">
                  <a:pos x="24" y="30"/>
                </a:cxn>
                <a:cxn ang="0">
                  <a:pos x="24" y="48"/>
                </a:cxn>
                <a:cxn ang="0">
                  <a:pos x="30" y="72"/>
                </a:cxn>
                <a:cxn ang="0">
                  <a:pos x="30" y="90"/>
                </a:cxn>
                <a:cxn ang="0">
                  <a:pos x="30" y="108"/>
                </a:cxn>
                <a:cxn ang="0">
                  <a:pos x="30" y="114"/>
                </a:cxn>
                <a:cxn ang="0">
                  <a:pos x="30" y="114"/>
                </a:cxn>
                <a:cxn ang="0">
                  <a:pos x="36" y="108"/>
                </a:cxn>
                <a:cxn ang="0">
                  <a:pos x="42" y="102"/>
                </a:cxn>
                <a:cxn ang="0">
                  <a:pos x="54" y="90"/>
                </a:cxn>
                <a:cxn ang="0">
                  <a:pos x="60" y="78"/>
                </a:cxn>
                <a:cxn ang="0">
                  <a:pos x="72" y="60"/>
                </a:cxn>
                <a:cxn ang="0">
                  <a:pos x="84" y="36"/>
                </a:cxn>
                <a:cxn ang="0">
                  <a:pos x="90" y="12"/>
                </a:cxn>
                <a:cxn ang="0">
                  <a:pos x="84" y="6"/>
                </a:cxn>
                <a:cxn ang="0">
                  <a:pos x="78" y="0"/>
                </a:cxn>
                <a:cxn ang="0">
                  <a:pos x="72" y="0"/>
                </a:cxn>
                <a:cxn ang="0">
                  <a:pos x="72" y="6"/>
                </a:cxn>
                <a:cxn ang="0">
                  <a:pos x="78" y="18"/>
                </a:cxn>
                <a:cxn ang="0">
                  <a:pos x="78" y="24"/>
                </a:cxn>
                <a:cxn ang="0">
                  <a:pos x="72" y="54"/>
                </a:cxn>
                <a:cxn ang="0">
                  <a:pos x="60" y="72"/>
                </a:cxn>
                <a:cxn ang="0">
                  <a:pos x="48" y="84"/>
                </a:cxn>
                <a:cxn ang="0">
                  <a:pos x="42" y="96"/>
                </a:cxn>
                <a:cxn ang="0">
                  <a:pos x="42" y="48"/>
                </a:cxn>
                <a:cxn ang="0">
                  <a:pos x="30" y="0"/>
                </a:cxn>
                <a:cxn ang="0">
                  <a:pos x="30" y="0"/>
                </a:cxn>
                <a:cxn ang="0">
                  <a:pos x="24" y="0"/>
                </a:cxn>
                <a:cxn ang="0">
                  <a:pos x="0" y="6"/>
                </a:cxn>
                <a:cxn ang="0">
                  <a:pos x="0" y="6"/>
                </a:cxn>
              </a:cxnLst>
              <a:rect l="txL" t="txT" r="txR" b="txB"/>
              <a:pathLst>
                <a:path w="90" h="114">
                  <a:moveTo>
                    <a:pt x="0" y="6"/>
                  </a:moveTo>
                  <a:lnTo>
                    <a:pt x="12" y="6"/>
                  </a:lnTo>
                  <a:lnTo>
                    <a:pt x="18" y="12"/>
                  </a:lnTo>
                  <a:lnTo>
                    <a:pt x="24" y="30"/>
                  </a:lnTo>
                  <a:lnTo>
                    <a:pt x="24" y="48"/>
                  </a:lnTo>
                  <a:lnTo>
                    <a:pt x="30" y="72"/>
                  </a:lnTo>
                  <a:lnTo>
                    <a:pt x="30" y="90"/>
                  </a:lnTo>
                  <a:lnTo>
                    <a:pt x="30" y="108"/>
                  </a:lnTo>
                  <a:lnTo>
                    <a:pt x="30" y="114"/>
                  </a:lnTo>
                  <a:lnTo>
                    <a:pt x="36" y="108"/>
                  </a:lnTo>
                  <a:lnTo>
                    <a:pt x="42" y="102"/>
                  </a:lnTo>
                  <a:lnTo>
                    <a:pt x="54" y="90"/>
                  </a:lnTo>
                  <a:lnTo>
                    <a:pt x="60" y="78"/>
                  </a:lnTo>
                  <a:lnTo>
                    <a:pt x="72" y="60"/>
                  </a:lnTo>
                  <a:lnTo>
                    <a:pt x="84" y="36"/>
                  </a:lnTo>
                  <a:lnTo>
                    <a:pt x="90" y="12"/>
                  </a:lnTo>
                  <a:lnTo>
                    <a:pt x="84" y="6"/>
                  </a:lnTo>
                  <a:lnTo>
                    <a:pt x="78" y="0"/>
                  </a:lnTo>
                  <a:lnTo>
                    <a:pt x="72" y="0"/>
                  </a:lnTo>
                  <a:lnTo>
                    <a:pt x="72" y="6"/>
                  </a:lnTo>
                  <a:lnTo>
                    <a:pt x="78" y="18"/>
                  </a:lnTo>
                  <a:lnTo>
                    <a:pt x="78" y="24"/>
                  </a:lnTo>
                  <a:lnTo>
                    <a:pt x="72" y="54"/>
                  </a:lnTo>
                  <a:lnTo>
                    <a:pt x="60" y="72"/>
                  </a:lnTo>
                  <a:lnTo>
                    <a:pt x="48" y="84"/>
                  </a:lnTo>
                  <a:lnTo>
                    <a:pt x="42" y="96"/>
                  </a:lnTo>
                  <a:lnTo>
                    <a:pt x="42" y="48"/>
                  </a:lnTo>
                  <a:lnTo>
                    <a:pt x="30" y="0"/>
                  </a:lnTo>
                  <a:lnTo>
                    <a:pt x="24"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67" name="Freeform 18"/>
            <p:cNvSpPr>
              <a:spLocks noChangeAspect="1"/>
            </p:cNvSpPr>
            <p:nvPr/>
          </p:nvSpPr>
          <p:spPr>
            <a:xfrm>
              <a:off x="1188" y="2148"/>
              <a:ext cx="47" cy="137"/>
            </a:xfrm>
            <a:custGeom>
              <a:avLst/>
              <a:gdLst>
                <a:gd name="txL" fmla="*/ 0 w 47"/>
                <a:gd name="txT" fmla="*/ 0 h 137"/>
                <a:gd name="txR" fmla="*/ 47 w 47"/>
                <a:gd name="txB" fmla="*/ 137 h 137"/>
              </a:gdLst>
              <a:ahLst/>
              <a:cxnLst>
                <a:cxn ang="0">
                  <a:pos x="0" y="137"/>
                </a:cxn>
                <a:cxn ang="0">
                  <a:pos x="47" y="137"/>
                </a:cxn>
                <a:cxn ang="0">
                  <a:pos x="47" y="137"/>
                </a:cxn>
                <a:cxn ang="0">
                  <a:pos x="36" y="131"/>
                </a:cxn>
                <a:cxn ang="0">
                  <a:pos x="30" y="125"/>
                </a:cxn>
                <a:cxn ang="0">
                  <a:pos x="30" y="0"/>
                </a:cxn>
                <a:cxn ang="0">
                  <a:pos x="30" y="0"/>
                </a:cxn>
                <a:cxn ang="0">
                  <a:pos x="0" y="18"/>
                </a:cxn>
                <a:cxn ang="0">
                  <a:pos x="0" y="18"/>
                </a:cxn>
                <a:cxn ang="0">
                  <a:pos x="6" y="18"/>
                </a:cxn>
                <a:cxn ang="0">
                  <a:pos x="12" y="18"/>
                </a:cxn>
                <a:cxn ang="0">
                  <a:pos x="18" y="18"/>
                </a:cxn>
                <a:cxn ang="0">
                  <a:pos x="18" y="24"/>
                </a:cxn>
                <a:cxn ang="0">
                  <a:pos x="18" y="119"/>
                </a:cxn>
                <a:cxn ang="0">
                  <a:pos x="18" y="131"/>
                </a:cxn>
                <a:cxn ang="0">
                  <a:pos x="12" y="137"/>
                </a:cxn>
                <a:cxn ang="0">
                  <a:pos x="0" y="137"/>
                </a:cxn>
                <a:cxn ang="0">
                  <a:pos x="0" y="137"/>
                </a:cxn>
              </a:cxnLst>
              <a:rect l="txL" t="txT" r="txR" b="txB"/>
              <a:pathLst>
                <a:path w="47" h="137">
                  <a:moveTo>
                    <a:pt x="0" y="137"/>
                  </a:moveTo>
                  <a:lnTo>
                    <a:pt x="47" y="137"/>
                  </a:lnTo>
                  <a:lnTo>
                    <a:pt x="36" y="131"/>
                  </a:lnTo>
                  <a:lnTo>
                    <a:pt x="30" y="125"/>
                  </a:lnTo>
                  <a:lnTo>
                    <a:pt x="30" y="0"/>
                  </a:lnTo>
                  <a:lnTo>
                    <a:pt x="0" y="18"/>
                  </a:lnTo>
                  <a:lnTo>
                    <a:pt x="6" y="18"/>
                  </a:lnTo>
                  <a:lnTo>
                    <a:pt x="12" y="18"/>
                  </a:lnTo>
                  <a:lnTo>
                    <a:pt x="18" y="18"/>
                  </a:lnTo>
                  <a:lnTo>
                    <a:pt x="18" y="24"/>
                  </a:lnTo>
                  <a:lnTo>
                    <a:pt x="18" y="119"/>
                  </a:lnTo>
                  <a:lnTo>
                    <a:pt x="18" y="131"/>
                  </a:lnTo>
                  <a:lnTo>
                    <a:pt x="12" y="137"/>
                  </a:lnTo>
                  <a:lnTo>
                    <a:pt x="0" y="13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68" name="Freeform 19"/>
            <p:cNvSpPr>
              <a:spLocks noChangeAspect="1"/>
            </p:cNvSpPr>
            <p:nvPr/>
          </p:nvSpPr>
          <p:spPr>
            <a:xfrm>
              <a:off x="1349" y="1927"/>
              <a:ext cx="395" cy="466"/>
            </a:xfrm>
            <a:custGeom>
              <a:avLst/>
              <a:gdLst>
                <a:gd name="txL" fmla="*/ 0 w 395"/>
                <a:gd name="txT" fmla="*/ 0 h 466"/>
                <a:gd name="txR" fmla="*/ 395 w 395"/>
                <a:gd name="txB" fmla="*/ 466 h 466"/>
              </a:gdLst>
              <a:ahLst/>
              <a:cxnLst>
                <a:cxn ang="0">
                  <a:pos x="197" y="466"/>
                </a:cxn>
                <a:cxn ang="0">
                  <a:pos x="239" y="460"/>
                </a:cxn>
                <a:cxn ang="0">
                  <a:pos x="275" y="448"/>
                </a:cxn>
                <a:cxn ang="0">
                  <a:pos x="305" y="424"/>
                </a:cxn>
                <a:cxn ang="0">
                  <a:pos x="335" y="400"/>
                </a:cxn>
                <a:cxn ang="0">
                  <a:pos x="359" y="364"/>
                </a:cxn>
                <a:cxn ang="0">
                  <a:pos x="377" y="323"/>
                </a:cxn>
                <a:cxn ang="0">
                  <a:pos x="389" y="281"/>
                </a:cxn>
                <a:cxn ang="0">
                  <a:pos x="395" y="233"/>
                </a:cxn>
                <a:cxn ang="0">
                  <a:pos x="389" y="185"/>
                </a:cxn>
                <a:cxn ang="0">
                  <a:pos x="377" y="143"/>
                </a:cxn>
                <a:cxn ang="0">
                  <a:pos x="359" y="102"/>
                </a:cxn>
                <a:cxn ang="0">
                  <a:pos x="335" y="66"/>
                </a:cxn>
                <a:cxn ang="0">
                  <a:pos x="305" y="42"/>
                </a:cxn>
                <a:cxn ang="0">
                  <a:pos x="275" y="18"/>
                </a:cxn>
                <a:cxn ang="0">
                  <a:pos x="239" y="6"/>
                </a:cxn>
                <a:cxn ang="0">
                  <a:pos x="197" y="0"/>
                </a:cxn>
                <a:cxn ang="0">
                  <a:pos x="156" y="6"/>
                </a:cxn>
                <a:cxn ang="0">
                  <a:pos x="120" y="18"/>
                </a:cxn>
                <a:cxn ang="0">
                  <a:pos x="84" y="42"/>
                </a:cxn>
                <a:cxn ang="0">
                  <a:pos x="54" y="66"/>
                </a:cxn>
                <a:cxn ang="0">
                  <a:pos x="30" y="102"/>
                </a:cxn>
                <a:cxn ang="0">
                  <a:pos x="18" y="143"/>
                </a:cxn>
                <a:cxn ang="0">
                  <a:pos x="6" y="185"/>
                </a:cxn>
                <a:cxn ang="0">
                  <a:pos x="0" y="233"/>
                </a:cxn>
                <a:cxn ang="0">
                  <a:pos x="6" y="281"/>
                </a:cxn>
                <a:cxn ang="0">
                  <a:pos x="18" y="323"/>
                </a:cxn>
                <a:cxn ang="0">
                  <a:pos x="30" y="364"/>
                </a:cxn>
                <a:cxn ang="0">
                  <a:pos x="54" y="400"/>
                </a:cxn>
                <a:cxn ang="0">
                  <a:pos x="84" y="424"/>
                </a:cxn>
                <a:cxn ang="0">
                  <a:pos x="120" y="448"/>
                </a:cxn>
                <a:cxn ang="0">
                  <a:pos x="156" y="460"/>
                </a:cxn>
                <a:cxn ang="0">
                  <a:pos x="197" y="466"/>
                </a:cxn>
                <a:cxn ang="0">
                  <a:pos x="197" y="466"/>
                </a:cxn>
              </a:cxnLst>
              <a:rect l="txL" t="txT" r="txR" b="txB"/>
              <a:pathLst>
                <a:path w="395" h="466">
                  <a:moveTo>
                    <a:pt x="197" y="466"/>
                  </a:moveTo>
                  <a:lnTo>
                    <a:pt x="239" y="460"/>
                  </a:lnTo>
                  <a:lnTo>
                    <a:pt x="275" y="448"/>
                  </a:lnTo>
                  <a:lnTo>
                    <a:pt x="305" y="424"/>
                  </a:lnTo>
                  <a:lnTo>
                    <a:pt x="335" y="400"/>
                  </a:lnTo>
                  <a:lnTo>
                    <a:pt x="359" y="364"/>
                  </a:lnTo>
                  <a:lnTo>
                    <a:pt x="377" y="323"/>
                  </a:lnTo>
                  <a:lnTo>
                    <a:pt x="389" y="281"/>
                  </a:lnTo>
                  <a:lnTo>
                    <a:pt x="395" y="233"/>
                  </a:lnTo>
                  <a:lnTo>
                    <a:pt x="389" y="185"/>
                  </a:lnTo>
                  <a:lnTo>
                    <a:pt x="377" y="143"/>
                  </a:lnTo>
                  <a:lnTo>
                    <a:pt x="359" y="102"/>
                  </a:lnTo>
                  <a:lnTo>
                    <a:pt x="335" y="66"/>
                  </a:lnTo>
                  <a:lnTo>
                    <a:pt x="305" y="42"/>
                  </a:lnTo>
                  <a:lnTo>
                    <a:pt x="275" y="18"/>
                  </a:lnTo>
                  <a:lnTo>
                    <a:pt x="239" y="6"/>
                  </a:lnTo>
                  <a:lnTo>
                    <a:pt x="197" y="0"/>
                  </a:lnTo>
                  <a:lnTo>
                    <a:pt x="156" y="6"/>
                  </a:lnTo>
                  <a:lnTo>
                    <a:pt x="120" y="18"/>
                  </a:lnTo>
                  <a:lnTo>
                    <a:pt x="84" y="42"/>
                  </a:lnTo>
                  <a:lnTo>
                    <a:pt x="54" y="66"/>
                  </a:lnTo>
                  <a:lnTo>
                    <a:pt x="30" y="102"/>
                  </a:lnTo>
                  <a:lnTo>
                    <a:pt x="18" y="143"/>
                  </a:lnTo>
                  <a:lnTo>
                    <a:pt x="6" y="185"/>
                  </a:lnTo>
                  <a:lnTo>
                    <a:pt x="0" y="233"/>
                  </a:lnTo>
                  <a:lnTo>
                    <a:pt x="6" y="281"/>
                  </a:lnTo>
                  <a:lnTo>
                    <a:pt x="18" y="323"/>
                  </a:lnTo>
                  <a:lnTo>
                    <a:pt x="30" y="364"/>
                  </a:lnTo>
                  <a:lnTo>
                    <a:pt x="54" y="400"/>
                  </a:lnTo>
                  <a:lnTo>
                    <a:pt x="84" y="424"/>
                  </a:lnTo>
                  <a:lnTo>
                    <a:pt x="120" y="448"/>
                  </a:lnTo>
                  <a:lnTo>
                    <a:pt x="156" y="460"/>
                  </a:lnTo>
                  <a:lnTo>
                    <a:pt x="197" y="466"/>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69" name="Freeform 20"/>
            <p:cNvSpPr>
              <a:spLocks noChangeAspect="1"/>
            </p:cNvSpPr>
            <p:nvPr/>
          </p:nvSpPr>
          <p:spPr>
            <a:xfrm>
              <a:off x="1546" y="2160"/>
              <a:ext cx="198" cy="233"/>
            </a:xfrm>
            <a:custGeom>
              <a:avLst/>
              <a:gdLst>
                <a:gd name="txL" fmla="*/ 0 w 198"/>
                <a:gd name="txT" fmla="*/ 0 h 233"/>
                <a:gd name="txR" fmla="*/ 198 w 198"/>
                <a:gd name="txB" fmla="*/ 233 h 233"/>
              </a:gdLst>
              <a:ahLst/>
              <a:cxnLst>
                <a:cxn ang="0">
                  <a:pos x="0" y="233"/>
                </a:cxn>
                <a:cxn ang="0">
                  <a:pos x="42" y="227"/>
                </a:cxn>
                <a:cxn ang="0">
                  <a:pos x="78" y="215"/>
                </a:cxn>
                <a:cxn ang="0">
                  <a:pos x="108" y="191"/>
                </a:cxn>
                <a:cxn ang="0">
                  <a:pos x="138" y="167"/>
                </a:cxn>
                <a:cxn ang="0">
                  <a:pos x="162" y="131"/>
                </a:cxn>
                <a:cxn ang="0">
                  <a:pos x="180" y="90"/>
                </a:cxn>
                <a:cxn ang="0">
                  <a:pos x="192" y="48"/>
                </a:cxn>
                <a:cxn ang="0">
                  <a:pos x="198" y="0"/>
                </a:cxn>
                <a:cxn ang="0">
                  <a:pos x="198" y="0"/>
                </a:cxn>
                <a:cxn ang="0">
                  <a:pos x="192" y="48"/>
                </a:cxn>
                <a:cxn ang="0">
                  <a:pos x="180" y="90"/>
                </a:cxn>
                <a:cxn ang="0">
                  <a:pos x="162" y="131"/>
                </a:cxn>
                <a:cxn ang="0">
                  <a:pos x="138" y="167"/>
                </a:cxn>
                <a:cxn ang="0">
                  <a:pos x="108" y="191"/>
                </a:cxn>
                <a:cxn ang="0">
                  <a:pos x="78" y="215"/>
                </a:cxn>
                <a:cxn ang="0">
                  <a:pos x="42" y="227"/>
                </a:cxn>
                <a:cxn ang="0">
                  <a:pos x="0" y="233"/>
                </a:cxn>
                <a:cxn ang="0">
                  <a:pos x="0" y="233"/>
                </a:cxn>
              </a:cxnLst>
              <a:rect l="txL" t="txT" r="txR" b="txB"/>
              <a:pathLst>
                <a:path w="198" h="233">
                  <a:moveTo>
                    <a:pt x="0" y="233"/>
                  </a:moveTo>
                  <a:lnTo>
                    <a:pt x="42" y="227"/>
                  </a:lnTo>
                  <a:lnTo>
                    <a:pt x="78" y="215"/>
                  </a:lnTo>
                  <a:lnTo>
                    <a:pt x="108" y="191"/>
                  </a:lnTo>
                  <a:lnTo>
                    <a:pt x="138" y="167"/>
                  </a:lnTo>
                  <a:lnTo>
                    <a:pt x="162" y="131"/>
                  </a:lnTo>
                  <a:lnTo>
                    <a:pt x="180" y="90"/>
                  </a:lnTo>
                  <a:lnTo>
                    <a:pt x="192" y="48"/>
                  </a:lnTo>
                  <a:lnTo>
                    <a:pt x="198" y="0"/>
                  </a:lnTo>
                  <a:lnTo>
                    <a:pt x="192" y="48"/>
                  </a:lnTo>
                  <a:lnTo>
                    <a:pt x="180" y="90"/>
                  </a:lnTo>
                  <a:lnTo>
                    <a:pt x="162" y="131"/>
                  </a:lnTo>
                  <a:lnTo>
                    <a:pt x="138" y="167"/>
                  </a:lnTo>
                  <a:lnTo>
                    <a:pt x="108" y="191"/>
                  </a:lnTo>
                  <a:lnTo>
                    <a:pt x="78" y="215"/>
                  </a:lnTo>
                  <a:lnTo>
                    <a:pt x="42" y="227"/>
                  </a:lnTo>
                  <a:lnTo>
                    <a:pt x="0" y="23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70" name="Freeform 21"/>
            <p:cNvSpPr>
              <a:spLocks noChangeAspect="1" noEditPoints="1"/>
            </p:cNvSpPr>
            <p:nvPr/>
          </p:nvSpPr>
          <p:spPr>
            <a:xfrm>
              <a:off x="1546" y="1927"/>
              <a:ext cx="198" cy="233"/>
            </a:xfrm>
            <a:custGeom>
              <a:avLst/>
              <a:gdLst>
                <a:gd name="txL" fmla="*/ 0 w 198"/>
                <a:gd name="txT" fmla="*/ 0 h 233"/>
                <a:gd name="txR" fmla="*/ 198 w 198"/>
                <a:gd name="txB" fmla="*/ 233 h 233"/>
              </a:gdLst>
              <a:ahLst/>
              <a:cxnLst>
                <a:cxn ang="0">
                  <a:pos x="198" y="233"/>
                </a:cxn>
                <a:cxn ang="0">
                  <a:pos x="192" y="185"/>
                </a:cxn>
                <a:cxn ang="0">
                  <a:pos x="180" y="143"/>
                </a:cxn>
                <a:cxn ang="0">
                  <a:pos x="162" y="102"/>
                </a:cxn>
                <a:cxn ang="0">
                  <a:pos x="138" y="66"/>
                </a:cxn>
                <a:cxn ang="0">
                  <a:pos x="108" y="42"/>
                </a:cxn>
                <a:cxn ang="0">
                  <a:pos x="78" y="18"/>
                </a:cxn>
                <a:cxn ang="0">
                  <a:pos x="42" y="6"/>
                </a:cxn>
                <a:cxn ang="0">
                  <a:pos x="0" y="0"/>
                </a:cxn>
                <a:cxn ang="0">
                  <a:pos x="0" y="0"/>
                </a:cxn>
                <a:cxn ang="0">
                  <a:pos x="42" y="6"/>
                </a:cxn>
                <a:cxn ang="0">
                  <a:pos x="78" y="18"/>
                </a:cxn>
                <a:cxn ang="0">
                  <a:pos x="108" y="42"/>
                </a:cxn>
                <a:cxn ang="0">
                  <a:pos x="138" y="66"/>
                </a:cxn>
                <a:cxn ang="0">
                  <a:pos x="162" y="102"/>
                </a:cxn>
                <a:cxn ang="0">
                  <a:pos x="180" y="143"/>
                </a:cxn>
                <a:cxn ang="0">
                  <a:pos x="192" y="185"/>
                </a:cxn>
                <a:cxn ang="0">
                  <a:pos x="198" y="233"/>
                </a:cxn>
                <a:cxn ang="0">
                  <a:pos x="198" y="233"/>
                </a:cxn>
                <a:cxn ang="0">
                  <a:pos x="198" y="233"/>
                </a:cxn>
                <a:cxn ang="0">
                  <a:pos x="198" y="233"/>
                </a:cxn>
                <a:cxn ang="0">
                  <a:pos x="198" y="233"/>
                </a:cxn>
              </a:cxnLst>
              <a:rect l="txL" t="txT" r="txR" b="txB"/>
              <a:pathLst>
                <a:path w="198" h="233">
                  <a:moveTo>
                    <a:pt x="198" y="233"/>
                  </a:moveTo>
                  <a:lnTo>
                    <a:pt x="192" y="185"/>
                  </a:lnTo>
                  <a:lnTo>
                    <a:pt x="180" y="143"/>
                  </a:lnTo>
                  <a:lnTo>
                    <a:pt x="162" y="102"/>
                  </a:lnTo>
                  <a:lnTo>
                    <a:pt x="138" y="66"/>
                  </a:lnTo>
                  <a:lnTo>
                    <a:pt x="108" y="42"/>
                  </a:lnTo>
                  <a:lnTo>
                    <a:pt x="78" y="18"/>
                  </a:lnTo>
                  <a:lnTo>
                    <a:pt x="42" y="6"/>
                  </a:lnTo>
                  <a:lnTo>
                    <a:pt x="0" y="0"/>
                  </a:lnTo>
                  <a:lnTo>
                    <a:pt x="42" y="6"/>
                  </a:lnTo>
                  <a:lnTo>
                    <a:pt x="78" y="18"/>
                  </a:lnTo>
                  <a:lnTo>
                    <a:pt x="108" y="42"/>
                  </a:lnTo>
                  <a:lnTo>
                    <a:pt x="138" y="66"/>
                  </a:lnTo>
                  <a:lnTo>
                    <a:pt x="162" y="102"/>
                  </a:lnTo>
                  <a:lnTo>
                    <a:pt x="180" y="143"/>
                  </a:lnTo>
                  <a:lnTo>
                    <a:pt x="192" y="185"/>
                  </a:lnTo>
                  <a:lnTo>
                    <a:pt x="198" y="233"/>
                  </a:lnTo>
                  <a:close/>
                  <a:moveTo>
                    <a:pt x="198" y="233"/>
                  </a:moveTo>
                  <a:lnTo>
                    <a:pt x="198" y="23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71" name="Freeform 22"/>
            <p:cNvSpPr>
              <a:spLocks noChangeAspect="1" noEditPoints="1"/>
            </p:cNvSpPr>
            <p:nvPr/>
          </p:nvSpPr>
          <p:spPr>
            <a:xfrm>
              <a:off x="1349" y="1927"/>
              <a:ext cx="197" cy="233"/>
            </a:xfrm>
            <a:custGeom>
              <a:avLst/>
              <a:gdLst>
                <a:gd name="txL" fmla="*/ 0 w 197"/>
                <a:gd name="txT" fmla="*/ 0 h 233"/>
                <a:gd name="txR" fmla="*/ 197 w 197"/>
                <a:gd name="txB" fmla="*/ 233 h 233"/>
              </a:gdLst>
              <a:ahLst/>
              <a:cxnLst>
                <a:cxn ang="0">
                  <a:pos x="197" y="0"/>
                </a:cxn>
                <a:cxn ang="0">
                  <a:pos x="156" y="6"/>
                </a:cxn>
                <a:cxn ang="0">
                  <a:pos x="120" y="18"/>
                </a:cxn>
                <a:cxn ang="0">
                  <a:pos x="84" y="42"/>
                </a:cxn>
                <a:cxn ang="0">
                  <a:pos x="54" y="66"/>
                </a:cxn>
                <a:cxn ang="0">
                  <a:pos x="30" y="102"/>
                </a:cxn>
                <a:cxn ang="0">
                  <a:pos x="18" y="143"/>
                </a:cxn>
                <a:cxn ang="0">
                  <a:pos x="6" y="185"/>
                </a:cxn>
                <a:cxn ang="0">
                  <a:pos x="0" y="233"/>
                </a:cxn>
                <a:cxn ang="0">
                  <a:pos x="0" y="233"/>
                </a:cxn>
                <a:cxn ang="0">
                  <a:pos x="6" y="185"/>
                </a:cxn>
                <a:cxn ang="0">
                  <a:pos x="18" y="143"/>
                </a:cxn>
                <a:cxn ang="0">
                  <a:pos x="30" y="102"/>
                </a:cxn>
                <a:cxn ang="0">
                  <a:pos x="54" y="66"/>
                </a:cxn>
                <a:cxn ang="0">
                  <a:pos x="84" y="42"/>
                </a:cxn>
                <a:cxn ang="0">
                  <a:pos x="120" y="18"/>
                </a:cxn>
                <a:cxn ang="0">
                  <a:pos x="156" y="6"/>
                </a:cxn>
                <a:cxn ang="0">
                  <a:pos x="197" y="0"/>
                </a:cxn>
                <a:cxn ang="0">
                  <a:pos x="197" y="0"/>
                </a:cxn>
                <a:cxn ang="0">
                  <a:pos x="197" y="0"/>
                </a:cxn>
                <a:cxn ang="0">
                  <a:pos x="197" y="0"/>
                </a:cxn>
                <a:cxn ang="0">
                  <a:pos x="197" y="0"/>
                </a:cxn>
              </a:cxnLst>
              <a:rect l="txL" t="txT" r="txR" b="txB"/>
              <a:pathLst>
                <a:path w="197" h="233">
                  <a:moveTo>
                    <a:pt x="197" y="0"/>
                  </a:moveTo>
                  <a:lnTo>
                    <a:pt x="156" y="6"/>
                  </a:lnTo>
                  <a:lnTo>
                    <a:pt x="120" y="18"/>
                  </a:lnTo>
                  <a:lnTo>
                    <a:pt x="84" y="42"/>
                  </a:lnTo>
                  <a:lnTo>
                    <a:pt x="54" y="66"/>
                  </a:lnTo>
                  <a:lnTo>
                    <a:pt x="30" y="102"/>
                  </a:lnTo>
                  <a:lnTo>
                    <a:pt x="18" y="143"/>
                  </a:lnTo>
                  <a:lnTo>
                    <a:pt x="6" y="185"/>
                  </a:lnTo>
                  <a:lnTo>
                    <a:pt x="0" y="233"/>
                  </a:lnTo>
                  <a:lnTo>
                    <a:pt x="6" y="185"/>
                  </a:lnTo>
                  <a:lnTo>
                    <a:pt x="18" y="143"/>
                  </a:lnTo>
                  <a:lnTo>
                    <a:pt x="30" y="102"/>
                  </a:lnTo>
                  <a:lnTo>
                    <a:pt x="54" y="66"/>
                  </a:lnTo>
                  <a:lnTo>
                    <a:pt x="84" y="42"/>
                  </a:lnTo>
                  <a:lnTo>
                    <a:pt x="120" y="18"/>
                  </a:lnTo>
                  <a:lnTo>
                    <a:pt x="156" y="6"/>
                  </a:lnTo>
                  <a:lnTo>
                    <a:pt x="197" y="0"/>
                  </a:lnTo>
                  <a:close/>
                  <a:moveTo>
                    <a:pt x="197" y="0"/>
                  </a:moveTo>
                  <a:lnTo>
                    <a:pt x="197"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72" name="Freeform 23"/>
            <p:cNvSpPr>
              <a:spLocks noChangeAspect="1" noEditPoints="1"/>
            </p:cNvSpPr>
            <p:nvPr/>
          </p:nvSpPr>
          <p:spPr>
            <a:xfrm>
              <a:off x="1349" y="2160"/>
              <a:ext cx="197" cy="233"/>
            </a:xfrm>
            <a:custGeom>
              <a:avLst/>
              <a:gdLst>
                <a:gd name="txL" fmla="*/ 0 w 197"/>
                <a:gd name="txT" fmla="*/ 0 h 233"/>
                <a:gd name="txR" fmla="*/ 197 w 197"/>
                <a:gd name="txB" fmla="*/ 233 h 233"/>
              </a:gdLst>
              <a:ahLst/>
              <a:cxnLst>
                <a:cxn ang="0">
                  <a:pos x="0" y="0"/>
                </a:cxn>
                <a:cxn ang="0">
                  <a:pos x="6" y="48"/>
                </a:cxn>
                <a:cxn ang="0">
                  <a:pos x="18" y="90"/>
                </a:cxn>
                <a:cxn ang="0">
                  <a:pos x="30" y="131"/>
                </a:cxn>
                <a:cxn ang="0">
                  <a:pos x="54" y="167"/>
                </a:cxn>
                <a:cxn ang="0">
                  <a:pos x="84" y="191"/>
                </a:cxn>
                <a:cxn ang="0">
                  <a:pos x="120" y="215"/>
                </a:cxn>
                <a:cxn ang="0">
                  <a:pos x="156" y="227"/>
                </a:cxn>
                <a:cxn ang="0">
                  <a:pos x="197" y="233"/>
                </a:cxn>
                <a:cxn ang="0">
                  <a:pos x="197" y="233"/>
                </a:cxn>
                <a:cxn ang="0">
                  <a:pos x="156" y="227"/>
                </a:cxn>
                <a:cxn ang="0">
                  <a:pos x="120" y="215"/>
                </a:cxn>
                <a:cxn ang="0">
                  <a:pos x="84" y="191"/>
                </a:cxn>
                <a:cxn ang="0">
                  <a:pos x="54" y="167"/>
                </a:cxn>
                <a:cxn ang="0">
                  <a:pos x="30" y="131"/>
                </a:cxn>
                <a:cxn ang="0">
                  <a:pos x="18" y="90"/>
                </a:cxn>
                <a:cxn ang="0">
                  <a:pos x="6" y="48"/>
                </a:cxn>
                <a:cxn ang="0">
                  <a:pos x="0" y="0"/>
                </a:cxn>
                <a:cxn ang="0">
                  <a:pos x="0" y="0"/>
                </a:cxn>
                <a:cxn ang="0">
                  <a:pos x="0" y="0"/>
                </a:cxn>
                <a:cxn ang="0">
                  <a:pos x="0" y="0"/>
                </a:cxn>
                <a:cxn ang="0">
                  <a:pos x="0" y="0"/>
                </a:cxn>
              </a:cxnLst>
              <a:rect l="txL" t="txT" r="txR" b="txB"/>
              <a:pathLst>
                <a:path w="197" h="233">
                  <a:moveTo>
                    <a:pt x="0" y="0"/>
                  </a:moveTo>
                  <a:lnTo>
                    <a:pt x="6" y="48"/>
                  </a:lnTo>
                  <a:lnTo>
                    <a:pt x="18" y="90"/>
                  </a:lnTo>
                  <a:lnTo>
                    <a:pt x="30" y="131"/>
                  </a:lnTo>
                  <a:lnTo>
                    <a:pt x="54" y="167"/>
                  </a:lnTo>
                  <a:lnTo>
                    <a:pt x="84" y="191"/>
                  </a:lnTo>
                  <a:lnTo>
                    <a:pt x="120" y="215"/>
                  </a:lnTo>
                  <a:lnTo>
                    <a:pt x="156" y="227"/>
                  </a:lnTo>
                  <a:lnTo>
                    <a:pt x="197" y="233"/>
                  </a:lnTo>
                  <a:lnTo>
                    <a:pt x="156" y="227"/>
                  </a:lnTo>
                  <a:lnTo>
                    <a:pt x="120" y="215"/>
                  </a:lnTo>
                  <a:lnTo>
                    <a:pt x="84" y="191"/>
                  </a:lnTo>
                  <a:lnTo>
                    <a:pt x="54" y="167"/>
                  </a:lnTo>
                  <a:lnTo>
                    <a:pt x="30" y="131"/>
                  </a:lnTo>
                  <a:lnTo>
                    <a:pt x="18" y="90"/>
                  </a:lnTo>
                  <a:lnTo>
                    <a:pt x="6" y="48"/>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73" name="Freeform 24"/>
            <p:cNvSpPr>
              <a:spLocks noChangeAspect="1"/>
            </p:cNvSpPr>
            <p:nvPr/>
          </p:nvSpPr>
          <p:spPr>
            <a:xfrm>
              <a:off x="1546" y="2393"/>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74" name="Freeform 25"/>
            <p:cNvSpPr>
              <a:spLocks noChangeAspect="1"/>
            </p:cNvSpPr>
            <p:nvPr/>
          </p:nvSpPr>
          <p:spPr>
            <a:xfrm>
              <a:off x="1481" y="2005"/>
              <a:ext cx="119" cy="137"/>
            </a:xfrm>
            <a:custGeom>
              <a:avLst/>
              <a:gdLst>
                <a:gd name="txL" fmla="*/ 0 w 119"/>
                <a:gd name="txT" fmla="*/ 0 h 137"/>
                <a:gd name="txR" fmla="*/ 119 w 119"/>
                <a:gd name="txB" fmla="*/ 137 h 137"/>
              </a:gdLst>
              <a:ahLst/>
              <a:cxnLst>
                <a:cxn ang="0">
                  <a:pos x="53" y="59"/>
                </a:cxn>
                <a:cxn ang="0">
                  <a:pos x="0" y="59"/>
                </a:cxn>
                <a:cxn ang="0">
                  <a:pos x="0" y="77"/>
                </a:cxn>
                <a:cxn ang="0">
                  <a:pos x="53" y="77"/>
                </a:cxn>
                <a:cxn ang="0">
                  <a:pos x="53" y="137"/>
                </a:cxn>
                <a:cxn ang="0">
                  <a:pos x="65" y="137"/>
                </a:cxn>
                <a:cxn ang="0">
                  <a:pos x="65" y="77"/>
                </a:cxn>
                <a:cxn ang="0">
                  <a:pos x="119" y="77"/>
                </a:cxn>
                <a:cxn ang="0">
                  <a:pos x="119" y="59"/>
                </a:cxn>
                <a:cxn ang="0">
                  <a:pos x="65" y="59"/>
                </a:cxn>
                <a:cxn ang="0">
                  <a:pos x="65" y="0"/>
                </a:cxn>
                <a:cxn ang="0">
                  <a:pos x="53" y="0"/>
                </a:cxn>
                <a:cxn ang="0">
                  <a:pos x="53" y="59"/>
                </a:cxn>
              </a:cxnLst>
              <a:rect l="txL" t="txT" r="txR" b="txB"/>
              <a:pathLst>
                <a:path w="119" h="137">
                  <a:moveTo>
                    <a:pt x="53" y="59"/>
                  </a:moveTo>
                  <a:lnTo>
                    <a:pt x="0" y="59"/>
                  </a:lnTo>
                  <a:lnTo>
                    <a:pt x="0" y="77"/>
                  </a:lnTo>
                  <a:lnTo>
                    <a:pt x="53" y="77"/>
                  </a:lnTo>
                  <a:lnTo>
                    <a:pt x="53" y="137"/>
                  </a:lnTo>
                  <a:lnTo>
                    <a:pt x="65" y="137"/>
                  </a:lnTo>
                  <a:lnTo>
                    <a:pt x="65" y="77"/>
                  </a:lnTo>
                  <a:lnTo>
                    <a:pt x="119" y="77"/>
                  </a:lnTo>
                  <a:lnTo>
                    <a:pt x="119" y="59"/>
                  </a:lnTo>
                  <a:lnTo>
                    <a:pt x="65" y="59"/>
                  </a:lnTo>
                  <a:lnTo>
                    <a:pt x="65" y="0"/>
                  </a:lnTo>
                  <a:lnTo>
                    <a:pt x="53" y="0"/>
                  </a:lnTo>
                  <a:lnTo>
                    <a:pt x="53" y="5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75" name="Rectangle 26"/>
            <p:cNvSpPr>
              <a:spLocks noChangeAspect="1"/>
            </p:cNvSpPr>
            <p:nvPr/>
          </p:nvSpPr>
          <p:spPr>
            <a:xfrm>
              <a:off x="1481" y="2256"/>
              <a:ext cx="119" cy="17"/>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27676" name="Freeform 27"/>
            <p:cNvSpPr>
              <a:spLocks noChangeAspect="1"/>
            </p:cNvSpPr>
            <p:nvPr/>
          </p:nvSpPr>
          <p:spPr>
            <a:xfrm>
              <a:off x="3986" y="1927"/>
              <a:ext cx="395" cy="466"/>
            </a:xfrm>
            <a:custGeom>
              <a:avLst/>
              <a:gdLst>
                <a:gd name="txL" fmla="*/ 0 w 395"/>
                <a:gd name="txT" fmla="*/ 0 h 466"/>
                <a:gd name="txR" fmla="*/ 395 w 395"/>
                <a:gd name="txB" fmla="*/ 466 h 466"/>
              </a:gdLst>
              <a:ahLst/>
              <a:cxnLst>
                <a:cxn ang="0">
                  <a:pos x="198" y="466"/>
                </a:cxn>
                <a:cxn ang="0">
                  <a:pos x="240" y="460"/>
                </a:cxn>
                <a:cxn ang="0">
                  <a:pos x="275" y="448"/>
                </a:cxn>
                <a:cxn ang="0">
                  <a:pos x="305" y="424"/>
                </a:cxn>
                <a:cxn ang="0">
                  <a:pos x="335" y="400"/>
                </a:cxn>
                <a:cxn ang="0">
                  <a:pos x="359" y="364"/>
                </a:cxn>
                <a:cxn ang="0">
                  <a:pos x="377" y="323"/>
                </a:cxn>
                <a:cxn ang="0">
                  <a:pos x="389" y="281"/>
                </a:cxn>
                <a:cxn ang="0">
                  <a:pos x="395" y="233"/>
                </a:cxn>
                <a:cxn ang="0">
                  <a:pos x="389" y="185"/>
                </a:cxn>
                <a:cxn ang="0">
                  <a:pos x="377" y="143"/>
                </a:cxn>
                <a:cxn ang="0">
                  <a:pos x="359" y="102"/>
                </a:cxn>
                <a:cxn ang="0">
                  <a:pos x="335" y="66"/>
                </a:cxn>
                <a:cxn ang="0">
                  <a:pos x="305" y="42"/>
                </a:cxn>
                <a:cxn ang="0">
                  <a:pos x="275" y="18"/>
                </a:cxn>
                <a:cxn ang="0">
                  <a:pos x="240" y="6"/>
                </a:cxn>
                <a:cxn ang="0">
                  <a:pos x="198" y="0"/>
                </a:cxn>
                <a:cxn ang="0">
                  <a:pos x="156" y="6"/>
                </a:cxn>
                <a:cxn ang="0">
                  <a:pos x="120" y="18"/>
                </a:cxn>
                <a:cxn ang="0">
                  <a:pos x="90" y="42"/>
                </a:cxn>
                <a:cxn ang="0">
                  <a:pos x="60" y="66"/>
                </a:cxn>
                <a:cxn ang="0">
                  <a:pos x="36" y="102"/>
                </a:cxn>
                <a:cxn ang="0">
                  <a:pos x="18" y="143"/>
                </a:cxn>
                <a:cxn ang="0">
                  <a:pos x="6" y="185"/>
                </a:cxn>
                <a:cxn ang="0">
                  <a:pos x="0" y="233"/>
                </a:cxn>
                <a:cxn ang="0">
                  <a:pos x="6" y="281"/>
                </a:cxn>
                <a:cxn ang="0">
                  <a:pos x="18" y="323"/>
                </a:cxn>
                <a:cxn ang="0">
                  <a:pos x="36" y="364"/>
                </a:cxn>
                <a:cxn ang="0">
                  <a:pos x="60" y="400"/>
                </a:cxn>
                <a:cxn ang="0">
                  <a:pos x="90" y="424"/>
                </a:cxn>
                <a:cxn ang="0">
                  <a:pos x="120" y="448"/>
                </a:cxn>
                <a:cxn ang="0">
                  <a:pos x="156" y="460"/>
                </a:cxn>
                <a:cxn ang="0">
                  <a:pos x="198" y="466"/>
                </a:cxn>
                <a:cxn ang="0">
                  <a:pos x="198" y="466"/>
                </a:cxn>
              </a:cxnLst>
              <a:rect l="txL" t="txT" r="txR" b="txB"/>
              <a:pathLst>
                <a:path w="395" h="466">
                  <a:moveTo>
                    <a:pt x="198" y="466"/>
                  </a:moveTo>
                  <a:lnTo>
                    <a:pt x="240" y="460"/>
                  </a:lnTo>
                  <a:lnTo>
                    <a:pt x="275" y="448"/>
                  </a:lnTo>
                  <a:lnTo>
                    <a:pt x="305" y="424"/>
                  </a:lnTo>
                  <a:lnTo>
                    <a:pt x="335" y="400"/>
                  </a:lnTo>
                  <a:lnTo>
                    <a:pt x="359" y="364"/>
                  </a:lnTo>
                  <a:lnTo>
                    <a:pt x="377" y="323"/>
                  </a:lnTo>
                  <a:lnTo>
                    <a:pt x="389" y="281"/>
                  </a:lnTo>
                  <a:lnTo>
                    <a:pt x="395" y="233"/>
                  </a:lnTo>
                  <a:lnTo>
                    <a:pt x="389" y="185"/>
                  </a:lnTo>
                  <a:lnTo>
                    <a:pt x="377" y="143"/>
                  </a:lnTo>
                  <a:lnTo>
                    <a:pt x="359" y="102"/>
                  </a:lnTo>
                  <a:lnTo>
                    <a:pt x="335" y="66"/>
                  </a:lnTo>
                  <a:lnTo>
                    <a:pt x="305" y="42"/>
                  </a:lnTo>
                  <a:lnTo>
                    <a:pt x="275" y="18"/>
                  </a:lnTo>
                  <a:lnTo>
                    <a:pt x="240" y="6"/>
                  </a:lnTo>
                  <a:lnTo>
                    <a:pt x="198" y="0"/>
                  </a:lnTo>
                  <a:lnTo>
                    <a:pt x="156" y="6"/>
                  </a:lnTo>
                  <a:lnTo>
                    <a:pt x="120" y="18"/>
                  </a:lnTo>
                  <a:lnTo>
                    <a:pt x="90" y="42"/>
                  </a:lnTo>
                  <a:lnTo>
                    <a:pt x="60" y="66"/>
                  </a:lnTo>
                  <a:lnTo>
                    <a:pt x="36" y="102"/>
                  </a:lnTo>
                  <a:lnTo>
                    <a:pt x="18" y="143"/>
                  </a:lnTo>
                  <a:lnTo>
                    <a:pt x="6" y="185"/>
                  </a:lnTo>
                  <a:lnTo>
                    <a:pt x="0" y="233"/>
                  </a:lnTo>
                  <a:lnTo>
                    <a:pt x="6" y="281"/>
                  </a:lnTo>
                  <a:lnTo>
                    <a:pt x="18" y="323"/>
                  </a:lnTo>
                  <a:lnTo>
                    <a:pt x="36" y="364"/>
                  </a:lnTo>
                  <a:lnTo>
                    <a:pt x="60" y="400"/>
                  </a:lnTo>
                  <a:lnTo>
                    <a:pt x="90" y="424"/>
                  </a:lnTo>
                  <a:lnTo>
                    <a:pt x="120" y="448"/>
                  </a:lnTo>
                  <a:lnTo>
                    <a:pt x="156" y="460"/>
                  </a:lnTo>
                  <a:lnTo>
                    <a:pt x="198" y="466"/>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77" name="Freeform 28"/>
            <p:cNvSpPr>
              <a:spLocks noChangeAspect="1"/>
            </p:cNvSpPr>
            <p:nvPr/>
          </p:nvSpPr>
          <p:spPr>
            <a:xfrm>
              <a:off x="4184" y="2160"/>
              <a:ext cx="197" cy="233"/>
            </a:xfrm>
            <a:custGeom>
              <a:avLst/>
              <a:gdLst>
                <a:gd name="txL" fmla="*/ 0 w 197"/>
                <a:gd name="txT" fmla="*/ 0 h 233"/>
                <a:gd name="txR" fmla="*/ 197 w 197"/>
                <a:gd name="txB" fmla="*/ 233 h 233"/>
              </a:gdLst>
              <a:ahLst/>
              <a:cxnLst>
                <a:cxn ang="0">
                  <a:pos x="0" y="233"/>
                </a:cxn>
                <a:cxn ang="0">
                  <a:pos x="42" y="227"/>
                </a:cxn>
                <a:cxn ang="0">
                  <a:pos x="77" y="215"/>
                </a:cxn>
                <a:cxn ang="0">
                  <a:pos x="107" y="191"/>
                </a:cxn>
                <a:cxn ang="0">
                  <a:pos x="137" y="167"/>
                </a:cxn>
                <a:cxn ang="0">
                  <a:pos x="161" y="131"/>
                </a:cxn>
                <a:cxn ang="0">
                  <a:pos x="179" y="90"/>
                </a:cxn>
                <a:cxn ang="0">
                  <a:pos x="191" y="48"/>
                </a:cxn>
                <a:cxn ang="0">
                  <a:pos x="197" y="0"/>
                </a:cxn>
                <a:cxn ang="0">
                  <a:pos x="197" y="0"/>
                </a:cxn>
                <a:cxn ang="0">
                  <a:pos x="191" y="48"/>
                </a:cxn>
                <a:cxn ang="0">
                  <a:pos x="179" y="90"/>
                </a:cxn>
                <a:cxn ang="0">
                  <a:pos x="161" y="131"/>
                </a:cxn>
                <a:cxn ang="0">
                  <a:pos x="137" y="167"/>
                </a:cxn>
                <a:cxn ang="0">
                  <a:pos x="107" y="191"/>
                </a:cxn>
                <a:cxn ang="0">
                  <a:pos x="77" y="215"/>
                </a:cxn>
                <a:cxn ang="0">
                  <a:pos x="42" y="227"/>
                </a:cxn>
                <a:cxn ang="0">
                  <a:pos x="0" y="233"/>
                </a:cxn>
                <a:cxn ang="0">
                  <a:pos x="0" y="233"/>
                </a:cxn>
              </a:cxnLst>
              <a:rect l="txL" t="txT" r="txR" b="txB"/>
              <a:pathLst>
                <a:path w="197" h="233">
                  <a:moveTo>
                    <a:pt x="0" y="233"/>
                  </a:moveTo>
                  <a:lnTo>
                    <a:pt x="42" y="227"/>
                  </a:lnTo>
                  <a:lnTo>
                    <a:pt x="77" y="215"/>
                  </a:lnTo>
                  <a:lnTo>
                    <a:pt x="107" y="191"/>
                  </a:lnTo>
                  <a:lnTo>
                    <a:pt x="137" y="167"/>
                  </a:lnTo>
                  <a:lnTo>
                    <a:pt x="161" y="131"/>
                  </a:lnTo>
                  <a:lnTo>
                    <a:pt x="179" y="90"/>
                  </a:lnTo>
                  <a:lnTo>
                    <a:pt x="191" y="48"/>
                  </a:lnTo>
                  <a:lnTo>
                    <a:pt x="197" y="0"/>
                  </a:lnTo>
                  <a:lnTo>
                    <a:pt x="191" y="48"/>
                  </a:lnTo>
                  <a:lnTo>
                    <a:pt x="179" y="90"/>
                  </a:lnTo>
                  <a:lnTo>
                    <a:pt x="161" y="131"/>
                  </a:lnTo>
                  <a:lnTo>
                    <a:pt x="137" y="167"/>
                  </a:lnTo>
                  <a:lnTo>
                    <a:pt x="107" y="191"/>
                  </a:lnTo>
                  <a:lnTo>
                    <a:pt x="77" y="215"/>
                  </a:lnTo>
                  <a:lnTo>
                    <a:pt x="42" y="227"/>
                  </a:lnTo>
                  <a:lnTo>
                    <a:pt x="0" y="23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78" name="Freeform 29"/>
            <p:cNvSpPr>
              <a:spLocks noChangeAspect="1" noEditPoints="1"/>
            </p:cNvSpPr>
            <p:nvPr/>
          </p:nvSpPr>
          <p:spPr>
            <a:xfrm>
              <a:off x="4184" y="1927"/>
              <a:ext cx="197" cy="233"/>
            </a:xfrm>
            <a:custGeom>
              <a:avLst/>
              <a:gdLst>
                <a:gd name="txL" fmla="*/ 0 w 197"/>
                <a:gd name="txT" fmla="*/ 0 h 233"/>
                <a:gd name="txR" fmla="*/ 197 w 197"/>
                <a:gd name="txB" fmla="*/ 233 h 233"/>
              </a:gdLst>
              <a:ahLst/>
              <a:cxnLst>
                <a:cxn ang="0">
                  <a:pos x="197" y="233"/>
                </a:cxn>
                <a:cxn ang="0">
                  <a:pos x="191" y="185"/>
                </a:cxn>
                <a:cxn ang="0">
                  <a:pos x="179" y="143"/>
                </a:cxn>
                <a:cxn ang="0">
                  <a:pos x="161" y="102"/>
                </a:cxn>
                <a:cxn ang="0">
                  <a:pos x="137" y="66"/>
                </a:cxn>
                <a:cxn ang="0">
                  <a:pos x="107" y="42"/>
                </a:cxn>
                <a:cxn ang="0">
                  <a:pos x="77" y="18"/>
                </a:cxn>
                <a:cxn ang="0">
                  <a:pos x="42" y="6"/>
                </a:cxn>
                <a:cxn ang="0">
                  <a:pos x="0" y="0"/>
                </a:cxn>
                <a:cxn ang="0">
                  <a:pos x="0" y="0"/>
                </a:cxn>
                <a:cxn ang="0">
                  <a:pos x="42" y="6"/>
                </a:cxn>
                <a:cxn ang="0">
                  <a:pos x="77" y="18"/>
                </a:cxn>
                <a:cxn ang="0">
                  <a:pos x="107" y="42"/>
                </a:cxn>
                <a:cxn ang="0">
                  <a:pos x="137" y="66"/>
                </a:cxn>
                <a:cxn ang="0">
                  <a:pos x="161" y="102"/>
                </a:cxn>
                <a:cxn ang="0">
                  <a:pos x="179" y="143"/>
                </a:cxn>
                <a:cxn ang="0">
                  <a:pos x="191" y="185"/>
                </a:cxn>
                <a:cxn ang="0">
                  <a:pos x="197" y="233"/>
                </a:cxn>
                <a:cxn ang="0">
                  <a:pos x="197" y="233"/>
                </a:cxn>
                <a:cxn ang="0">
                  <a:pos x="197" y="233"/>
                </a:cxn>
                <a:cxn ang="0">
                  <a:pos x="197" y="233"/>
                </a:cxn>
                <a:cxn ang="0">
                  <a:pos x="197" y="233"/>
                </a:cxn>
              </a:cxnLst>
              <a:rect l="txL" t="txT" r="txR" b="txB"/>
              <a:pathLst>
                <a:path w="197" h="233">
                  <a:moveTo>
                    <a:pt x="197" y="233"/>
                  </a:moveTo>
                  <a:lnTo>
                    <a:pt x="191" y="185"/>
                  </a:lnTo>
                  <a:lnTo>
                    <a:pt x="179" y="143"/>
                  </a:lnTo>
                  <a:lnTo>
                    <a:pt x="161" y="102"/>
                  </a:lnTo>
                  <a:lnTo>
                    <a:pt x="137" y="66"/>
                  </a:lnTo>
                  <a:lnTo>
                    <a:pt x="107" y="42"/>
                  </a:lnTo>
                  <a:lnTo>
                    <a:pt x="77" y="18"/>
                  </a:lnTo>
                  <a:lnTo>
                    <a:pt x="42" y="6"/>
                  </a:lnTo>
                  <a:lnTo>
                    <a:pt x="0" y="0"/>
                  </a:lnTo>
                  <a:lnTo>
                    <a:pt x="42" y="6"/>
                  </a:lnTo>
                  <a:lnTo>
                    <a:pt x="77" y="18"/>
                  </a:lnTo>
                  <a:lnTo>
                    <a:pt x="107" y="42"/>
                  </a:lnTo>
                  <a:lnTo>
                    <a:pt x="137" y="66"/>
                  </a:lnTo>
                  <a:lnTo>
                    <a:pt x="161" y="102"/>
                  </a:lnTo>
                  <a:lnTo>
                    <a:pt x="179" y="143"/>
                  </a:lnTo>
                  <a:lnTo>
                    <a:pt x="191" y="185"/>
                  </a:lnTo>
                  <a:lnTo>
                    <a:pt x="197" y="233"/>
                  </a:lnTo>
                  <a:close/>
                  <a:moveTo>
                    <a:pt x="197" y="233"/>
                  </a:moveTo>
                  <a:lnTo>
                    <a:pt x="197" y="23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79" name="Freeform 30"/>
            <p:cNvSpPr>
              <a:spLocks noChangeAspect="1" noEditPoints="1"/>
            </p:cNvSpPr>
            <p:nvPr/>
          </p:nvSpPr>
          <p:spPr>
            <a:xfrm>
              <a:off x="3986" y="1927"/>
              <a:ext cx="198" cy="233"/>
            </a:xfrm>
            <a:custGeom>
              <a:avLst/>
              <a:gdLst>
                <a:gd name="txL" fmla="*/ 0 w 198"/>
                <a:gd name="txT" fmla="*/ 0 h 233"/>
                <a:gd name="txR" fmla="*/ 198 w 198"/>
                <a:gd name="txB" fmla="*/ 233 h 233"/>
              </a:gdLst>
              <a:ahLst/>
              <a:cxnLst>
                <a:cxn ang="0">
                  <a:pos x="198" y="0"/>
                </a:cxn>
                <a:cxn ang="0">
                  <a:pos x="156" y="6"/>
                </a:cxn>
                <a:cxn ang="0">
                  <a:pos x="120" y="18"/>
                </a:cxn>
                <a:cxn ang="0">
                  <a:pos x="90" y="42"/>
                </a:cxn>
                <a:cxn ang="0">
                  <a:pos x="60" y="66"/>
                </a:cxn>
                <a:cxn ang="0">
                  <a:pos x="36" y="102"/>
                </a:cxn>
                <a:cxn ang="0">
                  <a:pos x="18" y="143"/>
                </a:cxn>
                <a:cxn ang="0">
                  <a:pos x="6" y="185"/>
                </a:cxn>
                <a:cxn ang="0">
                  <a:pos x="0" y="233"/>
                </a:cxn>
                <a:cxn ang="0">
                  <a:pos x="0" y="233"/>
                </a:cxn>
                <a:cxn ang="0">
                  <a:pos x="6" y="185"/>
                </a:cxn>
                <a:cxn ang="0">
                  <a:pos x="18" y="143"/>
                </a:cxn>
                <a:cxn ang="0">
                  <a:pos x="36" y="102"/>
                </a:cxn>
                <a:cxn ang="0">
                  <a:pos x="60" y="66"/>
                </a:cxn>
                <a:cxn ang="0">
                  <a:pos x="90" y="42"/>
                </a:cxn>
                <a:cxn ang="0">
                  <a:pos x="120" y="18"/>
                </a:cxn>
                <a:cxn ang="0">
                  <a:pos x="156" y="6"/>
                </a:cxn>
                <a:cxn ang="0">
                  <a:pos x="198" y="0"/>
                </a:cxn>
                <a:cxn ang="0">
                  <a:pos x="198" y="0"/>
                </a:cxn>
                <a:cxn ang="0">
                  <a:pos x="198" y="0"/>
                </a:cxn>
                <a:cxn ang="0">
                  <a:pos x="198" y="0"/>
                </a:cxn>
                <a:cxn ang="0">
                  <a:pos x="198" y="0"/>
                </a:cxn>
              </a:cxnLst>
              <a:rect l="txL" t="txT" r="txR" b="txB"/>
              <a:pathLst>
                <a:path w="198" h="233">
                  <a:moveTo>
                    <a:pt x="198" y="0"/>
                  </a:moveTo>
                  <a:lnTo>
                    <a:pt x="156" y="6"/>
                  </a:lnTo>
                  <a:lnTo>
                    <a:pt x="120" y="18"/>
                  </a:lnTo>
                  <a:lnTo>
                    <a:pt x="90" y="42"/>
                  </a:lnTo>
                  <a:lnTo>
                    <a:pt x="60" y="66"/>
                  </a:lnTo>
                  <a:lnTo>
                    <a:pt x="36" y="102"/>
                  </a:lnTo>
                  <a:lnTo>
                    <a:pt x="18" y="143"/>
                  </a:lnTo>
                  <a:lnTo>
                    <a:pt x="6" y="185"/>
                  </a:lnTo>
                  <a:lnTo>
                    <a:pt x="0" y="233"/>
                  </a:lnTo>
                  <a:lnTo>
                    <a:pt x="6" y="185"/>
                  </a:lnTo>
                  <a:lnTo>
                    <a:pt x="18" y="143"/>
                  </a:lnTo>
                  <a:lnTo>
                    <a:pt x="36" y="102"/>
                  </a:lnTo>
                  <a:lnTo>
                    <a:pt x="60" y="66"/>
                  </a:lnTo>
                  <a:lnTo>
                    <a:pt x="90" y="42"/>
                  </a:lnTo>
                  <a:lnTo>
                    <a:pt x="120" y="18"/>
                  </a:lnTo>
                  <a:lnTo>
                    <a:pt x="156" y="6"/>
                  </a:lnTo>
                  <a:lnTo>
                    <a:pt x="198" y="0"/>
                  </a:lnTo>
                  <a:close/>
                  <a:moveTo>
                    <a:pt x="198" y="0"/>
                  </a:moveTo>
                  <a:lnTo>
                    <a:pt x="19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80" name="Freeform 31"/>
            <p:cNvSpPr>
              <a:spLocks noChangeAspect="1" noEditPoints="1"/>
            </p:cNvSpPr>
            <p:nvPr/>
          </p:nvSpPr>
          <p:spPr>
            <a:xfrm>
              <a:off x="3986" y="2160"/>
              <a:ext cx="198" cy="233"/>
            </a:xfrm>
            <a:custGeom>
              <a:avLst/>
              <a:gdLst>
                <a:gd name="txL" fmla="*/ 0 w 198"/>
                <a:gd name="txT" fmla="*/ 0 h 233"/>
                <a:gd name="txR" fmla="*/ 198 w 198"/>
                <a:gd name="txB" fmla="*/ 233 h 233"/>
              </a:gdLst>
              <a:ahLst/>
              <a:cxnLst>
                <a:cxn ang="0">
                  <a:pos x="0" y="0"/>
                </a:cxn>
                <a:cxn ang="0">
                  <a:pos x="6" y="48"/>
                </a:cxn>
                <a:cxn ang="0">
                  <a:pos x="18" y="90"/>
                </a:cxn>
                <a:cxn ang="0">
                  <a:pos x="36" y="131"/>
                </a:cxn>
                <a:cxn ang="0">
                  <a:pos x="60" y="167"/>
                </a:cxn>
                <a:cxn ang="0">
                  <a:pos x="90" y="191"/>
                </a:cxn>
                <a:cxn ang="0">
                  <a:pos x="120" y="215"/>
                </a:cxn>
                <a:cxn ang="0">
                  <a:pos x="156" y="227"/>
                </a:cxn>
                <a:cxn ang="0">
                  <a:pos x="198" y="233"/>
                </a:cxn>
                <a:cxn ang="0">
                  <a:pos x="198" y="233"/>
                </a:cxn>
                <a:cxn ang="0">
                  <a:pos x="156" y="227"/>
                </a:cxn>
                <a:cxn ang="0">
                  <a:pos x="120" y="215"/>
                </a:cxn>
                <a:cxn ang="0">
                  <a:pos x="90" y="191"/>
                </a:cxn>
                <a:cxn ang="0">
                  <a:pos x="60" y="167"/>
                </a:cxn>
                <a:cxn ang="0">
                  <a:pos x="36" y="131"/>
                </a:cxn>
                <a:cxn ang="0">
                  <a:pos x="18" y="90"/>
                </a:cxn>
                <a:cxn ang="0">
                  <a:pos x="6" y="48"/>
                </a:cxn>
                <a:cxn ang="0">
                  <a:pos x="0" y="0"/>
                </a:cxn>
                <a:cxn ang="0">
                  <a:pos x="0" y="0"/>
                </a:cxn>
                <a:cxn ang="0">
                  <a:pos x="0" y="0"/>
                </a:cxn>
                <a:cxn ang="0">
                  <a:pos x="0" y="0"/>
                </a:cxn>
                <a:cxn ang="0">
                  <a:pos x="0" y="0"/>
                </a:cxn>
              </a:cxnLst>
              <a:rect l="txL" t="txT" r="txR" b="txB"/>
              <a:pathLst>
                <a:path w="198" h="233">
                  <a:moveTo>
                    <a:pt x="0" y="0"/>
                  </a:moveTo>
                  <a:lnTo>
                    <a:pt x="6" y="48"/>
                  </a:lnTo>
                  <a:lnTo>
                    <a:pt x="18" y="90"/>
                  </a:lnTo>
                  <a:lnTo>
                    <a:pt x="36" y="131"/>
                  </a:lnTo>
                  <a:lnTo>
                    <a:pt x="60" y="167"/>
                  </a:lnTo>
                  <a:lnTo>
                    <a:pt x="90" y="191"/>
                  </a:lnTo>
                  <a:lnTo>
                    <a:pt x="120" y="215"/>
                  </a:lnTo>
                  <a:lnTo>
                    <a:pt x="156" y="227"/>
                  </a:lnTo>
                  <a:lnTo>
                    <a:pt x="198" y="233"/>
                  </a:lnTo>
                  <a:lnTo>
                    <a:pt x="156" y="227"/>
                  </a:lnTo>
                  <a:lnTo>
                    <a:pt x="120" y="215"/>
                  </a:lnTo>
                  <a:lnTo>
                    <a:pt x="90" y="191"/>
                  </a:lnTo>
                  <a:lnTo>
                    <a:pt x="60" y="167"/>
                  </a:lnTo>
                  <a:lnTo>
                    <a:pt x="36" y="131"/>
                  </a:lnTo>
                  <a:lnTo>
                    <a:pt x="18" y="90"/>
                  </a:lnTo>
                  <a:lnTo>
                    <a:pt x="6" y="48"/>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81" name="Freeform 32"/>
            <p:cNvSpPr>
              <a:spLocks noChangeAspect="1"/>
            </p:cNvSpPr>
            <p:nvPr/>
          </p:nvSpPr>
          <p:spPr>
            <a:xfrm>
              <a:off x="4184" y="2393"/>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82" name="Freeform 33"/>
            <p:cNvSpPr>
              <a:spLocks noChangeAspect="1"/>
            </p:cNvSpPr>
            <p:nvPr/>
          </p:nvSpPr>
          <p:spPr>
            <a:xfrm>
              <a:off x="4118" y="2190"/>
              <a:ext cx="119" cy="143"/>
            </a:xfrm>
            <a:custGeom>
              <a:avLst/>
              <a:gdLst>
                <a:gd name="txL" fmla="*/ 0 w 119"/>
                <a:gd name="txT" fmla="*/ 0 h 143"/>
                <a:gd name="txR" fmla="*/ 119 w 119"/>
                <a:gd name="txB" fmla="*/ 143 h 143"/>
              </a:gdLst>
              <a:ahLst/>
              <a:cxnLst>
                <a:cxn ang="0">
                  <a:pos x="54" y="60"/>
                </a:cxn>
                <a:cxn ang="0">
                  <a:pos x="0" y="60"/>
                </a:cxn>
                <a:cxn ang="0">
                  <a:pos x="0" y="77"/>
                </a:cxn>
                <a:cxn ang="0">
                  <a:pos x="54" y="77"/>
                </a:cxn>
                <a:cxn ang="0">
                  <a:pos x="54" y="143"/>
                </a:cxn>
                <a:cxn ang="0">
                  <a:pos x="72" y="143"/>
                </a:cxn>
                <a:cxn ang="0">
                  <a:pos x="72" y="77"/>
                </a:cxn>
                <a:cxn ang="0">
                  <a:pos x="119" y="77"/>
                </a:cxn>
                <a:cxn ang="0">
                  <a:pos x="119" y="60"/>
                </a:cxn>
                <a:cxn ang="0">
                  <a:pos x="72" y="60"/>
                </a:cxn>
                <a:cxn ang="0">
                  <a:pos x="72" y="0"/>
                </a:cxn>
                <a:cxn ang="0">
                  <a:pos x="54" y="0"/>
                </a:cxn>
                <a:cxn ang="0">
                  <a:pos x="54" y="60"/>
                </a:cxn>
              </a:cxnLst>
              <a:rect l="txL" t="txT" r="txR" b="txB"/>
              <a:pathLst>
                <a:path w="119" h="143">
                  <a:moveTo>
                    <a:pt x="54" y="60"/>
                  </a:moveTo>
                  <a:lnTo>
                    <a:pt x="0" y="60"/>
                  </a:lnTo>
                  <a:lnTo>
                    <a:pt x="0" y="77"/>
                  </a:lnTo>
                  <a:lnTo>
                    <a:pt x="54" y="77"/>
                  </a:lnTo>
                  <a:lnTo>
                    <a:pt x="54" y="143"/>
                  </a:lnTo>
                  <a:lnTo>
                    <a:pt x="72" y="143"/>
                  </a:lnTo>
                  <a:lnTo>
                    <a:pt x="72" y="77"/>
                  </a:lnTo>
                  <a:lnTo>
                    <a:pt x="119" y="77"/>
                  </a:lnTo>
                  <a:lnTo>
                    <a:pt x="119" y="60"/>
                  </a:lnTo>
                  <a:lnTo>
                    <a:pt x="72" y="60"/>
                  </a:lnTo>
                  <a:lnTo>
                    <a:pt x="72" y="0"/>
                  </a:lnTo>
                  <a:lnTo>
                    <a:pt x="54" y="0"/>
                  </a:lnTo>
                  <a:lnTo>
                    <a:pt x="54" y="6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83" name="Rectangle 34"/>
            <p:cNvSpPr>
              <a:spLocks noChangeAspect="1"/>
            </p:cNvSpPr>
            <p:nvPr/>
          </p:nvSpPr>
          <p:spPr>
            <a:xfrm>
              <a:off x="4118" y="2041"/>
              <a:ext cx="125" cy="17"/>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27684" name="Freeform 35"/>
            <p:cNvSpPr>
              <a:spLocks noChangeAspect="1"/>
            </p:cNvSpPr>
            <p:nvPr/>
          </p:nvSpPr>
          <p:spPr>
            <a:xfrm>
              <a:off x="3334" y="1019"/>
              <a:ext cx="96" cy="114"/>
            </a:xfrm>
            <a:custGeom>
              <a:avLst/>
              <a:gdLst>
                <a:gd name="txL" fmla="*/ 0 w 96"/>
                <a:gd name="txT" fmla="*/ 0 h 114"/>
                <a:gd name="txR" fmla="*/ 96 w 96"/>
                <a:gd name="txB" fmla="*/ 114 h 114"/>
              </a:gdLst>
              <a:ahLst/>
              <a:cxnLst>
                <a:cxn ang="0">
                  <a:pos x="0" y="6"/>
                </a:cxn>
                <a:cxn ang="0">
                  <a:pos x="12" y="6"/>
                </a:cxn>
                <a:cxn ang="0">
                  <a:pos x="18" y="12"/>
                </a:cxn>
                <a:cxn ang="0">
                  <a:pos x="18" y="24"/>
                </a:cxn>
                <a:cxn ang="0">
                  <a:pos x="24" y="36"/>
                </a:cxn>
                <a:cxn ang="0">
                  <a:pos x="24" y="48"/>
                </a:cxn>
                <a:cxn ang="0">
                  <a:pos x="30" y="72"/>
                </a:cxn>
                <a:cxn ang="0">
                  <a:pos x="30" y="90"/>
                </a:cxn>
                <a:cxn ang="0">
                  <a:pos x="30" y="108"/>
                </a:cxn>
                <a:cxn ang="0">
                  <a:pos x="30" y="114"/>
                </a:cxn>
                <a:cxn ang="0">
                  <a:pos x="30" y="114"/>
                </a:cxn>
                <a:cxn ang="0">
                  <a:pos x="42" y="114"/>
                </a:cxn>
                <a:cxn ang="0">
                  <a:pos x="48" y="102"/>
                </a:cxn>
                <a:cxn ang="0">
                  <a:pos x="54" y="90"/>
                </a:cxn>
                <a:cxn ang="0">
                  <a:pos x="66" y="78"/>
                </a:cxn>
                <a:cxn ang="0">
                  <a:pos x="78" y="60"/>
                </a:cxn>
                <a:cxn ang="0">
                  <a:pos x="90" y="36"/>
                </a:cxn>
                <a:cxn ang="0">
                  <a:pos x="96" y="12"/>
                </a:cxn>
                <a:cxn ang="0">
                  <a:pos x="90" y="6"/>
                </a:cxn>
                <a:cxn ang="0">
                  <a:pos x="84" y="0"/>
                </a:cxn>
                <a:cxn ang="0">
                  <a:pos x="78" y="0"/>
                </a:cxn>
                <a:cxn ang="0">
                  <a:pos x="72" y="6"/>
                </a:cxn>
                <a:cxn ang="0">
                  <a:pos x="78" y="18"/>
                </a:cxn>
                <a:cxn ang="0">
                  <a:pos x="84" y="24"/>
                </a:cxn>
                <a:cxn ang="0">
                  <a:pos x="84" y="42"/>
                </a:cxn>
                <a:cxn ang="0">
                  <a:pos x="72" y="54"/>
                </a:cxn>
                <a:cxn ang="0">
                  <a:pos x="66" y="72"/>
                </a:cxn>
                <a:cxn ang="0">
                  <a:pos x="54" y="84"/>
                </a:cxn>
                <a:cxn ang="0">
                  <a:pos x="48" y="96"/>
                </a:cxn>
                <a:cxn ang="0">
                  <a:pos x="42" y="48"/>
                </a:cxn>
                <a:cxn ang="0">
                  <a:pos x="36" y="0"/>
                </a:cxn>
                <a:cxn ang="0">
                  <a:pos x="36" y="0"/>
                </a:cxn>
                <a:cxn ang="0">
                  <a:pos x="30" y="0"/>
                </a:cxn>
                <a:cxn ang="0">
                  <a:pos x="24" y="0"/>
                </a:cxn>
                <a:cxn ang="0">
                  <a:pos x="0" y="6"/>
                </a:cxn>
                <a:cxn ang="0">
                  <a:pos x="0" y="6"/>
                </a:cxn>
              </a:cxnLst>
              <a:rect l="txL" t="txT" r="txR" b="txB"/>
              <a:pathLst>
                <a:path w="96" h="114">
                  <a:moveTo>
                    <a:pt x="0" y="6"/>
                  </a:moveTo>
                  <a:lnTo>
                    <a:pt x="12" y="6"/>
                  </a:lnTo>
                  <a:lnTo>
                    <a:pt x="18" y="12"/>
                  </a:lnTo>
                  <a:lnTo>
                    <a:pt x="18" y="24"/>
                  </a:lnTo>
                  <a:lnTo>
                    <a:pt x="24" y="36"/>
                  </a:lnTo>
                  <a:lnTo>
                    <a:pt x="24" y="48"/>
                  </a:lnTo>
                  <a:lnTo>
                    <a:pt x="30" y="72"/>
                  </a:lnTo>
                  <a:lnTo>
                    <a:pt x="30" y="90"/>
                  </a:lnTo>
                  <a:lnTo>
                    <a:pt x="30" y="108"/>
                  </a:lnTo>
                  <a:lnTo>
                    <a:pt x="30" y="114"/>
                  </a:lnTo>
                  <a:lnTo>
                    <a:pt x="42" y="114"/>
                  </a:lnTo>
                  <a:lnTo>
                    <a:pt x="48" y="102"/>
                  </a:lnTo>
                  <a:lnTo>
                    <a:pt x="54" y="90"/>
                  </a:lnTo>
                  <a:lnTo>
                    <a:pt x="66" y="78"/>
                  </a:lnTo>
                  <a:lnTo>
                    <a:pt x="78" y="60"/>
                  </a:lnTo>
                  <a:lnTo>
                    <a:pt x="90" y="36"/>
                  </a:lnTo>
                  <a:lnTo>
                    <a:pt x="96" y="12"/>
                  </a:lnTo>
                  <a:lnTo>
                    <a:pt x="90" y="6"/>
                  </a:lnTo>
                  <a:lnTo>
                    <a:pt x="84" y="0"/>
                  </a:lnTo>
                  <a:lnTo>
                    <a:pt x="78" y="0"/>
                  </a:lnTo>
                  <a:lnTo>
                    <a:pt x="72" y="6"/>
                  </a:lnTo>
                  <a:lnTo>
                    <a:pt x="78" y="18"/>
                  </a:lnTo>
                  <a:lnTo>
                    <a:pt x="84" y="24"/>
                  </a:lnTo>
                  <a:lnTo>
                    <a:pt x="84" y="42"/>
                  </a:lnTo>
                  <a:lnTo>
                    <a:pt x="72" y="54"/>
                  </a:lnTo>
                  <a:lnTo>
                    <a:pt x="66" y="72"/>
                  </a:lnTo>
                  <a:lnTo>
                    <a:pt x="54" y="84"/>
                  </a:lnTo>
                  <a:lnTo>
                    <a:pt x="48" y="96"/>
                  </a:lnTo>
                  <a:lnTo>
                    <a:pt x="42" y="48"/>
                  </a:lnTo>
                  <a:lnTo>
                    <a:pt x="36" y="0"/>
                  </a:lnTo>
                  <a:lnTo>
                    <a:pt x="30" y="0"/>
                  </a:lnTo>
                  <a:lnTo>
                    <a:pt x="24"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85" name="Freeform 36"/>
            <p:cNvSpPr>
              <a:spLocks noChangeAspect="1"/>
            </p:cNvSpPr>
            <p:nvPr/>
          </p:nvSpPr>
          <p:spPr>
            <a:xfrm>
              <a:off x="3442" y="1061"/>
              <a:ext cx="72" cy="144"/>
            </a:xfrm>
            <a:custGeom>
              <a:avLst/>
              <a:gdLst>
                <a:gd name="txL" fmla="*/ 0 w 72"/>
                <a:gd name="txT" fmla="*/ 0 h 144"/>
                <a:gd name="txR" fmla="*/ 72 w 72"/>
                <a:gd name="txB" fmla="*/ 144 h 144"/>
              </a:gdLst>
              <a:ahLst/>
              <a:cxnLst>
                <a:cxn ang="0">
                  <a:pos x="18" y="72"/>
                </a:cxn>
                <a:cxn ang="0">
                  <a:pos x="30" y="72"/>
                </a:cxn>
                <a:cxn ang="0">
                  <a:pos x="42" y="78"/>
                </a:cxn>
                <a:cxn ang="0">
                  <a:pos x="54" y="90"/>
                </a:cxn>
                <a:cxn ang="0">
                  <a:pos x="54" y="102"/>
                </a:cxn>
                <a:cxn ang="0">
                  <a:pos x="48" y="126"/>
                </a:cxn>
                <a:cxn ang="0">
                  <a:pos x="42" y="138"/>
                </a:cxn>
                <a:cxn ang="0">
                  <a:pos x="30" y="138"/>
                </a:cxn>
                <a:cxn ang="0">
                  <a:pos x="18" y="132"/>
                </a:cxn>
                <a:cxn ang="0">
                  <a:pos x="6" y="126"/>
                </a:cxn>
                <a:cxn ang="0">
                  <a:pos x="6" y="126"/>
                </a:cxn>
                <a:cxn ang="0">
                  <a:pos x="0" y="132"/>
                </a:cxn>
                <a:cxn ang="0">
                  <a:pos x="6" y="138"/>
                </a:cxn>
                <a:cxn ang="0">
                  <a:pos x="12" y="144"/>
                </a:cxn>
                <a:cxn ang="0">
                  <a:pos x="18" y="144"/>
                </a:cxn>
                <a:cxn ang="0">
                  <a:pos x="18" y="144"/>
                </a:cxn>
                <a:cxn ang="0">
                  <a:pos x="42" y="138"/>
                </a:cxn>
                <a:cxn ang="0">
                  <a:pos x="54" y="132"/>
                </a:cxn>
                <a:cxn ang="0">
                  <a:pos x="66" y="114"/>
                </a:cxn>
                <a:cxn ang="0">
                  <a:pos x="72" y="96"/>
                </a:cxn>
                <a:cxn ang="0">
                  <a:pos x="72" y="78"/>
                </a:cxn>
                <a:cxn ang="0">
                  <a:pos x="60" y="66"/>
                </a:cxn>
                <a:cxn ang="0">
                  <a:pos x="48" y="54"/>
                </a:cxn>
                <a:cxn ang="0">
                  <a:pos x="60" y="42"/>
                </a:cxn>
                <a:cxn ang="0">
                  <a:pos x="66" y="24"/>
                </a:cxn>
                <a:cxn ang="0">
                  <a:pos x="60" y="12"/>
                </a:cxn>
                <a:cxn ang="0">
                  <a:pos x="54" y="6"/>
                </a:cxn>
                <a:cxn ang="0">
                  <a:pos x="36" y="0"/>
                </a:cxn>
                <a:cxn ang="0">
                  <a:pos x="18" y="6"/>
                </a:cxn>
                <a:cxn ang="0">
                  <a:pos x="6" y="18"/>
                </a:cxn>
                <a:cxn ang="0">
                  <a:pos x="0" y="30"/>
                </a:cxn>
                <a:cxn ang="0">
                  <a:pos x="6" y="30"/>
                </a:cxn>
                <a:cxn ang="0">
                  <a:pos x="12" y="18"/>
                </a:cxn>
                <a:cxn ang="0">
                  <a:pos x="30" y="12"/>
                </a:cxn>
                <a:cxn ang="0">
                  <a:pos x="42" y="18"/>
                </a:cxn>
                <a:cxn ang="0">
                  <a:pos x="48" y="30"/>
                </a:cxn>
                <a:cxn ang="0">
                  <a:pos x="48" y="48"/>
                </a:cxn>
                <a:cxn ang="0">
                  <a:pos x="42" y="54"/>
                </a:cxn>
                <a:cxn ang="0">
                  <a:pos x="18" y="66"/>
                </a:cxn>
                <a:cxn ang="0">
                  <a:pos x="18" y="72"/>
                </a:cxn>
              </a:cxnLst>
              <a:rect l="txL" t="txT" r="txR" b="txB"/>
              <a:pathLst>
                <a:path w="72" h="144">
                  <a:moveTo>
                    <a:pt x="18" y="72"/>
                  </a:moveTo>
                  <a:lnTo>
                    <a:pt x="30" y="72"/>
                  </a:lnTo>
                  <a:lnTo>
                    <a:pt x="42" y="78"/>
                  </a:lnTo>
                  <a:lnTo>
                    <a:pt x="54" y="90"/>
                  </a:lnTo>
                  <a:lnTo>
                    <a:pt x="54" y="102"/>
                  </a:lnTo>
                  <a:lnTo>
                    <a:pt x="48" y="126"/>
                  </a:lnTo>
                  <a:lnTo>
                    <a:pt x="42" y="138"/>
                  </a:lnTo>
                  <a:lnTo>
                    <a:pt x="30" y="138"/>
                  </a:lnTo>
                  <a:lnTo>
                    <a:pt x="18" y="132"/>
                  </a:lnTo>
                  <a:lnTo>
                    <a:pt x="6" y="126"/>
                  </a:lnTo>
                  <a:lnTo>
                    <a:pt x="0" y="132"/>
                  </a:lnTo>
                  <a:lnTo>
                    <a:pt x="6" y="138"/>
                  </a:lnTo>
                  <a:lnTo>
                    <a:pt x="12" y="144"/>
                  </a:lnTo>
                  <a:lnTo>
                    <a:pt x="18" y="144"/>
                  </a:lnTo>
                  <a:lnTo>
                    <a:pt x="42" y="138"/>
                  </a:lnTo>
                  <a:lnTo>
                    <a:pt x="54" y="132"/>
                  </a:lnTo>
                  <a:lnTo>
                    <a:pt x="66" y="114"/>
                  </a:lnTo>
                  <a:lnTo>
                    <a:pt x="72" y="96"/>
                  </a:lnTo>
                  <a:lnTo>
                    <a:pt x="72" y="78"/>
                  </a:lnTo>
                  <a:lnTo>
                    <a:pt x="60" y="66"/>
                  </a:lnTo>
                  <a:lnTo>
                    <a:pt x="48" y="54"/>
                  </a:lnTo>
                  <a:lnTo>
                    <a:pt x="60" y="42"/>
                  </a:lnTo>
                  <a:lnTo>
                    <a:pt x="66" y="24"/>
                  </a:lnTo>
                  <a:lnTo>
                    <a:pt x="60" y="12"/>
                  </a:lnTo>
                  <a:lnTo>
                    <a:pt x="54" y="6"/>
                  </a:lnTo>
                  <a:lnTo>
                    <a:pt x="36" y="0"/>
                  </a:lnTo>
                  <a:lnTo>
                    <a:pt x="18" y="6"/>
                  </a:lnTo>
                  <a:lnTo>
                    <a:pt x="6" y="18"/>
                  </a:lnTo>
                  <a:lnTo>
                    <a:pt x="0" y="30"/>
                  </a:lnTo>
                  <a:lnTo>
                    <a:pt x="6" y="30"/>
                  </a:lnTo>
                  <a:lnTo>
                    <a:pt x="12" y="18"/>
                  </a:lnTo>
                  <a:lnTo>
                    <a:pt x="30" y="12"/>
                  </a:lnTo>
                  <a:lnTo>
                    <a:pt x="42" y="18"/>
                  </a:lnTo>
                  <a:lnTo>
                    <a:pt x="48" y="30"/>
                  </a:lnTo>
                  <a:lnTo>
                    <a:pt x="48" y="48"/>
                  </a:lnTo>
                  <a:lnTo>
                    <a:pt x="42" y="54"/>
                  </a:lnTo>
                  <a:lnTo>
                    <a:pt x="18" y="66"/>
                  </a:lnTo>
                  <a:lnTo>
                    <a:pt x="18" y="7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86" name="Freeform 37"/>
            <p:cNvSpPr>
              <a:spLocks noChangeAspect="1"/>
            </p:cNvSpPr>
            <p:nvPr/>
          </p:nvSpPr>
          <p:spPr>
            <a:xfrm>
              <a:off x="2210" y="1019"/>
              <a:ext cx="96" cy="114"/>
            </a:xfrm>
            <a:custGeom>
              <a:avLst/>
              <a:gdLst>
                <a:gd name="txL" fmla="*/ 0 w 96"/>
                <a:gd name="txT" fmla="*/ 0 h 114"/>
                <a:gd name="txR" fmla="*/ 96 w 96"/>
                <a:gd name="txB" fmla="*/ 114 h 114"/>
              </a:gdLst>
              <a:ahLst/>
              <a:cxnLst>
                <a:cxn ang="0">
                  <a:pos x="0" y="6"/>
                </a:cxn>
                <a:cxn ang="0">
                  <a:pos x="12" y="6"/>
                </a:cxn>
                <a:cxn ang="0">
                  <a:pos x="18" y="12"/>
                </a:cxn>
                <a:cxn ang="0">
                  <a:pos x="18" y="24"/>
                </a:cxn>
                <a:cxn ang="0">
                  <a:pos x="24" y="36"/>
                </a:cxn>
                <a:cxn ang="0">
                  <a:pos x="24" y="48"/>
                </a:cxn>
                <a:cxn ang="0">
                  <a:pos x="30" y="72"/>
                </a:cxn>
                <a:cxn ang="0">
                  <a:pos x="30" y="90"/>
                </a:cxn>
                <a:cxn ang="0">
                  <a:pos x="30" y="108"/>
                </a:cxn>
                <a:cxn ang="0">
                  <a:pos x="30" y="114"/>
                </a:cxn>
                <a:cxn ang="0">
                  <a:pos x="30" y="114"/>
                </a:cxn>
                <a:cxn ang="0">
                  <a:pos x="42" y="114"/>
                </a:cxn>
                <a:cxn ang="0">
                  <a:pos x="48" y="102"/>
                </a:cxn>
                <a:cxn ang="0">
                  <a:pos x="54" y="90"/>
                </a:cxn>
                <a:cxn ang="0">
                  <a:pos x="66" y="78"/>
                </a:cxn>
                <a:cxn ang="0">
                  <a:pos x="78" y="60"/>
                </a:cxn>
                <a:cxn ang="0">
                  <a:pos x="90" y="36"/>
                </a:cxn>
                <a:cxn ang="0">
                  <a:pos x="96" y="12"/>
                </a:cxn>
                <a:cxn ang="0">
                  <a:pos x="90" y="6"/>
                </a:cxn>
                <a:cxn ang="0">
                  <a:pos x="78" y="0"/>
                </a:cxn>
                <a:cxn ang="0">
                  <a:pos x="78" y="0"/>
                </a:cxn>
                <a:cxn ang="0">
                  <a:pos x="72" y="6"/>
                </a:cxn>
                <a:cxn ang="0">
                  <a:pos x="78" y="18"/>
                </a:cxn>
                <a:cxn ang="0">
                  <a:pos x="84" y="24"/>
                </a:cxn>
                <a:cxn ang="0">
                  <a:pos x="84" y="42"/>
                </a:cxn>
                <a:cxn ang="0">
                  <a:pos x="72" y="54"/>
                </a:cxn>
                <a:cxn ang="0">
                  <a:pos x="66" y="72"/>
                </a:cxn>
                <a:cxn ang="0">
                  <a:pos x="54" y="84"/>
                </a:cxn>
                <a:cxn ang="0">
                  <a:pos x="48" y="96"/>
                </a:cxn>
                <a:cxn ang="0">
                  <a:pos x="42" y="48"/>
                </a:cxn>
                <a:cxn ang="0">
                  <a:pos x="36" y="0"/>
                </a:cxn>
                <a:cxn ang="0">
                  <a:pos x="30" y="0"/>
                </a:cxn>
                <a:cxn ang="0">
                  <a:pos x="30" y="0"/>
                </a:cxn>
                <a:cxn ang="0">
                  <a:pos x="24" y="0"/>
                </a:cxn>
                <a:cxn ang="0">
                  <a:pos x="0" y="6"/>
                </a:cxn>
                <a:cxn ang="0">
                  <a:pos x="0" y="6"/>
                </a:cxn>
              </a:cxnLst>
              <a:rect l="txL" t="txT" r="txR" b="txB"/>
              <a:pathLst>
                <a:path w="96" h="114">
                  <a:moveTo>
                    <a:pt x="0" y="6"/>
                  </a:moveTo>
                  <a:lnTo>
                    <a:pt x="12" y="6"/>
                  </a:lnTo>
                  <a:lnTo>
                    <a:pt x="18" y="12"/>
                  </a:lnTo>
                  <a:lnTo>
                    <a:pt x="18" y="24"/>
                  </a:lnTo>
                  <a:lnTo>
                    <a:pt x="24" y="36"/>
                  </a:lnTo>
                  <a:lnTo>
                    <a:pt x="24" y="48"/>
                  </a:lnTo>
                  <a:lnTo>
                    <a:pt x="30" y="72"/>
                  </a:lnTo>
                  <a:lnTo>
                    <a:pt x="30" y="90"/>
                  </a:lnTo>
                  <a:lnTo>
                    <a:pt x="30" y="108"/>
                  </a:lnTo>
                  <a:lnTo>
                    <a:pt x="30" y="114"/>
                  </a:lnTo>
                  <a:lnTo>
                    <a:pt x="42" y="114"/>
                  </a:lnTo>
                  <a:lnTo>
                    <a:pt x="48" y="102"/>
                  </a:lnTo>
                  <a:lnTo>
                    <a:pt x="54" y="90"/>
                  </a:lnTo>
                  <a:lnTo>
                    <a:pt x="66" y="78"/>
                  </a:lnTo>
                  <a:lnTo>
                    <a:pt x="78" y="60"/>
                  </a:lnTo>
                  <a:lnTo>
                    <a:pt x="90" y="36"/>
                  </a:lnTo>
                  <a:lnTo>
                    <a:pt x="96" y="12"/>
                  </a:lnTo>
                  <a:lnTo>
                    <a:pt x="90" y="6"/>
                  </a:lnTo>
                  <a:lnTo>
                    <a:pt x="78" y="0"/>
                  </a:lnTo>
                  <a:lnTo>
                    <a:pt x="72" y="6"/>
                  </a:lnTo>
                  <a:lnTo>
                    <a:pt x="78" y="18"/>
                  </a:lnTo>
                  <a:lnTo>
                    <a:pt x="84" y="24"/>
                  </a:lnTo>
                  <a:lnTo>
                    <a:pt x="84" y="42"/>
                  </a:lnTo>
                  <a:lnTo>
                    <a:pt x="72" y="54"/>
                  </a:lnTo>
                  <a:lnTo>
                    <a:pt x="66" y="72"/>
                  </a:lnTo>
                  <a:lnTo>
                    <a:pt x="54" y="84"/>
                  </a:lnTo>
                  <a:lnTo>
                    <a:pt x="48" y="96"/>
                  </a:lnTo>
                  <a:lnTo>
                    <a:pt x="42" y="48"/>
                  </a:lnTo>
                  <a:lnTo>
                    <a:pt x="36" y="0"/>
                  </a:lnTo>
                  <a:lnTo>
                    <a:pt x="30" y="0"/>
                  </a:lnTo>
                  <a:lnTo>
                    <a:pt x="24"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87" name="Freeform 38"/>
            <p:cNvSpPr>
              <a:spLocks noChangeAspect="1"/>
            </p:cNvSpPr>
            <p:nvPr/>
          </p:nvSpPr>
          <p:spPr>
            <a:xfrm>
              <a:off x="2312" y="1061"/>
              <a:ext cx="84" cy="138"/>
            </a:xfrm>
            <a:custGeom>
              <a:avLst/>
              <a:gdLst>
                <a:gd name="txL" fmla="*/ 0 w 84"/>
                <a:gd name="txT" fmla="*/ 0 h 138"/>
                <a:gd name="txR" fmla="*/ 84 w 84"/>
                <a:gd name="txB" fmla="*/ 138 h 138"/>
              </a:gdLst>
              <a:ahLst/>
              <a:cxnLst>
                <a:cxn ang="0">
                  <a:pos x="84" y="114"/>
                </a:cxn>
                <a:cxn ang="0">
                  <a:pos x="78" y="108"/>
                </a:cxn>
                <a:cxn ang="0">
                  <a:pos x="72" y="120"/>
                </a:cxn>
                <a:cxn ang="0">
                  <a:pos x="72" y="126"/>
                </a:cxn>
                <a:cxn ang="0">
                  <a:pos x="60" y="126"/>
                </a:cxn>
                <a:cxn ang="0">
                  <a:pos x="18" y="126"/>
                </a:cxn>
                <a:cxn ang="0">
                  <a:pos x="48" y="84"/>
                </a:cxn>
                <a:cxn ang="0">
                  <a:pos x="66" y="66"/>
                </a:cxn>
                <a:cxn ang="0">
                  <a:pos x="72" y="36"/>
                </a:cxn>
                <a:cxn ang="0">
                  <a:pos x="72" y="18"/>
                </a:cxn>
                <a:cxn ang="0">
                  <a:pos x="60" y="12"/>
                </a:cxn>
                <a:cxn ang="0">
                  <a:pos x="42" y="0"/>
                </a:cxn>
                <a:cxn ang="0">
                  <a:pos x="30" y="0"/>
                </a:cxn>
                <a:cxn ang="0">
                  <a:pos x="18" y="6"/>
                </a:cxn>
                <a:cxn ang="0">
                  <a:pos x="6" y="18"/>
                </a:cxn>
                <a:cxn ang="0">
                  <a:pos x="0" y="42"/>
                </a:cxn>
                <a:cxn ang="0">
                  <a:pos x="6" y="42"/>
                </a:cxn>
                <a:cxn ang="0">
                  <a:pos x="18" y="24"/>
                </a:cxn>
                <a:cxn ang="0">
                  <a:pos x="24" y="18"/>
                </a:cxn>
                <a:cxn ang="0">
                  <a:pos x="30" y="12"/>
                </a:cxn>
                <a:cxn ang="0">
                  <a:pos x="48" y="18"/>
                </a:cxn>
                <a:cxn ang="0">
                  <a:pos x="54" y="24"/>
                </a:cxn>
                <a:cxn ang="0">
                  <a:pos x="60" y="42"/>
                </a:cxn>
                <a:cxn ang="0">
                  <a:pos x="54" y="72"/>
                </a:cxn>
                <a:cxn ang="0">
                  <a:pos x="36" y="96"/>
                </a:cxn>
                <a:cxn ang="0">
                  <a:pos x="0" y="138"/>
                </a:cxn>
                <a:cxn ang="0">
                  <a:pos x="0" y="138"/>
                </a:cxn>
                <a:cxn ang="0">
                  <a:pos x="72" y="138"/>
                </a:cxn>
                <a:cxn ang="0">
                  <a:pos x="84" y="114"/>
                </a:cxn>
              </a:cxnLst>
              <a:rect l="txL" t="txT" r="txR" b="txB"/>
              <a:pathLst>
                <a:path w="84" h="138">
                  <a:moveTo>
                    <a:pt x="84" y="114"/>
                  </a:moveTo>
                  <a:lnTo>
                    <a:pt x="78" y="108"/>
                  </a:lnTo>
                  <a:lnTo>
                    <a:pt x="72" y="120"/>
                  </a:lnTo>
                  <a:lnTo>
                    <a:pt x="72" y="126"/>
                  </a:lnTo>
                  <a:lnTo>
                    <a:pt x="60" y="126"/>
                  </a:lnTo>
                  <a:lnTo>
                    <a:pt x="18" y="126"/>
                  </a:lnTo>
                  <a:lnTo>
                    <a:pt x="48" y="84"/>
                  </a:lnTo>
                  <a:lnTo>
                    <a:pt x="66" y="66"/>
                  </a:lnTo>
                  <a:lnTo>
                    <a:pt x="72" y="36"/>
                  </a:lnTo>
                  <a:lnTo>
                    <a:pt x="72" y="18"/>
                  </a:lnTo>
                  <a:lnTo>
                    <a:pt x="60" y="12"/>
                  </a:lnTo>
                  <a:lnTo>
                    <a:pt x="42" y="0"/>
                  </a:lnTo>
                  <a:lnTo>
                    <a:pt x="30" y="0"/>
                  </a:lnTo>
                  <a:lnTo>
                    <a:pt x="18" y="6"/>
                  </a:lnTo>
                  <a:lnTo>
                    <a:pt x="6" y="18"/>
                  </a:lnTo>
                  <a:lnTo>
                    <a:pt x="0" y="42"/>
                  </a:lnTo>
                  <a:lnTo>
                    <a:pt x="6" y="42"/>
                  </a:lnTo>
                  <a:lnTo>
                    <a:pt x="18" y="24"/>
                  </a:lnTo>
                  <a:lnTo>
                    <a:pt x="24" y="18"/>
                  </a:lnTo>
                  <a:lnTo>
                    <a:pt x="30" y="12"/>
                  </a:lnTo>
                  <a:lnTo>
                    <a:pt x="48" y="18"/>
                  </a:lnTo>
                  <a:lnTo>
                    <a:pt x="54" y="24"/>
                  </a:lnTo>
                  <a:lnTo>
                    <a:pt x="60" y="42"/>
                  </a:lnTo>
                  <a:lnTo>
                    <a:pt x="54" y="72"/>
                  </a:lnTo>
                  <a:lnTo>
                    <a:pt x="36" y="96"/>
                  </a:lnTo>
                  <a:lnTo>
                    <a:pt x="0" y="138"/>
                  </a:lnTo>
                  <a:lnTo>
                    <a:pt x="72" y="138"/>
                  </a:lnTo>
                  <a:lnTo>
                    <a:pt x="84" y="11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88" name="Freeform 39"/>
            <p:cNvSpPr>
              <a:spLocks noChangeAspect="1"/>
            </p:cNvSpPr>
            <p:nvPr/>
          </p:nvSpPr>
          <p:spPr>
            <a:xfrm>
              <a:off x="2790" y="3181"/>
              <a:ext cx="90" cy="120"/>
            </a:xfrm>
            <a:custGeom>
              <a:avLst/>
              <a:gdLst>
                <a:gd name="txL" fmla="*/ 0 w 90"/>
                <a:gd name="txT" fmla="*/ 0 h 120"/>
                <a:gd name="txR" fmla="*/ 90 w 90"/>
                <a:gd name="txB" fmla="*/ 120 h 120"/>
              </a:gdLst>
              <a:ahLst/>
              <a:cxnLst>
                <a:cxn ang="0">
                  <a:pos x="0" y="12"/>
                </a:cxn>
                <a:cxn ang="0">
                  <a:pos x="12" y="12"/>
                </a:cxn>
                <a:cxn ang="0">
                  <a:pos x="12" y="24"/>
                </a:cxn>
                <a:cxn ang="0">
                  <a:pos x="18" y="36"/>
                </a:cxn>
                <a:cxn ang="0">
                  <a:pos x="18" y="54"/>
                </a:cxn>
                <a:cxn ang="0">
                  <a:pos x="24" y="78"/>
                </a:cxn>
                <a:cxn ang="0">
                  <a:pos x="24" y="96"/>
                </a:cxn>
                <a:cxn ang="0">
                  <a:pos x="24" y="114"/>
                </a:cxn>
                <a:cxn ang="0">
                  <a:pos x="24" y="120"/>
                </a:cxn>
                <a:cxn ang="0">
                  <a:pos x="30" y="120"/>
                </a:cxn>
                <a:cxn ang="0">
                  <a:pos x="36" y="114"/>
                </a:cxn>
                <a:cxn ang="0">
                  <a:pos x="48" y="96"/>
                </a:cxn>
                <a:cxn ang="0">
                  <a:pos x="60" y="84"/>
                </a:cxn>
                <a:cxn ang="0">
                  <a:pos x="72" y="60"/>
                </a:cxn>
                <a:cxn ang="0">
                  <a:pos x="84" y="36"/>
                </a:cxn>
                <a:cxn ang="0">
                  <a:pos x="90" y="18"/>
                </a:cxn>
                <a:cxn ang="0">
                  <a:pos x="84" y="6"/>
                </a:cxn>
                <a:cxn ang="0">
                  <a:pos x="78" y="0"/>
                </a:cxn>
                <a:cxn ang="0">
                  <a:pos x="72" y="6"/>
                </a:cxn>
                <a:cxn ang="0">
                  <a:pos x="66" y="6"/>
                </a:cxn>
                <a:cxn ang="0">
                  <a:pos x="66" y="18"/>
                </a:cxn>
                <a:cxn ang="0">
                  <a:pos x="72" y="18"/>
                </a:cxn>
                <a:cxn ang="0">
                  <a:pos x="78" y="24"/>
                </a:cxn>
                <a:cxn ang="0">
                  <a:pos x="78" y="30"/>
                </a:cxn>
                <a:cxn ang="0">
                  <a:pos x="78" y="42"/>
                </a:cxn>
                <a:cxn ang="0">
                  <a:pos x="66" y="60"/>
                </a:cxn>
                <a:cxn ang="0">
                  <a:pos x="48" y="90"/>
                </a:cxn>
                <a:cxn ang="0">
                  <a:pos x="42" y="96"/>
                </a:cxn>
                <a:cxn ang="0">
                  <a:pos x="36" y="72"/>
                </a:cxn>
                <a:cxn ang="0">
                  <a:pos x="36" y="54"/>
                </a:cxn>
                <a:cxn ang="0">
                  <a:pos x="36" y="30"/>
                </a:cxn>
                <a:cxn ang="0">
                  <a:pos x="30" y="6"/>
                </a:cxn>
                <a:cxn ang="0">
                  <a:pos x="30" y="0"/>
                </a:cxn>
                <a:cxn ang="0">
                  <a:pos x="24" y="0"/>
                </a:cxn>
                <a:cxn ang="0">
                  <a:pos x="18" y="6"/>
                </a:cxn>
                <a:cxn ang="0">
                  <a:pos x="0" y="6"/>
                </a:cxn>
                <a:cxn ang="0">
                  <a:pos x="0" y="12"/>
                </a:cxn>
              </a:cxnLst>
              <a:rect l="txL" t="txT" r="txR" b="txB"/>
              <a:pathLst>
                <a:path w="90" h="120">
                  <a:moveTo>
                    <a:pt x="0" y="12"/>
                  </a:moveTo>
                  <a:lnTo>
                    <a:pt x="12" y="12"/>
                  </a:lnTo>
                  <a:lnTo>
                    <a:pt x="12" y="24"/>
                  </a:lnTo>
                  <a:lnTo>
                    <a:pt x="18" y="36"/>
                  </a:lnTo>
                  <a:lnTo>
                    <a:pt x="18" y="54"/>
                  </a:lnTo>
                  <a:lnTo>
                    <a:pt x="24" y="78"/>
                  </a:lnTo>
                  <a:lnTo>
                    <a:pt x="24" y="96"/>
                  </a:lnTo>
                  <a:lnTo>
                    <a:pt x="24" y="114"/>
                  </a:lnTo>
                  <a:lnTo>
                    <a:pt x="24" y="120"/>
                  </a:lnTo>
                  <a:lnTo>
                    <a:pt x="30" y="120"/>
                  </a:lnTo>
                  <a:lnTo>
                    <a:pt x="36" y="114"/>
                  </a:lnTo>
                  <a:lnTo>
                    <a:pt x="48" y="96"/>
                  </a:lnTo>
                  <a:lnTo>
                    <a:pt x="60" y="84"/>
                  </a:lnTo>
                  <a:lnTo>
                    <a:pt x="72" y="60"/>
                  </a:lnTo>
                  <a:lnTo>
                    <a:pt x="84" y="36"/>
                  </a:lnTo>
                  <a:lnTo>
                    <a:pt x="90" y="18"/>
                  </a:lnTo>
                  <a:lnTo>
                    <a:pt x="84" y="6"/>
                  </a:lnTo>
                  <a:lnTo>
                    <a:pt x="78" y="0"/>
                  </a:lnTo>
                  <a:lnTo>
                    <a:pt x="72" y="6"/>
                  </a:lnTo>
                  <a:lnTo>
                    <a:pt x="66" y="6"/>
                  </a:lnTo>
                  <a:lnTo>
                    <a:pt x="66" y="18"/>
                  </a:lnTo>
                  <a:lnTo>
                    <a:pt x="72" y="18"/>
                  </a:lnTo>
                  <a:lnTo>
                    <a:pt x="78" y="24"/>
                  </a:lnTo>
                  <a:lnTo>
                    <a:pt x="78" y="30"/>
                  </a:lnTo>
                  <a:lnTo>
                    <a:pt x="78" y="42"/>
                  </a:lnTo>
                  <a:lnTo>
                    <a:pt x="66" y="60"/>
                  </a:lnTo>
                  <a:lnTo>
                    <a:pt x="48" y="90"/>
                  </a:lnTo>
                  <a:lnTo>
                    <a:pt x="42" y="96"/>
                  </a:lnTo>
                  <a:lnTo>
                    <a:pt x="36" y="72"/>
                  </a:lnTo>
                  <a:lnTo>
                    <a:pt x="36" y="54"/>
                  </a:lnTo>
                  <a:lnTo>
                    <a:pt x="36" y="30"/>
                  </a:lnTo>
                  <a:lnTo>
                    <a:pt x="30" y="6"/>
                  </a:lnTo>
                  <a:lnTo>
                    <a:pt x="30" y="0"/>
                  </a:lnTo>
                  <a:lnTo>
                    <a:pt x="24" y="0"/>
                  </a:lnTo>
                  <a:lnTo>
                    <a:pt x="18" y="6"/>
                  </a:lnTo>
                  <a:lnTo>
                    <a:pt x="0" y="6"/>
                  </a:lnTo>
                  <a:lnTo>
                    <a:pt x="0"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89" name="Freeform 40"/>
            <p:cNvSpPr>
              <a:spLocks noChangeAspect="1"/>
            </p:cNvSpPr>
            <p:nvPr/>
          </p:nvSpPr>
          <p:spPr>
            <a:xfrm>
              <a:off x="2892" y="3223"/>
              <a:ext cx="72" cy="143"/>
            </a:xfrm>
            <a:custGeom>
              <a:avLst/>
              <a:gdLst>
                <a:gd name="txL" fmla="*/ 0 w 72"/>
                <a:gd name="txT" fmla="*/ 0 h 143"/>
                <a:gd name="txR" fmla="*/ 72 w 72"/>
                <a:gd name="txB" fmla="*/ 143 h 143"/>
              </a:gdLst>
              <a:ahLst/>
              <a:cxnLst>
                <a:cxn ang="0">
                  <a:pos x="24" y="18"/>
                </a:cxn>
                <a:cxn ang="0">
                  <a:pos x="60" y="18"/>
                </a:cxn>
                <a:cxn ang="0">
                  <a:pos x="66" y="18"/>
                </a:cxn>
                <a:cxn ang="0">
                  <a:pos x="66" y="18"/>
                </a:cxn>
                <a:cxn ang="0">
                  <a:pos x="72" y="0"/>
                </a:cxn>
                <a:cxn ang="0">
                  <a:pos x="66" y="0"/>
                </a:cxn>
                <a:cxn ang="0">
                  <a:pos x="66" y="6"/>
                </a:cxn>
                <a:cxn ang="0">
                  <a:pos x="60" y="6"/>
                </a:cxn>
                <a:cxn ang="0">
                  <a:pos x="24" y="6"/>
                </a:cxn>
                <a:cxn ang="0">
                  <a:pos x="6" y="54"/>
                </a:cxn>
                <a:cxn ang="0">
                  <a:pos x="6" y="54"/>
                </a:cxn>
                <a:cxn ang="0">
                  <a:pos x="36" y="66"/>
                </a:cxn>
                <a:cxn ang="0">
                  <a:pos x="48" y="78"/>
                </a:cxn>
                <a:cxn ang="0">
                  <a:pos x="54" y="102"/>
                </a:cxn>
                <a:cxn ang="0">
                  <a:pos x="48" y="131"/>
                </a:cxn>
                <a:cxn ang="0">
                  <a:pos x="30" y="137"/>
                </a:cxn>
                <a:cxn ang="0">
                  <a:pos x="18" y="131"/>
                </a:cxn>
                <a:cxn ang="0">
                  <a:pos x="6" y="125"/>
                </a:cxn>
                <a:cxn ang="0">
                  <a:pos x="0" y="131"/>
                </a:cxn>
                <a:cxn ang="0">
                  <a:pos x="0" y="131"/>
                </a:cxn>
                <a:cxn ang="0">
                  <a:pos x="6" y="137"/>
                </a:cxn>
                <a:cxn ang="0">
                  <a:pos x="18" y="143"/>
                </a:cxn>
                <a:cxn ang="0">
                  <a:pos x="36" y="137"/>
                </a:cxn>
                <a:cxn ang="0">
                  <a:pos x="54" y="131"/>
                </a:cxn>
                <a:cxn ang="0">
                  <a:pos x="60" y="113"/>
                </a:cxn>
                <a:cxn ang="0">
                  <a:pos x="66" y="96"/>
                </a:cxn>
                <a:cxn ang="0">
                  <a:pos x="66" y="78"/>
                </a:cxn>
                <a:cxn ang="0">
                  <a:pos x="60" y="60"/>
                </a:cxn>
                <a:cxn ang="0">
                  <a:pos x="48" y="48"/>
                </a:cxn>
                <a:cxn ang="0">
                  <a:pos x="42" y="42"/>
                </a:cxn>
                <a:cxn ang="0">
                  <a:pos x="18" y="36"/>
                </a:cxn>
                <a:cxn ang="0">
                  <a:pos x="24" y="18"/>
                </a:cxn>
              </a:cxnLst>
              <a:rect l="txL" t="txT" r="txR" b="txB"/>
              <a:pathLst>
                <a:path w="72" h="143">
                  <a:moveTo>
                    <a:pt x="24" y="18"/>
                  </a:moveTo>
                  <a:lnTo>
                    <a:pt x="60" y="18"/>
                  </a:lnTo>
                  <a:lnTo>
                    <a:pt x="66" y="18"/>
                  </a:lnTo>
                  <a:lnTo>
                    <a:pt x="72" y="0"/>
                  </a:lnTo>
                  <a:lnTo>
                    <a:pt x="66" y="0"/>
                  </a:lnTo>
                  <a:lnTo>
                    <a:pt x="66" y="6"/>
                  </a:lnTo>
                  <a:lnTo>
                    <a:pt x="60" y="6"/>
                  </a:lnTo>
                  <a:lnTo>
                    <a:pt x="24" y="6"/>
                  </a:lnTo>
                  <a:lnTo>
                    <a:pt x="6" y="54"/>
                  </a:lnTo>
                  <a:lnTo>
                    <a:pt x="36" y="66"/>
                  </a:lnTo>
                  <a:lnTo>
                    <a:pt x="48" y="78"/>
                  </a:lnTo>
                  <a:lnTo>
                    <a:pt x="54" y="102"/>
                  </a:lnTo>
                  <a:lnTo>
                    <a:pt x="48" y="131"/>
                  </a:lnTo>
                  <a:lnTo>
                    <a:pt x="30" y="137"/>
                  </a:lnTo>
                  <a:lnTo>
                    <a:pt x="18" y="131"/>
                  </a:lnTo>
                  <a:lnTo>
                    <a:pt x="6" y="125"/>
                  </a:lnTo>
                  <a:lnTo>
                    <a:pt x="0" y="131"/>
                  </a:lnTo>
                  <a:lnTo>
                    <a:pt x="6" y="137"/>
                  </a:lnTo>
                  <a:lnTo>
                    <a:pt x="18" y="143"/>
                  </a:lnTo>
                  <a:lnTo>
                    <a:pt x="36" y="137"/>
                  </a:lnTo>
                  <a:lnTo>
                    <a:pt x="54" y="131"/>
                  </a:lnTo>
                  <a:lnTo>
                    <a:pt x="60" y="113"/>
                  </a:lnTo>
                  <a:lnTo>
                    <a:pt x="66" y="96"/>
                  </a:lnTo>
                  <a:lnTo>
                    <a:pt x="66" y="78"/>
                  </a:lnTo>
                  <a:lnTo>
                    <a:pt x="60" y="60"/>
                  </a:lnTo>
                  <a:lnTo>
                    <a:pt x="48" y="48"/>
                  </a:lnTo>
                  <a:lnTo>
                    <a:pt x="42" y="42"/>
                  </a:lnTo>
                  <a:lnTo>
                    <a:pt x="18" y="36"/>
                  </a:lnTo>
                  <a:lnTo>
                    <a:pt x="24" y="1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690" name="Freeform 41"/>
            <p:cNvSpPr>
              <a:spLocks noChangeAspect="1"/>
            </p:cNvSpPr>
            <p:nvPr/>
          </p:nvSpPr>
          <p:spPr>
            <a:xfrm>
              <a:off x="2509" y="1360"/>
              <a:ext cx="30" cy="83"/>
            </a:xfrm>
            <a:custGeom>
              <a:avLst/>
              <a:gdLst>
                <a:gd name="txL" fmla="*/ 0 w 30"/>
                <a:gd name="txT" fmla="*/ 0 h 83"/>
                <a:gd name="txR" fmla="*/ 30 w 30"/>
                <a:gd name="txB" fmla="*/ 83 h 83"/>
              </a:gdLst>
              <a:ahLst/>
              <a:cxnLst>
                <a:cxn ang="0">
                  <a:pos x="30" y="83"/>
                </a:cxn>
                <a:cxn ang="0">
                  <a:pos x="0" y="0"/>
                </a:cxn>
                <a:cxn ang="0">
                  <a:pos x="30" y="83"/>
                </a:cxn>
                <a:cxn ang="0">
                  <a:pos x="30" y="83"/>
                </a:cxn>
              </a:cxnLst>
              <a:rect l="txL" t="txT" r="txR" b="txB"/>
              <a:pathLst>
                <a:path w="30" h="83">
                  <a:moveTo>
                    <a:pt x="30" y="83"/>
                  </a:moveTo>
                  <a:lnTo>
                    <a:pt x="0" y="0"/>
                  </a:lnTo>
                  <a:lnTo>
                    <a:pt x="30" y="8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691" name="Freeform 42"/>
            <p:cNvSpPr>
              <a:spLocks noChangeAspect="1" noEditPoints="1"/>
            </p:cNvSpPr>
            <p:nvPr/>
          </p:nvSpPr>
          <p:spPr>
            <a:xfrm>
              <a:off x="2479" y="1360"/>
              <a:ext cx="30" cy="83"/>
            </a:xfrm>
            <a:custGeom>
              <a:avLst/>
              <a:gdLst>
                <a:gd name="txL" fmla="*/ 0 w 30"/>
                <a:gd name="txT" fmla="*/ 0 h 83"/>
                <a:gd name="txR" fmla="*/ 30 w 30"/>
                <a:gd name="txB" fmla="*/ 83 h 83"/>
              </a:gdLst>
              <a:ahLst/>
              <a:cxnLst>
                <a:cxn ang="0">
                  <a:pos x="30" y="0"/>
                </a:cxn>
                <a:cxn ang="0">
                  <a:pos x="0" y="83"/>
                </a:cxn>
                <a:cxn ang="0">
                  <a:pos x="30" y="0"/>
                </a:cxn>
                <a:cxn ang="0">
                  <a:pos x="30" y="0"/>
                </a:cxn>
                <a:cxn ang="0">
                  <a:pos x="30" y="0"/>
                </a:cxn>
                <a:cxn ang="0">
                  <a:pos x="30" y="0"/>
                </a:cxn>
                <a:cxn ang="0">
                  <a:pos x="30" y="0"/>
                </a:cxn>
              </a:cxnLst>
              <a:rect l="txL" t="txT" r="txR" b="txB"/>
              <a:pathLst>
                <a:path w="30" h="83">
                  <a:moveTo>
                    <a:pt x="30" y="0"/>
                  </a:moveTo>
                  <a:lnTo>
                    <a:pt x="0" y="83"/>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692" name="Freeform 43"/>
            <p:cNvSpPr>
              <a:spLocks noChangeAspect="1" noEditPoints="1"/>
            </p:cNvSpPr>
            <p:nvPr/>
          </p:nvSpPr>
          <p:spPr>
            <a:xfrm>
              <a:off x="2449" y="1443"/>
              <a:ext cx="30" cy="84"/>
            </a:xfrm>
            <a:custGeom>
              <a:avLst/>
              <a:gdLst>
                <a:gd name="txL" fmla="*/ 0 w 30"/>
                <a:gd name="txT" fmla="*/ 0 h 84"/>
                <a:gd name="txR" fmla="*/ 30 w 30"/>
                <a:gd name="txB" fmla="*/ 84 h 84"/>
              </a:gdLst>
              <a:ahLst/>
              <a:cxnLst>
                <a:cxn ang="0">
                  <a:pos x="30" y="0"/>
                </a:cxn>
                <a:cxn ang="0">
                  <a:pos x="0" y="84"/>
                </a:cxn>
                <a:cxn ang="0">
                  <a:pos x="30" y="0"/>
                </a:cxn>
                <a:cxn ang="0">
                  <a:pos x="30" y="0"/>
                </a:cxn>
                <a:cxn ang="0">
                  <a:pos x="30" y="0"/>
                </a:cxn>
                <a:cxn ang="0">
                  <a:pos x="30" y="0"/>
                </a:cxn>
                <a:cxn ang="0">
                  <a:pos x="30" y="0"/>
                </a:cxn>
              </a:cxnLst>
              <a:rect l="txL" t="txT" r="txR" b="txB"/>
              <a:pathLst>
                <a:path w="30" h="84">
                  <a:moveTo>
                    <a:pt x="30" y="0"/>
                  </a:moveTo>
                  <a:lnTo>
                    <a:pt x="0" y="84"/>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693" name="Freeform 44"/>
            <p:cNvSpPr>
              <a:spLocks noChangeAspect="1" noEditPoints="1"/>
            </p:cNvSpPr>
            <p:nvPr/>
          </p:nvSpPr>
          <p:spPr>
            <a:xfrm>
              <a:off x="2420" y="1443"/>
              <a:ext cx="29" cy="84"/>
            </a:xfrm>
            <a:custGeom>
              <a:avLst/>
              <a:gdLst>
                <a:gd name="txL" fmla="*/ 0 w 29"/>
                <a:gd name="txT" fmla="*/ 0 h 84"/>
                <a:gd name="txR" fmla="*/ 29 w 29"/>
                <a:gd name="txB" fmla="*/ 84 h 84"/>
              </a:gdLst>
              <a:ahLst/>
              <a:cxnLst>
                <a:cxn ang="0">
                  <a:pos x="29" y="84"/>
                </a:cxn>
                <a:cxn ang="0">
                  <a:pos x="0" y="0"/>
                </a:cxn>
                <a:cxn ang="0">
                  <a:pos x="29" y="84"/>
                </a:cxn>
                <a:cxn ang="0">
                  <a:pos x="29" y="84"/>
                </a:cxn>
                <a:cxn ang="0">
                  <a:pos x="29" y="84"/>
                </a:cxn>
                <a:cxn ang="0">
                  <a:pos x="29" y="84"/>
                </a:cxn>
                <a:cxn ang="0">
                  <a:pos x="29" y="84"/>
                </a:cxn>
              </a:cxnLst>
              <a:rect l="txL" t="txT" r="txR" b="txB"/>
              <a:pathLst>
                <a:path w="29" h="84">
                  <a:moveTo>
                    <a:pt x="29" y="84"/>
                  </a:moveTo>
                  <a:lnTo>
                    <a:pt x="0" y="0"/>
                  </a:lnTo>
                  <a:lnTo>
                    <a:pt x="29" y="84"/>
                  </a:lnTo>
                  <a:close/>
                  <a:moveTo>
                    <a:pt x="29" y="84"/>
                  </a:moveTo>
                  <a:lnTo>
                    <a:pt x="29"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694" name="Freeform 45"/>
            <p:cNvSpPr>
              <a:spLocks noChangeAspect="1" noEditPoints="1"/>
            </p:cNvSpPr>
            <p:nvPr/>
          </p:nvSpPr>
          <p:spPr>
            <a:xfrm>
              <a:off x="2420" y="1443"/>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695" name="Freeform 46"/>
            <p:cNvSpPr>
              <a:spLocks noChangeAspect="1" noEditPoints="1"/>
            </p:cNvSpPr>
            <p:nvPr/>
          </p:nvSpPr>
          <p:spPr>
            <a:xfrm>
              <a:off x="2384" y="1360"/>
              <a:ext cx="36" cy="83"/>
            </a:xfrm>
            <a:custGeom>
              <a:avLst/>
              <a:gdLst>
                <a:gd name="txL" fmla="*/ 0 w 36"/>
                <a:gd name="txT" fmla="*/ 0 h 83"/>
                <a:gd name="txR" fmla="*/ 36 w 36"/>
                <a:gd name="txB" fmla="*/ 83 h 83"/>
              </a:gdLst>
              <a:ahLst/>
              <a:cxnLst>
                <a:cxn ang="0">
                  <a:pos x="36" y="83"/>
                </a:cxn>
                <a:cxn ang="0">
                  <a:pos x="0" y="0"/>
                </a:cxn>
                <a:cxn ang="0">
                  <a:pos x="36" y="83"/>
                </a:cxn>
                <a:cxn ang="0">
                  <a:pos x="36" y="83"/>
                </a:cxn>
                <a:cxn ang="0">
                  <a:pos x="36" y="83"/>
                </a:cxn>
                <a:cxn ang="0">
                  <a:pos x="36" y="83"/>
                </a:cxn>
                <a:cxn ang="0">
                  <a:pos x="36" y="83"/>
                </a:cxn>
              </a:cxnLst>
              <a:rect l="txL" t="txT" r="txR" b="txB"/>
              <a:pathLst>
                <a:path w="36" h="83">
                  <a:moveTo>
                    <a:pt x="36" y="83"/>
                  </a:moveTo>
                  <a:lnTo>
                    <a:pt x="0" y="0"/>
                  </a:lnTo>
                  <a:lnTo>
                    <a:pt x="36" y="83"/>
                  </a:lnTo>
                  <a:close/>
                  <a:moveTo>
                    <a:pt x="36" y="83"/>
                  </a:moveTo>
                  <a:lnTo>
                    <a:pt x="36" y="8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696" name="Freeform 47"/>
            <p:cNvSpPr>
              <a:spLocks noChangeAspect="1" noEditPoints="1"/>
            </p:cNvSpPr>
            <p:nvPr/>
          </p:nvSpPr>
          <p:spPr>
            <a:xfrm>
              <a:off x="2354" y="1360"/>
              <a:ext cx="30" cy="83"/>
            </a:xfrm>
            <a:custGeom>
              <a:avLst/>
              <a:gdLst>
                <a:gd name="txL" fmla="*/ 0 w 30"/>
                <a:gd name="txT" fmla="*/ 0 h 83"/>
                <a:gd name="txR" fmla="*/ 30 w 30"/>
                <a:gd name="txB" fmla="*/ 83 h 83"/>
              </a:gdLst>
              <a:ahLst/>
              <a:cxnLst>
                <a:cxn ang="0">
                  <a:pos x="30" y="0"/>
                </a:cxn>
                <a:cxn ang="0">
                  <a:pos x="0" y="83"/>
                </a:cxn>
                <a:cxn ang="0">
                  <a:pos x="30" y="0"/>
                </a:cxn>
                <a:cxn ang="0">
                  <a:pos x="30" y="0"/>
                </a:cxn>
                <a:cxn ang="0">
                  <a:pos x="30" y="0"/>
                </a:cxn>
                <a:cxn ang="0">
                  <a:pos x="30" y="0"/>
                </a:cxn>
                <a:cxn ang="0">
                  <a:pos x="30" y="0"/>
                </a:cxn>
              </a:cxnLst>
              <a:rect l="txL" t="txT" r="txR" b="txB"/>
              <a:pathLst>
                <a:path w="30" h="83">
                  <a:moveTo>
                    <a:pt x="30" y="0"/>
                  </a:moveTo>
                  <a:lnTo>
                    <a:pt x="0" y="83"/>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697" name="Freeform 48"/>
            <p:cNvSpPr>
              <a:spLocks noChangeAspect="1" noEditPoints="1"/>
            </p:cNvSpPr>
            <p:nvPr/>
          </p:nvSpPr>
          <p:spPr>
            <a:xfrm>
              <a:off x="2324" y="1443"/>
              <a:ext cx="30" cy="84"/>
            </a:xfrm>
            <a:custGeom>
              <a:avLst/>
              <a:gdLst>
                <a:gd name="txL" fmla="*/ 0 w 30"/>
                <a:gd name="txT" fmla="*/ 0 h 84"/>
                <a:gd name="txR" fmla="*/ 30 w 30"/>
                <a:gd name="txB" fmla="*/ 84 h 84"/>
              </a:gdLst>
              <a:ahLst/>
              <a:cxnLst>
                <a:cxn ang="0">
                  <a:pos x="30" y="0"/>
                </a:cxn>
                <a:cxn ang="0">
                  <a:pos x="0" y="84"/>
                </a:cxn>
                <a:cxn ang="0">
                  <a:pos x="30" y="0"/>
                </a:cxn>
                <a:cxn ang="0">
                  <a:pos x="30" y="0"/>
                </a:cxn>
                <a:cxn ang="0">
                  <a:pos x="30" y="0"/>
                </a:cxn>
                <a:cxn ang="0">
                  <a:pos x="30" y="0"/>
                </a:cxn>
                <a:cxn ang="0">
                  <a:pos x="30" y="0"/>
                </a:cxn>
              </a:cxnLst>
              <a:rect l="txL" t="txT" r="txR" b="txB"/>
              <a:pathLst>
                <a:path w="30" h="84">
                  <a:moveTo>
                    <a:pt x="30" y="0"/>
                  </a:moveTo>
                  <a:lnTo>
                    <a:pt x="0" y="84"/>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698" name="Freeform 49"/>
            <p:cNvSpPr>
              <a:spLocks noChangeAspect="1" noEditPoints="1"/>
            </p:cNvSpPr>
            <p:nvPr/>
          </p:nvSpPr>
          <p:spPr>
            <a:xfrm>
              <a:off x="2294" y="1443"/>
              <a:ext cx="30" cy="84"/>
            </a:xfrm>
            <a:custGeom>
              <a:avLst/>
              <a:gdLst>
                <a:gd name="txL" fmla="*/ 0 w 30"/>
                <a:gd name="txT" fmla="*/ 0 h 84"/>
                <a:gd name="txR" fmla="*/ 30 w 30"/>
                <a:gd name="txB" fmla="*/ 84 h 84"/>
              </a:gdLst>
              <a:ahLst/>
              <a:cxnLst>
                <a:cxn ang="0">
                  <a:pos x="30" y="84"/>
                </a:cxn>
                <a:cxn ang="0">
                  <a:pos x="0" y="0"/>
                </a:cxn>
                <a:cxn ang="0">
                  <a:pos x="30" y="84"/>
                </a:cxn>
                <a:cxn ang="0">
                  <a:pos x="30" y="84"/>
                </a:cxn>
                <a:cxn ang="0">
                  <a:pos x="30" y="84"/>
                </a:cxn>
                <a:cxn ang="0">
                  <a:pos x="30" y="84"/>
                </a:cxn>
                <a:cxn ang="0">
                  <a:pos x="30" y="84"/>
                </a:cxn>
              </a:cxnLst>
              <a:rect l="txL" t="txT" r="txR" b="txB"/>
              <a:pathLst>
                <a:path w="30" h="84">
                  <a:moveTo>
                    <a:pt x="30" y="84"/>
                  </a:moveTo>
                  <a:lnTo>
                    <a:pt x="0" y="0"/>
                  </a:lnTo>
                  <a:lnTo>
                    <a:pt x="30" y="84"/>
                  </a:lnTo>
                  <a:close/>
                  <a:moveTo>
                    <a:pt x="30" y="84"/>
                  </a:moveTo>
                  <a:lnTo>
                    <a:pt x="3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699" name="Freeform 50"/>
            <p:cNvSpPr>
              <a:spLocks noChangeAspect="1" noEditPoints="1"/>
            </p:cNvSpPr>
            <p:nvPr/>
          </p:nvSpPr>
          <p:spPr>
            <a:xfrm>
              <a:off x="2264" y="1360"/>
              <a:ext cx="30" cy="83"/>
            </a:xfrm>
            <a:custGeom>
              <a:avLst/>
              <a:gdLst>
                <a:gd name="txL" fmla="*/ 0 w 30"/>
                <a:gd name="txT" fmla="*/ 0 h 83"/>
                <a:gd name="txR" fmla="*/ 30 w 30"/>
                <a:gd name="txB" fmla="*/ 83 h 83"/>
              </a:gdLst>
              <a:ahLst/>
              <a:cxnLst>
                <a:cxn ang="0">
                  <a:pos x="30" y="83"/>
                </a:cxn>
                <a:cxn ang="0">
                  <a:pos x="0" y="0"/>
                </a:cxn>
                <a:cxn ang="0">
                  <a:pos x="30" y="83"/>
                </a:cxn>
                <a:cxn ang="0">
                  <a:pos x="30" y="83"/>
                </a:cxn>
                <a:cxn ang="0">
                  <a:pos x="30" y="83"/>
                </a:cxn>
                <a:cxn ang="0">
                  <a:pos x="30" y="83"/>
                </a:cxn>
                <a:cxn ang="0">
                  <a:pos x="30" y="83"/>
                </a:cxn>
              </a:cxnLst>
              <a:rect l="txL" t="txT" r="txR" b="txB"/>
              <a:pathLst>
                <a:path w="30" h="83">
                  <a:moveTo>
                    <a:pt x="30" y="83"/>
                  </a:moveTo>
                  <a:lnTo>
                    <a:pt x="0" y="0"/>
                  </a:lnTo>
                  <a:lnTo>
                    <a:pt x="30" y="83"/>
                  </a:lnTo>
                  <a:close/>
                  <a:moveTo>
                    <a:pt x="30" y="83"/>
                  </a:moveTo>
                  <a:lnTo>
                    <a:pt x="30" y="8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00" name="Freeform 51"/>
            <p:cNvSpPr>
              <a:spLocks noChangeAspect="1" noEditPoints="1"/>
            </p:cNvSpPr>
            <p:nvPr/>
          </p:nvSpPr>
          <p:spPr>
            <a:xfrm>
              <a:off x="2234" y="1360"/>
              <a:ext cx="30" cy="83"/>
            </a:xfrm>
            <a:custGeom>
              <a:avLst/>
              <a:gdLst>
                <a:gd name="txL" fmla="*/ 0 w 30"/>
                <a:gd name="txT" fmla="*/ 0 h 83"/>
                <a:gd name="txR" fmla="*/ 30 w 30"/>
                <a:gd name="txB" fmla="*/ 83 h 83"/>
              </a:gdLst>
              <a:ahLst/>
              <a:cxnLst>
                <a:cxn ang="0">
                  <a:pos x="30" y="0"/>
                </a:cxn>
                <a:cxn ang="0">
                  <a:pos x="0" y="83"/>
                </a:cxn>
                <a:cxn ang="0">
                  <a:pos x="30" y="0"/>
                </a:cxn>
                <a:cxn ang="0">
                  <a:pos x="30" y="0"/>
                </a:cxn>
                <a:cxn ang="0">
                  <a:pos x="30" y="0"/>
                </a:cxn>
                <a:cxn ang="0">
                  <a:pos x="30" y="0"/>
                </a:cxn>
                <a:cxn ang="0">
                  <a:pos x="30" y="0"/>
                </a:cxn>
              </a:cxnLst>
              <a:rect l="txL" t="txT" r="txR" b="txB"/>
              <a:pathLst>
                <a:path w="30" h="83">
                  <a:moveTo>
                    <a:pt x="30" y="0"/>
                  </a:moveTo>
                  <a:lnTo>
                    <a:pt x="0" y="83"/>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01" name="Freeform 52"/>
            <p:cNvSpPr>
              <a:spLocks noChangeAspect="1" noEditPoints="1"/>
            </p:cNvSpPr>
            <p:nvPr/>
          </p:nvSpPr>
          <p:spPr>
            <a:xfrm>
              <a:off x="2204" y="1443"/>
              <a:ext cx="30" cy="84"/>
            </a:xfrm>
            <a:custGeom>
              <a:avLst/>
              <a:gdLst>
                <a:gd name="txL" fmla="*/ 0 w 30"/>
                <a:gd name="txT" fmla="*/ 0 h 84"/>
                <a:gd name="txR" fmla="*/ 30 w 30"/>
                <a:gd name="txB" fmla="*/ 84 h 84"/>
              </a:gdLst>
              <a:ahLst/>
              <a:cxnLst>
                <a:cxn ang="0">
                  <a:pos x="30" y="0"/>
                </a:cxn>
                <a:cxn ang="0">
                  <a:pos x="0" y="84"/>
                </a:cxn>
                <a:cxn ang="0">
                  <a:pos x="30" y="0"/>
                </a:cxn>
                <a:cxn ang="0">
                  <a:pos x="30" y="0"/>
                </a:cxn>
                <a:cxn ang="0">
                  <a:pos x="30" y="0"/>
                </a:cxn>
                <a:cxn ang="0">
                  <a:pos x="30" y="0"/>
                </a:cxn>
                <a:cxn ang="0">
                  <a:pos x="30" y="0"/>
                </a:cxn>
              </a:cxnLst>
              <a:rect l="txL" t="txT" r="txR" b="txB"/>
              <a:pathLst>
                <a:path w="30" h="84">
                  <a:moveTo>
                    <a:pt x="30" y="0"/>
                  </a:moveTo>
                  <a:lnTo>
                    <a:pt x="0" y="84"/>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02" name="Freeform 53"/>
            <p:cNvSpPr>
              <a:spLocks noChangeAspect="1" noEditPoints="1"/>
            </p:cNvSpPr>
            <p:nvPr/>
          </p:nvSpPr>
          <p:spPr>
            <a:xfrm>
              <a:off x="2174" y="1443"/>
              <a:ext cx="30" cy="84"/>
            </a:xfrm>
            <a:custGeom>
              <a:avLst/>
              <a:gdLst>
                <a:gd name="txL" fmla="*/ 0 w 30"/>
                <a:gd name="txT" fmla="*/ 0 h 84"/>
                <a:gd name="txR" fmla="*/ 30 w 30"/>
                <a:gd name="txB" fmla="*/ 84 h 84"/>
              </a:gdLst>
              <a:ahLst/>
              <a:cxnLst>
                <a:cxn ang="0">
                  <a:pos x="30" y="84"/>
                </a:cxn>
                <a:cxn ang="0">
                  <a:pos x="0" y="0"/>
                </a:cxn>
                <a:cxn ang="0">
                  <a:pos x="30" y="84"/>
                </a:cxn>
                <a:cxn ang="0">
                  <a:pos x="30" y="84"/>
                </a:cxn>
                <a:cxn ang="0">
                  <a:pos x="30" y="84"/>
                </a:cxn>
                <a:cxn ang="0">
                  <a:pos x="30" y="84"/>
                </a:cxn>
                <a:cxn ang="0">
                  <a:pos x="30" y="84"/>
                </a:cxn>
              </a:cxnLst>
              <a:rect l="txL" t="txT" r="txR" b="txB"/>
              <a:pathLst>
                <a:path w="30" h="84">
                  <a:moveTo>
                    <a:pt x="30" y="84"/>
                  </a:moveTo>
                  <a:lnTo>
                    <a:pt x="0" y="0"/>
                  </a:lnTo>
                  <a:lnTo>
                    <a:pt x="30" y="84"/>
                  </a:lnTo>
                  <a:close/>
                  <a:moveTo>
                    <a:pt x="30" y="84"/>
                  </a:moveTo>
                  <a:lnTo>
                    <a:pt x="3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03" name="Freeform 54"/>
            <p:cNvSpPr>
              <a:spLocks noChangeAspect="1" noEditPoints="1"/>
            </p:cNvSpPr>
            <p:nvPr/>
          </p:nvSpPr>
          <p:spPr>
            <a:xfrm>
              <a:off x="2144" y="1360"/>
              <a:ext cx="30" cy="83"/>
            </a:xfrm>
            <a:custGeom>
              <a:avLst/>
              <a:gdLst>
                <a:gd name="txL" fmla="*/ 0 w 30"/>
                <a:gd name="txT" fmla="*/ 0 h 83"/>
                <a:gd name="txR" fmla="*/ 30 w 30"/>
                <a:gd name="txB" fmla="*/ 83 h 83"/>
              </a:gdLst>
              <a:ahLst/>
              <a:cxnLst>
                <a:cxn ang="0">
                  <a:pos x="30" y="83"/>
                </a:cxn>
                <a:cxn ang="0">
                  <a:pos x="0" y="0"/>
                </a:cxn>
                <a:cxn ang="0">
                  <a:pos x="30" y="83"/>
                </a:cxn>
                <a:cxn ang="0">
                  <a:pos x="30" y="83"/>
                </a:cxn>
                <a:cxn ang="0">
                  <a:pos x="30" y="83"/>
                </a:cxn>
                <a:cxn ang="0">
                  <a:pos x="30" y="83"/>
                </a:cxn>
                <a:cxn ang="0">
                  <a:pos x="30" y="83"/>
                </a:cxn>
              </a:cxnLst>
              <a:rect l="txL" t="txT" r="txR" b="txB"/>
              <a:pathLst>
                <a:path w="30" h="83">
                  <a:moveTo>
                    <a:pt x="30" y="83"/>
                  </a:moveTo>
                  <a:lnTo>
                    <a:pt x="0" y="0"/>
                  </a:lnTo>
                  <a:lnTo>
                    <a:pt x="30" y="83"/>
                  </a:lnTo>
                  <a:close/>
                  <a:moveTo>
                    <a:pt x="30" y="83"/>
                  </a:moveTo>
                  <a:lnTo>
                    <a:pt x="30" y="8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04" name="Freeform 55"/>
            <p:cNvSpPr>
              <a:spLocks noChangeAspect="1" noEditPoints="1"/>
            </p:cNvSpPr>
            <p:nvPr/>
          </p:nvSpPr>
          <p:spPr>
            <a:xfrm>
              <a:off x="2115" y="1360"/>
              <a:ext cx="29" cy="83"/>
            </a:xfrm>
            <a:custGeom>
              <a:avLst/>
              <a:gdLst>
                <a:gd name="txL" fmla="*/ 0 w 29"/>
                <a:gd name="txT" fmla="*/ 0 h 83"/>
                <a:gd name="txR" fmla="*/ 29 w 29"/>
                <a:gd name="txB" fmla="*/ 83 h 83"/>
              </a:gdLst>
              <a:ahLst/>
              <a:cxnLst>
                <a:cxn ang="0">
                  <a:pos x="29" y="0"/>
                </a:cxn>
                <a:cxn ang="0">
                  <a:pos x="0" y="83"/>
                </a:cxn>
                <a:cxn ang="0">
                  <a:pos x="29" y="0"/>
                </a:cxn>
                <a:cxn ang="0">
                  <a:pos x="29" y="0"/>
                </a:cxn>
                <a:cxn ang="0">
                  <a:pos x="29" y="0"/>
                </a:cxn>
                <a:cxn ang="0">
                  <a:pos x="29" y="0"/>
                </a:cxn>
                <a:cxn ang="0">
                  <a:pos x="29" y="0"/>
                </a:cxn>
              </a:cxnLst>
              <a:rect l="txL" t="txT" r="txR" b="txB"/>
              <a:pathLst>
                <a:path w="29" h="83">
                  <a:moveTo>
                    <a:pt x="29" y="0"/>
                  </a:moveTo>
                  <a:lnTo>
                    <a:pt x="0" y="83"/>
                  </a:lnTo>
                  <a:lnTo>
                    <a:pt x="29" y="0"/>
                  </a:lnTo>
                  <a:close/>
                  <a:moveTo>
                    <a:pt x="29" y="0"/>
                  </a:moveTo>
                  <a:lnTo>
                    <a:pt x="29"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05" name="Freeform 56"/>
            <p:cNvSpPr>
              <a:spLocks noChangeAspect="1" noEditPoints="1"/>
            </p:cNvSpPr>
            <p:nvPr/>
          </p:nvSpPr>
          <p:spPr>
            <a:xfrm>
              <a:off x="2085" y="1443"/>
              <a:ext cx="30" cy="84"/>
            </a:xfrm>
            <a:custGeom>
              <a:avLst/>
              <a:gdLst>
                <a:gd name="txL" fmla="*/ 0 w 30"/>
                <a:gd name="txT" fmla="*/ 0 h 84"/>
                <a:gd name="txR" fmla="*/ 30 w 30"/>
                <a:gd name="txB" fmla="*/ 84 h 84"/>
              </a:gdLst>
              <a:ahLst/>
              <a:cxnLst>
                <a:cxn ang="0">
                  <a:pos x="30" y="0"/>
                </a:cxn>
                <a:cxn ang="0">
                  <a:pos x="0" y="84"/>
                </a:cxn>
                <a:cxn ang="0">
                  <a:pos x="30" y="0"/>
                </a:cxn>
                <a:cxn ang="0">
                  <a:pos x="30" y="0"/>
                </a:cxn>
                <a:cxn ang="0">
                  <a:pos x="30" y="0"/>
                </a:cxn>
                <a:cxn ang="0">
                  <a:pos x="30" y="0"/>
                </a:cxn>
                <a:cxn ang="0">
                  <a:pos x="30" y="0"/>
                </a:cxn>
              </a:cxnLst>
              <a:rect l="txL" t="txT" r="txR" b="txB"/>
              <a:pathLst>
                <a:path w="30" h="84">
                  <a:moveTo>
                    <a:pt x="30" y="0"/>
                  </a:moveTo>
                  <a:lnTo>
                    <a:pt x="0" y="84"/>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06" name="Freeform 57"/>
            <p:cNvSpPr>
              <a:spLocks noChangeAspect="1" noEditPoints="1"/>
            </p:cNvSpPr>
            <p:nvPr/>
          </p:nvSpPr>
          <p:spPr>
            <a:xfrm>
              <a:off x="2049" y="1437"/>
              <a:ext cx="36" cy="90"/>
            </a:xfrm>
            <a:custGeom>
              <a:avLst/>
              <a:gdLst>
                <a:gd name="txL" fmla="*/ 0 w 36"/>
                <a:gd name="txT" fmla="*/ 0 h 90"/>
                <a:gd name="txR" fmla="*/ 36 w 36"/>
                <a:gd name="txB" fmla="*/ 90 h 90"/>
              </a:gdLst>
              <a:ahLst/>
              <a:cxnLst>
                <a:cxn ang="0">
                  <a:pos x="36" y="90"/>
                </a:cxn>
                <a:cxn ang="0">
                  <a:pos x="0" y="0"/>
                </a:cxn>
                <a:cxn ang="0">
                  <a:pos x="36" y="90"/>
                </a:cxn>
                <a:cxn ang="0">
                  <a:pos x="36" y="90"/>
                </a:cxn>
                <a:cxn ang="0">
                  <a:pos x="36" y="90"/>
                </a:cxn>
                <a:cxn ang="0">
                  <a:pos x="36" y="90"/>
                </a:cxn>
                <a:cxn ang="0">
                  <a:pos x="36" y="90"/>
                </a:cxn>
              </a:cxnLst>
              <a:rect l="txL" t="txT" r="txR" b="txB"/>
              <a:pathLst>
                <a:path w="36" h="90">
                  <a:moveTo>
                    <a:pt x="36" y="90"/>
                  </a:moveTo>
                  <a:lnTo>
                    <a:pt x="0" y="0"/>
                  </a:lnTo>
                  <a:lnTo>
                    <a:pt x="36" y="90"/>
                  </a:lnTo>
                  <a:close/>
                  <a:moveTo>
                    <a:pt x="36" y="90"/>
                  </a:moveTo>
                  <a:lnTo>
                    <a:pt x="36" y="9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07" name="Freeform 58"/>
            <p:cNvSpPr>
              <a:spLocks noChangeAspect="1"/>
            </p:cNvSpPr>
            <p:nvPr/>
          </p:nvSpPr>
          <p:spPr>
            <a:xfrm>
              <a:off x="1923" y="1127"/>
              <a:ext cx="120" cy="137"/>
            </a:xfrm>
            <a:custGeom>
              <a:avLst/>
              <a:gdLst>
                <a:gd name="txL" fmla="*/ 0 w 120"/>
                <a:gd name="txT" fmla="*/ 0 h 137"/>
                <a:gd name="txR" fmla="*/ 120 w 120"/>
                <a:gd name="txB" fmla="*/ 137 h 137"/>
              </a:gdLst>
              <a:ahLst/>
              <a:cxnLst>
                <a:cxn ang="0">
                  <a:pos x="54" y="78"/>
                </a:cxn>
                <a:cxn ang="0">
                  <a:pos x="0" y="78"/>
                </a:cxn>
                <a:cxn ang="0">
                  <a:pos x="0" y="60"/>
                </a:cxn>
                <a:cxn ang="0">
                  <a:pos x="54" y="60"/>
                </a:cxn>
                <a:cxn ang="0">
                  <a:pos x="54" y="0"/>
                </a:cxn>
                <a:cxn ang="0">
                  <a:pos x="66" y="0"/>
                </a:cxn>
                <a:cxn ang="0">
                  <a:pos x="66" y="60"/>
                </a:cxn>
                <a:cxn ang="0">
                  <a:pos x="120" y="60"/>
                </a:cxn>
                <a:cxn ang="0">
                  <a:pos x="120" y="78"/>
                </a:cxn>
                <a:cxn ang="0">
                  <a:pos x="66" y="78"/>
                </a:cxn>
                <a:cxn ang="0">
                  <a:pos x="66" y="137"/>
                </a:cxn>
                <a:cxn ang="0">
                  <a:pos x="54" y="137"/>
                </a:cxn>
                <a:cxn ang="0">
                  <a:pos x="54" y="78"/>
                </a:cxn>
              </a:cxnLst>
              <a:rect l="txL" t="txT" r="txR" b="txB"/>
              <a:pathLst>
                <a:path w="120" h="137">
                  <a:moveTo>
                    <a:pt x="54" y="78"/>
                  </a:moveTo>
                  <a:lnTo>
                    <a:pt x="0" y="78"/>
                  </a:lnTo>
                  <a:lnTo>
                    <a:pt x="0" y="60"/>
                  </a:lnTo>
                  <a:lnTo>
                    <a:pt x="54" y="60"/>
                  </a:lnTo>
                  <a:lnTo>
                    <a:pt x="54" y="0"/>
                  </a:lnTo>
                  <a:lnTo>
                    <a:pt x="66" y="0"/>
                  </a:lnTo>
                  <a:lnTo>
                    <a:pt x="66" y="60"/>
                  </a:lnTo>
                  <a:lnTo>
                    <a:pt x="120" y="60"/>
                  </a:lnTo>
                  <a:lnTo>
                    <a:pt x="120" y="78"/>
                  </a:lnTo>
                  <a:lnTo>
                    <a:pt x="66" y="78"/>
                  </a:lnTo>
                  <a:lnTo>
                    <a:pt x="66" y="137"/>
                  </a:lnTo>
                  <a:lnTo>
                    <a:pt x="54" y="137"/>
                  </a:lnTo>
                  <a:lnTo>
                    <a:pt x="54" y="7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708" name="Rectangle 59"/>
            <p:cNvSpPr>
              <a:spLocks noChangeAspect="1"/>
            </p:cNvSpPr>
            <p:nvPr/>
          </p:nvSpPr>
          <p:spPr>
            <a:xfrm>
              <a:off x="2551" y="1187"/>
              <a:ext cx="120" cy="18"/>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27709" name="Freeform 60"/>
            <p:cNvSpPr>
              <a:spLocks noChangeAspect="1"/>
            </p:cNvSpPr>
            <p:nvPr/>
          </p:nvSpPr>
          <p:spPr>
            <a:xfrm>
              <a:off x="3645" y="1354"/>
              <a:ext cx="36" cy="89"/>
            </a:xfrm>
            <a:custGeom>
              <a:avLst/>
              <a:gdLst>
                <a:gd name="txL" fmla="*/ 0 w 36"/>
                <a:gd name="txT" fmla="*/ 0 h 89"/>
                <a:gd name="txR" fmla="*/ 36 w 36"/>
                <a:gd name="txB" fmla="*/ 89 h 89"/>
              </a:gdLst>
              <a:ahLst/>
              <a:cxnLst>
                <a:cxn ang="0">
                  <a:pos x="36" y="89"/>
                </a:cxn>
                <a:cxn ang="0">
                  <a:pos x="0" y="0"/>
                </a:cxn>
                <a:cxn ang="0">
                  <a:pos x="36" y="89"/>
                </a:cxn>
                <a:cxn ang="0">
                  <a:pos x="36" y="89"/>
                </a:cxn>
              </a:cxnLst>
              <a:rect l="txL" t="txT" r="txR" b="txB"/>
              <a:pathLst>
                <a:path w="36" h="89">
                  <a:moveTo>
                    <a:pt x="36" y="89"/>
                  </a:moveTo>
                  <a:lnTo>
                    <a:pt x="0" y="0"/>
                  </a:lnTo>
                  <a:lnTo>
                    <a:pt x="36" y="8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10" name="Freeform 61"/>
            <p:cNvSpPr>
              <a:spLocks noChangeAspect="1" noEditPoints="1"/>
            </p:cNvSpPr>
            <p:nvPr/>
          </p:nvSpPr>
          <p:spPr>
            <a:xfrm>
              <a:off x="3616" y="1354"/>
              <a:ext cx="29" cy="89"/>
            </a:xfrm>
            <a:custGeom>
              <a:avLst/>
              <a:gdLst>
                <a:gd name="txL" fmla="*/ 0 w 29"/>
                <a:gd name="txT" fmla="*/ 0 h 89"/>
                <a:gd name="txR" fmla="*/ 29 w 29"/>
                <a:gd name="txB" fmla="*/ 89 h 89"/>
              </a:gdLst>
              <a:ahLst/>
              <a:cxnLst>
                <a:cxn ang="0">
                  <a:pos x="29" y="0"/>
                </a:cxn>
                <a:cxn ang="0">
                  <a:pos x="0" y="89"/>
                </a:cxn>
                <a:cxn ang="0">
                  <a:pos x="29" y="0"/>
                </a:cxn>
                <a:cxn ang="0">
                  <a:pos x="29" y="0"/>
                </a:cxn>
                <a:cxn ang="0">
                  <a:pos x="29" y="0"/>
                </a:cxn>
                <a:cxn ang="0">
                  <a:pos x="29" y="0"/>
                </a:cxn>
                <a:cxn ang="0">
                  <a:pos x="29" y="0"/>
                </a:cxn>
              </a:cxnLst>
              <a:rect l="txL" t="txT" r="txR" b="txB"/>
              <a:pathLst>
                <a:path w="29" h="89">
                  <a:moveTo>
                    <a:pt x="29" y="0"/>
                  </a:moveTo>
                  <a:lnTo>
                    <a:pt x="0" y="89"/>
                  </a:lnTo>
                  <a:lnTo>
                    <a:pt x="29" y="0"/>
                  </a:lnTo>
                  <a:close/>
                  <a:moveTo>
                    <a:pt x="29" y="0"/>
                  </a:moveTo>
                  <a:lnTo>
                    <a:pt x="29"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11" name="Freeform 62"/>
            <p:cNvSpPr>
              <a:spLocks noChangeAspect="1" noEditPoints="1"/>
            </p:cNvSpPr>
            <p:nvPr/>
          </p:nvSpPr>
          <p:spPr>
            <a:xfrm>
              <a:off x="3586" y="1443"/>
              <a:ext cx="30" cy="84"/>
            </a:xfrm>
            <a:custGeom>
              <a:avLst/>
              <a:gdLst>
                <a:gd name="txL" fmla="*/ 0 w 30"/>
                <a:gd name="txT" fmla="*/ 0 h 84"/>
                <a:gd name="txR" fmla="*/ 30 w 30"/>
                <a:gd name="txB" fmla="*/ 84 h 84"/>
              </a:gdLst>
              <a:ahLst/>
              <a:cxnLst>
                <a:cxn ang="0">
                  <a:pos x="30" y="0"/>
                </a:cxn>
                <a:cxn ang="0">
                  <a:pos x="0" y="84"/>
                </a:cxn>
                <a:cxn ang="0">
                  <a:pos x="30" y="0"/>
                </a:cxn>
                <a:cxn ang="0">
                  <a:pos x="30" y="0"/>
                </a:cxn>
                <a:cxn ang="0">
                  <a:pos x="30" y="0"/>
                </a:cxn>
                <a:cxn ang="0">
                  <a:pos x="30" y="0"/>
                </a:cxn>
                <a:cxn ang="0">
                  <a:pos x="30" y="0"/>
                </a:cxn>
              </a:cxnLst>
              <a:rect l="txL" t="txT" r="txR" b="txB"/>
              <a:pathLst>
                <a:path w="30" h="84">
                  <a:moveTo>
                    <a:pt x="30" y="0"/>
                  </a:moveTo>
                  <a:lnTo>
                    <a:pt x="0" y="84"/>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12" name="Freeform 63"/>
            <p:cNvSpPr>
              <a:spLocks noChangeAspect="1" noEditPoints="1"/>
            </p:cNvSpPr>
            <p:nvPr/>
          </p:nvSpPr>
          <p:spPr>
            <a:xfrm>
              <a:off x="3556" y="1443"/>
              <a:ext cx="30" cy="84"/>
            </a:xfrm>
            <a:custGeom>
              <a:avLst/>
              <a:gdLst>
                <a:gd name="txL" fmla="*/ 0 w 30"/>
                <a:gd name="txT" fmla="*/ 0 h 84"/>
                <a:gd name="txR" fmla="*/ 30 w 30"/>
                <a:gd name="txB" fmla="*/ 84 h 84"/>
              </a:gdLst>
              <a:ahLst/>
              <a:cxnLst>
                <a:cxn ang="0">
                  <a:pos x="30" y="84"/>
                </a:cxn>
                <a:cxn ang="0">
                  <a:pos x="0" y="0"/>
                </a:cxn>
                <a:cxn ang="0">
                  <a:pos x="30" y="84"/>
                </a:cxn>
                <a:cxn ang="0">
                  <a:pos x="30" y="84"/>
                </a:cxn>
                <a:cxn ang="0">
                  <a:pos x="30" y="84"/>
                </a:cxn>
                <a:cxn ang="0">
                  <a:pos x="30" y="84"/>
                </a:cxn>
                <a:cxn ang="0">
                  <a:pos x="30" y="84"/>
                </a:cxn>
              </a:cxnLst>
              <a:rect l="txL" t="txT" r="txR" b="txB"/>
              <a:pathLst>
                <a:path w="30" h="84">
                  <a:moveTo>
                    <a:pt x="30" y="84"/>
                  </a:moveTo>
                  <a:lnTo>
                    <a:pt x="0" y="0"/>
                  </a:lnTo>
                  <a:lnTo>
                    <a:pt x="30" y="84"/>
                  </a:lnTo>
                  <a:close/>
                  <a:moveTo>
                    <a:pt x="30" y="84"/>
                  </a:moveTo>
                  <a:lnTo>
                    <a:pt x="3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13" name="Freeform 64"/>
            <p:cNvSpPr>
              <a:spLocks noChangeAspect="1" noEditPoints="1"/>
            </p:cNvSpPr>
            <p:nvPr/>
          </p:nvSpPr>
          <p:spPr>
            <a:xfrm>
              <a:off x="3556" y="1443"/>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14" name="Freeform 65"/>
            <p:cNvSpPr>
              <a:spLocks noChangeAspect="1" noEditPoints="1"/>
            </p:cNvSpPr>
            <p:nvPr/>
          </p:nvSpPr>
          <p:spPr>
            <a:xfrm>
              <a:off x="3526" y="1354"/>
              <a:ext cx="30" cy="89"/>
            </a:xfrm>
            <a:custGeom>
              <a:avLst/>
              <a:gdLst>
                <a:gd name="txL" fmla="*/ 0 w 30"/>
                <a:gd name="txT" fmla="*/ 0 h 89"/>
                <a:gd name="txR" fmla="*/ 30 w 30"/>
                <a:gd name="txB" fmla="*/ 89 h 89"/>
              </a:gdLst>
              <a:ahLst/>
              <a:cxnLst>
                <a:cxn ang="0">
                  <a:pos x="30" y="89"/>
                </a:cxn>
                <a:cxn ang="0">
                  <a:pos x="0" y="0"/>
                </a:cxn>
                <a:cxn ang="0">
                  <a:pos x="30" y="89"/>
                </a:cxn>
                <a:cxn ang="0">
                  <a:pos x="30" y="89"/>
                </a:cxn>
                <a:cxn ang="0">
                  <a:pos x="30" y="89"/>
                </a:cxn>
                <a:cxn ang="0">
                  <a:pos x="30" y="89"/>
                </a:cxn>
                <a:cxn ang="0">
                  <a:pos x="30" y="89"/>
                </a:cxn>
              </a:cxnLst>
              <a:rect l="txL" t="txT" r="txR" b="txB"/>
              <a:pathLst>
                <a:path w="30" h="89">
                  <a:moveTo>
                    <a:pt x="30" y="89"/>
                  </a:moveTo>
                  <a:lnTo>
                    <a:pt x="0" y="0"/>
                  </a:lnTo>
                  <a:lnTo>
                    <a:pt x="30" y="89"/>
                  </a:lnTo>
                  <a:close/>
                  <a:moveTo>
                    <a:pt x="30" y="89"/>
                  </a:moveTo>
                  <a:lnTo>
                    <a:pt x="30" y="8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15" name="Freeform 66"/>
            <p:cNvSpPr>
              <a:spLocks noChangeAspect="1" noEditPoints="1"/>
            </p:cNvSpPr>
            <p:nvPr/>
          </p:nvSpPr>
          <p:spPr>
            <a:xfrm>
              <a:off x="3496" y="1354"/>
              <a:ext cx="30" cy="89"/>
            </a:xfrm>
            <a:custGeom>
              <a:avLst/>
              <a:gdLst>
                <a:gd name="txL" fmla="*/ 0 w 30"/>
                <a:gd name="txT" fmla="*/ 0 h 89"/>
                <a:gd name="txR" fmla="*/ 30 w 30"/>
                <a:gd name="txB" fmla="*/ 89 h 89"/>
              </a:gdLst>
              <a:ahLst/>
              <a:cxnLst>
                <a:cxn ang="0">
                  <a:pos x="30" y="0"/>
                </a:cxn>
                <a:cxn ang="0">
                  <a:pos x="0" y="89"/>
                </a:cxn>
                <a:cxn ang="0">
                  <a:pos x="30" y="0"/>
                </a:cxn>
                <a:cxn ang="0">
                  <a:pos x="30" y="0"/>
                </a:cxn>
                <a:cxn ang="0">
                  <a:pos x="30" y="0"/>
                </a:cxn>
                <a:cxn ang="0">
                  <a:pos x="30" y="0"/>
                </a:cxn>
                <a:cxn ang="0">
                  <a:pos x="30" y="0"/>
                </a:cxn>
              </a:cxnLst>
              <a:rect l="txL" t="txT" r="txR" b="txB"/>
              <a:pathLst>
                <a:path w="30" h="89">
                  <a:moveTo>
                    <a:pt x="30" y="0"/>
                  </a:moveTo>
                  <a:lnTo>
                    <a:pt x="0" y="89"/>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16" name="Freeform 67"/>
            <p:cNvSpPr>
              <a:spLocks noChangeAspect="1" noEditPoints="1"/>
            </p:cNvSpPr>
            <p:nvPr/>
          </p:nvSpPr>
          <p:spPr>
            <a:xfrm>
              <a:off x="3466" y="1443"/>
              <a:ext cx="30" cy="84"/>
            </a:xfrm>
            <a:custGeom>
              <a:avLst/>
              <a:gdLst>
                <a:gd name="txL" fmla="*/ 0 w 30"/>
                <a:gd name="txT" fmla="*/ 0 h 84"/>
                <a:gd name="txR" fmla="*/ 30 w 30"/>
                <a:gd name="txB" fmla="*/ 84 h 84"/>
              </a:gdLst>
              <a:ahLst/>
              <a:cxnLst>
                <a:cxn ang="0">
                  <a:pos x="30" y="0"/>
                </a:cxn>
                <a:cxn ang="0">
                  <a:pos x="0" y="84"/>
                </a:cxn>
                <a:cxn ang="0">
                  <a:pos x="30" y="0"/>
                </a:cxn>
                <a:cxn ang="0">
                  <a:pos x="30" y="0"/>
                </a:cxn>
                <a:cxn ang="0">
                  <a:pos x="30" y="0"/>
                </a:cxn>
                <a:cxn ang="0">
                  <a:pos x="30" y="0"/>
                </a:cxn>
                <a:cxn ang="0">
                  <a:pos x="30" y="0"/>
                </a:cxn>
              </a:cxnLst>
              <a:rect l="txL" t="txT" r="txR" b="txB"/>
              <a:pathLst>
                <a:path w="30" h="84">
                  <a:moveTo>
                    <a:pt x="30" y="0"/>
                  </a:moveTo>
                  <a:lnTo>
                    <a:pt x="0" y="84"/>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17" name="Freeform 68"/>
            <p:cNvSpPr>
              <a:spLocks noChangeAspect="1" noEditPoints="1"/>
            </p:cNvSpPr>
            <p:nvPr/>
          </p:nvSpPr>
          <p:spPr>
            <a:xfrm>
              <a:off x="3436" y="1443"/>
              <a:ext cx="30" cy="84"/>
            </a:xfrm>
            <a:custGeom>
              <a:avLst/>
              <a:gdLst>
                <a:gd name="txL" fmla="*/ 0 w 30"/>
                <a:gd name="txT" fmla="*/ 0 h 84"/>
                <a:gd name="txR" fmla="*/ 30 w 30"/>
                <a:gd name="txB" fmla="*/ 84 h 84"/>
              </a:gdLst>
              <a:ahLst/>
              <a:cxnLst>
                <a:cxn ang="0">
                  <a:pos x="30" y="84"/>
                </a:cxn>
                <a:cxn ang="0">
                  <a:pos x="0" y="0"/>
                </a:cxn>
                <a:cxn ang="0">
                  <a:pos x="30" y="84"/>
                </a:cxn>
                <a:cxn ang="0">
                  <a:pos x="30" y="84"/>
                </a:cxn>
                <a:cxn ang="0">
                  <a:pos x="30" y="84"/>
                </a:cxn>
                <a:cxn ang="0">
                  <a:pos x="30" y="84"/>
                </a:cxn>
                <a:cxn ang="0">
                  <a:pos x="30" y="84"/>
                </a:cxn>
              </a:cxnLst>
              <a:rect l="txL" t="txT" r="txR" b="txB"/>
              <a:pathLst>
                <a:path w="30" h="84">
                  <a:moveTo>
                    <a:pt x="30" y="84"/>
                  </a:moveTo>
                  <a:lnTo>
                    <a:pt x="0" y="0"/>
                  </a:lnTo>
                  <a:lnTo>
                    <a:pt x="30" y="84"/>
                  </a:lnTo>
                  <a:close/>
                  <a:moveTo>
                    <a:pt x="30" y="84"/>
                  </a:moveTo>
                  <a:lnTo>
                    <a:pt x="3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18" name="Freeform 69"/>
            <p:cNvSpPr>
              <a:spLocks noChangeAspect="1" noEditPoints="1"/>
            </p:cNvSpPr>
            <p:nvPr/>
          </p:nvSpPr>
          <p:spPr>
            <a:xfrm>
              <a:off x="3406" y="1354"/>
              <a:ext cx="30" cy="89"/>
            </a:xfrm>
            <a:custGeom>
              <a:avLst/>
              <a:gdLst>
                <a:gd name="txL" fmla="*/ 0 w 30"/>
                <a:gd name="txT" fmla="*/ 0 h 89"/>
                <a:gd name="txR" fmla="*/ 30 w 30"/>
                <a:gd name="txB" fmla="*/ 89 h 89"/>
              </a:gdLst>
              <a:ahLst/>
              <a:cxnLst>
                <a:cxn ang="0">
                  <a:pos x="30" y="89"/>
                </a:cxn>
                <a:cxn ang="0">
                  <a:pos x="0" y="0"/>
                </a:cxn>
                <a:cxn ang="0">
                  <a:pos x="30" y="89"/>
                </a:cxn>
                <a:cxn ang="0">
                  <a:pos x="30" y="89"/>
                </a:cxn>
                <a:cxn ang="0">
                  <a:pos x="30" y="89"/>
                </a:cxn>
                <a:cxn ang="0">
                  <a:pos x="30" y="89"/>
                </a:cxn>
                <a:cxn ang="0">
                  <a:pos x="30" y="89"/>
                </a:cxn>
              </a:cxnLst>
              <a:rect l="txL" t="txT" r="txR" b="txB"/>
              <a:pathLst>
                <a:path w="30" h="89">
                  <a:moveTo>
                    <a:pt x="30" y="89"/>
                  </a:moveTo>
                  <a:lnTo>
                    <a:pt x="0" y="0"/>
                  </a:lnTo>
                  <a:lnTo>
                    <a:pt x="30" y="89"/>
                  </a:lnTo>
                  <a:close/>
                  <a:moveTo>
                    <a:pt x="30" y="89"/>
                  </a:moveTo>
                  <a:lnTo>
                    <a:pt x="30" y="8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19" name="Freeform 70"/>
            <p:cNvSpPr>
              <a:spLocks noChangeAspect="1" noEditPoints="1"/>
            </p:cNvSpPr>
            <p:nvPr/>
          </p:nvSpPr>
          <p:spPr>
            <a:xfrm>
              <a:off x="3376" y="1354"/>
              <a:ext cx="30" cy="89"/>
            </a:xfrm>
            <a:custGeom>
              <a:avLst/>
              <a:gdLst>
                <a:gd name="txL" fmla="*/ 0 w 30"/>
                <a:gd name="txT" fmla="*/ 0 h 89"/>
                <a:gd name="txR" fmla="*/ 30 w 30"/>
                <a:gd name="txB" fmla="*/ 89 h 89"/>
              </a:gdLst>
              <a:ahLst/>
              <a:cxnLst>
                <a:cxn ang="0">
                  <a:pos x="30" y="0"/>
                </a:cxn>
                <a:cxn ang="0">
                  <a:pos x="0" y="89"/>
                </a:cxn>
                <a:cxn ang="0">
                  <a:pos x="30" y="0"/>
                </a:cxn>
                <a:cxn ang="0">
                  <a:pos x="30" y="0"/>
                </a:cxn>
                <a:cxn ang="0">
                  <a:pos x="30" y="0"/>
                </a:cxn>
                <a:cxn ang="0">
                  <a:pos x="30" y="0"/>
                </a:cxn>
                <a:cxn ang="0">
                  <a:pos x="30" y="0"/>
                </a:cxn>
              </a:cxnLst>
              <a:rect l="txL" t="txT" r="txR" b="txB"/>
              <a:pathLst>
                <a:path w="30" h="89">
                  <a:moveTo>
                    <a:pt x="30" y="0"/>
                  </a:moveTo>
                  <a:lnTo>
                    <a:pt x="0" y="89"/>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20" name="Freeform 71"/>
            <p:cNvSpPr>
              <a:spLocks noChangeAspect="1" noEditPoints="1"/>
            </p:cNvSpPr>
            <p:nvPr/>
          </p:nvSpPr>
          <p:spPr>
            <a:xfrm>
              <a:off x="3340" y="1443"/>
              <a:ext cx="36" cy="84"/>
            </a:xfrm>
            <a:custGeom>
              <a:avLst/>
              <a:gdLst>
                <a:gd name="txL" fmla="*/ 0 w 36"/>
                <a:gd name="txT" fmla="*/ 0 h 84"/>
                <a:gd name="txR" fmla="*/ 36 w 36"/>
                <a:gd name="txB" fmla="*/ 84 h 84"/>
              </a:gdLst>
              <a:ahLst/>
              <a:cxnLst>
                <a:cxn ang="0">
                  <a:pos x="36" y="0"/>
                </a:cxn>
                <a:cxn ang="0">
                  <a:pos x="0" y="84"/>
                </a:cxn>
                <a:cxn ang="0">
                  <a:pos x="36" y="0"/>
                </a:cxn>
                <a:cxn ang="0">
                  <a:pos x="36" y="0"/>
                </a:cxn>
                <a:cxn ang="0">
                  <a:pos x="36" y="0"/>
                </a:cxn>
                <a:cxn ang="0">
                  <a:pos x="36" y="0"/>
                </a:cxn>
                <a:cxn ang="0">
                  <a:pos x="36" y="0"/>
                </a:cxn>
              </a:cxnLst>
              <a:rect l="txL" t="txT" r="txR" b="txB"/>
              <a:pathLst>
                <a:path w="36" h="84">
                  <a:moveTo>
                    <a:pt x="36" y="0"/>
                  </a:moveTo>
                  <a:lnTo>
                    <a:pt x="0" y="84"/>
                  </a:lnTo>
                  <a:lnTo>
                    <a:pt x="36" y="0"/>
                  </a:lnTo>
                  <a:close/>
                  <a:moveTo>
                    <a:pt x="36" y="0"/>
                  </a:move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21" name="Freeform 72"/>
            <p:cNvSpPr>
              <a:spLocks noChangeAspect="1" noEditPoints="1"/>
            </p:cNvSpPr>
            <p:nvPr/>
          </p:nvSpPr>
          <p:spPr>
            <a:xfrm>
              <a:off x="3311" y="1443"/>
              <a:ext cx="29" cy="84"/>
            </a:xfrm>
            <a:custGeom>
              <a:avLst/>
              <a:gdLst>
                <a:gd name="txL" fmla="*/ 0 w 29"/>
                <a:gd name="txT" fmla="*/ 0 h 84"/>
                <a:gd name="txR" fmla="*/ 29 w 29"/>
                <a:gd name="txB" fmla="*/ 84 h 84"/>
              </a:gdLst>
              <a:ahLst/>
              <a:cxnLst>
                <a:cxn ang="0">
                  <a:pos x="29" y="84"/>
                </a:cxn>
                <a:cxn ang="0">
                  <a:pos x="0" y="0"/>
                </a:cxn>
                <a:cxn ang="0">
                  <a:pos x="29" y="84"/>
                </a:cxn>
                <a:cxn ang="0">
                  <a:pos x="29" y="84"/>
                </a:cxn>
                <a:cxn ang="0">
                  <a:pos x="29" y="84"/>
                </a:cxn>
                <a:cxn ang="0">
                  <a:pos x="29" y="84"/>
                </a:cxn>
                <a:cxn ang="0">
                  <a:pos x="29" y="84"/>
                </a:cxn>
              </a:cxnLst>
              <a:rect l="txL" t="txT" r="txR" b="txB"/>
              <a:pathLst>
                <a:path w="29" h="84">
                  <a:moveTo>
                    <a:pt x="29" y="84"/>
                  </a:moveTo>
                  <a:lnTo>
                    <a:pt x="0" y="0"/>
                  </a:lnTo>
                  <a:lnTo>
                    <a:pt x="29" y="84"/>
                  </a:lnTo>
                  <a:close/>
                  <a:moveTo>
                    <a:pt x="29" y="84"/>
                  </a:moveTo>
                  <a:lnTo>
                    <a:pt x="29"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22" name="Freeform 73"/>
            <p:cNvSpPr>
              <a:spLocks noChangeAspect="1" noEditPoints="1"/>
            </p:cNvSpPr>
            <p:nvPr/>
          </p:nvSpPr>
          <p:spPr>
            <a:xfrm>
              <a:off x="3281" y="1354"/>
              <a:ext cx="30" cy="89"/>
            </a:xfrm>
            <a:custGeom>
              <a:avLst/>
              <a:gdLst>
                <a:gd name="txL" fmla="*/ 0 w 30"/>
                <a:gd name="txT" fmla="*/ 0 h 89"/>
                <a:gd name="txR" fmla="*/ 30 w 30"/>
                <a:gd name="txB" fmla="*/ 89 h 89"/>
              </a:gdLst>
              <a:ahLst/>
              <a:cxnLst>
                <a:cxn ang="0">
                  <a:pos x="30" y="89"/>
                </a:cxn>
                <a:cxn ang="0">
                  <a:pos x="0" y="0"/>
                </a:cxn>
                <a:cxn ang="0">
                  <a:pos x="30" y="89"/>
                </a:cxn>
                <a:cxn ang="0">
                  <a:pos x="30" y="89"/>
                </a:cxn>
                <a:cxn ang="0">
                  <a:pos x="30" y="89"/>
                </a:cxn>
                <a:cxn ang="0">
                  <a:pos x="30" y="89"/>
                </a:cxn>
                <a:cxn ang="0">
                  <a:pos x="30" y="89"/>
                </a:cxn>
              </a:cxnLst>
              <a:rect l="txL" t="txT" r="txR" b="txB"/>
              <a:pathLst>
                <a:path w="30" h="89">
                  <a:moveTo>
                    <a:pt x="30" y="89"/>
                  </a:moveTo>
                  <a:lnTo>
                    <a:pt x="0" y="0"/>
                  </a:lnTo>
                  <a:lnTo>
                    <a:pt x="30" y="89"/>
                  </a:lnTo>
                  <a:close/>
                  <a:moveTo>
                    <a:pt x="30" y="89"/>
                  </a:moveTo>
                  <a:lnTo>
                    <a:pt x="30" y="8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23" name="Freeform 74"/>
            <p:cNvSpPr>
              <a:spLocks noChangeAspect="1" noEditPoints="1"/>
            </p:cNvSpPr>
            <p:nvPr/>
          </p:nvSpPr>
          <p:spPr>
            <a:xfrm>
              <a:off x="3251" y="1354"/>
              <a:ext cx="30" cy="89"/>
            </a:xfrm>
            <a:custGeom>
              <a:avLst/>
              <a:gdLst>
                <a:gd name="txL" fmla="*/ 0 w 30"/>
                <a:gd name="txT" fmla="*/ 0 h 89"/>
                <a:gd name="txR" fmla="*/ 30 w 30"/>
                <a:gd name="txB" fmla="*/ 89 h 89"/>
              </a:gdLst>
              <a:ahLst/>
              <a:cxnLst>
                <a:cxn ang="0">
                  <a:pos x="30" y="0"/>
                </a:cxn>
                <a:cxn ang="0">
                  <a:pos x="0" y="89"/>
                </a:cxn>
                <a:cxn ang="0">
                  <a:pos x="30" y="0"/>
                </a:cxn>
                <a:cxn ang="0">
                  <a:pos x="30" y="0"/>
                </a:cxn>
                <a:cxn ang="0">
                  <a:pos x="30" y="0"/>
                </a:cxn>
                <a:cxn ang="0">
                  <a:pos x="30" y="0"/>
                </a:cxn>
                <a:cxn ang="0">
                  <a:pos x="30" y="0"/>
                </a:cxn>
              </a:cxnLst>
              <a:rect l="txL" t="txT" r="txR" b="txB"/>
              <a:pathLst>
                <a:path w="30" h="89">
                  <a:moveTo>
                    <a:pt x="30" y="0"/>
                  </a:moveTo>
                  <a:lnTo>
                    <a:pt x="0" y="89"/>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24" name="Freeform 75"/>
            <p:cNvSpPr>
              <a:spLocks noChangeAspect="1" noEditPoints="1"/>
            </p:cNvSpPr>
            <p:nvPr/>
          </p:nvSpPr>
          <p:spPr>
            <a:xfrm>
              <a:off x="3221" y="1443"/>
              <a:ext cx="30" cy="84"/>
            </a:xfrm>
            <a:custGeom>
              <a:avLst/>
              <a:gdLst>
                <a:gd name="txL" fmla="*/ 0 w 30"/>
                <a:gd name="txT" fmla="*/ 0 h 84"/>
                <a:gd name="txR" fmla="*/ 30 w 30"/>
                <a:gd name="txB" fmla="*/ 84 h 84"/>
              </a:gdLst>
              <a:ahLst/>
              <a:cxnLst>
                <a:cxn ang="0">
                  <a:pos x="30" y="0"/>
                </a:cxn>
                <a:cxn ang="0">
                  <a:pos x="0" y="84"/>
                </a:cxn>
                <a:cxn ang="0">
                  <a:pos x="30" y="0"/>
                </a:cxn>
                <a:cxn ang="0">
                  <a:pos x="30" y="0"/>
                </a:cxn>
                <a:cxn ang="0">
                  <a:pos x="30" y="0"/>
                </a:cxn>
                <a:cxn ang="0">
                  <a:pos x="30" y="0"/>
                </a:cxn>
                <a:cxn ang="0">
                  <a:pos x="30" y="0"/>
                </a:cxn>
              </a:cxnLst>
              <a:rect l="txL" t="txT" r="txR" b="txB"/>
              <a:pathLst>
                <a:path w="30" h="84">
                  <a:moveTo>
                    <a:pt x="30" y="0"/>
                  </a:moveTo>
                  <a:lnTo>
                    <a:pt x="0" y="84"/>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25" name="Freeform 76"/>
            <p:cNvSpPr>
              <a:spLocks noChangeAspect="1" noEditPoints="1"/>
            </p:cNvSpPr>
            <p:nvPr/>
          </p:nvSpPr>
          <p:spPr>
            <a:xfrm>
              <a:off x="3191" y="1431"/>
              <a:ext cx="30" cy="96"/>
            </a:xfrm>
            <a:custGeom>
              <a:avLst/>
              <a:gdLst>
                <a:gd name="txL" fmla="*/ 0 w 30"/>
                <a:gd name="txT" fmla="*/ 0 h 96"/>
                <a:gd name="txR" fmla="*/ 30 w 30"/>
                <a:gd name="txB" fmla="*/ 96 h 96"/>
              </a:gdLst>
              <a:ahLst/>
              <a:cxnLst>
                <a:cxn ang="0">
                  <a:pos x="30" y="96"/>
                </a:cxn>
                <a:cxn ang="0">
                  <a:pos x="0" y="0"/>
                </a:cxn>
                <a:cxn ang="0">
                  <a:pos x="30" y="96"/>
                </a:cxn>
                <a:cxn ang="0">
                  <a:pos x="30" y="96"/>
                </a:cxn>
                <a:cxn ang="0">
                  <a:pos x="30" y="96"/>
                </a:cxn>
                <a:cxn ang="0">
                  <a:pos x="30" y="96"/>
                </a:cxn>
                <a:cxn ang="0">
                  <a:pos x="30" y="96"/>
                </a:cxn>
              </a:cxnLst>
              <a:rect l="txL" t="txT" r="txR" b="txB"/>
              <a:pathLst>
                <a:path w="30" h="96">
                  <a:moveTo>
                    <a:pt x="30" y="96"/>
                  </a:moveTo>
                  <a:lnTo>
                    <a:pt x="0" y="0"/>
                  </a:lnTo>
                  <a:lnTo>
                    <a:pt x="30" y="96"/>
                  </a:lnTo>
                  <a:close/>
                  <a:moveTo>
                    <a:pt x="30" y="96"/>
                  </a:moveTo>
                  <a:lnTo>
                    <a:pt x="30" y="9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26" name="Freeform 77"/>
            <p:cNvSpPr>
              <a:spLocks noChangeAspect="1"/>
            </p:cNvSpPr>
            <p:nvPr/>
          </p:nvSpPr>
          <p:spPr>
            <a:xfrm>
              <a:off x="3059" y="1127"/>
              <a:ext cx="120" cy="137"/>
            </a:xfrm>
            <a:custGeom>
              <a:avLst/>
              <a:gdLst>
                <a:gd name="txL" fmla="*/ 0 w 120"/>
                <a:gd name="txT" fmla="*/ 0 h 137"/>
                <a:gd name="txR" fmla="*/ 120 w 120"/>
                <a:gd name="txB" fmla="*/ 137 h 137"/>
              </a:gdLst>
              <a:ahLst/>
              <a:cxnLst>
                <a:cxn ang="0">
                  <a:pos x="54" y="78"/>
                </a:cxn>
                <a:cxn ang="0">
                  <a:pos x="0" y="78"/>
                </a:cxn>
                <a:cxn ang="0">
                  <a:pos x="0" y="60"/>
                </a:cxn>
                <a:cxn ang="0">
                  <a:pos x="54" y="60"/>
                </a:cxn>
                <a:cxn ang="0">
                  <a:pos x="54" y="0"/>
                </a:cxn>
                <a:cxn ang="0">
                  <a:pos x="72" y="0"/>
                </a:cxn>
                <a:cxn ang="0">
                  <a:pos x="72" y="60"/>
                </a:cxn>
                <a:cxn ang="0">
                  <a:pos x="120" y="60"/>
                </a:cxn>
                <a:cxn ang="0">
                  <a:pos x="120" y="78"/>
                </a:cxn>
                <a:cxn ang="0">
                  <a:pos x="72" y="78"/>
                </a:cxn>
                <a:cxn ang="0">
                  <a:pos x="72" y="137"/>
                </a:cxn>
                <a:cxn ang="0">
                  <a:pos x="54" y="137"/>
                </a:cxn>
                <a:cxn ang="0">
                  <a:pos x="54" y="78"/>
                </a:cxn>
              </a:cxnLst>
              <a:rect l="txL" t="txT" r="txR" b="txB"/>
              <a:pathLst>
                <a:path w="120" h="137">
                  <a:moveTo>
                    <a:pt x="54" y="78"/>
                  </a:moveTo>
                  <a:lnTo>
                    <a:pt x="0" y="78"/>
                  </a:lnTo>
                  <a:lnTo>
                    <a:pt x="0" y="60"/>
                  </a:lnTo>
                  <a:lnTo>
                    <a:pt x="54" y="60"/>
                  </a:lnTo>
                  <a:lnTo>
                    <a:pt x="54" y="0"/>
                  </a:lnTo>
                  <a:lnTo>
                    <a:pt x="72" y="0"/>
                  </a:lnTo>
                  <a:lnTo>
                    <a:pt x="72" y="60"/>
                  </a:lnTo>
                  <a:lnTo>
                    <a:pt x="120" y="60"/>
                  </a:lnTo>
                  <a:lnTo>
                    <a:pt x="120" y="78"/>
                  </a:lnTo>
                  <a:lnTo>
                    <a:pt x="72" y="78"/>
                  </a:lnTo>
                  <a:lnTo>
                    <a:pt x="72" y="137"/>
                  </a:lnTo>
                  <a:lnTo>
                    <a:pt x="54" y="137"/>
                  </a:lnTo>
                  <a:lnTo>
                    <a:pt x="54" y="7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727" name="Rectangle 78"/>
            <p:cNvSpPr>
              <a:spLocks noChangeAspect="1"/>
            </p:cNvSpPr>
            <p:nvPr/>
          </p:nvSpPr>
          <p:spPr>
            <a:xfrm>
              <a:off x="3687" y="1187"/>
              <a:ext cx="126" cy="18"/>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27728" name="Freeform 79"/>
            <p:cNvSpPr>
              <a:spLocks noChangeAspect="1"/>
            </p:cNvSpPr>
            <p:nvPr/>
          </p:nvSpPr>
          <p:spPr>
            <a:xfrm>
              <a:off x="3071" y="3115"/>
              <a:ext cx="120" cy="138"/>
            </a:xfrm>
            <a:custGeom>
              <a:avLst/>
              <a:gdLst>
                <a:gd name="txL" fmla="*/ 0 w 120"/>
                <a:gd name="txT" fmla="*/ 0 h 138"/>
                <a:gd name="txR" fmla="*/ 120 w 120"/>
                <a:gd name="txB" fmla="*/ 138 h 138"/>
              </a:gdLst>
              <a:ahLst/>
              <a:cxnLst>
                <a:cxn ang="0">
                  <a:pos x="66" y="78"/>
                </a:cxn>
                <a:cxn ang="0">
                  <a:pos x="120" y="78"/>
                </a:cxn>
                <a:cxn ang="0">
                  <a:pos x="120" y="60"/>
                </a:cxn>
                <a:cxn ang="0">
                  <a:pos x="66" y="60"/>
                </a:cxn>
                <a:cxn ang="0">
                  <a:pos x="66" y="0"/>
                </a:cxn>
                <a:cxn ang="0">
                  <a:pos x="54" y="0"/>
                </a:cxn>
                <a:cxn ang="0">
                  <a:pos x="54" y="60"/>
                </a:cxn>
                <a:cxn ang="0">
                  <a:pos x="0" y="60"/>
                </a:cxn>
                <a:cxn ang="0">
                  <a:pos x="0" y="78"/>
                </a:cxn>
                <a:cxn ang="0">
                  <a:pos x="54" y="78"/>
                </a:cxn>
                <a:cxn ang="0">
                  <a:pos x="54" y="138"/>
                </a:cxn>
                <a:cxn ang="0">
                  <a:pos x="66" y="138"/>
                </a:cxn>
                <a:cxn ang="0">
                  <a:pos x="66" y="78"/>
                </a:cxn>
              </a:cxnLst>
              <a:rect l="txL" t="txT" r="txR" b="txB"/>
              <a:pathLst>
                <a:path w="120" h="138">
                  <a:moveTo>
                    <a:pt x="66" y="78"/>
                  </a:moveTo>
                  <a:lnTo>
                    <a:pt x="120" y="78"/>
                  </a:lnTo>
                  <a:lnTo>
                    <a:pt x="120" y="60"/>
                  </a:lnTo>
                  <a:lnTo>
                    <a:pt x="66" y="60"/>
                  </a:lnTo>
                  <a:lnTo>
                    <a:pt x="66" y="0"/>
                  </a:lnTo>
                  <a:lnTo>
                    <a:pt x="54" y="0"/>
                  </a:lnTo>
                  <a:lnTo>
                    <a:pt x="54" y="60"/>
                  </a:lnTo>
                  <a:lnTo>
                    <a:pt x="0" y="60"/>
                  </a:lnTo>
                  <a:lnTo>
                    <a:pt x="0" y="78"/>
                  </a:lnTo>
                  <a:lnTo>
                    <a:pt x="54" y="78"/>
                  </a:lnTo>
                  <a:lnTo>
                    <a:pt x="54" y="138"/>
                  </a:lnTo>
                  <a:lnTo>
                    <a:pt x="66" y="138"/>
                  </a:lnTo>
                  <a:lnTo>
                    <a:pt x="66" y="7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729" name="Rectangle 80"/>
            <p:cNvSpPr>
              <a:spLocks noChangeAspect="1"/>
            </p:cNvSpPr>
            <p:nvPr/>
          </p:nvSpPr>
          <p:spPr>
            <a:xfrm>
              <a:off x="2551" y="3175"/>
              <a:ext cx="126" cy="18"/>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27730" name="Freeform 81"/>
            <p:cNvSpPr>
              <a:spLocks noChangeAspect="1"/>
            </p:cNvSpPr>
            <p:nvPr/>
          </p:nvSpPr>
          <p:spPr>
            <a:xfrm>
              <a:off x="2527" y="2733"/>
              <a:ext cx="688" cy="305"/>
            </a:xfrm>
            <a:custGeom>
              <a:avLst/>
              <a:gdLst>
                <a:gd name="txL" fmla="*/ 0 w 688"/>
                <a:gd name="txT" fmla="*/ 0 h 305"/>
                <a:gd name="txR" fmla="*/ 688 w 688"/>
                <a:gd name="txB" fmla="*/ 305 h 305"/>
              </a:gdLst>
              <a:ahLst/>
              <a:cxnLst>
                <a:cxn ang="0">
                  <a:pos x="0" y="305"/>
                </a:cxn>
                <a:cxn ang="0">
                  <a:pos x="688" y="305"/>
                </a:cxn>
                <a:cxn ang="0">
                  <a:pos x="688" y="0"/>
                </a:cxn>
                <a:cxn ang="0">
                  <a:pos x="0" y="0"/>
                </a:cxn>
                <a:cxn ang="0">
                  <a:pos x="0" y="305"/>
                </a:cxn>
                <a:cxn ang="0">
                  <a:pos x="0" y="305"/>
                </a:cxn>
              </a:cxnLst>
              <a:rect l="txL" t="txT" r="txR" b="txB"/>
              <a:pathLst>
                <a:path w="688" h="305">
                  <a:moveTo>
                    <a:pt x="0" y="305"/>
                  </a:moveTo>
                  <a:lnTo>
                    <a:pt x="688" y="305"/>
                  </a:lnTo>
                  <a:lnTo>
                    <a:pt x="688" y="0"/>
                  </a:lnTo>
                  <a:lnTo>
                    <a:pt x="0" y="0"/>
                  </a:lnTo>
                  <a:lnTo>
                    <a:pt x="0" y="305"/>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731" name="Freeform 82"/>
            <p:cNvSpPr>
              <a:spLocks noChangeAspect="1"/>
            </p:cNvSpPr>
            <p:nvPr/>
          </p:nvSpPr>
          <p:spPr>
            <a:xfrm>
              <a:off x="2527" y="3038"/>
              <a:ext cx="688" cy="1"/>
            </a:xfrm>
            <a:custGeom>
              <a:avLst/>
              <a:gdLst>
                <a:gd name="txL" fmla="*/ 0 w 688"/>
                <a:gd name="txT" fmla="*/ 0 h 1"/>
                <a:gd name="txR" fmla="*/ 688 w 688"/>
                <a:gd name="txB" fmla="*/ 1 h 1"/>
              </a:gdLst>
              <a:ahLst/>
              <a:cxnLst>
                <a:cxn ang="0">
                  <a:pos x="0" y="0"/>
                </a:cxn>
                <a:cxn ang="0">
                  <a:pos x="688" y="0"/>
                </a:cxn>
                <a:cxn ang="0">
                  <a:pos x="0" y="0"/>
                </a:cxn>
                <a:cxn ang="0">
                  <a:pos x="0" y="0"/>
                </a:cxn>
              </a:cxnLst>
              <a:rect l="txL" t="txT" r="txR" b="txB"/>
              <a:pathLst>
                <a:path w="688" h="1">
                  <a:moveTo>
                    <a:pt x="0" y="0"/>
                  </a:moveTo>
                  <a:lnTo>
                    <a:pt x="688"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732" name="Freeform 83"/>
            <p:cNvSpPr>
              <a:spLocks noChangeAspect="1" noEditPoints="1"/>
            </p:cNvSpPr>
            <p:nvPr/>
          </p:nvSpPr>
          <p:spPr>
            <a:xfrm>
              <a:off x="3215" y="2733"/>
              <a:ext cx="1" cy="305"/>
            </a:xfrm>
            <a:custGeom>
              <a:avLst/>
              <a:gdLst>
                <a:gd name="txL" fmla="*/ 0 w 1"/>
                <a:gd name="txT" fmla="*/ 0 h 305"/>
                <a:gd name="txR" fmla="*/ 1 w 1"/>
                <a:gd name="txB" fmla="*/ 305 h 305"/>
              </a:gdLst>
              <a:ahLst/>
              <a:cxnLst>
                <a:cxn ang="0">
                  <a:pos x="0" y="305"/>
                </a:cxn>
                <a:cxn ang="0">
                  <a:pos x="0" y="0"/>
                </a:cxn>
                <a:cxn ang="0">
                  <a:pos x="0" y="305"/>
                </a:cxn>
                <a:cxn ang="0">
                  <a:pos x="0" y="305"/>
                </a:cxn>
                <a:cxn ang="0">
                  <a:pos x="0" y="305"/>
                </a:cxn>
                <a:cxn ang="0">
                  <a:pos x="0" y="305"/>
                </a:cxn>
                <a:cxn ang="0">
                  <a:pos x="0" y="305"/>
                </a:cxn>
              </a:cxnLst>
              <a:rect l="txL" t="txT" r="txR" b="txB"/>
              <a:pathLst>
                <a:path w="1" h="305">
                  <a:moveTo>
                    <a:pt x="0" y="305"/>
                  </a:moveTo>
                  <a:lnTo>
                    <a:pt x="0" y="0"/>
                  </a:lnTo>
                  <a:lnTo>
                    <a:pt x="0" y="305"/>
                  </a:lnTo>
                  <a:close/>
                  <a:moveTo>
                    <a:pt x="0" y="305"/>
                  </a:moveTo>
                  <a:lnTo>
                    <a:pt x="0" y="30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733" name="Freeform 84"/>
            <p:cNvSpPr>
              <a:spLocks noChangeAspect="1" noEditPoints="1"/>
            </p:cNvSpPr>
            <p:nvPr/>
          </p:nvSpPr>
          <p:spPr>
            <a:xfrm>
              <a:off x="2527" y="2733"/>
              <a:ext cx="688" cy="1"/>
            </a:xfrm>
            <a:custGeom>
              <a:avLst/>
              <a:gdLst>
                <a:gd name="txL" fmla="*/ 0 w 688"/>
                <a:gd name="txT" fmla="*/ 0 h 1"/>
                <a:gd name="txR" fmla="*/ 688 w 688"/>
                <a:gd name="txB" fmla="*/ 1 h 1"/>
              </a:gdLst>
              <a:ahLst/>
              <a:cxnLst>
                <a:cxn ang="0">
                  <a:pos x="688" y="0"/>
                </a:cxn>
                <a:cxn ang="0">
                  <a:pos x="0" y="0"/>
                </a:cxn>
                <a:cxn ang="0">
                  <a:pos x="688" y="0"/>
                </a:cxn>
                <a:cxn ang="0">
                  <a:pos x="688" y="0"/>
                </a:cxn>
                <a:cxn ang="0">
                  <a:pos x="688" y="0"/>
                </a:cxn>
                <a:cxn ang="0">
                  <a:pos x="688" y="0"/>
                </a:cxn>
                <a:cxn ang="0">
                  <a:pos x="688" y="0"/>
                </a:cxn>
              </a:cxnLst>
              <a:rect l="txL" t="txT" r="txR" b="txB"/>
              <a:pathLst>
                <a:path w="688" h="1">
                  <a:moveTo>
                    <a:pt x="688" y="0"/>
                  </a:moveTo>
                  <a:lnTo>
                    <a:pt x="0" y="0"/>
                  </a:lnTo>
                  <a:lnTo>
                    <a:pt x="688" y="0"/>
                  </a:lnTo>
                  <a:close/>
                  <a:moveTo>
                    <a:pt x="688" y="0"/>
                  </a:moveTo>
                  <a:lnTo>
                    <a:pt x="68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734" name="Freeform 85"/>
            <p:cNvSpPr>
              <a:spLocks noChangeAspect="1" noEditPoints="1"/>
            </p:cNvSpPr>
            <p:nvPr/>
          </p:nvSpPr>
          <p:spPr>
            <a:xfrm>
              <a:off x="2527" y="2733"/>
              <a:ext cx="1" cy="305"/>
            </a:xfrm>
            <a:custGeom>
              <a:avLst/>
              <a:gdLst>
                <a:gd name="txL" fmla="*/ 0 w 1"/>
                <a:gd name="txT" fmla="*/ 0 h 305"/>
                <a:gd name="txR" fmla="*/ 1 w 1"/>
                <a:gd name="txB" fmla="*/ 305 h 305"/>
              </a:gdLst>
              <a:ahLst/>
              <a:cxnLst>
                <a:cxn ang="0">
                  <a:pos x="0" y="0"/>
                </a:cxn>
                <a:cxn ang="0">
                  <a:pos x="0" y="305"/>
                </a:cxn>
                <a:cxn ang="0">
                  <a:pos x="0" y="0"/>
                </a:cxn>
                <a:cxn ang="0">
                  <a:pos x="0" y="0"/>
                </a:cxn>
                <a:cxn ang="0">
                  <a:pos x="0" y="0"/>
                </a:cxn>
                <a:cxn ang="0">
                  <a:pos x="0" y="0"/>
                </a:cxn>
                <a:cxn ang="0">
                  <a:pos x="0" y="0"/>
                </a:cxn>
              </a:cxnLst>
              <a:rect l="txL" t="txT" r="txR" b="txB"/>
              <a:pathLst>
                <a:path w="1" h="305">
                  <a:moveTo>
                    <a:pt x="0" y="0"/>
                  </a:moveTo>
                  <a:lnTo>
                    <a:pt x="0" y="305"/>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735" name="Freeform 86"/>
            <p:cNvSpPr>
              <a:spLocks noChangeAspect="1"/>
            </p:cNvSpPr>
            <p:nvPr/>
          </p:nvSpPr>
          <p:spPr>
            <a:xfrm>
              <a:off x="2527" y="3038"/>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7736" name="Freeform 87"/>
            <p:cNvSpPr>
              <a:spLocks noChangeAspect="1"/>
            </p:cNvSpPr>
            <p:nvPr/>
          </p:nvSpPr>
          <p:spPr>
            <a:xfrm>
              <a:off x="3095" y="1933"/>
              <a:ext cx="72" cy="406"/>
            </a:xfrm>
            <a:custGeom>
              <a:avLst/>
              <a:gdLst>
                <a:gd name="txL" fmla="*/ 0 w 72"/>
                <a:gd name="txT" fmla="*/ 0 h 406"/>
                <a:gd name="txR" fmla="*/ 72 w 72"/>
                <a:gd name="txB" fmla="*/ 406 h 406"/>
              </a:gdLst>
              <a:ahLst/>
              <a:cxnLst>
                <a:cxn ang="0">
                  <a:pos x="0" y="406"/>
                </a:cxn>
                <a:cxn ang="0">
                  <a:pos x="30" y="364"/>
                </a:cxn>
                <a:cxn ang="0">
                  <a:pos x="54" y="317"/>
                </a:cxn>
                <a:cxn ang="0">
                  <a:pos x="66" y="263"/>
                </a:cxn>
                <a:cxn ang="0">
                  <a:pos x="72" y="209"/>
                </a:cxn>
                <a:cxn ang="0">
                  <a:pos x="72" y="155"/>
                </a:cxn>
                <a:cxn ang="0">
                  <a:pos x="60" y="102"/>
                </a:cxn>
                <a:cxn ang="0">
                  <a:pos x="42" y="48"/>
                </a:cxn>
                <a:cxn ang="0">
                  <a:pos x="18" y="0"/>
                </a:cxn>
                <a:cxn ang="0">
                  <a:pos x="18" y="0"/>
                </a:cxn>
                <a:cxn ang="0">
                  <a:pos x="42" y="48"/>
                </a:cxn>
                <a:cxn ang="0">
                  <a:pos x="60" y="102"/>
                </a:cxn>
                <a:cxn ang="0">
                  <a:pos x="72" y="155"/>
                </a:cxn>
                <a:cxn ang="0">
                  <a:pos x="72" y="209"/>
                </a:cxn>
                <a:cxn ang="0">
                  <a:pos x="66" y="263"/>
                </a:cxn>
                <a:cxn ang="0">
                  <a:pos x="54" y="317"/>
                </a:cxn>
                <a:cxn ang="0">
                  <a:pos x="30" y="364"/>
                </a:cxn>
                <a:cxn ang="0">
                  <a:pos x="0" y="406"/>
                </a:cxn>
                <a:cxn ang="0">
                  <a:pos x="0" y="406"/>
                </a:cxn>
              </a:cxnLst>
              <a:rect l="txL" t="txT" r="txR" b="txB"/>
              <a:pathLst>
                <a:path w="72" h="406">
                  <a:moveTo>
                    <a:pt x="0" y="406"/>
                  </a:moveTo>
                  <a:lnTo>
                    <a:pt x="30" y="364"/>
                  </a:lnTo>
                  <a:lnTo>
                    <a:pt x="54" y="317"/>
                  </a:lnTo>
                  <a:lnTo>
                    <a:pt x="66" y="263"/>
                  </a:lnTo>
                  <a:lnTo>
                    <a:pt x="72" y="209"/>
                  </a:lnTo>
                  <a:lnTo>
                    <a:pt x="72" y="155"/>
                  </a:lnTo>
                  <a:lnTo>
                    <a:pt x="60" y="102"/>
                  </a:lnTo>
                  <a:lnTo>
                    <a:pt x="42" y="48"/>
                  </a:lnTo>
                  <a:lnTo>
                    <a:pt x="18" y="0"/>
                  </a:lnTo>
                  <a:lnTo>
                    <a:pt x="42" y="48"/>
                  </a:lnTo>
                  <a:lnTo>
                    <a:pt x="60" y="102"/>
                  </a:lnTo>
                  <a:lnTo>
                    <a:pt x="72" y="155"/>
                  </a:lnTo>
                  <a:lnTo>
                    <a:pt x="72" y="209"/>
                  </a:lnTo>
                  <a:lnTo>
                    <a:pt x="66" y="263"/>
                  </a:lnTo>
                  <a:lnTo>
                    <a:pt x="54" y="317"/>
                  </a:lnTo>
                  <a:lnTo>
                    <a:pt x="30" y="364"/>
                  </a:lnTo>
                  <a:lnTo>
                    <a:pt x="0" y="40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37" name="Freeform 88"/>
            <p:cNvSpPr>
              <a:spLocks noChangeAspect="1" noEditPoints="1"/>
            </p:cNvSpPr>
            <p:nvPr/>
          </p:nvSpPr>
          <p:spPr>
            <a:xfrm>
              <a:off x="2736" y="1808"/>
              <a:ext cx="377" cy="125"/>
            </a:xfrm>
            <a:custGeom>
              <a:avLst/>
              <a:gdLst>
                <a:gd name="txL" fmla="*/ 0 w 377"/>
                <a:gd name="txT" fmla="*/ 0 h 125"/>
                <a:gd name="txR" fmla="*/ 377 w 377"/>
                <a:gd name="txB" fmla="*/ 125 h 125"/>
              </a:gdLst>
              <a:ahLst/>
              <a:cxnLst>
                <a:cxn ang="0">
                  <a:pos x="377" y="125"/>
                </a:cxn>
                <a:cxn ang="0">
                  <a:pos x="341" y="77"/>
                </a:cxn>
                <a:cxn ang="0">
                  <a:pos x="299" y="41"/>
                </a:cxn>
                <a:cxn ang="0">
                  <a:pos x="252" y="18"/>
                </a:cxn>
                <a:cxn ang="0">
                  <a:pos x="198" y="0"/>
                </a:cxn>
                <a:cxn ang="0">
                  <a:pos x="144" y="0"/>
                </a:cxn>
                <a:cxn ang="0">
                  <a:pos x="96" y="6"/>
                </a:cxn>
                <a:cxn ang="0">
                  <a:pos x="48" y="30"/>
                </a:cxn>
                <a:cxn ang="0">
                  <a:pos x="0" y="59"/>
                </a:cxn>
                <a:cxn ang="0">
                  <a:pos x="0" y="59"/>
                </a:cxn>
                <a:cxn ang="0">
                  <a:pos x="48" y="30"/>
                </a:cxn>
                <a:cxn ang="0">
                  <a:pos x="96" y="6"/>
                </a:cxn>
                <a:cxn ang="0">
                  <a:pos x="144" y="0"/>
                </a:cxn>
                <a:cxn ang="0">
                  <a:pos x="198" y="0"/>
                </a:cxn>
                <a:cxn ang="0">
                  <a:pos x="252" y="18"/>
                </a:cxn>
                <a:cxn ang="0">
                  <a:pos x="299" y="41"/>
                </a:cxn>
                <a:cxn ang="0">
                  <a:pos x="341" y="77"/>
                </a:cxn>
                <a:cxn ang="0">
                  <a:pos x="377" y="125"/>
                </a:cxn>
                <a:cxn ang="0">
                  <a:pos x="377" y="125"/>
                </a:cxn>
                <a:cxn ang="0">
                  <a:pos x="377" y="125"/>
                </a:cxn>
                <a:cxn ang="0">
                  <a:pos x="377" y="125"/>
                </a:cxn>
                <a:cxn ang="0">
                  <a:pos x="377" y="125"/>
                </a:cxn>
              </a:cxnLst>
              <a:rect l="txL" t="txT" r="txR" b="txB"/>
              <a:pathLst>
                <a:path w="377" h="125">
                  <a:moveTo>
                    <a:pt x="377" y="125"/>
                  </a:moveTo>
                  <a:lnTo>
                    <a:pt x="341" y="77"/>
                  </a:lnTo>
                  <a:lnTo>
                    <a:pt x="299" y="41"/>
                  </a:lnTo>
                  <a:lnTo>
                    <a:pt x="252" y="18"/>
                  </a:lnTo>
                  <a:lnTo>
                    <a:pt x="198" y="0"/>
                  </a:lnTo>
                  <a:lnTo>
                    <a:pt x="144" y="0"/>
                  </a:lnTo>
                  <a:lnTo>
                    <a:pt x="96" y="6"/>
                  </a:lnTo>
                  <a:lnTo>
                    <a:pt x="48" y="30"/>
                  </a:lnTo>
                  <a:lnTo>
                    <a:pt x="0" y="59"/>
                  </a:lnTo>
                  <a:lnTo>
                    <a:pt x="48" y="30"/>
                  </a:lnTo>
                  <a:lnTo>
                    <a:pt x="96" y="6"/>
                  </a:lnTo>
                  <a:lnTo>
                    <a:pt x="144" y="0"/>
                  </a:lnTo>
                  <a:lnTo>
                    <a:pt x="198" y="0"/>
                  </a:lnTo>
                  <a:lnTo>
                    <a:pt x="252" y="18"/>
                  </a:lnTo>
                  <a:lnTo>
                    <a:pt x="299" y="41"/>
                  </a:lnTo>
                  <a:lnTo>
                    <a:pt x="341" y="77"/>
                  </a:lnTo>
                  <a:lnTo>
                    <a:pt x="377" y="125"/>
                  </a:lnTo>
                  <a:close/>
                  <a:moveTo>
                    <a:pt x="377" y="125"/>
                  </a:moveTo>
                  <a:lnTo>
                    <a:pt x="377" y="125"/>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38" name="Freeform 89"/>
            <p:cNvSpPr>
              <a:spLocks noChangeAspect="1" noEditPoints="1"/>
            </p:cNvSpPr>
            <p:nvPr/>
          </p:nvSpPr>
          <p:spPr>
            <a:xfrm>
              <a:off x="2629" y="1867"/>
              <a:ext cx="107" cy="347"/>
            </a:xfrm>
            <a:custGeom>
              <a:avLst/>
              <a:gdLst>
                <a:gd name="txL" fmla="*/ 0 w 107"/>
                <a:gd name="txT" fmla="*/ 0 h 347"/>
                <a:gd name="txR" fmla="*/ 107 w 107"/>
                <a:gd name="txB" fmla="*/ 347 h 347"/>
              </a:gdLst>
              <a:ahLst/>
              <a:cxnLst>
                <a:cxn ang="0">
                  <a:pos x="107" y="0"/>
                </a:cxn>
                <a:cxn ang="0">
                  <a:pos x="48" y="72"/>
                </a:cxn>
                <a:cxn ang="0">
                  <a:pos x="24" y="114"/>
                </a:cxn>
                <a:cxn ang="0">
                  <a:pos x="12" y="162"/>
                </a:cxn>
                <a:cxn ang="0">
                  <a:pos x="0" y="209"/>
                </a:cxn>
                <a:cxn ang="0">
                  <a:pos x="0" y="257"/>
                </a:cxn>
                <a:cxn ang="0">
                  <a:pos x="0" y="299"/>
                </a:cxn>
                <a:cxn ang="0">
                  <a:pos x="12" y="347"/>
                </a:cxn>
                <a:cxn ang="0">
                  <a:pos x="12" y="347"/>
                </a:cxn>
                <a:cxn ang="0">
                  <a:pos x="0" y="299"/>
                </a:cxn>
                <a:cxn ang="0">
                  <a:pos x="0" y="257"/>
                </a:cxn>
                <a:cxn ang="0">
                  <a:pos x="0" y="209"/>
                </a:cxn>
                <a:cxn ang="0">
                  <a:pos x="12" y="162"/>
                </a:cxn>
                <a:cxn ang="0">
                  <a:pos x="24" y="114"/>
                </a:cxn>
                <a:cxn ang="0">
                  <a:pos x="48" y="72"/>
                </a:cxn>
                <a:cxn ang="0">
                  <a:pos x="107" y="0"/>
                </a:cxn>
                <a:cxn ang="0">
                  <a:pos x="107" y="0"/>
                </a:cxn>
                <a:cxn ang="0">
                  <a:pos x="107" y="0"/>
                </a:cxn>
                <a:cxn ang="0">
                  <a:pos x="107" y="0"/>
                </a:cxn>
                <a:cxn ang="0">
                  <a:pos x="107" y="0"/>
                </a:cxn>
              </a:cxnLst>
              <a:rect l="txL" t="txT" r="txR" b="txB"/>
              <a:pathLst>
                <a:path w="107" h="347">
                  <a:moveTo>
                    <a:pt x="107" y="0"/>
                  </a:moveTo>
                  <a:lnTo>
                    <a:pt x="48" y="72"/>
                  </a:lnTo>
                  <a:lnTo>
                    <a:pt x="24" y="114"/>
                  </a:lnTo>
                  <a:lnTo>
                    <a:pt x="12" y="162"/>
                  </a:lnTo>
                  <a:lnTo>
                    <a:pt x="0" y="209"/>
                  </a:lnTo>
                  <a:lnTo>
                    <a:pt x="0" y="257"/>
                  </a:lnTo>
                  <a:lnTo>
                    <a:pt x="0" y="299"/>
                  </a:lnTo>
                  <a:lnTo>
                    <a:pt x="12" y="347"/>
                  </a:lnTo>
                  <a:lnTo>
                    <a:pt x="0" y="299"/>
                  </a:lnTo>
                  <a:lnTo>
                    <a:pt x="0" y="257"/>
                  </a:lnTo>
                  <a:lnTo>
                    <a:pt x="0" y="209"/>
                  </a:lnTo>
                  <a:lnTo>
                    <a:pt x="12" y="162"/>
                  </a:lnTo>
                  <a:lnTo>
                    <a:pt x="24" y="114"/>
                  </a:lnTo>
                  <a:lnTo>
                    <a:pt x="48" y="72"/>
                  </a:lnTo>
                  <a:lnTo>
                    <a:pt x="107" y="0"/>
                  </a:lnTo>
                  <a:close/>
                  <a:moveTo>
                    <a:pt x="107" y="0"/>
                  </a:moveTo>
                  <a:lnTo>
                    <a:pt x="107"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39" name="Freeform 90"/>
            <p:cNvSpPr>
              <a:spLocks noChangeAspect="1"/>
            </p:cNvSpPr>
            <p:nvPr/>
          </p:nvSpPr>
          <p:spPr>
            <a:xfrm>
              <a:off x="2994" y="2273"/>
              <a:ext cx="161" cy="198"/>
            </a:xfrm>
            <a:custGeom>
              <a:avLst/>
              <a:gdLst>
                <a:gd name="txL" fmla="*/ 0 w 161"/>
                <a:gd name="txT" fmla="*/ 0 h 198"/>
                <a:gd name="txR" fmla="*/ 161 w 161"/>
                <a:gd name="txB" fmla="*/ 198 h 198"/>
              </a:gdLst>
              <a:ahLst/>
              <a:cxnLst>
                <a:cxn ang="0">
                  <a:pos x="89" y="0"/>
                </a:cxn>
                <a:cxn ang="0">
                  <a:pos x="0" y="198"/>
                </a:cxn>
                <a:cxn ang="0">
                  <a:pos x="161" y="78"/>
                </a:cxn>
                <a:cxn ang="0">
                  <a:pos x="89" y="0"/>
                </a:cxn>
                <a:cxn ang="0">
                  <a:pos x="89" y="0"/>
                </a:cxn>
              </a:cxnLst>
              <a:rect l="txL" t="txT" r="txR" b="txB"/>
              <a:pathLst>
                <a:path w="161" h="198">
                  <a:moveTo>
                    <a:pt x="89" y="0"/>
                  </a:moveTo>
                  <a:lnTo>
                    <a:pt x="0" y="198"/>
                  </a:lnTo>
                  <a:lnTo>
                    <a:pt x="161" y="78"/>
                  </a:lnTo>
                  <a:lnTo>
                    <a:pt x="89"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27740" name="Line 91"/>
            <p:cNvSpPr>
              <a:spLocks noChangeAspect="1"/>
            </p:cNvSpPr>
            <p:nvPr/>
          </p:nvSpPr>
          <p:spPr>
            <a:xfrm>
              <a:off x="1542" y="1434"/>
              <a:ext cx="504" cy="0"/>
            </a:xfrm>
            <a:prstGeom prst="line">
              <a:avLst/>
            </a:prstGeom>
            <a:ln w="9525" cap="flat" cmpd="sng">
              <a:solidFill>
                <a:schemeClr val="tx1"/>
              </a:solidFill>
              <a:prstDash val="solid"/>
              <a:headEnd type="none" w="med" len="med"/>
              <a:tailEnd type="none" w="med" len="med"/>
            </a:ln>
          </p:spPr>
        </p:sp>
        <p:sp>
          <p:nvSpPr>
            <p:cNvPr id="27741" name="Line 92"/>
            <p:cNvSpPr>
              <a:spLocks noChangeAspect="1"/>
            </p:cNvSpPr>
            <p:nvPr/>
          </p:nvSpPr>
          <p:spPr>
            <a:xfrm>
              <a:off x="2544" y="1440"/>
              <a:ext cx="648" cy="0"/>
            </a:xfrm>
            <a:prstGeom prst="line">
              <a:avLst/>
            </a:prstGeom>
            <a:ln w="9525" cap="flat" cmpd="sng">
              <a:solidFill>
                <a:schemeClr val="tx1"/>
              </a:solidFill>
              <a:prstDash val="solid"/>
              <a:headEnd type="none" w="med" len="med"/>
              <a:tailEnd type="none" w="med" len="med"/>
            </a:ln>
          </p:spPr>
        </p:sp>
      </p:grpSp>
      <p:sp>
        <p:nvSpPr>
          <p:cNvPr id="27654"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27655" name="TextBox 3"/>
          <p:cNvSpPr txBox="1"/>
          <p:nvPr/>
        </p:nvSpPr>
        <p:spPr>
          <a:xfrm>
            <a:off x="4702175" y="4827588"/>
            <a:ext cx="3333750" cy="12001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en-US" altLang="zh-CN" sz="2400" dirty="0">
                <a:cs typeface="Arial" panose="020B0604020202020204" pitchFamily="34" charset="0"/>
              </a:rPr>
              <a:t>-V1+V2+V3-V4+V5=0, </a:t>
            </a:r>
            <a:endParaRPr lang="en-US" altLang="zh-CN" sz="2400" dirty="0">
              <a:cs typeface="Arial" panose="020B0604020202020204" pitchFamily="34" charset="0"/>
            </a:endParaRPr>
          </a:p>
          <a:p>
            <a:pPr marL="0" lvl="0" indent="0">
              <a:spcBef>
                <a:spcPct val="0"/>
              </a:spcBef>
              <a:buClrTx/>
              <a:buSzTx/>
              <a:buFontTx/>
              <a:buNone/>
            </a:pPr>
            <a:r>
              <a:rPr lang="zh-CN" altLang="en-US" sz="2400" dirty="0">
                <a:cs typeface="Arial" panose="020B0604020202020204" pitchFamily="34" charset="0"/>
              </a:rPr>
              <a:t>或：</a:t>
            </a:r>
            <a:endParaRPr lang="en-US" altLang="zh-CN" sz="2400" dirty="0">
              <a:cs typeface="Arial" panose="020B0604020202020204" pitchFamily="34" charset="0"/>
            </a:endParaRPr>
          </a:p>
          <a:p>
            <a:pPr marL="0" lvl="0" indent="0">
              <a:spcBef>
                <a:spcPct val="0"/>
              </a:spcBef>
              <a:buClrTx/>
              <a:buSzTx/>
              <a:buFontTx/>
              <a:buNone/>
            </a:pPr>
            <a:r>
              <a:rPr lang="en-US" altLang="zh-CN" sz="2400" dirty="0">
                <a:cs typeface="Arial" panose="020B0604020202020204" pitchFamily="34" charset="0"/>
              </a:rPr>
              <a:t>    V2+V3+V5=V1+V4</a:t>
            </a:r>
            <a:endParaRPr lang="en-US" altLang="zh-CN" sz="2400" dirty="0">
              <a:ea typeface="Arial" panose="020B0604020202020204" pitchFamily="34" charset="0"/>
            </a:endParaRPr>
          </a:p>
        </p:txBody>
      </p:sp>
      <p:graphicFrame>
        <p:nvGraphicFramePr>
          <p:cNvPr id="27656" name="Object 7"/>
          <p:cNvGraphicFramePr>
            <a:graphicFrameLocks noChangeAspect="1"/>
          </p:cNvGraphicFramePr>
          <p:nvPr/>
        </p:nvGraphicFramePr>
        <p:xfrm>
          <a:off x="4451350" y="2597150"/>
          <a:ext cx="1785938" cy="809625"/>
        </p:xfrm>
        <a:graphic>
          <a:graphicData uri="http://schemas.openxmlformats.org/presentationml/2006/ole">
            <mc:AlternateContent xmlns:mc="http://schemas.openxmlformats.org/markup-compatibility/2006">
              <mc:Choice xmlns:v="urn:schemas-microsoft-com:vml" Requires="v">
                <p:oleObj spid="_x0000_s3079" name="" r:id="rId3" imgW="533400" imgH="241300" progId="Equation.DSMT4">
                  <p:embed/>
                </p:oleObj>
              </mc:Choice>
              <mc:Fallback>
                <p:oleObj name="" r:id="rId3" imgW="533400" imgH="241300" progId="Equation.DSMT4">
                  <p:embed/>
                  <p:pic>
                    <p:nvPicPr>
                      <p:cNvPr id="0" name="图片 3078"/>
                      <p:cNvPicPr/>
                      <p:nvPr/>
                    </p:nvPicPr>
                    <p:blipFill>
                      <a:blip r:embed="rId4"/>
                      <a:stretch>
                        <a:fillRect/>
                      </a:stretch>
                    </p:blipFill>
                    <p:spPr>
                      <a:xfrm>
                        <a:off x="4451350" y="2597150"/>
                        <a:ext cx="1785938" cy="809625"/>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27657" name="文本框 96"/>
          <p:cNvSpPr txBox="1"/>
          <p:nvPr/>
        </p:nvSpPr>
        <p:spPr>
          <a:xfrm>
            <a:off x="3405188" y="2706688"/>
            <a:ext cx="1112837" cy="523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2800" b="1" dirty="0">
                <a:solidFill>
                  <a:srgbClr val="0000FF"/>
                </a:solidFill>
                <a:cs typeface="Arial" panose="020B0604020202020204" pitchFamily="34" charset="0"/>
              </a:rPr>
              <a:t>或：</a:t>
            </a:r>
            <a:endParaRPr lang="zh-CN" altLang="en-US" sz="2800" b="1" dirty="0">
              <a:solidFill>
                <a:srgbClr val="0000FF"/>
              </a:solidFill>
            </a:endParaRPr>
          </a:p>
        </p:txBody>
      </p:sp>
      <p:sp>
        <p:nvSpPr>
          <p:cNvPr id="27658" name="文本框 93"/>
          <p:cNvSpPr txBox="1"/>
          <p:nvPr/>
        </p:nvSpPr>
        <p:spPr>
          <a:xfrm>
            <a:off x="6999288" y="2819400"/>
            <a:ext cx="2041525"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2400" b="1" dirty="0"/>
              <a:t>（能量守恒）</a:t>
            </a:r>
            <a:endParaRPr lang="zh-CN" altLang="en-US" sz="2400" b="1" dirty="0"/>
          </a:p>
        </p:txBody>
      </p:sp>
      <p:sp>
        <p:nvSpPr>
          <p:cNvPr id="2" name="文本框 1"/>
          <p:cNvSpPr txBox="1"/>
          <p:nvPr/>
        </p:nvSpPr>
        <p:spPr>
          <a:xfrm>
            <a:off x="4409440" y="4344035"/>
            <a:ext cx="3534410" cy="368300"/>
          </a:xfrm>
          <a:prstGeom prst="rect">
            <a:avLst/>
          </a:prstGeom>
          <a:noFill/>
          <a:ln>
            <a:solidFill>
              <a:schemeClr val="accent1"/>
            </a:solidFill>
          </a:ln>
        </p:spPr>
        <p:txBody>
          <a:bodyPr wrap="square" rtlCol="0">
            <a:spAutoFit/>
          </a:bodyPr>
          <a:p>
            <a:r>
              <a:rPr lang="zh-CN" altLang="en-US"/>
              <a:t>电压降：</a:t>
            </a:r>
            <a:r>
              <a:rPr lang="en-US" altLang="zh-CN"/>
              <a:t>“+ </a:t>
            </a:r>
            <a:r>
              <a:rPr lang="en-US" altLang="zh-CN">
                <a:cs typeface="Arial" panose="020B0604020202020204" pitchFamily="34" charset="0"/>
              </a:rPr>
              <a:t>→-”</a:t>
            </a:r>
            <a:r>
              <a:rPr lang="zh-CN" altLang="en-US">
                <a:cs typeface="Arial" panose="020B0604020202020204" pitchFamily="34" charset="0"/>
              </a:rPr>
              <a:t>为正，反之为负</a:t>
            </a:r>
            <a:endParaRPr lang="zh-CN" altLang="en-US">
              <a:cs typeface="Arial" panose="020B0604020202020204" pitchFamily="34" charset="0"/>
            </a:endParaRPr>
          </a:p>
        </p:txBody>
      </p:sp>
      <p:pic>
        <p:nvPicPr>
          <p:cNvPr id="3" name="图片 2"/>
          <p:cNvPicPr>
            <a:picLocks noChangeAspect="1"/>
          </p:cNvPicPr>
          <p:nvPr/>
        </p:nvPicPr>
        <p:blipFill>
          <a:blip r:embed="rId5"/>
          <a:stretch>
            <a:fillRect/>
          </a:stretch>
        </p:blipFill>
        <p:spPr>
          <a:xfrm>
            <a:off x="469900" y="3583305"/>
            <a:ext cx="7886700" cy="528955"/>
          </a:xfrm>
          <a:prstGeom prst="rect">
            <a:avLst/>
          </a:prstGeom>
        </p:spPr>
      </p:pic>
      <p:sp>
        <p:nvSpPr>
          <p:cNvPr id="4" name="文本框 3"/>
          <p:cNvSpPr txBox="1"/>
          <p:nvPr/>
        </p:nvSpPr>
        <p:spPr>
          <a:xfrm>
            <a:off x="3798570" y="6118860"/>
            <a:ext cx="4416425" cy="36830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p>
            <a:r>
              <a:rPr lang="zh-CN" altLang="en-US"/>
              <a:t>请写出逆时针方向的表达式，并比较结果</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P spid="4" grpId="0" animBg="1"/>
      <p:bldP spid="4"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8674" name="Picture 5"/>
          <p:cNvPicPr>
            <a:picLocks noChangeAspect="1"/>
          </p:cNvPicPr>
          <p:nvPr/>
        </p:nvPicPr>
        <p:blipFill>
          <a:blip r:embed="rId1"/>
          <a:stretch>
            <a:fillRect/>
          </a:stretch>
        </p:blipFill>
        <p:spPr>
          <a:xfrm>
            <a:off x="971550" y="620713"/>
            <a:ext cx="7623175" cy="4908550"/>
          </a:xfrm>
          <a:prstGeom prst="rect">
            <a:avLst/>
          </a:prstGeom>
          <a:noFill/>
          <a:ln w="9525">
            <a:noFill/>
          </a:ln>
        </p:spPr>
      </p:pic>
      <p:sp>
        <p:nvSpPr>
          <p:cNvPr id="28675" name="Text Box 6"/>
          <p:cNvSpPr txBox="1"/>
          <p:nvPr/>
        </p:nvSpPr>
        <p:spPr>
          <a:xfrm>
            <a:off x="3176588" y="6296025"/>
            <a:ext cx="2790825"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cs typeface="Arial" panose="020B0604020202020204" pitchFamily="34" charset="0"/>
              </a:rPr>
              <a:t>串联电压源的等效</a:t>
            </a:r>
            <a:r>
              <a:rPr lang="en-US" altLang="zh-CN" sz="2000" b="1" dirty="0">
                <a:cs typeface="Arial" panose="020B0604020202020204" pitchFamily="34" charset="0"/>
              </a:rPr>
              <a:t> </a:t>
            </a:r>
            <a:endParaRPr lang="en-US" altLang="zh-CN" sz="2000" b="1" dirty="0">
              <a:ea typeface="Arial" panose="020B0604020202020204" pitchFamily="34" charset="0"/>
            </a:endParaRPr>
          </a:p>
        </p:txBody>
      </p:sp>
      <p:sp>
        <p:nvSpPr>
          <p:cNvPr id="28676" name="Text Box 7"/>
          <p:cNvSpPr txBox="1"/>
          <p:nvPr/>
        </p:nvSpPr>
        <p:spPr>
          <a:xfrm>
            <a:off x="1677988" y="5300663"/>
            <a:ext cx="1296987" cy="3698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cs typeface="Arial" panose="020B0604020202020204" pitchFamily="34" charset="0"/>
              </a:rPr>
              <a:t>(a)</a:t>
            </a:r>
            <a:r>
              <a:rPr lang="zh-CN" altLang="en-US" sz="1800" b="1" dirty="0">
                <a:cs typeface="Arial" panose="020B0604020202020204" pitchFamily="34" charset="0"/>
              </a:rPr>
              <a:t>原电路</a:t>
            </a:r>
            <a:endParaRPr lang="en-US" altLang="zh-CN" sz="1800" b="1" dirty="0">
              <a:ea typeface="Arial" panose="020B0604020202020204" pitchFamily="34" charset="0"/>
            </a:endParaRPr>
          </a:p>
        </p:txBody>
      </p:sp>
      <p:sp>
        <p:nvSpPr>
          <p:cNvPr id="28677" name="Text Box 8"/>
          <p:cNvSpPr txBox="1"/>
          <p:nvPr/>
        </p:nvSpPr>
        <p:spPr>
          <a:xfrm>
            <a:off x="5661025" y="5364163"/>
            <a:ext cx="2016125"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cs typeface="Arial" panose="020B0604020202020204" pitchFamily="34" charset="0"/>
              </a:rPr>
              <a:t>(b)</a:t>
            </a:r>
            <a:r>
              <a:rPr lang="zh-CN" altLang="en-US" sz="1800" b="1" dirty="0">
                <a:cs typeface="Arial" panose="020B0604020202020204" pitchFamily="34" charset="0"/>
              </a:rPr>
              <a:t>等效电路</a:t>
            </a:r>
            <a:endParaRPr lang="en-US" altLang="zh-CN" sz="1800" b="1" dirty="0">
              <a:ea typeface="Arial" panose="020B0604020202020204" pitchFamily="34" charset="0"/>
            </a:endParaRPr>
          </a:p>
        </p:txBody>
      </p:sp>
      <p:sp>
        <p:nvSpPr>
          <p:cNvPr id="28678" name="Text Box 9"/>
          <p:cNvSpPr txBox="1"/>
          <p:nvPr/>
        </p:nvSpPr>
        <p:spPr>
          <a:xfrm>
            <a:off x="3779838" y="3059113"/>
            <a:ext cx="1368425" cy="3698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cs typeface="Arial" panose="020B0604020202020204" pitchFamily="34" charset="0"/>
              </a:rPr>
              <a:t>等效</a:t>
            </a:r>
            <a:endParaRPr lang="en-US" altLang="zh-CN" sz="1800" b="1" dirty="0">
              <a:ea typeface="Arial" panose="020B0604020202020204" pitchFamily="34" charset="0"/>
            </a:endParaRPr>
          </a:p>
        </p:txBody>
      </p:sp>
      <p:sp>
        <p:nvSpPr>
          <p:cNvPr id="28679"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28680" name="TextBox 3"/>
          <p:cNvSpPr txBox="1"/>
          <p:nvPr/>
        </p:nvSpPr>
        <p:spPr>
          <a:xfrm>
            <a:off x="5070475" y="639763"/>
            <a:ext cx="2965450" cy="12001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2400" b="1" dirty="0">
                <a:cs typeface="Arial" panose="020B0604020202020204" pitchFamily="34" charset="0"/>
              </a:rPr>
              <a:t>对左边电路用</a:t>
            </a:r>
            <a:r>
              <a:rPr lang="en-US" altLang="zh-CN" sz="2400" b="1" dirty="0">
                <a:cs typeface="Arial" panose="020B0604020202020204" pitchFamily="34" charset="0"/>
              </a:rPr>
              <a:t>KVL</a:t>
            </a:r>
            <a:r>
              <a:rPr lang="zh-CN" altLang="en-US" sz="2400" b="1" dirty="0">
                <a:cs typeface="Arial" panose="020B0604020202020204" pitchFamily="34" charset="0"/>
              </a:rPr>
              <a:t>：</a:t>
            </a:r>
            <a:endParaRPr lang="en-US" altLang="zh-CN" sz="2400" b="1" dirty="0">
              <a:cs typeface="Arial" panose="020B0604020202020204" pitchFamily="34" charset="0"/>
            </a:endParaRPr>
          </a:p>
          <a:p>
            <a:pPr marL="0" lvl="0" indent="0">
              <a:spcBef>
                <a:spcPct val="0"/>
              </a:spcBef>
              <a:buClrTx/>
              <a:buSzTx/>
              <a:buFontTx/>
              <a:buNone/>
            </a:pPr>
            <a:r>
              <a:rPr lang="en-US" altLang="zh-CN" sz="2400" b="1" dirty="0">
                <a:cs typeface="Arial" panose="020B0604020202020204" pitchFamily="34" charset="0"/>
              </a:rPr>
              <a:t>-V</a:t>
            </a:r>
            <a:r>
              <a:rPr lang="en-US" altLang="zh-CN" sz="2400" b="1" baseline="-25000" dirty="0">
                <a:cs typeface="Arial" panose="020B0604020202020204" pitchFamily="34" charset="0"/>
              </a:rPr>
              <a:t>ab</a:t>
            </a:r>
            <a:r>
              <a:rPr lang="en-US" altLang="zh-CN" sz="2400" b="1" dirty="0">
                <a:cs typeface="Arial" panose="020B0604020202020204" pitchFamily="34" charset="0"/>
              </a:rPr>
              <a:t>+V</a:t>
            </a:r>
            <a:r>
              <a:rPr lang="en-US" altLang="zh-CN" sz="2400" b="1" baseline="-25000" dirty="0">
                <a:cs typeface="Arial" panose="020B0604020202020204" pitchFamily="34" charset="0"/>
              </a:rPr>
              <a:t>1</a:t>
            </a:r>
            <a:r>
              <a:rPr lang="en-US" altLang="zh-CN" sz="2400" b="1" dirty="0">
                <a:cs typeface="Arial" panose="020B0604020202020204" pitchFamily="34" charset="0"/>
              </a:rPr>
              <a:t>+V</a:t>
            </a:r>
            <a:r>
              <a:rPr lang="en-US" altLang="zh-CN" sz="2400" b="1" baseline="-25000" dirty="0">
                <a:cs typeface="Arial" panose="020B0604020202020204" pitchFamily="34" charset="0"/>
              </a:rPr>
              <a:t>2</a:t>
            </a:r>
            <a:r>
              <a:rPr lang="en-US" altLang="zh-CN" sz="2400" b="1" dirty="0">
                <a:cs typeface="Arial" panose="020B0604020202020204" pitchFamily="34" charset="0"/>
              </a:rPr>
              <a:t>-V</a:t>
            </a:r>
            <a:r>
              <a:rPr lang="en-US" altLang="zh-CN" sz="2400" b="1" baseline="-25000" dirty="0">
                <a:cs typeface="Arial" panose="020B0604020202020204" pitchFamily="34" charset="0"/>
              </a:rPr>
              <a:t>3</a:t>
            </a:r>
            <a:r>
              <a:rPr lang="en-US" altLang="zh-CN" sz="2400" b="1" dirty="0">
                <a:cs typeface="Arial" panose="020B0604020202020204" pitchFamily="34" charset="0"/>
              </a:rPr>
              <a:t>=0</a:t>
            </a:r>
            <a:endParaRPr lang="en-US" altLang="zh-CN" sz="2400" b="1" dirty="0">
              <a:cs typeface="Arial" panose="020B0604020202020204" pitchFamily="34" charset="0"/>
            </a:endParaRPr>
          </a:p>
          <a:p>
            <a:pPr marL="0" lvl="0" indent="0">
              <a:spcBef>
                <a:spcPct val="0"/>
              </a:spcBef>
              <a:buClrTx/>
              <a:buSzTx/>
              <a:buFontTx/>
              <a:buNone/>
            </a:pPr>
            <a:r>
              <a:rPr lang="zh-CN" altLang="en-US" sz="2400" b="1" dirty="0">
                <a:cs typeface="Arial" panose="020B0604020202020204" pitchFamily="34" charset="0"/>
              </a:rPr>
              <a:t>即：</a:t>
            </a:r>
            <a:r>
              <a:rPr lang="en-US" altLang="zh-CN" sz="2400" b="1" dirty="0">
                <a:cs typeface="Arial" panose="020B0604020202020204" pitchFamily="34" charset="0"/>
              </a:rPr>
              <a:t>V</a:t>
            </a:r>
            <a:r>
              <a:rPr lang="en-US" altLang="zh-CN" sz="2400" b="1" baseline="-25000" dirty="0">
                <a:cs typeface="Arial" panose="020B0604020202020204" pitchFamily="34" charset="0"/>
              </a:rPr>
              <a:t>ab</a:t>
            </a:r>
            <a:r>
              <a:rPr lang="en-US" altLang="zh-CN" sz="2400" b="1" dirty="0">
                <a:cs typeface="Arial" panose="020B0604020202020204" pitchFamily="34" charset="0"/>
              </a:rPr>
              <a:t> =V</a:t>
            </a:r>
            <a:r>
              <a:rPr lang="en-US" altLang="zh-CN" sz="2400" b="1" baseline="-25000" dirty="0">
                <a:cs typeface="Arial" panose="020B0604020202020204" pitchFamily="34" charset="0"/>
              </a:rPr>
              <a:t>1</a:t>
            </a:r>
            <a:r>
              <a:rPr lang="en-US" altLang="zh-CN" sz="2400" b="1" dirty="0">
                <a:cs typeface="Arial" panose="020B0604020202020204" pitchFamily="34" charset="0"/>
              </a:rPr>
              <a:t>+V</a:t>
            </a:r>
            <a:r>
              <a:rPr lang="en-US" altLang="zh-CN" sz="2400" b="1" baseline="-25000" dirty="0">
                <a:cs typeface="Arial" panose="020B0604020202020204" pitchFamily="34" charset="0"/>
              </a:rPr>
              <a:t>2</a:t>
            </a:r>
            <a:r>
              <a:rPr lang="en-US" altLang="zh-CN" sz="2400" b="1" dirty="0">
                <a:cs typeface="Arial" panose="020B0604020202020204" pitchFamily="34" charset="0"/>
              </a:rPr>
              <a:t>-V</a:t>
            </a:r>
            <a:r>
              <a:rPr lang="en-US" altLang="zh-CN" sz="2400" b="1" baseline="-25000" dirty="0">
                <a:cs typeface="Arial" panose="020B0604020202020204" pitchFamily="34" charset="0"/>
              </a:rPr>
              <a:t>3</a:t>
            </a:r>
            <a:endParaRPr lang="en-US" altLang="zh-CN" sz="2400" b="1" baseline="-25000" dirty="0">
              <a:ea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39750" y="549275"/>
            <a:ext cx="8229600" cy="1371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4000" b="1" i="0" u="none" strike="noStrike" kern="0" cap="none" spc="0" normalizeH="0" baseline="0" noProof="0" dirty="0">
                <a:ln>
                  <a:noFill/>
                </a:ln>
                <a:solidFill>
                  <a:schemeClr val="bg2">
                    <a:lumMod val="60000"/>
                    <a:lumOff val="40000"/>
                  </a:schemeClr>
                </a:solidFill>
                <a:effectLst/>
                <a:uLnTx/>
                <a:uFillTx/>
                <a:latin typeface="+mj-lt"/>
                <a:ea typeface="+mj-ea"/>
                <a:cs typeface="+mj-cs"/>
              </a:rPr>
              <a:t>那么，问题来了：</a:t>
            </a:r>
            <a:endParaRPr kumimoji="0" lang="zh-CN" altLang="en-US" sz="4000" b="1" i="0" u="none" strike="noStrike" kern="0" cap="none" spc="0" normalizeH="0" baseline="0" noProof="0" dirty="0">
              <a:ln>
                <a:noFill/>
              </a:ln>
              <a:solidFill>
                <a:schemeClr val="bg2">
                  <a:lumMod val="60000"/>
                  <a:lumOff val="40000"/>
                </a:schemeClr>
              </a:solidFill>
              <a:effectLst/>
              <a:uLnTx/>
              <a:uFillTx/>
              <a:latin typeface="+mj-lt"/>
              <a:ea typeface="+mj-ea"/>
              <a:cs typeface="+mj-cs"/>
            </a:endParaRPr>
          </a:p>
        </p:txBody>
      </p:sp>
      <p:sp>
        <p:nvSpPr>
          <p:cNvPr id="29699" name="内容占位符 2"/>
          <p:cNvSpPr>
            <a:spLocks noGrp="1"/>
          </p:cNvSpPr>
          <p:nvPr>
            <p:ph idx="1"/>
          </p:nvPr>
        </p:nvSpPr>
        <p:spPr>
          <a:xfrm>
            <a:off x="1187450" y="1773238"/>
            <a:ext cx="6400800" cy="1871662"/>
          </a:xfrm>
        </p:spPr>
        <p:txBody>
          <a:bodyPr vert="horz" wrap="square" lIns="91440" tIns="45720" rIns="91440" bIns="45720" anchor="t"/>
          <a:p>
            <a:r>
              <a:rPr lang="zh-CN" altLang="en-US" sz="2800" b="1" dirty="0"/>
              <a:t>刚才是</a:t>
            </a:r>
            <a:r>
              <a:rPr lang="zh-CN" altLang="en-US" sz="2800" b="1" u="sng" dirty="0"/>
              <a:t>电流源并联</a:t>
            </a:r>
            <a:r>
              <a:rPr lang="zh-CN" altLang="en-US" sz="2800" b="1" dirty="0"/>
              <a:t>、</a:t>
            </a:r>
            <a:r>
              <a:rPr lang="zh-CN" altLang="en-US" sz="2800" b="1" u="sng" dirty="0"/>
              <a:t>电压源串联</a:t>
            </a:r>
            <a:r>
              <a:rPr lang="zh-CN" altLang="en-US" sz="2800" b="1" dirty="0"/>
              <a:t>等效的例子，那么，能不能将</a:t>
            </a:r>
            <a:r>
              <a:rPr lang="zh-CN" altLang="en-US" sz="2800" b="1" u="sng" dirty="0"/>
              <a:t>电流源进行串联等效</a:t>
            </a:r>
            <a:r>
              <a:rPr lang="zh-CN" altLang="en-US" sz="2800" b="1" dirty="0"/>
              <a:t>、</a:t>
            </a:r>
            <a:r>
              <a:rPr lang="zh-CN" altLang="en-US" sz="2800" b="1" u="sng" dirty="0"/>
              <a:t>电压源进行并联</a:t>
            </a:r>
            <a:r>
              <a:rPr lang="zh-CN" altLang="en-US" sz="2800" b="1" dirty="0"/>
              <a:t>等效？等效的结果是什么？</a:t>
            </a:r>
            <a:endParaRPr lang="zh-CN" altLang="en-US" sz="2800" b="1" dirty="0"/>
          </a:p>
        </p:txBody>
      </p:sp>
      <p:sp>
        <p:nvSpPr>
          <p:cNvPr id="29700" name="灯片编号占位符 3"/>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5" name="TextBox 4"/>
          <p:cNvSpPr txBox="1"/>
          <p:nvPr/>
        </p:nvSpPr>
        <p:spPr>
          <a:xfrm>
            <a:off x="971550" y="4149725"/>
            <a:ext cx="7777163" cy="1384300"/>
          </a:xfrm>
          <a:prstGeom prst="rect">
            <a:avLst/>
          </a:prstGeom>
          <a:noFill/>
        </p:spPr>
        <p:txBody>
          <a:bodyPr>
            <a:spAutoFit/>
          </a:bodyPr>
          <a:lstStyle/>
          <a:p>
            <a:pPr marL="457200" marR="0" indent="-457200" defTabSz="914400">
              <a:buClrTx/>
              <a:buSzTx/>
              <a:buFont typeface="Wingdings" panose="05000000000000000000" pitchFamily="2" charset="2"/>
              <a:buChar char="n"/>
              <a:defRPr/>
            </a:pPr>
            <a:r>
              <a:rPr kumimoji="0" lang="zh-CN" altLang="en-US" sz="2800" b="1" kern="1200" cap="none" spc="0" normalizeH="0" baseline="0" noProof="0" dirty="0">
                <a:latin typeface="+mn-lt"/>
                <a:ea typeface="+mn-ea"/>
                <a:cs typeface="+mn-cs"/>
              </a:rPr>
              <a:t>为了避免违背</a:t>
            </a:r>
            <a:r>
              <a:rPr kumimoji="0" lang="en-US" altLang="zh-CN" sz="2800" b="1" kern="1200" cap="none" spc="0" normalizeH="0" baseline="0" noProof="0" dirty="0">
                <a:latin typeface="+mn-lt"/>
                <a:ea typeface="+mn-ea"/>
                <a:cs typeface="+mn-cs"/>
              </a:rPr>
              <a:t>KVL</a:t>
            </a:r>
            <a:r>
              <a:rPr kumimoji="0" lang="zh-CN" altLang="en-US" sz="2800" b="1" kern="1200" cap="none" spc="0" normalizeH="0" baseline="0" noProof="0" dirty="0">
                <a:latin typeface="+mn-lt"/>
                <a:ea typeface="+mn-ea"/>
                <a:cs typeface="+mn-cs"/>
              </a:rPr>
              <a:t>，电路中不可能并联两个不同的电压源</a:t>
            </a:r>
            <a:r>
              <a:rPr kumimoji="0" lang="en-US" altLang="zh-CN" sz="2800" b="1" kern="1200" cap="none" spc="0" normalizeH="0" baseline="0" noProof="0" dirty="0">
                <a:latin typeface="+mn-lt"/>
                <a:ea typeface="+mn-ea"/>
                <a:cs typeface="+mn-cs"/>
              </a:rPr>
              <a:t>V1</a:t>
            </a:r>
            <a:r>
              <a:rPr kumimoji="0" lang="zh-CN" altLang="en-US" sz="2800" b="1" kern="1200" cap="none" spc="0" normalizeH="0" baseline="0" noProof="0" dirty="0">
                <a:latin typeface="+mn-lt"/>
                <a:ea typeface="+mn-ea"/>
                <a:cs typeface="+mn-cs"/>
              </a:rPr>
              <a:t>和</a:t>
            </a:r>
            <a:r>
              <a:rPr kumimoji="0" lang="en-US" altLang="zh-CN" sz="2800" b="1" kern="1200" cap="none" spc="0" normalizeH="0" baseline="0" noProof="0" dirty="0">
                <a:latin typeface="+mn-lt"/>
                <a:ea typeface="+mn-ea"/>
                <a:cs typeface="+mn-cs"/>
              </a:rPr>
              <a:t>V2</a:t>
            </a:r>
            <a:r>
              <a:rPr kumimoji="0" lang="zh-CN" altLang="en-US" sz="2800" b="1" kern="1200" cap="none" spc="0" normalizeH="0" baseline="0" noProof="0" dirty="0">
                <a:latin typeface="+mn-lt"/>
                <a:ea typeface="+mn-ea"/>
                <a:cs typeface="+mn-cs"/>
              </a:rPr>
              <a:t>，除非</a:t>
            </a:r>
            <a:r>
              <a:rPr kumimoji="0" lang="en-US" altLang="zh-CN" sz="2800" b="1" kern="1200" cap="none" spc="0" normalizeH="0" baseline="0" noProof="0" dirty="0">
                <a:latin typeface="+mn-lt"/>
                <a:ea typeface="+mn-ea"/>
                <a:cs typeface="+mn-cs"/>
              </a:rPr>
              <a:t>V1=V2</a:t>
            </a:r>
            <a:r>
              <a:rPr kumimoji="0" lang="zh-CN" altLang="en-US" sz="2800" b="1" kern="1200" cap="none" spc="0" normalizeH="0" baseline="0" noProof="0" dirty="0">
                <a:latin typeface="+mn-lt"/>
                <a:ea typeface="+mn-ea"/>
                <a:cs typeface="+mn-cs"/>
              </a:rPr>
              <a:t>；同理，除非</a:t>
            </a:r>
            <a:r>
              <a:rPr kumimoji="0" lang="en-US" altLang="zh-CN" sz="2800" b="1" kern="1200" cap="none" spc="0" normalizeH="0" baseline="0" noProof="0" dirty="0">
                <a:latin typeface="+mn-lt"/>
                <a:ea typeface="+mn-ea"/>
                <a:cs typeface="+mn-cs"/>
              </a:rPr>
              <a:t>I1=I2, </a:t>
            </a:r>
            <a:r>
              <a:rPr kumimoji="0" lang="zh-CN" altLang="en-US" sz="2800" b="1" kern="1200" cap="none" spc="0" normalizeH="0" baseline="0" noProof="0" dirty="0">
                <a:latin typeface="+mn-lt"/>
                <a:ea typeface="+mn-ea"/>
                <a:cs typeface="+mn-cs"/>
              </a:rPr>
              <a:t>电流源才可能串联。</a:t>
            </a:r>
            <a:endParaRPr kumimoji="0" lang="en-US" sz="2800" b="1" kern="1200" cap="none" spc="0" normalizeH="0" baseline="0" noProof="0" dirty="0">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2" name="Text Box 4"/>
          <p:cNvSpPr txBox="1">
            <a:spLocks noChangeArrowheads="1"/>
          </p:cNvSpPr>
          <p:nvPr/>
        </p:nvSpPr>
        <p:spPr bwMode="auto">
          <a:xfrm>
            <a:off x="395288" y="836613"/>
            <a:ext cx="8424863" cy="584200"/>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32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例</a:t>
            </a:r>
            <a:r>
              <a:rPr kumimoji="0" lang="en-US" altLang="zh-CN" sz="2400" b="1" i="0" u="none" strike="noStrike" kern="1200" cap="none" spc="0" normalizeH="0" baseline="0" noProof="0" dirty="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dirty="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注意：解题思路与规范</a:t>
            </a:r>
            <a:r>
              <a:rPr kumimoji="0" lang="en-US" altLang="zh-CN" sz="2400" b="1" i="0" u="none" strike="noStrike" kern="1200" cap="none" spc="0" normalizeH="0" baseline="0" noProof="0" dirty="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sym typeface="Wingdings" panose="05000000000000000000" pitchFamily="2" charset="2"/>
              </a:rPr>
              <a:t>标签</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sym typeface="Wingdings" panose="05000000000000000000" pitchFamily="2" charset="2"/>
              </a:rPr>
              <a:t>+</a:t>
            </a:r>
            <a:r>
              <a:rPr kumimoji="0" lang="zh-CN" altLang="en-US" sz="24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原始方程</a:t>
            </a:r>
            <a:r>
              <a:rPr kumimoji="0" lang="zh-CN" altLang="en-US" sz="2400" b="1" i="0" u="none" strike="noStrike" kern="1200" cap="none" spc="0" normalizeH="0" baseline="0" noProof="0" dirty="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dirty="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a:t>
            </a:r>
            <a:endParaRPr kumimoji="0" lang="en-US" altLang="zh-CN" sz="2400" b="1" i="0" u="none" strike="noStrike" kern="1200" cap="none" spc="0" normalizeH="0" baseline="0" noProof="0" dirty="0">
              <a:ln>
                <a:noFill/>
              </a:ln>
              <a:solidFill>
                <a:schemeClr val="bg1">
                  <a:lumMod val="50000"/>
                </a:schemeClr>
              </a:solidFill>
              <a:effectLst/>
              <a:uLnTx/>
              <a:uFillTx/>
              <a:latin typeface="Arial" panose="020B0604020202020204" pitchFamily="34" charset="0"/>
              <a:ea typeface="宋体" panose="02010600030101010101" pitchFamily="2" charset="-122"/>
              <a:cs typeface="+mn-cs"/>
            </a:endParaRPr>
          </a:p>
        </p:txBody>
      </p:sp>
      <p:pic>
        <p:nvPicPr>
          <p:cNvPr id="30723" name="Picture 7"/>
          <p:cNvPicPr>
            <a:picLocks noChangeAspect="1"/>
          </p:cNvPicPr>
          <p:nvPr/>
        </p:nvPicPr>
        <p:blipFill>
          <a:blip r:embed="rId1"/>
          <a:stretch>
            <a:fillRect/>
          </a:stretch>
        </p:blipFill>
        <p:spPr>
          <a:xfrm>
            <a:off x="2124075" y="3157538"/>
            <a:ext cx="4679950" cy="2862262"/>
          </a:xfrm>
          <a:prstGeom prst="rect">
            <a:avLst/>
          </a:prstGeom>
          <a:noFill/>
          <a:ln w="9525">
            <a:noFill/>
          </a:ln>
        </p:spPr>
      </p:pic>
      <p:sp>
        <p:nvSpPr>
          <p:cNvPr id="30724" name="Text Box 8"/>
          <p:cNvSpPr txBox="1"/>
          <p:nvPr/>
        </p:nvSpPr>
        <p:spPr>
          <a:xfrm>
            <a:off x="1835150" y="1611313"/>
            <a:ext cx="8208963" cy="584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b="1" dirty="0">
                <a:latin typeface="Times New Roman" panose="02020603050405020304" pitchFamily="18" charset="0"/>
                <a:cs typeface="Arial" panose="020B0604020202020204" pitchFamily="34" charset="0"/>
              </a:rPr>
              <a:t>确定图中电路的</a:t>
            </a:r>
            <a:r>
              <a:rPr lang="en-US" altLang="zh-CN" b="1" dirty="0">
                <a:latin typeface="Times New Roman" panose="02020603050405020304" pitchFamily="18" charset="0"/>
                <a:cs typeface="Arial" panose="020B0604020202020204" pitchFamily="34" charset="0"/>
              </a:rPr>
              <a:t>      </a:t>
            </a:r>
            <a:r>
              <a:rPr lang="zh-CN" altLang="en-US" b="1" dirty="0">
                <a:latin typeface="Times New Roman" panose="02020603050405020304" pitchFamily="18" charset="0"/>
                <a:cs typeface="Arial" panose="020B0604020202020204" pitchFamily="34" charset="0"/>
              </a:rPr>
              <a:t>和</a:t>
            </a:r>
            <a:r>
              <a:rPr lang="en-US" altLang="zh-CN" b="1" dirty="0">
                <a:latin typeface="Times New Roman" panose="02020603050405020304" pitchFamily="18" charset="0"/>
                <a:cs typeface="Arial" panose="020B0604020202020204" pitchFamily="34" charset="0"/>
              </a:rPr>
              <a:t>     </a:t>
            </a:r>
            <a:r>
              <a:rPr lang="zh-CN" altLang="en-US" b="1" dirty="0">
                <a:latin typeface="Times New Roman" panose="02020603050405020304" pitchFamily="18" charset="0"/>
                <a:cs typeface="Arial" panose="020B0604020202020204" pitchFamily="34" charset="0"/>
              </a:rPr>
              <a:t>。</a:t>
            </a:r>
            <a:r>
              <a:rPr lang="en-US" altLang="zh-CN" b="1" dirty="0">
                <a:latin typeface="Times New Roman" panose="02020603050405020304" pitchFamily="18" charset="0"/>
                <a:cs typeface="Arial" panose="020B0604020202020204" pitchFamily="34" charset="0"/>
              </a:rPr>
              <a:t>  </a:t>
            </a:r>
            <a:endParaRPr lang="en-US" altLang="zh-CN" b="1" dirty="0">
              <a:latin typeface="Times New Roman" panose="02020603050405020304" pitchFamily="18" charset="0"/>
              <a:ea typeface="Arial" panose="020B0604020202020204" pitchFamily="34" charset="0"/>
            </a:endParaRPr>
          </a:p>
        </p:txBody>
      </p:sp>
      <p:graphicFrame>
        <p:nvGraphicFramePr>
          <p:cNvPr id="30725" name="Object 9"/>
          <p:cNvGraphicFramePr>
            <a:graphicFrameLocks noChangeAspect="1"/>
          </p:cNvGraphicFramePr>
          <p:nvPr/>
        </p:nvGraphicFramePr>
        <p:xfrm>
          <a:off x="4732338" y="1557338"/>
          <a:ext cx="720725" cy="671512"/>
        </p:xfrm>
        <a:graphic>
          <a:graphicData uri="http://schemas.openxmlformats.org/presentationml/2006/ole">
            <mc:AlternateContent xmlns:mc="http://schemas.openxmlformats.org/markup-compatibility/2006">
              <mc:Choice xmlns:v="urn:schemas-microsoft-com:vml" Requires="v">
                <p:oleObj spid="_x0000_s3080" name="" r:id="rId2" imgW="152400" imgH="228600" progId="Equation.3">
                  <p:embed/>
                </p:oleObj>
              </mc:Choice>
              <mc:Fallback>
                <p:oleObj name="" r:id="rId2" imgW="152400" imgH="228600" progId="Equation.3">
                  <p:embed/>
                  <p:pic>
                    <p:nvPicPr>
                      <p:cNvPr id="0" name="图片 3079"/>
                      <p:cNvPicPr/>
                      <p:nvPr/>
                    </p:nvPicPr>
                    <p:blipFill>
                      <a:blip r:embed="rId3"/>
                      <a:stretch>
                        <a:fillRect/>
                      </a:stretch>
                    </p:blipFill>
                    <p:spPr>
                      <a:xfrm>
                        <a:off x="4732338" y="1557338"/>
                        <a:ext cx="720725" cy="671512"/>
                      </a:xfrm>
                      <a:prstGeom prst="rect">
                        <a:avLst/>
                      </a:prstGeom>
                      <a:noFill/>
                      <a:ln w="38100">
                        <a:noFill/>
                        <a:miter/>
                      </a:ln>
                    </p:spPr>
                  </p:pic>
                </p:oleObj>
              </mc:Fallback>
            </mc:AlternateContent>
          </a:graphicData>
        </a:graphic>
      </p:graphicFrame>
      <p:graphicFrame>
        <p:nvGraphicFramePr>
          <p:cNvPr id="30726" name="Object 10"/>
          <p:cNvGraphicFramePr>
            <a:graphicFrameLocks noChangeAspect="1"/>
          </p:cNvGraphicFramePr>
          <p:nvPr/>
        </p:nvGraphicFramePr>
        <p:xfrm>
          <a:off x="5795963" y="1646238"/>
          <a:ext cx="466725" cy="514350"/>
        </p:xfrm>
        <a:graphic>
          <a:graphicData uri="http://schemas.openxmlformats.org/presentationml/2006/ole">
            <mc:AlternateContent xmlns:mc="http://schemas.openxmlformats.org/markup-compatibility/2006">
              <mc:Choice xmlns:v="urn:schemas-microsoft-com:vml" Requires="v">
                <p:oleObj spid="_x0000_s3085" name="" r:id="rId4" imgW="88900" imgH="164465" progId="Equation.3">
                  <p:embed/>
                </p:oleObj>
              </mc:Choice>
              <mc:Fallback>
                <p:oleObj name="" r:id="rId4" imgW="88900" imgH="164465" progId="Equation.3">
                  <p:embed/>
                  <p:pic>
                    <p:nvPicPr>
                      <p:cNvPr id="0" name="图片 3084"/>
                      <p:cNvPicPr/>
                      <p:nvPr/>
                    </p:nvPicPr>
                    <p:blipFill>
                      <a:blip r:embed="rId5"/>
                      <a:stretch>
                        <a:fillRect/>
                      </a:stretch>
                    </p:blipFill>
                    <p:spPr>
                      <a:xfrm>
                        <a:off x="5795963" y="1646238"/>
                        <a:ext cx="466725" cy="514350"/>
                      </a:xfrm>
                      <a:prstGeom prst="rect">
                        <a:avLst/>
                      </a:prstGeom>
                      <a:noFill/>
                      <a:ln w="38100">
                        <a:noFill/>
                        <a:miter/>
                      </a:ln>
                    </p:spPr>
                  </p:pic>
                </p:oleObj>
              </mc:Fallback>
            </mc:AlternateContent>
          </a:graphicData>
        </a:graphic>
      </p:graphicFrame>
      <p:sp>
        <p:nvSpPr>
          <p:cNvPr id="30727"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528638" y="415925"/>
            <a:ext cx="8229600" cy="1371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0" cap="none" spc="0" normalizeH="0" baseline="0" noProof="0" dirty="0">
                <a:ln>
                  <a:noFill/>
                </a:ln>
                <a:solidFill>
                  <a:srgbClr val="FF0000"/>
                </a:solidFill>
                <a:effectLst/>
                <a:uLnTx/>
                <a:uFillTx/>
                <a:latin typeface="+mj-lt"/>
                <a:ea typeface="+mj-ea"/>
                <a:cs typeface="+mj-cs"/>
              </a:rPr>
              <a:t>解</a:t>
            </a:r>
            <a:r>
              <a:rPr kumimoji="0" lang="en-US" altLang="zh-CN" sz="3600" b="1" i="0" u="none" strike="noStrike" kern="0" cap="none" spc="0" normalizeH="0" baseline="0" noProof="0" dirty="0">
                <a:ln>
                  <a:noFill/>
                </a:ln>
                <a:solidFill>
                  <a:srgbClr val="FF0000"/>
                </a:solidFill>
                <a:effectLst/>
                <a:uLnTx/>
                <a:uFillTx/>
                <a:latin typeface="+mj-lt"/>
                <a:ea typeface="+mj-ea"/>
                <a:cs typeface="+mj-cs"/>
              </a:rPr>
              <a:t>:</a:t>
            </a:r>
            <a:br>
              <a:rPr kumimoji="0" lang="en-US" altLang="zh-CN" sz="4000" b="1" i="0" u="none" strike="noStrike" kern="0" cap="none" spc="0" normalizeH="0" baseline="0" noProof="0" dirty="0">
                <a:ln>
                  <a:noFill/>
                </a:ln>
                <a:solidFill>
                  <a:schemeClr val="bg2"/>
                </a:solidFill>
                <a:effectLst/>
                <a:uLnTx/>
                <a:uFillTx/>
                <a:latin typeface="+mj-lt"/>
                <a:ea typeface="+mj-ea"/>
                <a:cs typeface="+mj-cs"/>
              </a:rPr>
            </a:br>
            <a:r>
              <a:rPr kumimoji="0" lang="en-US" altLang="zh-CN" sz="4000" b="1" i="0" u="none" strike="noStrike" kern="0" cap="none" spc="0" normalizeH="0" baseline="0" noProof="0" dirty="0">
                <a:ln>
                  <a:noFill/>
                </a:ln>
                <a:solidFill>
                  <a:schemeClr val="bg2"/>
                </a:solidFill>
                <a:effectLst/>
                <a:uLnTx/>
                <a:uFillTx/>
                <a:latin typeface="+mj-lt"/>
                <a:ea typeface="+mj-ea"/>
                <a:cs typeface="+mj-cs"/>
              </a:rPr>
              <a:t>   </a:t>
            </a:r>
            <a:r>
              <a:rPr kumimoji="0" lang="en-US" altLang="zh-CN" sz="2400" b="1" i="0" u="none" strike="noStrike" kern="1200" cap="none" spc="0" normalizeH="0" baseline="0" noProof="0" dirty="0">
                <a:ln>
                  <a:noFill/>
                </a:ln>
                <a:solidFill>
                  <a:schemeClr val="bg2">
                    <a:lumMod val="60000"/>
                    <a:lumOff val="40000"/>
                  </a:schemeClr>
                </a:solidFill>
                <a:effectLst/>
                <a:uLnTx/>
                <a:uFillTx/>
                <a:latin typeface="Times New Roman" panose="02020603050405020304" pitchFamily="18" charset="0"/>
                <a:ea typeface="+mj-ea"/>
                <a:cs typeface="+mn-cs"/>
              </a:rPr>
              <a:t>KVL:</a:t>
            </a:r>
            <a:b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j-ea"/>
                <a:cs typeface="+mj-cs"/>
              </a:rPr>
            </a:br>
            <a:endPar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j-ea"/>
              <a:cs typeface="+mj-cs"/>
            </a:endParaRPr>
          </a:p>
        </p:txBody>
      </p:sp>
      <p:sp>
        <p:nvSpPr>
          <p:cNvPr id="22531" name="Text Box 15"/>
          <p:cNvSpPr txBox="1">
            <a:spLocks noChangeArrowheads="1"/>
          </p:cNvSpPr>
          <p:nvPr/>
        </p:nvSpPr>
        <p:spPr bwMode="auto">
          <a:xfrm>
            <a:off x="393700" y="1957388"/>
            <a:ext cx="8497888" cy="1739900"/>
          </a:xfrm>
          <a:prstGeom prst="rect">
            <a:avLst/>
          </a:prstGeom>
          <a:noFill/>
          <a:ln w="9525">
            <a:noFill/>
            <a:miter lim="800000"/>
          </a:ln>
        </p:spPr>
        <p:txBody>
          <a:bodyPr>
            <a:spAutoFit/>
          </a:bodyPr>
          <a:lstStyle/>
          <a:p>
            <a:pPr marR="0" defTabSz="914400" eaLnBrk="1" hangingPunct="1">
              <a:spcBef>
                <a:spcPct val="50000"/>
              </a:spcBef>
              <a:buClrTx/>
              <a:buSzTx/>
              <a:buFontTx/>
              <a:defRPr/>
            </a:pPr>
            <a:r>
              <a:rPr kumimoji="0" lang="en-US" altLang="zh-CN" sz="2400" b="1" kern="1200" cap="none" spc="0" normalizeH="0" baseline="0" noProof="0" dirty="0">
                <a:latin typeface="Times New Roman" panose="02020603050405020304" pitchFamily="18" charset="0"/>
                <a:ea typeface="宋体" panose="02010600030101010101" pitchFamily="2" charset="-122"/>
                <a:cs typeface="+mn-cs"/>
              </a:rPr>
              <a:t> </a:t>
            </a:r>
            <a:r>
              <a:rPr kumimoji="0" lang="zh-CN" altLang="en-US" sz="2400" b="1" kern="1200" cap="none" spc="0" normalizeH="0" baseline="0" noProof="0" dirty="0">
                <a:solidFill>
                  <a:schemeClr val="bg2">
                    <a:lumMod val="60000"/>
                    <a:lumOff val="40000"/>
                  </a:schemeClr>
                </a:solidFill>
                <a:latin typeface="Times New Roman" panose="02020603050405020304" pitchFamily="18" charset="0"/>
                <a:ea typeface="宋体" panose="02010600030101010101" pitchFamily="2" charset="-122"/>
                <a:cs typeface="+mn-cs"/>
              </a:rPr>
              <a:t>欧姆定律：</a:t>
            </a:r>
            <a:endParaRPr kumimoji="0" lang="en-US" altLang="zh-CN" sz="2400" b="1" kern="1200" cap="none" spc="0" normalizeH="0" baseline="0" noProof="0" dirty="0">
              <a:solidFill>
                <a:schemeClr val="bg2">
                  <a:lumMod val="60000"/>
                  <a:lumOff val="40000"/>
                </a:schemeClr>
              </a:solidFill>
              <a:latin typeface="Times New Roman" panose="02020603050405020304" pitchFamily="18" charset="0"/>
              <a:ea typeface="宋体" panose="02010600030101010101" pitchFamily="2" charset="-122"/>
              <a:cs typeface="+mn-cs"/>
            </a:endParaRPr>
          </a:p>
          <a:p>
            <a:pPr marR="0" defTabSz="914400" eaLnBrk="1" hangingPunct="1">
              <a:spcBef>
                <a:spcPct val="50000"/>
              </a:spcBef>
              <a:buClrTx/>
              <a:buSzTx/>
              <a:buFontTx/>
              <a:defRPr/>
            </a:pPr>
            <a:r>
              <a:rPr kumimoji="0" lang="en-US" altLang="zh-CN" b="1" kern="1200" cap="none" spc="0" normalizeH="0" baseline="0" noProof="0" dirty="0">
                <a:latin typeface="Times New Roman" panose="02020603050405020304" pitchFamily="18" charset="0"/>
                <a:ea typeface="宋体" panose="02010600030101010101" pitchFamily="2" charset="-122"/>
                <a:cs typeface="+mn-cs"/>
              </a:rPr>
              <a:t>                 </a:t>
            </a:r>
            <a:r>
              <a:rPr kumimoji="0" lang="en-US" altLang="zh-CN" sz="2800" b="1" kern="1200" cap="none" spc="0" normalizeH="0" baseline="0" noProof="0" dirty="0">
                <a:latin typeface="Times New Roman" panose="02020603050405020304" pitchFamily="18" charset="0"/>
                <a:ea typeface="宋体" panose="02010600030101010101" pitchFamily="2" charset="-122"/>
                <a:cs typeface="+mn-cs"/>
              </a:rPr>
              <a:t>②</a:t>
            </a:r>
            <a:endParaRPr kumimoji="0" lang="en-US" altLang="zh-CN" sz="2800" b="1" kern="1200" cap="none" spc="0" normalizeH="0" baseline="0" noProof="0" dirty="0">
              <a:latin typeface="Times New Roman" panose="02020603050405020304" pitchFamily="18" charset="0"/>
              <a:ea typeface="宋体" panose="02010600030101010101" pitchFamily="2" charset="-122"/>
              <a:cs typeface="+mn-cs"/>
            </a:endParaRPr>
          </a:p>
          <a:p>
            <a:pPr marR="0" defTabSz="914400" eaLnBrk="1" hangingPunct="1">
              <a:spcBef>
                <a:spcPct val="50000"/>
              </a:spcBef>
              <a:buClrTx/>
              <a:buSzTx/>
              <a:buFontTx/>
              <a:defRPr/>
            </a:pPr>
            <a:endParaRPr kumimoji="0" lang="en-US" altLang="zh-CN" sz="2800" b="1" kern="1200" cap="none" spc="0" normalizeH="0" baseline="0" noProof="0" dirty="0">
              <a:latin typeface="Arial" panose="020B0604020202020204" pitchFamily="34" charset="0"/>
              <a:ea typeface="宋体" panose="02010600030101010101" pitchFamily="2" charset="-122"/>
              <a:cs typeface="+mn-cs"/>
            </a:endParaRPr>
          </a:p>
        </p:txBody>
      </p:sp>
      <p:graphicFrame>
        <p:nvGraphicFramePr>
          <p:cNvPr id="31748" name="Object 16"/>
          <p:cNvGraphicFramePr>
            <a:graphicFrameLocks noChangeAspect="1"/>
          </p:cNvGraphicFramePr>
          <p:nvPr/>
        </p:nvGraphicFramePr>
        <p:xfrm>
          <a:off x="2081213" y="1346200"/>
          <a:ext cx="4137025" cy="601663"/>
        </p:xfrm>
        <a:graphic>
          <a:graphicData uri="http://schemas.openxmlformats.org/presentationml/2006/ole">
            <mc:AlternateContent xmlns:mc="http://schemas.openxmlformats.org/markup-compatibility/2006">
              <mc:Choice xmlns:v="urn:schemas-microsoft-com:vml" Requires="v">
                <p:oleObj spid="_x0000_s3083" name="" r:id="rId1" imgW="1587500" imgH="228600" progId="Equation.3">
                  <p:embed/>
                </p:oleObj>
              </mc:Choice>
              <mc:Fallback>
                <p:oleObj name="" r:id="rId1" imgW="1587500" imgH="228600" progId="Equation.3">
                  <p:embed/>
                  <p:pic>
                    <p:nvPicPr>
                      <p:cNvPr id="0" name="图片 3082"/>
                      <p:cNvPicPr/>
                      <p:nvPr/>
                    </p:nvPicPr>
                    <p:blipFill>
                      <a:blip r:embed="rId2"/>
                      <a:stretch>
                        <a:fillRect/>
                      </a:stretch>
                    </p:blipFill>
                    <p:spPr>
                      <a:xfrm>
                        <a:off x="2081213" y="1346200"/>
                        <a:ext cx="4137025" cy="601663"/>
                      </a:xfrm>
                      <a:prstGeom prst="rect">
                        <a:avLst/>
                      </a:prstGeom>
                      <a:noFill/>
                      <a:ln w="38100">
                        <a:noFill/>
                        <a:miter/>
                      </a:ln>
                    </p:spPr>
                  </p:pic>
                </p:oleObj>
              </mc:Fallback>
            </mc:AlternateContent>
          </a:graphicData>
        </a:graphic>
      </p:graphicFrame>
      <p:graphicFrame>
        <p:nvGraphicFramePr>
          <p:cNvPr id="31749" name="Object 17"/>
          <p:cNvGraphicFramePr>
            <a:graphicFrameLocks noChangeAspect="1"/>
          </p:cNvGraphicFramePr>
          <p:nvPr/>
        </p:nvGraphicFramePr>
        <p:xfrm>
          <a:off x="2162175" y="2409825"/>
          <a:ext cx="1546225" cy="688975"/>
        </p:xfrm>
        <a:graphic>
          <a:graphicData uri="http://schemas.openxmlformats.org/presentationml/2006/ole">
            <mc:AlternateContent xmlns:mc="http://schemas.openxmlformats.org/markup-compatibility/2006">
              <mc:Choice xmlns:v="urn:schemas-microsoft-com:vml" Requires="v">
                <p:oleObj spid="_x0000_s3082" name="" r:id="rId3" imgW="520700" imgH="228600" progId="Equation.3">
                  <p:embed/>
                </p:oleObj>
              </mc:Choice>
              <mc:Fallback>
                <p:oleObj name="" r:id="rId3" imgW="520700" imgH="228600" progId="Equation.3">
                  <p:embed/>
                  <p:pic>
                    <p:nvPicPr>
                      <p:cNvPr id="0" name="图片 3081"/>
                      <p:cNvPicPr/>
                      <p:nvPr/>
                    </p:nvPicPr>
                    <p:blipFill>
                      <a:blip r:embed="rId4"/>
                      <a:stretch>
                        <a:fillRect/>
                      </a:stretch>
                    </p:blipFill>
                    <p:spPr>
                      <a:xfrm>
                        <a:off x="2162175" y="2409825"/>
                        <a:ext cx="1546225" cy="688975"/>
                      </a:xfrm>
                      <a:prstGeom prst="rect">
                        <a:avLst/>
                      </a:prstGeom>
                      <a:noFill/>
                      <a:ln w="38100">
                        <a:noFill/>
                        <a:miter/>
                      </a:ln>
                    </p:spPr>
                  </p:pic>
                </p:oleObj>
              </mc:Fallback>
            </mc:AlternateContent>
          </a:graphicData>
        </a:graphic>
      </p:graphicFrame>
      <p:sp>
        <p:nvSpPr>
          <p:cNvPr id="31750" name="Text Box 10"/>
          <p:cNvSpPr txBox="1"/>
          <p:nvPr/>
        </p:nvSpPr>
        <p:spPr>
          <a:xfrm>
            <a:off x="1431925" y="1389063"/>
            <a:ext cx="488950" cy="7318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①</a:t>
            </a:r>
            <a:br>
              <a:rPr lang="en-US" altLang="zh-CN" sz="1800" b="1" dirty="0">
                <a:cs typeface="Arial" panose="020B0604020202020204" pitchFamily="34" charset="0"/>
              </a:rPr>
            </a:br>
            <a:endParaRPr lang="zh-CN" altLang="en-US" sz="1800" b="1" dirty="0">
              <a:ea typeface="Arial" panose="020B0604020202020204" pitchFamily="34" charset="0"/>
            </a:endParaRPr>
          </a:p>
        </p:txBody>
      </p:sp>
      <p:sp>
        <p:nvSpPr>
          <p:cNvPr id="31751" name="Text Box 11"/>
          <p:cNvSpPr txBox="1"/>
          <p:nvPr/>
        </p:nvSpPr>
        <p:spPr>
          <a:xfrm>
            <a:off x="6380163" y="2043113"/>
            <a:ext cx="1841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31752" name="Text Box 22"/>
          <p:cNvSpPr txBox="1"/>
          <p:nvPr/>
        </p:nvSpPr>
        <p:spPr>
          <a:xfrm>
            <a:off x="682625" y="4294188"/>
            <a:ext cx="8496300" cy="2124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解得</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 </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         及</a:t>
            </a:r>
            <a:r>
              <a:rPr lang="en-US" altLang="zh-CN" sz="2400" b="1" dirty="0">
                <a:latin typeface="Times New Roman" panose="02020603050405020304" pitchFamily="18" charset="0"/>
                <a:cs typeface="Arial" panose="020B0604020202020204" pitchFamily="34" charset="0"/>
              </a:rPr>
              <a:t> </a:t>
            </a:r>
            <a:endParaRPr lang="en-US" altLang="zh-CN" sz="2400" b="1" dirty="0">
              <a:latin typeface="Times New Roman" panose="02020603050405020304" pitchFamily="18" charset="0"/>
              <a:ea typeface="Arial" panose="020B0604020202020204" pitchFamily="34" charset="0"/>
            </a:endParaRPr>
          </a:p>
        </p:txBody>
      </p:sp>
      <p:graphicFrame>
        <p:nvGraphicFramePr>
          <p:cNvPr id="31753" name="Object 23"/>
          <p:cNvGraphicFramePr>
            <a:graphicFrameLocks noChangeAspect="1"/>
          </p:cNvGraphicFramePr>
          <p:nvPr/>
        </p:nvGraphicFramePr>
        <p:xfrm>
          <a:off x="1736725" y="4332288"/>
          <a:ext cx="3132138" cy="1209675"/>
        </p:xfrm>
        <a:graphic>
          <a:graphicData uri="http://schemas.openxmlformats.org/presentationml/2006/ole">
            <mc:AlternateContent xmlns:mc="http://schemas.openxmlformats.org/markup-compatibility/2006">
              <mc:Choice xmlns:v="urn:schemas-microsoft-com:vml" Requires="v">
                <p:oleObj spid="_x0000_s3084" name="" r:id="rId5" imgW="1167765" imgH="431800" progId="Equation.3">
                  <p:embed/>
                </p:oleObj>
              </mc:Choice>
              <mc:Fallback>
                <p:oleObj name="" r:id="rId5" imgW="1167765" imgH="431800" progId="Equation.3">
                  <p:embed/>
                  <p:pic>
                    <p:nvPicPr>
                      <p:cNvPr id="0" name="图片 3083"/>
                      <p:cNvPicPr/>
                      <p:nvPr/>
                    </p:nvPicPr>
                    <p:blipFill>
                      <a:blip r:embed="rId6"/>
                      <a:stretch>
                        <a:fillRect/>
                      </a:stretch>
                    </p:blipFill>
                    <p:spPr>
                      <a:xfrm>
                        <a:off x="1736725" y="4332288"/>
                        <a:ext cx="3132138" cy="1209675"/>
                      </a:xfrm>
                      <a:prstGeom prst="rect">
                        <a:avLst/>
                      </a:prstGeom>
                      <a:noFill/>
                      <a:ln w="38100">
                        <a:noFill/>
                        <a:miter/>
                      </a:ln>
                    </p:spPr>
                  </p:pic>
                </p:oleObj>
              </mc:Fallback>
            </mc:AlternateContent>
          </a:graphicData>
        </a:graphic>
      </p:graphicFrame>
      <p:graphicFrame>
        <p:nvGraphicFramePr>
          <p:cNvPr id="31754" name="Object 24"/>
          <p:cNvGraphicFramePr>
            <a:graphicFrameLocks noChangeAspect="1"/>
          </p:cNvGraphicFramePr>
          <p:nvPr/>
        </p:nvGraphicFramePr>
        <p:xfrm>
          <a:off x="2457450" y="5916613"/>
          <a:ext cx="1511300" cy="577850"/>
        </p:xfrm>
        <a:graphic>
          <a:graphicData uri="http://schemas.openxmlformats.org/presentationml/2006/ole">
            <mc:AlternateContent xmlns:mc="http://schemas.openxmlformats.org/markup-compatibility/2006">
              <mc:Choice xmlns:v="urn:schemas-microsoft-com:vml" Requires="v">
                <p:oleObj spid="_x0000_s3081" name="" r:id="rId7" imgW="596900" imgH="228600" progId="Equation.3">
                  <p:embed/>
                </p:oleObj>
              </mc:Choice>
              <mc:Fallback>
                <p:oleObj name="" r:id="rId7" imgW="596900" imgH="228600" progId="Equation.3">
                  <p:embed/>
                  <p:pic>
                    <p:nvPicPr>
                      <p:cNvPr id="0" name="图片 3080"/>
                      <p:cNvPicPr/>
                      <p:nvPr/>
                    </p:nvPicPr>
                    <p:blipFill>
                      <a:blip r:embed="rId8"/>
                      <a:stretch>
                        <a:fillRect/>
                      </a:stretch>
                    </p:blipFill>
                    <p:spPr>
                      <a:xfrm>
                        <a:off x="2457450" y="5916613"/>
                        <a:ext cx="1511300" cy="577850"/>
                      </a:xfrm>
                      <a:prstGeom prst="rect">
                        <a:avLst/>
                      </a:prstGeom>
                      <a:noFill/>
                      <a:ln w="38100">
                        <a:noFill/>
                        <a:miter/>
                      </a:ln>
                    </p:spPr>
                  </p:pic>
                </p:oleObj>
              </mc:Fallback>
            </mc:AlternateContent>
          </a:graphicData>
        </a:graphic>
      </p:graphicFrame>
      <p:pic>
        <p:nvPicPr>
          <p:cNvPr id="31755" name="Picture 6"/>
          <p:cNvPicPr>
            <a:picLocks noChangeAspect="1"/>
          </p:cNvPicPr>
          <p:nvPr/>
        </p:nvPicPr>
        <p:blipFill>
          <a:blip r:embed="rId9"/>
          <a:stretch>
            <a:fillRect/>
          </a:stretch>
        </p:blipFill>
        <p:spPr>
          <a:xfrm>
            <a:off x="4749800" y="2001838"/>
            <a:ext cx="4248150" cy="2476500"/>
          </a:xfrm>
          <a:prstGeom prst="rect">
            <a:avLst/>
          </a:prstGeom>
          <a:noFill/>
          <a:ln w="9525">
            <a:noFill/>
          </a:ln>
        </p:spPr>
      </p:pic>
      <p:sp>
        <p:nvSpPr>
          <p:cNvPr id="31756"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528638" y="415925"/>
            <a:ext cx="8229600" cy="1371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0" cap="none" spc="0" normalizeH="0" baseline="0" noProof="0" dirty="0">
                <a:ln>
                  <a:noFill/>
                </a:ln>
                <a:solidFill>
                  <a:srgbClr val="FF0000"/>
                </a:solidFill>
                <a:effectLst/>
                <a:uLnTx/>
                <a:uFillTx/>
                <a:latin typeface="+mj-lt"/>
                <a:ea typeface="+mj-ea"/>
                <a:cs typeface="+mj-cs"/>
              </a:rPr>
              <a:t>解</a:t>
            </a:r>
            <a:r>
              <a:rPr kumimoji="0" lang="en-US" altLang="zh-CN" sz="3600" b="1" i="0" u="none" strike="noStrike" kern="0" cap="none" spc="0" normalizeH="0" baseline="0" noProof="0" dirty="0">
                <a:ln>
                  <a:noFill/>
                </a:ln>
                <a:solidFill>
                  <a:srgbClr val="FF0000"/>
                </a:solidFill>
                <a:effectLst/>
                <a:uLnTx/>
                <a:uFillTx/>
                <a:latin typeface="+mj-lt"/>
                <a:ea typeface="+mj-ea"/>
                <a:cs typeface="+mj-cs"/>
              </a:rPr>
              <a:t>:</a:t>
            </a:r>
            <a:r>
              <a:rPr kumimoji="0" lang="zh-CN" altLang="en-US" sz="3600" b="1" i="0" u="none" strike="noStrike" kern="0" cap="none" spc="0" normalizeH="0" baseline="0" noProof="0" dirty="0">
                <a:ln>
                  <a:noFill/>
                </a:ln>
                <a:solidFill>
                  <a:srgbClr val="FF0000"/>
                </a:solidFill>
                <a:effectLst/>
                <a:uLnTx/>
                <a:uFillTx/>
                <a:latin typeface="+mj-lt"/>
                <a:ea typeface="+mj-ea"/>
                <a:cs typeface="+mj-cs"/>
              </a:rPr>
              <a:t>（假设电流逆时针方向流再算一遍）</a:t>
            </a:r>
            <a:br>
              <a:rPr kumimoji="0" lang="en-US" altLang="zh-CN" sz="4000" b="1" i="0" u="none" strike="noStrike" kern="0" cap="none" spc="0" normalizeH="0" baseline="0" noProof="0" dirty="0">
                <a:ln>
                  <a:noFill/>
                </a:ln>
                <a:solidFill>
                  <a:schemeClr val="bg2"/>
                </a:solidFill>
                <a:effectLst/>
                <a:uLnTx/>
                <a:uFillTx/>
                <a:latin typeface="+mj-lt"/>
                <a:ea typeface="+mj-ea"/>
                <a:cs typeface="+mj-cs"/>
              </a:rPr>
            </a:br>
            <a:r>
              <a:rPr kumimoji="0" lang="en-US" altLang="zh-CN" sz="4000" b="1" i="0" u="none" strike="noStrike" kern="0" cap="none" spc="0" normalizeH="0" baseline="0" noProof="0" dirty="0">
                <a:ln>
                  <a:noFill/>
                </a:ln>
                <a:solidFill>
                  <a:schemeClr val="bg2"/>
                </a:solidFill>
                <a:effectLst/>
                <a:uLnTx/>
                <a:uFillTx/>
                <a:latin typeface="+mj-lt"/>
                <a:ea typeface="+mj-ea"/>
                <a:cs typeface="+mj-cs"/>
              </a:rPr>
              <a:t>   </a:t>
            </a:r>
            <a:r>
              <a:rPr kumimoji="0" lang="en-US" altLang="zh-CN" sz="2400" b="1" i="0" u="none" strike="noStrike" kern="1200" cap="none" spc="0" normalizeH="0" baseline="0" noProof="0" dirty="0">
                <a:ln>
                  <a:noFill/>
                </a:ln>
                <a:solidFill>
                  <a:schemeClr val="bg2">
                    <a:lumMod val="60000"/>
                    <a:lumOff val="40000"/>
                  </a:schemeClr>
                </a:solidFill>
                <a:effectLst/>
                <a:uLnTx/>
                <a:uFillTx/>
                <a:latin typeface="Times New Roman" panose="02020603050405020304" pitchFamily="18" charset="0"/>
                <a:ea typeface="+mj-ea"/>
                <a:cs typeface="+mn-cs"/>
              </a:rPr>
              <a:t>KVL:</a:t>
            </a:r>
            <a:b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j-ea"/>
                <a:cs typeface="+mj-cs"/>
              </a:rPr>
            </a:br>
            <a:endPar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j-ea"/>
              <a:cs typeface="+mj-cs"/>
            </a:endParaRPr>
          </a:p>
        </p:txBody>
      </p:sp>
      <p:sp>
        <p:nvSpPr>
          <p:cNvPr id="22531" name="Text Box 15"/>
          <p:cNvSpPr txBox="1">
            <a:spLocks noChangeArrowheads="1"/>
          </p:cNvSpPr>
          <p:nvPr/>
        </p:nvSpPr>
        <p:spPr bwMode="auto">
          <a:xfrm>
            <a:off x="393700" y="1957388"/>
            <a:ext cx="8497888" cy="1739900"/>
          </a:xfrm>
          <a:prstGeom prst="rect">
            <a:avLst/>
          </a:prstGeom>
          <a:noFill/>
          <a:ln w="9525">
            <a:noFill/>
            <a:miter lim="800000"/>
          </a:ln>
        </p:spPr>
        <p:txBody>
          <a:bodyPr>
            <a:spAutoFit/>
          </a:bodyPr>
          <a:lstStyle/>
          <a:p>
            <a:pPr marR="0" defTabSz="914400" eaLnBrk="1" hangingPunct="1">
              <a:spcBef>
                <a:spcPct val="50000"/>
              </a:spcBef>
              <a:buClrTx/>
              <a:buSzTx/>
              <a:buFontTx/>
              <a:defRPr/>
            </a:pPr>
            <a:r>
              <a:rPr kumimoji="0" lang="en-US" altLang="zh-CN" sz="2400" b="1" kern="1200" cap="none" spc="0" normalizeH="0" baseline="0" noProof="0" dirty="0">
                <a:latin typeface="Times New Roman" panose="02020603050405020304" pitchFamily="18" charset="0"/>
                <a:ea typeface="宋体" panose="02010600030101010101" pitchFamily="2" charset="-122"/>
                <a:cs typeface="+mn-cs"/>
              </a:rPr>
              <a:t> </a:t>
            </a:r>
            <a:r>
              <a:rPr kumimoji="0" lang="zh-CN" altLang="en-US" sz="2400" b="1" kern="1200" cap="none" spc="0" normalizeH="0" baseline="0" noProof="0" dirty="0">
                <a:solidFill>
                  <a:schemeClr val="bg2">
                    <a:lumMod val="60000"/>
                    <a:lumOff val="40000"/>
                  </a:schemeClr>
                </a:solidFill>
                <a:latin typeface="Times New Roman" panose="02020603050405020304" pitchFamily="18" charset="0"/>
                <a:ea typeface="宋体" panose="02010600030101010101" pitchFamily="2" charset="-122"/>
                <a:cs typeface="+mn-cs"/>
              </a:rPr>
              <a:t>欧姆定律：</a:t>
            </a:r>
            <a:endParaRPr kumimoji="0" lang="en-US" altLang="zh-CN" sz="2400" b="1" kern="1200" cap="none" spc="0" normalizeH="0" baseline="0" noProof="0" dirty="0">
              <a:solidFill>
                <a:schemeClr val="bg2">
                  <a:lumMod val="60000"/>
                  <a:lumOff val="40000"/>
                </a:schemeClr>
              </a:solidFill>
              <a:latin typeface="Times New Roman" panose="02020603050405020304" pitchFamily="18" charset="0"/>
              <a:ea typeface="宋体" panose="02010600030101010101" pitchFamily="2" charset="-122"/>
              <a:cs typeface="+mn-cs"/>
            </a:endParaRPr>
          </a:p>
          <a:p>
            <a:pPr marR="0" defTabSz="914400" eaLnBrk="1" hangingPunct="1">
              <a:spcBef>
                <a:spcPct val="50000"/>
              </a:spcBef>
              <a:buClrTx/>
              <a:buSzTx/>
              <a:buFontTx/>
              <a:defRPr/>
            </a:pPr>
            <a:r>
              <a:rPr kumimoji="0" lang="en-US" altLang="zh-CN" b="1" kern="1200" cap="none" spc="0" normalizeH="0" baseline="0" noProof="0" dirty="0">
                <a:latin typeface="Times New Roman" panose="02020603050405020304" pitchFamily="18" charset="0"/>
                <a:ea typeface="宋体" panose="02010600030101010101" pitchFamily="2" charset="-122"/>
                <a:cs typeface="+mn-cs"/>
              </a:rPr>
              <a:t>                 </a:t>
            </a:r>
            <a:r>
              <a:rPr kumimoji="0" lang="en-US" altLang="zh-CN" sz="2800" b="1" kern="1200" cap="none" spc="0" normalizeH="0" baseline="0" noProof="0" dirty="0">
                <a:latin typeface="Times New Roman" panose="02020603050405020304" pitchFamily="18" charset="0"/>
                <a:ea typeface="宋体" panose="02010600030101010101" pitchFamily="2" charset="-122"/>
                <a:cs typeface="+mn-cs"/>
              </a:rPr>
              <a:t>②</a:t>
            </a:r>
            <a:endParaRPr kumimoji="0" lang="en-US" altLang="zh-CN" sz="2800" b="1" kern="1200" cap="none" spc="0" normalizeH="0" baseline="0" noProof="0" dirty="0">
              <a:latin typeface="Times New Roman" panose="02020603050405020304" pitchFamily="18" charset="0"/>
              <a:ea typeface="宋体" panose="02010600030101010101" pitchFamily="2" charset="-122"/>
              <a:cs typeface="+mn-cs"/>
            </a:endParaRPr>
          </a:p>
          <a:p>
            <a:pPr marR="0" defTabSz="914400" eaLnBrk="1" hangingPunct="1">
              <a:spcBef>
                <a:spcPct val="50000"/>
              </a:spcBef>
              <a:buClrTx/>
              <a:buSzTx/>
              <a:buFontTx/>
              <a:defRPr/>
            </a:pPr>
            <a:endParaRPr kumimoji="0" lang="en-US" altLang="zh-CN" sz="2800" b="1" kern="1200" cap="none" spc="0" normalizeH="0" baseline="0" noProof="0" dirty="0">
              <a:latin typeface="Arial" panose="020B0604020202020204" pitchFamily="34" charset="0"/>
              <a:ea typeface="宋体" panose="02010600030101010101" pitchFamily="2" charset="-122"/>
              <a:cs typeface="+mn-cs"/>
            </a:endParaRPr>
          </a:p>
        </p:txBody>
      </p:sp>
      <p:graphicFrame>
        <p:nvGraphicFramePr>
          <p:cNvPr id="31748" name="Object 16"/>
          <p:cNvGraphicFramePr>
            <a:graphicFrameLocks noChangeAspect="1"/>
          </p:cNvGraphicFramePr>
          <p:nvPr/>
        </p:nvGraphicFramePr>
        <p:xfrm>
          <a:off x="2143126" y="1328262"/>
          <a:ext cx="3839210" cy="601980"/>
        </p:xfrm>
        <a:graphic>
          <a:graphicData uri="http://schemas.openxmlformats.org/presentationml/2006/ole">
            <mc:AlternateContent xmlns:mc="http://schemas.openxmlformats.org/markup-compatibility/2006">
              <mc:Choice xmlns:v="urn:schemas-microsoft-com:vml" Requires="v">
                <p:oleObj spid="_x0000_s3083" name="" r:id="rId1" imgW="1473200" imgH="228600" progId="Equation.3">
                  <p:embed/>
                </p:oleObj>
              </mc:Choice>
              <mc:Fallback>
                <p:oleObj name="" r:id="rId1" imgW="1473200" imgH="228600" progId="Equation.3">
                  <p:embed/>
                  <p:pic>
                    <p:nvPicPr>
                      <p:cNvPr id="0" name="图片 3082"/>
                      <p:cNvPicPr/>
                      <p:nvPr/>
                    </p:nvPicPr>
                    <p:blipFill>
                      <a:blip r:embed="rId2"/>
                      <a:stretch>
                        <a:fillRect/>
                      </a:stretch>
                    </p:blipFill>
                    <p:spPr>
                      <a:xfrm>
                        <a:off x="2143126" y="1328262"/>
                        <a:ext cx="3839210" cy="601980"/>
                      </a:xfrm>
                      <a:prstGeom prst="rect">
                        <a:avLst/>
                      </a:prstGeom>
                      <a:noFill/>
                      <a:ln w="38100">
                        <a:noFill/>
                        <a:miter/>
                      </a:ln>
                    </p:spPr>
                  </p:pic>
                </p:oleObj>
              </mc:Fallback>
            </mc:AlternateContent>
          </a:graphicData>
        </a:graphic>
      </p:graphicFrame>
      <p:graphicFrame>
        <p:nvGraphicFramePr>
          <p:cNvPr id="31749" name="Object 17"/>
          <p:cNvGraphicFramePr>
            <a:graphicFrameLocks noChangeAspect="1"/>
          </p:cNvGraphicFramePr>
          <p:nvPr/>
        </p:nvGraphicFramePr>
        <p:xfrm>
          <a:off x="2143125" y="2409825"/>
          <a:ext cx="1584325" cy="688975"/>
        </p:xfrm>
        <a:graphic>
          <a:graphicData uri="http://schemas.openxmlformats.org/presentationml/2006/ole">
            <mc:AlternateContent xmlns:mc="http://schemas.openxmlformats.org/markup-compatibility/2006">
              <mc:Choice xmlns:v="urn:schemas-microsoft-com:vml" Requires="v">
                <p:oleObj spid="_x0000_s3082" name="" r:id="rId3" imgW="533400" imgH="228600" progId="Equation.3">
                  <p:embed/>
                </p:oleObj>
              </mc:Choice>
              <mc:Fallback>
                <p:oleObj name="" r:id="rId3" imgW="533400" imgH="228600" progId="Equation.3">
                  <p:embed/>
                  <p:pic>
                    <p:nvPicPr>
                      <p:cNvPr id="0" name="图片 3081"/>
                      <p:cNvPicPr/>
                      <p:nvPr/>
                    </p:nvPicPr>
                    <p:blipFill>
                      <a:blip r:embed="rId4"/>
                      <a:stretch>
                        <a:fillRect/>
                      </a:stretch>
                    </p:blipFill>
                    <p:spPr>
                      <a:xfrm>
                        <a:off x="2143125" y="2409825"/>
                        <a:ext cx="1584325" cy="688975"/>
                      </a:xfrm>
                      <a:prstGeom prst="rect">
                        <a:avLst/>
                      </a:prstGeom>
                      <a:noFill/>
                      <a:ln w="38100">
                        <a:noFill/>
                        <a:miter/>
                      </a:ln>
                    </p:spPr>
                  </p:pic>
                </p:oleObj>
              </mc:Fallback>
            </mc:AlternateContent>
          </a:graphicData>
        </a:graphic>
      </p:graphicFrame>
      <p:sp>
        <p:nvSpPr>
          <p:cNvPr id="31750" name="Text Box 10"/>
          <p:cNvSpPr txBox="1"/>
          <p:nvPr/>
        </p:nvSpPr>
        <p:spPr>
          <a:xfrm>
            <a:off x="1431925" y="1389063"/>
            <a:ext cx="488950" cy="7318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①</a:t>
            </a:r>
            <a:br>
              <a:rPr lang="en-US" altLang="zh-CN" sz="1800" b="1" dirty="0">
                <a:cs typeface="Arial" panose="020B0604020202020204" pitchFamily="34" charset="0"/>
              </a:rPr>
            </a:br>
            <a:endParaRPr lang="zh-CN" altLang="en-US" sz="1800" b="1" dirty="0">
              <a:ea typeface="Arial" panose="020B0604020202020204" pitchFamily="34" charset="0"/>
            </a:endParaRPr>
          </a:p>
        </p:txBody>
      </p:sp>
      <p:sp>
        <p:nvSpPr>
          <p:cNvPr id="31751" name="Text Box 11"/>
          <p:cNvSpPr txBox="1"/>
          <p:nvPr/>
        </p:nvSpPr>
        <p:spPr>
          <a:xfrm>
            <a:off x="6380163" y="2043113"/>
            <a:ext cx="1841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31752" name="Text Box 22"/>
          <p:cNvSpPr txBox="1"/>
          <p:nvPr/>
        </p:nvSpPr>
        <p:spPr>
          <a:xfrm>
            <a:off x="682625" y="4294188"/>
            <a:ext cx="8496300" cy="2124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解得</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 </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         及</a:t>
            </a:r>
            <a:r>
              <a:rPr lang="en-US" altLang="zh-CN" sz="2400" b="1" dirty="0">
                <a:latin typeface="Times New Roman" panose="02020603050405020304" pitchFamily="18" charset="0"/>
                <a:cs typeface="Arial" panose="020B0604020202020204" pitchFamily="34" charset="0"/>
              </a:rPr>
              <a:t> </a:t>
            </a:r>
            <a:endParaRPr lang="en-US" altLang="zh-CN" sz="2400" b="1" dirty="0">
              <a:latin typeface="Times New Roman" panose="02020603050405020304" pitchFamily="18" charset="0"/>
              <a:ea typeface="Arial" panose="020B0604020202020204" pitchFamily="34" charset="0"/>
            </a:endParaRPr>
          </a:p>
        </p:txBody>
      </p:sp>
      <p:graphicFrame>
        <p:nvGraphicFramePr>
          <p:cNvPr id="31753" name="Object 23"/>
          <p:cNvGraphicFramePr>
            <a:graphicFrameLocks noChangeAspect="1"/>
          </p:cNvGraphicFramePr>
          <p:nvPr/>
        </p:nvGraphicFramePr>
        <p:xfrm>
          <a:off x="2058829" y="4332288"/>
          <a:ext cx="2487930" cy="1209675"/>
        </p:xfrm>
        <a:graphic>
          <a:graphicData uri="http://schemas.openxmlformats.org/presentationml/2006/ole">
            <mc:AlternateContent xmlns:mc="http://schemas.openxmlformats.org/markup-compatibility/2006">
              <mc:Choice xmlns:v="urn:schemas-microsoft-com:vml" Requires="v">
                <p:oleObj spid="_x0000_s3084" name="" r:id="rId5" imgW="927100" imgH="431800" progId="Equation.3">
                  <p:embed/>
                </p:oleObj>
              </mc:Choice>
              <mc:Fallback>
                <p:oleObj name="" r:id="rId5" imgW="927100" imgH="431800" progId="Equation.3">
                  <p:embed/>
                  <p:pic>
                    <p:nvPicPr>
                      <p:cNvPr id="0" name="图片 3083"/>
                      <p:cNvPicPr/>
                      <p:nvPr/>
                    </p:nvPicPr>
                    <p:blipFill>
                      <a:blip r:embed="rId6"/>
                      <a:stretch>
                        <a:fillRect/>
                      </a:stretch>
                    </p:blipFill>
                    <p:spPr>
                      <a:xfrm>
                        <a:off x="2058829" y="4332288"/>
                        <a:ext cx="2487930" cy="1209675"/>
                      </a:xfrm>
                      <a:prstGeom prst="rect">
                        <a:avLst/>
                      </a:prstGeom>
                      <a:noFill/>
                      <a:ln w="38100">
                        <a:noFill/>
                        <a:miter/>
                      </a:ln>
                    </p:spPr>
                  </p:pic>
                </p:oleObj>
              </mc:Fallback>
            </mc:AlternateContent>
          </a:graphicData>
        </a:graphic>
      </p:graphicFrame>
      <p:graphicFrame>
        <p:nvGraphicFramePr>
          <p:cNvPr id="31754" name="Object 24"/>
          <p:cNvGraphicFramePr>
            <a:graphicFrameLocks noChangeAspect="1"/>
          </p:cNvGraphicFramePr>
          <p:nvPr/>
        </p:nvGraphicFramePr>
        <p:xfrm>
          <a:off x="2457450" y="5916613"/>
          <a:ext cx="1511300" cy="577850"/>
        </p:xfrm>
        <a:graphic>
          <a:graphicData uri="http://schemas.openxmlformats.org/presentationml/2006/ole">
            <mc:AlternateContent xmlns:mc="http://schemas.openxmlformats.org/markup-compatibility/2006">
              <mc:Choice xmlns:v="urn:schemas-microsoft-com:vml" Requires="v">
                <p:oleObj spid="_x0000_s3081" name="" r:id="rId7" imgW="596900" imgH="228600" progId="Equation.3">
                  <p:embed/>
                </p:oleObj>
              </mc:Choice>
              <mc:Fallback>
                <p:oleObj name="" r:id="rId7" imgW="596900" imgH="228600" progId="Equation.3">
                  <p:embed/>
                  <p:pic>
                    <p:nvPicPr>
                      <p:cNvPr id="0" name="图片 3080"/>
                      <p:cNvPicPr/>
                      <p:nvPr/>
                    </p:nvPicPr>
                    <p:blipFill>
                      <a:blip r:embed="rId8"/>
                      <a:stretch>
                        <a:fillRect/>
                      </a:stretch>
                    </p:blipFill>
                    <p:spPr>
                      <a:xfrm>
                        <a:off x="2457450" y="5916613"/>
                        <a:ext cx="1511300" cy="577850"/>
                      </a:xfrm>
                      <a:prstGeom prst="rect">
                        <a:avLst/>
                      </a:prstGeom>
                      <a:noFill/>
                      <a:ln w="38100">
                        <a:noFill/>
                        <a:miter/>
                      </a:ln>
                    </p:spPr>
                  </p:pic>
                </p:oleObj>
              </mc:Fallback>
            </mc:AlternateContent>
          </a:graphicData>
        </a:graphic>
      </p:graphicFrame>
      <p:sp>
        <p:nvSpPr>
          <p:cNvPr id="31756"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graphicFrame>
        <p:nvGraphicFramePr>
          <p:cNvPr id="6" name="对象 5"/>
          <p:cNvGraphicFramePr/>
          <p:nvPr/>
        </p:nvGraphicFramePr>
        <p:xfrm>
          <a:off x="4448175" y="1930400"/>
          <a:ext cx="4394200" cy="2364105"/>
        </p:xfrm>
        <a:graphic>
          <a:graphicData uri="http://schemas.openxmlformats.org/presentationml/2006/ole">
            <mc:AlternateContent xmlns:mc="http://schemas.openxmlformats.org/markup-compatibility/2006">
              <mc:Choice xmlns:v="urn:schemas-microsoft-com:vml" Requires="v">
                <p:oleObj spid="_x0000_s7" name="" r:id="rId9" imgW="4391025" imgH="2362200" progId="Paint.Picture">
                  <p:embed/>
                </p:oleObj>
              </mc:Choice>
              <mc:Fallback>
                <p:oleObj name="" r:id="rId9" imgW="4391025" imgH="2362200" progId="Paint.Picture">
                  <p:embed/>
                  <p:pic>
                    <p:nvPicPr>
                      <p:cNvPr id="0" name="图片 6"/>
                      <p:cNvPicPr/>
                      <p:nvPr/>
                    </p:nvPicPr>
                    <p:blipFill>
                      <a:blip r:embed="rId10"/>
                      <a:stretch>
                        <a:fillRect/>
                      </a:stretch>
                    </p:blipFill>
                    <p:spPr>
                      <a:xfrm>
                        <a:off x="4448175" y="1930400"/>
                        <a:ext cx="4394200" cy="236410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1749"/>
                                        </p:tgtEl>
                                        <p:attrNameLst>
                                          <p:attrName>style.visibility</p:attrName>
                                        </p:attrNameLst>
                                      </p:cBhvr>
                                      <p:to>
                                        <p:strVal val="visible"/>
                                      </p:to>
                                    </p:set>
                                    <p:animEffect transition="in" filter="blinds(horizontal)">
                                      <p:cBhvr>
                                        <p:cTn id="11" dur="500"/>
                                        <p:tgtEl>
                                          <p:spTgt spid="3174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175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17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735965" y="659765"/>
            <a:ext cx="4643755" cy="347980"/>
          </a:xfrm>
          <a:prstGeom prst="rect">
            <a:avLst/>
          </a:prstGeom>
        </p:spPr>
      </p:pic>
      <p:pic>
        <p:nvPicPr>
          <p:cNvPr id="5" name="图片 4"/>
          <p:cNvPicPr>
            <a:picLocks noChangeAspect="1"/>
          </p:cNvPicPr>
          <p:nvPr/>
        </p:nvPicPr>
        <p:blipFill>
          <a:blip r:embed="rId2"/>
          <a:stretch>
            <a:fillRect/>
          </a:stretch>
        </p:blipFill>
        <p:spPr>
          <a:xfrm>
            <a:off x="1266190" y="1267460"/>
            <a:ext cx="4543425" cy="2148205"/>
          </a:xfrm>
          <a:prstGeom prst="rect">
            <a:avLst/>
          </a:prstGeom>
        </p:spPr>
      </p:pic>
      <p:pic>
        <p:nvPicPr>
          <p:cNvPr id="6" name="图片 5"/>
          <p:cNvPicPr>
            <a:picLocks noChangeAspect="1"/>
          </p:cNvPicPr>
          <p:nvPr/>
        </p:nvPicPr>
        <p:blipFill>
          <a:blip r:embed="rId3"/>
          <a:stretch>
            <a:fillRect/>
          </a:stretch>
        </p:blipFill>
        <p:spPr>
          <a:xfrm>
            <a:off x="1200150" y="3538855"/>
            <a:ext cx="6596380" cy="21958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1041400" y="760095"/>
            <a:ext cx="3948430" cy="462280"/>
          </a:xfrm>
          <a:prstGeom prst="rect">
            <a:avLst/>
          </a:prstGeom>
        </p:spPr>
      </p:pic>
      <p:pic>
        <p:nvPicPr>
          <p:cNvPr id="5" name="图片 4"/>
          <p:cNvPicPr>
            <a:picLocks noChangeAspect="1"/>
          </p:cNvPicPr>
          <p:nvPr/>
        </p:nvPicPr>
        <p:blipFill>
          <a:blip r:embed="rId2"/>
          <a:stretch>
            <a:fillRect/>
          </a:stretch>
        </p:blipFill>
        <p:spPr>
          <a:xfrm>
            <a:off x="5427345" y="1602740"/>
            <a:ext cx="2510155" cy="2143125"/>
          </a:xfrm>
          <a:prstGeom prst="rect">
            <a:avLst/>
          </a:prstGeom>
        </p:spPr>
      </p:pic>
      <p:sp>
        <p:nvSpPr>
          <p:cNvPr id="6" name="文本框 5"/>
          <p:cNvSpPr txBox="1"/>
          <p:nvPr/>
        </p:nvSpPr>
        <p:spPr>
          <a:xfrm>
            <a:off x="857885" y="1329055"/>
            <a:ext cx="4145915" cy="368300"/>
          </a:xfrm>
          <a:prstGeom prst="rect">
            <a:avLst/>
          </a:prstGeom>
          <a:noFill/>
        </p:spPr>
        <p:txBody>
          <a:bodyPr wrap="square" rtlCol="0">
            <a:spAutoFit/>
          </a:bodyPr>
          <a:p>
            <a:r>
              <a:rPr lang="zh-CN" altLang="en-US"/>
              <a:t>解法（</a:t>
            </a:r>
            <a:r>
              <a:rPr lang="en-US" altLang="zh-CN"/>
              <a:t>1</a:t>
            </a:r>
            <a:r>
              <a:rPr lang="zh-CN" altLang="en-US"/>
              <a:t>）：设电流顺时针方向流</a:t>
            </a:r>
            <a:endParaRPr lang="zh-CN" altLang="en-US"/>
          </a:p>
        </p:txBody>
      </p:sp>
      <p:sp>
        <p:nvSpPr>
          <p:cNvPr id="7" name="文本框 6"/>
          <p:cNvSpPr txBox="1"/>
          <p:nvPr/>
        </p:nvSpPr>
        <p:spPr>
          <a:xfrm>
            <a:off x="1750060" y="1939925"/>
            <a:ext cx="2530475" cy="175323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p>
            <a:r>
              <a:rPr lang="en-US" altLang="zh-CN"/>
              <a:t>V1-(-8)-V2-32=0</a:t>
            </a:r>
            <a:endParaRPr lang="en-US" altLang="zh-CN"/>
          </a:p>
          <a:p>
            <a:r>
              <a:rPr lang="en-US" altLang="zh-CN"/>
              <a:t>4i+8-(-2i)-32=9</a:t>
            </a:r>
            <a:endParaRPr lang="en-US" altLang="zh-CN"/>
          </a:p>
          <a:p>
            <a:r>
              <a:rPr lang="en-US" altLang="zh-CN"/>
              <a:t>4i+8+2i-32=0</a:t>
            </a:r>
            <a:endParaRPr lang="en-US" altLang="zh-CN"/>
          </a:p>
          <a:p>
            <a:r>
              <a:rPr lang="en-US" altLang="zh-CN"/>
              <a:t>6i=24, i=4A;</a:t>
            </a:r>
            <a:endParaRPr lang="en-US" altLang="zh-CN"/>
          </a:p>
          <a:p>
            <a:r>
              <a:rPr lang="en-US" altLang="zh-CN"/>
              <a:t>v1=4i=4x4=16(V)</a:t>
            </a:r>
            <a:endParaRPr lang="en-US" altLang="zh-CN"/>
          </a:p>
          <a:p>
            <a:r>
              <a:rPr lang="en-US" altLang="zh-CN"/>
              <a:t>V2=-2i=-4x2=-8(V)</a:t>
            </a:r>
            <a:endParaRPr lang="en-US" altLang="zh-CN"/>
          </a:p>
        </p:txBody>
      </p:sp>
      <p:sp>
        <p:nvSpPr>
          <p:cNvPr id="8" name="文本框 7"/>
          <p:cNvSpPr txBox="1"/>
          <p:nvPr/>
        </p:nvSpPr>
        <p:spPr>
          <a:xfrm>
            <a:off x="843915" y="3989070"/>
            <a:ext cx="4145915" cy="368300"/>
          </a:xfrm>
          <a:prstGeom prst="rect">
            <a:avLst/>
          </a:prstGeom>
          <a:noFill/>
        </p:spPr>
        <p:txBody>
          <a:bodyPr wrap="square" rtlCol="0">
            <a:spAutoFit/>
          </a:bodyPr>
          <a:p>
            <a:r>
              <a:rPr lang="zh-CN" altLang="en-US"/>
              <a:t>解法（</a:t>
            </a:r>
            <a:r>
              <a:rPr lang="en-US" altLang="zh-CN"/>
              <a:t>2</a:t>
            </a:r>
            <a:r>
              <a:rPr lang="zh-CN" altLang="en-US"/>
              <a:t>）设电流逆时针方向流</a:t>
            </a:r>
            <a:endParaRPr lang="zh-CN" altLang="en-US"/>
          </a:p>
        </p:txBody>
      </p:sp>
      <p:sp>
        <p:nvSpPr>
          <p:cNvPr id="9" name="文本框 8"/>
          <p:cNvSpPr txBox="1"/>
          <p:nvPr/>
        </p:nvSpPr>
        <p:spPr>
          <a:xfrm>
            <a:off x="1650365" y="4410710"/>
            <a:ext cx="2667000" cy="1198880"/>
          </a:xfrm>
          <a:prstGeom prst="rect">
            <a:avLst/>
          </a:prstGeom>
          <a:noFill/>
        </p:spPr>
        <p:txBody>
          <a:bodyPr wrap="square" rtlCol="0">
            <a:spAutoFit/>
          </a:bodyPr>
          <a:p>
            <a:r>
              <a:rPr lang="en-US" altLang="zh-CN"/>
              <a:t>4i+32+2i+</a:t>
            </a:r>
            <a:r>
              <a:rPr lang="zh-CN" altLang="en-US"/>
              <a:t>（</a:t>
            </a:r>
            <a:r>
              <a:rPr lang="en-US" altLang="zh-CN"/>
              <a:t>-8</a:t>
            </a:r>
            <a:r>
              <a:rPr lang="zh-CN" altLang="en-US"/>
              <a:t>）</a:t>
            </a:r>
            <a:r>
              <a:rPr lang="en-US" altLang="zh-CN"/>
              <a:t>=0</a:t>
            </a:r>
            <a:endParaRPr lang="en-US" altLang="zh-CN"/>
          </a:p>
          <a:p>
            <a:r>
              <a:rPr lang="en-US" altLang="zh-CN"/>
              <a:t>6i=-24, i=-4A;</a:t>
            </a:r>
            <a:endParaRPr lang="en-US" altLang="zh-CN"/>
          </a:p>
          <a:p>
            <a:r>
              <a:rPr lang="en-US" altLang="zh-CN"/>
              <a:t>v1=-4i=(-4)x(-4)=16(V)</a:t>
            </a:r>
            <a:endParaRPr lang="en-US" altLang="zh-CN"/>
          </a:p>
          <a:p>
            <a:r>
              <a:rPr lang="en-US" altLang="zh-CN"/>
              <a:t>V2=2i=2x(-4)=-8(V)</a:t>
            </a:r>
            <a:endParaRPr lang="en-US" altLang="zh-CN"/>
          </a:p>
        </p:txBody>
      </p:sp>
      <p:sp>
        <p:nvSpPr>
          <p:cNvPr id="11" name="文本框 10"/>
          <p:cNvSpPr txBox="1"/>
          <p:nvPr/>
        </p:nvSpPr>
        <p:spPr>
          <a:xfrm>
            <a:off x="1409700" y="5834380"/>
            <a:ext cx="3042285" cy="3683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r>
              <a:rPr lang="zh-CN" altLang="zh-CN"/>
              <a:t>两种方法得到的结果一样。</a:t>
            </a:r>
            <a:endParaRPr lang="zh-CN"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linds(horizontal)">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9" grpId="0"/>
      <p:bldP spid="9" grpId="1"/>
      <p:bldP spid="11" grpId="0" animBg="1"/>
      <p:bldP spid="11"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659765" y="521970"/>
            <a:ext cx="5589270" cy="671830"/>
          </a:xfrm>
          <a:prstGeom prst="rect">
            <a:avLst/>
          </a:prstGeom>
        </p:spPr>
      </p:pic>
      <p:pic>
        <p:nvPicPr>
          <p:cNvPr id="5" name="图片 4"/>
          <p:cNvPicPr>
            <a:picLocks noChangeAspect="1"/>
          </p:cNvPicPr>
          <p:nvPr/>
        </p:nvPicPr>
        <p:blipFill>
          <a:blip r:embed="rId2"/>
          <a:stretch>
            <a:fillRect/>
          </a:stretch>
        </p:blipFill>
        <p:spPr>
          <a:xfrm>
            <a:off x="1014730" y="1278255"/>
            <a:ext cx="6238875" cy="2702560"/>
          </a:xfrm>
          <a:prstGeom prst="rect">
            <a:avLst/>
          </a:prstGeom>
        </p:spPr>
      </p:pic>
      <p:sp>
        <p:nvSpPr>
          <p:cNvPr id="6" name="文本框 5"/>
          <p:cNvSpPr txBox="1"/>
          <p:nvPr/>
        </p:nvSpPr>
        <p:spPr>
          <a:xfrm>
            <a:off x="862965" y="4114165"/>
            <a:ext cx="7088505" cy="922020"/>
          </a:xfrm>
          <a:prstGeom prst="rect">
            <a:avLst/>
          </a:prstGeom>
          <a:noFill/>
        </p:spPr>
        <p:txBody>
          <a:bodyPr wrap="square" rtlCol="0">
            <a:spAutoFit/>
          </a:bodyPr>
          <a:p>
            <a:r>
              <a:rPr lang="zh-CN" altLang="en-US"/>
              <a:t>解：（</a:t>
            </a:r>
            <a:r>
              <a:rPr lang="en-US" altLang="zh-CN"/>
              <a:t>-12</a:t>
            </a:r>
            <a:r>
              <a:rPr lang="zh-CN" altLang="en-US"/>
              <a:t>）</a:t>
            </a:r>
            <a:r>
              <a:rPr lang="en-US" altLang="zh-CN"/>
              <a:t>+4i+2v0-4-v0=0; V0+4i=16</a:t>
            </a:r>
            <a:endParaRPr lang="en-US" altLang="zh-CN"/>
          </a:p>
          <a:p>
            <a:r>
              <a:rPr lang="en-US" altLang="zh-CN"/>
              <a:t>          v0=-6i   ;    -2i=16, i=-8</a:t>
            </a:r>
            <a:r>
              <a:rPr lang="zh-CN" altLang="en-US"/>
              <a:t>（</a:t>
            </a:r>
            <a:r>
              <a:rPr lang="en-US" altLang="zh-CN"/>
              <a:t>A); V0=-6i=48(V)</a:t>
            </a:r>
            <a:endParaRPr lang="en-US" altLang="zh-CN"/>
          </a:p>
          <a:p>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89865" y="462915"/>
            <a:ext cx="8161655" cy="756920"/>
          </a:xfrm>
          <a:prstGeom prst="rect">
            <a:avLst/>
          </a:prstGeom>
        </p:spPr>
      </p:pic>
      <p:pic>
        <p:nvPicPr>
          <p:cNvPr id="5" name="图片 4"/>
          <p:cNvPicPr>
            <a:picLocks noChangeAspect="1"/>
          </p:cNvPicPr>
          <p:nvPr/>
        </p:nvPicPr>
        <p:blipFill>
          <a:blip r:embed="rId2"/>
          <a:srcRect t="10184"/>
          <a:stretch>
            <a:fillRect/>
          </a:stretch>
        </p:blipFill>
        <p:spPr>
          <a:xfrm>
            <a:off x="4540250" y="1448435"/>
            <a:ext cx="4352290" cy="3259455"/>
          </a:xfrm>
          <a:prstGeom prst="rect">
            <a:avLst/>
          </a:prstGeom>
        </p:spPr>
      </p:pic>
      <p:sp>
        <p:nvSpPr>
          <p:cNvPr id="7" name="文本框 6"/>
          <p:cNvSpPr txBox="1"/>
          <p:nvPr/>
        </p:nvSpPr>
        <p:spPr>
          <a:xfrm>
            <a:off x="473075" y="1455420"/>
            <a:ext cx="4490085" cy="3538220"/>
          </a:xfrm>
          <a:prstGeom prst="rect">
            <a:avLst/>
          </a:prstGeom>
          <a:noFill/>
        </p:spPr>
        <p:txBody>
          <a:bodyPr wrap="square" rtlCol="0">
            <a:spAutoFit/>
          </a:bodyPr>
          <a:p>
            <a:r>
              <a:rPr lang="zh-CN" altLang="en-US" sz="2800"/>
              <a:t>解：设电流顺时针方向。</a:t>
            </a:r>
            <a:endParaRPr lang="zh-CN" altLang="en-US" sz="2800"/>
          </a:p>
          <a:p>
            <a:endParaRPr lang="zh-CN" altLang="en-US" sz="2800"/>
          </a:p>
          <a:p>
            <a:pPr>
              <a:lnSpc>
                <a:spcPct val="150000"/>
              </a:lnSpc>
            </a:pPr>
            <a:r>
              <a:rPr lang="zh-CN" altLang="en-US" sz="2800"/>
              <a:t>（</a:t>
            </a:r>
            <a:r>
              <a:rPr lang="en-US" altLang="zh-CN" sz="2800"/>
              <a:t>-70</a:t>
            </a:r>
            <a:r>
              <a:rPr lang="zh-CN" altLang="en-US" sz="2800"/>
              <a:t>）</a:t>
            </a:r>
            <a:r>
              <a:rPr lang="en-US" altLang="zh-CN" sz="2800"/>
              <a:t>+10i+2x10i+5i=0</a:t>
            </a:r>
            <a:endParaRPr lang="en-US" altLang="zh-CN" sz="2800"/>
          </a:p>
          <a:p>
            <a:pPr>
              <a:lnSpc>
                <a:spcPct val="150000"/>
              </a:lnSpc>
            </a:pPr>
            <a:r>
              <a:rPr lang="en-US" altLang="zh-CN" sz="2800"/>
              <a:t>  35i=70,i=2(A)</a:t>
            </a:r>
            <a:endParaRPr lang="en-US" altLang="zh-CN" sz="2800"/>
          </a:p>
          <a:p>
            <a:pPr>
              <a:lnSpc>
                <a:spcPct val="150000"/>
              </a:lnSpc>
            </a:pPr>
            <a:r>
              <a:rPr lang="en-US" altLang="zh-CN" sz="2800"/>
              <a:t>  v</a:t>
            </a:r>
            <a:r>
              <a:rPr lang="en-US" altLang="zh-CN" sz="2800" baseline="-25000">
                <a:solidFill>
                  <a:schemeClr val="tx1"/>
                </a:solidFill>
                <a:uFillTx/>
              </a:rPr>
              <a:t>x</a:t>
            </a:r>
            <a:r>
              <a:rPr lang="en-US" altLang="zh-CN" sz="2800"/>
              <a:t> =20V</a:t>
            </a:r>
            <a:endParaRPr lang="en-US" altLang="zh-CN" sz="2800"/>
          </a:p>
          <a:p>
            <a:pPr>
              <a:lnSpc>
                <a:spcPct val="150000"/>
              </a:lnSpc>
            </a:pPr>
            <a:r>
              <a:rPr lang="en-US" altLang="zh-CN" sz="2800"/>
              <a:t>  v</a:t>
            </a:r>
            <a:r>
              <a:rPr lang="en-US" altLang="zh-CN" sz="2800" baseline="-25000">
                <a:solidFill>
                  <a:schemeClr val="tx1"/>
                </a:solidFill>
                <a:uFillTx/>
              </a:rPr>
              <a:t>o</a:t>
            </a:r>
            <a:r>
              <a:rPr lang="en-US" altLang="zh-CN" sz="2800"/>
              <a:t>=-5i=-10V</a:t>
            </a:r>
            <a:endParaRPr lang="en-US" altLang="zh-CN" sz="2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560070" y="498475"/>
            <a:ext cx="7311390" cy="785495"/>
          </a:xfrm>
          <a:prstGeom prst="rect">
            <a:avLst/>
          </a:prstGeom>
        </p:spPr>
      </p:pic>
      <p:pic>
        <p:nvPicPr>
          <p:cNvPr id="5" name="图片 4"/>
          <p:cNvPicPr>
            <a:picLocks noChangeAspect="1"/>
          </p:cNvPicPr>
          <p:nvPr/>
        </p:nvPicPr>
        <p:blipFill>
          <a:blip r:embed="rId2"/>
          <a:stretch>
            <a:fillRect/>
          </a:stretch>
        </p:blipFill>
        <p:spPr>
          <a:xfrm>
            <a:off x="4349750" y="1283970"/>
            <a:ext cx="4222115" cy="2505075"/>
          </a:xfrm>
          <a:prstGeom prst="rect">
            <a:avLst/>
          </a:prstGeom>
        </p:spPr>
      </p:pic>
      <p:sp>
        <p:nvSpPr>
          <p:cNvPr id="6" name="文本框 5"/>
          <p:cNvSpPr txBox="1"/>
          <p:nvPr/>
        </p:nvSpPr>
        <p:spPr>
          <a:xfrm>
            <a:off x="488315" y="1613535"/>
            <a:ext cx="3363595" cy="1678940"/>
          </a:xfrm>
          <a:prstGeom prst="rect">
            <a:avLst/>
          </a:prstGeom>
          <a:noFill/>
        </p:spPr>
        <p:txBody>
          <a:bodyPr wrap="square" rtlCol="0">
            <a:spAutoFit/>
          </a:bodyPr>
          <a:p>
            <a:r>
              <a:rPr lang="zh-CN" altLang="zh-CN" sz="2400"/>
              <a:t>解：</a:t>
            </a:r>
            <a:r>
              <a:rPr lang="en-US" altLang="zh-CN" sz="2400"/>
              <a:t>0.5i</a:t>
            </a:r>
            <a:r>
              <a:rPr lang="en-US" altLang="zh-CN" sz="2400" baseline="-25000">
                <a:solidFill>
                  <a:schemeClr val="tx1"/>
                </a:solidFill>
                <a:uFillTx/>
              </a:rPr>
              <a:t>0</a:t>
            </a:r>
            <a:r>
              <a:rPr lang="en-US" altLang="zh-CN" sz="2400">
                <a:solidFill>
                  <a:schemeClr val="tx1"/>
                </a:solidFill>
                <a:uFillTx/>
              </a:rPr>
              <a:t>+3=</a:t>
            </a:r>
            <a:r>
              <a:rPr lang="en-US" altLang="zh-CN" sz="2400">
                <a:sym typeface="+mn-ea"/>
              </a:rPr>
              <a:t>i</a:t>
            </a:r>
            <a:r>
              <a:rPr lang="en-US" altLang="zh-CN" sz="2400" baseline="-25000">
                <a:uFillTx/>
                <a:sym typeface="+mn-ea"/>
              </a:rPr>
              <a:t>0  </a:t>
            </a:r>
            <a:r>
              <a:rPr lang="en-US" altLang="zh-CN" sz="2400">
                <a:solidFill>
                  <a:schemeClr val="tx1"/>
                </a:solidFill>
                <a:uFillTx/>
                <a:sym typeface="+mn-ea"/>
              </a:rPr>
              <a:t>;  </a:t>
            </a:r>
            <a:r>
              <a:rPr lang="en-US" altLang="zh-CN" sz="2400" baseline="-25000">
                <a:uFillTx/>
                <a:sym typeface="+mn-ea"/>
              </a:rPr>
              <a:t>   </a:t>
            </a:r>
            <a:endParaRPr lang="en-US" altLang="zh-CN" sz="2400" baseline="-25000">
              <a:uFillTx/>
              <a:sym typeface="+mn-ea"/>
            </a:endParaRPr>
          </a:p>
          <a:p>
            <a:r>
              <a:rPr lang="en-US" altLang="zh-CN" sz="2400" baseline="-25000">
                <a:uFillTx/>
                <a:sym typeface="+mn-ea"/>
              </a:rPr>
              <a:t>      </a:t>
            </a:r>
            <a:endParaRPr lang="en-US" altLang="zh-CN" sz="2400" baseline="-25000">
              <a:uFillTx/>
              <a:sym typeface="+mn-ea"/>
            </a:endParaRPr>
          </a:p>
          <a:p>
            <a:r>
              <a:rPr lang="en-US" altLang="zh-CN" sz="2400" baseline="-25000">
                <a:uFillTx/>
                <a:sym typeface="+mn-ea"/>
              </a:rPr>
              <a:t>             </a:t>
            </a:r>
            <a:r>
              <a:rPr lang="en-US" altLang="zh-CN" sz="2400">
                <a:sym typeface="+mn-ea"/>
              </a:rPr>
              <a:t>i</a:t>
            </a:r>
            <a:r>
              <a:rPr lang="en-US" altLang="zh-CN" sz="2400" baseline="-25000">
                <a:uFillTx/>
                <a:sym typeface="+mn-ea"/>
              </a:rPr>
              <a:t>0     </a:t>
            </a:r>
            <a:r>
              <a:rPr lang="en-US" altLang="zh-CN" sz="2400">
                <a:uFillTx/>
                <a:sym typeface="+mn-ea"/>
              </a:rPr>
              <a:t>=</a:t>
            </a:r>
            <a:r>
              <a:rPr lang="en-US" altLang="zh-CN" sz="2400" baseline="-25000">
                <a:uFillTx/>
                <a:sym typeface="+mn-ea"/>
              </a:rPr>
              <a:t>  </a:t>
            </a:r>
            <a:r>
              <a:rPr lang="en-US" altLang="zh-CN" sz="2400">
                <a:solidFill>
                  <a:schemeClr val="tx1"/>
                </a:solidFill>
                <a:uFillTx/>
                <a:sym typeface="+mn-ea"/>
              </a:rPr>
              <a:t>6(A )</a:t>
            </a:r>
            <a:r>
              <a:rPr lang="en-US" altLang="zh-CN" sz="2400" baseline="-25000">
                <a:uFillTx/>
                <a:sym typeface="+mn-ea"/>
              </a:rPr>
              <a:t>  </a:t>
            </a:r>
            <a:endParaRPr lang="en-US" altLang="zh-CN" sz="2400" baseline="-25000">
              <a:uFillTx/>
              <a:sym typeface="+mn-ea"/>
            </a:endParaRPr>
          </a:p>
          <a:p>
            <a:endParaRPr lang="en-US" altLang="zh-CN" sz="2400" baseline="-25000">
              <a:uFillTx/>
              <a:sym typeface="+mn-ea"/>
            </a:endParaRPr>
          </a:p>
          <a:p>
            <a:r>
              <a:rPr lang="en-US" altLang="zh-CN" sz="2400" baseline="-25000">
                <a:uFillTx/>
                <a:sym typeface="+mn-ea"/>
              </a:rPr>
              <a:t>           </a:t>
            </a:r>
            <a:r>
              <a:rPr lang="en-US" altLang="zh-CN" sz="2400">
                <a:solidFill>
                  <a:schemeClr val="tx1"/>
                </a:solidFill>
                <a:uFillTx/>
                <a:sym typeface="+mn-ea"/>
              </a:rPr>
              <a:t>V</a:t>
            </a:r>
            <a:r>
              <a:rPr lang="en-US" altLang="zh-CN" sz="2400" baseline="-25000">
                <a:solidFill>
                  <a:schemeClr val="tx1"/>
                </a:solidFill>
                <a:uFillTx/>
                <a:sym typeface="+mn-ea"/>
              </a:rPr>
              <a:t>0</a:t>
            </a:r>
            <a:r>
              <a:rPr lang="en-US" altLang="zh-CN" sz="2400">
                <a:solidFill>
                  <a:schemeClr val="tx1"/>
                </a:solidFill>
                <a:uFillTx/>
                <a:sym typeface="+mn-ea"/>
              </a:rPr>
              <a:t>=4 x i</a:t>
            </a:r>
            <a:r>
              <a:rPr lang="en-US" altLang="zh-CN" sz="2400" baseline="-25000">
                <a:solidFill>
                  <a:schemeClr val="tx1"/>
                </a:solidFill>
                <a:uFillTx/>
                <a:sym typeface="+mn-ea"/>
              </a:rPr>
              <a:t>0</a:t>
            </a:r>
            <a:r>
              <a:rPr lang="en-US" altLang="zh-CN" sz="2400">
                <a:solidFill>
                  <a:schemeClr val="tx1"/>
                </a:solidFill>
                <a:uFillTx/>
                <a:sym typeface="+mn-ea"/>
              </a:rPr>
              <a:t>=24(V)  </a:t>
            </a:r>
            <a:r>
              <a:rPr lang="en-US" altLang="zh-CN" sz="2400" baseline="-25000">
                <a:uFillTx/>
                <a:sym typeface="+mn-ea"/>
              </a:rPr>
              <a:t>   </a:t>
            </a:r>
            <a:endParaRPr lang="en-US" altLang="zh-CN" sz="2400" baseline="-25000">
              <a:solidFill>
                <a:schemeClr val="tx1"/>
              </a:solidFill>
              <a:uFillTx/>
              <a:sym typeface="+mn-ea"/>
            </a:endParaRPr>
          </a:p>
        </p:txBody>
      </p:sp>
      <p:pic>
        <p:nvPicPr>
          <p:cNvPr id="8" name="图片 7"/>
          <p:cNvPicPr>
            <a:picLocks noChangeAspect="1"/>
          </p:cNvPicPr>
          <p:nvPr/>
        </p:nvPicPr>
        <p:blipFill>
          <a:blip r:embed="rId3"/>
          <a:stretch>
            <a:fillRect/>
          </a:stretch>
        </p:blipFill>
        <p:spPr>
          <a:xfrm>
            <a:off x="322580" y="3638550"/>
            <a:ext cx="5112385" cy="502920"/>
          </a:xfrm>
          <a:prstGeom prst="rect">
            <a:avLst/>
          </a:prstGeom>
        </p:spPr>
      </p:pic>
      <p:graphicFrame>
        <p:nvGraphicFramePr>
          <p:cNvPr id="9" name="对象 8"/>
          <p:cNvGraphicFramePr/>
          <p:nvPr/>
        </p:nvGraphicFramePr>
        <p:xfrm>
          <a:off x="5074920" y="4093845"/>
          <a:ext cx="3571875" cy="2035175"/>
        </p:xfrm>
        <a:graphic>
          <a:graphicData uri="http://schemas.openxmlformats.org/presentationml/2006/ole">
            <mc:AlternateContent xmlns:mc="http://schemas.openxmlformats.org/markup-compatibility/2006">
              <mc:Choice xmlns:v="urn:schemas-microsoft-com:vml" Requires="v">
                <p:oleObj spid="_x0000_s10" name="" r:id="rId4" imgW="3147695" imgH="1581150" progId="Paint.Picture">
                  <p:embed/>
                </p:oleObj>
              </mc:Choice>
              <mc:Fallback>
                <p:oleObj name="" r:id="rId4" imgW="3147695" imgH="1581150" progId="Paint.Picture">
                  <p:embed/>
                  <p:pic>
                    <p:nvPicPr>
                      <p:cNvPr id="0" name="图片 9"/>
                      <p:cNvPicPr/>
                      <p:nvPr/>
                    </p:nvPicPr>
                    <p:blipFill>
                      <a:blip r:embed="rId5"/>
                      <a:stretch>
                        <a:fillRect/>
                      </a:stretch>
                    </p:blipFill>
                    <p:spPr>
                      <a:xfrm>
                        <a:off x="5074920" y="4093845"/>
                        <a:ext cx="3571875" cy="2035175"/>
                      </a:xfrm>
                      <a:prstGeom prst="rect">
                        <a:avLst/>
                      </a:prstGeom>
                    </p:spPr>
                  </p:pic>
                </p:oleObj>
              </mc:Fallback>
            </mc:AlternateContent>
          </a:graphicData>
        </a:graphic>
      </p:graphicFrame>
      <p:sp>
        <p:nvSpPr>
          <p:cNvPr id="11" name="文本框 10"/>
          <p:cNvSpPr txBox="1"/>
          <p:nvPr/>
        </p:nvSpPr>
        <p:spPr>
          <a:xfrm>
            <a:off x="986155" y="4335780"/>
            <a:ext cx="4176395" cy="1918335"/>
          </a:xfrm>
          <a:prstGeom prst="rect">
            <a:avLst/>
          </a:prstGeom>
          <a:noFill/>
        </p:spPr>
        <p:txBody>
          <a:bodyPr wrap="square" rtlCol="0">
            <a:spAutoFit/>
          </a:bodyPr>
          <a:p>
            <a:r>
              <a:rPr lang="zh-CN" altLang="zh-CN" sz="2400"/>
              <a:t>解：</a:t>
            </a:r>
            <a:r>
              <a:rPr lang="en-US" altLang="zh-CN" sz="2400"/>
              <a:t>15</a:t>
            </a:r>
            <a:r>
              <a:rPr lang="en-US" altLang="zh-CN" sz="2400">
                <a:uFillTx/>
                <a:sym typeface="+mn-ea"/>
              </a:rPr>
              <a:t>=</a:t>
            </a:r>
            <a:r>
              <a:rPr lang="en-US" altLang="zh-CN" sz="2400">
                <a:solidFill>
                  <a:schemeClr val="tx1"/>
                </a:solidFill>
                <a:uFillTx/>
              </a:rPr>
              <a:t>(V</a:t>
            </a:r>
            <a:r>
              <a:rPr lang="en-US" altLang="zh-CN" sz="2400" baseline="-25000">
                <a:solidFill>
                  <a:schemeClr val="tx1"/>
                </a:solidFill>
                <a:uFillTx/>
              </a:rPr>
              <a:t>0</a:t>
            </a:r>
            <a:r>
              <a:rPr lang="en-US" altLang="zh-CN" sz="2400">
                <a:solidFill>
                  <a:schemeClr val="tx1"/>
                </a:solidFill>
                <a:uFillTx/>
              </a:rPr>
              <a:t>/12)</a:t>
            </a:r>
            <a:r>
              <a:rPr lang="en-US" altLang="zh-CN" sz="2400">
                <a:uFillTx/>
                <a:sym typeface="+mn-ea"/>
              </a:rPr>
              <a:t>+</a:t>
            </a:r>
            <a:r>
              <a:rPr lang="en-US" altLang="zh-CN" sz="2400">
                <a:solidFill>
                  <a:schemeClr val="tx1"/>
                </a:solidFill>
                <a:uFillTx/>
              </a:rPr>
              <a:t>V</a:t>
            </a:r>
            <a:r>
              <a:rPr lang="en-US" altLang="zh-CN" sz="2400" baseline="-25000">
                <a:solidFill>
                  <a:schemeClr val="tx1"/>
                </a:solidFill>
                <a:uFillTx/>
              </a:rPr>
              <a:t>0</a:t>
            </a:r>
            <a:r>
              <a:rPr lang="en-US" altLang="zh-CN" sz="2400">
                <a:solidFill>
                  <a:schemeClr val="tx1"/>
                </a:solidFill>
                <a:uFillTx/>
              </a:rPr>
              <a:t>/2+V</a:t>
            </a:r>
            <a:r>
              <a:rPr lang="en-US" altLang="zh-CN" sz="2400" baseline="-25000">
                <a:solidFill>
                  <a:schemeClr val="tx1"/>
                </a:solidFill>
                <a:uFillTx/>
              </a:rPr>
              <a:t>0</a:t>
            </a:r>
            <a:r>
              <a:rPr lang="en-US" altLang="zh-CN" sz="2400">
                <a:solidFill>
                  <a:schemeClr val="tx1"/>
                </a:solidFill>
                <a:uFillTx/>
              </a:rPr>
              <a:t>/6</a:t>
            </a:r>
            <a:r>
              <a:rPr lang="en-US" altLang="zh-CN" sz="2400" baseline="-25000">
                <a:uFillTx/>
                <a:sym typeface="+mn-ea"/>
              </a:rPr>
              <a:t>  </a:t>
            </a:r>
            <a:r>
              <a:rPr lang="en-US" altLang="zh-CN" sz="2400">
                <a:solidFill>
                  <a:schemeClr val="tx1"/>
                </a:solidFill>
                <a:uFillTx/>
                <a:sym typeface="+mn-ea"/>
              </a:rPr>
              <a:t>;  </a:t>
            </a:r>
            <a:r>
              <a:rPr lang="en-US" altLang="zh-CN" sz="2400" baseline="-25000">
                <a:uFillTx/>
                <a:sym typeface="+mn-ea"/>
              </a:rPr>
              <a:t>   </a:t>
            </a:r>
            <a:endParaRPr lang="en-US" altLang="zh-CN" sz="2400" baseline="-25000">
              <a:uFillTx/>
              <a:sym typeface="+mn-ea"/>
            </a:endParaRPr>
          </a:p>
          <a:p>
            <a:r>
              <a:rPr lang="en-US" altLang="zh-CN" sz="2400" baseline="-25000">
                <a:uFillTx/>
                <a:sym typeface="+mn-ea"/>
              </a:rPr>
              <a:t>                 </a:t>
            </a:r>
            <a:endParaRPr lang="en-US" altLang="zh-CN" sz="2400" baseline="-25000">
              <a:uFillTx/>
              <a:sym typeface="+mn-ea"/>
            </a:endParaRPr>
          </a:p>
          <a:p>
            <a:r>
              <a:rPr lang="en-US" altLang="zh-CN" sz="2400" baseline="-25000">
                <a:uFillTx/>
                <a:sym typeface="+mn-ea"/>
              </a:rPr>
              <a:t>           </a:t>
            </a:r>
            <a:r>
              <a:rPr lang="en-US" altLang="zh-CN" sz="2400">
                <a:solidFill>
                  <a:schemeClr val="tx1"/>
                </a:solidFill>
                <a:uFillTx/>
                <a:sym typeface="+mn-ea"/>
              </a:rPr>
              <a:t>V</a:t>
            </a:r>
            <a:r>
              <a:rPr lang="en-US" altLang="zh-CN" sz="2400" baseline="-25000">
                <a:solidFill>
                  <a:schemeClr val="tx1"/>
                </a:solidFill>
                <a:uFillTx/>
                <a:sym typeface="+mn-ea"/>
              </a:rPr>
              <a:t>0</a:t>
            </a:r>
            <a:r>
              <a:rPr lang="en-US" altLang="zh-CN" sz="2400">
                <a:solidFill>
                  <a:schemeClr val="tx1"/>
                </a:solidFill>
                <a:uFillTx/>
                <a:sym typeface="+mn-ea"/>
              </a:rPr>
              <a:t>=20 (V)  </a:t>
            </a:r>
            <a:r>
              <a:rPr lang="en-US" altLang="zh-CN" sz="2400" baseline="-25000">
                <a:uFillTx/>
                <a:sym typeface="+mn-ea"/>
              </a:rPr>
              <a:t> </a:t>
            </a:r>
            <a:endParaRPr lang="en-US" altLang="zh-CN" sz="2400" baseline="-25000">
              <a:uFillTx/>
              <a:sym typeface="+mn-ea"/>
            </a:endParaRPr>
          </a:p>
          <a:p>
            <a:endParaRPr lang="en-US" altLang="zh-CN" sz="2400" baseline="-25000">
              <a:uFillTx/>
              <a:sym typeface="+mn-ea"/>
            </a:endParaRPr>
          </a:p>
          <a:p>
            <a:r>
              <a:rPr lang="en-US" altLang="zh-CN" sz="2400" baseline="-25000">
                <a:uFillTx/>
                <a:sym typeface="+mn-ea"/>
              </a:rPr>
              <a:t>           </a:t>
            </a:r>
            <a:r>
              <a:rPr lang="en-US" altLang="zh-CN" sz="2400">
                <a:uFillTx/>
                <a:sym typeface="+mn-ea"/>
              </a:rPr>
              <a:t>I</a:t>
            </a:r>
            <a:r>
              <a:rPr lang="en-US" altLang="zh-CN" sz="2400" baseline="-25000">
                <a:uFillTx/>
                <a:sym typeface="+mn-ea"/>
              </a:rPr>
              <a:t>0</a:t>
            </a:r>
            <a:r>
              <a:rPr lang="en-US" altLang="zh-CN" sz="2400">
                <a:uFillTx/>
                <a:sym typeface="+mn-ea"/>
              </a:rPr>
              <a:t>=10 (A)  </a:t>
            </a:r>
            <a:r>
              <a:rPr lang="en-US" altLang="zh-CN" sz="2400" baseline="-25000">
                <a:uFillTx/>
                <a:sym typeface="+mn-ea"/>
              </a:rPr>
              <a:t> </a:t>
            </a:r>
            <a:endParaRPr lang="en-US" altLang="zh-CN" sz="2400" baseline="-25000">
              <a:uFillTx/>
              <a:sym typeface="+mn-ea"/>
            </a:endParaRPr>
          </a:p>
          <a:p>
            <a:r>
              <a:rPr lang="en-US" altLang="zh-CN" sz="2400" baseline="-25000">
                <a:uFillTx/>
                <a:sym typeface="+mn-ea"/>
              </a:rPr>
              <a:t>   </a:t>
            </a:r>
            <a:endParaRPr lang="en-US" altLang="zh-CN" sz="2400" baseline="-25000">
              <a:solidFill>
                <a:schemeClr val="tx1"/>
              </a:solidFill>
              <a:uFillTx/>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Text Box 8"/>
          <p:cNvSpPr txBox="1">
            <a:spLocks noChangeArrowheads="1"/>
          </p:cNvSpPr>
          <p:nvPr/>
        </p:nvSpPr>
        <p:spPr bwMode="auto">
          <a:xfrm>
            <a:off x="684213" y="836613"/>
            <a:ext cx="7416800" cy="583565"/>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32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例</a:t>
            </a:r>
            <a:r>
              <a:rPr kumimoji="0" lang="en-US" altLang="zh-CN" sz="32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2-8</a:t>
            </a:r>
            <a:r>
              <a:rPr kumimoji="0" lang="en-US" altLang="zh-CN" sz="32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 </a:t>
            </a:r>
            <a:r>
              <a:rPr kumimoji="0" lang="en-US" altLang="zh-CN" sz="3200" b="1" i="0" u="none" strike="noStrike" kern="1200" cap="none" spc="0" normalizeH="0" baseline="0" noProof="0" dirty="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  </a:t>
            </a:r>
            <a:r>
              <a:rPr kumimoji="0" lang="en-US" altLang="zh-CN" sz="2400" b="1" i="0" u="none" strike="noStrike" kern="1200" cap="none" spc="0" normalizeH="0" baseline="0" noProof="0" dirty="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dirty="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堂练，注意解题思路与规范！</a:t>
            </a:r>
            <a:r>
              <a:rPr kumimoji="0" lang="en-US" altLang="zh-CN" sz="2400" b="1" i="0" u="none" strike="noStrike" kern="1200" cap="none" spc="0" normalizeH="0" baseline="0" noProof="0" dirty="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a:t>
            </a:r>
            <a:endParaRPr kumimoji="0" lang="en-US" altLang="zh-CN" sz="2400" b="1" i="0" u="none" strike="noStrike" kern="1200" cap="none" spc="0" normalizeH="0" baseline="0" noProof="0" dirty="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endParaRPr>
          </a:p>
        </p:txBody>
      </p:sp>
      <p:sp>
        <p:nvSpPr>
          <p:cNvPr id="32771" name="Text Box 9"/>
          <p:cNvSpPr txBox="1"/>
          <p:nvPr/>
        </p:nvSpPr>
        <p:spPr>
          <a:xfrm>
            <a:off x="1419225" y="1943100"/>
            <a:ext cx="6696075" cy="523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cs typeface="Arial" panose="020B0604020202020204" pitchFamily="34" charset="0"/>
              </a:rPr>
              <a:t>求出下图所示电路中的各电流和电压。</a:t>
            </a:r>
            <a:endParaRPr lang="en-US" altLang="zh-CN" sz="2800" b="1" dirty="0">
              <a:latin typeface="Times New Roman" panose="02020603050405020304" pitchFamily="18" charset="0"/>
              <a:ea typeface="Arial" panose="020B0604020202020204" pitchFamily="34" charset="0"/>
            </a:endParaRPr>
          </a:p>
        </p:txBody>
      </p:sp>
      <p:pic>
        <p:nvPicPr>
          <p:cNvPr id="32772" name="Picture 10"/>
          <p:cNvPicPr>
            <a:picLocks noChangeAspect="1"/>
          </p:cNvPicPr>
          <p:nvPr/>
        </p:nvPicPr>
        <p:blipFill>
          <a:blip r:embed="rId1"/>
          <a:stretch>
            <a:fillRect/>
          </a:stretch>
        </p:blipFill>
        <p:spPr>
          <a:xfrm>
            <a:off x="2030413" y="3035300"/>
            <a:ext cx="5472112" cy="2643188"/>
          </a:xfrm>
          <a:prstGeom prst="rect">
            <a:avLst/>
          </a:prstGeom>
          <a:noFill/>
          <a:ln w="9525">
            <a:noFill/>
          </a:ln>
        </p:spPr>
      </p:pic>
      <p:sp>
        <p:nvSpPr>
          <p:cNvPr id="32773"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ext Box 12"/>
          <p:cNvSpPr txBox="1"/>
          <p:nvPr/>
        </p:nvSpPr>
        <p:spPr>
          <a:xfrm>
            <a:off x="366713" y="3524250"/>
            <a:ext cx="324008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在</a:t>
            </a:r>
            <a:r>
              <a:rPr lang="zh-CN" altLang="en-US" sz="2400" b="1" dirty="0">
                <a:solidFill>
                  <a:srgbClr val="0000FF"/>
                </a:solidFill>
                <a:latin typeface="Times New Roman" panose="02020603050405020304" pitchFamily="18" charset="0"/>
                <a:cs typeface="Arial" panose="020B0604020202020204" pitchFamily="34" charset="0"/>
              </a:rPr>
              <a:t>节点</a:t>
            </a:r>
            <a:r>
              <a:rPr lang="en-US" altLang="zh-CN" sz="2400" b="1" dirty="0">
                <a:solidFill>
                  <a:srgbClr val="0000FF"/>
                </a:solidFill>
                <a:latin typeface="Times New Roman" panose="02020603050405020304" pitchFamily="18" charset="0"/>
                <a:cs typeface="Arial" panose="020B0604020202020204" pitchFamily="34" charset="0"/>
              </a:rPr>
              <a:t>a</a:t>
            </a:r>
            <a:r>
              <a:rPr lang="zh-CN" altLang="en-US" sz="2400" b="1" dirty="0">
                <a:latin typeface="Times New Roman" panose="02020603050405020304" pitchFamily="18" charset="0"/>
                <a:cs typeface="Arial" panose="020B0604020202020204" pitchFamily="34" charset="0"/>
              </a:rPr>
              <a:t>，由</a:t>
            </a:r>
            <a:r>
              <a:rPr lang="en-US" altLang="zh-CN" sz="2400" b="1" dirty="0">
                <a:latin typeface="Times New Roman" panose="02020603050405020304" pitchFamily="18" charset="0"/>
                <a:cs typeface="Arial" panose="020B0604020202020204" pitchFamily="34" charset="0"/>
              </a:rPr>
              <a:t> </a:t>
            </a:r>
            <a:r>
              <a:rPr lang="en-US" altLang="zh-CN" sz="2400" b="1" u="sng" dirty="0">
                <a:latin typeface="Times New Roman" panose="02020603050405020304" pitchFamily="18" charset="0"/>
                <a:cs typeface="Arial" panose="020B0604020202020204" pitchFamily="34" charset="0"/>
              </a:rPr>
              <a:t>KCL</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有</a:t>
            </a:r>
            <a:endParaRPr lang="en-US" altLang="zh-CN" sz="2400" b="1" dirty="0">
              <a:ea typeface="Arial" panose="020B0604020202020204" pitchFamily="34" charset="0"/>
            </a:endParaRPr>
          </a:p>
        </p:txBody>
      </p:sp>
      <p:pic>
        <p:nvPicPr>
          <p:cNvPr id="33795" name="Picture 4"/>
          <p:cNvPicPr>
            <a:picLocks noChangeAspect="1"/>
          </p:cNvPicPr>
          <p:nvPr/>
        </p:nvPicPr>
        <p:blipFill>
          <a:blip r:embed="rId1"/>
          <a:stretch>
            <a:fillRect/>
          </a:stretch>
        </p:blipFill>
        <p:spPr>
          <a:xfrm>
            <a:off x="4251325" y="3197225"/>
            <a:ext cx="4868863" cy="2582863"/>
          </a:xfrm>
          <a:prstGeom prst="rect">
            <a:avLst/>
          </a:prstGeom>
          <a:noFill/>
          <a:ln w="9525">
            <a:noFill/>
          </a:ln>
        </p:spPr>
      </p:pic>
      <p:graphicFrame>
        <p:nvGraphicFramePr>
          <p:cNvPr id="33796" name="Object 17"/>
          <p:cNvGraphicFramePr>
            <a:graphicFrameLocks noChangeAspect="1"/>
          </p:cNvGraphicFramePr>
          <p:nvPr/>
        </p:nvGraphicFramePr>
        <p:xfrm>
          <a:off x="1728788" y="3981450"/>
          <a:ext cx="1584325" cy="446088"/>
        </p:xfrm>
        <a:graphic>
          <a:graphicData uri="http://schemas.openxmlformats.org/presentationml/2006/ole">
            <mc:AlternateContent xmlns:mc="http://schemas.openxmlformats.org/markup-compatibility/2006">
              <mc:Choice xmlns:v="urn:schemas-microsoft-com:vml" Requires="v">
                <p:oleObj spid="_x0000_s3086" name="" r:id="rId2" imgW="812165" imgH="228600" progId="Equation.3">
                  <p:embed/>
                </p:oleObj>
              </mc:Choice>
              <mc:Fallback>
                <p:oleObj name="" r:id="rId2" imgW="812165" imgH="228600" progId="Equation.3">
                  <p:embed/>
                  <p:pic>
                    <p:nvPicPr>
                      <p:cNvPr id="0" name="图片 3085"/>
                      <p:cNvPicPr/>
                      <p:nvPr/>
                    </p:nvPicPr>
                    <p:blipFill>
                      <a:blip r:embed="rId3"/>
                      <a:stretch>
                        <a:fillRect/>
                      </a:stretch>
                    </p:blipFill>
                    <p:spPr>
                      <a:xfrm>
                        <a:off x="1728788" y="3981450"/>
                        <a:ext cx="1584325" cy="446088"/>
                      </a:xfrm>
                      <a:prstGeom prst="rect">
                        <a:avLst/>
                      </a:prstGeom>
                      <a:noFill/>
                      <a:ln w="38100">
                        <a:noFill/>
                        <a:miter/>
                      </a:ln>
                    </p:spPr>
                  </p:pic>
                </p:oleObj>
              </mc:Fallback>
            </mc:AlternateContent>
          </a:graphicData>
        </a:graphic>
      </p:graphicFrame>
      <p:sp>
        <p:nvSpPr>
          <p:cNvPr id="33797" name="Text Box 26"/>
          <p:cNvSpPr txBox="1"/>
          <p:nvPr/>
        </p:nvSpPr>
        <p:spPr>
          <a:xfrm>
            <a:off x="865188" y="4008438"/>
            <a:ext cx="36004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cs typeface="Arial" panose="020B0604020202020204" pitchFamily="34" charset="0"/>
              </a:rPr>
              <a:t>④</a:t>
            </a:r>
            <a:endParaRPr lang="en-US" altLang="zh-CN" sz="2400" dirty="0">
              <a:ea typeface="Arial" panose="020B0604020202020204" pitchFamily="34" charset="0"/>
            </a:endParaRPr>
          </a:p>
        </p:txBody>
      </p:sp>
      <p:sp>
        <p:nvSpPr>
          <p:cNvPr id="33798" name="Text Box 11"/>
          <p:cNvSpPr txBox="1"/>
          <p:nvPr/>
        </p:nvSpPr>
        <p:spPr>
          <a:xfrm>
            <a:off x="468313" y="574675"/>
            <a:ext cx="3887787" cy="25828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chemeClr val="bg2"/>
                </a:solidFill>
                <a:latin typeface="Times New Roman" panose="02020603050405020304" pitchFamily="18" charset="0"/>
                <a:cs typeface="Arial" panose="020B0604020202020204" pitchFamily="34" charset="0"/>
              </a:rPr>
              <a:t> </a:t>
            </a:r>
            <a:r>
              <a:rPr lang="zh-CN" altLang="en-US" sz="2400" b="1" dirty="0">
                <a:solidFill>
                  <a:srgbClr val="FF0000"/>
                </a:solidFill>
                <a:latin typeface="Times New Roman" panose="02020603050405020304" pitchFamily="18" charset="0"/>
                <a:cs typeface="Arial" panose="020B0604020202020204" pitchFamily="34" charset="0"/>
              </a:rPr>
              <a:t>解</a:t>
            </a:r>
            <a:r>
              <a:rPr lang="en-US" altLang="zh-CN" sz="2400" b="1" dirty="0">
                <a:solidFill>
                  <a:srgbClr val="FF0000"/>
                </a:solidFill>
                <a:latin typeface="Times New Roman" panose="02020603050405020304" pitchFamily="18" charset="0"/>
                <a:cs typeface="Arial" panose="020B0604020202020204" pitchFamily="34" charset="0"/>
              </a:rPr>
              <a:t>:</a:t>
            </a:r>
            <a:endParaRPr lang="en-US" altLang="zh-CN" sz="2400" b="1" dirty="0">
              <a:solidFill>
                <a:srgbClr val="FF0000"/>
              </a:solidFill>
              <a:latin typeface="Times New Roman" panose="02020603050405020304" pitchFamily="18" charset="0"/>
              <a:cs typeface="Arial" panose="020B0604020202020204" pitchFamily="34" charset="0"/>
            </a:endParaRPr>
          </a:p>
          <a:p>
            <a:pPr marL="0" lvl="0" indent="0" eaLnBrk="1" hangingPunct="1">
              <a:lnSpc>
                <a:spcPts val="2000"/>
              </a:lnSpc>
              <a:spcBef>
                <a:spcPct val="50000"/>
              </a:spcBef>
              <a:buClrTx/>
              <a:buSzTx/>
              <a:buFontTx/>
              <a:buNone/>
            </a:pP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由</a:t>
            </a:r>
            <a:r>
              <a:rPr lang="zh-CN" altLang="en-US" sz="2400" b="1" dirty="0">
                <a:solidFill>
                  <a:schemeClr val="bg2"/>
                </a:solidFill>
                <a:latin typeface="Times New Roman" panose="02020603050405020304" pitchFamily="18" charset="0"/>
                <a:cs typeface="Arial" panose="020B0604020202020204" pitchFamily="34" charset="0"/>
              </a:rPr>
              <a:t>欧姆定律</a:t>
            </a:r>
            <a:r>
              <a:rPr lang="zh-CN" altLang="en-US" sz="2400" b="1" dirty="0">
                <a:latin typeface="Times New Roman" panose="02020603050405020304" pitchFamily="18" charset="0"/>
                <a:cs typeface="Arial" panose="020B0604020202020204" pitchFamily="34" charset="0"/>
              </a:rPr>
              <a:t>，</a:t>
            </a:r>
            <a:endParaRPr lang="en-US" altLang="zh-CN" sz="2400" b="1" dirty="0">
              <a:latin typeface="Times New Roman" panose="02020603050405020304" pitchFamily="18" charset="0"/>
              <a:cs typeface="Arial" panose="020B0604020202020204" pitchFamily="34" charset="0"/>
            </a:endParaRPr>
          </a:p>
          <a:p>
            <a:pPr marL="0" lvl="0" indent="0" eaLnBrk="1" hangingPunct="1">
              <a:lnSpc>
                <a:spcPts val="2000"/>
              </a:lnSpc>
              <a:spcBef>
                <a:spcPct val="50000"/>
              </a:spcBef>
              <a:buClrTx/>
              <a:buSzTx/>
              <a:buFontTx/>
              <a:buNone/>
            </a:pPr>
            <a:endParaRPr lang="en-US" altLang="zh-CN" sz="2000" b="1" dirty="0">
              <a:latin typeface="Times New Roman" panose="02020603050405020304" pitchFamily="18" charset="0"/>
              <a:cs typeface="Arial" panose="020B0604020202020204" pitchFamily="34" charset="0"/>
            </a:endParaRPr>
          </a:p>
          <a:p>
            <a:pPr marL="0" lvl="0" indent="0" eaLnBrk="1" hangingPunct="1">
              <a:lnSpc>
                <a:spcPts val="2000"/>
              </a:lnSpc>
              <a:spcBef>
                <a:spcPct val="50000"/>
              </a:spcBef>
              <a:buClrTx/>
              <a:buSzTx/>
              <a:buFontTx/>
              <a:buNone/>
            </a:pPr>
            <a:r>
              <a:rPr lang="en-US" altLang="zh-CN" sz="2000" b="1" dirty="0">
                <a:latin typeface="Times New Roman" panose="02020603050405020304" pitchFamily="18" charset="0"/>
                <a:cs typeface="Arial" panose="020B0604020202020204" pitchFamily="34" charset="0"/>
              </a:rPr>
              <a:t>       </a:t>
            </a:r>
            <a:endParaRPr lang="en-US" altLang="zh-CN" sz="2000" b="1" dirty="0">
              <a:latin typeface="Times New Roman" panose="02020603050405020304" pitchFamily="18" charset="0"/>
              <a:cs typeface="Arial" panose="020B0604020202020204" pitchFamily="34" charset="0"/>
            </a:endParaRPr>
          </a:p>
          <a:p>
            <a:pPr marL="0" lvl="0" indent="0" eaLnBrk="1" hangingPunct="1">
              <a:lnSpc>
                <a:spcPts val="2000"/>
              </a:lnSpc>
              <a:spcBef>
                <a:spcPct val="50000"/>
              </a:spcBef>
              <a:buClrTx/>
              <a:buSzTx/>
              <a:buFontTx/>
              <a:buNone/>
            </a:pPr>
            <a:r>
              <a:rPr lang="en-US" altLang="zh-CN" sz="2000" b="1" dirty="0">
                <a:latin typeface="Times New Roman" panose="02020603050405020304" pitchFamily="18" charset="0"/>
                <a:cs typeface="Arial" panose="020B0604020202020204" pitchFamily="34" charset="0"/>
              </a:rPr>
              <a:t>                                                   </a:t>
            </a:r>
            <a:endParaRPr lang="en-US" altLang="zh-CN" sz="2000" b="1" dirty="0">
              <a:latin typeface="Times New Roman" panose="02020603050405020304" pitchFamily="18" charset="0"/>
              <a:cs typeface="Arial" panose="020B0604020202020204" pitchFamily="34" charset="0"/>
            </a:endParaRPr>
          </a:p>
          <a:p>
            <a:pPr marL="0" lvl="0" indent="0" eaLnBrk="1" hangingPunct="1">
              <a:lnSpc>
                <a:spcPts val="2000"/>
              </a:lnSpc>
              <a:spcBef>
                <a:spcPct val="50000"/>
              </a:spcBef>
              <a:buClrTx/>
              <a:buSzTx/>
              <a:buFontTx/>
              <a:buNone/>
            </a:pPr>
            <a:r>
              <a:rPr lang="en-US" altLang="zh-CN" sz="2400" b="1" dirty="0">
                <a:latin typeface="Times New Roman" panose="02020603050405020304" pitchFamily="18" charset="0"/>
                <a:cs typeface="Arial" panose="020B0604020202020204" pitchFamily="34" charset="0"/>
              </a:rPr>
              <a:t>                    </a:t>
            </a:r>
            <a:endParaRPr lang="en-US" altLang="zh-CN" sz="2400" b="1" dirty="0">
              <a:latin typeface="Times New Roman" panose="02020603050405020304" pitchFamily="18" charset="0"/>
              <a:ea typeface="Arial" panose="020B0604020202020204" pitchFamily="34" charset="0"/>
            </a:endParaRPr>
          </a:p>
        </p:txBody>
      </p:sp>
      <p:graphicFrame>
        <p:nvGraphicFramePr>
          <p:cNvPr id="33799" name="Object 16"/>
          <p:cNvGraphicFramePr>
            <a:graphicFrameLocks noChangeAspect="1"/>
          </p:cNvGraphicFramePr>
          <p:nvPr/>
        </p:nvGraphicFramePr>
        <p:xfrm>
          <a:off x="1331913" y="1654175"/>
          <a:ext cx="2736850" cy="1522413"/>
        </p:xfrm>
        <a:graphic>
          <a:graphicData uri="http://schemas.openxmlformats.org/presentationml/2006/ole">
            <mc:AlternateContent xmlns:mc="http://schemas.openxmlformats.org/markup-compatibility/2006">
              <mc:Choice xmlns:v="urn:schemas-microsoft-com:vml" Requires="v">
                <p:oleObj spid="_x0000_s3089" name="" r:id="rId4" imgW="533400" imgH="685800" progId="Equation.3">
                  <p:embed/>
                </p:oleObj>
              </mc:Choice>
              <mc:Fallback>
                <p:oleObj name="" r:id="rId4" imgW="533400" imgH="685800" progId="Equation.3">
                  <p:embed/>
                  <p:pic>
                    <p:nvPicPr>
                      <p:cNvPr id="0" name="图片 3088"/>
                      <p:cNvPicPr/>
                      <p:nvPr/>
                    </p:nvPicPr>
                    <p:blipFill>
                      <a:blip r:embed="rId5"/>
                      <a:stretch>
                        <a:fillRect/>
                      </a:stretch>
                    </p:blipFill>
                    <p:spPr>
                      <a:xfrm>
                        <a:off x="1331913" y="1654175"/>
                        <a:ext cx="2736850" cy="1522413"/>
                      </a:xfrm>
                      <a:prstGeom prst="rect">
                        <a:avLst/>
                      </a:prstGeom>
                      <a:noFill/>
                      <a:ln w="38100">
                        <a:noFill/>
                        <a:miter/>
                      </a:ln>
                    </p:spPr>
                  </p:pic>
                </p:oleObj>
              </mc:Fallback>
            </mc:AlternateContent>
          </a:graphicData>
        </a:graphic>
      </p:graphicFrame>
      <p:sp>
        <p:nvSpPr>
          <p:cNvPr id="33800" name="TextBox 23"/>
          <p:cNvSpPr txBox="1"/>
          <p:nvPr/>
        </p:nvSpPr>
        <p:spPr>
          <a:xfrm>
            <a:off x="755650" y="1798638"/>
            <a:ext cx="500063"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800" dirty="0">
                <a:cs typeface="Arial" panose="020B0604020202020204" pitchFamily="34" charset="0"/>
              </a:rPr>
              <a:t>①</a:t>
            </a:r>
            <a:endParaRPr lang="zh-CN" altLang="en-US" sz="1800" dirty="0">
              <a:ea typeface="Arial" panose="020B0604020202020204" pitchFamily="34" charset="0"/>
            </a:endParaRPr>
          </a:p>
        </p:txBody>
      </p:sp>
      <p:sp>
        <p:nvSpPr>
          <p:cNvPr id="33801" name="TextBox 24"/>
          <p:cNvSpPr txBox="1"/>
          <p:nvPr/>
        </p:nvSpPr>
        <p:spPr>
          <a:xfrm>
            <a:off x="755650" y="2230438"/>
            <a:ext cx="357188"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800" dirty="0">
                <a:cs typeface="Arial" panose="020B0604020202020204" pitchFamily="34" charset="0"/>
              </a:rPr>
              <a:t>②</a:t>
            </a:r>
            <a:endParaRPr lang="zh-CN" altLang="en-US" sz="1800" dirty="0">
              <a:ea typeface="Arial" panose="020B0604020202020204" pitchFamily="34" charset="0"/>
            </a:endParaRPr>
          </a:p>
        </p:txBody>
      </p:sp>
      <p:sp>
        <p:nvSpPr>
          <p:cNvPr id="33802" name="TextBox 25"/>
          <p:cNvSpPr txBox="1"/>
          <p:nvPr/>
        </p:nvSpPr>
        <p:spPr>
          <a:xfrm>
            <a:off x="755650" y="2735263"/>
            <a:ext cx="285750"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800" dirty="0">
                <a:cs typeface="Arial" panose="020B0604020202020204" pitchFamily="34" charset="0"/>
              </a:rPr>
              <a:t>③</a:t>
            </a:r>
            <a:endParaRPr lang="zh-CN" altLang="en-US" sz="1800" dirty="0">
              <a:ea typeface="Arial" panose="020B0604020202020204" pitchFamily="34" charset="0"/>
            </a:endParaRPr>
          </a:p>
        </p:txBody>
      </p:sp>
      <p:sp>
        <p:nvSpPr>
          <p:cNvPr id="33803"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33804" name="文本框 1"/>
          <p:cNvSpPr txBox="1"/>
          <p:nvPr/>
        </p:nvSpPr>
        <p:spPr>
          <a:xfrm>
            <a:off x="5103813" y="5949950"/>
            <a:ext cx="341630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C00000"/>
                </a:solidFill>
              </a:rPr>
              <a:t>注：</a:t>
            </a:r>
            <a:r>
              <a:rPr lang="zh-CN" altLang="en-US" sz="1800" b="1" dirty="0"/>
              <a:t>对各种假设给出清晰标签！</a:t>
            </a:r>
            <a:endParaRPr lang="zh-CN" altLang="en-US" sz="1800" b="1" dirty="0"/>
          </a:p>
        </p:txBody>
      </p:sp>
      <p:pic>
        <p:nvPicPr>
          <p:cNvPr id="33805" name="Picture 10"/>
          <p:cNvPicPr>
            <a:picLocks noChangeAspect="1"/>
          </p:cNvPicPr>
          <p:nvPr/>
        </p:nvPicPr>
        <p:blipFill>
          <a:blip r:embed="rId6"/>
          <a:stretch>
            <a:fillRect/>
          </a:stretch>
        </p:blipFill>
        <p:spPr>
          <a:xfrm>
            <a:off x="4478338" y="104775"/>
            <a:ext cx="4668837" cy="2290763"/>
          </a:xfrm>
          <a:prstGeom prst="rect">
            <a:avLst/>
          </a:prstGeom>
          <a:noFill/>
          <a:ln w="9525">
            <a:noFill/>
          </a:ln>
        </p:spPr>
      </p:pic>
      <p:sp>
        <p:nvSpPr>
          <p:cNvPr id="33806" name="文本框 1"/>
          <p:cNvSpPr txBox="1"/>
          <p:nvPr/>
        </p:nvSpPr>
        <p:spPr>
          <a:xfrm>
            <a:off x="755650" y="4752975"/>
            <a:ext cx="876300"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1800" dirty="0">
                <a:solidFill>
                  <a:srgbClr val="0000FF"/>
                </a:solidFill>
              </a:rPr>
              <a:t>。。。</a:t>
            </a:r>
            <a:endParaRPr lang="zh-CN" altLang="en-US" sz="1800" dirty="0">
              <a:solidFill>
                <a:srgbClr val="0000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xfrm>
            <a:off x="539750" y="1844675"/>
            <a:ext cx="8353425" cy="1371600"/>
          </a:xfrm>
        </p:spPr>
        <p:txBody>
          <a:bodyPr vert="horz" wrap="square" lIns="91440" tIns="45720" rIns="91440" bIns="45720" anchor="ctr"/>
          <a:p>
            <a:r>
              <a:rPr lang="en-US" altLang="zh-CN" sz="2400" b="1" dirty="0">
                <a:latin typeface="Times New Roman" panose="02020603050405020304" pitchFamily="18" charset="0"/>
              </a:rPr>
              <a:t> </a:t>
            </a:r>
            <a:r>
              <a:rPr lang="zh-CN" altLang="en-US" sz="2400" b="1" dirty="0">
                <a:latin typeface="Times New Roman" panose="02020603050405020304" pitchFamily="18" charset="0"/>
              </a:rPr>
              <a:t>对</a:t>
            </a:r>
            <a:r>
              <a:rPr lang="zh-CN" altLang="en-US" sz="2400" b="1" dirty="0">
                <a:solidFill>
                  <a:srgbClr val="0000FF"/>
                </a:solidFill>
                <a:latin typeface="Times New Roman" panose="02020603050405020304" pitchFamily="18" charset="0"/>
              </a:rPr>
              <a:t>回路</a:t>
            </a:r>
            <a:r>
              <a:rPr lang="en-US" altLang="zh-CN" sz="2400" b="1" dirty="0">
                <a:solidFill>
                  <a:srgbClr val="0000FF"/>
                </a:solidFill>
                <a:latin typeface="Times New Roman" panose="02020603050405020304" pitchFamily="18" charset="0"/>
              </a:rPr>
              <a:t>1</a:t>
            </a:r>
            <a:r>
              <a:rPr lang="zh-CN" altLang="en-US" sz="2400" b="1" dirty="0">
                <a:latin typeface="Times New Roman" panose="02020603050405020304" pitchFamily="18" charset="0"/>
              </a:rPr>
              <a:t>使用</a:t>
            </a:r>
            <a:r>
              <a:rPr lang="en-US" altLang="zh-CN" sz="2400" b="1" u="sng" dirty="0">
                <a:latin typeface="Times New Roman" panose="02020603050405020304" pitchFamily="18" charset="0"/>
              </a:rPr>
              <a:t>KVL</a:t>
            </a:r>
            <a:r>
              <a:rPr lang="zh-CN" altLang="en-US" sz="2400" b="1" dirty="0">
                <a:latin typeface="Times New Roman" panose="02020603050405020304" pitchFamily="18" charset="0"/>
              </a:rPr>
              <a:t>，</a:t>
            </a:r>
            <a:br>
              <a:rPr lang="en-US" altLang="zh-CN" sz="2400" dirty="0">
                <a:latin typeface="Times New Roman" panose="02020603050405020304" pitchFamily="18" charset="0"/>
              </a:rPr>
            </a:br>
            <a:r>
              <a:rPr lang="en-US" altLang="zh-CN" sz="1800" dirty="0">
                <a:latin typeface="Times New Roman" panose="02020603050405020304" pitchFamily="18" charset="0"/>
              </a:rPr>
              <a:t>         </a:t>
            </a:r>
            <a:br>
              <a:rPr lang="en-US" altLang="zh-CN" sz="1800" dirty="0">
                <a:latin typeface="Times New Roman" panose="02020603050405020304" pitchFamily="18" charset="0"/>
              </a:rPr>
            </a:br>
            <a:r>
              <a:rPr lang="en-US" altLang="zh-CN" sz="1800" dirty="0">
                <a:latin typeface="Times New Roman" panose="02020603050405020304" pitchFamily="18" charset="0"/>
              </a:rPr>
              <a:t>           </a:t>
            </a:r>
            <a:r>
              <a:rPr lang="en-US" altLang="zh-CN" sz="2400" dirty="0">
                <a:latin typeface="Times New Roman" panose="02020603050405020304" pitchFamily="18" charset="0"/>
              </a:rPr>
              <a:t>⑤</a:t>
            </a:r>
            <a:br>
              <a:rPr lang="en-US" altLang="zh-CN" sz="2400" dirty="0">
                <a:latin typeface="Times New Roman" panose="02020603050405020304" pitchFamily="18" charset="0"/>
              </a:rPr>
            </a:br>
            <a:br>
              <a:rPr lang="en-US" altLang="zh-CN" sz="2400" dirty="0">
                <a:latin typeface="Times New Roman" panose="02020603050405020304" pitchFamily="18" charset="0"/>
              </a:rPr>
            </a:br>
            <a:br>
              <a:rPr lang="en-US" altLang="zh-CN" sz="1800" dirty="0">
                <a:latin typeface="Times New Roman" panose="02020603050405020304" pitchFamily="18" charset="0"/>
              </a:rPr>
            </a:br>
            <a:br>
              <a:rPr lang="en-US" altLang="zh-CN" sz="1800" dirty="0">
                <a:latin typeface="Times New Roman" panose="02020603050405020304" pitchFamily="18" charset="0"/>
              </a:rPr>
            </a:br>
            <a:br>
              <a:rPr lang="en-US" altLang="zh-CN" sz="2400" dirty="0">
                <a:latin typeface="Times New Roman" panose="02020603050405020304" pitchFamily="18" charset="0"/>
              </a:rPr>
            </a:br>
            <a:r>
              <a:rPr lang="en-US" altLang="zh-CN" sz="1800" dirty="0">
                <a:latin typeface="Times New Roman" panose="02020603050405020304" pitchFamily="18" charset="0"/>
              </a:rPr>
              <a:t>                                   </a:t>
            </a:r>
            <a:br>
              <a:rPr lang="en-US" altLang="zh-CN" sz="1800" dirty="0">
                <a:latin typeface="Times New Roman" panose="02020603050405020304" pitchFamily="18" charset="0"/>
              </a:rPr>
            </a:br>
            <a:endParaRPr lang="zh-CN" altLang="en-US" sz="1800" dirty="0">
              <a:latin typeface="Times New Roman" panose="02020603050405020304" pitchFamily="18" charset="0"/>
            </a:endParaRPr>
          </a:p>
        </p:txBody>
      </p:sp>
      <p:graphicFrame>
        <p:nvGraphicFramePr>
          <p:cNvPr id="35843" name="Object 18"/>
          <p:cNvGraphicFramePr>
            <a:graphicFrameLocks noChangeAspect="1"/>
          </p:cNvGraphicFramePr>
          <p:nvPr/>
        </p:nvGraphicFramePr>
        <p:xfrm>
          <a:off x="1835150" y="1700213"/>
          <a:ext cx="2808288" cy="541337"/>
        </p:xfrm>
        <a:graphic>
          <a:graphicData uri="http://schemas.openxmlformats.org/presentationml/2006/ole">
            <mc:AlternateContent xmlns:mc="http://schemas.openxmlformats.org/markup-compatibility/2006">
              <mc:Choice xmlns:v="urn:schemas-microsoft-com:vml" Requires="v">
                <p:oleObj spid="_x0000_s3088" name="" r:id="rId1" imgW="1040765" imgH="215900" progId="Equation.3">
                  <p:embed/>
                </p:oleObj>
              </mc:Choice>
              <mc:Fallback>
                <p:oleObj name="" r:id="rId1" imgW="1040765" imgH="215900" progId="Equation.3">
                  <p:embed/>
                  <p:pic>
                    <p:nvPicPr>
                      <p:cNvPr id="0" name="图片 3087"/>
                      <p:cNvPicPr/>
                      <p:nvPr/>
                    </p:nvPicPr>
                    <p:blipFill>
                      <a:blip r:embed="rId2"/>
                      <a:stretch>
                        <a:fillRect/>
                      </a:stretch>
                    </p:blipFill>
                    <p:spPr>
                      <a:xfrm>
                        <a:off x="1835150" y="1700213"/>
                        <a:ext cx="2808288" cy="541337"/>
                      </a:xfrm>
                      <a:prstGeom prst="rect">
                        <a:avLst/>
                      </a:prstGeom>
                      <a:noFill/>
                      <a:ln w="38100">
                        <a:noFill/>
                        <a:miter/>
                      </a:ln>
                    </p:spPr>
                  </p:pic>
                </p:oleObj>
              </mc:Fallback>
            </mc:AlternateContent>
          </a:graphicData>
        </a:graphic>
      </p:graphicFrame>
      <p:sp>
        <p:nvSpPr>
          <p:cNvPr id="35844" name="Text Box 21"/>
          <p:cNvSpPr txBox="1"/>
          <p:nvPr/>
        </p:nvSpPr>
        <p:spPr>
          <a:xfrm>
            <a:off x="2392363" y="2714625"/>
            <a:ext cx="184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grpSp>
        <p:nvGrpSpPr>
          <p:cNvPr id="35845" name="Group 14"/>
          <p:cNvGrpSpPr/>
          <p:nvPr/>
        </p:nvGrpSpPr>
        <p:grpSpPr>
          <a:xfrm>
            <a:off x="1731963" y="3216275"/>
            <a:ext cx="3846512" cy="585788"/>
            <a:chOff x="1520" y="618"/>
            <a:chExt cx="2132" cy="264"/>
          </a:xfrm>
        </p:grpSpPr>
        <p:graphicFrame>
          <p:nvGraphicFramePr>
            <p:cNvPr id="35850" name="Object 6"/>
            <p:cNvGraphicFramePr>
              <a:graphicFrameLocks noChangeAspect="1"/>
            </p:cNvGraphicFramePr>
            <p:nvPr/>
          </p:nvGraphicFramePr>
          <p:xfrm>
            <a:off x="1520" y="622"/>
            <a:ext cx="1905" cy="260"/>
          </p:xfrm>
          <a:graphic>
            <a:graphicData uri="http://schemas.openxmlformats.org/presentationml/2006/ole">
              <mc:AlternateContent xmlns:mc="http://schemas.openxmlformats.org/markup-compatibility/2006">
                <mc:Choice xmlns:v="urn:schemas-microsoft-com:vml" Requires="v">
                  <p:oleObj spid="_x0000_s3087" name="" r:id="rId3" imgW="1308100" imgH="228600" progId="Equation.3">
                    <p:embed/>
                  </p:oleObj>
                </mc:Choice>
                <mc:Fallback>
                  <p:oleObj name="" r:id="rId3" imgW="1308100" imgH="228600" progId="Equation.3">
                    <p:embed/>
                    <p:pic>
                      <p:nvPicPr>
                        <p:cNvPr id="0" name="图片 3086"/>
                        <p:cNvPicPr/>
                        <p:nvPr/>
                      </p:nvPicPr>
                      <p:blipFill>
                        <a:blip r:embed="rId4"/>
                        <a:stretch>
                          <a:fillRect/>
                        </a:stretch>
                      </p:blipFill>
                      <p:spPr>
                        <a:xfrm>
                          <a:off x="1520" y="622"/>
                          <a:ext cx="1905" cy="260"/>
                        </a:xfrm>
                        <a:prstGeom prst="rect">
                          <a:avLst/>
                        </a:prstGeom>
                        <a:noFill/>
                        <a:ln w="38100">
                          <a:noFill/>
                          <a:miter/>
                        </a:ln>
                      </p:spPr>
                    </p:pic>
                  </p:oleObj>
                </mc:Fallback>
              </mc:AlternateContent>
            </a:graphicData>
          </a:graphic>
        </p:graphicFrame>
        <p:graphicFrame>
          <p:nvGraphicFramePr>
            <p:cNvPr id="35851" name="Object 7"/>
            <p:cNvGraphicFramePr>
              <a:graphicFrameLocks noChangeAspect="1"/>
            </p:cNvGraphicFramePr>
            <p:nvPr/>
          </p:nvGraphicFramePr>
          <p:xfrm>
            <a:off x="3198" y="618"/>
            <a:ext cx="454" cy="240"/>
          </p:xfrm>
          <a:graphic>
            <a:graphicData uri="http://schemas.openxmlformats.org/presentationml/2006/ole">
              <mc:AlternateContent xmlns:mc="http://schemas.openxmlformats.org/markup-compatibility/2006">
                <mc:Choice xmlns:v="urn:schemas-microsoft-com:vml" Requires="v">
                  <p:oleObj spid="_x0000_s3090" name="" r:id="rId5" imgW="431800" imgH="228600" progId="Equation.3">
                    <p:embed/>
                  </p:oleObj>
                </mc:Choice>
                <mc:Fallback>
                  <p:oleObj name="" r:id="rId5" imgW="431800" imgH="228600" progId="Equation.3">
                    <p:embed/>
                    <p:pic>
                      <p:nvPicPr>
                        <p:cNvPr id="0" name="图片 3089"/>
                        <p:cNvPicPr/>
                        <p:nvPr/>
                      </p:nvPicPr>
                      <p:blipFill>
                        <a:blip r:embed="rId6"/>
                        <a:stretch>
                          <a:fillRect/>
                        </a:stretch>
                      </p:blipFill>
                      <p:spPr>
                        <a:xfrm>
                          <a:off x="3198" y="618"/>
                          <a:ext cx="454" cy="240"/>
                        </a:xfrm>
                        <a:prstGeom prst="rect">
                          <a:avLst/>
                        </a:prstGeom>
                        <a:noFill/>
                        <a:ln w="38100">
                          <a:noFill/>
                          <a:miter/>
                        </a:ln>
                      </p:spPr>
                    </p:pic>
                  </p:oleObj>
                </mc:Fallback>
              </mc:AlternateContent>
            </a:graphicData>
          </a:graphic>
        </p:graphicFrame>
      </p:grpSp>
      <p:sp>
        <p:nvSpPr>
          <p:cNvPr id="35846" name="Rectangle 14"/>
          <p:cNvSpPr/>
          <p:nvPr/>
        </p:nvSpPr>
        <p:spPr>
          <a:xfrm>
            <a:off x="539750" y="2678113"/>
            <a:ext cx="3167063"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对</a:t>
            </a:r>
            <a:r>
              <a:rPr lang="zh-CN" altLang="en-US" sz="2400" b="1" dirty="0">
                <a:solidFill>
                  <a:srgbClr val="0000FF"/>
                </a:solidFill>
                <a:latin typeface="Times New Roman" panose="02020603050405020304" pitchFamily="18" charset="0"/>
                <a:cs typeface="Arial" panose="020B0604020202020204" pitchFamily="34" charset="0"/>
              </a:rPr>
              <a:t>回路</a:t>
            </a:r>
            <a:r>
              <a:rPr lang="en-US" altLang="zh-CN" sz="2400" b="1" dirty="0">
                <a:solidFill>
                  <a:srgbClr val="0000FF"/>
                </a:solidFill>
                <a:latin typeface="Times New Roman" panose="02020603050405020304" pitchFamily="18" charset="0"/>
                <a:cs typeface="Arial" panose="020B0604020202020204" pitchFamily="34" charset="0"/>
              </a:rPr>
              <a:t>2</a:t>
            </a:r>
            <a:r>
              <a:rPr lang="zh-CN" altLang="en-US" sz="2400" b="1" dirty="0">
                <a:latin typeface="Times New Roman" panose="02020603050405020304" pitchFamily="18" charset="0"/>
                <a:cs typeface="Arial" panose="020B0604020202020204" pitchFamily="34" charset="0"/>
              </a:rPr>
              <a:t>使用</a:t>
            </a:r>
            <a:r>
              <a:rPr lang="en-US" altLang="zh-CN" sz="2400" b="1" u="sng" dirty="0">
                <a:latin typeface="Times New Roman" panose="02020603050405020304" pitchFamily="18" charset="0"/>
                <a:cs typeface="Arial" panose="020B0604020202020204" pitchFamily="34" charset="0"/>
              </a:rPr>
              <a:t>KVL</a:t>
            </a:r>
            <a:endParaRPr lang="en-US" altLang="zh-CN" sz="2400" b="1" dirty="0">
              <a:latin typeface="Times New Roman" panose="02020603050405020304" pitchFamily="18" charset="0"/>
              <a:ea typeface="Arial" panose="020B0604020202020204" pitchFamily="34" charset="0"/>
            </a:endParaRPr>
          </a:p>
        </p:txBody>
      </p:sp>
      <p:sp>
        <p:nvSpPr>
          <p:cNvPr id="35847" name="Rectangle 16"/>
          <p:cNvSpPr/>
          <p:nvPr/>
        </p:nvSpPr>
        <p:spPr>
          <a:xfrm>
            <a:off x="1200150" y="3290888"/>
            <a:ext cx="49053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⑥</a:t>
            </a:r>
            <a:endParaRPr lang="zh-CN" altLang="en-US" sz="2400" b="1" dirty="0">
              <a:ea typeface="Arial" panose="020B0604020202020204" pitchFamily="34" charset="0"/>
            </a:endParaRPr>
          </a:p>
        </p:txBody>
      </p:sp>
      <p:pic>
        <p:nvPicPr>
          <p:cNvPr id="35848" name="Picture 4"/>
          <p:cNvPicPr>
            <a:picLocks noChangeAspect="1"/>
          </p:cNvPicPr>
          <p:nvPr/>
        </p:nvPicPr>
        <p:blipFill>
          <a:blip r:embed="rId7"/>
          <a:stretch>
            <a:fillRect/>
          </a:stretch>
        </p:blipFill>
        <p:spPr>
          <a:xfrm>
            <a:off x="3348038" y="4049713"/>
            <a:ext cx="4792662" cy="2560637"/>
          </a:xfrm>
          <a:prstGeom prst="rect">
            <a:avLst/>
          </a:prstGeom>
          <a:noFill/>
          <a:ln w="9525">
            <a:noFill/>
          </a:ln>
        </p:spPr>
      </p:pic>
      <p:sp>
        <p:nvSpPr>
          <p:cNvPr id="35849"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6866" name="Object 12"/>
          <p:cNvGraphicFramePr>
            <a:graphicFrameLocks noChangeAspect="1"/>
          </p:cNvGraphicFramePr>
          <p:nvPr/>
        </p:nvGraphicFramePr>
        <p:xfrm>
          <a:off x="1763713" y="2492375"/>
          <a:ext cx="1152525" cy="503238"/>
        </p:xfrm>
        <a:graphic>
          <a:graphicData uri="http://schemas.openxmlformats.org/presentationml/2006/ole">
            <mc:AlternateContent xmlns:mc="http://schemas.openxmlformats.org/markup-compatibility/2006">
              <mc:Choice xmlns:v="urn:schemas-microsoft-com:vml" Requires="v">
                <p:oleObj spid="_x0000_s3093" name="" r:id="rId1" imgW="494665" imgH="215900" progId="Equation.3">
                  <p:embed/>
                </p:oleObj>
              </mc:Choice>
              <mc:Fallback>
                <p:oleObj name="" r:id="rId1" imgW="494665" imgH="215900" progId="Equation.3">
                  <p:embed/>
                  <p:pic>
                    <p:nvPicPr>
                      <p:cNvPr id="0" name="图片 3092"/>
                      <p:cNvPicPr/>
                      <p:nvPr/>
                    </p:nvPicPr>
                    <p:blipFill>
                      <a:blip r:embed="rId2"/>
                      <a:stretch>
                        <a:fillRect/>
                      </a:stretch>
                    </p:blipFill>
                    <p:spPr>
                      <a:xfrm>
                        <a:off x="1763713" y="2492375"/>
                        <a:ext cx="1152525" cy="503238"/>
                      </a:xfrm>
                      <a:prstGeom prst="rect">
                        <a:avLst/>
                      </a:prstGeom>
                      <a:noFill/>
                      <a:ln w="38100">
                        <a:noFill/>
                        <a:miter/>
                      </a:ln>
                    </p:spPr>
                  </p:pic>
                </p:oleObj>
              </mc:Fallback>
            </mc:AlternateContent>
          </a:graphicData>
        </a:graphic>
      </p:graphicFrame>
      <p:graphicFrame>
        <p:nvGraphicFramePr>
          <p:cNvPr id="36867" name="Object 13"/>
          <p:cNvGraphicFramePr>
            <a:graphicFrameLocks noChangeAspect="1"/>
          </p:cNvGraphicFramePr>
          <p:nvPr/>
        </p:nvGraphicFramePr>
        <p:xfrm>
          <a:off x="827088" y="1557338"/>
          <a:ext cx="7272337" cy="544512"/>
        </p:xfrm>
        <a:graphic>
          <a:graphicData uri="http://schemas.openxmlformats.org/presentationml/2006/ole">
            <mc:AlternateContent xmlns:mc="http://schemas.openxmlformats.org/markup-compatibility/2006">
              <mc:Choice xmlns:v="urn:schemas-microsoft-com:vml" Requires="v">
                <p:oleObj spid="_x0000_s3092" name="" r:id="rId3" imgW="3060700" imgH="228600" progId="Equation.3">
                  <p:embed/>
                </p:oleObj>
              </mc:Choice>
              <mc:Fallback>
                <p:oleObj name="" r:id="rId3" imgW="3060700" imgH="228600" progId="Equation.3">
                  <p:embed/>
                  <p:pic>
                    <p:nvPicPr>
                      <p:cNvPr id="0" name="图片 3091"/>
                      <p:cNvPicPr/>
                      <p:nvPr/>
                    </p:nvPicPr>
                    <p:blipFill>
                      <a:blip r:embed="rId4"/>
                      <a:stretch>
                        <a:fillRect/>
                      </a:stretch>
                    </p:blipFill>
                    <p:spPr>
                      <a:xfrm>
                        <a:off x="827088" y="1557338"/>
                        <a:ext cx="7272337" cy="544512"/>
                      </a:xfrm>
                      <a:prstGeom prst="rect">
                        <a:avLst/>
                      </a:prstGeom>
                      <a:noFill/>
                      <a:ln w="38100">
                        <a:noFill/>
                        <a:miter/>
                      </a:ln>
                    </p:spPr>
                  </p:pic>
                </p:oleObj>
              </mc:Fallback>
            </mc:AlternateContent>
          </a:graphicData>
        </a:graphic>
      </p:graphicFrame>
      <p:sp>
        <p:nvSpPr>
          <p:cNvPr id="36868"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sz="quarter"/>
          </p:nvPr>
        </p:nvSpPr>
        <p:spPr>
          <a:xfrm>
            <a:off x="395288" y="188913"/>
            <a:ext cx="8208962" cy="1223962"/>
          </a:xfrm>
        </p:spPr>
        <p:txBody>
          <a:bodyPr vert="horz" wrap="square" lIns="91440" tIns="45720" rIns="91440" bIns="45720" anchor="ctr"/>
          <a:p>
            <a:pPr eaLnBrk="1" hangingPunct="1"/>
            <a:r>
              <a:rPr lang="en-US" altLang="zh-CN" sz="3200" b="1" dirty="0">
                <a:solidFill>
                  <a:srgbClr val="0000FF"/>
                </a:solidFill>
                <a:latin typeface="Franklin Gothic Medium" panose="020B0603020102020204" pitchFamily="34" charset="0"/>
              </a:rPr>
              <a:t>2.5   </a:t>
            </a:r>
            <a:r>
              <a:rPr lang="zh-CN" altLang="en-US" sz="3200" b="1" dirty="0">
                <a:solidFill>
                  <a:srgbClr val="0000FF"/>
                </a:solidFill>
                <a:latin typeface="Franklin Gothic Medium" panose="020B0603020102020204" pitchFamily="34" charset="0"/>
              </a:rPr>
              <a:t>串联电阻的分压</a:t>
            </a:r>
            <a:endParaRPr lang="en-US" altLang="zh-CN" sz="3200" b="1" dirty="0">
              <a:solidFill>
                <a:srgbClr val="0000FF"/>
              </a:solidFill>
              <a:latin typeface="Franklin Gothic Medium" panose="020B0603020102020204" pitchFamily="34" charset="0"/>
            </a:endParaRPr>
          </a:p>
        </p:txBody>
      </p:sp>
      <p:graphicFrame>
        <p:nvGraphicFramePr>
          <p:cNvPr id="37891" name="Object 3"/>
          <p:cNvGraphicFramePr>
            <a:graphicFrameLocks noGrp="1" noChangeAspect="1"/>
          </p:cNvGraphicFramePr>
          <p:nvPr>
            <p:ph sz="quarter" idx="1"/>
          </p:nvPr>
        </p:nvGraphicFramePr>
        <p:xfrm>
          <a:off x="4422775" y="6207125"/>
          <a:ext cx="1655763" cy="492125"/>
        </p:xfrm>
        <a:graphic>
          <a:graphicData uri="http://schemas.openxmlformats.org/presentationml/2006/ole">
            <mc:AlternateContent xmlns:mc="http://schemas.openxmlformats.org/markup-compatibility/2006">
              <mc:Choice xmlns:v="urn:schemas-microsoft-com:vml" Requires="v">
                <p:oleObj spid="_x0000_s3094" name="" r:id="rId1" imgW="812165" imgH="241300" progId="Equation.DSMT4">
                  <p:embed/>
                </p:oleObj>
              </mc:Choice>
              <mc:Fallback>
                <p:oleObj name="" r:id="rId1" imgW="812165" imgH="241300" progId="Equation.DSMT4">
                  <p:embed/>
                  <p:pic>
                    <p:nvPicPr>
                      <p:cNvPr id="0" name="图片 3093"/>
                      <p:cNvPicPr/>
                      <p:nvPr/>
                    </p:nvPicPr>
                    <p:blipFill>
                      <a:blip r:embed="rId2"/>
                      <a:srcRect/>
                      <a:stretch>
                        <a:fillRect/>
                      </a:stretch>
                    </p:blipFill>
                    <p:spPr>
                      <a:xfrm>
                        <a:off x="4422775" y="6207125"/>
                        <a:ext cx="1655763" cy="492125"/>
                      </a:xfrm>
                      <a:prstGeom prst="rect">
                        <a:avLst/>
                      </a:prstGeom>
                      <a:noFill/>
                      <a:ln>
                        <a:solidFill>
                          <a:srgbClr val="FF0000">
                            <a:alpha val="100000"/>
                          </a:srgbClr>
                        </a:solidFill>
                        <a:miter lim="800000"/>
                        <a:headEnd/>
                        <a:tailEnd/>
                      </a:ln>
                    </p:spPr>
                  </p:pic>
                </p:oleObj>
              </mc:Fallback>
            </mc:AlternateContent>
          </a:graphicData>
        </a:graphic>
      </p:graphicFrame>
      <p:graphicFrame>
        <p:nvGraphicFramePr>
          <p:cNvPr id="37892" name="Object 4"/>
          <p:cNvGraphicFramePr>
            <a:graphicFrameLocks noGrp="1" noChangeAspect="1"/>
          </p:cNvGraphicFramePr>
          <p:nvPr>
            <p:ph sz="quarter" idx="2"/>
          </p:nvPr>
        </p:nvGraphicFramePr>
        <p:xfrm>
          <a:off x="6607175" y="2497138"/>
          <a:ext cx="114300" cy="215900"/>
        </p:xfrm>
        <a:graphic>
          <a:graphicData uri="http://schemas.openxmlformats.org/presentationml/2006/ole">
            <mc:AlternateContent xmlns:mc="http://schemas.openxmlformats.org/markup-compatibility/2006">
              <mc:Choice xmlns:v="urn:schemas-microsoft-com:vml" Requires="v">
                <p:oleObj spid="_x0000_s3091" name="" r:id="rId3" imgW="114300" imgH="215900" progId="Equation.3">
                  <p:embed/>
                </p:oleObj>
              </mc:Choice>
              <mc:Fallback>
                <p:oleObj name="" r:id="rId3" imgW="114300" imgH="215900" progId="Equation.3">
                  <p:embed/>
                  <p:pic>
                    <p:nvPicPr>
                      <p:cNvPr id="0" name="图片 3090"/>
                      <p:cNvPicPr/>
                      <p:nvPr/>
                    </p:nvPicPr>
                    <p:blipFill>
                      <a:blip r:embed="rId4"/>
                      <a:srcRect/>
                      <a:stretch>
                        <a:fillRect/>
                      </a:stretch>
                    </p:blipFill>
                    <p:spPr>
                      <a:xfrm>
                        <a:off x="6607175" y="2497138"/>
                        <a:ext cx="114300" cy="215900"/>
                      </a:xfrm>
                      <a:prstGeom prst="rect">
                        <a:avLst/>
                      </a:prstGeom>
                      <a:noFill/>
                      <a:ln w="38100">
                        <a:miter/>
                      </a:ln>
                    </p:spPr>
                  </p:pic>
                </p:oleObj>
              </mc:Fallback>
            </mc:AlternateContent>
          </a:graphicData>
        </a:graphic>
      </p:graphicFrame>
      <p:pic>
        <p:nvPicPr>
          <p:cNvPr id="37893" name="Picture 97"/>
          <p:cNvPicPr>
            <a:picLocks noGrp="1" noChangeAspect="1"/>
          </p:cNvPicPr>
          <p:nvPr>
            <p:ph sz="quarter" idx="4"/>
          </p:nvPr>
        </p:nvPicPr>
        <p:blipFill>
          <a:blip r:embed="rId5"/>
          <a:srcRect/>
          <a:stretch>
            <a:fillRect/>
          </a:stretch>
        </p:blipFill>
        <p:spPr>
          <a:xfrm>
            <a:off x="5360988" y="2832100"/>
            <a:ext cx="2520950" cy="2438400"/>
          </a:xfrm>
        </p:spPr>
      </p:pic>
      <p:sp>
        <p:nvSpPr>
          <p:cNvPr id="37894" name="Text Box 6"/>
          <p:cNvSpPr txBox="1"/>
          <p:nvPr/>
        </p:nvSpPr>
        <p:spPr>
          <a:xfrm>
            <a:off x="2843213" y="2133600"/>
            <a:ext cx="2303462"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zh-CN" altLang="zh-CN" sz="2000" dirty="0">
              <a:latin typeface="Times New Roman" panose="02020603050405020304" pitchFamily="18" charset="0"/>
              <a:ea typeface="Arial" panose="020B0604020202020204" pitchFamily="34" charset="0"/>
            </a:endParaRPr>
          </a:p>
        </p:txBody>
      </p:sp>
      <p:sp>
        <p:nvSpPr>
          <p:cNvPr id="37895" name="Text Box 8"/>
          <p:cNvSpPr txBox="1"/>
          <p:nvPr/>
        </p:nvSpPr>
        <p:spPr>
          <a:xfrm>
            <a:off x="644525" y="2759075"/>
            <a:ext cx="8496300" cy="64770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zh-CN" altLang="zh-CN" sz="1800" dirty="0">
              <a:ea typeface="Arial" panose="020B0604020202020204" pitchFamily="34" charset="0"/>
            </a:endParaRPr>
          </a:p>
        </p:txBody>
      </p:sp>
      <p:sp>
        <p:nvSpPr>
          <p:cNvPr id="37896" name="Text Box 12"/>
          <p:cNvSpPr txBox="1"/>
          <p:nvPr/>
        </p:nvSpPr>
        <p:spPr>
          <a:xfrm>
            <a:off x="5365750" y="4222750"/>
            <a:ext cx="2376488" cy="215900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zh-CN" altLang="zh-CN" sz="1800" dirty="0">
              <a:ea typeface="Arial" panose="020B0604020202020204" pitchFamily="34" charset="0"/>
            </a:endParaRPr>
          </a:p>
        </p:txBody>
      </p:sp>
      <p:grpSp>
        <p:nvGrpSpPr>
          <p:cNvPr id="37897" name="Group 14"/>
          <p:cNvGrpSpPr/>
          <p:nvPr/>
        </p:nvGrpSpPr>
        <p:grpSpPr>
          <a:xfrm>
            <a:off x="752475" y="2832100"/>
            <a:ext cx="3744913" cy="2309813"/>
            <a:chOff x="1328" y="1160"/>
            <a:chExt cx="3100" cy="1994"/>
          </a:xfrm>
        </p:grpSpPr>
        <p:sp>
          <p:nvSpPr>
            <p:cNvPr id="37904" name="Freeform 15"/>
            <p:cNvSpPr/>
            <p:nvPr/>
          </p:nvSpPr>
          <p:spPr>
            <a:xfrm>
              <a:off x="4426" y="1572"/>
              <a:ext cx="1" cy="1266"/>
            </a:xfrm>
            <a:custGeom>
              <a:avLst/>
              <a:gdLst>
                <a:gd name="txL" fmla="*/ 0 w 1"/>
                <a:gd name="txT" fmla="*/ 0 h 1266"/>
                <a:gd name="txR" fmla="*/ 1 w 1"/>
                <a:gd name="txB" fmla="*/ 1266 h 1266"/>
              </a:gdLst>
              <a:ahLst/>
              <a:cxnLst>
                <a:cxn ang="0">
                  <a:pos x="0" y="1266"/>
                </a:cxn>
                <a:cxn ang="0">
                  <a:pos x="0" y="0"/>
                </a:cxn>
                <a:cxn ang="0">
                  <a:pos x="0" y="1266"/>
                </a:cxn>
                <a:cxn ang="0">
                  <a:pos x="0" y="1266"/>
                </a:cxn>
              </a:cxnLst>
              <a:rect l="txL" t="txT" r="txR" b="txB"/>
              <a:pathLst>
                <a:path w="1" h="1266">
                  <a:moveTo>
                    <a:pt x="0" y="1266"/>
                  </a:moveTo>
                  <a:lnTo>
                    <a:pt x="0" y="0"/>
                  </a:lnTo>
                  <a:lnTo>
                    <a:pt x="0" y="126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05" name="Freeform 16"/>
            <p:cNvSpPr>
              <a:spLocks noEditPoints="1"/>
            </p:cNvSpPr>
            <p:nvPr/>
          </p:nvSpPr>
          <p:spPr>
            <a:xfrm flipV="1">
              <a:off x="1693" y="1549"/>
              <a:ext cx="981" cy="47"/>
            </a:xfrm>
            <a:custGeom>
              <a:avLst/>
              <a:gdLst>
                <a:gd name="txL" fmla="*/ 0 w 2733"/>
                <a:gd name="txT" fmla="*/ 0 h 47"/>
                <a:gd name="txR" fmla="*/ 2733 w 2733"/>
                <a:gd name="txB" fmla="*/ 47 h 47"/>
              </a:gdLst>
              <a:ahLst/>
              <a:cxnLst>
                <a:cxn ang="0">
                  <a:pos x="0" y="0"/>
                </a:cxn>
                <a:cxn ang="0">
                  <a:pos x="0" y="0"/>
                </a:cxn>
                <a:cxn ang="0">
                  <a:pos x="0" y="0"/>
                </a:cxn>
                <a:cxn ang="0">
                  <a:pos x="0" y="0"/>
                </a:cxn>
                <a:cxn ang="0">
                  <a:pos x="0" y="0"/>
                </a:cxn>
                <a:cxn ang="0">
                  <a:pos x="0" y="0"/>
                </a:cxn>
                <a:cxn ang="0">
                  <a:pos x="0" y="0"/>
                </a:cxn>
              </a:cxnLst>
              <a:rect l="txL" t="txT" r="txR" b="txB"/>
              <a:pathLst>
                <a:path w="2733" h="47">
                  <a:moveTo>
                    <a:pt x="2733" y="0"/>
                  </a:moveTo>
                  <a:lnTo>
                    <a:pt x="0" y="0"/>
                  </a:lnTo>
                  <a:lnTo>
                    <a:pt x="2733" y="0"/>
                  </a:lnTo>
                  <a:close/>
                  <a:moveTo>
                    <a:pt x="2733" y="0"/>
                  </a:moveTo>
                  <a:lnTo>
                    <a:pt x="2733"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06" name="Freeform 17"/>
            <p:cNvSpPr>
              <a:spLocks noEditPoints="1"/>
            </p:cNvSpPr>
            <p:nvPr/>
          </p:nvSpPr>
          <p:spPr>
            <a:xfrm>
              <a:off x="1693" y="1572"/>
              <a:ext cx="1" cy="1266"/>
            </a:xfrm>
            <a:custGeom>
              <a:avLst/>
              <a:gdLst>
                <a:gd name="txL" fmla="*/ 0 w 1"/>
                <a:gd name="txT" fmla="*/ 0 h 1266"/>
                <a:gd name="txR" fmla="*/ 1 w 1"/>
                <a:gd name="txB" fmla="*/ 1266 h 1266"/>
              </a:gdLst>
              <a:ahLst/>
              <a:cxnLst>
                <a:cxn ang="0">
                  <a:pos x="0" y="0"/>
                </a:cxn>
                <a:cxn ang="0">
                  <a:pos x="0" y="1266"/>
                </a:cxn>
                <a:cxn ang="0">
                  <a:pos x="0" y="0"/>
                </a:cxn>
                <a:cxn ang="0">
                  <a:pos x="0" y="0"/>
                </a:cxn>
                <a:cxn ang="0">
                  <a:pos x="0" y="0"/>
                </a:cxn>
                <a:cxn ang="0">
                  <a:pos x="0" y="0"/>
                </a:cxn>
                <a:cxn ang="0">
                  <a:pos x="0" y="0"/>
                </a:cxn>
              </a:cxnLst>
              <a:rect l="txL" t="txT" r="txR" b="txB"/>
              <a:pathLst>
                <a:path w="1" h="1266">
                  <a:moveTo>
                    <a:pt x="0" y="0"/>
                  </a:moveTo>
                  <a:lnTo>
                    <a:pt x="0" y="1266"/>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07" name="Freeform 18"/>
            <p:cNvSpPr>
              <a:spLocks noEditPoints="1"/>
            </p:cNvSpPr>
            <p:nvPr/>
          </p:nvSpPr>
          <p:spPr>
            <a:xfrm>
              <a:off x="1693" y="2838"/>
              <a:ext cx="2733" cy="1"/>
            </a:xfrm>
            <a:custGeom>
              <a:avLst/>
              <a:gdLst>
                <a:gd name="txL" fmla="*/ 0 w 2733"/>
                <a:gd name="txT" fmla="*/ 0 h 1"/>
                <a:gd name="txR" fmla="*/ 2733 w 2733"/>
                <a:gd name="txB" fmla="*/ 1 h 1"/>
              </a:gdLst>
              <a:ahLst/>
              <a:cxnLst>
                <a:cxn ang="0">
                  <a:pos x="0" y="0"/>
                </a:cxn>
                <a:cxn ang="0">
                  <a:pos x="2733" y="0"/>
                </a:cxn>
                <a:cxn ang="0">
                  <a:pos x="0" y="0"/>
                </a:cxn>
                <a:cxn ang="0">
                  <a:pos x="0" y="0"/>
                </a:cxn>
                <a:cxn ang="0">
                  <a:pos x="0" y="0"/>
                </a:cxn>
                <a:cxn ang="0">
                  <a:pos x="0" y="0"/>
                </a:cxn>
                <a:cxn ang="0">
                  <a:pos x="0" y="0"/>
                </a:cxn>
              </a:cxnLst>
              <a:rect l="txL" t="txT" r="txR" b="txB"/>
              <a:pathLst>
                <a:path w="2733" h="1">
                  <a:moveTo>
                    <a:pt x="0" y="0"/>
                  </a:moveTo>
                  <a:lnTo>
                    <a:pt x="2733" y="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08" name="Freeform 19"/>
            <p:cNvSpPr/>
            <p:nvPr/>
          </p:nvSpPr>
          <p:spPr>
            <a:xfrm>
              <a:off x="4426" y="2838"/>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09" name="Freeform 20"/>
            <p:cNvSpPr/>
            <p:nvPr/>
          </p:nvSpPr>
          <p:spPr>
            <a:xfrm>
              <a:off x="1328" y="2181"/>
              <a:ext cx="78" cy="95"/>
            </a:xfrm>
            <a:custGeom>
              <a:avLst/>
              <a:gdLst>
                <a:gd name="txL" fmla="*/ 0 w 78"/>
                <a:gd name="txT" fmla="*/ 0 h 95"/>
                <a:gd name="txR" fmla="*/ 78 w 78"/>
                <a:gd name="txB" fmla="*/ 95 h 95"/>
              </a:gdLst>
              <a:ahLst/>
              <a:cxnLst>
                <a:cxn ang="0">
                  <a:pos x="0" y="12"/>
                </a:cxn>
                <a:cxn ang="0">
                  <a:pos x="12" y="12"/>
                </a:cxn>
                <a:cxn ang="0">
                  <a:pos x="18" y="30"/>
                </a:cxn>
                <a:cxn ang="0">
                  <a:pos x="18" y="42"/>
                </a:cxn>
                <a:cxn ang="0">
                  <a:pos x="24" y="60"/>
                </a:cxn>
                <a:cxn ang="0">
                  <a:pos x="24" y="89"/>
                </a:cxn>
                <a:cxn ang="0">
                  <a:pos x="24" y="95"/>
                </a:cxn>
                <a:cxn ang="0">
                  <a:pos x="24" y="95"/>
                </a:cxn>
                <a:cxn ang="0">
                  <a:pos x="30" y="89"/>
                </a:cxn>
                <a:cxn ang="0">
                  <a:pos x="42" y="78"/>
                </a:cxn>
                <a:cxn ang="0">
                  <a:pos x="48" y="66"/>
                </a:cxn>
                <a:cxn ang="0">
                  <a:pos x="60" y="54"/>
                </a:cxn>
                <a:cxn ang="0">
                  <a:pos x="72" y="36"/>
                </a:cxn>
                <a:cxn ang="0">
                  <a:pos x="78" y="18"/>
                </a:cxn>
                <a:cxn ang="0">
                  <a:pos x="72" y="6"/>
                </a:cxn>
                <a:cxn ang="0">
                  <a:pos x="66" y="0"/>
                </a:cxn>
                <a:cxn ang="0">
                  <a:pos x="66" y="6"/>
                </a:cxn>
                <a:cxn ang="0">
                  <a:pos x="60" y="6"/>
                </a:cxn>
                <a:cxn ang="0">
                  <a:pos x="66" y="18"/>
                </a:cxn>
                <a:cxn ang="0">
                  <a:pos x="72" y="24"/>
                </a:cxn>
                <a:cxn ang="0">
                  <a:pos x="72" y="36"/>
                </a:cxn>
                <a:cxn ang="0">
                  <a:pos x="60" y="48"/>
                </a:cxn>
                <a:cxn ang="0">
                  <a:pos x="42" y="72"/>
                </a:cxn>
                <a:cxn ang="0">
                  <a:pos x="36" y="78"/>
                </a:cxn>
                <a:cxn ang="0">
                  <a:pos x="36" y="60"/>
                </a:cxn>
                <a:cxn ang="0">
                  <a:pos x="36" y="42"/>
                </a:cxn>
                <a:cxn ang="0">
                  <a:pos x="36" y="24"/>
                </a:cxn>
                <a:cxn ang="0">
                  <a:pos x="30" y="6"/>
                </a:cxn>
                <a:cxn ang="0">
                  <a:pos x="24" y="0"/>
                </a:cxn>
                <a:cxn ang="0">
                  <a:pos x="24" y="0"/>
                </a:cxn>
                <a:cxn ang="0">
                  <a:pos x="18" y="6"/>
                </a:cxn>
                <a:cxn ang="0">
                  <a:pos x="0" y="6"/>
                </a:cxn>
                <a:cxn ang="0">
                  <a:pos x="0" y="12"/>
                </a:cxn>
              </a:cxnLst>
              <a:rect l="txL" t="txT" r="txR" b="txB"/>
              <a:pathLst>
                <a:path w="78" h="95">
                  <a:moveTo>
                    <a:pt x="0" y="12"/>
                  </a:moveTo>
                  <a:lnTo>
                    <a:pt x="12" y="12"/>
                  </a:lnTo>
                  <a:lnTo>
                    <a:pt x="18" y="30"/>
                  </a:lnTo>
                  <a:lnTo>
                    <a:pt x="18" y="42"/>
                  </a:lnTo>
                  <a:lnTo>
                    <a:pt x="24" y="60"/>
                  </a:lnTo>
                  <a:lnTo>
                    <a:pt x="24" y="89"/>
                  </a:lnTo>
                  <a:lnTo>
                    <a:pt x="24" y="95"/>
                  </a:lnTo>
                  <a:lnTo>
                    <a:pt x="30" y="89"/>
                  </a:lnTo>
                  <a:lnTo>
                    <a:pt x="42" y="78"/>
                  </a:lnTo>
                  <a:lnTo>
                    <a:pt x="48" y="66"/>
                  </a:lnTo>
                  <a:lnTo>
                    <a:pt x="60" y="54"/>
                  </a:lnTo>
                  <a:lnTo>
                    <a:pt x="72" y="36"/>
                  </a:lnTo>
                  <a:lnTo>
                    <a:pt x="78" y="18"/>
                  </a:lnTo>
                  <a:lnTo>
                    <a:pt x="72" y="6"/>
                  </a:lnTo>
                  <a:lnTo>
                    <a:pt x="66" y="0"/>
                  </a:lnTo>
                  <a:lnTo>
                    <a:pt x="66" y="6"/>
                  </a:lnTo>
                  <a:lnTo>
                    <a:pt x="60" y="6"/>
                  </a:lnTo>
                  <a:lnTo>
                    <a:pt x="66" y="18"/>
                  </a:lnTo>
                  <a:lnTo>
                    <a:pt x="72" y="24"/>
                  </a:lnTo>
                  <a:lnTo>
                    <a:pt x="72" y="36"/>
                  </a:lnTo>
                  <a:lnTo>
                    <a:pt x="60" y="48"/>
                  </a:lnTo>
                  <a:lnTo>
                    <a:pt x="42" y="72"/>
                  </a:lnTo>
                  <a:lnTo>
                    <a:pt x="36" y="78"/>
                  </a:lnTo>
                  <a:lnTo>
                    <a:pt x="36" y="60"/>
                  </a:lnTo>
                  <a:lnTo>
                    <a:pt x="36" y="42"/>
                  </a:lnTo>
                  <a:lnTo>
                    <a:pt x="36" y="24"/>
                  </a:lnTo>
                  <a:lnTo>
                    <a:pt x="30" y="6"/>
                  </a:lnTo>
                  <a:lnTo>
                    <a:pt x="24" y="0"/>
                  </a:lnTo>
                  <a:lnTo>
                    <a:pt x="18" y="6"/>
                  </a:lnTo>
                  <a:lnTo>
                    <a:pt x="0" y="6"/>
                  </a:lnTo>
                  <a:lnTo>
                    <a:pt x="0"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10" name="Freeform 21"/>
            <p:cNvSpPr/>
            <p:nvPr/>
          </p:nvSpPr>
          <p:spPr>
            <a:xfrm>
              <a:off x="1525" y="2032"/>
              <a:ext cx="341" cy="370"/>
            </a:xfrm>
            <a:custGeom>
              <a:avLst/>
              <a:gdLst>
                <a:gd name="txL" fmla="*/ 0 w 341"/>
                <a:gd name="txT" fmla="*/ 0 h 370"/>
                <a:gd name="txR" fmla="*/ 341 w 341"/>
                <a:gd name="txB" fmla="*/ 370 h 370"/>
              </a:gdLst>
              <a:ahLst/>
              <a:cxnLst>
                <a:cxn ang="0">
                  <a:pos x="174" y="370"/>
                </a:cxn>
                <a:cxn ang="0">
                  <a:pos x="210" y="364"/>
                </a:cxn>
                <a:cxn ang="0">
                  <a:pos x="240" y="358"/>
                </a:cxn>
                <a:cxn ang="0">
                  <a:pos x="264" y="340"/>
                </a:cxn>
                <a:cxn ang="0">
                  <a:pos x="293" y="316"/>
                </a:cxn>
                <a:cxn ang="0">
                  <a:pos x="329" y="256"/>
                </a:cxn>
                <a:cxn ang="0">
                  <a:pos x="335" y="221"/>
                </a:cxn>
                <a:cxn ang="0">
                  <a:pos x="341" y="185"/>
                </a:cxn>
                <a:cxn ang="0">
                  <a:pos x="335" y="149"/>
                </a:cxn>
                <a:cxn ang="0">
                  <a:pos x="329" y="113"/>
                </a:cxn>
                <a:cxn ang="0">
                  <a:pos x="293" y="53"/>
                </a:cxn>
                <a:cxn ang="0">
                  <a:pos x="264" y="29"/>
                </a:cxn>
                <a:cxn ang="0">
                  <a:pos x="240" y="12"/>
                </a:cxn>
                <a:cxn ang="0">
                  <a:pos x="210" y="6"/>
                </a:cxn>
                <a:cxn ang="0">
                  <a:pos x="174" y="0"/>
                </a:cxn>
                <a:cxn ang="0">
                  <a:pos x="138" y="6"/>
                </a:cxn>
                <a:cxn ang="0">
                  <a:pos x="108" y="12"/>
                </a:cxn>
                <a:cxn ang="0">
                  <a:pos x="78" y="29"/>
                </a:cxn>
                <a:cxn ang="0">
                  <a:pos x="54" y="53"/>
                </a:cxn>
                <a:cxn ang="0">
                  <a:pos x="12" y="113"/>
                </a:cxn>
                <a:cxn ang="0">
                  <a:pos x="6" y="149"/>
                </a:cxn>
                <a:cxn ang="0">
                  <a:pos x="0" y="185"/>
                </a:cxn>
                <a:cxn ang="0">
                  <a:pos x="6" y="221"/>
                </a:cxn>
                <a:cxn ang="0">
                  <a:pos x="12" y="256"/>
                </a:cxn>
                <a:cxn ang="0">
                  <a:pos x="54" y="316"/>
                </a:cxn>
                <a:cxn ang="0">
                  <a:pos x="78" y="340"/>
                </a:cxn>
                <a:cxn ang="0">
                  <a:pos x="108" y="358"/>
                </a:cxn>
                <a:cxn ang="0">
                  <a:pos x="138" y="364"/>
                </a:cxn>
                <a:cxn ang="0">
                  <a:pos x="174" y="370"/>
                </a:cxn>
                <a:cxn ang="0">
                  <a:pos x="174" y="370"/>
                </a:cxn>
              </a:cxnLst>
              <a:rect l="txL" t="txT" r="txR" b="txB"/>
              <a:pathLst>
                <a:path w="341" h="370">
                  <a:moveTo>
                    <a:pt x="174" y="370"/>
                  </a:moveTo>
                  <a:lnTo>
                    <a:pt x="210" y="364"/>
                  </a:lnTo>
                  <a:lnTo>
                    <a:pt x="240" y="358"/>
                  </a:lnTo>
                  <a:lnTo>
                    <a:pt x="264" y="340"/>
                  </a:lnTo>
                  <a:lnTo>
                    <a:pt x="293" y="316"/>
                  </a:lnTo>
                  <a:lnTo>
                    <a:pt x="329" y="256"/>
                  </a:lnTo>
                  <a:lnTo>
                    <a:pt x="335" y="221"/>
                  </a:lnTo>
                  <a:lnTo>
                    <a:pt x="341" y="185"/>
                  </a:lnTo>
                  <a:lnTo>
                    <a:pt x="335" y="149"/>
                  </a:lnTo>
                  <a:lnTo>
                    <a:pt x="329" y="113"/>
                  </a:lnTo>
                  <a:lnTo>
                    <a:pt x="293" y="53"/>
                  </a:lnTo>
                  <a:lnTo>
                    <a:pt x="264" y="29"/>
                  </a:lnTo>
                  <a:lnTo>
                    <a:pt x="240" y="12"/>
                  </a:lnTo>
                  <a:lnTo>
                    <a:pt x="210" y="6"/>
                  </a:lnTo>
                  <a:lnTo>
                    <a:pt x="174" y="0"/>
                  </a:lnTo>
                  <a:lnTo>
                    <a:pt x="138" y="6"/>
                  </a:lnTo>
                  <a:lnTo>
                    <a:pt x="108" y="12"/>
                  </a:lnTo>
                  <a:lnTo>
                    <a:pt x="78" y="29"/>
                  </a:lnTo>
                  <a:lnTo>
                    <a:pt x="54" y="53"/>
                  </a:lnTo>
                  <a:lnTo>
                    <a:pt x="12" y="113"/>
                  </a:lnTo>
                  <a:lnTo>
                    <a:pt x="6" y="149"/>
                  </a:lnTo>
                  <a:lnTo>
                    <a:pt x="0" y="185"/>
                  </a:lnTo>
                  <a:lnTo>
                    <a:pt x="6" y="221"/>
                  </a:lnTo>
                  <a:lnTo>
                    <a:pt x="12" y="256"/>
                  </a:lnTo>
                  <a:lnTo>
                    <a:pt x="54" y="316"/>
                  </a:lnTo>
                  <a:lnTo>
                    <a:pt x="78" y="340"/>
                  </a:lnTo>
                  <a:lnTo>
                    <a:pt x="108" y="358"/>
                  </a:lnTo>
                  <a:lnTo>
                    <a:pt x="138" y="364"/>
                  </a:lnTo>
                  <a:lnTo>
                    <a:pt x="174" y="370"/>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11" name="Freeform 22"/>
            <p:cNvSpPr/>
            <p:nvPr/>
          </p:nvSpPr>
          <p:spPr>
            <a:xfrm>
              <a:off x="1699" y="2217"/>
              <a:ext cx="167" cy="185"/>
            </a:xfrm>
            <a:custGeom>
              <a:avLst/>
              <a:gdLst>
                <a:gd name="txL" fmla="*/ 0 w 167"/>
                <a:gd name="txT" fmla="*/ 0 h 185"/>
                <a:gd name="txR" fmla="*/ 167 w 167"/>
                <a:gd name="txB" fmla="*/ 185 h 185"/>
              </a:gdLst>
              <a:ahLst/>
              <a:cxnLst>
                <a:cxn ang="0">
                  <a:pos x="0" y="185"/>
                </a:cxn>
                <a:cxn ang="0">
                  <a:pos x="36" y="179"/>
                </a:cxn>
                <a:cxn ang="0">
                  <a:pos x="66" y="173"/>
                </a:cxn>
                <a:cxn ang="0">
                  <a:pos x="90" y="155"/>
                </a:cxn>
                <a:cxn ang="0">
                  <a:pos x="119" y="131"/>
                </a:cxn>
                <a:cxn ang="0">
                  <a:pos x="155" y="71"/>
                </a:cxn>
                <a:cxn ang="0">
                  <a:pos x="161" y="36"/>
                </a:cxn>
                <a:cxn ang="0">
                  <a:pos x="167" y="0"/>
                </a:cxn>
                <a:cxn ang="0">
                  <a:pos x="167" y="0"/>
                </a:cxn>
                <a:cxn ang="0">
                  <a:pos x="161" y="36"/>
                </a:cxn>
                <a:cxn ang="0">
                  <a:pos x="155" y="71"/>
                </a:cxn>
                <a:cxn ang="0">
                  <a:pos x="119" y="131"/>
                </a:cxn>
                <a:cxn ang="0">
                  <a:pos x="90" y="155"/>
                </a:cxn>
                <a:cxn ang="0">
                  <a:pos x="66" y="173"/>
                </a:cxn>
                <a:cxn ang="0">
                  <a:pos x="36" y="179"/>
                </a:cxn>
                <a:cxn ang="0">
                  <a:pos x="0" y="185"/>
                </a:cxn>
                <a:cxn ang="0">
                  <a:pos x="0" y="185"/>
                </a:cxn>
              </a:cxnLst>
              <a:rect l="txL" t="txT" r="txR" b="txB"/>
              <a:pathLst>
                <a:path w="167" h="185">
                  <a:moveTo>
                    <a:pt x="0" y="185"/>
                  </a:moveTo>
                  <a:lnTo>
                    <a:pt x="36" y="179"/>
                  </a:lnTo>
                  <a:lnTo>
                    <a:pt x="66" y="173"/>
                  </a:lnTo>
                  <a:lnTo>
                    <a:pt x="90" y="155"/>
                  </a:lnTo>
                  <a:lnTo>
                    <a:pt x="119" y="131"/>
                  </a:lnTo>
                  <a:lnTo>
                    <a:pt x="155" y="71"/>
                  </a:lnTo>
                  <a:lnTo>
                    <a:pt x="161" y="36"/>
                  </a:lnTo>
                  <a:lnTo>
                    <a:pt x="167" y="0"/>
                  </a:lnTo>
                  <a:lnTo>
                    <a:pt x="161" y="36"/>
                  </a:lnTo>
                  <a:lnTo>
                    <a:pt x="155" y="71"/>
                  </a:lnTo>
                  <a:lnTo>
                    <a:pt x="119" y="131"/>
                  </a:lnTo>
                  <a:lnTo>
                    <a:pt x="90" y="155"/>
                  </a:lnTo>
                  <a:lnTo>
                    <a:pt x="66" y="173"/>
                  </a:lnTo>
                  <a:lnTo>
                    <a:pt x="36" y="179"/>
                  </a:lnTo>
                  <a:lnTo>
                    <a:pt x="0" y="18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12" name="Freeform 23"/>
            <p:cNvSpPr>
              <a:spLocks noEditPoints="1"/>
            </p:cNvSpPr>
            <p:nvPr/>
          </p:nvSpPr>
          <p:spPr>
            <a:xfrm>
              <a:off x="1699" y="2032"/>
              <a:ext cx="167" cy="185"/>
            </a:xfrm>
            <a:custGeom>
              <a:avLst/>
              <a:gdLst>
                <a:gd name="txL" fmla="*/ 0 w 167"/>
                <a:gd name="txT" fmla="*/ 0 h 185"/>
                <a:gd name="txR" fmla="*/ 167 w 167"/>
                <a:gd name="txB" fmla="*/ 185 h 185"/>
              </a:gdLst>
              <a:ahLst/>
              <a:cxnLst>
                <a:cxn ang="0">
                  <a:pos x="167" y="185"/>
                </a:cxn>
                <a:cxn ang="0">
                  <a:pos x="161" y="149"/>
                </a:cxn>
                <a:cxn ang="0">
                  <a:pos x="155" y="113"/>
                </a:cxn>
                <a:cxn ang="0">
                  <a:pos x="119" y="53"/>
                </a:cxn>
                <a:cxn ang="0">
                  <a:pos x="90" y="29"/>
                </a:cxn>
                <a:cxn ang="0">
                  <a:pos x="66" y="12"/>
                </a:cxn>
                <a:cxn ang="0">
                  <a:pos x="36" y="6"/>
                </a:cxn>
                <a:cxn ang="0">
                  <a:pos x="0" y="0"/>
                </a:cxn>
                <a:cxn ang="0">
                  <a:pos x="0" y="0"/>
                </a:cxn>
                <a:cxn ang="0">
                  <a:pos x="36" y="6"/>
                </a:cxn>
                <a:cxn ang="0">
                  <a:pos x="66" y="12"/>
                </a:cxn>
                <a:cxn ang="0">
                  <a:pos x="90" y="29"/>
                </a:cxn>
                <a:cxn ang="0">
                  <a:pos x="119" y="53"/>
                </a:cxn>
                <a:cxn ang="0">
                  <a:pos x="155" y="113"/>
                </a:cxn>
                <a:cxn ang="0">
                  <a:pos x="161" y="149"/>
                </a:cxn>
                <a:cxn ang="0">
                  <a:pos x="167" y="185"/>
                </a:cxn>
                <a:cxn ang="0">
                  <a:pos x="167" y="185"/>
                </a:cxn>
                <a:cxn ang="0">
                  <a:pos x="167" y="185"/>
                </a:cxn>
                <a:cxn ang="0">
                  <a:pos x="167" y="185"/>
                </a:cxn>
                <a:cxn ang="0">
                  <a:pos x="167" y="185"/>
                </a:cxn>
              </a:cxnLst>
              <a:rect l="txL" t="txT" r="txR" b="txB"/>
              <a:pathLst>
                <a:path w="167" h="185">
                  <a:moveTo>
                    <a:pt x="167" y="185"/>
                  </a:moveTo>
                  <a:lnTo>
                    <a:pt x="161" y="149"/>
                  </a:lnTo>
                  <a:lnTo>
                    <a:pt x="155" y="113"/>
                  </a:lnTo>
                  <a:lnTo>
                    <a:pt x="119" y="53"/>
                  </a:lnTo>
                  <a:lnTo>
                    <a:pt x="90" y="29"/>
                  </a:lnTo>
                  <a:lnTo>
                    <a:pt x="66" y="12"/>
                  </a:lnTo>
                  <a:lnTo>
                    <a:pt x="36" y="6"/>
                  </a:lnTo>
                  <a:lnTo>
                    <a:pt x="0" y="0"/>
                  </a:lnTo>
                  <a:lnTo>
                    <a:pt x="36" y="6"/>
                  </a:lnTo>
                  <a:lnTo>
                    <a:pt x="66" y="12"/>
                  </a:lnTo>
                  <a:lnTo>
                    <a:pt x="90" y="29"/>
                  </a:lnTo>
                  <a:lnTo>
                    <a:pt x="119" y="53"/>
                  </a:lnTo>
                  <a:lnTo>
                    <a:pt x="155" y="113"/>
                  </a:lnTo>
                  <a:lnTo>
                    <a:pt x="161" y="149"/>
                  </a:lnTo>
                  <a:lnTo>
                    <a:pt x="167" y="185"/>
                  </a:lnTo>
                  <a:close/>
                  <a:moveTo>
                    <a:pt x="167" y="185"/>
                  </a:moveTo>
                  <a:lnTo>
                    <a:pt x="167" y="18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13" name="Freeform 24"/>
            <p:cNvSpPr>
              <a:spLocks noEditPoints="1"/>
            </p:cNvSpPr>
            <p:nvPr/>
          </p:nvSpPr>
          <p:spPr>
            <a:xfrm>
              <a:off x="1525" y="2032"/>
              <a:ext cx="174" cy="185"/>
            </a:xfrm>
            <a:custGeom>
              <a:avLst/>
              <a:gdLst>
                <a:gd name="txL" fmla="*/ 0 w 174"/>
                <a:gd name="txT" fmla="*/ 0 h 185"/>
                <a:gd name="txR" fmla="*/ 174 w 174"/>
                <a:gd name="txB" fmla="*/ 185 h 185"/>
              </a:gdLst>
              <a:ahLst/>
              <a:cxnLst>
                <a:cxn ang="0">
                  <a:pos x="174" y="0"/>
                </a:cxn>
                <a:cxn ang="0">
                  <a:pos x="138" y="6"/>
                </a:cxn>
                <a:cxn ang="0">
                  <a:pos x="108" y="12"/>
                </a:cxn>
                <a:cxn ang="0">
                  <a:pos x="78" y="29"/>
                </a:cxn>
                <a:cxn ang="0">
                  <a:pos x="54" y="53"/>
                </a:cxn>
                <a:cxn ang="0">
                  <a:pos x="12" y="113"/>
                </a:cxn>
                <a:cxn ang="0">
                  <a:pos x="6" y="149"/>
                </a:cxn>
                <a:cxn ang="0">
                  <a:pos x="0" y="185"/>
                </a:cxn>
                <a:cxn ang="0">
                  <a:pos x="0" y="185"/>
                </a:cxn>
                <a:cxn ang="0">
                  <a:pos x="6" y="149"/>
                </a:cxn>
                <a:cxn ang="0">
                  <a:pos x="12" y="113"/>
                </a:cxn>
                <a:cxn ang="0">
                  <a:pos x="54" y="53"/>
                </a:cxn>
                <a:cxn ang="0">
                  <a:pos x="78" y="29"/>
                </a:cxn>
                <a:cxn ang="0">
                  <a:pos x="108" y="12"/>
                </a:cxn>
                <a:cxn ang="0">
                  <a:pos x="138" y="6"/>
                </a:cxn>
                <a:cxn ang="0">
                  <a:pos x="174" y="0"/>
                </a:cxn>
                <a:cxn ang="0">
                  <a:pos x="174" y="0"/>
                </a:cxn>
                <a:cxn ang="0">
                  <a:pos x="174" y="0"/>
                </a:cxn>
                <a:cxn ang="0">
                  <a:pos x="174" y="0"/>
                </a:cxn>
                <a:cxn ang="0">
                  <a:pos x="174" y="0"/>
                </a:cxn>
              </a:cxnLst>
              <a:rect l="txL" t="txT" r="txR" b="txB"/>
              <a:pathLst>
                <a:path w="174" h="185">
                  <a:moveTo>
                    <a:pt x="174" y="0"/>
                  </a:moveTo>
                  <a:lnTo>
                    <a:pt x="138" y="6"/>
                  </a:lnTo>
                  <a:lnTo>
                    <a:pt x="108" y="12"/>
                  </a:lnTo>
                  <a:lnTo>
                    <a:pt x="78" y="29"/>
                  </a:lnTo>
                  <a:lnTo>
                    <a:pt x="54" y="53"/>
                  </a:lnTo>
                  <a:lnTo>
                    <a:pt x="12" y="113"/>
                  </a:lnTo>
                  <a:lnTo>
                    <a:pt x="6" y="149"/>
                  </a:lnTo>
                  <a:lnTo>
                    <a:pt x="0" y="185"/>
                  </a:lnTo>
                  <a:lnTo>
                    <a:pt x="6" y="149"/>
                  </a:lnTo>
                  <a:lnTo>
                    <a:pt x="12" y="113"/>
                  </a:lnTo>
                  <a:lnTo>
                    <a:pt x="54" y="53"/>
                  </a:lnTo>
                  <a:lnTo>
                    <a:pt x="78" y="29"/>
                  </a:lnTo>
                  <a:lnTo>
                    <a:pt x="108" y="12"/>
                  </a:lnTo>
                  <a:lnTo>
                    <a:pt x="138" y="6"/>
                  </a:lnTo>
                  <a:lnTo>
                    <a:pt x="174" y="0"/>
                  </a:lnTo>
                  <a:close/>
                  <a:moveTo>
                    <a:pt x="174" y="0"/>
                  </a:moveTo>
                  <a:lnTo>
                    <a:pt x="174"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14" name="Freeform 25"/>
            <p:cNvSpPr>
              <a:spLocks noEditPoints="1"/>
            </p:cNvSpPr>
            <p:nvPr/>
          </p:nvSpPr>
          <p:spPr>
            <a:xfrm>
              <a:off x="1525" y="2217"/>
              <a:ext cx="174" cy="185"/>
            </a:xfrm>
            <a:custGeom>
              <a:avLst/>
              <a:gdLst>
                <a:gd name="txL" fmla="*/ 0 w 174"/>
                <a:gd name="txT" fmla="*/ 0 h 185"/>
                <a:gd name="txR" fmla="*/ 174 w 174"/>
                <a:gd name="txB" fmla="*/ 185 h 185"/>
              </a:gdLst>
              <a:ahLst/>
              <a:cxnLst>
                <a:cxn ang="0">
                  <a:pos x="0" y="0"/>
                </a:cxn>
                <a:cxn ang="0">
                  <a:pos x="6" y="36"/>
                </a:cxn>
                <a:cxn ang="0">
                  <a:pos x="12" y="71"/>
                </a:cxn>
                <a:cxn ang="0">
                  <a:pos x="54" y="131"/>
                </a:cxn>
                <a:cxn ang="0">
                  <a:pos x="78" y="155"/>
                </a:cxn>
                <a:cxn ang="0">
                  <a:pos x="108" y="173"/>
                </a:cxn>
                <a:cxn ang="0">
                  <a:pos x="138" y="179"/>
                </a:cxn>
                <a:cxn ang="0">
                  <a:pos x="174" y="185"/>
                </a:cxn>
                <a:cxn ang="0">
                  <a:pos x="174" y="185"/>
                </a:cxn>
                <a:cxn ang="0">
                  <a:pos x="138" y="179"/>
                </a:cxn>
                <a:cxn ang="0">
                  <a:pos x="108" y="173"/>
                </a:cxn>
                <a:cxn ang="0">
                  <a:pos x="78" y="155"/>
                </a:cxn>
                <a:cxn ang="0">
                  <a:pos x="54" y="131"/>
                </a:cxn>
                <a:cxn ang="0">
                  <a:pos x="12" y="71"/>
                </a:cxn>
                <a:cxn ang="0">
                  <a:pos x="6" y="36"/>
                </a:cxn>
                <a:cxn ang="0">
                  <a:pos x="0" y="0"/>
                </a:cxn>
                <a:cxn ang="0">
                  <a:pos x="0" y="0"/>
                </a:cxn>
                <a:cxn ang="0">
                  <a:pos x="0" y="0"/>
                </a:cxn>
                <a:cxn ang="0">
                  <a:pos x="0" y="0"/>
                </a:cxn>
                <a:cxn ang="0">
                  <a:pos x="0" y="0"/>
                </a:cxn>
              </a:cxnLst>
              <a:rect l="txL" t="txT" r="txR" b="txB"/>
              <a:pathLst>
                <a:path w="174" h="185">
                  <a:moveTo>
                    <a:pt x="0" y="0"/>
                  </a:moveTo>
                  <a:lnTo>
                    <a:pt x="6" y="36"/>
                  </a:lnTo>
                  <a:lnTo>
                    <a:pt x="12" y="71"/>
                  </a:lnTo>
                  <a:lnTo>
                    <a:pt x="54" y="131"/>
                  </a:lnTo>
                  <a:lnTo>
                    <a:pt x="78" y="155"/>
                  </a:lnTo>
                  <a:lnTo>
                    <a:pt x="108" y="173"/>
                  </a:lnTo>
                  <a:lnTo>
                    <a:pt x="138" y="179"/>
                  </a:lnTo>
                  <a:lnTo>
                    <a:pt x="174" y="185"/>
                  </a:lnTo>
                  <a:lnTo>
                    <a:pt x="138" y="179"/>
                  </a:lnTo>
                  <a:lnTo>
                    <a:pt x="108" y="173"/>
                  </a:lnTo>
                  <a:lnTo>
                    <a:pt x="78" y="155"/>
                  </a:lnTo>
                  <a:lnTo>
                    <a:pt x="54" y="131"/>
                  </a:lnTo>
                  <a:lnTo>
                    <a:pt x="12" y="71"/>
                  </a:lnTo>
                  <a:lnTo>
                    <a:pt x="6" y="36"/>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15" name="Freeform 26"/>
            <p:cNvSpPr/>
            <p:nvPr/>
          </p:nvSpPr>
          <p:spPr>
            <a:xfrm>
              <a:off x="1699" y="2402"/>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16" name="Freeform 27"/>
            <p:cNvSpPr/>
            <p:nvPr/>
          </p:nvSpPr>
          <p:spPr>
            <a:xfrm>
              <a:off x="1645" y="2091"/>
              <a:ext cx="102" cy="114"/>
            </a:xfrm>
            <a:custGeom>
              <a:avLst/>
              <a:gdLst>
                <a:gd name="txL" fmla="*/ 0 w 102"/>
                <a:gd name="txT" fmla="*/ 0 h 114"/>
                <a:gd name="txR" fmla="*/ 102 w 102"/>
                <a:gd name="txB" fmla="*/ 114 h 114"/>
              </a:gdLst>
              <a:ahLst/>
              <a:cxnLst>
                <a:cxn ang="0">
                  <a:pos x="42" y="48"/>
                </a:cxn>
                <a:cxn ang="0">
                  <a:pos x="0" y="48"/>
                </a:cxn>
                <a:cxn ang="0">
                  <a:pos x="0" y="66"/>
                </a:cxn>
                <a:cxn ang="0">
                  <a:pos x="42" y="66"/>
                </a:cxn>
                <a:cxn ang="0">
                  <a:pos x="42" y="114"/>
                </a:cxn>
                <a:cxn ang="0">
                  <a:pos x="54" y="114"/>
                </a:cxn>
                <a:cxn ang="0">
                  <a:pos x="54" y="66"/>
                </a:cxn>
                <a:cxn ang="0">
                  <a:pos x="102" y="66"/>
                </a:cxn>
                <a:cxn ang="0">
                  <a:pos x="102" y="48"/>
                </a:cxn>
                <a:cxn ang="0">
                  <a:pos x="54" y="48"/>
                </a:cxn>
                <a:cxn ang="0">
                  <a:pos x="54" y="0"/>
                </a:cxn>
                <a:cxn ang="0">
                  <a:pos x="42" y="0"/>
                </a:cxn>
                <a:cxn ang="0">
                  <a:pos x="42" y="48"/>
                </a:cxn>
              </a:cxnLst>
              <a:rect l="txL" t="txT" r="txR" b="txB"/>
              <a:pathLst>
                <a:path w="102" h="114">
                  <a:moveTo>
                    <a:pt x="42" y="48"/>
                  </a:moveTo>
                  <a:lnTo>
                    <a:pt x="0" y="48"/>
                  </a:lnTo>
                  <a:lnTo>
                    <a:pt x="0" y="66"/>
                  </a:lnTo>
                  <a:lnTo>
                    <a:pt x="42" y="66"/>
                  </a:lnTo>
                  <a:lnTo>
                    <a:pt x="42" y="114"/>
                  </a:lnTo>
                  <a:lnTo>
                    <a:pt x="54" y="114"/>
                  </a:lnTo>
                  <a:lnTo>
                    <a:pt x="54" y="66"/>
                  </a:lnTo>
                  <a:lnTo>
                    <a:pt x="102" y="66"/>
                  </a:lnTo>
                  <a:lnTo>
                    <a:pt x="102" y="48"/>
                  </a:lnTo>
                  <a:lnTo>
                    <a:pt x="54" y="48"/>
                  </a:lnTo>
                  <a:lnTo>
                    <a:pt x="54" y="0"/>
                  </a:lnTo>
                  <a:lnTo>
                    <a:pt x="42" y="0"/>
                  </a:lnTo>
                  <a:lnTo>
                    <a:pt x="42"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17" name="Rectangle 28"/>
            <p:cNvSpPr/>
            <p:nvPr/>
          </p:nvSpPr>
          <p:spPr>
            <a:xfrm>
              <a:off x="1639" y="2294"/>
              <a:ext cx="108" cy="12"/>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37918" name="Freeform 29"/>
            <p:cNvSpPr>
              <a:spLocks noEditPoints="1"/>
            </p:cNvSpPr>
            <p:nvPr/>
          </p:nvSpPr>
          <p:spPr>
            <a:xfrm>
              <a:off x="2793" y="1190"/>
              <a:ext cx="126" cy="137"/>
            </a:xfrm>
            <a:custGeom>
              <a:avLst/>
              <a:gdLst>
                <a:gd name="txL" fmla="*/ 0 w 126"/>
                <a:gd name="txT" fmla="*/ 0 h 137"/>
                <a:gd name="txR" fmla="*/ 126 w 126"/>
                <a:gd name="txB" fmla="*/ 137 h 137"/>
              </a:gdLst>
              <a:ahLst/>
              <a:cxnLst>
                <a:cxn ang="0">
                  <a:pos x="120" y="137"/>
                </a:cxn>
                <a:cxn ang="0">
                  <a:pos x="108" y="131"/>
                </a:cxn>
                <a:cxn ang="0">
                  <a:pos x="102" y="119"/>
                </a:cxn>
                <a:cxn ang="0">
                  <a:pos x="84" y="65"/>
                </a:cxn>
                <a:cxn ang="0">
                  <a:pos x="102" y="59"/>
                </a:cxn>
                <a:cxn ang="0">
                  <a:pos x="114" y="53"/>
                </a:cxn>
                <a:cxn ang="0">
                  <a:pos x="126" y="29"/>
                </a:cxn>
                <a:cxn ang="0">
                  <a:pos x="120" y="12"/>
                </a:cxn>
                <a:cxn ang="0">
                  <a:pos x="108" y="6"/>
                </a:cxn>
                <a:cxn ang="0">
                  <a:pos x="96" y="0"/>
                </a:cxn>
                <a:cxn ang="0">
                  <a:pos x="84" y="0"/>
                </a:cxn>
                <a:cxn ang="0">
                  <a:pos x="30" y="0"/>
                </a:cxn>
                <a:cxn ang="0">
                  <a:pos x="30" y="0"/>
                </a:cxn>
                <a:cxn ang="0">
                  <a:pos x="42" y="0"/>
                </a:cxn>
                <a:cxn ang="0">
                  <a:pos x="48" y="12"/>
                </a:cxn>
                <a:cxn ang="0">
                  <a:pos x="48" y="18"/>
                </a:cxn>
                <a:cxn ang="0">
                  <a:pos x="42" y="24"/>
                </a:cxn>
                <a:cxn ang="0">
                  <a:pos x="18" y="119"/>
                </a:cxn>
                <a:cxn ang="0">
                  <a:pos x="12" y="131"/>
                </a:cxn>
                <a:cxn ang="0">
                  <a:pos x="0" y="137"/>
                </a:cxn>
                <a:cxn ang="0">
                  <a:pos x="0" y="137"/>
                </a:cxn>
                <a:cxn ang="0">
                  <a:pos x="54" y="137"/>
                </a:cxn>
                <a:cxn ang="0">
                  <a:pos x="54" y="137"/>
                </a:cxn>
                <a:cxn ang="0">
                  <a:pos x="42" y="131"/>
                </a:cxn>
                <a:cxn ang="0">
                  <a:pos x="36" y="125"/>
                </a:cxn>
                <a:cxn ang="0">
                  <a:pos x="36" y="125"/>
                </a:cxn>
                <a:cxn ang="0">
                  <a:pos x="42" y="113"/>
                </a:cxn>
                <a:cxn ang="0">
                  <a:pos x="54" y="65"/>
                </a:cxn>
                <a:cxn ang="0">
                  <a:pos x="66" y="71"/>
                </a:cxn>
                <a:cxn ang="0">
                  <a:pos x="90" y="137"/>
                </a:cxn>
                <a:cxn ang="0">
                  <a:pos x="120" y="137"/>
                </a:cxn>
                <a:cxn ang="0">
                  <a:pos x="120" y="137"/>
                </a:cxn>
                <a:cxn ang="0">
                  <a:pos x="66" y="12"/>
                </a:cxn>
                <a:cxn ang="0">
                  <a:pos x="72" y="6"/>
                </a:cxn>
                <a:cxn ang="0">
                  <a:pos x="78" y="6"/>
                </a:cxn>
                <a:cxn ang="0">
                  <a:pos x="96" y="12"/>
                </a:cxn>
                <a:cxn ang="0">
                  <a:pos x="102" y="18"/>
                </a:cxn>
                <a:cxn ang="0">
                  <a:pos x="102" y="29"/>
                </a:cxn>
                <a:cxn ang="0">
                  <a:pos x="96" y="47"/>
                </a:cxn>
                <a:cxn ang="0">
                  <a:pos x="84" y="59"/>
                </a:cxn>
                <a:cxn ang="0">
                  <a:pos x="66" y="59"/>
                </a:cxn>
                <a:cxn ang="0">
                  <a:pos x="60" y="59"/>
                </a:cxn>
                <a:cxn ang="0">
                  <a:pos x="54" y="59"/>
                </a:cxn>
                <a:cxn ang="0">
                  <a:pos x="66" y="12"/>
                </a:cxn>
              </a:cxnLst>
              <a:rect l="txL" t="txT" r="txR" b="txB"/>
              <a:pathLst>
                <a:path w="126" h="137">
                  <a:moveTo>
                    <a:pt x="120" y="137"/>
                  </a:moveTo>
                  <a:lnTo>
                    <a:pt x="108" y="131"/>
                  </a:lnTo>
                  <a:lnTo>
                    <a:pt x="102" y="119"/>
                  </a:lnTo>
                  <a:lnTo>
                    <a:pt x="84" y="65"/>
                  </a:lnTo>
                  <a:lnTo>
                    <a:pt x="102" y="59"/>
                  </a:lnTo>
                  <a:lnTo>
                    <a:pt x="114" y="53"/>
                  </a:lnTo>
                  <a:lnTo>
                    <a:pt x="126" y="29"/>
                  </a:lnTo>
                  <a:lnTo>
                    <a:pt x="120" y="12"/>
                  </a:lnTo>
                  <a:lnTo>
                    <a:pt x="108" y="6"/>
                  </a:lnTo>
                  <a:lnTo>
                    <a:pt x="96" y="0"/>
                  </a:lnTo>
                  <a:lnTo>
                    <a:pt x="84" y="0"/>
                  </a:lnTo>
                  <a:lnTo>
                    <a:pt x="30" y="0"/>
                  </a:lnTo>
                  <a:lnTo>
                    <a:pt x="42" y="0"/>
                  </a:lnTo>
                  <a:lnTo>
                    <a:pt x="48" y="12"/>
                  </a:lnTo>
                  <a:lnTo>
                    <a:pt x="48" y="18"/>
                  </a:lnTo>
                  <a:lnTo>
                    <a:pt x="42" y="24"/>
                  </a:lnTo>
                  <a:lnTo>
                    <a:pt x="18" y="119"/>
                  </a:lnTo>
                  <a:lnTo>
                    <a:pt x="12" y="131"/>
                  </a:lnTo>
                  <a:lnTo>
                    <a:pt x="0" y="137"/>
                  </a:lnTo>
                  <a:lnTo>
                    <a:pt x="54" y="137"/>
                  </a:lnTo>
                  <a:lnTo>
                    <a:pt x="42" y="131"/>
                  </a:lnTo>
                  <a:lnTo>
                    <a:pt x="36" y="125"/>
                  </a:lnTo>
                  <a:lnTo>
                    <a:pt x="42" y="113"/>
                  </a:lnTo>
                  <a:lnTo>
                    <a:pt x="54" y="65"/>
                  </a:lnTo>
                  <a:lnTo>
                    <a:pt x="66" y="71"/>
                  </a:lnTo>
                  <a:lnTo>
                    <a:pt x="90" y="137"/>
                  </a:lnTo>
                  <a:lnTo>
                    <a:pt x="120" y="137"/>
                  </a:lnTo>
                  <a:close/>
                  <a:moveTo>
                    <a:pt x="66" y="12"/>
                  </a:moveTo>
                  <a:lnTo>
                    <a:pt x="72" y="6"/>
                  </a:lnTo>
                  <a:lnTo>
                    <a:pt x="78" y="6"/>
                  </a:lnTo>
                  <a:lnTo>
                    <a:pt x="96" y="12"/>
                  </a:lnTo>
                  <a:lnTo>
                    <a:pt x="102" y="18"/>
                  </a:lnTo>
                  <a:lnTo>
                    <a:pt x="102" y="29"/>
                  </a:lnTo>
                  <a:lnTo>
                    <a:pt x="96" y="47"/>
                  </a:lnTo>
                  <a:lnTo>
                    <a:pt x="84" y="59"/>
                  </a:lnTo>
                  <a:lnTo>
                    <a:pt x="66" y="59"/>
                  </a:lnTo>
                  <a:lnTo>
                    <a:pt x="60" y="59"/>
                  </a:lnTo>
                  <a:lnTo>
                    <a:pt x="54" y="59"/>
                  </a:lnTo>
                  <a:lnTo>
                    <a:pt x="66"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19" name="Freeform 30"/>
            <p:cNvSpPr/>
            <p:nvPr/>
          </p:nvSpPr>
          <p:spPr>
            <a:xfrm>
              <a:off x="2937" y="1273"/>
              <a:ext cx="48" cy="114"/>
            </a:xfrm>
            <a:custGeom>
              <a:avLst/>
              <a:gdLst>
                <a:gd name="txL" fmla="*/ 0 w 48"/>
                <a:gd name="txT" fmla="*/ 0 h 114"/>
                <a:gd name="txR" fmla="*/ 48 w 48"/>
                <a:gd name="txB" fmla="*/ 114 h 114"/>
              </a:gdLst>
              <a:ahLst/>
              <a:cxnLst>
                <a:cxn ang="0">
                  <a:pos x="6" y="114"/>
                </a:cxn>
                <a:cxn ang="0">
                  <a:pos x="48" y="114"/>
                </a:cxn>
                <a:cxn ang="0">
                  <a:pos x="48" y="108"/>
                </a:cxn>
                <a:cxn ang="0">
                  <a:pos x="36" y="108"/>
                </a:cxn>
                <a:cxn ang="0">
                  <a:pos x="30" y="102"/>
                </a:cxn>
                <a:cxn ang="0">
                  <a:pos x="30" y="0"/>
                </a:cxn>
                <a:cxn ang="0">
                  <a:pos x="30" y="0"/>
                </a:cxn>
                <a:cxn ang="0">
                  <a:pos x="0" y="18"/>
                </a:cxn>
                <a:cxn ang="0">
                  <a:pos x="0" y="18"/>
                </a:cxn>
                <a:cxn ang="0">
                  <a:pos x="12" y="12"/>
                </a:cxn>
                <a:cxn ang="0">
                  <a:pos x="12" y="12"/>
                </a:cxn>
                <a:cxn ang="0">
                  <a:pos x="18" y="18"/>
                </a:cxn>
                <a:cxn ang="0">
                  <a:pos x="18" y="24"/>
                </a:cxn>
                <a:cxn ang="0">
                  <a:pos x="18" y="96"/>
                </a:cxn>
                <a:cxn ang="0">
                  <a:pos x="12" y="108"/>
                </a:cxn>
                <a:cxn ang="0">
                  <a:pos x="6" y="108"/>
                </a:cxn>
                <a:cxn ang="0">
                  <a:pos x="6" y="114"/>
                </a:cxn>
              </a:cxnLst>
              <a:rect l="txL" t="txT" r="txR" b="txB"/>
              <a:pathLst>
                <a:path w="48" h="114">
                  <a:moveTo>
                    <a:pt x="6" y="114"/>
                  </a:moveTo>
                  <a:lnTo>
                    <a:pt x="48" y="114"/>
                  </a:lnTo>
                  <a:lnTo>
                    <a:pt x="48" y="108"/>
                  </a:lnTo>
                  <a:lnTo>
                    <a:pt x="36" y="108"/>
                  </a:lnTo>
                  <a:lnTo>
                    <a:pt x="30" y="102"/>
                  </a:lnTo>
                  <a:lnTo>
                    <a:pt x="30" y="0"/>
                  </a:lnTo>
                  <a:lnTo>
                    <a:pt x="0" y="18"/>
                  </a:lnTo>
                  <a:lnTo>
                    <a:pt x="12" y="12"/>
                  </a:lnTo>
                  <a:lnTo>
                    <a:pt x="18" y="18"/>
                  </a:lnTo>
                  <a:lnTo>
                    <a:pt x="18" y="24"/>
                  </a:lnTo>
                  <a:lnTo>
                    <a:pt x="18" y="96"/>
                  </a:lnTo>
                  <a:lnTo>
                    <a:pt x="12" y="108"/>
                  </a:lnTo>
                  <a:lnTo>
                    <a:pt x="6" y="108"/>
                  </a:lnTo>
                  <a:lnTo>
                    <a:pt x="6" y="11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20" name="Freeform 31"/>
            <p:cNvSpPr/>
            <p:nvPr/>
          </p:nvSpPr>
          <p:spPr>
            <a:xfrm>
              <a:off x="2817" y="1763"/>
              <a:ext cx="84" cy="89"/>
            </a:xfrm>
            <a:custGeom>
              <a:avLst/>
              <a:gdLst>
                <a:gd name="txL" fmla="*/ 0 w 84"/>
                <a:gd name="txT" fmla="*/ 0 h 89"/>
                <a:gd name="txR" fmla="*/ 84 w 84"/>
                <a:gd name="txB" fmla="*/ 89 h 89"/>
              </a:gdLst>
              <a:ahLst/>
              <a:cxnLst>
                <a:cxn ang="0">
                  <a:pos x="0" y="6"/>
                </a:cxn>
                <a:cxn ang="0">
                  <a:pos x="12" y="6"/>
                </a:cxn>
                <a:cxn ang="0">
                  <a:pos x="18" y="12"/>
                </a:cxn>
                <a:cxn ang="0">
                  <a:pos x="18" y="18"/>
                </a:cxn>
                <a:cxn ang="0">
                  <a:pos x="18" y="30"/>
                </a:cxn>
                <a:cxn ang="0">
                  <a:pos x="24" y="42"/>
                </a:cxn>
                <a:cxn ang="0">
                  <a:pos x="24" y="54"/>
                </a:cxn>
                <a:cxn ang="0">
                  <a:pos x="24" y="72"/>
                </a:cxn>
                <a:cxn ang="0">
                  <a:pos x="24" y="83"/>
                </a:cxn>
                <a:cxn ang="0">
                  <a:pos x="24" y="89"/>
                </a:cxn>
                <a:cxn ang="0">
                  <a:pos x="30" y="89"/>
                </a:cxn>
                <a:cxn ang="0">
                  <a:pos x="36" y="89"/>
                </a:cxn>
                <a:cxn ang="0">
                  <a:pos x="42" y="83"/>
                </a:cxn>
                <a:cxn ang="0">
                  <a:pos x="48" y="72"/>
                </a:cxn>
                <a:cxn ang="0">
                  <a:pos x="54" y="60"/>
                </a:cxn>
                <a:cxn ang="0">
                  <a:pos x="66" y="48"/>
                </a:cxn>
                <a:cxn ang="0">
                  <a:pos x="78" y="30"/>
                </a:cxn>
                <a:cxn ang="0">
                  <a:pos x="84" y="12"/>
                </a:cxn>
                <a:cxn ang="0">
                  <a:pos x="78" y="6"/>
                </a:cxn>
                <a:cxn ang="0">
                  <a:pos x="72" y="0"/>
                </a:cxn>
                <a:cxn ang="0">
                  <a:pos x="66" y="0"/>
                </a:cxn>
                <a:cxn ang="0">
                  <a:pos x="60" y="6"/>
                </a:cxn>
                <a:cxn ang="0">
                  <a:pos x="66" y="12"/>
                </a:cxn>
                <a:cxn ang="0">
                  <a:pos x="66" y="18"/>
                </a:cxn>
                <a:cxn ang="0">
                  <a:pos x="72" y="18"/>
                </a:cxn>
                <a:cxn ang="0">
                  <a:pos x="72" y="24"/>
                </a:cxn>
                <a:cxn ang="0">
                  <a:pos x="72" y="30"/>
                </a:cxn>
                <a:cxn ang="0">
                  <a:pos x="60" y="42"/>
                </a:cxn>
                <a:cxn ang="0">
                  <a:pos x="48" y="66"/>
                </a:cxn>
                <a:cxn ang="0">
                  <a:pos x="42" y="72"/>
                </a:cxn>
                <a:cxn ang="0">
                  <a:pos x="36" y="42"/>
                </a:cxn>
                <a:cxn ang="0">
                  <a:pos x="30" y="6"/>
                </a:cxn>
                <a:cxn ang="0">
                  <a:pos x="30" y="0"/>
                </a:cxn>
                <a:cxn ang="0">
                  <a:pos x="24" y="0"/>
                </a:cxn>
                <a:cxn ang="0">
                  <a:pos x="18" y="0"/>
                </a:cxn>
                <a:cxn ang="0">
                  <a:pos x="0" y="6"/>
                </a:cxn>
                <a:cxn ang="0">
                  <a:pos x="0" y="6"/>
                </a:cxn>
              </a:cxnLst>
              <a:rect l="txL" t="txT" r="txR" b="txB"/>
              <a:pathLst>
                <a:path w="84" h="89">
                  <a:moveTo>
                    <a:pt x="0" y="6"/>
                  </a:moveTo>
                  <a:lnTo>
                    <a:pt x="12" y="6"/>
                  </a:lnTo>
                  <a:lnTo>
                    <a:pt x="18" y="12"/>
                  </a:lnTo>
                  <a:lnTo>
                    <a:pt x="18" y="18"/>
                  </a:lnTo>
                  <a:lnTo>
                    <a:pt x="18" y="30"/>
                  </a:lnTo>
                  <a:lnTo>
                    <a:pt x="24" y="42"/>
                  </a:lnTo>
                  <a:lnTo>
                    <a:pt x="24" y="54"/>
                  </a:lnTo>
                  <a:lnTo>
                    <a:pt x="24" y="72"/>
                  </a:lnTo>
                  <a:lnTo>
                    <a:pt x="24" y="83"/>
                  </a:lnTo>
                  <a:lnTo>
                    <a:pt x="24" y="89"/>
                  </a:lnTo>
                  <a:lnTo>
                    <a:pt x="30" y="89"/>
                  </a:lnTo>
                  <a:lnTo>
                    <a:pt x="36" y="89"/>
                  </a:lnTo>
                  <a:lnTo>
                    <a:pt x="42" y="83"/>
                  </a:lnTo>
                  <a:lnTo>
                    <a:pt x="48" y="72"/>
                  </a:lnTo>
                  <a:lnTo>
                    <a:pt x="54" y="60"/>
                  </a:lnTo>
                  <a:lnTo>
                    <a:pt x="66" y="48"/>
                  </a:lnTo>
                  <a:lnTo>
                    <a:pt x="78" y="30"/>
                  </a:lnTo>
                  <a:lnTo>
                    <a:pt x="84" y="12"/>
                  </a:lnTo>
                  <a:lnTo>
                    <a:pt x="78" y="6"/>
                  </a:lnTo>
                  <a:lnTo>
                    <a:pt x="72" y="0"/>
                  </a:lnTo>
                  <a:lnTo>
                    <a:pt x="66" y="0"/>
                  </a:lnTo>
                  <a:lnTo>
                    <a:pt x="60" y="6"/>
                  </a:lnTo>
                  <a:lnTo>
                    <a:pt x="66" y="12"/>
                  </a:lnTo>
                  <a:lnTo>
                    <a:pt x="66" y="18"/>
                  </a:lnTo>
                  <a:lnTo>
                    <a:pt x="72" y="18"/>
                  </a:lnTo>
                  <a:lnTo>
                    <a:pt x="72" y="24"/>
                  </a:lnTo>
                  <a:lnTo>
                    <a:pt x="72" y="30"/>
                  </a:lnTo>
                  <a:lnTo>
                    <a:pt x="60" y="42"/>
                  </a:lnTo>
                  <a:lnTo>
                    <a:pt x="48" y="66"/>
                  </a:lnTo>
                  <a:lnTo>
                    <a:pt x="42" y="72"/>
                  </a:lnTo>
                  <a:lnTo>
                    <a:pt x="36" y="42"/>
                  </a:lnTo>
                  <a:lnTo>
                    <a:pt x="30" y="6"/>
                  </a:lnTo>
                  <a:lnTo>
                    <a:pt x="30" y="0"/>
                  </a:lnTo>
                  <a:lnTo>
                    <a:pt x="24" y="0"/>
                  </a:lnTo>
                  <a:lnTo>
                    <a:pt x="18"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21" name="Freeform 32"/>
            <p:cNvSpPr/>
            <p:nvPr/>
          </p:nvSpPr>
          <p:spPr>
            <a:xfrm>
              <a:off x="2913" y="1793"/>
              <a:ext cx="48" cy="113"/>
            </a:xfrm>
            <a:custGeom>
              <a:avLst/>
              <a:gdLst>
                <a:gd name="txL" fmla="*/ 0 w 48"/>
                <a:gd name="txT" fmla="*/ 0 h 113"/>
                <a:gd name="txR" fmla="*/ 48 w 48"/>
                <a:gd name="txB" fmla="*/ 113 h 113"/>
              </a:gdLst>
              <a:ahLst/>
              <a:cxnLst>
                <a:cxn ang="0">
                  <a:pos x="6" y="113"/>
                </a:cxn>
                <a:cxn ang="0">
                  <a:pos x="48" y="113"/>
                </a:cxn>
                <a:cxn ang="0">
                  <a:pos x="48" y="113"/>
                </a:cxn>
                <a:cxn ang="0">
                  <a:pos x="36" y="107"/>
                </a:cxn>
                <a:cxn ang="0">
                  <a:pos x="30" y="101"/>
                </a:cxn>
                <a:cxn ang="0">
                  <a:pos x="30" y="0"/>
                </a:cxn>
                <a:cxn ang="0">
                  <a:pos x="30" y="0"/>
                </a:cxn>
                <a:cxn ang="0">
                  <a:pos x="0" y="18"/>
                </a:cxn>
                <a:cxn ang="0">
                  <a:pos x="0" y="18"/>
                </a:cxn>
                <a:cxn ang="0">
                  <a:pos x="12" y="18"/>
                </a:cxn>
                <a:cxn ang="0">
                  <a:pos x="12" y="18"/>
                </a:cxn>
                <a:cxn ang="0">
                  <a:pos x="18" y="18"/>
                </a:cxn>
                <a:cxn ang="0">
                  <a:pos x="18" y="24"/>
                </a:cxn>
                <a:cxn ang="0">
                  <a:pos x="18" y="95"/>
                </a:cxn>
                <a:cxn ang="0">
                  <a:pos x="12" y="107"/>
                </a:cxn>
                <a:cxn ang="0">
                  <a:pos x="6" y="113"/>
                </a:cxn>
                <a:cxn ang="0">
                  <a:pos x="6" y="113"/>
                </a:cxn>
              </a:cxnLst>
              <a:rect l="txL" t="txT" r="txR" b="txB"/>
              <a:pathLst>
                <a:path w="48" h="113">
                  <a:moveTo>
                    <a:pt x="6" y="113"/>
                  </a:moveTo>
                  <a:lnTo>
                    <a:pt x="48" y="113"/>
                  </a:lnTo>
                  <a:lnTo>
                    <a:pt x="36" y="107"/>
                  </a:lnTo>
                  <a:lnTo>
                    <a:pt x="30" y="101"/>
                  </a:lnTo>
                  <a:lnTo>
                    <a:pt x="30" y="0"/>
                  </a:lnTo>
                  <a:lnTo>
                    <a:pt x="0" y="18"/>
                  </a:lnTo>
                  <a:lnTo>
                    <a:pt x="12" y="18"/>
                  </a:lnTo>
                  <a:lnTo>
                    <a:pt x="18" y="18"/>
                  </a:lnTo>
                  <a:lnTo>
                    <a:pt x="18" y="24"/>
                  </a:lnTo>
                  <a:lnTo>
                    <a:pt x="18" y="95"/>
                  </a:lnTo>
                  <a:lnTo>
                    <a:pt x="12" y="107"/>
                  </a:lnTo>
                  <a:lnTo>
                    <a:pt x="6" y="11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22" name="Freeform 33"/>
            <p:cNvSpPr>
              <a:spLocks noEditPoints="1"/>
            </p:cNvSpPr>
            <p:nvPr/>
          </p:nvSpPr>
          <p:spPr>
            <a:xfrm>
              <a:off x="3786" y="1190"/>
              <a:ext cx="126" cy="137"/>
            </a:xfrm>
            <a:custGeom>
              <a:avLst/>
              <a:gdLst>
                <a:gd name="txL" fmla="*/ 0 w 126"/>
                <a:gd name="txT" fmla="*/ 0 h 137"/>
                <a:gd name="txR" fmla="*/ 126 w 126"/>
                <a:gd name="txB" fmla="*/ 137 h 137"/>
              </a:gdLst>
              <a:ahLst/>
              <a:cxnLst>
                <a:cxn ang="0">
                  <a:pos x="120" y="137"/>
                </a:cxn>
                <a:cxn ang="0">
                  <a:pos x="108" y="131"/>
                </a:cxn>
                <a:cxn ang="0">
                  <a:pos x="102" y="119"/>
                </a:cxn>
                <a:cxn ang="0">
                  <a:pos x="84" y="65"/>
                </a:cxn>
                <a:cxn ang="0">
                  <a:pos x="102" y="59"/>
                </a:cxn>
                <a:cxn ang="0">
                  <a:pos x="114" y="53"/>
                </a:cxn>
                <a:cxn ang="0">
                  <a:pos x="126" y="29"/>
                </a:cxn>
                <a:cxn ang="0">
                  <a:pos x="120" y="12"/>
                </a:cxn>
                <a:cxn ang="0">
                  <a:pos x="108" y="6"/>
                </a:cxn>
                <a:cxn ang="0">
                  <a:pos x="96" y="0"/>
                </a:cxn>
                <a:cxn ang="0">
                  <a:pos x="84" y="0"/>
                </a:cxn>
                <a:cxn ang="0">
                  <a:pos x="30" y="0"/>
                </a:cxn>
                <a:cxn ang="0">
                  <a:pos x="30" y="0"/>
                </a:cxn>
                <a:cxn ang="0">
                  <a:pos x="42" y="0"/>
                </a:cxn>
                <a:cxn ang="0">
                  <a:pos x="48" y="12"/>
                </a:cxn>
                <a:cxn ang="0">
                  <a:pos x="48" y="18"/>
                </a:cxn>
                <a:cxn ang="0">
                  <a:pos x="42" y="24"/>
                </a:cxn>
                <a:cxn ang="0">
                  <a:pos x="18" y="119"/>
                </a:cxn>
                <a:cxn ang="0">
                  <a:pos x="12" y="131"/>
                </a:cxn>
                <a:cxn ang="0">
                  <a:pos x="0" y="137"/>
                </a:cxn>
                <a:cxn ang="0">
                  <a:pos x="0" y="137"/>
                </a:cxn>
                <a:cxn ang="0">
                  <a:pos x="54" y="137"/>
                </a:cxn>
                <a:cxn ang="0">
                  <a:pos x="54" y="137"/>
                </a:cxn>
                <a:cxn ang="0">
                  <a:pos x="42" y="131"/>
                </a:cxn>
                <a:cxn ang="0">
                  <a:pos x="36" y="125"/>
                </a:cxn>
                <a:cxn ang="0">
                  <a:pos x="36" y="125"/>
                </a:cxn>
                <a:cxn ang="0">
                  <a:pos x="42" y="113"/>
                </a:cxn>
                <a:cxn ang="0">
                  <a:pos x="54" y="65"/>
                </a:cxn>
                <a:cxn ang="0">
                  <a:pos x="66" y="71"/>
                </a:cxn>
                <a:cxn ang="0">
                  <a:pos x="90" y="137"/>
                </a:cxn>
                <a:cxn ang="0">
                  <a:pos x="120" y="137"/>
                </a:cxn>
                <a:cxn ang="0">
                  <a:pos x="120" y="137"/>
                </a:cxn>
                <a:cxn ang="0">
                  <a:pos x="66" y="12"/>
                </a:cxn>
                <a:cxn ang="0">
                  <a:pos x="72" y="6"/>
                </a:cxn>
                <a:cxn ang="0">
                  <a:pos x="78" y="6"/>
                </a:cxn>
                <a:cxn ang="0">
                  <a:pos x="96" y="12"/>
                </a:cxn>
                <a:cxn ang="0">
                  <a:pos x="102" y="18"/>
                </a:cxn>
                <a:cxn ang="0">
                  <a:pos x="102" y="29"/>
                </a:cxn>
                <a:cxn ang="0">
                  <a:pos x="96" y="47"/>
                </a:cxn>
                <a:cxn ang="0">
                  <a:pos x="84" y="59"/>
                </a:cxn>
                <a:cxn ang="0">
                  <a:pos x="66" y="59"/>
                </a:cxn>
                <a:cxn ang="0">
                  <a:pos x="60" y="59"/>
                </a:cxn>
                <a:cxn ang="0">
                  <a:pos x="54" y="59"/>
                </a:cxn>
                <a:cxn ang="0">
                  <a:pos x="66" y="12"/>
                </a:cxn>
              </a:cxnLst>
              <a:rect l="txL" t="txT" r="txR" b="txB"/>
              <a:pathLst>
                <a:path w="126" h="137">
                  <a:moveTo>
                    <a:pt x="120" y="137"/>
                  </a:moveTo>
                  <a:lnTo>
                    <a:pt x="108" y="131"/>
                  </a:lnTo>
                  <a:lnTo>
                    <a:pt x="102" y="119"/>
                  </a:lnTo>
                  <a:lnTo>
                    <a:pt x="84" y="65"/>
                  </a:lnTo>
                  <a:lnTo>
                    <a:pt x="102" y="59"/>
                  </a:lnTo>
                  <a:lnTo>
                    <a:pt x="114" y="53"/>
                  </a:lnTo>
                  <a:lnTo>
                    <a:pt x="126" y="29"/>
                  </a:lnTo>
                  <a:lnTo>
                    <a:pt x="120" y="12"/>
                  </a:lnTo>
                  <a:lnTo>
                    <a:pt x="108" y="6"/>
                  </a:lnTo>
                  <a:lnTo>
                    <a:pt x="96" y="0"/>
                  </a:lnTo>
                  <a:lnTo>
                    <a:pt x="84" y="0"/>
                  </a:lnTo>
                  <a:lnTo>
                    <a:pt x="30" y="0"/>
                  </a:lnTo>
                  <a:lnTo>
                    <a:pt x="42" y="0"/>
                  </a:lnTo>
                  <a:lnTo>
                    <a:pt x="48" y="12"/>
                  </a:lnTo>
                  <a:lnTo>
                    <a:pt x="48" y="18"/>
                  </a:lnTo>
                  <a:lnTo>
                    <a:pt x="42" y="24"/>
                  </a:lnTo>
                  <a:lnTo>
                    <a:pt x="18" y="119"/>
                  </a:lnTo>
                  <a:lnTo>
                    <a:pt x="12" y="131"/>
                  </a:lnTo>
                  <a:lnTo>
                    <a:pt x="0" y="137"/>
                  </a:lnTo>
                  <a:lnTo>
                    <a:pt x="54" y="137"/>
                  </a:lnTo>
                  <a:lnTo>
                    <a:pt x="42" y="131"/>
                  </a:lnTo>
                  <a:lnTo>
                    <a:pt x="36" y="125"/>
                  </a:lnTo>
                  <a:lnTo>
                    <a:pt x="42" y="113"/>
                  </a:lnTo>
                  <a:lnTo>
                    <a:pt x="54" y="65"/>
                  </a:lnTo>
                  <a:lnTo>
                    <a:pt x="66" y="71"/>
                  </a:lnTo>
                  <a:lnTo>
                    <a:pt x="90" y="137"/>
                  </a:lnTo>
                  <a:lnTo>
                    <a:pt x="120" y="137"/>
                  </a:lnTo>
                  <a:close/>
                  <a:moveTo>
                    <a:pt x="66" y="12"/>
                  </a:moveTo>
                  <a:lnTo>
                    <a:pt x="72" y="6"/>
                  </a:lnTo>
                  <a:lnTo>
                    <a:pt x="78" y="6"/>
                  </a:lnTo>
                  <a:lnTo>
                    <a:pt x="96" y="12"/>
                  </a:lnTo>
                  <a:lnTo>
                    <a:pt x="102" y="18"/>
                  </a:lnTo>
                  <a:lnTo>
                    <a:pt x="102" y="29"/>
                  </a:lnTo>
                  <a:lnTo>
                    <a:pt x="96" y="47"/>
                  </a:lnTo>
                  <a:lnTo>
                    <a:pt x="84" y="59"/>
                  </a:lnTo>
                  <a:lnTo>
                    <a:pt x="66" y="59"/>
                  </a:lnTo>
                  <a:lnTo>
                    <a:pt x="60" y="59"/>
                  </a:lnTo>
                  <a:lnTo>
                    <a:pt x="54" y="59"/>
                  </a:lnTo>
                  <a:lnTo>
                    <a:pt x="66"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23" name="Freeform 34"/>
            <p:cNvSpPr/>
            <p:nvPr/>
          </p:nvSpPr>
          <p:spPr>
            <a:xfrm>
              <a:off x="3918" y="1273"/>
              <a:ext cx="71" cy="114"/>
            </a:xfrm>
            <a:custGeom>
              <a:avLst/>
              <a:gdLst>
                <a:gd name="txL" fmla="*/ 0 w 71"/>
                <a:gd name="txT" fmla="*/ 0 h 114"/>
                <a:gd name="txR" fmla="*/ 71 w 71"/>
                <a:gd name="txB" fmla="*/ 114 h 114"/>
              </a:gdLst>
              <a:ahLst/>
              <a:cxnLst>
                <a:cxn ang="0">
                  <a:pos x="71" y="90"/>
                </a:cxn>
                <a:cxn ang="0">
                  <a:pos x="71" y="90"/>
                </a:cxn>
                <a:cxn ang="0">
                  <a:pos x="65" y="96"/>
                </a:cxn>
                <a:cxn ang="0">
                  <a:pos x="53" y="96"/>
                </a:cxn>
                <a:cxn ang="0">
                  <a:pos x="18" y="96"/>
                </a:cxn>
                <a:cxn ang="0">
                  <a:pos x="42" y="72"/>
                </a:cxn>
                <a:cxn ang="0">
                  <a:pos x="53" y="54"/>
                </a:cxn>
                <a:cxn ang="0">
                  <a:pos x="65" y="42"/>
                </a:cxn>
                <a:cxn ang="0">
                  <a:pos x="65" y="30"/>
                </a:cxn>
                <a:cxn ang="0">
                  <a:pos x="65" y="18"/>
                </a:cxn>
                <a:cxn ang="0">
                  <a:pos x="53" y="6"/>
                </a:cxn>
                <a:cxn ang="0">
                  <a:pos x="36" y="0"/>
                </a:cxn>
                <a:cxn ang="0">
                  <a:pos x="18" y="6"/>
                </a:cxn>
                <a:cxn ang="0">
                  <a:pos x="12" y="18"/>
                </a:cxn>
                <a:cxn ang="0">
                  <a:pos x="6" y="30"/>
                </a:cxn>
                <a:cxn ang="0">
                  <a:pos x="6" y="36"/>
                </a:cxn>
                <a:cxn ang="0">
                  <a:pos x="12" y="18"/>
                </a:cxn>
                <a:cxn ang="0">
                  <a:pos x="18" y="12"/>
                </a:cxn>
                <a:cxn ang="0">
                  <a:pos x="30" y="12"/>
                </a:cxn>
                <a:cxn ang="0">
                  <a:pos x="42" y="18"/>
                </a:cxn>
                <a:cxn ang="0">
                  <a:pos x="48" y="24"/>
                </a:cxn>
                <a:cxn ang="0">
                  <a:pos x="48" y="36"/>
                </a:cxn>
                <a:cxn ang="0">
                  <a:pos x="42" y="54"/>
                </a:cxn>
                <a:cxn ang="0">
                  <a:pos x="30" y="78"/>
                </a:cxn>
                <a:cxn ang="0">
                  <a:pos x="0" y="108"/>
                </a:cxn>
                <a:cxn ang="0">
                  <a:pos x="0" y="114"/>
                </a:cxn>
                <a:cxn ang="0">
                  <a:pos x="59" y="114"/>
                </a:cxn>
                <a:cxn ang="0">
                  <a:pos x="71" y="90"/>
                </a:cxn>
              </a:cxnLst>
              <a:rect l="txL" t="txT" r="txR" b="txB"/>
              <a:pathLst>
                <a:path w="71" h="114">
                  <a:moveTo>
                    <a:pt x="71" y="90"/>
                  </a:moveTo>
                  <a:lnTo>
                    <a:pt x="71" y="90"/>
                  </a:lnTo>
                  <a:lnTo>
                    <a:pt x="65" y="96"/>
                  </a:lnTo>
                  <a:lnTo>
                    <a:pt x="53" y="96"/>
                  </a:lnTo>
                  <a:lnTo>
                    <a:pt x="18" y="96"/>
                  </a:lnTo>
                  <a:lnTo>
                    <a:pt x="42" y="72"/>
                  </a:lnTo>
                  <a:lnTo>
                    <a:pt x="53" y="54"/>
                  </a:lnTo>
                  <a:lnTo>
                    <a:pt x="65" y="42"/>
                  </a:lnTo>
                  <a:lnTo>
                    <a:pt x="65" y="30"/>
                  </a:lnTo>
                  <a:lnTo>
                    <a:pt x="65" y="18"/>
                  </a:lnTo>
                  <a:lnTo>
                    <a:pt x="53" y="6"/>
                  </a:lnTo>
                  <a:lnTo>
                    <a:pt x="36" y="0"/>
                  </a:lnTo>
                  <a:lnTo>
                    <a:pt x="18" y="6"/>
                  </a:lnTo>
                  <a:lnTo>
                    <a:pt x="12" y="18"/>
                  </a:lnTo>
                  <a:lnTo>
                    <a:pt x="6" y="30"/>
                  </a:lnTo>
                  <a:lnTo>
                    <a:pt x="6" y="36"/>
                  </a:lnTo>
                  <a:lnTo>
                    <a:pt x="12" y="18"/>
                  </a:lnTo>
                  <a:lnTo>
                    <a:pt x="18" y="12"/>
                  </a:lnTo>
                  <a:lnTo>
                    <a:pt x="30" y="12"/>
                  </a:lnTo>
                  <a:lnTo>
                    <a:pt x="42" y="18"/>
                  </a:lnTo>
                  <a:lnTo>
                    <a:pt x="48" y="24"/>
                  </a:lnTo>
                  <a:lnTo>
                    <a:pt x="48" y="36"/>
                  </a:lnTo>
                  <a:lnTo>
                    <a:pt x="42" y="54"/>
                  </a:lnTo>
                  <a:lnTo>
                    <a:pt x="30" y="78"/>
                  </a:lnTo>
                  <a:lnTo>
                    <a:pt x="0" y="108"/>
                  </a:lnTo>
                  <a:lnTo>
                    <a:pt x="0" y="114"/>
                  </a:lnTo>
                  <a:lnTo>
                    <a:pt x="59" y="114"/>
                  </a:lnTo>
                  <a:lnTo>
                    <a:pt x="71" y="9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24" name="Freeform 35"/>
            <p:cNvSpPr/>
            <p:nvPr/>
          </p:nvSpPr>
          <p:spPr>
            <a:xfrm>
              <a:off x="3810" y="1763"/>
              <a:ext cx="78" cy="89"/>
            </a:xfrm>
            <a:custGeom>
              <a:avLst/>
              <a:gdLst>
                <a:gd name="txL" fmla="*/ 0 w 78"/>
                <a:gd name="txT" fmla="*/ 0 h 89"/>
                <a:gd name="txR" fmla="*/ 78 w 78"/>
                <a:gd name="txB" fmla="*/ 89 h 89"/>
              </a:gdLst>
              <a:ahLst/>
              <a:cxnLst>
                <a:cxn ang="0">
                  <a:pos x="0" y="6"/>
                </a:cxn>
                <a:cxn ang="0">
                  <a:pos x="12" y="12"/>
                </a:cxn>
                <a:cxn ang="0">
                  <a:pos x="12" y="18"/>
                </a:cxn>
                <a:cxn ang="0">
                  <a:pos x="18" y="30"/>
                </a:cxn>
                <a:cxn ang="0">
                  <a:pos x="18" y="42"/>
                </a:cxn>
                <a:cxn ang="0">
                  <a:pos x="24" y="54"/>
                </a:cxn>
                <a:cxn ang="0">
                  <a:pos x="24" y="72"/>
                </a:cxn>
                <a:cxn ang="0">
                  <a:pos x="24" y="83"/>
                </a:cxn>
                <a:cxn ang="0">
                  <a:pos x="24" y="89"/>
                </a:cxn>
                <a:cxn ang="0">
                  <a:pos x="24" y="89"/>
                </a:cxn>
                <a:cxn ang="0">
                  <a:pos x="30" y="89"/>
                </a:cxn>
                <a:cxn ang="0">
                  <a:pos x="36" y="83"/>
                </a:cxn>
                <a:cxn ang="0">
                  <a:pos x="42" y="72"/>
                </a:cxn>
                <a:cxn ang="0">
                  <a:pos x="54" y="60"/>
                </a:cxn>
                <a:cxn ang="0">
                  <a:pos x="66" y="48"/>
                </a:cxn>
                <a:cxn ang="0">
                  <a:pos x="72" y="30"/>
                </a:cxn>
                <a:cxn ang="0">
                  <a:pos x="78" y="12"/>
                </a:cxn>
                <a:cxn ang="0">
                  <a:pos x="72" y="6"/>
                </a:cxn>
                <a:cxn ang="0">
                  <a:pos x="66" y="0"/>
                </a:cxn>
                <a:cxn ang="0">
                  <a:pos x="66" y="0"/>
                </a:cxn>
                <a:cxn ang="0">
                  <a:pos x="60" y="6"/>
                </a:cxn>
                <a:cxn ang="0">
                  <a:pos x="60" y="12"/>
                </a:cxn>
                <a:cxn ang="0">
                  <a:pos x="66" y="18"/>
                </a:cxn>
                <a:cxn ang="0">
                  <a:pos x="72" y="18"/>
                </a:cxn>
                <a:cxn ang="0">
                  <a:pos x="72" y="24"/>
                </a:cxn>
                <a:cxn ang="0">
                  <a:pos x="72" y="30"/>
                </a:cxn>
                <a:cxn ang="0">
                  <a:pos x="60" y="42"/>
                </a:cxn>
                <a:cxn ang="0">
                  <a:pos x="42" y="66"/>
                </a:cxn>
                <a:cxn ang="0">
                  <a:pos x="36" y="72"/>
                </a:cxn>
                <a:cxn ang="0">
                  <a:pos x="36" y="42"/>
                </a:cxn>
                <a:cxn ang="0">
                  <a:pos x="30" y="6"/>
                </a:cxn>
                <a:cxn ang="0">
                  <a:pos x="24" y="0"/>
                </a:cxn>
                <a:cxn ang="0">
                  <a:pos x="24" y="0"/>
                </a:cxn>
                <a:cxn ang="0">
                  <a:pos x="18" y="0"/>
                </a:cxn>
                <a:cxn ang="0">
                  <a:pos x="0" y="6"/>
                </a:cxn>
                <a:cxn ang="0">
                  <a:pos x="0" y="6"/>
                </a:cxn>
              </a:cxnLst>
              <a:rect l="txL" t="txT" r="txR" b="txB"/>
              <a:pathLst>
                <a:path w="78" h="89">
                  <a:moveTo>
                    <a:pt x="0" y="6"/>
                  </a:moveTo>
                  <a:lnTo>
                    <a:pt x="12" y="12"/>
                  </a:lnTo>
                  <a:lnTo>
                    <a:pt x="12" y="18"/>
                  </a:lnTo>
                  <a:lnTo>
                    <a:pt x="18" y="30"/>
                  </a:lnTo>
                  <a:lnTo>
                    <a:pt x="18" y="42"/>
                  </a:lnTo>
                  <a:lnTo>
                    <a:pt x="24" y="54"/>
                  </a:lnTo>
                  <a:lnTo>
                    <a:pt x="24" y="72"/>
                  </a:lnTo>
                  <a:lnTo>
                    <a:pt x="24" y="83"/>
                  </a:lnTo>
                  <a:lnTo>
                    <a:pt x="24" y="89"/>
                  </a:lnTo>
                  <a:lnTo>
                    <a:pt x="30" y="89"/>
                  </a:lnTo>
                  <a:lnTo>
                    <a:pt x="36" y="83"/>
                  </a:lnTo>
                  <a:lnTo>
                    <a:pt x="42" y="72"/>
                  </a:lnTo>
                  <a:lnTo>
                    <a:pt x="54" y="60"/>
                  </a:lnTo>
                  <a:lnTo>
                    <a:pt x="66" y="48"/>
                  </a:lnTo>
                  <a:lnTo>
                    <a:pt x="72" y="30"/>
                  </a:lnTo>
                  <a:lnTo>
                    <a:pt x="78" y="12"/>
                  </a:lnTo>
                  <a:lnTo>
                    <a:pt x="72" y="6"/>
                  </a:lnTo>
                  <a:lnTo>
                    <a:pt x="66" y="0"/>
                  </a:lnTo>
                  <a:lnTo>
                    <a:pt x="60" y="6"/>
                  </a:lnTo>
                  <a:lnTo>
                    <a:pt x="60" y="12"/>
                  </a:lnTo>
                  <a:lnTo>
                    <a:pt x="66" y="18"/>
                  </a:lnTo>
                  <a:lnTo>
                    <a:pt x="72" y="18"/>
                  </a:lnTo>
                  <a:lnTo>
                    <a:pt x="72" y="24"/>
                  </a:lnTo>
                  <a:lnTo>
                    <a:pt x="72" y="30"/>
                  </a:lnTo>
                  <a:lnTo>
                    <a:pt x="60" y="42"/>
                  </a:lnTo>
                  <a:lnTo>
                    <a:pt x="42" y="66"/>
                  </a:lnTo>
                  <a:lnTo>
                    <a:pt x="36" y="72"/>
                  </a:lnTo>
                  <a:lnTo>
                    <a:pt x="36" y="42"/>
                  </a:lnTo>
                  <a:lnTo>
                    <a:pt x="30" y="6"/>
                  </a:lnTo>
                  <a:lnTo>
                    <a:pt x="24" y="0"/>
                  </a:lnTo>
                  <a:lnTo>
                    <a:pt x="18"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25" name="Freeform 36"/>
            <p:cNvSpPr/>
            <p:nvPr/>
          </p:nvSpPr>
          <p:spPr>
            <a:xfrm>
              <a:off x="3900" y="1793"/>
              <a:ext cx="66" cy="113"/>
            </a:xfrm>
            <a:custGeom>
              <a:avLst/>
              <a:gdLst>
                <a:gd name="txL" fmla="*/ 0 w 66"/>
                <a:gd name="txT" fmla="*/ 0 h 113"/>
                <a:gd name="txR" fmla="*/ 66 w 66"/>
                <a:gd name="txB" fmla="*/ 113 h 113"/>
              </a:gdLst>
              <a:ahLst/>
              <a:cxnLst>
                <a:cxn ang="0">
                  <a:pos x="66" y="89"/>
                </a:cxn>
                <a:cxn ang="0">
                  <a:pos x="66" y="89"/>
                </a:cxn>
                <a:cxn ang="0">
                  <a:pos x="60" y="101"/>
                </a:cxn>
                <a:cxn ang="0">
                  <a:pos x="48" y="101"/>
                </a:cxn>
                <a:cxn ang="0">
                  <a:pos x="12" y="101"/>
                </a:cxn>
                <a:cxn ang="0">
                  <a:pos x="42" y="71"/>
                </a:cxn>
                <a:cxn ang="0">
                  <a:pos x="54" y="53"/>
                </a:cxn>
                <a:cxn ang="0">
                  <a:pos x="60" y="30"/>
                </a:cxn>
                <a:cxn ang="0">
                  <a:pos x="54" y="6"/>
                </a:cxn>
                <a:cxn ang="0">
                  <a:pos x="30" y="0"/>
                </a:cxn>
                <a:cxn ang="0">
                  <a:pos x="12" y="12"/>
                </a:cxn>
                <a:cxn ang="0">
                  <a:pos x="0" y="36"/>
                </a:cxn>
                <a:cxn ang="0">
                  <a:pos x="0" y="36"/>
                </a:cxn>
                <a:cxn ang="0">
                  <a:pos x="12" y="24"/>
                </a:cxn>
                <a:cxn ang="0">
                  <a:pos x="18" y="18"/>
                </a:cxn>
                <a:cxn ang="0">
                  <a:pos x="24" y="12"/>
                </a:cxn>
                <a:cxn ang="0">
                  <a:pos x="36" y="18"/>
                </a:cxn>
                <a:cxn ang="0">
                  <a:pos x="42" y="24"/>
                </a:cxn>
                <a:cxn ang="0">
                  <a:pos x="48" y="36"/>
                </a:cxn>
                <a:cxn ang="0">
                  <a:pos x="42" y="59"/>
                </a:cxn>
                <a:cxn ang="0">
                  <a:pos x="24" y="77"/>
                </a:cxn>
                <a:cxn ang="0">
                  <a:pos x="0" y="113"/>
                </a:cxn>
                <a:cxn ang="0">
                  <a:pos x="0" y="113"/>
                </a:cxn>
                <a:cxn ang="0">
                  <a:pos x="60" y="113"/>
                </a:cxn>
                <a:cxn ang="0">
                  <a:pos x="66" y="89"/>
                </a:cxn>
              </a:cxnLst>
              <a:rect l="txL" t="txT" r="txR" b="txB"/>
              <a:pathLst>
                <a:path w="66" h="113">
                  <a:moveTo>
                    <a:pt x="66" y="89"/>
                  </a:moveTo>
                  <a:lnTo>
                    <a:pt x="66" y="89"/>
                  </a:lnTo>
                  <a:lnTo>
                    <a:pt x="60" y="101"/>
                  </a:lnTo>
                  <a:lnTo>
                    <a:pt x="48" y="101"/>
                  </a:lnTo>
                  <a:lnTo>
                    <a:pt x="12" y="101"/>
                  </a:lnTo>
                  <a:lnTo>
                    <a:pt x="42" y="71"/>
                  </a:lnTo>
                  <a:lnTo>
                    <a:pt x="54" y="53"/>
                  </a:lnTo>
                  <a:lnTo>
                    <a:pt x="60" y="30"/>
                  </a:lnTo>
                  <a:lnTo>
                    <a:pt x="54" y="6"/>
                  </a:lnTo>
                  <a:lnTo>
                    <a:pt x="30" y="0"/>
                  </a:lnTo>
                  <a:lnTo>
                    <a:pt x="12" y="12"/>
                  </a:lnTo>
                  <a:lnTo>
                    <a:pt x="0" y="36"/>
                  </a:lnTo>
                  <a:lnTo>
                    <a:pt x="12" y="24"/>
                  </a:lnTo>
                  <a:lnTo>
                    <a:pt x="18" y="18"/>
                  </a:lnTo>
                  <a:lnTo>
                    <a:pt x="24" y="12"/>
                  </a:lnTo>
                  <a:lnTo>
                    <a:pt x="36" y="18"/>
                  </a:lnTo>
                  <a:lnTo>
                    <a:pt x="42" y="24"/>
                  </a:lnTo>
                  <a:lnTo>
                    <a:pt x="48" y="36"/>
                  </a:lnTo>
                  <a:lnTo>
                    <a:pt x="42" y="59"/>
                  </a:lnTo>
                  <a:lnTo>
                    <a:pt x="24" y="77"/>
                  </a:lnTo>
                  <a:lnTo>
                    <a:pt x="0" y="113"/>
                  </a:lnTo>
                  <a:lnTo>
                    <a:pt x="60" y="113"/>
                  </a:lnTo>
                  <a:lnTo>
                    <a:pt x="66" y="8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26" name="Freeform 37"/>
            <p:cNvSpPr>
              <a:spLocks noEditPoints="1"/>
            </p:cNvSpPr>
            <p:nvPr/>
          </p:nvSpPr>
          <p:spPr>
            <a:xfrm>
              <a:off x="1848" y="1160"/>
              <a:ext cx="48" cy="143"/>
            </a:xfrm>
            <a:custGeom>
              <a:avLst/>
              <a:gdLst>
                <a:gd name="txL" fmla="*/ 0 w 48"/>
                <a:gd name="txT" fmla="*/ 0 h 143"/>
                <a:gd name="txR" fmla="*/ 48 w 48"/>
                <a:gd name="txB" fmla="*/ 143 h 143"/>
              </a:gdLst>
              <a:ahLst/>
              <a:cxnLst>
                <a:cxn ang="0">
                  <a:pos x="36" y="119"/>
                </a:cxn>
                <a:cxn ang="0">
                  <a:pos x="30" y="131"/>
                </a:cxn>
                <a:cxn ang="0">
                  <a:pos x="24" y="131"/>
                </a:cxn>
                <a:cxn ang="0">
                  <a:pos x="18" y="131"/>
                </a:cxn>
                <a:cxn ang="0">
                  <a:pos x="18" y="131"/>
                </a:cxn>
                <a:cxn ang="0">
                  <a:pos x="18" y="125"/>
                </a:cxn>
                <a:cxn ang="0">
                  <a:pos x="24" y="119"/>
                </a:cxn>
                <a:cxn ang="0">
                  <a:pos x="42" y="48"/>
                </a:cxn>
                <a:cxn ang="0">
                  <a:pos x="36" y="48"/>
                </a:cxn>
                <a:cxn ang="0">
                  <a:pos x="24" y="48"/>
                </a:cxn>
                <a:cxn ang="0">
                  <a:pos x="6" y="54"/>
                </a:cxn>
                <a:cxn ang="0">
                  <a:pos x="6" y="54"/>
                </a:cxn>
                <a:cxn ang="0">
                  <a:pos x="18" y="54"/>
                </a:cxn>
                <a:cxn ang="0">
                  <a:pos x="18" y="59"/>
                </a:cxn>
                <a:cxn ang="0">
                  <a:pos x="18" y="71"/>
                </a:cxn>
                <a:cxn ang="0">
                  <a:pos x="12" y="95"/>
                </a:cxn>
                <a:cxn ang="0">
                  <a:pos x="6" y="113"/>
                </a:cxn>
                <a:cxn ang="0">
                  <a:pos x="0" y="131"/>
                </a:cxn>
                <a:cxn ang="0">
                  <a:pos x="0" y="137"/>
                </a:cxn>
                <a:cxn ang="0">
                  <a:pos x="12" y="143"/>
                </a:cxn>
                <a:cxn ang="0">
                  <a:pos x="30" y="137"/>
                </a:cxn>
                <a:cxn ang="0">
                  <a:pos x="42" y="119"/>
                </a:cxn>
                <a:cxn ang="0">
                  <a:pos x="36" y="119"/>
                </a:cxn>
                <a:cxn ang="0">
                  <a:pos x="48" y="12"/>
                </a:cxn>
                <a:cxn ang="0">
                  <a:pos x="42" y="6"/>
                </a:cxn>
                <a:cxn ang="0">
                  <a:pos x="36" y="0"/>
                </a:cxn>
                <a:cxn ang="0">
                  <a:pos x="30" y="6"/>
                </a:cxn>
                <a:cxn ang="0">
                  <a:pos x="24" y="12"/>
                </a:cxn>
                <a:cxn ang="0">
                  <a:pos x="30" y="18"/>
                </a:cxn>
                <a:cxn ang="0">
                  <a:pos x="36" y="24"/>
                </a:cxn>
                <a:cxn ang="0">
                  <a:pos x="42" y="18"/>
                </a:cxn>
                <a:cxn ang="0">
                  <a:pos x="48" y="12"/>
                </a:cxn>
                <a:cxn ang="0">
                  <a:pos x="48" y="12"/>
                </a:cxn>
              </a:cxnLst>
              <a:rect l="txL" t="txT" r="txR" b="txB"/>
              <a:pathLst>
                <a:path w="48" h="143">
                  <a:moveTo>
                    <a:pt x="36" y="119"/>
                  </a:moveTo>
                  <a:lnTo>
                    <a:pt x="30" y="131"/>
                  </a:lnTo>
                  <a:lnTo>
                    <a:pt x="24" y="131"/>
                  </a:lnTo>
                  <a:lnTo>
                    <a:pt x="18" y="131"/>
                  </a:lnTo>
                  <a:lnTo>
                    <a:pt x="18" y="125"/>
                  </a:lnTo>
                  <a:lnTo>
                    <a:pt x="24" y="119"/>
                  </a:lnTo>
                  <a:lnTo>
                    <a:pt x="42" y="48"/>
                  </a:lnTo>
                  <a:lnTo>
                    <a:pt x="36" y="48"/>
                  </a:lnTo>
                  <a:lnTo>
                    <a:pt x="24" y="48"/>
                  </a:lnTo>
                  <a:lnTo>
                    <a:pt x="6" y="54"/>
                  </a:lnTo>
                  <a:lnTo>
                    <a:pt x="18" y="54"/>
                  </a:lnTo>
                  <a:lnTo>
                    <a:pt x="18" y="59"/>
                  </a:lnTo>
                  <a:lnTo>
                    <a:pt x="18" y="71"/>
                  </a:lnTo>
                  <a:lnTo>
                    <a:pt x="12" y="95"/>
                  </a:lnTo>
                  <a:lnTo>
                    <a:pt x="6" y="113"/>
                  </a:lnTo>
                  <a:lnTo>
                    <a:pt x="0" y="131"/>
                  </a:lnTo>
                  <a:lnTo>
                    <a:pt x="0" y="137"/>
                  </a:lnTo>
                  <a:lnTo>
                    <a:pt x="12" y="143"/>
                  </a:lnTo>
                  <a:lnTo>
                    <a:pt x="30" y="137"/>
                  </a:lnTo>
                  <a:lnTo>
                    <a:pt x="42" y="119"/>
                  </a:lnTo>
                  <a:lnTo>
                    <a:pt x="36" y="119"/>
                  </a:lnTo>
                  <a:close/>
                  <a:moveTo>
                    <a:pt x="48" y="12"/>
                  </a:moveTo>
                  <a:lnTo>
                    <a:pt x="42" y="6"/>
                  </a:lnTo>
                  <a:lnTo>
                    <a:pt x="36" y="0"/>
                  </a:lnTo>
                  <a:lnTo>
                    <a:pt x="30" y="6"/>
                  </a:lnTo>
                  <a:lnTo>
                    <a:pt x="24" y="12"/>
                  </a:lnTo>
                  <a:lnTo>
                    <a:pt x="30" y="18"/>
                  </a:lnTo>
                  <a:lnTo>
                    <a:pt x="36" y="24"/>
                  </a:lnTo>
                  <a:lnTo>
                    <a:pt x="42" y="18"/>
                  </a:lnTo>
                  <a:lnTo>
                    <a:pt x="48"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27" name="Freeform 38"/>
            <p:cNvSpPr/>
            <p:nvPr/>
          </p:nvSpPr>
          <p:spPr>
            <a:xfrm>
              <a:off x="1741" y="1423"/>
              <a:ext cx="191" cy="1"/>
            </a:xfrm>
            <a:custGeom>
              <a:avLst/>
              <a:gdLst>
                <a:gd name="txL" fmla="*/ 0 w 191"/>
                <a:gd name="txT" fmla="*/ 0 h 1"/>
                <a:gd name="txR" fmla="*/ 191 w 191"/>
                <a:gd name="txB" fmla="*/ 1 h 1"/>
              </a:gdLst>
              <a:ahLst/>
              <a:cxnLst>
                <a:cxn ang="0">
                  <a:pos x="0" y="0"/>
                </a:cxn>
                <a:cxn ang="0">
                  <a:pos x="191" y="0"/>
                </a:cxn>
                <a:cxn ang="0">
                  <a:pos x="0" y="0"/>
                </a:cxn>
                <a:cxn ang="0">
                  <a:pos x="0" y="0"/>
                </a:cxn>
              </a:cxnLst>
              <a:rect l="txL" t="txT" r="txR" b="txB"/>
              <a:pathLst>
                <a:path w="191" h="1">
                  <a:moveTo>
                    <a:pt x="0" y="0"/>
                  </a:moveTo>
                  <a:lnTo>
                    <a:pt x="191"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28" name="Freeform 39"/>
            <p:cNvSpPr/>
            <p:nvPr/>
          </p:nvSpPr>
          <p:spPr>
            <a:xfrm>
              <a:off x="1902" y="1375"/>
              <a:ext cx="156" cy="89"/>
            </a:xfrm>
            <a:custGeom>
              <a:avLst/>
              <a:gdLst>
                <a:gd name="txL" fmla="*/ 0 w 156"/>
                <a:gd name="txT" fmla="*/ 0 h 89"/>
                <a:gd name="txR" fmla="*/ 156 w 156"/>
                <a:gd name="txB" fmla="*/ 89 h 89"/>
              </a:gdLst>
              <a:ahLst/>
              <a:cxnLst>
                <a:cxn ang="0">
                  <a:pos x="0" y="89"/>
                </a:cxn>
                <a:cxn ang="0">
                  <a:pos x="156" y="48"/>
                </a:cxn>
                <a:cxn ang="0">
                  <a:pos x="0" y="0"/>
                </a:cxn>
                <a:cxn ang="0">
                  <a:pos x="0" y="89"/>
                </a:cxn>
                <a:cxn ang="0">
                  <a:pos x="0" y="89"/>
                </a:cxn>
              </a:cxnLst>
              <a:rect l="txL" t="txT" r="txR" b="txB"/>
              <a:pathLst>
                <a:path w="156" h="89">
                  <a:moveTo>
                    <a:pt x="0" y="89"/>
                  </a:moveTo>
                  <a:lnTo>
                    <a:pt x="156" y="48"/>
                  </a:lnTo>
                  <a:lnTo>
                    <a:pt x="0" y="0"/>
                  </a:lnTo>
                  <a:lnTo>
                    <a:pt x="0" y="89"/>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29" name="Freeform 40"/>
            <p:cNvSpPr/>
            <p:nvPr/>
          </p:nvSpPr>
          <p:spPr>
            <a:xfrm>
              <a:off x="3068" y="1572"/>
              <a:ext cx="30" cy="65"/>
            </a:xfrm>
            <a:custGeom>
              <a:avLst/>
              <a:gdLst>
                <a:gd name="txL" fmla="*/ 0 w 30"/>
                <a:gd name="txT" fmla="*/ 0 h 65"/>
                <a:gd name="txR" fmla="*/ 30 w 30"/>
                <a:gd name="txB" fmla="*/ 65 h 65"/>
              </a:gdLst>
              <a:ahLst/>
              <a:cxnLst>
                <a:cxn ang="0">
                  <a:pos x="30" y="0"/>
                </a:cxn>
                <a:cxn ang="0">
                  <a:pos x="0" y="65"/>
                </a:cxn>
                <a:cxn ang="0">
                  <a:pos x="30" y="0"/>
                </a:cxn>
                <a:cxn ang="0">
                  <a:pos x="30" y="0"/>
                </a:cxn>
              </a:cxnLst>
              <a:rect l="txL" t="txT" r="txR" b="txB"/>
              <a:pathLst>
                <a:path w="30" h="65">
                  <a:moveTo>
                    <a:pt x="30" y="0"/>
                  </a:moveTo>
                  <a:lnTo>
                    <a:pt x="0" y="65"/>
                  </a:ln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30" name="Freeform 41"/>
            <p:cNvSpPr>
              <a:spLocks noEditPoints="1"/>
            </p:cNvSpPr>
            <p:nvPr/>
          </p:nvSpPr>
          <p:spPr>
            <a:xfrm>
              <a:off x="3044" y="1572"/>
              <a:ext cx="24" cy="65"/>
            </a:xfrm>
            <a:custGeom>
              <a:avLst/>
              <a:gdLst>
                <a:gd name="txL" fmla="*/ 0 w 24"/>
                <a:gd name="txT" fmla="*/ 0 h 65"/>
                <a:gd name="txR" fmla="*/ 24 w 24"/>
                <a:gd name="txB" fmla="*/ 65 h 65"/>
              </a:gdLst>
              <a:ahLst/>
              <a:cxnLst>
                <a:cxn ang="0">
                  <a:pos x="24" y="65"/>
                </a:cxn>
                <a:cxn ang="0">
                  <a:pos x="0" y="0"/>
                </a:cxn>
                <a:cxn ang="0">
                  <a:pos x="24" y="65"/>
                </a:cxn>
                <a:cxn ang="0">
                  <a:pos x="24" y="65"/>
                </a:cxn>
                <a:cxn ang="0">
                  <a:pos x="24" y="65"/>
                </a:cxn>
                <a:cxn ang="0">
                  <a:pos x="24" y="65"/>
                </a:cxn>
                <a:cxn ang="0">
                  <a:pos x="24" y="65"/>
                </a:cxn>
              </a:cxnLst>
              <a:rect l="txL" t="txT" r="txR" b="txB"/>
              <a:pathLst>
                <a:path w="24" h="65">
                  <a:moveTo>
                    <a:pt x="24" y="65"/>
                  </a:moveTo>
                  <a:lnTo>
                    <a:pt x="0" y="0"/>
                  </a:lnTo>
                  <a:lnTo>
                    <a:pt x="24" y="65"/>
                  </a:lnTo>
                  <a:close/>
                  <a:moveTo>
                    <a:pt x="24" y="65"/>
                  </a:moveTo>
                  <a:lnTo>
                    <a:pt x="24" y="65"/>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31" name="Freeform 42"/>
            <p:cNvSpPr>
              <a:spLocks noEditPoints="1"/>
            </p:cNvSpPr>
            <p:nvPr/>
          </p:nvSpPr>
          <p:spPr>
            <a:xfrm>
              <a:off x="3021" y="1506"/>
              <a:ext cx="23" cy="66"/>
            </a:xfrm>
            <a:custGeom>
              <a:avLst/>
              <a:gdLst>
                <a:gd name="txL" fmla="*/ 0 w 23"/>
                <a:gd name="txT" fmla="*/ 0 h 66"/>
                <a:gd name="txR" fmla="*/ 23 w 23"/>
                <a:gd name="txB" fmla="*/ 66 h 66"/>
              </a:gdLst>
              <a:ahLst/>
              <a:cxnLst>
                <a:cxn ang="0">
                  <a:pos x="23" y="66"/>
                </a:cxn>
                <a:cxn ang="0">
                  <a:pos x="0" y="0"/>
                </a:cxn>
                <a:cxn ang="0">
                  <a:pos x="23" y="66"/>
                </a:cxn>
                <a:cxn ang="0">
                  <a:pos x="23" y="66"/>
                </a:cxn>
                <a:cxn ang="0">
                  <a:pos x="23" y="66"/>
                </a:cxn>
                <a:cxn ang="0">
                  <a:pos x="23" y="66"/>
                </a:cxn>
                <a:cxn ang="0">
                  <a:pos x="23" y="66"/>
                </a:cxn>
              </a:cxnLst>
              <a:rect l="txL" t="txT" r="txR" b="txB"/>
              <a:pathLst>
                <a:path w="23" h="66">
                  <a:moveTo>
                    <a:pt x="23" y="66"/>
                  </a:moveTo>
                  <a:lnTo>
                    <a:pt x="0" y="0"/>
                  </a:lnTo>
                  <a:lnTo>
                    <a:pt x="23" y="66"/>
                  </a:lnTo>
                  <a:close/>
                  <a:moveTo>
                    <a:pt x="23" y="66"/>
                  </a:moveTo>
                  <a:lnTo>
                    <a:pt x="23" y="6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32" name="Freeform 43"/>
            <p:cNvSpPr>
              <a:spLocks noEditPoints="1"/>
            </p:cNvSpPr>
            <p:nvPr/>
          </p:nvSpPr>
          <p:spPr>
            <a:xfrm>
              <a:off x="2991" y="1506"/>
              <a:ext cx="30" cy="66"/>
            </a:xfrm>
            <a:custGeom>
              <a:avLst/>
              <a:gdLst>
                <a:gd name="txL" fmla="*/ 0 w 30"/>
                <a:gd name="txT" fmla="*/ 0 h 66"/>
                <a:gd name="txR" fmla="*/ 30 w 30"/>
                <a:gd name="txB" fmla="*/ 66 h 66"/>
              </a:gdLst>
              <a:ahLst/>
              <a:cxnLst>
                <a:cxn ang="0">
                  <a:pos x="30" y="0"/>
                </a:cxn>
                <a:cxn ang="0">
                  <a:pos x="0" y="66"/>
                </a:cxn>
                <a:cxn ang="0">
                  <a:pos x="30" y="0"/>
                </a:cxn>
                <a:cxn ang="0">
                  <a:pos x="30" y="0"/>
                </a:cxn>
                <a:cxn ang="0">
                  <a:pos x="30" y="0"/>
                </a:cxn>
                <a:cxn ang="0">
                  <a:pos x="30" y="0"/>
                </a:cxn>
                <a:cxn ang="0">
                  <a:pos x="30" y="0"/>
                </a:cxn>
              </a:cxnLst>
              <a:rect l="txL" t="txT" r="txR" b="txB"/>
              <a:pathLst>
                <a:path w="30" h="66">
                  <a:moveTo>
                    <a:pt x="30" y="0"/>
                  </a:moveTo>
                  <a:lnTo>
                    <a:pt x="0" y="66"/>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33" name="Freeform 44"/>
            <p:cNvSpPr>
              <a:spLocks noEditPoints="1"/>
            </p:cNvSpPr>
            <p:nvPr/>
          </p:nvSpPr>
          <p:spPr>
            <a:xfrm>
              <a:off x="2991" y="1572"/>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34" name="Freeform 45"/>
            <p:cNvSpPr>
              <a:spLocks noEditPoints="1"/>
            </p:cNvSpPr>
            <p:nvPr/>
          </p:nvSpPr>
          <p:spPr>
            <a:xfrm>
              <a:off x="2967" y="1572"/>
              <a:ext cx="24" cy="65"/>
            </a:xfrm>
            <a:custGeom>
              <a:avLst/>
              <a:gdLst>
                <a:gd name="txL" fmla="*/ 0 w 24"/>
                <a:gd name="txT" fmla="*/ 0 h 65"/>
                <a:gd name="txR" fmla="*/ 24 w 24"/>
                <a:gd name="txB" fmla="*/ 65 h 65"/>
              </a:gdLst>
              <a:ahLst/>
              <a:cxnLst>
                <a:cxn ang="0">
                  <a:pos x="24" y="0"/>
                </a:cxn>
                <a:cxn ang="0">
                  <a:pos x="0" y="65"/>
                </a:cxn>
                <a:cxn ang="0">
                  <a:pos x="24" y="0"/>
                </a:cxn>
                <a:cxn ang="0">
                  <a:pos x="24" y="0"/>
                </a:cxn>
                <a:cxn ang="0">
                  <a:pos x="24" y="0"/>
                </a:cxn>
                <a:cxn ang="0">
                  <a:pos x="24" y="0"/>
                </a:cxn>
                <a:cxn ang="0">
                  <a:pos x="24" y="0"/>
                </a:cxn>
              </a:cxnLst>
              <a:rect l="txL" t="txT" r="txR" b="txB"/>
              <a:pathLst>
                <a:path w="24" h="65">
                  <a:moveTo>
                    <a:pt x="24" y="0"/>
                  </a:moveTo>
                  <a:lnTo>
                    <a:pt x="0" y="65"/>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35" name="Freeform 46"/>
            <p:cNvSpPr>
              <a:spLocks noEditPoints="1"/>
            </p:cNvSpPr>
            <p:nvPr/>
          </p:nvSpPr>
          <p:spPr>
            <a:xfrm>
              <a:off x="2937" y="1572"/>
              <a:ext cx="30" cy="65"/>
            </a:xfrm>
            <a:custGeom>
              <a:avLst/>
              <a:gdLst>
                <a:gd name="txL" fmla="*/ 0 w 30"/>
                <a:gd name="txT" fmla="*/ 0 h 65"/>
                <a:gd name="txR" fmla="*/ 30 w 30"/>
                <a:gd name="txB" fmla="*/ 65 h 65"/>
              </a:gdLst>
              <a:ahLst/>
              <a:cxnLst>
                <a:cxn ang="0">
                  <a:pos x="30" y="65"/>
                </a:cxn>
                <a:cxn ang="0">
                  <a:pos x="0" y="0"/>
                </a:cxn>
                <a:cxn ang="0">
                  <a:pos x="30" y="65"/>
                </a:cxn>
                <a:cxn ang="0">
                  <a:pos x="30" y="65"/>
                </a:cxn>
                <a:cxn ang="0">
                  <a:pos x="30" y="65"/>
                </a:cxn>
                <a:cxn ang="0">
                  <a:pos x="30" y="65"/>
                </a:cxn>
                <a:cxn ang="0">
                  <a:pos x="30" y="65"/>
                </a:cxn>
              </a:cxnLst>
              <a:rect l="txL" t="txT" r="txR" b="txB"/>
              <a:pathLst>
                <a:path w="30" h="65">
                  <a:moveTo>
                    <a:pt x="30" y="65"/>
                  </a:moveTo>
                  <a:lnTo>
                    <a:pt x="0" y="0"/>
                  </a:lnTo>
                  <a:lnTo>
                    <a:pt x="30" y="65"/>
                  </a:lnTo>
                  <a:close/>
                  <a:moveTo>
                    <a:pt x="30" y="65"/>
                  </a:moveTo>
                  <a:lnTo>
                    <a:pt x="30" y="65"/>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36" name="Freeform 47"/>
            <p:cNvSpPr>
              <a:spLocks noEditPoints="1"/>
            </p:cNvSpPr>
            <p:nvPr/>
          </p:nvSpPr>
          <p:spPr>
            <a:xfrm>
              <a:off x="2913" y="1506"/>
              <a:ext cx="24" cy="66"/>
            </a:xfrm>
            <a:custGeom>
              <a:avLst/>
              <a:gdLst>
                <a:gd name="txL" fmla="*/ 0 w 24"/>
                <a:gd name="txT" fmla="*/ 0 h 66"/>
                <a:gd name="txR" fmla="*/ 24 w 24"/>
                <a:gd name="txB" fmla="*/ 66 h 66"/>
              </a:gdLst>
              <a:ahLst/>
              <a:cxnLst>
                <a:cxn ang="0">
                  <a:pos x="24" y="66"/>
                </a:cxn>
                <a:cxn ang="0">
                  <a:pos x="0" y="0"/>
                </a:cxn>
                <a:cxn ang="0">
                  <a:pos x="24" y="66"/>
                </a:cxn>
                <a:cxn ang="0">
                  <a:pos x="24" y="66"/>
                </a:cxn>
                <a:cxn ang="0">
                  <a:pos x="24" y="66"/>
                </a:cxn>
                <a:cxn ang="0">
                  <a:pos x="24" y="66"/>
                </a:cxn>
                <a:cxn ang="0">
                  <a:pos x="24" y="66"/>
                </a:cxn>
              </a:cxnLst>
              <a:rect l="txL" t="txT" r="txR" b="txB"/>
              <a:pathLst>
                <a:path w="24" h="66">
                  <a:moveTo>
                    <a:pt x="24" y="66"/>
                  </a:moveTo>
                  <a:lnTo>
                    <a:pt x="0" y="0"/>
                  </a:lnTo>
                  <a:lnTo>
                    <a:pt x="24" y="66"/>
                  </a:lnTo>
                  <a:close/>
                  <a:moveTo>
                    <a:pt x="24" y="66"/>
                  </a:moveTo>
                  <a:lnTo>
                    <a:pt x="24" y="6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37" name="Freeform 48"/>
            <p:cNvSpPr>
              <a:spLocks noEditPoints="1"/>
            </p:cNvSpPr>
            <p:nvPr/>
          </p:nvSpPr>
          <p:spPr>
            <a:xfrm>
              <a:off x="2883" y="1506"/>
              <a:ext cx="30" cy="66"/>
            </a:xfrm>
            <a:custGeom>
              <a:avLst/>
              <a:gdLst>
                <a:gd name="txL" fmla="*/ 0 w 30"/>
                <a:gd name="txT" fmla="*/ 0 h 66"/>
                <a:gd name="txR" fmla="*/ 30 w 30"/>
                <a:gd name="txB" fmla="*/ 66 h 66"/>
              </a:gdLst>
              <a:ahLst/>
              <a:cxnLst>
                <a:cxn ang="0">
                  <a:pos x="30" y="0"/>
                </a:cxn>
                <a:cxn ang="0">
                  <a:pos x="0" y="66"/>
                </a:cxn>
                <a:cxn ang="0">
                  <a:pos x="30" y="0"/>
                </a:cxn>
                <a:cxn ang="0">
                  <a:pos x="30" y="0"/>
                </a:cxn>
                <a:cxn ang="0">
                  <a:pos x="30" y="0"/>
                </a:cxn>
                <a:cxn ang="0">
                  <a:pos x="30" y="0"/>
                </a:cxn>
                <a:cxn ang="0">
                  <a:pos x="30" y="0"/>
                </a:cxn>
              </a:cxnLst>
              <a:rect l="txL" t="txT" r="txR" b="txB"/>
              <a:pathLst>
                <a:path w="30" h="66">
                  <a:moveTo>
                    <a:pt x="30" y="0"/>
                  </a:moveTo>
                  <a:lnTo>
                    <a:pt x="0" y="66"/>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38" name="Freeform 49"/>
            <p:cNvSpPr>
              <a:spLocks noEditPoints="1"/>
            </p:cNvSpPr>
            <p:nvPr/>
          </p:nvSpPr>
          <p:spPr>
            <a:xfrm>
              <a:off x="2859" y="1572"/>
              <a:ext cx="24" cy="65"/>
            </a:xfrm>
            <a:custGeom>
              <a:avLst/>
              <a:gdLst>
                <a:gd name="txL" fmla="*/ 0 w 24"/>
                <a:gd name="txT" fmla="*/ 0 h 65"/>
                <a:gd name="txR" fmla="*/ 24 w 24"/>
                <a:gd name="txB" fmla="*/ 65 h 65"/>
              </a:gdLst>
              <a:ahLst/>
              <a:cxnLst>
                <a:cxn ang="0">
                  <a:pos x="24" y="0"/>
                </a:cxn>
                <a:cxn ang="0">
                  <a:pos x="0" y="65"/>
                </a:cxn>
                <a:cxn ang="0">
                  <a:pos x="24" y="0"/>
                </a:cxn>
                <a:cxn ang="0">
                  <a:pos x="24" y="0"/>
                </a:cxn>
                <a:cxn ang="0">
                  <a:pos x="24" y="0"/>
                </a:cxn>
                <a:cxn ang="0">
                  <a:pos x="24" y="0"/>
                </a:cxn>
                <a:cxn ang="0">
                  <a:pos x="24" y="0"/>
                </a:cxn>
              </a:cxnLst>
              <a:rect l="txL" t="txT" r="txR" b="txB"/>
              <a:pathLst>
                <a:path w="24" h="65">
                  <a:moveTo>
                    <a:pt x="24" y="0"/>
                  </a:moveTo>
                  <a:lnTo>
                    <a:pt x="0" y="65"/>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39" name="Freeform 50"/>
            <p:cNvSpPr>
              <a:spLocks noEditPoints="1"/>
            </p:cNvSpPr>
            <p:nvPr/>
          </p:nvSpPr>
          <p:spPr>
            <a:xfrm>
              <a:off x="2835" y="1572"/>
              <a:ext cx="24" cy="65"/>
            </a:xfrm>
            <a:custGeom>
              <a:avLst/>
              <a:gdLst>
                <a:gd name="txL" fmla="*/ 0 w 24"/>
                <a:gd name="txT" fmla="*/ 0 h 65"/>
                <a:gd name="txR" fmla="*/ 24 w 24"/>
                <a:gd name="txB" fmla="*/ 65 h 65"/>
              </a:gdLst>
              <a:ahLst/>
              <a:cxnLst>
                <a:cxn ang="0">
                  <a:pos x="24" y="65"/>
                </a:cxn>
                <a:cxn ang="0">
                  <a:pos x="0" y="0"/>
                </a:cxn>
                <a:cxn ang="0">
                  <a:pos x="24" y="65"/>
                </a:cxn>
                <a:cxn ang="0">
                  <a:pos x="24" y="65"/>
                </a:cxn>
                <a:cxn ang="0">
                  <a:pos x="24" y="65"/>
                </a:cxn>
                <a:cxn ang="0">
                  <a:pos x="24" y="65"/>
                </a:cxn>
                <a:cxn ang="0">
                  <a:pos x="24" y="65"/>
                </a:cxn>
              </a:cxnLst>
              <a:rect l="txL" t="txT" r="txR" b="txB"/>
              <a:pathLst>
                <a:path w="24" h="65">
                  <a:moveTo>
                    <a:pt x="24" y="65"/>
                  </a:moveTo>
                  <a:lnTo>
                    <a:pt x="0" y="0"/>
                  </a:lnTo>
                  <a:lnTo>
                    <a:pt x="24" y="65"/>
                  </a:lnTo>
                  <a:close/>
                  <a:moveTo>
                    <a:pt x="24" y="65"/>
                  </a:moveTo>
                  <a:lnTo>
                    <a:pt x="24" y="65"/>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40" name="Freeform 51"/>
            <p:cNvSpPr>
              <a:spLocks noEditPoints="1"/>
            </p:cNvSpPr>
            <p:nvPr/>
          </p:nvSpPr>
          <p:spPr>
            <a:xfrm>
              <a:off x="2805" y="1506"/>
              <a:ext cx="30" cy="66"/>
            </a:xfrm>
            <a:custGeom>
              <a:avLst/>
              <a:gdLst>
                <a:gd name="txL" fmla="*/ 0 w 30"/>
                <a:gd name="txT" fmla="*/ 0 h 66"/>
                <a:gd name="txR" fmla="*/ 30 w 30"/>
                <a:gd name="txB" fmla="*/ 66 h 66"/>
              </a:gdLst>
              <a:ahLst/>
              <a:cxnLst>
                <a:cxn ang="0">
                  <a:pos x="30" y="66"/>
                </a:cxn>
                <a:cxn ang="0">
                  <a:pos x="0" y="0"/>
                </a:cxn>
                <a:cxn ang="0">
                  <a:pos x="30" y="66"/>
                </a:cxn>
                <a:cxn ang="0">
                  <a:pos x="30" y="66"/>
                </a:cxn>
                <a:cxn ang="0">
                  <a:pos x="30" y="66"/>
                </a:cxn>
                <a:cxn ang="0">
                  <a:pos x="30" y="66"/>
                </a:cxn>
                <a:cxn ang="0">
                  <a:pos x="30" y="66"/>
                </a:cxn>
              </a:cxnLst>
              <a:rect l="txL" t="txT" r="txR" b="txB"/>
              <a:pathLst>
                <a:path w="30" h="66">
                  <a:moveTo>
                    <a:pt x="30" y="66"/>
                  </a:moveTo>
                  <a:lnTo>
                    <a:pt x="0" y="0"/>
                  </a:lnTo>
                  <a:lnTo>
                    <a:pt x="30" y="66"/>
                  </a:lnTo>
                  <a:close/>
                  <a:moveTo>
                    <a:pt x="30" y="66"/>
                  </a:moveTo>
                  <a:lnTo>
                    <a:pt x="30" y="6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41" name="Freeform 52"/>
            <p:cNvSpPr>
              <a:spLocks noEditPoints="1"/>
            </p:cNvSpPr>
            <p:nvPr/>
          </p:nvSpPr>
          <p:spPr>
            <a:xfrm>
              <a:off x="2781" y="1506"/>
              <a:ext cx="24" cy="66"/>
            </a:xfrm>
            <a:custGeom>
              <a:avLst/>
              <a:gdLst>
                <a:gd name="txL" fmla="*/ 0 w 24"/>
                <a:gd name="txT" fmla="*/ 0 h 66"/>
                <a:gd name="txR" fmla="*/ 24 w 24"/>
                <a:gd name="txB" fmla="*/ 66 h 66"/>
              </a:gdLst>
              <a:ahLst/>
              <a:cxnLst>
                <a:cxn ang="0">
                  <a:pos x="24" y="0"/>
                </a:cxn>
                <a:cxn ang="0">
                  <a:pos x="0" y="66"/>
                </a:cxn>
                <a:cxn ang="0">
                  <a:pos x="24" y="0"/>
                </a:cxn>
                <a:cxn ang="0">
                  <a:pos x="24" y="0"/>
                </a:cxn>
                <a:cxn ang="0">
                  <a:pos x="24" y="0"/>
                </a:cxn>
                <a:cxn ang="0">
                  <a:pos x="24" y="0"/>
                </a:cxn>
                <a:cxn ang="0">
                  <a:pos x="24" y="0"/>
                </a:cxn>
              </a:cxnLst>
              <a:rect l="txL" t="txT" r="txR" b="txB"/>
              <a:pathLst>
                <a:path w="24" h="66">
                  <a:moveTo>
                    <a:pt x="24" y="0"/>
                  </a:moveTo>
                  <a:lnTo>
                    <a:pt x="0" y="66"/>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42" name="Freeform 53"/>
            <p:cNvSpPr>
              <a:spLocks noEditPoints="1"/>
            </p:cNvSpPr>
            <p:nvPr/>
          </p:nvSpPr>
          <p:spPr>
            <a:xfrm>
              <a:off x="2751" y="1572"/>
              <a:ext cx="30" cy="65"/>
            </a:xfrm>
            <a:custGeom>
              <a:avLst/>
              <a:gdLst>
                <a:gd name="txL" fmla="*/ 0 w 30"/>
                <a:gd name="txT" fmla="*/ 0 h 65"/>
                <a:gd name="txR" fmla="*/ 30 w 30"/>
                <a:gd name="txB" fmla="*/ 65 h 65"/>
              </a:gdLst>
              <a:ahLst/>
              <a:cxnLst>
                <a:cxn ang="0">
                  <a:pos x="30" y="0"/>
                </a:cxn>
                <a:cxn ang="0">
                  <a:pos x="0" y="65"/>
                </a:cxn>
                <a:cxn ang="0">
                  <a:pos x="30" y="0"/>
                </a:cxn>
                <a:cxn ang="0">
                  <a:pos x="30" y="0"/>
                </a:cxn>
                <a:cxn ang="0">
                  <a:pos x="30" y="0"/>
                </a:cxn>
                <a:cxn ang="0">
                  <a:pos x="30" y="0"/>
                </a:cxn>
                <a:cxn ang="0">
                  <a:pos x="30" y="0"/>
                </a:cxn>
              </a:cxnLst>
              <a:rect l="txL" t="txT" r="txR" b="txB"/>
              <a:pathLst>
                <a:path w="30" h="65">
                  <a:moveTo>
                    <a:pt x="30" y="0"/>
                  </a:moveTo>
                  <a:lnTo>
                    <a:pt x="0" y="65"/>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43" name="Freeform 54"/>
            <p:cNvSpPr>
              <a:spLocks noEditPoints="1"/>
            </p:cNvSpPr>
            <p:nvPr/>
          </p:nvSpPr>
          <p:spPr>
            <a:xfrm>
              <a:off x="2727" y="1572"/>
              <a:ext cx="24" cy="65"/>
            </a:xfrm>
            <a:custGeom>
              <a:avLst/>
              <a:gdLst>
                <a:gd name="txL" fmla="*/ 0 w 24"/>
                <a:gd name="txT" fmla="*/ 0 h 65"/>
                <a:gd name="txR" fmla="*/ 24 w 24"/>
                <a:gd name="txB" fmla="*/ 65 h 65"/>
              </a:gdLst>
              <a:ahLst/>
              <a:cxnLst>
                <a:cxn ang="0">
                  <a:pos x="24" y="65"/>
                </a:cxn>
                <a:cxn ang="0">
                  <a:pos x="0" y="0"/>
                </a:cxn>
                <a:cxn ang="0">
                  <a:pos x="24" y="65"/>
                </a:cxn>
                <a:cxn ang="0">
                  <a:pos x="24" y="65"/>
                </a:cxn>
                <a:cxn ang="0">
                  <a:pos x="24" y="65"/>
                </a:cxn>
                <a:cxn ang="0">
                  <a:pos x="24" y="65"/>
                </a:cxn>
                <a:cxn ang="0">
                  <a:pos x="24" y="65"/>
                </a:cxn>
              </a:cxnLst>
              <a:rect l="txL" t="txT" r="txR" b="txB"/>
              <a:pathLst>
                <a:path w="24" h="65">
                  <a:moveTo>
                    <a:pt x="24" y="65"/>
                  </a:moveTo>
                  <a:lnTo>
                    <a:pt x="0" y="0"/>
                  </a:lnTo>
                  <a:lnTo>
                    <a:pt x="24" y="65"/>
                  </a:lnTo>
                  <a:close/>
                  <a:moveTo>
                    <a:pt x="24" y="65"/>
                  </a:moveTo>
                  <a:lnTo>
                    <a:pt x="24" y="65"/>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44" name="Freeform 55"/>
            <p:cNvSpPr>
              <a:spLocks noEditPoints="1"/>
            </p:cNvSpPr>
            <p:nvPr/>
          </p:nvSpPr>
          <p:spPr>
            <a:xfrm>
              <a:off x="2704" y="1506"/>
              <a:ext cx="23" cy="66"/>
            </a:xfrm>
            <a:custGeom>
              <a:avLst/>
              <a:gdLst>
                <a:gd name="txL" fmla="*/ 0 w 23"/>
                <a:gd name="txT" fmla="*/ 0 h 66"/>
                <a:gd name="txR" fmla="*/ 23 w 23"/>
                <a:gd name="txB" fmla="*/ 66 h 66"/>
              </a:gdLst>
              <a:ahLst/>
              <a:cxnLst>
                <a:cxn ang="0">
                  <a:pos x="23" y="66"/>
                </a:cxn>
                <a:cxn ang="0">
                  <a:pos x="0" y="0"/>
                </a:cxn>
                <a:cxn ang="0">
                  <a:pos x="23" y="66"/>
                </a:cxn>
                <a:cxn ang="0">
                  <a:pos x="23" y="66"/>
                </a:cxn>
                <a:cxn ang="0">
                  <a:pos x="23" y="66"/>
                </a:cxn>
                <a:cxn ang="0">
                  <a:pos x="23" y="66"/>
                </a:cxn>
                <a:cxn ang="0">
                  <a:pos x="23" y="66"/>
                </a:cxn>
              </a:cxnLst>
              <a:rect l="txL" t="txT" r="txR" b="txB"/>
              <a:pathLst>
                <a:path w="23" h="66">
                  <a:moveTo>
                    <a:pt x="23" y="66"/>
                  </a:moveTo>
                  <a:lnTo>
                    <a:pt x="0" y="0"/>
                  </a:lnTo>
                  <a:lnTo>
                    <a:pt x="23" y="66"/>
                  </a:lnTo>
                  <a:close/>
                  <a:moveTo>
                    <a:pt x="23" y="66"/>
                  </a:moveTo>
                  <a:lnTo>
                    <a:pt x="23" y="6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45" name="Freeform 56"/>
            <p:cNvSpPr>
              <a:spLocks noEditPoints="1"/>
            </p:cNvSpPr>
            <p:nvPr/>
          </p:nvSpPr>
          <p:spPr>
            <a:xfrm>
              <a:off x="2674" y="1506"/>
              <a:ext cx="30" cy="72"/>
            </a:xfrm>
            <a:custGeom>
              <a:avLst/>
              <a:gdLst>
                <a:gd name="txL" fmla="*/ 0 w 30"/>
                <a:gd name="txT" fmla="*/ 0 h 72"/>
                <a:gd name="txR" fmla="*/ 30 w 30"/>
                <a:gd name="txB" fmla="*/ 72 h 72"/>
              </a:gdLst>
              <a:ahLst/>
              <a:cxnLst>
                <a:cxn ang="0">
                  <a:pos x="30" y="0"/>
                </a:cxn>
                <a:cxn ang="0">
                  <a:pos x="0" y="72"/>
                </a:cxn>
                <a:cxn ang="0">
                  <a:pos x="30" y="0"/>
                </a:cxn>
                <a:cxn ang="0">
                  <a:pos x="30" y="0"/>
                </a:cxn>
                <a:cxn ang="0">
                  <a:pos x="30" y="0"/>
                </a:cxn>
                <a:cxn ang="0">
                  <a:pos x="30" y="0"/>
                </a:cxn>
                <a:cxn ang="0">
                  <a:pos x="30" y="0"/>
                </a:cxn>
              </a:cxnLst>
              <a:rect l="txL" t="txT" r="txR" b="txB"/>
              <a:pathLst>
                <a:path w="30" h="72">
                  <a:moveTo>
                    <a:pt x="30" y="0"/>
                  </a:moveTo>
                  <a:lnTo>
                    <a:pt x="0" y="72"/>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46" name="Freeform 57"/>
            <p:cNvSpPr/>
            <p:nvPr/>
          </p:nvSpPr>
          <p:spPr>
            <a:xfrm>
              <a:off x="2566" y="1709"/>
              <a:ext cx="102" cy="108"/>
            </a:xfrm>
            <a:custGeom>
              <a:avLst/>
              <a:gdLst>
                <a:gd name="txL" fmla="*/ 0 w 102"/>
                <a:gd name="txT" fmla="*/ 0 h 108"/>
                <a:gd name="txR" fmla="*/ 102 w 102"/>
                <a:gd name="txB" fmla="*/ 108 h 108"/>
              </a:gdLst>
              <a:ahLst/>
              <a:cxnLst>
                <a:cxn ang="0">
                  <a:pos x="42" y="48"/>
                </a:cxn>
                <a:cxn ang="0">
                  <a:pos x="0" y="48"/>
                </a:cxn>
                <a:cxn ang="0">
                  <a:pos x="0" y="60"/>
                </a:cxn>
                <a:cxn ang="0">
                  <a:pos x="42" y="60"/>
                </a:cxn>
                <a:cxn ang="0">
                  <a:pos x="42" y="108"/>
                </a:cxn>
                <a:cxn ang="0">
                  <a:pos x="54" y="108"/>
                </a:cxn>
                <a:cxn ang="0">
                  <a:pos x="54" y="60"/>
                </a:cxn>
                <a:cxn ang="0">
                  <a:pos x="102" y="60"/>
                </a:cxn>
                <a:cxn ang="0">
                  <a:pos x="102" y="48"/>
                </a:cxn>
                <a:cxn ang="0">
                  <a:pos x="54" y="48"/>
                </a:cxn>
                <a:cxn ang="0">
                  <a:pos x="54" y="0"/>
                </a:cxn>
                <a:cxn ang="0">
                  <a:pos x="42" y="0"/>
                </a:cxn>
                <a:cxn ang="0">
                  <a:pos x="42" y="48"/>
                </a:cxn>
              </a:cxnLst>
              <a:rect l="txL" t="txT" r="txR" b="txB"/>
              <a:pathLst>
                <a:path w="102" h="108">
                  <a:moveTo>
                    <a:pt x="42" y="48"/>
                  </a:moveTo>
                  <a:lnTo>
                    <a:pt x="0" y="48"/>
                  </a:lnTo>
                  <a:lnTo>
                    <a:pt x="0" y="60"/>
                  </a:lnTo>
                  <a:lnTo>
                    <a:pt x="42" y="60"/>
                  </a:lnTo>
                  <a:lnTo>
                    <a:pt x="42" y="108"/>
                  </a:lnTo>
                  <a:lnTo>
                    <a:pt x="54" y="108"/>
                  </a:lnTo>
                  <a:lnTo>
                    <a:pt x="54" y="60"/>
                  </a:lnTo>
                  <a:lnTo>
                    <a:pt x="102" y="60"/>
                  </a:lnTo>
                  <a:lnTo>
                    <a:pt x="102" y="48"/>
                  </a:lnTo>
                  <a:lnTo>
                    <a:pt x="54" y="48"/>
                  </a:lnTo>
                  <a:lnTo>
                    <a:pt x="54" y="0"/>
                  </a:lnTo>
                  <a:lnTo>
                    <a:pt x="42" y="0"/>
                  </a:lnTo>
                  <a:lnTo>
                    <a:pt x="42"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47" name="Rectangle 58"/>
            <p:cNvSpPr/>
            <p:nvPr/>
          </p:nvSpPr>
          <p:spPr>
            <a:xfrm>
              <a:off x="3104" y="1757"/>
              <a:ext cx="108" cy="12"/>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37948" name="Freeform 59"/>
            <p:cNvSpPr/>
            <p:nvPr/>
          </p:nvSpPr>
          <p:spPr>
            <a:xfrm>
              <a:off x="4067" y="1572"/>
              <a:ext cx="24" cy="65"/>
            </a:xfrm>
            <a:custGeom>
              <a:avLst/>
              <a:gdLst>
                <a:gd name="txL" fmla="*/ 0 w 24"/>
                <a:gd name="txT" fmla="*/ 0 h 65"/>
                <a:gd name="txR" fmla="*/ 24 w 24"/>
                <a:gd name="txB" fmla="*/ 65 h 65"/>
              </a:gdLst>
              <a:ahLst/>
              <a:cxnLst>
                <a:cxn ang="0">
                  <a:pos x="24" y="0"/>
                </a:cxn>
                <a:cxn ang="0">
                  <a:pos x="0" y="65"/>
                </a:cxn>
                <a:cxn ang="0">
                  <a:pos x="24" y="0"/>
                </a:cxn>
                <a:cxn ang="0">
                  <a:pos x="24" y="0"/>
                </a:cxn>
              </a:cxnLst>
              <a:rect l="txL" t="txT" r="txR" b="txB"/>
              <a:pathLst>
                <a:path w="24" h="65">
                  <a:moveTo>
                    <a:pt x="24" y="0"/>
                  </a:moveTo>
                  <a:lnTo>
                    <a:pt x="0" y="65"/>
                  </a:ln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49" name="Freeform 60"/>
            <p:cNvSpPr>
              <a:spLocks noEditPoints="1"/>
            </p:cNvSpPr>
            <p:nvPr/>
          </p:nvSpPr>
          <p:spPr>
            <a:xfrm>
              <a:off x="4037" y="1572"/>
              <a:ext cx="30" cy="65"/>
            </a:xfrm>
            <a:custGeom>
              <a:avLst/>
              <a:gdLst>
                <a:gd name="txL" fmla="*/ 0 w 30"/>
                <a:gd name="txT" fmla="*/ 0 h 65"/>
                <a:gd name="txR" fmla="*/ 30 w 30"/>
                <a:gd name="txB" fmla="*/ 65 h 65"/>
              </a:gdLst>
              <a:ahLst/>
              <a:cxnLst>
                <a:cxn ang="0">
                  <a:pos x="30" y="65"/>
                </a:cxn>
                <a:cxn ang="0">
                  <a:pos x="0" y="0"/>
                </a:cxn>
                <a:cxn ang="0">
                  <a:pos x="30" y="65"/>
                </a:cxn>
                <a:cxn ang="0">
                  <a:pos x="30" y="65"/>
                </a:cxn>
                <a:cxn ang="0">
                  <a:pos x="30" y="65"/>
                </a:cxn>
                <a:cxn ang="0">
                  <a:pos x="30" y="65"/>
                </a:cxn>
                <a:cxn ang="0">
                  <a:pos x="30" y="65"/>
                </a:cxn>
              </a:cxnLst>
              <a:rect l="txL" t="txT" r="txR" b="txB"/>
              <a:pathLst>
                <a:path w="30" h="65">
                  <a:moveTo>
                    <a:pt x="30" y="65"/>
                  </a:moveTo>
                  <a:lnTo>
                    <a:pt x="0" y="0"/>
                  </a:lnTo>
                  <a:lnTo>
                    <a:pt x="30" y="65"/>
                  </a:lnTo>
                  <a:close/>
                  <a:moveTo>
                    <a:pt x="30" y="65"/>
                  </a:moveTo>
                  <a:lnTo>
                    <a:pt x="30" y="65"/>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50" name="Freeform 61"/>
            <p:cNvSpPr>
              <a:spLocks noEditPoints="1"/>
            </p:cNvSpPr>
            <p:nvPr/>
          </p:nvSpPr>
          <p:spPr>
            <a:xfrm>
              <a:off x="4013" y="1506"/>
              <a:ext cx="24" cy="66"/>
            </a:xfrm>
            <a:custGeom>
              <a:avLst/>
              <a:gdLst>
                <a:gd name="txL" fmla="*/ 0 w 24"/>
                <a:gd name="txT" fmla="*/ 0 h 66"/>
                <a:gd name="txR" fmla="*/ 24 w 24"/>
                <a:gd name="txB" fmla="*/ 66 h 66"/>
              </a:gdLst>
              <a:ahLst/>
              <a:cxnLst>
                <a:cxn ang="0">
                  <a:pos x="24" y="66"/>
                </a:cxn>
                <a:cxn ang="0">
                  <a:pos x="0" y="0"/>
                </a:cxn>
                <a:cxn ang="0">
                  <a:pos x="24" y="66"/>
                </a:cxn>
                <a:cxn ang="0">
                  <a:pos x="24" y="66"/>
                </a:cxn>
                <a:cxn ang="0">
                  <a:pos x="24" y="66"/>
                </a:cxn>
                <a:cxn ang="0">
                  <a:pos x="24" y="66"/>
                </a:cxn>
                <a:cxn ang="0">
                  <a:pos x="24" y="66"/>
                </a:cxn>
              </a:cxnLst>
              <a:rect l="txL" t="txT" r="txR" b="txB"/>
              <a:pathLst>
                <a:path w="24" h="66">
                  <a:moveTo>
                    <a:pt x="24" y="66"/>
                  </a:moveTo>
                  <a:lnTo>
                    <a:pt x="0" y="0"/>
                  </a:lnTo>
                  <a:lnTo>
                    <a:pt x="24" y="66"/>
                  </a:lnTo>
                  <a:close/>
                  <a:moveTo>
                    <a:pt x="24" y="66"/>
                  </a:moveTo>
                  <a:lnTo>
                    <a:pt x="24" y="6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51" name="Freeform 62"/>
            <p:cNvSpPr>
              <a:spLocks noEditPoints="1"/>
            </p:cNvSpPr>
            <p:nvPr/>
          </p:nvSpPr>
          <p:spPr>
            <a:xfrm>
              <a:off x="3983" y="1506"/>
              <a:ext cx="30" cy="66"/>
            </a:xfrm>
            <a:custGeom>
              <a:avLst/>
              <a:gdLst>
                <a:gd name="txL" fmla="*/ 0 w 30"/>
                <a:gd name="txT" fmla="*/ 0 h 66"/>
                <a:gd name="txR" fmla="*/ 30 w 30"/>
                <a:gd name="txB" fmla="*/ 66 h 66"/>
              </a:gdLst>
              <a:ahLst/>
              <a:cxnLst>
                <a:cxn ang="0">
                  <a:pos x="30" y="0"/>
                </a:cxn>
                <a:cxn ang="0">
                  <a:pos x="0" y="66"/>
                </a:cxn>
                <a:cxn ang="0">
                  <a:pos x="30" y="0"/>
                </a:cxn>
                <a:cxn ang="0">
                  <a:pos x="30" y="0"/>
                </a:cxn>
                <a:cxn ang="0">
                  <a:pos x="30" y="0"/>
                </a:cxn>
                <a:cxn ang="0">
                  <a:pos x="30" y="0"/>
                </a:cxn>
                <a:cxn ang="0">
                  <a:pos x="30" y="0"/>
                </a:cxn>
              </a:cxnLst>
              <a:rect l="txL" t="txT" r="txR" b="txB"/>
              <a:pathLst>
                <a:path w="30" h="66">
                  <a:moveTo>
                    <a:pt x="30" y="0"/>
                  </a:moveTo>
                  <a:lnTo>
                    <a:pt x="0" y="66"/>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52" name="Freeform 63"/>
            <p:cNvSpPr>
              <a:spLocks noEditPoints="1"/>
            </p:cNvSpPr>
            <p:nvPr/>
          </p:nvSpPr>
          <p:spPr>
            <a:xfrm>
              <a:off x="3983" y="1572"/>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53" name="Freeform 64"/>
            <p:cNvSpPr>
              <a:spLocks noEditPoints="1"/>
            </p:cNvSpPr>
            <p:nvPr/>
          </p:nvSpPr>
          <p:spPr>
            <a:xfrm>
              <a:off x="3960" y="1572"/>
              <a:ext cx="23" cy="65"/>
            </a:xfrm>
            <a:custGeom>
              <a:avLst/>
              <a:gdLst>
                <a:gd name="txL" fmla="*/ 0 w 23"/>
                <a:gd name="txT" fmla="*/ 0 h 65"/>
                <a:gd name="txR" fmla="*/ 23 w 23"/>
                <a:gd name="txB" fmla="*/ 65 h 65"/>
              </a:gdLst>
              <a:ahLst/>
              <a:cxnLst>
                <a:cxn ang="0">
                  <a:pos x="23" y="0"/>
                </a:cxn>
                <a:cxn ang="0">
                  <a:pos x="0" y="65"/>
                </a:cxn>
                <a:cxn ang="0">
                  <a:pos x="23" y="0"/>
                </a:cxn>
                <a:cxn ang="0">
                  <a:pos x="23" y="0"/>
                </a:cxn>
                <a:cxn ang="0">
                  <a:pos x="23" y="0"/>
                </a:cxn>
                <a:cxn ang="0">
                  <a:pos x="23" y="0"/>
                </a:cxn>
                <a:cxn ang="0">
                  <a:pos x="23" y="0"/>
                </a:cxn>
              </a:cxnLst>
              <a:rect l="txL" t="txT" r="txR" b="txB"/>
              <a:pathLst>
                <a:path w="23" h="65">
                  <a:moveTo>
                    <a:pt x="23" y="0"/>
                  </a:moveTo>
                  <a:lnTo>
                    <a:pt x="0" y="65"/>
                  </a:lnTo>
                  <a:lnTo>
                    <a:pt x="23" y="0"/>
                  </a:lnTo>
                  <a:close/>
                  <a:moveTo>
                    <a:pt x="23" y="0"/>
                  </a:moveTo>
                  <a:lnTo>
                    <a:pt x="23"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54" name="Freeform 65"/>
            <p:cNvSpPr>
              <a:spLocks noEditPoints="1"/>
            </p:cNvSpPr>
            <p:nvPr/>
          </p:nvSpPr>
          <p:spPr>
            <a:xfrm>
              <a:off x="3936" y="1572"/>
              <a:ext cx="24" cy="65"/>
            </a:xfrm>
            <a:custGeom>
              <a:avLst/>
              <a:gdLst>
                <a:gd name="txL" fmla="*/ 0 w 24"/>
                <a:gd name="txT" fmla="*/ 0 h 65"/>
                <a:gd name="txR" fmla="*/ 24 w 24"/>
                <a:gd name="txB" fmla="*/ 65 h 65"/>
              </a:gdLst>
              <a:ahLst/>
              <a:cxnLst>
                <a:cxn ang="0">
                  <a:pos x="24" y="65"/>
                </a:cxn>
                <a:cxn ang="0">
                  <a:pos x="0" y="0"/>
                </a:cxn>
                <a:cxn ang="0">
                  <a:pos x="24" y="65"/>
                </a:cxn>
                <a:cxn ang="0">
                  <a:pos x="24" y="65"/>
                </a:cxn>
                <a:cxn ang="0">
                  <a:pos x="24" y="65"/>
                </a:cxn>
                <a:cxn ang="0">
                  <a:pos x="24" y="65"/>
                </a:cxn>
                <a:cxn ang="0">
                  <a:pos x="24" y="65"/>
                </a:cxn>
              </a:cxnLst>
              <a:rect l="txL" t="txT" r="txR" b="txB"/>
              <a:pathLst>
                <a:path w="24" h="65">
                  <a:moveTo>
                    <a:pt x="24" y="65"/>
                  </a:moveTo>
                  <a:lnTo>
                    <a:pt x="0" y="0"/>
                  </a:lnTo>
                  <a:lnTo>
                    <a:pt x="24" y="65"/>
                  </a:lnTo>
                  <a:close/>
                  <a:moveTo>
                    <a:pt x="24" y="65"/>
                  </a:moveTo>
                  <a:lnTo>
                    <a:pt x="24" y="65"/>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55" name="Freeform 66"/>
            <p:cNvSpPr>
              <a:spLocks noEditPoints="1"/>
            </p:cNvSpPr>
            <p:nvPr/>
          </p:nvSpPr>
          <p:spPr>
            <a:xfrm>
              <a:off x="3906" y="1506"/>
              <a:ext cx="30" cy="66"/>
            </a:xfrm>
            <a:custGeom>
              <a:avLst/>
              <a:gdLst>
                <a:gd name="txL" fmla="*/ 0 w 30"/>
                <a:gd name="txT" fmla="*/ 0 h 66"/>
                <a:gd name="txR" fmla="*/ 30 w 30"/>
                <a:gd name="txB" fmla="*/ 66 h 66"/>
              </a:gdLst>
              <a:ahLst/>
              <a:cxnLst>
                <a:cxn ang="0">
                  <a:pos x="30" y="66"/>
                </a:cxn>
                <a:cxn ang="0">
                  <a:pos x="0" y="0"/>
                </a:cxn>
                <a:cxn ang="0">
                  <a:pos x="30" y="66"/>
                </a:cxn>
                <a:cxn ang="0">
                  <a:pos x="30" y="66"/>
                </a:cxn>
                <a:cxn ang="0">
                  <a:pos x="30" y="66"/>
                </a:cxn>
                <a:cxn ang="0">
                  <a:pos x="30" y="66"/>
                </a:cxn>
                <a:cxn ang="0">
                  <a:pos x="30" y="66"/>
                </a:cxn>
              </a:cxnLst>
              <a:rect l="txL" t="txT" r="txR" b="txB"/>
              <a:pathLst>
                <a:path w="30" h="66">
                  <a:moveTo>
                    <a:pt x="30" y="66"/>
                  </a:moveTo>
                  <a:lnTo>
                    <a:pt x="0" y="0"/>
                  </a:lnTo>
                  <a:lnTo>
                    <a:pt x="30" y="66"/>
                  </a:lnTo>
                  <a:close/>
                  <a:moveTo>
                    <a:pt x="30" y="66"/>
                  </a:moveTo>
                  <a:lnTo>
                    <a:pt x="30" y="6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56" name="Freeform 67"/>
            <p:cNvSpPr>
              <a:spLocks noEditPoints="1"/>
            </p:cNvSpPr>
            <p:nvPr/>
          </p:nvSpPr>
          <p:spPr>
            <a:xfrm>
              <a:off x="3882" y="1506"/>
              <a:ext cx="24" cy="66"/>
            </a:xfrm>
            <a:custGeom>
              <a:avLst/>
              <a:gdLst>
                <a:gd name="txL" fmla="*/ 0 w 24"/>
                <a:gd name="txT" fmla="*/ 0 h 66"/>
                <a:gd name="txR" fmla="*/ 24 w 24"/>
                <a:gd name="txB" fmla="*/ 66 h 66"/>
              </a:gdLst>
              <a:ahLst/>
              <a:cxnLst>
                <a:cxn ang="0">
                  <a:pos x="24" y="0"/>
                </a:cxn>
                <a:cxn ang="0">
                  <a:pos x="0" y="66"/>
                </a:cxn>
                <a:cxn ang="0">
                  <a:pos x="24" y="0"/>
                </a:cxn>
                <a:cxn ang="0">
                  <a:pos x="24" y="0"/>
                </a:cxn>
                <a:cxn ang="0">
                  <a:pos x="24" y="0"/>
                </a:cxn>
                <a:cxn ang="0">
                  <a:pos x="24" y="0"/>
                </a:cxn>
                <a:cxn ang="0">
                  <a:pos x="24" y="0"/>
                </a:cxn>
              </a:cxnLst>
              <a:rect l="txL" t="txT" r="txR" b="txB"/>
              <a:pathLst>
                <a:path w="24" h="66">
                  <a:moveTo>
                    <a:pt x="24" y="0"/>
                  </a:moveTo>
                  <a:lnTo>
                    <a:pt x="0" y="66"/>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57" name="Freeform 68"/>
            <p:cNvSpPr>
              <a:spLocks noEditPoints="1"/>
            </p:cNvSpPr>
            <p:nvPr/>
          </p:nvSpPr>
          <p:spPr>
            <a:xfrm>
              <a:off x="3852" y="1572"/>
              <a:ext cx="30" cy="65"/>
            </a:xfrm>
            <a:custGeom>
              <a:avLst/>
              <a:gdLst>
                <a:gd name="txL" fmla="*/ 0 w 30"/>
                <a:gd name="txT" fmla="*/ 0 h 65"/>
                <a:gd name="txR" fmla="*/ 30 w 30"/>
                <a:gd name="txB" fmla="*/ 65 h 65"/>
              </a:gdLst>
              <a:ahLst/>
              <a:cxnLst>
                <a:cxn ang="0">
                  <a:pos x="30" y="0"/>
                </a:cxn>
                <a:cxn ang="0">
                  <a:pos x="0" y="65"/>
                </a:cxn>
                <a:cxn ang="0">
                  <a:pos x="30" y="0"/>
                </a:cxn>
                <a:cxn ang="0">
                  <a:pos x="30" y="0"/>
                </a:cxn>
                <a:cxn ang="0">
                  <a:pos x="30" y="0"/>
                </a:cxn>
                <a:cxn ang="0">
                  <a:pos x="30" y="0"/>
                </a:cxn>
                <a:cxn ang="0">
                  <a:pos x="30" y="0"/>
                </a:cxn>
              </a:cxnLst>
              <a:rect l="txL" t="txT" r="txR" b="txB"/>
              <a:pathLst>
                <a:path w="30" h="65">
                  <a:moveTo>
                    <a:pt x="30" y="0"/>
                  </a:moveTo>
                  <a:lnTo>
                    <a:pt x="0" y="65"/>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58" name="Freeform 69"/>
            <p:cNvSpPr>
              <a:spLocks noEditPoints="1"/>
            </p:cNvSpPr>
            <p:nvPr/>
          </p:nvSpPr>
          <p:spPr>
            <a:xfrm>
              <a:off x="3828" y="1572"/>
              <a:ext cx="24" cy="65"/>
            </a:xfrm>
            <a:custGeom>
              <a:avLst/>
              <a:gdLst>
                <a:gd name="txL" fmla="*/ 0 w 24"/>
                <a:gd name="txT" fmla="*/ 0 h 65"/>
                <a:gd name="txR" fmla="*/ 24 w 24"/>
                <a:gd name="txB" fmla="*/ 65 h 65"/>
              </a:gdLst>
              <a:ahLst/>
              <a:cxnLst>
                <a:cxn ang="0">
                  <a:pos x="24" y="65"/>
                </a:cxn>
                <a:cxn ang="0">
                  <a:pos x="0" y="0"/>
                </a:cxn>
                <a:cxn ang="0">
                  <a:pos x="24" y="65"/>
                </a:cxn>
                <a:cxn ang="0">
                  <a:pos x="24" y="65"/>
                </a:cxn>
                <a:cxn ang="0">
                  <a:pos x="24" y="65"/>
                </a:cxn>
                <a:cxn ang="0">
                  <a:pos x="24" y="65"/>
                </a:cxn>
                <a:cxn ang="0">
                  <a:pos x="24" y="65"/>
                </a:cxn>
              </a:cxnLst>
              <a:rect l="txL" t="txT" r="txR" b="txB"/>
              <a:pathLst>
                <a:path w="24" h="65">
                  <a:moveTo>
                    <a:pt x="24" y="65"/>
                  </a:moveTo>
                  <a:lnTo>
                    <a:pt x="0" y="0"/>
                  </a:lnTo>
                  <a:lnTo>
                    <a:pt x="24" y="65"/>
                  </a:lnTo>
                  <a:close/>
                  <a:moveTo>
                    <a:pt x="24" y="65"/>
                  </a:moveTo>
                  <a:lnTo>
                    <a:pt x="24" y="65"/>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59" name="Freeform 70"/>
            <p:cNvSpPr>
              <a:spLocks noEditPoints="1"/>
            </p:cNvSpPr>
            <p:nvPr/>
          </p:nvSpPr>
          <p:spPr>
            <a:xfrm>
              <a:off x="3804" y="1506"/>
              <a:ext cx="24" cy="66"/>
            </a:xfrm>
            <a:custGeom>
              <a:avLst/>
              <a:gdLst>
                <a:gd name="txL" fmla="*/ 0 w 24"/>
                <a:gd name="txT" fmla="*/ 0 h 66"/>
                <a:gd name="txR" fmla="*/ 24 w 24"/>
                <a:gd name="txB" fmla="*/ 66 h 66"/>
              </a:gdLst>
              <a:ahLst/>
              <a:cxnLst>
                <a:cxn ang="0">
                  <a:pos x="24" y="66"/>
                </a:cxn>
                <a:cxn ang="0">
                  <a:pos x="0" y="0"/>
                </a:cxn>
                <a:cxn ang="0">
                  <a:pos x="24" y="66"/>
                </a:cxn>
                <a:cxn ang="0">
                  <a:pos x="24" y="66"/>
                </a:cxn>
                <a:cxn ang="0">
                  <a:pos x="24" y="66"/>
                </a:cxn>
                <a:cxn ang="0">
                  <a:pos x="24" y="66"/>
                </a:cxn>
                <a:cxn ang="0">
                  <a:pos x="24" y="66"/>
                </a:cxn>
              </a:cxnLst>
              <a:rect l="txL" t="txT" r="txR" b="txB"/>
              <a:pathLst>
                <a:path w="24" h="66">
                  <a:moveTo>
                    <a:pt x="24" y="66"/>
                  </a:moveTo>
                  <a:lnTo>
                    <a:pt x="0" y="0"/>
                  </a:lnTo>
                  <a:lnTo>
                    <a:pt x="24" y="66"/>
                  </a:lnTo>
                  <a:close/>
                  <a:moveTo>
                    <a:pt x="24" y="66"/>
                  </a:moveTo>
                  <a:lnTo>
                    <a:pt x="24" y="6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60" name="Freeform 71"/>
            <p:cNvSpPr>
              <a:spLocks noEditPoints="1"/>
            </p:cNvSpPr>
            <p:nvPr/>
          </p:nvSpPr>
          <p:spPr>
            <a:xfrm>
              <a:off x="3774" y="1506"/>
              <a:ext cx="30" cy="66"/>
            </a:xfrm>
            <a:custGeom>
              <a:avLst/>
              <a:gdLst>
                <a:gd name="txL" fmla="*/ 0 w 30"/>
                <a:gd name="txT" fmla="*/ 0 h 66"/>
                <a:gd name="txR" fmla="*/ 30 w 30"/>
                <a:gd name="txB" fmla="*/ 66 h 66"/>
              </a:gdLst>
              <a:ahLst/>
              <a:cxnLst>
                <a:cxn ang="0">
                  <a:pos x="30" y="0"/>
                </a:cxn>
                <a:cxn ang="0">
                  <a:pos x="0" y="66"/>
                </a:cxn>
                <a:cxn ang="0">
                  <a:pos x="30" y="0"/>
                </a:cxn>
                <a:cxn ang="0">
                  <a:pos x="30" y="0"/>
                </a:cxn>
                <a:cxn ang="0">
                  <a:pos x="30" y="0"/>
                </a:cxn>
                <a:cxn ang="0">
                  <a:pos x="30" y="0"/>
                </a:cxn>
                <a:cxn ang="0">
                  <a:pos x="30" y="0"/>
                </a:cxn>
              </a:cxnLst>
              <a:rect l="txL" t="txT" r="txR" b="txB"/>
              <a:pathLst>
                <a:path w="30" h="66">
                  <a:moveTo>
                    <a:pt x="30" y="0"/>
                  </a:moveTo>
                  <a:lnTo>
                    <a:pt x="0" y="66"/>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61" name="Freeform 72"/>
            <p:cNvSpPr>
              <a:spLocks noEditPoints="1"/>
            </p:cNvSpPr>
            <p:nvPr/>
          </p:nvSpPr>
          <p:spPr>
            <a:xfrm>
              <a:off x="3750" y="1572"/>
              <a:ext cx="24" cy="65"/>
            </a:xfrm>
            <a:custGeom>
              <a:avLst/>
              <a:gdLst>
                <a:gd name="txL" fmla="*/ 0 w 24"/>
                <a:gd name="txT" fmla="*/ 0 h 65"/>
                <a:gd name="txR" fmla="*/ 24 w 24"/>
                <a:gd name="txB" fmla="*/ 65 h 65"/>
              </a:gdLst>
              <a:ahLst/>
              <a:cxnLst>
                <a:cxn ang="0">
                  <a:pos x="24" y="0"/>
                </a:cxn>
                <a:cxn ang="0">
                  <a:pos x="0" y="65"/>
                </a:cxn>
                <a:cxn ang="0">
                  <a:pos x="24" y="0"/>
                </a:cxn>
                <a:cxn ang="0">
                  <a:pos x="24" y="0"/>
                </a:cxn>
                <a:cxn ang="0">
                  <a:pos x="24" y="0"/>
                </a:cxn>
                <a:cxn ang="0">
                  <a:pos x="24" y="0"/>
                </a:cxn>
                <a:cxn ang="0">
                  <a:pos x="24" y="0"/>
                </a:cxn>
              </a:cxnLst>
              <a:rect l="txL" t="txT" r="txR" b="txB"/>
              <a:pathLst>
                <a:path w="24" h="65">
                  <a:moveTo>
                    <a:pt x="24" y="0"/>
                  </a:moveTo>
                  <a:lnTo>
                    <a:pt x="0" y="65"/>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62" name="Freeform 73"/>
            <p:cNvSpPr>
              <a:spLocks noEditPoints="1"/>
            </p:cNvSpPr>
            <p:nvPr/>
          </p:nvSpPr>
          <p:spPr>
            <a:xfrm>
              <a:off x="3720" y="1572"/>
              <a:ext cx="30" cy="65"/>
            </a:xfrm>
            <a:custGeom>
              <a:avLst/>
              <a:gdLst>
                <a:gd name="txL" fmla="*/ 0 w 30"/>
                <a:gd name="txT" fmla="*/ 0 h 65"/>
                <a:gd name="txR" fmla="*/ 30 w 30"/>
                <a:gd name="txB" fmla="*/ 65 h 65"/>
              </a:gdLst>
              <a:ahLst/>
              <a:cxnLst>
                <a:cxn ang="0">
                  <a:pos x="30" y="65"/>
                </a:cxn>
                <a:cxn ang="0">
                  <a:pos x="0" y="0"/>
                </a:cxn>
                <a:cxn ang="0">
                  <a:pos x="30" y="65"/>
                </a:cxn>
                <a:cxn ang="0">
                  <a:pos x="30" y="65"/>
                </a:cxn>
                <a:cxn ang="0">
                  <a:pos x="30" y="65"/>
                </a:cxn>
                <a:cxn ang="0">
                  <a:pos x="30" y="65"/>
                </a:cxn>
                <a:cxn ang="0">
                  <a:pos x="30" y="65"/>
                </a:cxn>
              </a:cxnLst>
              <a:rect l="txL" t="txT" r="txR" b="txB"/>
              <a:pathLst>
                <a:path w="30" h="65">
                  <a:moveTo>
                    <a:pt x="30" y="65"/>
                  </a:moveTo>
                  <a:lnTo>
                    <a:pt x="0" y="0"/>
                  </a:lnTo>
                  <a:lnTo>
                    <a:pt x="30" y="65"/>
                  </a:lnTo>
                  <a:close/>
                  <a:moveTo>
                    <a:pt x="30" y="65"/>
                  </a:moveTo>
                  <a:lnTo>
                    <a:pt x="30" y="65"/>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63" name="Freeform 74"/>
            <p:cNvSpPr>
              <a:spLocks noEditPoints="1"/>
            </p:cNvSpPr>
            <p:nvPr/>
          </p:nvSpPr>
          <p:spPr>
            <a:xfrm>
              <a:off x="3696" y="1506"/>
              <a:ext cx="24" cy="66"/>
            </a:xfrm>
            <a:custGeom>
              <a:avLst/>
              <a:gdLst>
                <a:gd name="txL" fmla="*/ 0 w 24"/>
                <a:gd name="txT" fmla="*/ 0 h 66"/>
                <a:gd name="txR" fmla="*/ 24 w 24"/>
                <a:gd name="txB" fmla="*/ 66 h 66"/>
              </a:gdLst>
              <a:ahLst/>
              <a:cxnLst>
                <a:cxn ang="0">
                  <a:pos x="24" y="66"/>
                </a:cxn>
                <a:cxn ang="0">
                  <a:pos x="0" y="0"/>
                </a:cxn>
                <a:cxn ang="0">
                  <a:pos x="24" y="66"/>
                </a:cxn>
                <a:cxn ang="0">
                  <a:pos x="24" y="66"/>
                </a:cxn>
                <a:cxn ang="0">
                  <a:pos x="24" y="66"/>
                </a:cxn>
                <a:cxn ang="0">
                  <a:pos x="24" y="66"/>
                </a:cxn>
                <a:cxn ang="0">
                  <a:pos x="24" y="66"/>
                </a:cxn>
              </a:cxnLst>
              <a:rect l="txL" t="txT" r="txR" b="txB"/>
              <a:pathLst>
                <a:path w="24" h="66">
                  <a:moveTo>
                    <a:pt x="24" y="66"/>
                  </a:moveTo>
                  <a:lnTo>
                    <a:pt x="0" y="0"/>
                  </a:lnTo>
                  <a:lnTo>
                    <a:pt x="24" y="66"/>
                  </a:lnTo>
                  <a:close/>
                  <a:moveTo>
                    <a:pt x="24" y="66"/>
                  </a:moveTo>
                  <a:lnTo>
                    <a:pt x="24" y="6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64" name="Freeform 75"/>
            <p:cNvSpPr>
              <a:spLocks noEditPoints="1"/>
            </p:cNvSpPr>
            <p:nvPr/>
          </p:nvSpPr>
          <p:spPr>
            <a:xfrm>
              <a:off x="3666" y="1506"/>
              <a:ext cx="30" cy="72"/>
            </a:xfrm>
            <a:custGeom>
              <a:avLst/>
              <a:gdLst>
                <a:gd name="txL" fmla="*/ 0 w 30"/>
                <a:gd name="txT" fmla="*/ 0 h 72"/>
                <a:gd name="txR" fmla="*/ 30 w 30"/>
                <a:gd name="txB" fmla="*/ 72 h 72"/>
              </a:gdLst>
              <a:ahLst/>
              <a:cxnLst>
                <a:cxn ang="0">
                  <a:pos x="30" y="0"/>
                </a:cxn>
                <a:cxn ang="0">
                  <a:pos x="0" y="72"/>
                </a:cxn>
                <a:cxn ang="0">
                  <a:pos x="30" y="0"/>
                </a:cxn>
                <a:cxn ang="0">
                  <a:pos x="30" y="0"/>
                </a:cxn>
                <a:cxn ang="0">
                  <a:pos x="30" y="0"/>
                </a:cxn>
                <a:cxn ang="0">
                  <a:pos x="30" y="0"/>
                </a:cxn>
                <a:cxn ang="0">
                  <a:pos x="30" y="0"/>
                </a:cxn>
              </a:cxnLst>
              <a:rect l="txL" t="txT" r="txR" b="txB"/>
              <a:pathLst>
                <a:path w="30" h="72">
                  <a:moveTo>
                    <a:pt x="30" y="0"/>
                  </a:moveTo>
                  <a:lnTo>
                    <a:pt x="0" y="72"/>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37965" name="Freeform 76"/>
            <p:cNvSpPr/>
            <p:nvPr/>
          </p:nvSpPr>
          <p:spPr>
            <a:xfrm>
              <a:off x="3559" y="1709"/>
              <a:ext cx="101" cy="114"/>
            </a:xfrm>
            <a:custGeom>
              <a:avLst/>
              <a:gdLst>
                <a:gd name="txL" fmla="*/ 0 w 101"/>
                <a:gd name="txT" fmla="*/ 0 h 114"/>
                <a:gd name="txR" fmla="*/ 101 w 101"/>
                <a:gd name="txB" fmla="*/ 114 h 114"/>
              </a:gdLst>
              <a:ahLst/>
              <a:cxnLst>
                <a:cxn ang="0">
                  <a:pos x="42" y="48"/>
                </a:cxn>
                <a:cxn ang="0">
                  <a:pos x="0" y="48"/>
                </a:cxn>
                <a:cxn ang="0">
                  <a:pos x="0" y="66"/>
                </a:cxn>
                <a:cxn ang="0">
                  <a:pos x="42" y="66"/>
                </a:cxn>
                <a:cxn ang="0">
                  <a:pos x="42" y="114"/>
                </a:cxn>
                <a:cxn ang="0">
                  <a:pos x="60" y="114"/>
                </a:cxn>
                <a:cxn ang="0">
                  <a:pos x="60" y="66"/>
                </a:cxn>
                <a:cxn ang="0">
                  <a:pos x="101" y="66"/>
                </a:cxn>
                <a:cxn ang="0">
                  <a:pos x="101" y="48"/>
                </a:cxn>
                <a:cxn ang="0">
                  <a:pos x="60" y="48"/>
                </a:cxn>
                <a:cxn ang="0">
                  <a:pos x="60" y="0"/>
                </a:cxn>
                <a:cxn ang="0">
                  <a:pos x="42" y="0"/>
                </a:cxn>
                <a:cxn ang="0">
                  <a:pos x="42" y="48"/>
                </a:cxn>
              </a:cxnLst>
              <a:rect l="txL" t="txT" r="txR" b="txB"/>
              <a:pathLst>
                <a:path w="101" h="114">
                  <a:moveTo>
                    <a:pt x="42" y="48"/>
                  </a:moveTo>
                  <a:lnTo>
                    <a:pt x="0" y="48"/>
                  </a:lnTo>
                  <a:lnTo>
                    <a:pt x="0" y="66"/>
                  </a:lnTo>
                  <a:lnTo>
                    <a:pt x="42" y="66"/>
                  </a:lnTo>
                  <a:lnTo>
                    <a:pt x="42" y="114"/>
                  </a:lnTo>
                  <a:lnTo>
                    <a:pt x="60" y="114"/>
                  </a:lnTo>
                  <a:lnTo>
                    <a:pt x="60" y="66"/>
                  </a:lnTo>
                  <a:lnTo>
                    <a:pt x="101" y="66"/>
                  </a:lnTo>
                  <a:lnTo>
                    <a:pt x="101" y="48"/>
                  </a:lnTo>
                  <a:lnTo>
                    <a:pt x="60" y="48"/>
                  </a:lnTo>
                  <a:lnTo>
                    <a:pt x="60" y="0"/>
                  </a:lnTo>
                  <a:lnTo>
                    <a:pt x="42" y="0"/>
                  </a:lnTo>
                  <a:lnTo>
                    <a:pt x="42"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66" name="Rectangle 77"/>
            <p:cNvSpPr/>
            <p:nvPr/>
          </p:nvSpPr>
          <p:spPr>
            <a:xfrm>
              <a:off x="4097" y="1757"/>
              <a:ext cx="108" cy="12"/>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37967" name="Freeform 78"/>
            <p:cNvSpPr/>
            <p:nvPr/>
          </p:nvSpPr>
          <p:spPr>
            <a:xfrm>
              <a:off x="2255" y="1524"/>
              <a:ext cx="90" cy="102"/>
            </a:xfrm>
            <a:custGeom>
              <a:avLst/>
              <a:gdLst>
                <a:gd name="txL" fmla="*/ 0 w 90"/>
                <a:gd name="txT" fmla="*/ 0 h 102"/>
                <a:gd name="txR" fmla="*/ 90 w 90"/>
                <a:gd name="txB" fmla="*/ 102 h 102"/>
              </a:gdLst>
              <a:ahLst/>
              <a:cxnLst>
                <a:cxn ang="0">
                  <a:pos x="42" y="102"/>
                </a:cxn>
                <a:cxn ang="0">
                  <a:pos x="60" y="96"/>
                </a:cxn>
                <a:cxn ang="0">
                  <a:pos x="78" y="84"/>
                </a:cxn>
                <a:cxn ang="0">
                  <a:pos x="84" y="72"/>
                </a:cxn>
                <a:cxn ang="0">
                  <a:pos x="90" y="48"/>
                </a:cxn>
                <a:cxn ang="0">
                  <a:pos x="84" y="30"/>
                </a:cxn>
                <a:cxn ang="0">
                  <a:pos x="78" y="18"/>
                </a:cxn>
                <a:cxn ang="0">
                  <a:pos x="60" y="6"/>
                </a:cxn>
                <a:cxn ang="0">
                  <a:pos x="42" y="0"/>
                </a:cxn>
                <a:cxn ang="0">
                  <a:pos x="24" y="6"/>
                </a:cxn>
                <a:cxn ang="0">
                  <a:pos x="12" y="18"/>
                </a:cxn>
                <a:cxn ang="0">
                  <a:pos x="6" y="30"/>
                </a:cxn>
                <a:cxn ang="0">
                  <a:pos x="0" y="48"/>
                </a:cxn>
                <a:cxn ang="0">
                  <a:pos x="6" y="72"/>
                </a:cxn>
                <a:cxn ang="0">
                  <a:pos x="12" y="84"/>
                </a:cxn>
                <a:cxn ang="0">
                  <a:pos x="24" y="96"/>
                </a:cxn>
                <a:cxn ang="0">
                  <a:pos x="42" y="102"/>
                </a:cxn>
                <a:cxn ang="0">
                  <a:pos x="42" y="102"/>
                </a:cxn>
              </a:cxnLst>
              <a:rect l="txL" t="txT" r="txR" b="txB"/>
              <a:pathLst>
                <a:path w="90" h="102">
                  <a:moveTo>
                    <a:pt x="42" y="102"/>
                  </a:moveTo>
                  <a:lnTo>
                    <a:pt x="60" y="96"/>
                  </a:lnTo>
                  <a:lnTo>
                    <a:pt x="78" y="84"/>
                  </a:lnTo>
                  <a:lnTo>
                    <a:pt x="84" y="72"/>
                  </a:lnTo>
                  <a:lnTo>
                    <a:pt x="90" y="48"/>
                  </a:lnTo>
                  <a:lnTo>
                    <a:pt x="84" y="30"/>
                  </a:lnTo>
                  <a:lnTo>
                    <a:pt x="78" y="18"/>
                  </a:lnTo>
                  <a:lnTo>
                    <a:pt x="60" y="6"/>
                  </a:lnTo>
                  <a:lnTo>
                    <a:pt x="42" y="0"/>
                  </a:lnTo>
                  <a:lnTo>
                    <a:pt x="24" y="6"/>
                  </a:lnTo>
                  <a:lnTo>
                    <a:pt x="12" y="18"/>
                  </a:lnTo>
                  <a:lnTo>
                    <a:pt x="6" y="30"/>
                  </a:lnTo>
                  <a:lnTo>
                    <a:pt x="0" y="48"/>
                  </a:lnTo>
                  <a:lnTo>
                    <a:pt x="6" y="72"/>
                  </a:lnTo>
                  <a:lnTo>
                    <a:pt x="12" y="84"/>
                  </a:lnTo>
                  <a:lnTo>
                    <a:pt x="24" y="96"/>
                  </a:lnTo>
                  <a:lnTo>
                    <a:pt x="42" y="102"/>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68" name="Freeform 79"/>
            <p:cNvSpPr/>
            <p:nvPr/>
          </p:nvSpPr>
          <p:spPr>
            <a:xfrm>
              <a:off x="2297" y="1572"/>
              <a:ext cx="48" cy="54"/>
            </a:xfrm>
            <a:custGeom>
              <a:avLst/>
              <a:gdLst>
                <a:gd name="txL" fmla="*/ 0 w 48"/>
                <a:gd name="txT" fmla="*/ 0 h 54"/>
                <a:gd name="txR" fmla="*/ 48 w 48"/>
                <a:gd name="txB" fmla="*/ 54 h 54"/>
              </a:gdLst>
              <a:ahLst/>
              <a:cxnLst>
                <a:cxn ang="0">
                  <a:pos x="0" y="54"/>
                </a:cxn>
                <a:cxn ang="0">
                  <a:pos x="18" y="48"/>
                </a:cxn>
                <a:cxn ang="0">
                  <a:pos x="36" y="36"/>
                </a:cxn>
                <a:cxn ang="0">
                  <a:pos x="42" y="24"/>
                </a:cxn>
                <a:cxn ang="0">
                  <a:pos x="48" y="0"/>
                </a:cxn>
                <a:cxn ang="0">
                  <a:pos x="48" y="0"/>
                </a:cxn>
                <a:cxn ang="0">
                  <a:pos x="42" y="24"/>
                </a:cxn>
                <a:cxn ang="0">
                  <a:pos x="36" y="36"/>
                </a:cxn>
                <a:cxn ang="0">
                  <a:pos x="18" y="48"/>
                </a:cxn>
                <a:cxn ang="0">
                  <a:pos x="0" y="54"/>
                </a:cxn>
                <a:cxn ang="0">
                  <a:pos x="0" y="54"/>
                </a:cxn>
              </a:cxnLst>
              <a:rect l="txL" t="txT" r="txR" b="txB"/>
              <a:pathLst>
                <a:path w="48" h="54">
                  <a:moveTo>
                    <a:pt x="0" y="54"/>
                  </a:moveTo>
                  <a:lnTo>
                    <a:pt x="18" y="48"/>
                  </a:lnTo>
                  <a:lnTo>
                    <a:pt x="36" y="36"/>
                  </a:lnTo>
                  <a:lnTo>
                    <a:pt x="42" y="24"/>
                  </a:lnTo>
                  <a:lnTo>
                    <a:pt x="48" y="0"/>
                  </a:lnTo>
                  <a:lnTo>
                    <a:pt x="42" y="24"/>
                  </a:lnTo>
                  <a:lnTo>
                    <a:pt x="36" y="36"/>
                  </a:lnTo>
                  <a:lnTo>
                    <a:pt x="18" y="48"/>
                  </a:lnTo>
                  <a:lnTo>
                    <a:pt x="0" y="5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69" name="Freeform 80"/>
            <p:cNvSpPr>
              <a:spLocks noEditPoints="1"/>
            </p:cNvSpPr>
            <p:nvPr/>
          </p:nvSpPr>
          <p:spPr>
            <a:xfrm>
              <a:off x="2297" y="1524"/>
              <a:ext cx="48" cy="48"/>
            </a:xfrm>
            <a:custGeom>
              <a:avLst/>
              <a:gdLst>
                <a:gd name="txL" fmla="*/ 0 w 48"/>
                <a:gd name="txT" fmla="*/ 0 h 48"/>
                <a:gd name="txR" fmla="*/ 48 w 48"/>
                <a:gd name="txB" fmla="*/ 48 h 48"/>
              </a:gdLst>
              <a:ahLst/>
              <a:cxnLst>
                <a:cxn ang="0">
                  <a:pos x="48" y="48"/>
                </a:cxn>
                <a:cxn ang="0">
                  <a:pos x="42" y="30"/>
                </a:cxn>
                <a:cxn ang="0">
                  <a:pos x="36" y="18"/>
                </a:cxn>
                <a:cxn ang="0">
                  <a:pos x="18" y="6"/>
                </a:cxn>
                <a:cxn ang="0">
                  <a:pos x="0" y="0"/>
                </a:cxn>
                <a:cxn ang="0">
                  <a:pos x="0" y="0"/>
                </a:cxn>
                <a:cxn ang="0">
                  <a:pos x="18" y="6"/>
                </a:cxn>
                <a:cxn ang="0">
                  <a:pos x="36" y="18"/>
                </a:cxn>
                <a:cxn ang="0">
                  <a:pos x="42" y="30"/>
                </a:cxn>
                <a:cxn ang="0">
                  <a:pos x="48" y="48"/>
                </a:cxn>
                <a:cxn ang="0">
                  <a:pos x="48" y="48"/>
                </a:cxn>
                <a:cxn ang="0">
                  <a:pos x="48" y="48"/>
                </a:cxn>
                <a:cxn ang="0">
                  <a:pos x="48" y="48"/>
                </a:cxn>
                <a:cxn ang="0">
                  <a:pos x="48" y="48"/>
                </a:cxn>
              </a:cxnLst>
              <a:rect l="txL" t="txT" r="txR" b="txB"/>
              <a:pathLst>
                <a:path w="48" h="48">
                  <a:moveTo>
                    <a:pt x="48" y="48"/>
                  </a:moveTo>
                  <a:lnTo>
                    <a:pt x="42" y="30"/>
                  </a:lnTo>
                  <a:lnTo>
                    <a:pt x="36" y="18"/>
                  </a:lnTo>
                  <a:lnTo>
                    <a:pt x="18" y="6"/>
                  </a:lnTo>
                  <a:lnTo>
                    <a:pt x="0" y="0"/>
                  </a:lnTo>
                  <a:lnTo>
                    <a:pt x="18" y="6"/>
                  </a:lnTo>
                  <a:lnTo>
                    <a:pt x="36" y="18"/>
                  </a:lnTo>
                  <a:lnTo>
                    <a:pt x="42" y="30"/>
                  </a:lnTo>
                  <a:lnTo>
                    <a:pt x="48" y="48"/>
                  </a:lnTo>
                  <a:close/>
                  <a:moveTo>
                    <a:pt x="48" y="48"/>
                  </a:moveTo>
                  <a:lnTo>
                    <a:pt x="48"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70" name="Freeform 81"/>
            <p:cNvSpPr>
              <a:spLocks noEditPoints="1"/>
            </p:cNvSpPr>
            <p:nvPr/>
          </p:nvSpPr>
          <p:spPr>
            <a:xfrm>
              <a:off x="2255" y="1524"/>
              <a:ext cx="42" cy="48"/>
            </a:xfrm>
            <a:custGeom>
              <a:avLst/>
              <a:gdLst>
                <a:gd name="txL" fmla="*/ 0 w 42"/>
                <a:gd name="txT" fmla="*/ 0 h 48"/>
                <a:gd name="txR" fmla="*/ 42 w 42"/>
                <a:gd name="txB" fmla="*/ 48 h 48"/>
              </a:gdLst>
              <a:ahLst/>
              <a:cxnLst>
                <a:cxn ang="0">
                  <a:pos x="42" y="0"/>
                </a:cxn>
                <a:cxn ang="0">
                  <a:pos x="24" y="6"/>
                </a:cxn>
                <a:cxn ang="0">
                  <a:pos x="12" y="18"/>
                </a:cxn>
                <a:cxn ang="0">
                  <a:pos x="6" y="30"/>
                </a:cxn>
                <a:cxn ang="0">
                  <a:pos x="0" y="48"/>
                </a:cxn>
                <a:cxn ang="0">
                  <a:pos x="0" y="48"/>
                </a:cxn>
                <a:cxn ang="0">
                  <a:pos x="6" y="30"/>
                </a:cxn>
                <a:cxn ang="0">
                  <a:pos x="12" y="18"/>
                </a:cxn>
                <a:cxn ang="0">
                  <a:pos x="24" y="6"/>
                </a:cxn>
                <a:cxn ang="0">
                  <a:pos x="42" y="0"/>
                </a:cxn>
                <a:cxn ang="0">
                  <a:pos x="42" y="0"/>
                </a:cxn>
                <a:cxn ang="0">
                  <a:pos x="42" y="0"/>
                </a:cxn>
                <a:cxn ang="0">
                  <a:pos x="42" y="0"/>
                </a:cxn>
                <a:cxn ang="0">
                  <a:pos x="42" y="0"/>
                </a:cxn>
              </a:cxnLst>
              <a:rect l="txL" t="txT" r="txR" b="txB"/>
              <a:pathLst>
                <a:path w="42" h="48">
                  <a:moveTo>
                    <a:pt x="42" y="0"/>
                  </a:moveTo>
                  <a:lnTo>
                    <a:pt x="24" y="6"/>
                  </a:lnTo>
                  <a:lnTo>
                    <a:pt x="12" y="18"/>
                  </a:lnTo>
                  <a:lnTo>
                    <a:pt x="6" y="30"/>
                  </a:lnTo>
                  <a:lnTo>
                    <a:pt x="0" y="48"/>
                  </a:lnTo>
                  <a:lnTo>
                    <a:pt x="6" y="30"/>
                  </a:lnTo>
                  <a:lnTo>
                    <a:pt x="12" y="18"/>
                  </a:lnTo>
                  <a:lnTo>
                    <a:pt x="24" y="6"/>
                  </a:lnTo>
                  <a:lnTo>
                    <a:pt x="42" y="0"/>
                  </a:lnTo>
                  <a:close/>
                  <a:moveTo>
                    <a:pt x="42" y="0"/>
                  </a:moveTo>
                  <a:lnTo>
                    <a:pt x="42"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71" name="Freeform 82"/>
            <p:cNvSpPr>
              <a:spLocks noEditPoints="1"/>
            </p:cNvSpPr>
            <p:nvPr/>
          </p:nvSpPr>
          <p:spPr>
            <a:xfrm>
              <a:off x="2255" y="1572"/>
              <a:ext cx="42" cy="54"/>
            </a:xfrm>
            <a:custGeom>
              <a:avLst/>
              <a:gdLst>
                <a:gd name="txL" fmla="*/ 0 w 42"/>
                <a:gd name="txT" fmla="*/ 0 h 54"/>
                <a:gd name="txR" fmla="*/ 42 w 42"/>
                <a:gd name="txB" fmla="*/ 54 h 54"/>
              </a:gdLst>
              <a:ahLst/>
              <a:cxnLst>
                <a:cxn ang="0">
                  <a:pos x="0" y="0"/>
                </a:cxn>
                <a:cxn ang="0">
                  <a:pos x="6" y="24"/>
                </a:cxn>
                <a:cxn ang="0">
                  <a:pos x="12" y="36"/>
                </a:cxn>
                <a:cxn ang="0">
                  <a:pos x="24" y="48"/>
                </a:cxn>
                <a:cxn ang="0">
                  <a:pos x="42" y="54"/>
                </a:cxn>
                <a:cxn ang="0">
                  <a:pos x="42" y="54"/>
                </a:cxn>
                <a:cxn ang="0">
                  <a:pos x="24" y="48"/>
                </a:cxn>
                <a:cxn ang="0">
                  <a:pos x="12" y="36"/>
                </a:cxn>
                <a:cxn ang="0">
                  <a:pos x="6" y="24"/>
                </a:cxn>
                <a:cxn ang="0">
                  <a:pos x="0" y="0"/>
                </a:cxn>
                <a:cxn ang="0">
                  <a:pos x="0" y="0"/>
                </a:cxn>
                <a:cxn ang="0">
                  <a:pos x="0" y="0"/>
                </a:cxn>
                <a:cxn ang="0">
                  <a:pos x="0" y="0"/>
                </a:cxn>
                <a:cxn ang="0">
                  <a:pos x="0" y="0"/>
                </a:cxn>
              </a:cxnLst>
              <a:rect l="txL" t="txT" r="txR" b="txB"/>
              <a:pathLst>
                <a:path w="42" h="54">
                  <a:moveTo>
                    <a:pt x="0" y="0"/>
                  </a:moveTo>
                  <a:lnTo>
                    <a:pt x="6" y="24"/>
                  </a:lnTo>
                  <a:lnTo>
                    <a:pt x="12" y="36"/>
                  </a:lnTo>
                  <a:lnTo>
                    <a:pt x="24" y="48"/>
                  </a:lnTo>
                  <a:lnTo>
                    <a:pt x="42" y="54"/>
                  </a:lnTo>
                  <a:lnTo>
                    <a:pt x="24" y="48"/>
                  </a:lnTo>
                  <a:lnTo>
                    <a:pt x="12" y="36"/>
                  </a:lnTo>
                  <a:lnTo>
                    <a:pt x="6" y="24"/>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72" name="Freeform 83"/>
            <p:cNvSpPr/>
            <p:nvPr/>
          </p:nvSpPr>
          <p:spPr>
            <a:xfrm>
              <a:off x="2297" y="1626"/>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73" name="Freeform 84"/>
            <p:cNvSpPr/>
            <p:nvPr/>
          </p:nvSpPr>
          <p:spPr>
            <a:xfrm>
              <a:off x="2255" y="2790"/>
              <a:ext cx="90" cy="102"/>
            </a:xfrm>
            <a:custGeom>
              <a:avLst/>
              <a:gdLst>
                <a:gd name="txL" fmla="*/ 0 w 90"/>
                <a:gd name="txT" fmla="*/ 0 h 102"/>
                <a:gd name="txR" fmla="*/ 90 w 90"/>
                <a:gd name="txB" fmla="*/ 102 h 102"/>
              </a:gdLst>
              <a:ahLst/>
              <a:cxnLst>
                <a:cxn ang="0">
                  <a:pos x="42" y="102"/>
                </a:cxn>
                <a:cxn ang="0">
                  <a:pos x="60" y="96"/>
                </a:cxn>
                <a:cxn ang="0">
                  <a:pos x="78" y="84"/>
                </a:cxn>
                <a:cxn ang="0">
                  <a:pos x="84" y="72"/>
                </a:cxn>
                <a:cxn ang="0">
                  <a:pos x="90" y="48"/>
                </a:cxn>
                <a:cxn ang="0">
                  <a:pos x="84" y="30"/>
                </a:cxn>
                <a:cxn ang="0">
                  <a:pos x="78" y="18"/>
                </a:cxn>
                <a:cxn ang="0">
                  <a:pos x="60" y="6"/>
                </a:cxn>
                <a:cxn ang="0">
                  <a:pos x="42" y="0"/>
                </a:cxn>
                <a:cxn ang="0">
                  <a:pos x="24" y="6"/>
                </a:cxn>
                <a:cxn ang="0">
                  <a:pos x="12" y="18"/>
                </a:cxn>
                <a:cxn ang="0">
                  <a:pos x="6" y="30"/>
                </a:cxn>
                <a:cxn ang="0">
                  <a:pos x="0" y="48"/>
                </a:cxn>
                <a:cxn ang="0">
                  <a:pos x="6" y="72"/>
                </a:cxn>
                <a:cxn ang="0">
                  <a:pos x="12" y="84"/>
                </a:cxn>
                <a:cxn ang="0">
                  <a:pos x="24" y="96"/>
                </a:cxn>
                <a:cxn ang="0">
                  <a:pos x="42" y="102"/>
                </a:cxn>
                <a:cxn ang="0">
                  <a:pos x="42" y="102"/>
                </a:cxn>
              </a:cxnLst>
              <a:rect l="txL" t="txT" r="txR" b="txB"/>
              <a:pathLst>
                <a:path w="90" h="102">
                  <a:moveTo>
                    <a:pt x="42" y="102"/>
                  </a:moveTo>
                  <a:lnTo>
                    <a:pt x="60" y="96"/>
                  </a:lnTo>
                  <a:lnTo>
                    <a:pt x="78" y="84"/>
                  </a:lnTo>
                  <a:lnTo>
                    <a:pt x="84" y="72"/>
                  </a:lnTo>
                  <a:lnTo>
                    <a:pt x="90" y="48"/>
                  </a:lnTo>
                  <a:lnTo>
                    <a:pt x="84" y="30"/>
                  </a:lnTo>
                  <a:lnTo>
                    <a:pt x="78" y="18"/>
                  </a:lnTo>
                  <a:lnTo>
                    <a:pt x="60" y="6"/>
                  </a:lnTo>
                  <a:lnTo>
                    <a:pt x="42" y="0"/>
                  </a:lnTo>
                  <a:lnTo>
                    <a:pt x="24" y="6"/>
                  </a:lnTo>
                  <a:lnTo>
                    <a:pt x="12" y="18"/>
                  </a:lnTo>
                  <a:lnTo>
                    <a:pt x="6" y="30"/>
                  </a:lnTo>
                  <a:lnTo>
                    <a:pt x="0" y="48"/>
                  </a:lnTo>
                  <a:lnTo>
                    <a:pt x="6" y="72"/>
                  </a:lnTo>
                  <a:lnTo>
                    <a:pt x="12" y="84"/>
                  </a:lnTo>
                  <a:lnTo>
                    <a:pt x="24" y="96"/>
                  </a:lnTo>
                  <a:lnTo>
                    <a:pt x="42" y="102"/>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74" name="Freeform 85"/>
            <p:cNvSpPr/>
            <p:nvPr/>
          </p:nvSpPr>
          <p:spPr>
            <a:xfrm>
              <a:off x="2297" y="2838"/>
              <a:ext cx="48" cy="54"/>
            </a:xfrm>
            <a:custGeom>
              <a:avLst/>
              <a:gdLst>
                <a:gd name="txL" fmla="*/ 0 w 48"/>
                <a:gd name="txT" fmla="*/ 0 h 54"/>
                <a:gd name="txR" fmla="*/ 48 w 48"/>
                <a:gd name="txB" fmla="*/ 54 h 54"/>
              </a:gdLst>
              <a:ahLst/>
              <a:cxnLst>
                <a:cxn ang="0">
                  <a:pos x="0" y="54"/>
                </a:cxn>
                <a:cxn ang="0">
                  <a:pos x="18" y="48"/>
                </a:cxn>
                <a:cxn ang="0">
                  <a:pos x="36" y="36"/>
                </a:cxn>
                <a:cxn ang="0">
                  <a:pos x="42" y="24"/>
                </a:cxn>
                <a:cxn ang="0">
                  <a:pos x="48" y="0"/>
                </a:cxn>
                <a:cxn ang="0">
                  <a:pos x="48" y="0"/>
                </a:cxn>
                <a:cxn ang="0">
                  <a:pos x="42" y="24"/>
                </a:cxn>
                <a:cxn ang="0">
                  <a:pos x="36" y="36"/>
                </a:cxn>
                <a:cxn ang="0">
                  <a:pos x="18" y="48"/>
                </a:cxn>
                <a:cxn ang="0">
                  <a:pos x="0" y="54"/>
                </a:cxn>
                <a:cxn ang="0">
                  <a:pos x="0" y="54"/>
                </a:cxn>
              </a:cxnLst>
              <a:rect l="txL" t="txT" r="txR" b="txB"/>
              <a:pathLst>
                <a:path w="48" h="54">
                  <a:moveTo>
                    <a:pt x="0" y="54"/>
                  </a:moveTo>
                  <a:lnTo>
                    <a:pt x="18" y="48"/>
                  </a:lnTo>
                  <a:lnTo>
                    <a:pt x="36" y="36"/>
                  </a:lnTo>
                  <a:lnTo>
                    <a:pt x="42" y="24"/>
                  </a:lnTo>
                  <a:lnTo>
                    <a:pt x="48" y="0"/>
                  </a:lnTo>
                  <a:lnTo>
                    <a:pt x="42" y="24"/>
                  </a:lnTo>
                  <a:lnTo>
                    <a:pt x="36" y="36"/>
                  </a:lnTo>
                  <a:lnTo>
                    <a:pt x="18" y="48"/>
                  </a:lnTo>
                  <a:lnTo>
                    <a:pt x="0" y="5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75" name="Freeform 86"/>
            <p:cNvSpPr>
              <a:spLocks noEditPoints="1"/>
            </p:cNvSpPr>
            <p:nvPr/>
          </p:nvSpPr>
          <p:spPr>
            <a:xfrm>
              <a:off x="2297" y="2790"/>
              <a:ext cx="48" cy="48"/>
            </a:xfrm>
            <a:custGeom>
              <a:avLst/>
              <a:gdLst>
                <a:gd name="txL" fmla="*/ 0 w 48"/>
                <a:gd name="txT" fmla="*/ 0 h 48"/>
                <a:gd name="txR" fmla="*/ 48 w 48"/>
                <a:gd name="txB" fmla="*/ 48 h 48"/>
              </a:gdLst>
              <a:ahLst/>
              <a:cxnLst>
                <a:cxn ang="0">
                  <a:pos x="48" y="48"/>
                </a:cxn>
                <a:cxn ang="0">
                  <a:pos x="42" y="30"/>
                </a:cxn>
                <a:cxn ang="0">
                  <a:pos x="36" y="18"/>
                </a:cxn>
                <a:cxn ang="0">
                  <a:pos x="18" y="6"/>
                </a:cxn>
                <a:cxn ang="0">
                  <a:pos x="0" y="0"/>
                </a:cxn>
                <a:cxn ang="0">
                  <a:pos x="0" y="0"/>
                </a:cxn>
                <a:cxn ang="0">
                  <a:pos x="18" y="6"/>
                </a:cxn>
                <a:cxn ang="0">
                  <a:pos x="36" y="18"/>
                </a:cxn>
                <a:cxn ang="0">
                  <a:pos x="42" y="30"/>
                </a:cxn>
                <a:cxn ang="0">
                  <a:pos x="48" y="48"/>
                </a:cxn>
                <a:cxn ang="0">
                  <a:pos x="48" y="48"/>
                </a:cxn>
                <a:cxn ang="0">
                  <a:pos x="48" y="48"/>
                </a:cxn>
                <a:cxn ang="0">
                  <a:pos x="48" y="48"/>
                </a:cxn>
                <a:cxn ang="0">
                  <a:pos x="48" y="48"/>
                </a:cxn>
              </a:cxnLst>
              <a:rect l="txL" t="txT" r="txR" b="txB"/>
              <a:pathLst>
                <a:path w="48" h="48">
                  <a:moveTo>
                    <a:pt x="48" y="48"/>
                  </a:moveTo>
                  <a:lnTo>
                    <a:pt x="42" y="30"/>
                  </a:lnTo>
                  <a:lnTo>
                    <a:pt x="36" y="18"/>
                  </a:lnTo>
                  <a:lnTo>
                    <a:pt x="18" y="6"/>
                  </a:lnTo>
                  <a:lnTo>
                    <a:pt x="0" y="0"/>
                  </a:lnTo>
                  <a:lnTo>
                    <a:pt x="18" y="6"/>
                  </a:lnTo>
                  <a:lnTo>
                    <a:pt x="36" y="18"/>
                  </a:lnTo>
                  <a:lnTo>
                    <a:pt x="42" y="30"/>
                  </a:lnTo>
                  <a:lnTo>
                    <a:pt x="48" y="48"/>
                  </a:lnTo>
                  <a:close/>
                  <a:moveTo>
                    <a:pt x="48" y="48"/>
                  </a:moveTo>
                  <a:lnTo>
                    <a:pt x="48"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76" name="Freeform 87"/>
            <p:cNvSpPr>
              <a:spLocks noEditPoints="1"/>
            </p:cNvSpPr>
            <p:nvPr/>
          </p:nvSpPr>
          <p:spPr>
            <a:xfrm>
              <a:off x="2255" y="2790"/>
              <a:ext cx="42" cy="48"/>
            </a:xfrm>
            <a:custGeom>
              <a:avLst/>
              <a:gdLst>
                <a:gd name="txL" fmla="*/ 0 w 42"/>
                <a:gd name="txT" fmla="*/ 0 h 48"/>
                <a:gd name="txR" fmla="*/ 42 w 42"/>
                <a:gd name="txB" fmla="*/ 48 h 48"/>
              </a:gdLst>
              <a:ahLst/>
              <a:cxnLst>
                <a:cxn ang="0">
                  <a:pos x="42" y="0"/>
                </a:cxn>
                <a:cxn ang="0">
                  <a:pos x="24" y="6"/>
                </a:cxn>
                <a:cxn ang="0">
                  <a:pos x="12" y="18"/>
                </a:cxn>
                <a:cxn ang="0">
                  <a:pos x="6" y="30"/>
                </a:cxn>
                <a:cxn ang="0">
                  <a:pos x="0" y="48"/>
                </a:cxn>
                <a:cxn ang="0">
                  <a:pos x="0" y="48"/>
                </a:cxn>
                <a:cxn ang="0">
                  <a:pos x="6" y="30"/>
                </a:cxn>
                <a:cxn ang="0">
                  <a:pos x="12" y="18"/>
                </a:cxn>
                <a:cxn ang="0">
                  <a:pos x="24" y="6"/>
                </a:cxn>
                <a:cxn ang="0">
                  <a:pos x="42" y="0"/>
                </a:cxn>
                <a:cxn ang="0">
                  <a:pos x="42" y="0"/>
                </a:cxn>
                <a:cxn ang="0">
                  <a:pos x="42" y="0"/>
                </a:cxn>
                <a:cxn ang="0">
                  <a:pos x="42" y="0"/>
                </a:cxn>
                <a:cxn ang="0">
                  <a:pos x="42" y="0"/>
                </a:cxn>
              </a:cxnLst>
              <a:rect l="txL" t="txT" r="txR" b="txB"/>
              <a:pathLst>
                <a:path w="42" h="48">
                  <a:moveTo>
                    <a:pt x="42" y="0"/>
                  </a:moveTo>
                  <a:lnTo>
                    <a:pt x="24" y="6"/>
                  </a:lnTo>
                  <a:lnTo>
                    <a:pt x="12" y="18"/>
                  </a:lnTo>
                  <a:lnTo>
                    <a:pt x="6" y="30"/>
                  </a:lnTo>
                  <a:lnTo>
                    <a:pt x="0" y="48"/>
                  </a:lnTo>
                  <a:lnTo>
                    <a:pt x="6" y="30"/>
                  </a:lnTo>
                  <a:lnTo>
                    <a:pt x="12" y="18"/>
                  </a:lnTo>
                  <a:lnTo>
                    <a:pt x="24" y="6"/>
                  </a:lnTo>
                  <a:lnTo>
                    <a:pt x="42" y="0"/>
                  </a:lnTo>
                  <a:close/>
                  <a:moveTo>
                    <a:pt x="42" y="0"/>
                  </a:moveTo>
                  <a:lnTo>
                    <a:pt x="42"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77" name="Freeform 88"/>
            <p:cNvSpPr>
              <a:spLocks noEditPoints="1"/>
            </p:cNvSpPr>
            <p:nvPr/>
          </p:nvSpPr>
          <p:spPr>
            <a:xfrm>
              <a:off x="2255" y="2838"/>
              <a:ext cx="42" cy="54"/>
            </a:xfrm>
            <a:custGeom>
              <a:avLst/>
              <a:gdLst>
                <a:gd name="txL" fmla="*/ 0 w 42"/>
                <a:gd name="txT" fmla="*/ 0 h 54"/>
                <a:gd name="txR" fmla="*/ 42 w 42"/>
                <a:gd name="txB" fmla="*/ 54 h 54"/>
              </a:gdLst>
              <a:ahLst/>
              <a:cxnLst>
                <a:cxn ang="0">
                  <a:pos x="0" y="0"/>
                </a:cxn>
                <a:cxn ang="0">
                  <a:pos x="6" y="24"/>
                </a:cxn>
                <a:cxn ang="0">
                  <a:pos x="12" y="36"/>
                </a:cxn>
                <a:cxn ang="0">
                  <a:pos x="24" y="48"/>
                </a:cxn>
                <a:cxn ang="0">
                  <a:pos x="42" y="54"/>
                </a:cxn>
                <a:cxn ang="0">
                  <a:pos x="42" y="54"/>
                </a:cxn>
                <a:cxn ang="0">
                  <a:pos x="24" y="48"/>
                </a:cxn>
                <a:cxn ang="0">
                  <a:pos x="12" y="36"/>
                </a:cxn>
                <a:cxn ang="0">
                  <a:pos x="6" y="24"/>
                </a:cxn>
                <a:cxn ang="0">
                  <a:pos x="0" y="0"/>
                </a:cxn>
                <a:cxn ang="0">
                  <a:pos x="0" y="0"/>
                </a:cxn>
                <a:cxn ang="0">
                  <a:pos x="0" y="0"/>
                </a:cxn>
                <a:cxn ang="0">
                  <a:pos x="0" y="0"/>
                </a:cxn>
                <a:cxn ang="0">
                  <a:pos x="0" y="0"/>
                </a:cxn>
              </a:cxnLst>
              <a:rect l="txL" t="txT" r="txR" b="txB"/>
              <a:pathLst>
                <a:path w="42" h="54">
                  <a:moveTo>
                    <a:pt x="0" y="0"/>
                  </a:moveTo>
                  <a:lnTo>
                    <a:pt x="6" y="24"/>
                  </a:lnTo>
                  <a:lnTo>
                    <a:pt x="12" y="36"/>
                  </a:lnTo>
                  <a:lnTo>
                    <a:pt x="24" y="48"/>
                  </a:lnTo>
                  <a:lnTo>
                    <a:pt x="42" y="54"/>
                  </a:lnTo>
                  <a:lnTo>
                    <a:pt x="24" y="48"/>
                  </a:lnTo>
                  <a:lnTo>
                    <a:pt x="12" y="36"/>
                  </a:lnTo>
                  <a:lnTo>
                    <a:pt x="6" y="24"/>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78" name="Freeform 89"/>
            <p:cNvSpPr/>
            <p:nvPr/>
          </p:nvSpPr>
          <p:spPr>
            <a:xfrm>
              <a:off x="2297" y="2892"/>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79" name="Freeform 90"/>
            <p:cNvSpPr>
              <a:spLocks noEditPoints="1"/>
            </p:cNvSpPr>
            <p:nvPr/>
          </p:nvSpPr>
          <p:spPr>
            <a:xfrm>
              <a:off x="2255" y="1309"/>
              <a:ext cx="90" cy="102"/>
            </a:xfrm>
            <a:custGeom>
              <a:avLst/>
              <a:gdLst>
                <a:gd name="txL" fmla="*/ 0 w 90"/>
                <a:gd name="txT" fmla="*/ 0 h 102"/>
                <a:gd name="txR" fmla="*/ 90 w 90"/>
                <a:gd name="txB" fmla="*/ 102 h 102"/>
              </a:gdLst>
              <a:ahLst/>
              <a:cxnLst>
                <a:cxn ang="0">
                  <a:pos x="90" y="78"/>
                </a:cxn>
                <a:cxn ang="0">
                  <a:pos x="78" y="84"/>
                </a:cxn>
                <a:cxn ang="0">
                  <a:pos x="72" y="90"/>
                </a:cxn>
                <a:cxn ang="0">
                  <a:pos x="72" y="90"/>
                </a:cxn>
                <a:cxn ang="0">
                  <a:pos x="78" y="72"/>
                </a:cxn>
                <a:cxn ang="0">
                  <a:pos x="84" y="42"/>
                </a:cxn>
                <a:cxn ang="0">
                  <a:pos x="90" y="18"/>
                </a:cxn>
                <a:cxn ang="0">
                  <a:pos x="90" y="12"/>
                </a:cxn>
                <a:cxn ang="0">
                  <a:pos x="90" y="6"/>
                </a:cxn>
                <a:cxn ang="0">
                  <a:pos x="90" y="0"/>
                </a:cxn>
                <a:cxn ang="0">
                  <a:pos x="78" y="6"/>
                </a:cxn>
                <a:cxn ang="0">
                  <a:pos x="78" y="6"/>
                </a:cxn>
                <a:cxn ang="0">
                  <a:pos x="72" y="12"/>
                </a:cxn>
                <a:cxn ang="0">
                  <a:pos x="72" y="12"/>
                </a:cxn>
                <a:cxn ang="0">
                  <a:pos x="66" y="6"/>
                </a:cxn>
                <a:cxn ang="0">
                  <a:pos x="54" y="0"/>
                </a:cxn>
                <a:cxn ang="0">
                  <a:pos x="36" y="6"/>
                </a:cxn>
                <a:cxn ang="0">
                  <a:pos x="18" y="24"/>
                </a:cxn>
                <a:cxn ang="0">
                  <a:pos x="6" y="48"/>
                </a:cxn>
                <a:cxn ang="0">
                  <a:pos x="0" y="78"/>
                </a:cxn>
                <a:cxn ang="0">
                  <a:pos x="0" y="90"/>
                </a:cxn>
                <a:cxn ang="0">
                  <a:pos x="6" y="102"/>
                </a:cxn>
                <a:cxn ang="0">
                  <a:pos x="18" y="102"/>
                </a:cxn>
                <a:cxn ang="0">
                  <a:pos x="36" y="96"/>
                </a:cxn>
                <a:cxn ang="0">
                  <a:pos x="48" y="84"/>
                </a:cxn>
                <a:cxn ang="0">
                  <a:pos x="60" y="66"/>
                </a:cxn>
                <a:cxn ang="0">
                  <a:pos x="60" y="66"/>
                </a:cxn>
                <a:cxn ang="0">
                  <a:pos x="54" y="84"/>
                </a:cxn>
                <a:cxn ang="0">
                  <a:pos x="54" y="90"/>
                </a:cxn>
                <a:cxn ang="0">
                  <a:pos x="54" y="96"/>
                </a:cxn>
                <a:cxn ang="0">
                  <a:pos x="66" y="102"/>
                </a:cxn>
                <a:cxn ang="0">
                  <a:pos x="78" y="96"/>
                </a:cxn>
                <a:cxn ang="0">
                  <a:pos x="90" y="78"/>
                </a:cxn>
                <a:cxn ang="0">
                  <a:pos x="90" y="78"/>
                </a:cxn>
                <a:cxn ang="0">
                  <a:pos x="18" y="78"/>
                </a:cxn>
                <a:cxn ang="0">
                  <a:pos x="24" y="54"/>
                </a:cxn>
                <a:cxn ang="0">
                  <a:pos x="30" y="36"/>
                </a:cxn>
                <a:cxn ang="0">
                  <a:pos x="42" y="12"/>
                </a:cxn>
                <a:cxn ang="0">
                  <a:pos x="60" y="6"/>
                </a:cxn>
                <a:cxn ang="0">
                  <a:pos x="66" y="12"/>
                </a:cxn>
                <a:cxn ang="0">
                  <a:pos x="72" y="24"/>
                </a:cxn>
                <a:cxn ang="0">
                  <a:pos x="66" y="42"/>
                </a:cxn>
                <a:cxn ang="0">
                  <a:pos x="60" y="66"/>
                </a:cxn>
                <a:cxn ang="0">
                  <a:pos x="42" y="84"/>
                </a:cxn>
                <a:cxn ang="0">
                  <a:pos x="30" y="90"/>
                </a:cxn>
                <a:cxn ang="0">
                  <a:pos x="24" y="90"/>
                </a:cxn>
                <a:cxn ang="0">
                  <a:pos x="18" y="78"/>
                </a:cxn>
                <a:cxn ang="0">
                  <a:pos x="18" y="78"/>
                </a:cxn>
              </a:cxnLst>
              <a:rect l="txL" t="txT" r="txR" b="txB"/>
              <a:pathLst>
                <a:path w="90" h="102">
                  <a:moveTo>
                    <a:pt x="90" y="78"/>
                  </a:moveTo>
                  <a:lnTo>
                    <a:pt x="78" y="84"/>
                  </a:lnTo>
                  <a:lnTo>
                    <a:pt x="72" y="90"/>
                  </a:lnTo>
                  <a:lnTo>
                    <a:pt x="78" y="72"/>
                  </a:lnTo>
                  <a:lnTo>
                    <a:pt x="84" y="42"/>
                  </a:lnTo>
                  <a:lnTo>
                    <a:pt x="90" y="18"/>
                  </a:lnTo>
                  <a:lnTo>
                    <a:pt x="90" y="12"/>
                  </a:lnTo>
                  <a:lnTo>
                    <a:pt x="90" y="6"/>
                  </a:lnTo>
                  <a:lnTo>
                    <a:pt x="90" y="0"/>
                  </a:lnTo>
                  <a:lnTo>
                    <a:pt x="78" y="6"/>
                  </a:lnTo>
                  <a:lnTo>
                    <a:pt x="72" y="12"/>
                  </a:lnTo>
                  <a:lnTo>
                    <a:pt x="66" y="6"/>
                  </a:lnTo>
                  <a:lnTo>
                    <a:pt x="54" y="0"/>
                  </a:lnTo>
                  <a:lnTo>
                    <a:pt x="36" y="6"/>
                  </a:lnTo>
                  <a:lnTo>
                    <a:pt x="18" y="24"/>
                  </a:lnTo>
                  <a:lnTo>
                    <a:pt x="6" y="48"/>
                  </a:lnTo>
                  <a:lnTo>
                    <a:pt x="0" y="78"/>
                  </a:lnTo>
                  <a:lnTo>
                    <a:pt x="0" y="90"/>
                  </a:lnTo>
                  <a:lnTo>
                    <a:pt x="6" y="102"/>
                  </a:lnTo>
                  <a:lnTo>
                    <a:pt x="18" y="102"/>
                  </a:lnTo>
                  <a:lnTo>
                    <a:pt x="36" y="96"/>
                  </a:lnTo>
                  <a:lnTo>
                    <a:pt x="48" y="84"/>
                  </a:lnTo>
                  <a:lnTo>
                    <a:pt x="60" y="66"/>
                  </a:lnTo>
                  <a:lnTo>
                    <a:pt x="54" y="84"/>
                  </a:lnTo>
                  <a:lnTo>
                    <a:pt x="54" y="90"/>
                  </a:lnTo>
                  <a:lnTo>
                    <a:pt x="54" y="96"/>
                  </a:lnTo>
                  <a:lnTo>
                    <a:pt x="66" y="102"/>
                  </a:lnTo>
                  <a:lnTo>
                    <a:pt x="78" y="96"/>
                  </a:lnTo>
                  <a:lnTo>
                    <a:pt x="90" y="78"/>
                  </a:lnTo>
                  <a:close/>
                  <a:moveTo>
                    <a:pt x="18" y="78"/>
                  </a:moveTo>
                  <a:lnTo>
                    <a:pt x="24" y="54"/>
                  </a:lnTo>
                  <a:lnTo>
                    <a:pt x="30" y="36"/>
                  </a:lnTo>
                  <a:lnTo>
                    <a:pt x="42" y="12"/>
                  </a:lnTo>
                  <a:lnTo>
                    <a:pt x="60" y="6"/>
                  </a:lnTo>
                  <a:lnTo>
                    <a:pt x="66" y="12"/>
                  </a:lnTo>
                  <a:lnTo>
                    <a:pt x="72" y="24"/>
                  </a:lnTo>
                  <a:lnTo>
                    <a:pt x="66" y="42"/>
                  </a:lnTo>
                  <a:lnTo>
                    <a:pt x="60" y="66"/>
                  </a:lnTo>
                  <a:lnTo>
                    <a:pt x="42" y="84"/>
                  </a:lnTo>
                  <a:lnTo>
                    <a:pt x="30" y="90"/>
                  </a:lnTo>
                  <a:lnTo>
                    <a:pt x="24" y="90"/>
                  </a:lnTo>
                  <a:lnTo>
                    <a:pt x="18" y="7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80" name="Freeform 91"/>
            <p:cNvSpPr>
              <a:spLocks noEditPoints="1"/>
            </p:cNvSpPr>
            <p:nvPr/>
          </p:nvSpPr>
          <p:spPr>
            <a:xfrm>
              <a:off x="2249" y="3005"/>
              <a:ext cx="96" cy="149"/>
            </a:xfrm>
            <a:custGeom>
              <a:avLst/>
              <a:gdLst>
                <a:gd name="txL" fmla="*/ 0 w 96"/>
                <a:gd name="txT" fmla="*/ 0 h 149"/>
                <a:gd name="txR" fmla="*/ 96 w 96"/>
                <a:gd name="txB" fmla="*/ 149 h 149"/>
              </a:gdLst>
              <a:ahLst/>
              <a:cxnLst>
                <a:cxn ang="0">
                  <a:pos x="78" y="84"/>
                </a:cxn>
                <a:cxn ang="0">
                  <a:pos x="72" y="101"/>
                </a:cxn>
                <a:cxn ang="0">
                  <a:pos x="66" y="119"/>
                </a:cxn>
                <a:cxn ang="0">
                  <a:pos x="48" y="137"/>
                </a:cxn>
                <a:cxn ang="0">
                  <a:pos x="30" y="143"/>
                </a:cxn>
                <a:cxn ang="0">
                  <a:pos x="18" y="143"/>
                </a:cxn>
                <a:cxn ang="0">
                  <a:pos x="18" y="137"/>
                </a:cxn>
                <a:cxn ang="0">
                  <a:pos x="24" y="113"/>
                </a:cxn>
                <a:cxn ang="0">
                  <a:pos x="30" y="90"/>
                </a:cxn>
                <a:cxn ang="0">
                  <a:pos x="48" y="72"/>
                </a:cxn>
                <a:cxn ang="0">
                  <a:pos x="60" y="60"/>
                </a:cxn>
                <a:cxn ang="0">
                  <a:pos x="72" y="60"/>
                </a:cxn>
                <a:cxn ang="0">
                  <a:pos x="78" y="66"/>
                </a:cxn>
                <a:cxn ang="0">
                  <a:pos x="78" y="84"/>
                </a:cxn>
                <a:cxn ang="0">
                  <a:pos x="78" y="84"/>
                </a:cxn>
                <a:cxn ang="0">
                  <a:pos x="18" y="6"/>
                </a:cxn>
                <a:cxn ang="0">
                  <a:pos x="30" y="6"/>
                </a:cxn>
                <a:cxn ang="0">
                  <a:pos x="36" y="12"/>
                </a:cxn>
                <a:cxn ang="0">
                  <a:pos x="36" y="24"/>
                </a:cxn>
                <a:cxn ang="0">
                  <a:pos x="30" y="30"/>
                </a:cxn>
                <a:cxn ang="0">
                  <a:pos x="0" y="137"/>
                </a:cxn>
                <a:cxn ang="0">
                  <a:pos x="0" y="137"/>
                </a:cxn>
                <a:cxn ang="0">
                  <a:pos x="6" y="143"/>
                </a:cxn>
                <a:cxn ang="0">
                  <a:pos x="12" y="143"/>
                </a:cxn>
                <a:cxn ang="0">
                  <a:pos x="30" y="149"/>
                </a:cxn>
                <a:cxn ang="0">
                  <a:pos x="54" y="143"/>
                </a:cxn>
                <a:cxn ang="0">
                  <a:pos x="72" y="125"/>
                </a:cxn>
                <a:cxn ang="0">
                  <a:pos x="90" y="101"/>
                </a:cxn>
                <a:cxn ang="0">
                  <a:pos x="96" y="78"/>
                </a:cxn>
                <a:cxn ang="0">
                  <a:pos x="90" y="60"/>
                </a:cxn>
                <a:cxn ang="0">
                  <a:pos x="72" y="54"/>
                </a:cxn>
                <a:cxn ang="0">
                  <a:pos x="60" y="60"/>
                </a:cxn>
                <a:cxn ang="0">
                  <a:pos x="48" y="66"/>
                </a:cxn>
                <a:cxn ang="0">
                  <a:pos x="30" y="84"/>
                </a:cxn>
                <a:cxn ang="0">
                  <a:pos x="30" y="84"/>
                </a:cxn>
                <a:cxn ang="0">
                  <a:pos x="36" y="66"/>
                </a:cxn>
                <a:cxn ang="0">
                  <a:pos x="42" y="42"/>
                </a:cxn>
                <a:cxn ang="0">
                  <a:pos x="48" y="18"/>
                </a:cxn>
                <a:cxn ang="0">
                  <a:pos x="54" y="0"/>
                </a:cxn>
                <a:cxn ang="0">
                  <a:pos x="54" y="0"/>
                </a:cxn>
                <a:cxn ang="0">
                  <a:pos x="36" y="0"/>
                </a:cxn>
                <a:cxn ang="0">
                  <a:pos x="18" y="6"/>
                </a:cxn>
                <a:cxn ang="0">
                  <a:pos x="18" y="6"/>
                </a:cxn>
              </a:cxnLst>
              <a:rect l="txL" t="txT" r="txR" b="txB"/>
              <a:pathLst>
                <a:path w="96" h="149">
                  <a:moveTo>
                    <a:pt x="78" y="84"/>
                  </a:moveTo>
                  <a:lnTo>
                    <a:pt x="72" y="101"/>
                  </a:lnTo>
                  <a:lnTo>
                    <a:pt x="66" y="119"/>
                  </a:lnTo>
                  <a:lnTo>
                    <a:pt x="48" y="137"/>
                  </a:lnTo>
                  <a:lnTo>
                    <a:pt x="30" y="143"/>
                  </a:lnTo>
                  <a:lnTo>
                    <a:pt x="18" y="143"/>
                  </a:lnTo>
                  <a:lnTo>
                    <a:pt x="18" y="137"/>
                  </a:lnTo>
                  <a:lnTo>
                    <a:pt x="24" y="113"/>
                  </a:lnTo>
                  <a:lnTo>
                    <a:pt x="30" y="90"/>
                  </a:lnTo>
                  <a:lnTo>
                    <a:pt x="48" y="72"/>
                  </a:lnTo>
                  <a:lnTo>
                    <a:pt x="60" y="60"/>
                  </a:lnTo>
                  <a:lnTo>
                    <a:pt x="72" y="60"/>
                  </a:lnTo>
                  <a:lnTo>
                    <a:pt x="78" y="66"/>
                  </a:lnTo>
                  <a:lnTo>
                    <a:pt x="78" y="84"/>
                  </a:lnTo>
                  <a:close/>
                  <a:moveTo>
                    <a:pt x="18" y="6"/>
                  </a:moveTo>
                  <a:lnTo>
                    <a:pt x="30" y="6"/>
                  </a:lnTo>
                  <a:lnTo>
                    <a:pt x="36" y="12"/>
                  </a:lnTo>
                  <a:lnTo>
                    <a:pt x="36" y="24"/>
                  </a:lnTo>
                  <a:lnTo>
                    <a:pt x="30" y="30"/>
                  </a:lnTo>
                  <a:lnTo>
                    <a:pt x="0" y="137"/>
                  </a:lnTo>
                  <a:lnTo>
                    <a:pt x="6" y="143"/>
                  </a:lnTo>
                  <a:lnTo>
                    <a:pt x="12" y="143"/>
                  </a:lnTo>
                  <a:lnTo>
                    <a:pt x="30" y="149"/>
                  </a:lnTo>
                  <a:lnTo>
                    <a:pt x="54" y="143"/>
                  </a:lnTo>
                  <a:lnTo>
                    <a:pt x="72" y="125"/>
                  </a:lnTo>
                  <a:lnTo>
                    <a:pt x="90" y="101"/>
                  </a:lnTo>
                  <a:lnTo>
                    <a:pt x="96" y="78"/>
                  </a:lnTo>
                  <a:lnTo>
                    <a:pt x="90" y="60"/>
                  </a:lnTo>
                  <a:lnTo>
                    <a:pt x="72" y="54"/>
                  </a:lnTo>
                  <a:lnTo>
                    <a:pt x="60" y="60"/>
                  </a:lnTo>
                  <a:lnTo>
                    <a:pt x="48" y="66"/>
                  </a:lnTo>
                  <a:lnTo>
                    <a:pt x="30" y="84"/>
                  </a:lnTo>
                  <a:lnTo>
                    <a:pt x="36" y="66"/>
                  </a:lnTo>
                  <a:lnTo>
                    <a:pt x="42" y="42"/>
                  </a:lnTo>
                  <a:lnTo>
                    <a:pt x="48" y="18"/>
                  </a:lnTo>
                  <a:lnTo>
                    <a:pt x="54" y="0"/>
                  </a:lnTo>
                  <a:lnTo>
                    <a:pt x="36" y="0"/>
                  </a:lnTo>
                  <a:lnTo>
                    <a:pt x="18"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7981" name="Line 92"/>
            <p:cNvSpPr/>
            <p:nvPr/>
          </p:nvSpPr>
          <p:spPr>
            <a:xfrm>
              <a:off x="3102" y="1572"/>
              <a:ext cx="564" cy="0"/>
            </a:xfrm>
            <a:prstGeom prst="line">
              <a:avLst/>
            </a:prstGeom>
            <a:ln w="9525" cap="flat" cmpd="sng">
              <a:solidFill>
                <a:schemeClr val="tx1"/>
              </a:solidFill>
              <a:prstDash val="solid"/>
              <a:headEnd type="none" w="med" len="med"/>
              <a:tailEnd type="none" w="med" len="med"/>
            </a:ln>
          </p:spPr>
        </p:sp>
        <p:sp>
          <p:nvSpPr>
            <p:cNvPr id="37982" name="Line 93"/>
            <p:cNvSpPr/>
            <p:nvPr/>
          </p:nvSpPr>
          <p:spPr>
            <a:xfrm>
              <a:off x="4092" y="1578"/>
              <a:ext cx="336" cy="0"/>
            </a:xfrm>
            <a:prstGeom prst="line">
              <a:avLst/>
            </a:prstGeom>
            <a:ln w="9525" cap="flat" cmpd="sng">
              <a:solidFill>
                <a:schemeClr val="tx1"/>
              </a:solidFill>
              <a:prstDash val="solid"/>
              <a:headEnd type="none" w="med" len="med"/>
              <a:tailEnd type="none" w="med" len="med"/>
            </a:ln>
          </p:spPr>
        </p:sp>
      </p:grpSp>
      <p:sp>
        <p:nvSpPr>
          <p:cNvPr id="37898" name="Text Box 95"/>
          <p:cNvSpPr txBox="1"/>
          <p:nvPr/>
        </p:nvSpPr>
        <p:spPr>
          <a:xfrm>
            <a:off x="688975" y="1463675"/>
            <a:ext cx="7631113" cy="8318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ClrTx/>
              <a:buSzTx/>
            </a:pPr>
            <a:r>
              <a:rPr lang="zh-CN" altLang="en-US" sz="2400" b="1" dirty="0">
                <a:solidFill>
                  <a:srgbClr val="FF0000"/>
                </a:solidFill>
                <a:latin typeface="Times New Roman" panose="02020603050405020304" pitchFamily="18" charset="0"/>
                <a:cs typeface="Arial" panose="020B0604020202020204" pitchFamily="34" charset="0"/>
              </a:rPr>
              <a:t> 等效电阻</a:t>
            </a:r>
            <a:r>
              <a:rPr lang="zh-CN" altLang="en-US" sz="2400" b="1" dirty="0">
                <a:latin typeface="Times New Roman" panose="02020603050405020304" pitchFamily="18" charset="0"/>
                <a:cs typeface="Arial" panose="020B0604020202020204" pitchFamily="34" charset="0"/>
              </a:rPr>
              <a:t>是指网络指定</a:t>
            </a:r>
            <a:r>
              <a:rPr lang="zh-CN" altLang="en-US" sz="2400" b="1" dirty="0">
                <a:solidFill>
                  <a:srgbClr val="0000FF"/>
                </a:solidFill>
                <a:latin typeface="Times New Roman" panose="02020603050405020304" pitchFamily="18" charset="0"/>
                <a:cs typeface="Arial" panose="020B0604020202020204" pitchFamily="34" charset="0"/>
              </a:rPr>
              <a:t>端口</a:t>
            </a:r>
            <a:r>
              <a:rPr lang="zh-CN" altLang="en-US" sz="2400" b="1" dirty="0">
                <a:latin typeface="Times New Roman" panose="02020603050405020304" pitchFamily="18" charset="0"/>
                <a:cs typeface="Arial" panose="020B0604020202020204" pitchFamily="34" charset="0"/>
              </a:rPr>
              <a:t>之间的电阻必须在端口上表现出与原网络</a:t>
            </a:r>
            <a:r>
              <a:rPr lang="zh-CN" altLang="en-US" sz="2400" b="1" dirty="0">
                <a:solidFill>
                  <a:srgbClr val="0000FF"/>
                </a:solidFill>
                <a:latin typeface="Times New Roman" panose="02020603050405020304" pitchFamily="18" charset="0"/>
                <a:cs typeface="Arial" panose="020B0604020202020204" pitchFamily="34" charset="0"/>
              </a:rPr>
              <a:t>相同的 </a:t>
            </a:r>
            <a:r>
              <a:rPr lang="en-US" altLang="zh-CN" sz="2400" b="1" i="1" dirty="0">
                <a:solidFill>
                  <a:srgbClr val="0000FF"/>
                </a:solidFill>
                <a:latin typeface="Times New Roman" panose="02020603050405020304" pitchFamily="18" charset="0"/>
                <a:cs typeface="Arial" panose="020B0604020202020204" pitchFamily="34" charset="0"/>
              </a:rPr>
              <a:t>i-v</a:t>
            </a:r>
            <a:r>
              <a:rPr lang="zh-CN" altLang="en-US" sz="2400" b="1" dirty="0">
                <a:solidFill>
                  <a:srgbClr val="0000FF"/>
                </a:solidFill>
                <a:latin typeface="Times New Roman" panose="02020603050405020304" pitchFamily="18" charset="0"/>
                <a:cs typeface="Arial" panose="020B0604020202020204" pitchFamily="34" charset="0"/>
              </a:rPr>
              <a:t>特性</a:t>
            </a:r>
            <a:r>
              <a:rPr lang="zh-CN" altLang="en-US" sz="2400" b="1" dirty="0">
                <a:latin typeface="Times New Roman" panose="02020603050405020304" pitchFamily="18" charset="0"/>
                <a:cs typeface="Arial" panose="020B0604020202020204" pitchFamily="34" charset="0"/>
              </a:rPr>
              <a:t>。</a:t>
            </a:r>
            <a:endParaRPr lang="en-US" altLang="zh-CN" sz="2400" b="1" dirty="0">
              <a:latin typeface="Times New Roman" panose="02020603050405020304" pitchFamily="18" charset="0"/>
              <a:ea typeface="Arial" panose="020B0604020202020204" pitchFamily="34" charset="0"/>
            </a:endParaRPr>
          </a:p>
        </p:txBody>
      </p:sp>
      <p:graphicFrame>
        <p:nvGraphicFramePr>
          <p:cNvPr id="37899" name="Object 100"/>
          <p:cNvGraphicFramePr>
            <a:graphicFrameLocks noGrp="1" noChangeAspect="1"/>
          </p:cNvGraphicFramePr>
          <p:nvPr>
            <p:ph sz="quarter" idx="3"/>
          </p:nvPr>
        </p:nvGraphicFramePr>
        <p:xfrm>
          <a:off x="7808913" y="3767138"/>
          <a:ext cx="865187" cy="373062"/>
        </p:xfrm>
        <a:graphic>
          <a:graphicData uri="http://schemas.openxmlformats.org/presentationml/2006/ole">
            <mc:AlternateContent xmlns:mc="http://schemas.openxmlformats.org/markup-compatibility/2006">
              <mc:Choice xmlns:v="urn:schemas-microsoft-com:vml" Requires="v">
                <p:oleObj spid="_x0000_s3095" name="" r:id="rId6" imgW="558800" imgH="241300" progId="Equation.3">
                  <p:embed/>
                </p:oleObj>
              </mc:Choice>
              <mc:Fallback>
                <p:oleObj name="" r:id="rId6" imgW="558800" imgH="241300" progId="Equation.3">
                  <p:embed/>
                  <p:pic>
                    <p:nvPicPr>
                      <p:cNvPr id="0" name="图片 3094"/>
                      <p:cNvPicPr/>
                      <p:nvPr/>
                    </p:nvPicPr>
                    <p:blipFill>
                      <a:blip r:embed="rId7"/>
                      <a:srcRect/>
                      <a:stretch>
                        <a:fillRect/>
                      </a:stretch>
                    </p:blipFill>
                    <p:spPr>
                      <a:xfrm>
                        <a:off x="7808913" y="3767138"/>
                        <a:ext cx="865187" cy="373062"/>
                      </a:xfrm>
                      <a:prstGeom prst="rect">
                        <a:avLst/>
                      </a:prstGeom>
                      <a:noFill/>
                      <a:ln w="38100">
                        <a:miter/>
                      </a:ln>
                    </p:spPr>
                  </p:pic>
                </p:oleObj>
              </mc:Fallback>
            </mc:AlternateContent>
          </a:graphicData>
        </a:graphic>
      </p:graphicFrame>
      <p:sp>
        <p:nvSpPr>
          <p:cNvPr id="37900"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37901" name="TextBox 1"/>
          <p:cNvSpPr txBox="1"/>
          <p:nvPr/>
        </p:nvSpPr>
        <p:spPr>
          <a:xfrm>
            <a:off x="1635125" y="5270500"/>
            <a:ext cx="1716088"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i="1" dirty="0">
                <a:latin typeface="Times New Roman" panose="02020603050405020304" pitchFamily="18" charset="0"/>
                <a:cs typeface="Times New Roman" panose="02020603050405020304" pitchFamily="18" charset="0"/>
              </a:rPr>
              <a:t>v </a:t>
            </a:r>
            <a:r>
              <a:rPr lang="en-US" altLang="zh-CN"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i</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R</a:t>
            </a:r>
            <a:r>
              <a:rPr lang="en-US" altLang="zh-CN" sz="2000" baseline="-25000" dirty="0">
                <a:latin typeface="Times New Roman" panose="02020603050405020304" pitchFamily="18" charset="0"/>
                <a:cs typeface="Times New Roman" panose="02020603050405020304" pitchFamily="18" charset="0"/>
              </a:rPr>
              <a:t>1</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R</a:t>
            </a:r>
            <a:r>
              <a:rPr lang="en-US" altLang="zh-CN" sz="2000" baseline="-25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ea typeface="Times New Roman" panose="02020603050405020304" pitchFamily="18" charset="0"/>
            </a:endParaRPr>
          </a:p>
        </p:txBody>
      </p:sp>
      <p:sp>
        <p:nvSpPr>
          <p:cNvPr id="37902" name="TextBox 92"/>
          <p:cNvSpPr txBox="1"/>
          <p:nvPr/>
        </p:nvSpPr>
        <p:spPr>
          <a:xfrm>
            <a:off x="6400800" y="5334000"/>
            <a:ext cx="958850"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i="1" dirty="0">
                <a:latin typeface="Times New Roman" panose="02020603050405020304" pitchFamily="18" charset="0"/>
                <a:cs typeface="Times New Roman" panose="02020603050405020304" pitchFamily="18" charset="0"/>
              </a:rPr>
              <a:t>v </a:t>
            </a:r>
            <a:r>
              <a:rPr lang="en-US" altLang="zh-CN"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iR</a:t>
            </a:r>
            <a:r>
              <a:rPr lang="en-US" altLang="zh-CN" sz="2000" baseline="-25000" dirty="0">
                <a:latin typeface="Times New Roman" panose="02020603050405020304" pitchFamily="18" charset="0"/>
                <a:cs typeface="Times New Roman" panose="02020603050405020304" pitchFamily="18" charset="0"/>
              </a:rPr>
              <a:t>eq</a:t>
            </a:r>
            <a:endParaRPr lang="en-US" altLang="zh-CN" sz="2000" baseline="-25000" dirty="0">
              <a:latin typeface="Times New Roman" panose="02020603050405020304" pitchFamily="18" charset="0"/>
              <a:ea typeface="Times New Roman" panose="02020603050405020304" pitchFamily="18" charset="0"/>
            </a:endParaRPr>
          </a:p>
        </p:txBody>
      </p:sp>
      <p:sp>
        <p:nvSpPr>
          <p:cNvPr id="37903" name="文本框 1"/>
          <p:cNvSpPr txBox="1"/>
          <p:nvPr/>
        </p:nvSpPr>
        <p:spPr>
          <a:xfrm>
            <a:off x="2243138" y="6192838"/>
            <a:ext cx="2039937"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2400" b="1" dirty="0"/>
              <a:t>串联等效电阻</a:t>
            </a:r>
            <a:endParaRPr lang="zh-CN" altLang="en-US" sz="2400" b="1"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Text Box 6"/>
          <p:cNvSpPr txBox="1"/>
          <p:nvPr/>
        </p:nvSpPr>
        <p:spPr>
          <a:xfrm>
            <a:off x="611188" y="1557338"/>
            <a:ext cx="6913562" cy="461962"/>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cs typeface="Arial" panose="020B0604020202020204" pitchFamily="34" charset="0"/>
              </a:rPr>
              <a:t>任何数量的串联电阻的</a:t>
            </a:r>
            <a:r>
              <a:rPr lang="zh-CN" altLang="en-US" sz="2400" b="1" dirty="0">
                <a:solidFill>
                  <a:srgbClr val="FF0000"/>
                </a:solidFill>
                <a:cs typeface="Arial" panose="020B0604020202020204" pitchFamily="34" charset="0"/>
              </a:rPr>
              <a:t>等效电阻</a:t>
            </a:r>
            <a:r>
              <a:rPr lang="zh-CN" altLang="en-US" sz="2400" b="1" dirty="0">
                <a:cs typeface="Arial" panose="020B0604020202020204" pitchFamily="34" charset="0"/>
              </a:rPr>
              <a:t>是单个电阻的和。</a:t>
            </a:r>
            <a:endParaRPr lang="en-US" altLang="zh-CN" sz="2400" b="1" dirty="0">
              <a:ea typeface="Arial" panose="020B0604020202020204" pitchFamily="34" charset="0"/>
            </a:endParaRPr>
          </a:p>
        </p:txBody>
      </p:sp>
      <p:graphicFrame>
        <p:nvGraphicFramePr>
          <p:cNvPr id="38915" name="Object 7"/>
          <p:cNvGraphicFramePr>
            <a:graphicFrameLocks noGrp="1" noChangeAspect="1"/>
          </p:cNvGraphicFramePr>
          <p:nvPr>
            <p:ph/>
          </p:nvPr>
        </p:nvGraphicFramePr>
        <p:xfrm>
          <a:off x="2195513" y="2557463"/>
          <a:ext cx="4105275" cy="942975"/>
        </p:xfrm>
        <a:graphic>
          <a:graphicData uri="http://schemas.openxmlformats.org/presentationml/2006/ole">
            <mc:AlternateContent xmlns:mc="http://schemas.openxmlformats.org/markup-compatibility/2006">
              <mc:Choice xmlns:v="urn:schemas-microsoft-com:vml" Requires="v">
                <p:oleObj spid="_x0000_s3097" name="" r:id="rId1" imgW="1879600" imgH="431800" progId="Equation.3">
                  <p:embed/>
                </p:oleObj>
              </mc:Choice>
              <mc:Fallback>
                <p:oleObj name="" r:id="rId1" imgW="1879600" imgH="431800" progId="Equation.3">
                  <p:embed/>
                  <p:pic>
                    <p:nvPicPr>
                      <p:cNvPr id="0" name="图片 3096"/>
                      <p:cNvPicPr/>
                      <p:nvPr/>
                    </p:nvPicPr>
                    <p:blipFill>
                      <a:blip r:embed="rId2"/>
                      <a:srcRect/>
                      <a:stretch>
                        <a:fillRect/>
                      </a:stretch>
                    </p:blipFill>
                    <p:spPr>
                      <a:xfrm>
                        <a:off x="2195513" y="2557463"/>
                        <a:ext cx="4105275" cy="942975"/>
                      </a:xfrm>
                      <a:prstGeom prst="rect">
                        <a:avLst/>
                      </a:prstGeom>
                      <a:noFill/>
                      <a:ln w="38100">
                        <a:miter/>
                      </a:ln>
                    </p:spPr>
                  </p:pic>
                </p:oleObj>
              </mc:Fallback>
            </mc:AlternateContent>
          </a:graphicData>
        </a:graphic>
      </p:graphicFrame>
      <p:sp>
        <p:nvSpPr>
          <p:cNvPr id="38916" name="Text Box 9"/>
          <p:cNvSpPr txBox="1"/>
          <p:nvPr/>
        </p:nvSpPr>
        <p:spPr>
          <a:xfrm>
            <a:off x="1908175" y="2630488"/>
            <a:ext cx="4535488" cy="798512"/>
          </a:xfrm>
          <a:prstGeom prst="rect">
            <a:avLst/>
          </a:prstGeom>
          <a:noFill/>
          <a:ln w="19050" cap="flat" cmpd="sng">
            <a:solidFill>
              <a:srgbClr val="FF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en-US" altLang="zh-CN" sz="1800" dirty="0">
              <a:cs typeface="Arial" panose="020B0604020202020204" pitchFamily="34" charset="0"/>
            </a:endParaRPr>
          </a:p>
          <a:p>
            <a:pPr marL="0" lvl="0" indent="0" eaLnBrk="1" hangingPunct="1">
              <a:spcBef>
                <a:spcPct val="50000"/>
              </a:spcBef>
              <a:buClrTx/>
              <a:buSzTx/>
              <a:buFontTx/>
              <a:buNone/>
            </a:pPr>
            <a:endParaRPr lang="en-US" altLang="zh-CN" sz="1800" dirty="0">
              <a:ea typeface="Arial" panose="020B0604020202020204" pitchFamily="34" charset="0"/>
            </a:endParaRPr>
          </a:p>
        </p:txBody>
      </p:sp>
      <p:sp>
        <p:nvSpPr>
          <p:cNvPr id="38917"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ext Box 2"/>
          <p:cNvSpPr txBox="1"/>
          <p:nvPr/>
        </p:nvSpPr>
        <p:spPr>
          <a:xfrm>
            <a:off x="395288" y="333375"/>
            <a:ext cx="8353425"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zh-CN" altLang="zh-CN" sz="1800" dirty="0">
              <a:ea typeface="Arial" panose="020B0604020202020204" pitchFamily="34" charset="0"/>
            </a:endParaRPr>
          </a:p>
        </p:txBody>
      </p:sp>
      <p:graphicFrame>
        <p:nvGraphicFramePr>
          <p:cNvPr id="39939" name="Object 3"/>
          <p:cNvGraphicFramePr>
            <a:graphicFrameLocks noGrp="1" noChangeAspect="1"/>
          </p:cNvGraphicFramePr>
          <p:nvPr>
            <p:ph sz="half" idx="1"/>
          </p:nvPr>
        </p:nvGraphicFramePr>
        <p:xfrm>
          <a:off x="3635375" y="4797425"/>
          <a:ext cx="3017838" cy="909638"/>
        </p:xfrm>
        <a:graphic>
          <a:graphicData uri="http://schemas.openxmlformats.org/presentationml/2006/ole">
            <mc:AlternateContent xmlns:mc="http://schemas.openxmlformats.org/markup-compatibility/2006">
              <mc:Choice xmlns:v="urn:schemas-microsoft-com:vml" Requires="v">
                <p:oleObj spid="_x0000_s3096" name="" r:id="rId1" imgW="1435100" imgH="431800" progId="Equation.3">
                  <p:embed/>
                </p:oleObj>
              </mc:Choice>
              <mc:Fallback>
                <p:oleObj name="" r:id="rId1" imgW="1435100" imgH="431800" progId="Equation.3">
                  <p:embed/>
                  <p:pic>
                    <p:nvPicPr>
                      <p:cNvPr id="0" name="图片 3095"/>
                      <p:cNvPicPr/>
                      <p:nvPr/>
                    </p:nvPicPr>
                    <p:blipFill>
                      <a:blip r:embed="rId2"/>
                      <a:srcRect/>
                      <a:stretch>
                        <a:fillRect/>
                      </a:stretch>
                    </p:blipFill>
                    <p:spPr>
                      <a:xfrm>
                        <a:off x="3635375" y="4797425"/>
                        <a:ext cx="3017838" cy="909638"/>
                      </a:xfrm>
                      <a:prstGeom prst="rect">
                        <a:avLst/>
                      </a:prstGeom>
                      <a:noFill/>
                      <a:ln w="38100">
                        <a:miter/>
                      </a:ln>
                    </p:spPr>
                  </p:pic>
                </p:oleObj>
              </mc:Fallback>
            </mc:AlternateContent>
          </a:graphicData>
        </a:graphic>
      </p:graphicFrame>
      <p:sp>
        <p:nvSpPr>
          <p:cNvPr id="39940" name="Text Box 4"/>
          <p:cNvSpPr txBox="1"/>
          <p:nvPr/>
        </p:nvSpPr>
        <p:spPr>
          <a:xfrm>
            <a:off x="468313" y="692150"/>
            <a:ext cx="4319587"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b="1" dirty="0">
                <a:solidFill>
                  <a:srgbClr val="FF0000"/>
                </a:solidFill>
                <a:latin typeface="Times New Roman" panose="02020603050405020304" pitchFamily="18" charset="0"/>
                <a:cs typeface="Arial" panose="020B0604020202020204" pitchFamily="34" charset="0"/>
              </a:rPr>
              <a:t>串联电阻的分压公式</a:t>
            </a:r>
            <a:endParaRPr lang="zh-CN" altLang="en-US" b="1" dirty="0">
              <a:solidFill>
                <a:srgbClr val="FF0000"/>
              </a:solidFill>
              <a:latin typeface="Times New Roman" panose="02020603050405020304" pitchFamily="18" charset="0"/>
              <a:ea typeface="Arial" panose="020B0604020202020204" pitchFamily="34" charset="0"/>
            </a:endParaRPr>
          </a:p>
        </p:txBody>
      </p:sp>
      <p:graphicFrame>
        <p:nvGraphicFramePr>
          <p:cNvPr id="39941" name="Object 6"/>
          <p:cNvGraphicFramePr>
            <a:graphicFrameLocks noGrp="1" noChangeAspect="1"/>
          </p:cNvGraphicFramePr>
          <p:nvPr>
            <p:ph sz="half" idx="2"/>
          </p:nvPr>
        </p:nvGraphicFramePr>
        <p:xfrm>
          <a:off x="3851275" y="2133600"/>
          <a:ext cx="2016125" cy="2016125"/>
        </p:xfrm>
        <a:graphic>
          <a:graphicData uri="http://schemas.openxmlformats.org/presentationml/2006/ole">
            <mc:AlternateContent xmlns:mc="http://schemas.openxmlformats.org/markup-compatibility/2006">
              <mc:Choice xmlns:v="urn:schemas-microsoft-com:vml" Requires="v">
                <p:oleObj spid="_x0000_s3098" name="" r:id="rId3" imgW="889000" imgH="889000" progId="Equation.3">
                  <p:embed/>
                </p:oleObj>
              </mc:Choice>
              <mc:Fallback>
                <p:oleObj name="" r:id="rId3" imgW="889000" imgH="889000" progId="Equation.3">
                  <p:embed/>
                  <p:pic>
                    <p:nvPicPr>
                      <p:cNvPr id="0" name="图片 3097"/>
                      <p:cNvPicPr/>
                      <p:nvPr/>
                    </p:nvPicPr>
                    <p:blipFill>
                      <a:blip r:embed="rId4"/>
                      <a:srcRect/>
                      <a:stretch>
                        <a:fillRect/>
                      </a:stretch>
                    </p:blipFill>
                    <p:spPr>
                      <a:xfrm>
                        <a:off x="3851275" y="2133600"/>
                        <a:ext cx="2016125" cy="2016125"/>
                      </a:xfrm>
                      <a:prstGeom prst="rect">
                        <a:avLst/>
                      </a:prstGeom>
                      <a:noFill/>
                      <a:ln w="38100">
                        <a:miter/>
                      </a:ln>
                    </p:spPr>
                  </p:pic>
                </p:oleObj>
              </mc:Fallback>
            </mc:AlternateContent>
          </a:graphicData>
        </a:graphic>
      </p:graphicFrame>
      <p:sp>
        <p:nvSpPr>
          <p:cNvPr id="39942" name="Text Box 9"/>
          <p:cNvSpPr txBox="1"/>
          <p:nvPr/>
        </p:nvSpPr>
        <p:spPr>
          <a:xfrm>
            <a:off x="1600200" y="2636838"/>
            <a:ext cx="20351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cs typeface="Arial" panose="020B0604020202020204" pitchFamily="34" charset="0"/>
              </a:rPr>
              <a:t>两个电阻</a:t>
            </a:r>
            <a:endParaRPr lang="zh-CN" altLang="en-US" sz="2400" b="1" dirty="0">
              <a:ea typeface="Arial" panose="020B0604020202020204" pitchFamily="34" charset="0"/>
            </a:endParaRPr>
          </a:p>
        </p:txBody>
      </p:sp>
      <p:sp>
        <p:nvSpPr>
          <p:cNvPr id="39943" name="Text Box 10"/>
          <p:cNvSpPr txBox="1"/>
          <p:nvPr/>
        </p:nvSpPr>
        <p:spPr>
          <a:xfrm>
            <a:off x="1763713" y="4941888"/>
            <a:ext cx="172878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n</a:t>
            </a:r>
            <a:r>
              <a:rPr lang="zh-CN" altLang="en-US" sz="2400" b="1" dirty="0">
                <a:cs typeface="Arial" panose="020B0604020202020204" pitchFamily="34" charset="0"/>
              </a:rPr>
              <a:t>个电阻</a:t>
            </a:r>
            <a:endParaRPr lang="zh-CN" altLang="en-US" sz="2400" b="1" dirty="0">
              <a:ea typeface="Arial" panose="020B0604020202020204" pitchFamily="34" charset="0"/>
            </a:endParaRPr>
          </a:p>
        </p:txBody>
      </p:sp>
      <p:sp>
        <p:nvSpPr>
          <p:cNvPr id="39944"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body" sz="half" idx="1"/>
          </p:nvPr>
        </p:nvSpPr>
        <p:spPr>
          <a:xfrm>
            <a:off x="684213" y="620713"/>
            <a:ext cx="7920037" cy="1295400"/>
          </a:xfrm>
        </p:spPr>
        <p:txBody>
          <a:bodyPr vert="horz" wrap="square" lIns="91440" tIns="45720" rIns="91440" bIns="45720" anchor="t"/>
          <a:p>
            <a:pPr eaLnBrk="1" hangingPunct="1">
              <a:lnSpc>
                <a:spcPct val="70000"/>
              </a:lnSpc>
              <a:buClr>
                <a:schemeClr val="bg2"/>
              </a:buClr>
              <a:buSzPct val="75000"/>
              <a:buFont typeface="Wingdings" panose="05000000000000000000" pitchFamily="2" charset="2"/>
              <a:buNone/>
            </a:pPr>
            <a:r>
              <a:rPr lang="en-US" altLang="zh-CN" sz="3600" b="1" dirty="0">
                <a:solidFill>
                  <a:srgbClr val="0000FF"/>
                </a:solidFill>
                <a:latin typeface="Franklin Gothic Medium" panose="020B0603020102020204" pitchFamily="34" charset="0"/>
              </a:rPr>
              <a:t>2.6</a:t>
            </a:r>
            <a:r>
              <a:rPr lang="en-US" altLang="zh-CN" sz="3600" b="1" dirty="0"/>
              <a:t>   </a:t>
            </a:r>
            <a:r>
              <a:rPr lang="zh-CN" altLang="en-US" sz="3600" b="1" dirty="0">
                <a:solidFill>
                  <a:srgbClr val="0000FF"/>
                </a:solidFill>
                <a:latin typeface="Franklin Gothic Medium" panose="020B0603020102020204" pitchFamily="34" charset="0"/>
              </a:rPr>
              <a:t>并联电阻的分流</a:t>
            </a:r>
            <a:endParaRPr lang="en-US" altLang="zh-CN" sz="3600" b="1" dirty="0">
              <a:solidFill>
                <a:srgbClr val="0000FF"/>
              </a:solidFill>
              <a:latin typeface="Franklin Gothic Medium" panose="020B0603020102020204" pitchFamily="34" charset="0"/>
            </a:endParaRPr>
          </a:p>
        </p:txBody>
      </p:sp>
      <p:grpSp>
        <p:nvGrpSpPr>
          <p:cNvPr id="40963" name="Group 3"/>
          <p:cNvGrpSpPr/>
          <p:nvPr/>
        </p:nvGrpSpPr>
        <p:grpSpPr>
          <a:xfrm>
            <a:off x="747713" y="1627188"/>
            <a:ext cx="3673475" cy="2303462"/>
            <a:chOff x="1100" y="873"/>
            <a:chExt cx="3547" cy="2573"/>
          </a:xfrm>
        </p:grpSpPr>
        <p:sp>
          <p:nvSpPr>
            <p:cNvPr id="40975" name="Freeform 8"/>
            <p:cNvSpPr>
              <a:spLocks noEditPoints="1"/>
            </p:cNvSpPr>
            <p:nvPr/>
          </p:nvSpPr>
          <p:spPr>
            <a:xfrm>
              <a:off x="3786" y="3279"/>
              <a:ext cx="101" cy="167"/>
            </a:xfrm>
            <a:custGeom>
              <a:avLst/>
              <a:gdLst>
                <a:gd name="txL" fmla="*/ 0 w 101"/>
                <a:gd name="txT" fmla="*/ 0 h 167"/>
                <a:gd name="txR" fmla="*/ 101 w 101"/>
                <a:gd name="txB" fmla="*/ 167 h 167"/>
              </a:gdLst>
              <a:ahLst/>
              <a:cxnLst>
                <a:cxn ang="0">
                  <a:pos x="83" y="90"/>
                </a:cxn>
                <a:cxn ang="0">
                  <a:pos x="77" y="108"/>
                </a:cxn>
                <a:cxn ang="0">
                  <a:pos x="65" y="131"/>
                </a:cxn>
                <a:cxn ang="0">
                  <a:pos x="54" y="155"/>
                </a:cxn>
                <a:cxn ang="0">
                  <a:pos x="30" y="161"/>
                </a:cxn>
                <a:cxn ang="0">
                  <a:pos x="24" y="155"/>
                </a:cxn>
                <a:cxn ang="0">
                  <a:pos x="24" y="149"/>
                </a:cxn>
                <a:cxn ang="0">
                  <a:pos x="30" y="125"/>
                </a:cxn>
                <a:cxn ang="0">
                  <a:pos x="36" y="102"/>
                </a:cxn>
                <a:cxn ang="0">
                  <a:pos x="48" y="84"/>
                </a:cxn>
                <a:cxn ang="0">
                  <a:pos x="65" y="72"/>
                </a:cxn>
                <a:cxn ang="0">
                  <a:pos x="77" y="78"/>
                </a:cxn>
                <a:cxn ang="0">
                  <a:pos x="83" y="90"/>
                </a:cxn>
                <a:cxn ang="0">
                  <a:pos x="83" y="90"/>
                </a:cxn>
                <a:cxn ang="0">
                  <a:pos x="24" y="12"/>
                </a:cxn>
                <a:cxn ang="0">
                  <a:pos x="36" y="12"/>
                </a:cxn>
                <a:cxn ang="0">
                  <a:pos x="36" y="18"/>
                </a:cxn>
                <a:cxn ang="0">
                  <a:pos x="36" y="24"/>
                </a:cxn>
                <a:cxn ang="0">
                  <a:pos x="30" y="36"/>
                </a:cxn>
                <a:cxn ang="0">
                  <a:pos x="0" y="149"/>
                </a:cxn>
                <a:cxn ang="0">
                  <a:pos x="0" y="149"/>
                </a:cxn>
                <a:cxn ang="0">
                  <a:pos x="6" y="155"/>
                </a:cxn>
                <a:cxn ang="0">
                  <a:pos x="12" y="161"/>
                </a:cxn>
                <a:cxn ang="0">
                  <a:pos x="30" y="167"/>
                </a:cxn>
                <a:cxn ang="0">
                  <a:pos x="54" y="161"/>
                </a:cxn>
                <a:cxn ang="0">
                  <a:pos x="77" y="143"/>
                </a:cxn>
                <a:cxn ang="0">
                  <a:pos x="95" y="114"/>
                </a:cxn>
                <a:cxn ang="0">
                  <a:pos x="101" y="84"/>
                </a:cxn>
                <a:cxn ang="0">
                  <a:pos x="95" y="66"/>
                </a:cxn>
                <a:cxn ang="0">
                  <a:pos x="71" y="60"/>
                </a:cxn>
                <a:cxn ang="0">
                  <a:pos x="60" y="66"/>
                </a:cxn>
                <a:cxn ang="0">
                  <a:pos x="48" y="72"/>
                </a:cxn>
                <a:cxn ang="0">
                  <a:pos x="36" y="90"/>
                </a:cxn>
                <a:cxn ang="0">
                  <a:pos x="36" y="90"/>
                </a:cxn>
                <a:cxn ang="0">
                  <a:pos x="42" y="72"/>
                </a:cxn>
                <a:cxn ang="0">
                  <a:pos x="48" y="48"/>
                </a:cxn>
                <a:cxn ang="0">
                  <a:pos x="48" y="24"/>
                </a:cxn>
                <a:cxn ang="0">
                  <a:pos x="54" y="0"/>
                </a:cxn>
                <a:cxn ang="0">
                  <a:pos x="54" y="0"/>
                </a:cxn>
                <a:cxn ang="0">
                  <a:pos x="36" y="6"/>
                </a:cxn>
                <a:cxn ang="0">
                  <a:pos x="24" y="6"/>
                </a:cxn>
                <a:cxn ang="0">
                  <a:pos x="24" y="12"/>
                </a:cxn>
              </a:cxnLst>
              <a:rect l="txL" t="txT" r="txR" b="txB"/>
              <a:pathLst>
                <a:path w="101" h="167">
                  <a:moveTo>
                    <a:pt x="83" y="90"/>
                  </a:moveTo>
                  <a:lnTo>
                    <a:pt x="77" y="108"/>
                  </a:lnTo>
                  <a:lnTo>
                    <a:pt x="65" y="131"/>
                  </a:lnTo>
                  <a:lnTo>
                    <a:pt x="54" y="155"/>
                  </a:lnTo>
                  <a:lnTo>
                    <a:pt x="30" y="161"/>
                  </a:lnTo>
                  <a:lnTo>
                    <a:pt x="24" y="155"/>
                  </a:lnTo>
                  <a:lnTo>
                    <a:pt x="24" y="149"/>
                  </a:lnTo>
                  <a:lnTo>
                    <a:pt x="30" y="125"/>
                  </a:lnTo>
                  <a:lnTo>
                    <a:pt x="36" y="102"/>
                  </a:lnTo>
                  <a:lnTo>
                    <a:pt x="48" y="84"/>
                  </a:lnTo>
                  <a:lnTo>
                    <a:pt x="65" y="72"/>
                  </a:lnTo>
                  <a:lnTo>
                    <a:pt x="77" y="78"/>
                  </a:lnTo>
                  <a:lnTo>
                    <a:pt x="83" y="90"/>
                  </a:lnTo>
                  <a:close/>
                  <a:moveTo>
                    <a:pt x="24" y="12"/>
                  </a:moveTo>
                  <a:lnTo>
                    <a:pt x="36" y="12"/>
                  </a:lnTo>
                  <a:lnTo>
                    <a:pt x="36" y="18"/>
                  </a:lnTo>
                  <a:lnTo>
                    <a:pt x="36" y="24"/>
                  </a:lnTo>
                  <a:lnTo>
                    <a:pt x="30" y="36"/>
                  </a:lnTo>
                  <a:lnTo>
                    <a:pt x="0" y="149"/>
                  </a:lnTo>
                  <a:lnTo>
                    <a:pt x="6" y="155"/>
                  </a:lnTo>
                  <a:lnTo>
                    <a:pt x="12" y="161"/>
                  </a:lnTo>
                  <a:lnTo>
                    <a:pt x="30" y="167"/>
                  </a:lnTo>
                  <a:lnTo>
                    <a:pt x="54" y="161"/>
                  </a:lnTo>
                  <a:lnTo>
                    <a:pt x="77" y="143"/>
                  </a:lnTo>
                  <a:lnTo>
                    <a:pt x="95" y="114"/>
                  </a:lnTo>
                  <a:lnTo>
                    <a:pt x="101" y="84"/>
                  </a:lnTo>
                  <a:lnTo>
                    <a:pt x="95" y="66"/>
                  </a:lnTo>
                  <a:lnTo>
                    <a:pt x="71" y="60"/>
                  </a:lnTo>
                  <a:lnTo>
                    <a:pt x="60" y="66"/>
                  </a:lnTo>
                  <a:lnTo>
                    <a:pt x="48" y="72"/>
                  </a:lnTo>
                  <a:lnTo>
                    <a:pt x="36" y="90"/>
                  </a:lnTo>
                  <a:lnTo>
                    <a:pt x="42" y="72"/>
                  </a:lnTo>
                  <a:lnTo>
                    <a:pt x="48" y="48"/>
                  </a:lnTo>
                  <a:lnTo>
                    <a:pt x="48" y="24"/>
                  </a:lnTo>
                  <a:lnTo>
                    <a:pt x="54" y="0"/>
                  </a:lnTo>
                  <a:lnTo>
                    <a:pt x="36" y="6"/>
                  </a:lnTo>
                  <a:lnTo>
                    <a:pt x="24" y="6"/>
                  </a:lnTo>
                  <a:lnTo>
                    <a:pt x="24"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76" name="Freeform 13"/>
            <p:cNvSpPr>
              <a:spLocks noEditPoints="1"/>
            </p:cNvSpPr>
            <p:nvPr/>
          </p:nvSpPr>
          <p:spPr>
            <a:xfrm>
              <a:off x="3786" y="1010"/>
              <a:ext cx="101" cy="108"/>
            </a:xfrm>
            <a:custGeom>
              <a:avLst/>
              <a:gdLst>
                <a:gd name="txL" fmla="*/ 0 w 101"/>
                <a:gd name="txT" fmla="*/ 0 h 108"/>
                <a:gd name="txR" fmla="*/ 101 w 101"/>
                <a:gd name="txB" fmla="*/ 108 h 108"/>
              </a:gdLst>
              <a:ahLst/>
              <a:cxnLst>
                <a:cxn ang="0">
                  <a:pos x="95" y="78"/>
                </a:cxn>
                <a:cxn ang="0">
                  <a:pos x="89" y="90"/>
                </a:cxn>
                <a:cxn ang="0">
                  <a:pos x="77" y="96"/>
                </a:cxn>
                <a:cxn ang="0">
                  <a:pos x="77" y="96"/>
                </a:cxn>
                <a:cxn ang="0">
                  <a:pos x="77" y="90"/>
                </a:cxn>
                <a:cxn ang="0">
                  <a:pos x="77" y="84"/>
                </a:cxn>
                <a:cxn ang="0">
                  <a:pos x="83" y="72"/>
                </a:cxn>
                <a:cxn ang="0">
                  <a:pos x="89" y="48"/>
                </a:cxn>
                <a:cxn ang="0">
                  <a:pos x="95" y="18"/>
                </a:cxn>
                <a:cxn ang="0">
                  <a:pos x="95" y="6"/>
                </a:cxn>
                <a:cxn ang="0">
                  <a:pos x="95" y="0"/>
                </a:cxn>
                <a:cxn ang="0">
                  <a:pos x="95" y="0"/>
                </a:cxn>
                <a:cxn ang="0">
                  <a:pos x="83" y="6"/>
                </a:cxn>
                <a:cxn ang="0">
                  <a:pos x="83" y="6"/>
                </a:cxn>
                <a:cxn ang="0">
                  <a:pos x="77" y="12"/>
                </a:cxn>
                <a:cxn ang="0">
                  <a:pos x="77" y="12"/>
                </a:cxn>
                <a:cxn ang="0">
                  <a:pos x="71" y="6"/>
                </a:cxn>
                <a:cxn ang="0">
                  <a:pos x="60" y="0"/>
                </a:cxn>
                <a:cxn ang="0">
                  <a:pos x="42" y="6"/>
                </a:cxn>
                <a:cxn ang="0">
                  <a:pos x="24" y="30"/>
                </a:cxn>
                <a:cxn ang="0">
                  <a:pos x="6" y="54"/>
                </a:cxn>
                <a:cxn ang="0">
                  <a:pos x="0" y="78"/>
                </a:cxn>
                <a:cxn ang="0">
                  <a:pos x="6" y="96"/>
                </a:cxn>
                <a:cxn ang="0">
                  <a:pos x="12" y="108"/>
                </a:cxn>
                <a:cxn ang="0">
                  <a:pos x="24" y="108"/>
                </a:cxn>
                <a:cxn ang="0">
                  <a:pos x="42" y="102"/>
                </a:cxn>
                <a:cxn ang="0">
                  <a:pos x="54" y="90"/>
                </a:cxn>
                <a:cxn ang="0">
                  <a:pos x="65" y="72"/>
                </a:cxn>
                <a:cxn ang="0">
                  <a:pos x="65" y="72"/>
                </a:cxn>
                <a:cxn ang="0">
                  <a:pos x="60" y="84"/>
                </a:cxn>
                <a:cxn ang="0">
                  <a:pos x="60" y="90"/>
                </a:cxn>
                <a:cxn ang="0">
                  <a:pos x="60" y="96"/>
                </a:cxn>
                <a:cxn ang="0">
                  <a:pos x="60" y="102"/>
                </a:cxn>
                <a:cxn ang="0">
                  <a:pos x="71" y="108"/>
                </a:cxn>
                <a:cxn ang="0">
                  <a:pos x="83" y="102"/>
                </a:cxn>
                <a:cxn ang="0">
                  <a:pos x="101" y="84"/>
                </a:cxn>
                <a:cxn ang="0">
                  <a:pos x="95" y="78"/>
                </a:cxn>
                <a:cxn ang="0">
                  <a:pos x="18" y="78"/>
                </a:cxn>
                <a:cxn ang="0">
                  <a:pos x="24" y="60"/>
                </a:cxn>
                <a:cxn ang="0">
                  <a:pos x="30" y="36"/>
                </a:cxn>
                <a:cxn ang="0">
                  <a:pos x="48" y="12"/>
                </a:cxn>
                <a:cxn ang="0">
                  <a:pos x="65" y="6"/>
                </a:cxn>
                <a:cxn ang="0">
                  <a:pos x="71" y="12"/>
                </a:cxn>
                <a:cxn ang="0">
                  <a:pos x="77" y="24"/>
                </a:cxn>
                <a:cxn ang="0">
                  <a:pos x="71" y="48"/>
                </a:cxn>
                <a:cxn ang="0">
                  <a:pos x="65" y="72"/>
                </a:cxn>
                <a:cxn ang="0">
                  <a:pos x="48" y="90"/>
                </a:cxn>
                <a:cxn ang="0">
                  <a:pos x="30" y="96"/>
                </a:cxn>
                <a:cxn ang="0">
                  <a:pos x="24" y="90"/>
                </a:cxn>
                <a:cxn ang="0">
                  <a:pos x="18" y="78"/>
                </a:cxn>
                <a:cxn ang="0">
                  <a:pos x="18" y="78"/>
                </a:cxn>
              </a:cxnLst>
              <a:rect l="txL" t="txT" r="txR" b="txB"/>
              <a:pathLst>
                <a:path w="101" h="108">
                  <a:moveTo>
                    <a:pt x="95" y="78"/>
                  </a:moveTo>
                  <a:lnTo>
                    <a:pt x="89" y="90"/>
                  </a:lnTo>
                  <a:lnTo>
                    <a:pt x="77" y="96"/>
                  </a:lnTo>
                  <a:lnTo>
                    <a:pt x="77" y="90"/>
                  </a:lnTo>
                  <a:lnTo>
                    <a:pt x="77" y="84"/>
                  </a:lnTo>
                  <a:lnTo>
                    <a:pt x="83" y="72"/>
                  </a:lnTo>
                  <a:lnTo>
                    <a:pt x="89" y="48"/>
                  </a:lnTo>
                  <a:lnTo>
                    <a:pt x="95" y="18"/>
                  </a:lnTo>
                  <a:lnTo>
                    <a:pt x="95" y="6"/>
                  </a:lnTo>
                  <a:lnTo>
                    <a:pt x="95" y="0"/>
                  </a:lnTo>
                  <a:lnTo>
                    <a:pt x="83" y="6"/>
                  </a:lnTo>
                  <a:lnTo>
                    <a:pt x="77" y="12"/>
                  </a:lnTo>
                  <a:lnTo>
                    <a:pt x="71" y="6"/>
                  </a:lnTo>
                  <a:lnTo>
                    <a:pt x="60" y="0"/>
                  </a:lnTo>
                  <a:lnTo>
                    <a:pt x="42" y="6"/>
                  </a:lnTo>
                  <a:lnTo>
                    <a:pt x="24" y="30"/>
                  </a:lnTo>
                  <a:lnTo>
                    <a:pt x="6" y="54"/>
                  </a:lnTo>
                  <a:lnTo>
                    <a:pt x="0" y="78"/>
                  </a:lnTo>
                  <a:lnTo>
                    <a:pt x="6" y="96"/>
                  </a:lnTo>
                  <a:lnTo>
                    <a:pt x="12" y="108"/>
                  </a:lnTo>
                  <a:lnTo>
                    <a:pt x="24" y="108"/>
                  </a:lnTo>
                  <a:lnTo>
                    <a:pt x="42" y="102"/>
                  </a:lnTo>
                  <a:lnTo>
                    <a:pt x="54" y="90"/>
                  </a:lnTo>
                  <a:lnTo>
                    <a:pt x="65" y="72"/>
                  </a:lnTo>
                  <a:lnTo>
                    <a:pt x="60" y="84"/>
                  </a:lnTo>
                  <a:lnTo>
                    <a:pt x="60" y="90"/>
                  </a:lnTo>
                  <a:lnTo>
                    <a:pt x="60" y="96"/>
                  </a:lnTo>
                  <a:lnTo>
                    <a:pt x="60" y="102"/>
                  </a:lnTo>
                  <a:lnTo>
                    <a:pt x="71" y="108"/>
                  </a:lnTo>
                  <a:lnTo>
                    <a:pt x="83" y="102"/>
                  </a:lnTo>
                  <a:lnTo>
                    <a:pt x="101" y="84"/>
                  </a:lnTo>
                  <a:lnTo>
                    <a:pt x="95" y="78"/>
                  </a:lnTo>
                  <a:close/>
                  <a:moveTo>
                    <a:pt x="18" y="78"/>
                  </a:moveTo>
                  <a:lnTo>
                    <a:pt x="24" y="60"/>
                  </a:lnTo>
                  <a:lnTo>
                    <a:pt x="30" y="36"/>
                  </a:lnTo>
                  <a:lnTo>
                    <a:pt x="48" y="12"/>
                  </a:lnTo>
                  <a:lnTo>
                    <a:pt x="65" y="6"/>
                  </a:lnTo>
                  <a:lnTo>
                    <a:pt x="71" y="12"/>
                  </a:lnTo>
                  <a:lnTo>
                    <a:pt x="77" y="24"/>
                  </a:lnTo>
                  <a:lnTo>
                    <a:pt x="71" y="48"/>
                  </a:lnTo>
                  <a:lnTo>
                    <a:pt x="65" y="72"/>
                  </a:lnTo>
                  <a:lnTo>
                    <a:pt x="48" y="90"/>
                  </a:lnTo>
                  <a:lnTo>
                    <a:pt x="30" y="96"/>
                  </a:lnTo>
                  <a:lnTo>
                    <a:pt x="24" y="90"/>
                  </a:lnTo>
                  <a:lnTo>
                    <a:pt x="18" y="7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77" name="Freeform 14"/>
            <p:cNvSpPr/>
            <p:nvPr/>
          </p:nvSpPr>
          <p:spPr>
            <a:xfrm>
              <a:off x="4248" y="1315"/>
              <a:ext cx="49" cy="627"/>
            </a:xfrm>
            <a:custGeom>
              <a:avLst/>
              <a:gdLst>
                <a:gd name="txL" fmla="*/ 0 w 49"/>
                <a:gd name="txT" fmla="*/ 0 h 1749"/>
                <a:gd name="txR" fmla="*/ 49 w 49"/>
                <a:gd name="txB" fmla="*/ 1749 h 1749"/>
              </a:gdLst>
              <a:ahLst/>
              <a:cxnLst>
                <a:cxn ang="0">
                  <a:pos x="0" y="0"/>
                </a:cxn>
                <a:cxn ang="0">
                  <a:pos x="0" y="0"/>
                </a:cxn>
                <a:cxn ang="0">
                  <a:pos x="0" y="0"/>
                </a:cxn>
                <a:cxn ang="0">
                  <a:pos x="0" y="0"/>
                </a:cxn>
              </a:cxnLst>
              <a:rect l="txL" t="txT" r="txR" b="txB"/>
              <a:pathLst>
                <a:path w="49" h="1749">
                  <a:moveTo>
                    <a:pt x="0" y="1749"/>
                  </a:moveTo>
                  <a:lnTo>
                    <a:pt x="0" y="0"/>
                  </a:lnTo>
                  <a:lnTo>
                    <a:pt x="0" y="174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78" name="Freeform 15"/>
            <p:cNvSpPr>
              <a:spLocks noEditPoints="1"/>
            </p:cNvSpPr>
            <p:nvPr/>
          </p:nvSpPr>
          <p:spPr>
            <a:xfrm>
              <a:off x="1483" y="1315"/>
              <a:ext cx="2781" cy="1"/>
            </a:xfrm>
            <a:custGeom>
              <a:avLst/>
              <a:gdLst>
                <a:gd name="txL" fmla="*/ 0 w 2781"/>
                <a:gd name="txT" fmla="*/ 0 h 1"/>
                <a:gd name="txR" fmla="*/ 2781 w 2781"/>
                <a:gd name="txB" fmla="*/ 1 h 1"/>
              </a:gdLst>
              <a:ahLst/>
              <a:cxnLst>
                <a:cxn ang="0">
                  <a:pos x="2781" y="0"/>
                </a:cxn>
                <a:cxn ang="0">
                  <a:pos x="0" y="0"/>
                </a:cxn>
                <a:cxn ang="0">
                  <a:pos x="2781" y="0"/>
                </a:cxn>
                <a:cxn ang="0">
                  <a:pos x="2781" y="0"/>
                </a:cxn>
                <a:cxn ang="0">
                  <a:pos x="2781" y="0"/>
                </a:cxn>
                <a:cxn ang="0">
                  <a:pos x="2781" y="0"/>
                </a:cxn>
                <a:cxn ang="0">
                  <a:pos x="2781" y="0"/>
                </a:cxn>
              </a:cxnLst>
              <a:rect l="txL" t="txT" r="txR" b="txB"/>
              <a:pathLst>
                <a:path w="2781" h="1">
                  <a:moveTo>
                    <a:pt x="2781" y="0"/>
                  </a:moveTo>
                  <a:lnTo>
                    <a:pt x="0" y="0"/>
                  </a:lnTo>
                  <a:lnTo>
                    <a:pt x="2781" y="0"/>
                  </a:lnTo>
                  <a:close/>
                  <a:moveTo>
                    <a:pt x="2781" y="0"/>
                  </a:moveTo>
                  <a:lnTo>
                    <a:pt x="2781"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79" name="Freeform 16"/>
            <p:cNvSpPr>
              <a:spLocks noEditPoints="1"/>
            </p:cNvSpPr>
            <p:nvPr/>
          </p:nvSpPr>
          <p:spPr>
            <a:xfrm>
              <a:off x="1483" y="1315"/>
              <a:ext cx="1" cy="1749"/>
            </a:xfrm>
            <a:custGeom>
              <a:avLst/>
              <a:gdLst>
                <a:gd name="txL" fmla="*/ 0 w 1"/>
                <a:gd name="txT" fmla="*/ 0 h 1749"/>
                <a:gd name="txR" fmla="*/ 1 w 1"/>
                <a:gd name="txB" fmla="*/ 1749 h 1749"/>
              </a:gdLst>
              <a:ahLst/>
              <a:cxnLst>
                <a:cxn ang="0">
                  <a:pos x="0" y="0"/>
                </a:cxn>
                <a:cxn ang="0">
                  <a:pos x="0" y="1749"/>
                </a:cxn>
                <a:cxn ang="0">
                  <a:pos x="0" y="0"/>
                </a:cxn>
                <a:cxn ang="0">
                  <a:pos x="0" y="0"/>
                </a:cxn>
                <a:cxn ang="0">
                  <a:pos x="0" y="0"/>
                </a:cxn>
                <a:cxn ang="0">
                  <a:pos x="0" y="0"/>
                </a:cxn>
                <a:cxn ang="0">
                  <a:pos x="0" y="0"/>
                </a:cxn>
              </a:cxnLst>
              <a:rect l="txL" t="txT" r="txR" b="txB"/>
              <a:pathLst>
                <a:path w="1" h="1749">
                  <a:moveTo>
                    <a:pt x="0" y="0"/>
                  </a:moveTo>
                  <a:lnTo>
                    <a:pt x="0" y="1749"/>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80" name="Freeform 17"/>
            <p:cNvSpPr>
              <a:spLocks noEditPoints="1"/>
            </p:cNvSpPr>
            <p:nvPr/>
          </p:nvSpPr>
          <p:spPr>
            <a:xfrm>
              <a:off x="1483" y="3064"/>
              <a:ext cx="2781" cy="1"/>
            </a:xfrm>
            <a:custGeom>
              <a:avLst/>
              <a:gdLst>
                <a:gd name="txL" fmla="*/ 0 w 2781"/>
                <a:gd name="txT" fmla="*/ 0 h 1"/>
                <a:gd name="txR" fmla="*/ 2781 w 2781"/>
                <a:gd name="txB" fmla="*/ 1 h 1"/>
              </a:gdLst>
              <a:ahLst/>
              <a:cxnLst>
                <a:cxn ang="0">
                  <a:pos x="0" y="0"/>
                </a:cxn>
                <a:cxn ang="0">
                  <a:pos x="2781" y="0"/>
                </a:cxn>
                <a:cxn ang="0">
                  <a:pos x="0" y="0"/>
                </a:cxn>
                <a:cxn ang="0">
                  <a:pos x="0" y="0"/>
                </a:cxn>
                <a:cxn ang="0">
                  <a:pos x="0" y="0"/>
                </a:cxn>
                <a:cxn ang="0">
                  <a:pos x="0" y="0"/>
                </a:cxn>
                <a:cxn ang="0">
                  <a:pos x="0" y="0"/>
                </a:cxn>
              </a:cxnLst>
              <a:rect l="txL" t="txT" r="txR" b="txB"/>
              <a:pathLst>
                <a:path w="2781" h="1">
                  <a:moveTo>
                    <a:pt x="0" y="0"/>
                  </a:moveTo>
                  <a:lnTo>
                    <a:pt x="2781" y="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81" name="Freeform 18"/>
            <p:cNvSpPr/>
            <p:nvPr/>
          </p:nvSpPr>
          <p:spPr>
            <a:xfrm>
              <a:off x="4264" y="3064"/>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82" name="Freeform 19"/>
            <p:cNvSpPr/>
            <p:nvPr/>
          </p:nvSpPr>
          <p:spPr>
            <a:xfrm>
              <a:off x="2859" y="1315"/>
              <a:ext cx="47" cy="621"/>
            </a:xfrm>
            <a:custGeom>
              <a:avLst/>
              <a:gdLst>
                <a:gd name="txL" fmla="*/ 0 w 47"/>
                <a:gd name="txT" fmla="*/ 0 h 1749"/>
                <a:gd name="txR" fmla="*/ 47 w 47"/>
                <a:gd name="txB" fmla="*/ 1749 h 1749"/>
              </a:gdLst>
              <a:ahLst/>
              <a:cxnLst>
                <a:cxn ang="0">
                  <a:pos x="0" y="0"/>
                </a:cxn>
                <a:cxn ang="0">
                  <a:pos x="0" y="0"/>
                </a:cxn>
                <a:cxn ang="0">
                  <a:pos x="0" y="0"/>
                </a:cxn>
                <a:cxn ang="0">
                  <a:pos x="0" y="0"/>
                </a:cxn>
              </a:cxnLst>
              <a:rect l="txL" t="txT" r="txR" b="txB"/>
              <a:pathLst>
                <a:path w="47" h="1749">
                  <a:moveTo>
                    <a:pt x="0" y="0"/>
                  </a:moveTo>
                  <a:lnTo>
                    <a:pt x="0" y="1749"/>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83" name="Freeform 20"/>
            <p:cNvSpPr/>
            <p:nvPr/>
          </p:nvSpPr>
          <p:spPr>
            <a:xfrm>
              <a:off x="1100" y="2109"/>
              <a:ext cx="84" cy="95"/>
            </a:xfrm>
            <a:custGeom>
              <a:avLst/>
              <a:gdLst>
                <a:gd name="txL" fmla="*/ 0 w 84"/>
                <a:gd name="txT" fmla="*/ 0 h 95"/>
                <a:gd name="txR" fmla="*/ 84 w 84"/>
                <a:gd name="txB" fmla="*/ 95 h 95"/>
              </a:gdLst>
              <a:ahLst/>
              <a:cxnLst>
                <a:cxn ang="0">
                  <a:pos x="0" y="6"/>
                </a:cxn>
                <a:cxn ang="0">
                  <a:pos x="12" y="12"/>
                </a:cxn>
                <a:cxn ang="0">
                  <a:pos x="18" y="18"/>
                </a:cxn>
                <a:cxn ang="0">
                  <a:pos x="18" y="30"/>
                </a:cxn>
                <a:cxn ang="0">
                  <a:pos x="24" y="42"/>
                </a:cxn>
                <a:cxn ang="0">
                  <a:pos x="24" y="59"/>
                </a:cxn>
                <a:cxn ang="0">
                  <a:pos x="24" y="77"/>
                </a:cxn>
                <a:cxn ang="0">
                  <a:pos x="24" y="89"/>
                </a:cxn>
                <a:cxn ang="0">
                  <a:pos x="24" y="95"/>
                </a:cxn>
                <a:cxn ang="0">
                  <a:pos x="24" y="95"/>
                </a:cxn>
                <a:cxn ang="0">
                  <a:pos x="36" y="95"/>
                </a:cxn>
                <a:cxn ang="0">
                  <a:pos x="42" y="89"/>
                </a:cxn>
                <a:cxn ang="0">
                  <a:pos x="48" y="77"/>
                </a:cxn>
                <a:cxn ang="0">
                  <a:pos x="54" y="65"/>
                </a:cxn>
                <a:cxn ang="0">
                  <a:pos x="66" y="48"/>
                </a:cxn>
                <a:cxn ang="0">
                  <a:pos x="78" y="30"/>
                </a:cxn>
                <a:cxn ang="0">
                  <a:pos x="84" y="12"/>
                </a:cxn>
                <a:cxn ang="0">
                  <a:pos x="78" y="6"/>
                </a:cxn>
                <a:cxn ang="0">
                  <a:pos x="72" y="0"/>
                </a:cxn>
                <a:cxn ang="0">
                  <a:pos x="66" y="0"/>
                </a:cxn>
                <a:cxn ang="0">
                  <a:pos x="66" y="6"/>
                </a:cxn>
                <a:cxn ang="0">
                  <a:pos x="66" y="12"/>
                </a:cxn>
                <a:cxn ang="0">
                  <a:pos x="72" y="18"/>
                </a:cxn>
                <a:cxn ang="0">
                  <a:pos x="72" y="18"/>
                </a:cxn>
                <a:cxn ang="0">
                  <a:pos x="72" y="24"/>
                </a:cxn>
                <a:cxn ang="0">
                  <a:pos x="66" y="48"/>
                </a:cxn>
                <a:cxn ang="0">
                  <a:pos x="48" y="71"/>
                </a:cxn>
                <a:cxn ang="0">
                  <a:pos x="42" y="77"/>
                </a:cxn>
                <a:cxn ang="0">
                  <a:pos x="36" y="42"/>
                </a:cxn>
                <a:cxn ang="0">
                  <a:pos x="30" y="0"/>
                </a:cxn>
                <a:cxn ang="0">
                  <a:pos x="30" y="0"/>
                </a:cxn>
                <a:cxn ang="0">
                  <a:pos x="24" y="0"/>
                </a:cxn>
                <a:cxn ang="0">
                  <a:pos x="18" y="0"/>
                </a:cxn>
                <a:cxn ang="0">
                  <a:pos x="0" y="6"/>
                </a:cxn>
                <a:cxn ang="0">
                  <a:pos x="0" y="6"/>
                </a:cxn>
              </a:cxnLst>
              <a:rect l="txL" t="txT" r="txR" b="txB"/>
              <a:pathLst>
                <a:path w="84" h="95">
                  <a:moveTo>
                    <a:pt x="0" y="6"/>
                  </a:moveTo>
                  <a:lnTo>
                    <a:pt x="12" y="12"/>
                  </a:lnTo>
                  <a:lnTo>
                    <a:pt x="18" y="18"/>
                  </a:lnTo>
                  <a:lnTo>
                    <a:pt x="18" y="30"/>
                  </a:lnTo>
                  <a:lnTo>
                    <a:pt x="24" y="42"/>
                  </a:lnTo>
                  <a:lnTo>
                    <a:pt x="24" y="59"/>
                  </a:lnTo>
                  <a:lnTo>
                    <a:pt x="24" y="77"/>
                  </a:lnTo>
                  <a:lnTo>
                    <a:pt x="24" y="89"/>
                  </a:lnTo>
                  <a:lnTo>
                    <a:pt x="24" y="95"/>
                  </a:lnTo>
                  <a:lnTo>
                    <a:pt x="36" y="95"/>
                  </a:lnTo>
                  <a:lnTo>
                    <a:pt x="42" y="89"/>
                  </a:lnTo>
                  <a:lnTo>
                    <a:pt x="48" y="77"/>
                  </a:lnTo>
                  <a:lnTo>
                    <a:pt x="54" y="65"/>
                  </a:lnTo>
                  <a:lnTo>
                    <a:pt x="66" y="48"/>
                  </a:lnTo>
                  <a:lnTo>
                    <a:pt x="78" y="30"/>
                  </a:lnTo>
                  <a:lnTo>
                    <a:pt x="84" y="12"/>
                  </a:lnTo>
                  <a:lnTo>
                    <a:pt x="78" y="6"/>
                  </a:lnTo>
                  <a:lnTo>
                    <a:pt x="72" y="0"/>
                  </a:lnTo>
                  <a:lnTo>
                    <a:pt x="66" y="0"/>
                  </a:lnTo>
                  <a:lnTo>
                    <a:pt x="66" y="6"/>
                  </a:lnTo>
                  <a:lnTo>
                    <a:pt x="66" y="12"/>
                  </a:lnTo>
                  <a:lnTo>
                    <a:pt x="72" y="18"/>
                  </a:lnTo>
                  <a:lnTo>
                    <a:pt x="72" y="24"/>
                  </a:lnTo>
                  <a:lnTo>
                    <a:pt x="66" y="48"/>
                  </a:lnTo>
                  <a:lnTo>
                    <a:pt x="48" y="71"/>
                  </a:lnTo>
                  <a:lnTo>
                    <a:pt x="42" y="77"/>
                  </a:lnTo>
                  <a:lnTo>
                    <a:pt x="36" y="42"/>
                  </a:lnTo>
                  <a:lnTo>
                    <a:pt x="30" y="0"/>
                  </a:lnTo>
                  <a:lnTo>
                    <a:pt x="24" y="0"/>
                  </a:lnTo>
                  <a:lnTo>
                    <a:pt x="18"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84" name="Freeform 21"/>
            <p:cNvSpPr/>
            <p:nvPr/>
          </p:nvSpPr>
          <p:spPr>
            <a:xfrm>
              <a:off x="1303" y="1965"/>
              <a:ext cx="359" cy="395"/>
            </a:xfrm>
            <a:custGeom>
              <a:avLst/>
              <a:gdLst>
                <a:gd name="txL" fmla="*/ 0 w 359"/>
                <a:gd name="txT" fmla="*/ 0 h 395"/>
                <a:gd name="txR" fmla="*/ 359 w 359"/>
                <a:gd name="txB" fmla="*/ 395 h 395"/>
              </a:gdLst>
              <a:ahLst/>
              <a:cxnLst>
                <a:cxn ang="0">
                  <a:pos x="180" y="395"/>
                </a:cxn>
                <a:cxn ang="0">
                  <a:pos x="216" y="389"/>
                </a:cxn>
                <a:cxn ang="0">
                  <a:pos x="252" y="377"/>
                </a:cxn>
                <a:cxn ang="0">
                  <a:pos x="282" y="359"/>
                </a:cxn>
                <a:cxn ang="0">
                  <a:pos x="305" y="335"/>
                </a:cxn>
                <a:cxn ang="0">
                  <a:pos x="329" y="305"/>
                </a:cxn>
                <a:cxn ang="0">
                  <a:pos x="347" y="275"/>
                </a:cxn>
                <a:cxn ang="0">
                  <a:pos x="353" y="239"/>
                </a:cxn>
                <a:cxn ang="0">
                  <a:pos x="359" y="197"/>
                </a:cxn>
                <a:cxn ang="0">
                  <a:pos x="353" y="156"/>
                </a:cxn>
                <a:cxn ang="0">
                  <a:pos x="347" y="120"/>
                </a:cxn>
                <a:cxn ang="0">
                  <a:pos x="329" y="90"/>
                </a:cxn>
                <a:cxn ang="0">
                  <a:pos x="305" y="60"/>
                </a:cxn>
                <a:cxn ang="0">
                  <a:pos x="282" y="36"/>
                </a:cxn>
                <a:cxn ang="0">
                  <a:pos x="252" y="18"/>
                </a:cxn>
                <a:cxn ang="0">
                  <a:pos x="216" y="6"/>
                </a:cxn>
                <a:cxn ang="0">
                  <a:pos x="180" y="0"/>
                </a:cxn>
                <a:cxn ang="0">
                  <a:pos x="144" y="6"/>
                </a:cxn>
                <a:cxn ang="0">
                  <a:pos x="114" y="18"/>
                </a:cxn>
                <a:cxn ang="0">
                  <a:pos x="84" y="36"/>
                </a:cxn>
                <a:cxn ang="0">
                  <a:pos x="54" y="60"/>
                </a:cxn>
                <a:cxn ang="0">
                  <a:pos x="30" y="90"/>
                </a:cxn>
                <a:cxn ang="0">
                  <a:pos x="12" y="120"/>
                </a:cxn>
                <a:cxn ang="0">
                  <a:pos x="6" y="156"/>
                </a:cxn>
                <a:cxn ang="0">
                  <a:pos x="0" y="197"/>
                </a:cxn>
                <a:cxn ang="0">
                  <a:pos x="6" y="239"/>
                </a:cxn>
                <a:cxn ang="0">
                  <a:pos x="12" y="275"/>
                </a:cxn>
                <a:cxn ang="0">
                  <a:pos x="30" y="305"/>
                </a:cxn>
                <a:cxn ang="0">
                  <a:pos x="54" y="335"/>
                </a:cxn>
                <a:cxn ang="0">
                  <a:pos x="84" y="359"/>
                </a:cxn>
                <a:cxn ang="0">
                  <a:pos x="114" y="377"/>
                </a:cxn>
                <a:cxn ang="0">
                  <a:pos x="144" y="389"/>
                </a:cxn>
                <a:cxn ang="0">
                  <a:pos x="180" y="395"/>
                </a:cxn>
                <a:cxn ang="0">
                  <a:pos x="180" y="395"/>
                </a:cxn>
              </a:cxnLst>
              <a:rect l="txL" t="txT" r="txR" b="txB"/>
              <a:pathLst>
                <a:path w="359" h="395">
                  <a:moveTo>
                    <a:pt x="180" y="395"/>
                  </a:moveTo>
                  <a:lnTo>
                    <a:pt x="216" y="389"/>
                  </a:lnTo>
                  <a:lnTo>
                    <a:pt x="252" y="377"/>
                  </a:lnTo>
                  <a:lnTo>
                    <a:pt x="282" y="359"/>
                  </a:lnTo>
                  <a:lnTo>
                    <a:pt x="305" y="335"/>
                  </a:lnTo>
                  <a:lnTo>
                    <a:pt x="329" y="305"/>
                  </a:lnTo>
                  <a:lnTo>
                    <a:pt x="347" y="275"/>
                  </a:lnTo>
                  <a:lnTo>
                    <a:pt x="353" y="239"/>
                  </a:lnTo>
                  <a:lnTo>
                    <a:pt x="359" y="197"/>
                  </a:lnTo>
                  <a:lnTo>
                    <a:pt x="353" y="156"/>
                  </a:lnTo>
                  <a:lnTo>
                    <a:pt x="347" y="120"/>
                  </a:lnTo>
                  <a:lnTo>
                    <a:pt x="329" y="90"/>
                  </a:lnTo>
                  <a:lnTo>
                    <a:pt x="305" y="60"/>
                  </a:lnTo>
                  <a:lnTo>
                    <a:pt x="282" y="36"/>
                  </a:lnTo>
                  <a:lnTo>
                    <a:pt x="252" y="18"/>
                  </a:lnTo>
                  <a:lnTo>
                    <a:pt x="216" y="6"/>
                  </a:lnTo>
                  <a:lnTo>
                    <a:pt x="180" y="0"/>
                  </a:lnTo>
                  <a:lnTo>
                    <a:pt x="144" y="6"/>
                  </a:lnTo>
                  <a:lnTo>
                    <a:pt x="114" y="18"/>
                  </a:lnTo>
                  <a:lnTo>
                    <a:pt x="84" y="36"/>
                  </a:lnTo>
                  <a:lnTo>
                    <a:pt x="54" y="60"/>
                  </a:lnTo>
                  <a:lnTo>
                    <a:pt x="30" y="90"/>
                  </a:lnTo>
                  <a:lnTo>
                    <a:pt x="12" y="120"/>
                  </a:lnTo>
                  <a:lnTo>
                    <a:pt x="6" y="156"/>
                  </a:lnTo>
                  <a:lnTo>
                    <a:pt x="0" y="197"/>
                  </a:lnTo>
                  <a:lnTo>
                    <a:pt x="6" y="239"/>
                  </a:lnTo>
                  <a:lnTo>
                    <a:pt x="12" y="275"/>
                  </a:lnTo>
                  <a:lnTo>
                    <a:pt x="30" y="305"/>
                  </a:lnTo>
                  <a:lnTo>
                    <a:pt x="54" y="335"/>
                  </a:lnTo>
                  <a:lnTo>
                    <a:pt x="84" y="359"/>
                  </a:lnTo>
                  <a:lnTo>
                    <a:pt x="114" y="377"/>
                  </a:lnTo>
                  <a:lnTo>
                    <a:pt x="144" y="389"/>
                  </a:lnTo>
                  <a:lnTo>
                    <a:pt x="180" y="395"/>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85" name="Freeform 22"/>
            <p:cNvSpPr/>
            <p:nvPr/>
          </p:nvSpPr>
          <p:spPr>
            <a:xfrm>
              <a:off x="1483" y="2162"/>
              <a:ext cx="179" cy="198"/>
            </a:xfrm>
            <a:custGeom>
              <a:avLst/>
              <a:gdLst>
                <a:gd name="txL" fmla="*/ 0 w 179"/>
                <a:gd name="txT" fmla="*/ 0 h 198"/>
                <a:gd name="txR" fmla="*/ 179 w 179"/>
                <a:gd name="txB" fmla="*/ 198 h 198"/>
              </a:gdLst>
              <a:ahLst/>
              <a:cxnLst>
                <a:cxn ang="0">
                  <a:pos x="0" y="198"/>
                </a:cxn>
                <a:cxn ang="0">
                  <a:pos x="36" y="192"/>
                </a:cxn>
                <a:cxn ang="0">
                  <a:pos x="72" y="180"/>
                </a:cxn>
                <a:cxn ang="0">
                  <a:pos x="102" y="162"/>
                </a:cxn>
                <a:cxn ang="0">
                  <a:pos x="125" y="138"/>
                </a:cxn>
                <a:cxn ang="0">
                  <a:pos x="149" y="108"/>
                </a:cxn>
                <a:cxn ang="0">
                  <a:pos x="167" y="78"/>
                </a:cxn>
                <a:cxn ang="0">
                  <a:pos x="173" y="42"/>
                </a:cxn>
                <a:cxn ang="0">
                  <a:pos x="179" y="0"/>
                </a:cxn>
                <a:cxn ang="0">
                  <a:pos x="179" y="0"/>
                </a:cxn>
                <a:cxn ang="0">
                  <a:pos x="173" y="42"/>
                </a:cxn>
                <a:cxn ang="0">
                  <a:pos x="167" y="78"/>
                </a:cxn>
                <a:cxn ang="0">
                  <a:pos x="149" y="108"/>
                </a:cxn>
                <a:cxn ang="0">
                  <a:pos x="125" y="138"/>
                </a:cxn>
                <a:cxn ang="0">
                  <a:pos x="102" y="162"/>
                </a:cxn>
                <a:cxn ang="0">
                  <a:pos x="72" y="180"/>
                </a:cxn>
                <a:cxn ang="0">
                  <a:pos x="36" y="192"/>
                </a:cxn>
                <a:cxn ang="0">
                  <a:pos x="0" y="198"/>
                </a:cxn>
                <a:cxn ang="0">
                  <a:pos x="0" y="198"/>
                </a:cxn>
              </a:cxnLst>
              <a:rect l="txL" t="txT" r="txR" b="txB"/>
              <a:pathLst>
                <a:path w="179" h="198">
                  <a:moveTo>
                    <a:pt x="0" y="198"/>
                  </a:moveTo>
                  <a:lnTo>
                    <a:pt x="36" y="192"/>
                  </a:lnTo>
                  <a:lnTo>
                    <a:pt x="72" y="180"/>
                  </a:lnTo>
                  <a:lnTo>
                    <a:pt x="102" y="162"/>
                  </a:lnTo>
                  <a:lnTo>
                    <a:pt x="125" y="138"/>
                  </a:lnTo>
                  <a:lnTo>
                    <a:pt x="149" y="108"/>
                  </a:lnTo>
                  <a:lnTo>
                    <a:pt x="167" y="78"/>
                  </a:lnTo>
                  <a:lnTo>
                    <a:pt x="173" y="42"/>
                  </a:lnTo>
                  <a:lnTo>
                    <a:pt x="179" y="0"/>
                  </a:lnTo>
                  <a:lnTo>
                    <a:pt x="173" y="42"/>
                  </a:lnTo>
                  <a:lnTo>
                    <a:pt x="167" y="78"/>
                  </a:lnTo>
                  <a:lnTo>
                    <a:pt x="149" y="108"/>
                  </a:lnTo>
                  <a:lnTo>
                    <a:pt x="125" y="138"/>
                  </a:lnTo>
                  <a:lnTo>
                    <a:pt x="102" y="162"/>
                  </a:lnTo>
                  <a:lnTo>
                    <a:pt x="72" y="180"/>
                  </a:lnTo>
                  <a:lnTo>
                    <a:pt x="36" y="192"/>
                  </a:lnTo>
                  <a:lnTo>
                    <a:pt x="0" y="19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86" name="Freeform 23"/>
            <p:cNvSpPr>
              <a:spLocks noEditPoints="1"/>
            </p:cNvSpPr>
            <p:nvPr/>
          </p:nvSpPr>
          <p:spPr>
            <a:xfrm>
              <a:off x="1483" y="1965"/>
              <a:ext cx="179" cy="197"/>
            </a:xfrm>
            <a:custGeom>
              <a:avLst/>
              <a:gdLst>
                <a:gd name="txL" fmla="*/ 0 w 179"/>
                <a:gd name="txT" fmla="*/ 0 h 197"/>
                <a:gd name="txR" fmla="*/ 179 w 179"/>
                <a:gd name="txB" fmla="*/ 197 h 197"/>
              </a:gdLst>
              <a:ahLst/>
              <a:cxnLst>
                <a:cxn ang="0">
                  <a:pos x="179" y="197"/>
                </a:cxn>
                <a:cxn ang="0">
                  <a:pos x="173" y="156"/>
                </a:cxn>
                <a:cxn ang="0">
                  <a:pos x="167" y="120"/>
                </a:cxn>
                <a:cxn ang="0">
                  <a:pos x="149" y="90"/>
                </a:cxn>
                <a:cxn ang="0">
                  <a:pos x="125" y="60"/>
                </a:cxn>
                <a:cxn ang="0">
                  <a:pos x="102" y="36"/>
                </a:cxn>
                <a:cxn ang="0">
                  <a:pos x="72" y="18"/>
                </a:cxn>
                <a:cxn ang="0">
                  <a:pos x="36" y="6"/>
                </a:cxn>
                <a:cxn ang="0">
                  <a:pos x="0" y="0"/>
                </a:cxn>
                <a:cxn ang="0">
                  <a:pos x="0" y="0"/>
                </a:cxn>
                <a:cxn ang="0">
                  <a:pos x="36" y="6"/>
                </a:cxn>
                <a:cxn ang="0">
                  <a:pos x="72" y="18"/>
                </a:cxn>
                <a:cxn ang="0">
                  <a:pos x="102" y="36"/>
                </a:cxn>
                <a:cxn ang="0">
                  <a:pos x="125" y="60"/>
                </a:cxn>
                <a:cxn ang="0">
                  <a:pos x="149" y="90"/>
                </a:cxn>
                <a:cxn ang="0">
                  <a:pos x="167" y="120"/>
                </a:cxn>
                <a:cxn ang="0">
                  <a:pos x="173" y="156"/>
                </a:cxn>
                <a:cxn ang="0">
                  <a:pos x="179" y="197"/>
                </a:cxn>
                <a:cxn ang="0">
                  <a:pos x="179" y="197"/>
                </a:cxn>
                <a:cxn ang="0">
                  <a:pos x="179" y="197"/>
                </a:cxn>
                <a:cxn ang="0">
                  <a:pos x="179" y="197"/>
                </a:cxn>
                <a:cxn ang="0">
                  <a:pos x="179" y="197"/>
                </a:cxn>
              </a:cxnLst>
              <a:rect l="txL" t="txT" r="txR" b="txB"/>
              <a:pathLst>
                <a:path w="179" h="197">
                  <a:moveTo>
                    <a:pt x="179" y="197"/>
                  </a:moveTo>
                  <a:lnTo>
                    <a:pt x="173" y="156"/>
                  </a:lnTo>
                  <a:lnTo>
                    <a:pt x="167" y="120"/>
                  </a:lnTo>
                  <a:lnTo>
                    <a:pt x="149" y="90"/>
                  </a:lnTo>
                  <a:lnTo>
                    <a:pt x="125" y="60"/>
                  </a:lnTo>
                  <a:lnTo>
                    <a:pt x="102" y="36"/>
                  </a:lnTo>
                  <a:lnTo>
                    <a:pt x="72" y="18"/>
                  </a:lnTo>
                  <a:lnTo>
                    <a:pt x="36" y="6"/>
                  </a:lnTo>
                  <a:lnTo>
                    <a:pt x="0" y="0"/>
                  </a:lnTo>
                  <a:lnTo>
                    <a:pt x="36" y="6"/>
                  </a:lnTo>
                  <a:lnTo>
                    <a:pt x="72" y="18"/>
                  </a:lnTo>
                  <a:lnTo>
                    <a:pt x="102" y="36"/>
                  </a:lnTo>
                  <a:lnTo>
                    <a:pt x="125" y="60"/>
                  </a:lnTo>
                  <a:lnTo>
                    <a:pt x="149" y="90"/>
                  </a:lnTo>
                  <a:lnTo>
                    <a:pt x="167" y="120"/>
                  </a:lnTo>
                  <a:lnTo>
                    <a:pt x="173" y="156"/>
                  </a:lnTo>
                  <a:lnTo>
                    <a:pt x="179" y="197"/>
                  </a:lnTo>
                  <a:close/>
                  <a:moveTo>
                    <a:pt x="179" y="197"/>
                  </a:moveTo>
                  <a:lnTo>
                    <a:pt x="179" y="19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87" name="Freeform 24"/>
            <p:cNvSpPr>
              <a:spLocks noEditPoints="1"/>
            </p:cNvSpPr>
            <p:nvPr/>
          </p:nvSpPr>
          <p:spPr>
            <a:xfrm>
              <a:off x="1303" y="1965"/>
              <a:ext cx="180" cy="197"/>
            </a:xfrm>
            <a:custGeom>
              <a:avLst/>
              <a:gdLst>
                <a:gd name="txL" fmla="*/ 0 w 180"/>
                <a:gd name="txT" fmla="*/ 0 h 197"/>
                <a:gd name="txR" fmla="*/ 180 w 180"/>
                <a:gd name="txB" fmla="*/ 197 h 197"/>
              </a:gdLst>
              <a:ahLst/>
              <a:cxnLst>
                <a:cxn ang="0">
                  <a:pos x="180" y="0"/>
                </a:cxn>
                <a:cxn ang="0">
                  <a:pos x="144" y="6"/>
                </a:cxn>
                <a:cxn ang="0">
                  <a:pos x="114" y="18"/>
                </a:cxn>
                <a:cxn ang="0">
                  <a:pos x="84" y="36"/>
                </a:cxn>
                <a:cxn ang="0">
                  <a:pos x="54" y="60"/>
                </a:cxn>
                <a:cxn ang="0">
                  <a:pos x="30" y="90"/>
                </a:cxn>
                <a:cxn ang="0">
                  <a:pos x="12" y="120"/>
                </a:cxn>
                <a:cxn ang="0">
                  <a:pos x="6" y="156"/>
                </a:cxn>
                <a:cxn ang="0">
                  <a:pos x="0" y="197"/>
                </a:cxn>
                <a:cxn ang="0">
                  <a:pos x="0" y="197"/>
                </a:cxn>
                <a:cxn ang="0">
                  <a:pos x="6" y="156"/>
                </a:cxn>
                <a:cxn ang="0">
                  <a:pos x="12" y="120"/>
                </a:cxn>
                <a:cxn ang="0">
                  <a:pos x="30" y="90"/>
                </a:cxn>
                <a:cxn ang="0">
                  <a:pos x="54" y="60"/>
                </a:cxn>
                <a:cxn ang="0">
                  <a:pos x="84" y="36"/>
                </a:cxn>
                <a:cxn ang="0">
                  <a:pos x="114" y="18"/>
                </a:cxn>
                <a:cxn ang="0">
                  <a:pos x="144" y="6"/>
                </a:cxn>
                <a:cxn ang="0">
                  <a:pos x="180" y="0"/>
                </a:cxn>
                <a:cxn ang="0">
                  <a:pos x="180" y="0"/>
                </a:cxn>
                <a:cxn ang="0">
                  <a:pos x="180" y="0"/>
                </a:cxn>
                <a:cxn ang="0">
                  <a:pos x="180" y="0"/>
                </a:cxn>
                <a:cxn ang="0">
                  <a:pos x="180" y="0"/>
                </a:cxn>
              </a:cxnLst>
              <a:rect l="txL" t="txT" r="txR" b="txB"/>
              <a:pathLst>
                <a:path w="180" h="197">
                  <a:moveTo>
                    <a:pt x="180" y="0"/>
                  </a:moveTo>
                  <a:lnTo>
                    <a:pt x="144" y="6"/>
                  </a:lnTo>
                  <a:lnTo>
                    <a:pt x="114" y="18"/>
                  </a:lnTo>
                  <a:lnTo>
                    <a:pt x="84" y="36"/>
                  </a:lnTo>
                  <a:lnTo>
                    <a:pt x="54" y="60"/>
                  </a:lnTo>
                  <a:lnTo>
                    <a:pt x="30" y="90"/>
                  </a:lnTo>
                  <a:lnTo>
                    <a:pt x="12" y="120"/>
                  </a:lnTo>
                  <a:lnTo>
                    <a:pt x="6" y="156"/>
                  </a:lnTo>
                  <a:lnTo>
                    <a:pt x="0" y="197"/>
                  </a:lnTo>
                  <a:lnTo>
                    <a:pt x="6" y="156"/>
                  </a:lnTo>
                  <a:lnTo>
                    <a:pt x="12" y="120"/>
                  </a:lnTo>
                  <a:lnTo>
                    <a:pt x="30" y="90"/>
                  </a:lnTo>
                  <a:lnTo>
                    <a:pt x="54" y="60"/>
                  </a:lnTo>
                  <a:lnTo>
                    <a:pt x="84" y="36"/>
                  </a:lnTo>
                  <a:lnTo>
                    <a:pt x="114" y="18"/>
                  </a:lnTo>
                  <a:lnTo>
                    <a:pt x="144" y="6"/>
                  </a:lnTo>
                  <a:lnTo>
                    <a:pt x="180" y="0"/>
                  </a:lnTo>
                  <a:close/>
                  <a:moveTo>
                    <a:pt x="180" y="0"/>
                  </a:moveTo>
                  <a:lnTo>
                    <a:pt x="18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88" name="Freeform 25"/>
            <p:cNvSpPr>
              <a:spLocks noEditPoints="1"/>
            </p:cNvSpPr>
            <p:nvPr/>
          </p:nvSpPr>
          <p:spPr>
            <a:xfrm>
              <a:off x="1303" y="2162"/>
              <a:ext cx="180" cy="198"/>
            </a:xfrm>
            <a:custGeom>
              <a:avLst/>
              <a:gdLst>
                <a:gd name="txL" fmla="*/ 0 w 180"/>
                <a:gd name="txT" fmla="*/ 0 h 198"/>
                <a:gd name="txR" fmla="*/ 180 w 180"/>
                <a:gd name="txB" fmla="*/ 198 h 198"/>
              </a:gdLst>
              <a:ahLst/>
              <a:cxnLst>
                <a:cxn ang="0">
                  <a:pos x="0" y="0"/>
                </a:cxn>
                <a:cxn ang="0">
                  <a:pos x="6" y="42"/>
                </a:cxn>
                <a:cxn ang="0">
                  <a:pos x="12" y="78"/>
                </a:cxn>
                <a:cxn ang="0">
                  <a:pos x="30" y="108"/>
                </a:cxn>
                <a:cxn ang="0">
                  <a:pos x="54" y="138"/>
                </a:cxn>
                <a:cxn ang="0">
                  <a:pos x="84" y="162"/>
                </a:cxn>
                <a:cxn ang="0">
                  <a:pos x="114" y="180"/>
                </a:cxn>
                <a:cxn ang="0">
                  <a:pos x="144" y="192"/>
                </a:cxn>
                <a:cxn ang="0">
                  <a:pos x="180" y="198"/>
                </a:cxn>
                <a:cxn ang="0">
                  <a:pos x="180" y="198"/>
                </a:cxn>
                <a:cxn ang="0">
                  <a:pos x="144" y="192"/>
                </a:cxn>
                <a:cxn ang="0">
                  <a:pos x="114" y="180"/>
                </a:cxn>
                <a:cxn ang="0">
                  <a:pos x="84" y="162"/>
                </a:cxn>
                <a:cxn ang="0">
                  <a:pos x="54" y="138"/>
                </a:cxn>
                <a:cxn ang="0">
                  <a:pos x="30" y="108"/>
                </a:cxn>
                <a:cxn ang="0">
                  <a:pos x="12" y="78"/>
                </a:cxn>
                <a:cxn ang="0">
                  <a:pos x="6" y="42"/>
                </a:cxn>
                <a:cxn ang="0">
                  <a:pos x="0" y="0"/>
                </a:cxn>
                <a:cxn ang="0">
                  <a:pos x="0" y="0"/>
                </a:cxn>
                <a:cxn ang="0">
                  <a:pos x="0" y="0"/>
                </a:cxn>
                <a:cxn ang="0">
                  <a:pos x="0" y="0"/>
                </a:cxn>
                <a:cxn ang="0">
                  <a:pos x="0" y="0"/>
                </a:cxn>
              </a:cxnLst>
              <a:rect l="txL" t="txT" r="txR" b="txB"/>
              <a:pathLst>
                <a:path w="180" h="198">
                  <a:moveTo>
                    <a:pt x="0" y="0"/>
                  </a:moveTo>
                  <a:lnTo>
                    <a:pt x="6" y="42"/>
                  </a:lnTo>
                  <a:lnTo>
                    <a:pt x="12" y="78"/>
                  </a:lnTo>
                  <a:lnTo>
                    <a:pt x="30" y="108"/>
                  </a:lnTo>
                  <a:lnTo>
                    <a:pt x="54" y="138"/>
                  </a:lnTo>
                  <a:lnTo>
                    <a:pt x="84" y="162"/>
                  </a:lnTo>
                  <a:lnTo>
                    <a:pt x="114" y="180"/>
                  </a:lnTo>
                  <a:lnTo>
                    <a:pt x="144" y="192"/>
                  </a:lnTo>
                  <a:lnTo>
                    <a:pt x="180" y="198"/>
                  </a:lnTo>
                  <a:lnTo>
                    <a:pt x="144" y="192"/>
                  </a:lnTo>
                  <a:lnTo>
                    <a:pt x="114" y="180"/>
                  </a:lnTo>
                  <a:lnTo>
                    <a:pt x="84" y="162"/>
                  </a:lnTo>
                  <a:lnTo>
                    <a:pt x="54" y="138"/>
                  </a:lnTo>
                  <a:lnTo>
                    <a:pt x="30" y="108"/>
                  </a:lnTo>
                  <a:lnTo>
                    <a:pt x="12" y="78"/>
                  </a:lnTo>
                  <a:lnTo>
                    <a:pt x="6" y="42"/>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89" name="Freeform 26"/>
            <p:cNvSpPr/>
            <p:nvPr/>
          </p:nvSpPr>
          <p:spPr>
            <a:xfrm>
              <a:off x="1483" y="2360"/>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90" name="Freeform 27"/>
            <p:cNvSpPr/>
            <p:nvPr/>
          </p:nvSpPr>
          <p:spPr>
            <a:xfrm>
              <a:off x="1429" y="2031"/>
              <a:ext cx="108" cy="120"/>
            </a:xfrm>
            <a:custGeom>
              <a:avLst/>
              <a:gdLst>
                <a:gd name="txL" fmla="*/ 0 w 108"/>
                <a:gd name="txT" fmla="*/ 0 h 120"/>
                <a:gd name="txR" fmla="*/ 108 w 108"/>
                <a:gd name="txB" fmla="*/ 120 h 120"/>
              </a:gdLst>
              <a:ahLst/>
              <a:cxnLst>
                <a:cxn ang="0">
                  <a:pos x="42" y="54"/>
                </a:cxn>
                <a:cxn ang="0">
                  <a:pos x="0" y="54"/>
                </a:cxn>
                <a:cxn ang="0">
                  <a:pos x="0" y="66"/>
                </a:cxn>
                <a:cxn ang="0">
                  <a:pos x="42" y="66"/>
                </a:cxn>
                <a:cxn ang="0">
                  <a:pos x="42" y="120"/>
                </a:cxn>
                <a:cxn ang="0">
                  <a:pos x="60" y="120"/>
                </a:cxn>
                <a:cxn ang="0">
                  <a:pos x="60" y="66"/>
                </a:cxn>
                <a:cxn ang="0">
                  <a:pos x="108" y="66"/>
                </a:cxn>
                <a:cxn ang="0">
                  <a:pos x="108" y="54"/>
                </a:cxn>
                <a:cxn ang="0">
                  <a:pos x="60" y="54"/>
                </a:cxn>
                <a:cxn ang="0">
                  <a:pos x="60" y="0"/>
                </a:cxn>
                <a:cxn ang="0">
                  <a:pos x="42" y="0"/>
                </a:cxn>
                <a:cxn ang="0">
                  <a:pos x="42" y="54"/>
                </a:cxn>
              </a:cxnLst>
              <a:rect l="txL" t="txT" r="txR" b="txB"/>
              <a:pathLst>
                <a:path w="108" h="120">
                  <a:moveTo>
                    <a:pt x="42" y="54"/>
                  </a:moveTo>
                  <a:lnTo>
                    <a:pt x="0" y="54"/>
                  </a:lnTo>
                  <a:lnTo>
                    <a:pt x="0" y="66"/>
                  </a:lnTo>
                  <a:lnTo>
                    <a:pt x="42" y="66"/>
                  </a:lnTo>
                  <a:lnTo>
                    <a:pt x="42" y="120"/>
                  </a:lnTo>
                  <a:lnTo>
                    <a:pt x="60" y="120"/>
                  </a:lnTo>
                  <a:lnTo>
                    <a:pt x="60" y="66"/>
                  </a:lnTo>
                  <a:lnTo>
                    <a:pt x="108" y="66"/>
                  </a:lnTo>
                  <a:lnTo>
                    <a:pt x="108" y="54"/>
                  </a:lnTo>
                  <a:lnTo>
                    <a:pt x="60" y="54"/>
                  </a:lnTo>
                  <a:lnTo>
                    <a:pt x="60" y="0"/>
                  </a:lnTo>
                  <a:lnTo>
                    <a:pt x="42" y="0"/>
                  </a:lnTo>
                  <a:lnTo>
                    <a:pt x="42" y="5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91" name="Rectangle 28"/>
            <p:cNvSpPr/>
            <p:nvPr/>
          </p:nvSpPr>
          <p:spPr>
            <a:xfrm>
              <a:off x="1423" y="2246"/>
              <a:ext cx="114" cy="12"/>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40992" name="Freeform 29"/>
            <p:cNvSpPr>
              <a:spLocks noEditPoints="1"/>
            </p:cNvSpPr>
            <p:nvPr/>
          </p:nvSpPr>
          <p:spPr>
            <a:xfrm>
              <a:off x="3044" y="2121"/>
              <a:ext cx="132" cy="155"/>
            </a:xfrm>
            <a:custGeom>
              <a:avLst/>
              <a:gdLst>
                <a:gd name="txL" fmla="*/ 0 w 132"/>
                <a:gd name="txT" fmla="*/ 0 h 155"/>
                <a:gd name="txR" fmla="*/ 132 w 132"/>
                <a:gd name="txB" fmla="*/ 155 h 155"/>
              </a:gdLst>
              <a:ahLst/>
              <a:cxnLst>
                <a:cxn ang="0">
                  <a:pos x="126" y="149"/>
                </a:cxn>
                <a:cxn ang="0">
                  <a:pos x="114" y="143"/>
                </a:cxn>
                <a:cxn ang="0">
                  <a:pos x="108" y="131"/>
                </a:cxn>
                <a:cxn ang="0">
                  <a:pos x="90" y="77"/>
                </a:cxn>
                <a:cxn ang="0">
                  <a:pos x="108" y="71"/>
                </a:cxn>
                <a:cxn ang="0">
                  <a:pos x="120" y="59"/>
                </a:cxn>
                <a:cxn ang="0">
                  <a:pos x="132" y="36"/>
                </a:cxn>
                <a:cxn ang="0">
                  <a:pos x="126" y="18"/>
                </a:cxn>
                <a:cxn ang="0">
                  <a:pos x="114" y="6"/>
                </a:cxn>
                <a:cxn ang="0">
                  <a:pos x="96" y="0"/>
                </a:cxn>
                <a:cxn ang="0">
                  <a:pos x="84" y="0"/>
                </a:cxn>
                <a:cxn ang="0">
                  <a:pos x="36" y="0"/>
                </a:cxn>
                <a:cxn ang="0">
                  <a:pos x="36" y="6"/>
                </a:cxn>
                <a:cxn ang="0">
                  <a:pos x="42" y="6"/>
                </a:cxn>
                <a:cxn ang="0">
                  <a:pos x="48" y="18"/>
                </a:cxn>
                <a:cxn ang="0">
                  <a:pos x="48" y="24"/>
                </a:cxn>
                <a:cxn ang="0">
                  <a:pos x="48" y="30"/>
                </a:cxn>
                <a:cxn ang="0">
                  <a:pos x="18" y="131"/>
                </a:cxn>
                <a:cxn ang="0">
                  <a:pos x="18" y="143"/>
                </a:cxn>
                <a:cxn ang="0">
                  <a:pos x="12" y="149"/>
                </a:cxn>
                <a:cxn ang="0">
                  <a:pos x="0" y="149"/>
                </a:cxn>
                <a:cxn ang="0">
                  <a:pos x="0" y="155"/>
                </a:cxn>
                <a:cxn ang="0">
                  <a:pos x="54" y="155"/>
                </a:cxn>
                <a:cxn ang="0">
                  <a:pos x="54" y="149"/>
                </a:cxn>
                <a:cxn ang="0">
                  <a:pos x="42" y="149"/>
                </a:cxn>
                <a:cxn ang="0">
                  <a:pos x="42" y="137"/>
                </a:cxn>
                <a:cxn ang="0">
                  <a:pos x="42" y="137"/>
                </a:cxn>
                <a:cxn ang="0">
                  <a:pos x="42" y="125"/>
                </a:cxn>
                <a:cxn ang="0">
                  <a:pos x="54" y="77"/>
                </a:cxn>
                <a:cxn ang="0">
                  <a:pos x="66" y="77"/>
                </a:cxn>
                <a:cxn ang="0">
                  <a:pos x="96" y="155"/>
                </a:cxn>
                <a:cxn ang="0">
                  <a:pos x="126" y="155"/>
                </a:cxn>
                <a:cxn ang="0">
                  <a:pos x="126" y="149"/>
                </a:cxn>
                <a:cxn ang="0">
                  <a:pos x="72" y="12"/>
                </a:cxn>
                <a:cxn ang="0">
                  <a:pos x="72" y="12"/>
                </a:cxn>
                <a:cxn ang="0">
                  <a:pos x="84" y="6"/>
                </a:cxn>
                <a:cxn ang="0">
                  <a:pos x="102" y="12"/>
                </a:cxn>
                <a:cxn ang="0">
                  <a:pos x="108" y="24"/>
                </a:cxn>
                <a:cxn ang="0">
                  <a:pos x="108" y="36"/>
                </a:cxn>
                <a:cxn ang="0">
                  <a:pos x="102" y="59"/>
                </a:cxn>
                <a:cxn ang="0">
                  <a:pos x="90" y="71"/>
                </a:cxn>
                <a:cxn ang="0">
                  <a:pos x="72" y="71"/>
                </a:cxn>
                <a:cxn ang="0">
                  <a:pos x="66" y="71"/>
                </a:cxn>
                <a:cxn ang="0">
                  <a:pos x="60" y="65"/>
                </a:cxn>
                <a:cxn ang="0">
                  <a:pos x="72" y="12"/>
                </a:cxn>
              </a:cxnLst>
              <a:rect l="txL" t="txT" r="txR" b="txB"/>
              <a:pathLst>
                <a:path w="132" h="155">
                  <a:moveTo>
                    <a:pt x="126" y="149"/>
                  </a:moveTo>
                  <a:lnTo>
                    <a:pt x="114" y="143"/>
                  </a:lnTo>
                  <a:lnTo>
                    <a:pt x="108" y="131"/>
                  </a:lnTo>
                  <a:lnTo>
                    <a:pt x="90" y="77"/>
                  </a:lnTo>
                  <a:lnTo>
                    <a:pt x="108" y="71"/>
                  </a:lnTo>
                  <a:lnTo>
                    <a:pt x="120" y="59"/>
                  </a:lnTo>
                  <a:lnTo>
                    <a:pt x="132" y="36"/>
                  </a:lnTo>
                  <a:lnTo>
                    <a:pt x="126" y="18"/>
                  </a:lnTo>
                  <a:lnTo>
                    <a:pt x="114" y="6"/>
                  </a:lnTo>
                  <a:lnTo>
                    <a:pt x="96" y="0"/>
                  </a:lnTo>
                  <a:lnTo>
                    <a:pt x="84" y="0"/>
                  </a:lnTo>
                  <a:lnTo>
                    <a:pt x="36" y="0"/>
                  </a:lnTo>
                  <a:lnTo>
                    <a:pt x="36" y="6"/>
                  </a:lnTo>
                  <a:lnTo>
                    <a:pt x="42" y="6"/>
                  </a:lnTo>
                  <a:lnTo>
                    <a:pt x="48" y="18"/>
                  </a:lnTo>
                  <a:lnTo>
                    <a:pt x="48" y="24"/>
                  </a:lnTo>
                  <a:lnTo>
                    <a:pt x="48" y="30"/>
                  </a:lnTo>
                  <a:lnTo>
                    <a:pt x="18" y="131"/>
                  </a:lnTo>
                  <a:lnTo>
                    <a:pt x="18" y="143"/>
                  </a:lnTo>
                  <a:lnTo>
                    <a:pt x="12" y="149"/>
                  </a:lnTo>
                  <a:lnTo>
                    <a:pt x="0" y="149"/>
                  </a:lnTo>
                  <a:lnTo>
                    <a:pt x="0" y="155"/>
                  </a:lnTo>
                  <a:lnTo>
                    <a:pt x="54" y="155"/>
                  </a:lnTo>
                  <a:lnTo>
                    <a:pt x="54" y="149"/>
                  </a:lnTo>
                  <a:lnTo>
                    <a:pt x="42" y="149"/>
                  </a:lnTo>
                  <a:lnTo>
                    <a:pt x="42" y="137"/>
                  </a:lnTo>
                  <a:lnTo>
                    <a:pt x="42" y="125"/>
                  </a:lnTo>
                  <a:lnTo>
                    <a:pt x="54" y="77"/>
                  </a:lnTo>
                  <a:lnTo>
                    <a:pt x="66" y="77"/>
                  </a:lnTo>
                  <a:lnTo>
                    <a:pt x="96" y="155"/>
                  </a:lnTo>
                  <a:lnTo>
                    <a:pt x="126" y="155"/>
                  </a:lnTo>
                  <a:lnTo>
                    <a:pt x="126" y="149"/>
                  </a:lnTo>
                  <a:close/>
                  <a:moveTo>
                    <a:pt x="72" y="12"/>
                  </a:moveTo>
                  <a:lnTo>
                    <a:pt x="72" y="12"/>
                  </a:lnTo>
                  <a:lnTo>
                    <a:pt x="84" y="6"/>
                  </a:lnTo>
                  <a:lnTo>
                    <a:pt x="102" y="12"/>
                  </a:lnTo>
                  <a:lnTo>
                    <a:pt x="108" y="24"/>
                  </a:lnTo>
                  <a:lnTo>
                    <a:pt x="108" y="36"/>
                  </a:lnTo>
                  <a:lnTo>
                    <a:pt x="102" y="59"/>
                  </a:lnTo>
                  <a:lnTo>
                    <a:pt x="90" y="71"/>
                  </a:lnTo>
                  <a:lnTo>
                    <a:pt x="72" y="71"/>
                  </a:lnTo>
                  <a:lnTo>
                    <a:pt x="66" y="71"/>
                  </a:lnTo>
                  <a:lnTo>
                    <a:pt x="60" y="65"/>
                  </a:lnTo>
                  <a:lnTo>
                    <a:pt x="72"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93" name="Freeform 30"/>
            <p:cNvSpPr/>
            <p:nvPr/>
          </p:nvSpPr>
          <p:spPr>
            <a:xfrm>
              <a:off x="3200" y="2216"/>
              <a:ext cx="41" cy="120"/>
            </a:xfrm>
            <a:custGeom>
              <a:avLst/>
              <a:gdLst>
                <a:gd name="txL" fmla="*/ 0 w 41"/>
                <a:gd name="txT" fmla="*/ 0 h 120"/>
                <a:gd name="txR" fmla="*/ 41 w 41"/>
                <a:gd name="txB" fmla="*/ 120 h 120"/>
              </a:gdLst>
              <a:ahLst/>
              <a:cxnLst>
                <a:cxn ang="0">
                  <a:pos x="0" y="120"/>
                </a:cxn>
                <a:cxn ang="0">
                  <a:pos x="41" y="120"/>
                </a:cxn>
                <a:cxn ang="0">
                  <a:pos x="41" y="114"/>
                </a:cxn>
                <a:cxn ang="0">
                  <a:pos x="29" y="114"/>
                </a:cxn>
                <a:cxn ang="0">
                  <a:pos x="29" y="108"/>
                </a:cxn>
                <a:cxn ang="0">
                  <a:pos x="29" y="0"/>
                </a:cxn>
                <a:cxn ang="0">
                  <a:pos x="29" y="0"/>
                </a:cxn>
                <a:cxn ang="0">
                  <a:pos x="0" y="12"/>
                </a:cxn>
                <a:cxn ang="0">
                  <a:pos x="0" y="18"/>
                </a:cxn>
                <a:cxn ang="0">
                  <a:pos x="5" y="12"/>
                </a:cxn>
                <a:cxn ang="0">
                  <a:pos x="11" y="12"/>
                </a:cxn>
                <a:cxn ang="0">
                  <a:pos x="11" y="18"/>
                </a:cxn>
                <a:cxn ang="0">
                  <a:pos x="11" y="24"/>
                </a:cxn>
                <a:cxn ang="0">
                  <a:pos x="11" y="102"/>
                </a:cxn>
                <a:cxn ang="0">
                  <a:pos x="5" y="114"/>
                </a:cxn>
                <a:cxn ang="0">
                  <a:pos x="0" y="114"/>
                </a:cxn>
                <a:cxn ang="0">
                  <a:pos x="0" y="120"/>
                </a:cxn>
              </a:cxnLst>
              <a:rect l="txL" t="txT" r="txR" b="txB"/>
              <a:pathLst>
                <a:path w="41" h="120">
                  <a:moveTo>
                    <a:pt x="0" y="120"/>
                  </a:moveTo>
                  <a:lnTo>
                    <a:pt x="41" y="120"/>
                  </a:lnTo>
                  <a:lnTo>
                    <a:pt x="41" y="114"/>
                  </a:lnTo>
                  <a:lnTo>
                    <a:pt x="29" y="114"/>
                  </a:lnTo>
                  <a:lnTo>
                    <a:pt x="29" y="108"/>
                  </a:lnTo>
                  <a:lnTo>
                    <a:pt x="29" y="0"/>
                  </a:lnTo>
                  <a:lnTo>
                    <a:pt x="0" y="12"/>
                  </a:lnTo>
                  <a:lnTo>
                    <a:pt x="0" y="18"/>
                  </a:lnTo>
                  <a:lnTo>
                    <a:pt x="5" y="12"/>
                  </a:lnTo>
                  <a:lnTo>
                    <a:pt x="11" y="12"/>
                  </a:lnTo>
                  <a:lnTo>
                    <a:pt x="11" y="18"/>
                  </a:lnTo>
                  <a:lnTo>
                    <a:pt x="11" y="24"/>
                  </a:lnTo>
                  <a:lnTo>
                    <a:pt x="11" y="102"/>
                  </a:lnTo>
                  <a:lnTo>
                    <a:pt x="5" y="114"/>
                  </a:lnTo>
                  <a:lnTo>
                    <a:pt x="0" y="114"/>
                  </a:lnTo>
                  <a:lnTo>
                    <a:pt x="0" y="12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0994" name="Freeform 31"/>
            <p:cNvSpPr/>
            <p:nvPr/>
          </p:nvSpPr>
          <p:spPr>
            <a:xfrm>
              <a:off x="2871" y="2407"/>
              <a:ext cx="65" cy="30"/>
            </a:xfrm>
            <a:custGeom>
              <a:avLst/>
              <a:gdLst>
                <a:gd name="txL" fmla="*/ 0 w 65"/>
                <a:gd name="txT" fmla="*/ 0 h 30"/>
                <a:gd name="txR" fmla="*/ 65 w 65"/>
                <a:gd name="txB" fmla="*/ 30 h 30"/>
              </a:gdLst>
              <a:ahLst/>
              <a:cxnLst>
                <a:cxn ang="0">
                  <a:pos x="0" y="30"/>
                </a:cxn>
                <a:cxn ang="0">
                  <a:pos x="65" y="0"/>
                </a:cxn>
                <a:cxn ang="0">
                  <a:pos x="0" y="30"/>
                </a:cxn>
                <a:cxn ang="0">
                  <a:pos x="0" y="30"/>
                </a:cxn>
              </a:cxnLst>
              <a:rect l="txL" t="txT" r="txR" b="txB"/>
              <a:pathLst>
                <a:path w="65" h="30">
                  <a:moveTo>
                    <a:pt x="0" y="30"/>
                  </a:moveTo>
                  <a:lnTo>
                    <a:pt x="65" y="0"/>
                  </a:ln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0995" name="Freeform 32"/>
            <p:cNvSpPr>
              <a:spLocks noEditPoints="1"/>
            </p:cNvSpPr>
            <p:nvPr/>
          </p:nvSpPr>
          <p:spPr>
            <a:xfrm>
              <a:off x="2871" y="2371"/>
              <a:ext cx="65" cy="36"/>
            </a:xfrm>
            <a:custGeom>
              <a:avLst/>
              <a:gdLst>
                <a:gd name="txL" fmla="*/ 0 w 65"/>
                <a:gd name="txT" fmla="*/ 0 h 36"/>
                <a:gd name="txR" fmla="*/ 65 w 65"/>
                <a:gd name="txB" fmla="*/ 36 h 36"/>
              </a:gdLst>
              <a:ahLst/>
              <a:cxnLst>
                <a:cxn ang="0">
                  <a:pos x="65" y="36"/>
                </a:cxn>
                <a:cxn ang="0">
                  <a:pos x="0" y="0"/>
                </a:cxn>
                <a:cxn ang="0">
                  <a:pos x="65" y="36"/>
                </a:cxn>
                <a:cxn ang="0">
                  <a:pos x="65" y="36"/>
                </a:cxn>
                <a:cxn ang="0">
                  <a:pos x="65" y="36"/>
                </a:cxn>
                <a:cxn ang="0">
                  <a:pos x="65" y="36"/>
                </a:cxn>
                <a:cxn ang="0">
                  <a:pos x="65" y="36"/>
                </a:cxn>
              </a:cxnLst>
              <a:rect l="txL" t="txT" r="txR" b="txB"/>
              <a:pathLst>
                <a:path w="65" h="36">
                  <a:moveTo>
                    <a:pt x="65" y="36"/>
                  </a:moveTo>
                  <a:lnTo>
                    <a:pt x="0" y="0"/>
                  </a:lnTo>
                  <a:lnTo>
                    <a:pt x="65" y="36"/>
                  </a:lnTo>
                  <a:close/>
                  <a:moveTo>
                    <a:pt x="65" y="36"/>
                  </a:moveTo>
                  <a:lnTo>
                    <a:pt x="65"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0996" name="Freeform 33"/>
            <p:cNvSpPr>
              <a:spLocks noEditPoints="1"/>
            </p:cNvSpPr>
            <p:nvPr/>
          </p:nvSpPr>
          <p:spPr>
            <a:xfrm>
              <a:off x="2805" y="2342"/>
              <a:ext cx="66" cy="29"/>
            </a:xfrm>
            <a:custGeom>
              <a:avLst/>
              <a:gdLst>
                <a:gd name="txL" fmla="*/ 0 w 66"/>
                <a:gd name="txT" fmla="*/ 0 h 29"/>
                <a:gd name="txR" fmla="*/ 66 w 66"/>
                <a:gd name="txB" fmla="*/ 29 h 29"/>
              </a:gdLst>
              <a:ahLst/>
              <a:cxnLst>
                <a:cxn ang="0">
                  <a:pos x="66" y="29"/>
                </a:cxn>
                <a:cxn ang="0">
                  <a:pos x="0" y="0"/>
                </a:cxn>
                <a:cxn ang="0">
                  <a:pos x="66" y="29"/>
                </a:cxn>
                <a:cxn ang="0">
                  <a:pos x="66" y="29"/>
                </a:cxn>
                <a:cxn ang="0">
                  <a:pos x="66" y="29"/>
                </a:cxn>
                <a:cxn ang="0">
                  <a:pos x="66" y="29"/>
                </a:cxn>
                <a:cxn ang="0">
                  <a:pos x="66" y="29"/>
                </a:cxn>
              </a:cxnLst>
              <a:rect l="txL" t="txT" r="txR" b="txB"/>
              <a:pathLst>
                <a:path w="66" h="29">
                  <a:moveTo>
                    <a:pt x="66" y="29"/>
                  </a:moveTo>
                  <a:lnTo>
                    <a:pt x="0" y="0"/>
                  </a:lnTo>
                  <a:lnTo>
                    <a:pt x="66" y="29"/>
                  </a:lnTo>
                  <a:close/>
                  <a:moveTo>
                    <a:pt x="66" y="29"/>
                  </a:moveTo>
                  <a:lnTo>
                    <a:pt x="66" y="2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0997" name="Freeform 34"/>
            <p:cNvSpPr>
              <a:spLocks noEditPoints="1"/>
            </p:cNvSpPr>
            <p:nvPr/>
          </p:nvSpPr>
          <p:spPr>
            <a:xfrm>
              <a:off x="2805" y="2312"/>
              <a:ext cx="66" cy="30"/>
            </a:xfrm>
            <a:custGeom>
              <a:avLst/>
              <a:gdLst>
                <a:gd name="txL" fmla="*/ 0 w 66"/>
                <a:gd name="txT" fmla="*/ 0 h 30"/>
                <a:gd name="txR" fmla="*/ 66 w 66"/>
                <a:gd name="txB" fmla="*/ 30 h 30"/>
              </a:gdLst>
              <a:ahLst/>
              <a:cxnLst>
                <a:cxn ang="0">
                  <a:pos x="0" y="30"/>
                </a:cxn>
                <a:cxn ang="0">
                  <a:pos x="66" y="0"/>
                </a:cxn>
                <a:cxn ang="0">
                  <a:pos x="0" y="30"/>
                </a:cxn>
                <a:cxn ang="0">
                  <a:pos x="0" y="30"/>
                </a:cxn>
                <a:cxn ang="0">
                  <a:pos x="0" y="30"/>
                </a:cxn>
                <a:cxn ang="0">
                  <a:pos x="0" y="30"/>
                </a:cxn>
                <a:cxn ang="0">
                  <a:pos x="0" y="30"/>
                </a:cxn>
              </a:cxnLst>
              <a:rect l="txL" t="txT" r="txR" b="txB"/>
              <a:pathLst>
                <a:path w="66" h="30">
                  <a:moveTo>
                    <a:pt x="0" y="30"/>
                  </a:moveTo>
                  <a:lnTo>
                    <a:pt x="66"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0998" name="Freeform 35"/>
            <p:cNvSpPr>
              <a:spLocks noEditPoints="1"/>
            </p:cNvSpPr>
            <p:nvPr/>
          </p:nvSpPr>
          <p:spPr>
            <a:xfrm>
              <a:off x="2871" y="2312"/>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0999" name="Freeform 36"/>
            <p:cNvSpPr>
              <a:spLocks noEditPoints="1"/>
            </p:cNvSpPr>
            <p:nvPr/>
          </p:nvSpPr>
          <p:spPr>
            <a:xfrm>
              <a:off x="2871" y="2282"/>
              <a:ext cx="65" cy="30"/>
            </a:xfrm>
            <a:custGeom>
              <a:avLst/>
              <a:gdLst>
                <a:gd name="txL" fmla="*/ 0 w 65"/>
                <a:gd name="txT" fmla="*/ 0 h 30"/>
                <a:gd name="txR" fmla="*/ 65 w 65"/>
                <a:gd name="txB" fmla="*/ 30 h 30"/>
              </a:gdLst>
              <a:ahLst/>
              <a:cxnLst>
                <a:cxn ang="0">
                  <a:pos x="0" y="30"/>
                </a:cxn>
                <a:cxn ang="0">
                  <a:pos x="65" y="0"/>
                </a:cxn>
                <a:cxn ang="0">
                  <a:pos x="0" y="30"/>
                </a:cxn>
                <a:cxn ang="0">
                  <a:pos x="0" y="30"/>
                </a:cxn>
                <a:cxn ang="0">
                  <a:pos x="0" y="30"/>
                </a:cxn>
                <a:cxn ang="0">
                  <a:pos x="0" y="30"/>
                </a:cxn>
                <a:cxn ang="0">
                  <a:pos x="0" y="30"/>
                </a:cxn>
              </a:cxnLst>
              <a:rect l="txL" t="txT" r="txR" b="txB"/>
              <a:pathLst>
                <a:path w="65" h="30">
                  <a:moveTo>
                    <a:pt x="0" y="30"/>
                  </a:moveTo>
                  <a:lnTo>
                    <a:pt x="65"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00" name="Freeform 37"/>
            <p:cNvSpPr>
              <a:spLocks noEditPoints="1"/>
            </p:cNvSpPr>
            <p:nvPr/>
          </p:nvSpPr>
          <p:spPr>
            <a:xfrm>
              <a:off x="2871" y="2252"/>
              <a:ext cx="65" cy="30"/>
            </a:xfrm>
            <a:custGeom>
              <a:avLst/>
              <a:gdLst>
                <a:gd name="txL" fmla="*/ 0 w 65"/>
                <a:gd name="txT" fmla="*/ 0 h 30"/>
                <a:gd name="txR" fmla="*/ 65 w 65"/>
                <a:gd name="txB" fmla="*/ 30 h 30"/>
              </a:gdLst>
              <a:ahLst/>
              <a:cxnLst>
                <a:cxn ang="0">
                  <a:pos x="65" y="30"/>
                </a:cxn>
                <a:cxn ang="0">
                  <a:pos x="0" y="0"/>
                </a:cxn>
                <a:cxn ang="0">
                  <a:pos x="65" y="30"/>
                </a:cxn>
                <a:cxn ang="0">
                  <a:pos x="65" y="30"/>
                </a:cxn>
                <a:cxn ang="0">
                  <a:pos x="65" y="30"/>
                </a:cxn>
                <a:cxn ang="0">
                  <a:pos x="65" y="30"/>
                </a:cxn>
                <a:cxn ang="0">
                  <a:pos x="65" y="30"/>
                </a:cxn>
              </a:cxnLst>
              <a:rect l="txL" t="txT" r="txR" b="txB"/>
              <a:pathLst>
                <a:path w="65" h="30">
                  <a:moveTo>
                    <a:pt x="65" y="30"/>
                  </a:moveTo>
                  <a:lnTo>
                    <a:pt x="0" y="0"/>
                  </a:lnTo>
                  <a:lnTo>
                    <a:pt x="65" y="30"/>
                  </a:lnTo>
                  <a:close/>
                  <a:moveTo>
                    <a:pt x="65" y="30"/>
                  </a:moveTo>
                  <a:lnTo>
                    <a:pt x="65"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01" name="Freeform 38"/>
            <p:cNvSpPr>
              <a:spLocks noEditPoints="1"/>
            </p:cNvSpPr>
            <p:nvPr/>
          </p:nvSpPr>
          <p:spPr>
            <a:xfrm>
              <a:off x="2805" y="2222"/>
              <a:ext cx="66" cy="30"/>
            </a:xfrm>
            <a:custGeom>
              <a:avLst/>
              <a:gdLst>
                <a:gd name="txL" fmla="*/ 0 w 66"/>
                <a:gd name="txT" fmla="*/ 0 h 30"/>
                <a:gd name="txR" fmla="*/ 66 w 66"/>
                <a:gd name="txB" fmla="*/ 30 h 30"/>
              </a:gdLst>
              <a:ahLst/>
              <a:cxnLst>
                <a:cxn ang="0">
                  <a:pos x="66" y="30"/>
                </a:cxn>
                <a:cxn ang="0">
                  <a:pos x="0" y="0"/>
                </a:cxn>
                <a:cxn ang="0">
                  <a:pos x="66" y="30"/>
                </a:cxn>
                <a:cxn ang="0">
                  <a:pos x="66" y="30"/>
                </a:cxn>
                <a:cxn ang="0">
                  <a:pos x="66" y="30"/>
                </a:cxn>
                <a:cxn ang="0">
                  <a:pos x="66" y="30"/>
                </a:cxn>
                <a:cxn ang="0">
                  <a:pos x="66" y="30"/>
                </a:cxn>
              </a:cxnLst>
              <a:rect l="txL" t="txT" r="txR" b="txB"/>
              <a:pathLst>
                <a:path w="66" h="30">
                  <a:moveTo>
                    <a:pt x="66" y="30"/>
                  </a:moveTo>
                  <a:lnTo>
                    <a:pt x="0" y="0"/>
                  </a:lnTo>
                  <a:lnTo>
                    <a:pt x="66" y="30"/>
                  </a:lnTo>
                  <a:close/>
                  <a:moveTo>
                    <a:pt x="66" y="30"/>
                  </a:moveTo>
                  <a:lnTo>
                    <a:pt x="66"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02" name="Freeform 39"/>
            <p:cNvSpPr>
              <a:spLocks noEditPoints="1"/>
            </p:cNvSpPr>
            <p:nvPr/>
          </p:nvSpPr>
          <p:spPr>
            <a:xfrm>
              <a:off x="2805" y="2192"/>
              <a:ext cx="66" cy="30"/>
            </a:xfrm>
            <a:custGeom>
              <a:avLst/>
              <a:gdLst>
                <a:gd name="txL" fmla="*/ 0 w 66"/>
                <a:gd name="txT" fmla="*/ 0 h 30"/>
                <a:gd name="txR" fmla="*/ 66 w 66"/>
                <a:gd name="txB" fmla="*/ 30 h 30"/>
              </a:gdLst>
              <a:ahLst/>
              <a:cxnLst>
                <a:cxn ang="0">
                  <a:pos x="0" y="30"/>
                </a:cxn>
                <a:cxn ang="0">
                  <a:pos x="66" y="0"/>
                </a:cxn>
                <a:cxn ang="0">
                  <a:pos x="0" y="30"/>
                </a:cxn>
                <a:cxn ang="0">
                  <a:pos x="0" y="30"/>
                </a:cxn>
                <a:cxn ang="0">
                  <a:pos x="0" y="30"/>
                </a:cxn>
                <a:cxn ang="0">
                  <a:pos x="0" y="30"/>
                </a:cxn>
                <a:cxn ang="0">
                  <a:pos x="0" y="30"/>
                </a:cxn>
              </a:cxnLst>
              <a:rect l="txL" t="txT" r="txR" b="txB"/>
              <a:pathLst>
                <a:path w="66" h="30">
                  <a:moveTo>
                    <a:pt x="0" y="30"/>
                  </a:moveTo>
                  <a:lnTo>
                    <a:pt x="66"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03" name="Freeform 40"/>
            <p:cNvSpPr>
              <a:spLocks noEditPoints="1"/>
            </p:cNvSpPr>
            <p:nvPr/>
          </p:nvSpPr>
          <p:spPr>
            <a:xfrm>
              <a:off x="2871" y="2162"/>
              <a:ext cx="65" cy="30"/>
            </a:xfrm>
            <a:custGeom>
              <a:avLst/>
              <a:gdLst>
                <a:gd name="txL" fmla="*/ 0 w 65"/>
                <a:gd name="txT" fmla="*/ 0 h 30"/>
                <a:gd name="txR" fmla="*/ 65 w 65"/>
                <a:gd name="txB" fmla="*/ 30 h 30"/>
              </a:gdLst>
              <a:ahLst/>
              <a:cxnLst>
                <a:cxn ang="0">
                  <a:pos x="0" y="30"/>
                </a:cxn>
                <a:cxn ang="0">
                  <a:pos x="65" y="0"/>
                </a:cxn>
                <a:cxn ang="0">
                  <a:pos x="0" y="30"/>
                </a:cxn>
                <a:cxn ang="0">
                  <a:pos x="0" y="30"/>
                </a:cxn>
                <a:cxn ang="0">
                  <a:pos x="0" y="30"/>
                </a:cxn>
                <a:cxn ang="0">
                  <a:pos x="0" y="30"/>
                </a:cxn>
                <a:cxn ang="0">
                  <a:pos x="0" y="30"/>
                </a:cxn>
              </a:cxnLst>
              <a:rect l="txL" t="txT" r="txR" b="txB"/>
              <a:pathLst>
                <a:path w="65" h="30">
                  <a:moveTo>
                    <a:pt x="0" y="30"/>
                  </a:moveTo>
                  <a:lnTo>
                    <a:pt x="65"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04" name="Freeform 41"/>
            <p:cNvSpPr>
              <a:spLocks noEditPoints="1"/>
            </p:cNvSpPr>
            <p:nvPr/>
          </p:nvSpPr>
          <p:spPr>
            <a:xfrm>
              <a:off x="2871" y="2133"/>
              <a:ext cx="65" cy="29"/>
            </a:xfrm>
            <a:custGeom>
              <a:avLst/>
              <a:gdLst>
                <a:gd name="txL" fmla="*/ 0 w 65"/>
                <a:gd name="txT" fmla="*/ 0 h 29"/>
                <a:gd name="txR" fmla="*/ 65 w 65"/>
                <a:gd name="txB" fmla="*/ 29 h 29"/>
              </a:gdLst>
              <a:ahLst/>
              <a:cxnLst>
                <a:cxn ang="0">
                  <a:pos x="65" y="29"/>
                </a:cxn>
                <a:cxn ang="0">
                  <a:pos x="0" y="0"/>
                </a:cxn>
                <a:cxn ang="0">
                  <a:pos x="65" y="29"/>
                </a:cxn>
                <a:cxn ang="0">
                  <a:pos x="65" y="29"/>
                </a:cxn>
                <a:cxn ang="0">
                  <a:pos x="65" y="29"/>
                </a:cxn>
                <a:cxn ang="0">
                  <a:pos x="65" y="29"/>
                </a:cxn>
                <a:cxn ang="0">
                  <a:pos x="65" y="29"/>
                </a:cxn>
              </a:cxnLst>
              <a:rect l="txL" t="txT" r="txR" b="txB"/>
              <a:pathLst>
                <a:path w="65" h="29">
                  <a:moveTo>
                    <a:pt x="65" y="29"/>
                  </a:moveTo>
                  <a:lnTo>
                    <a:pt x="0" y="0"/>
                  </a:lnTo>
                  <a:lnTo>
                    <a:pt x="65" y="29"/>
                  </a:lnTo>
                  <a:close/>
                  <a:moveTo>
                    <a:pt x="65" y="29"/>
                  </a:moveTo>
                  <a:lnTo>
                    <a:pt x="65" y="2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05" name="Freeform 42"/>
            <p:cNvSpPr>
              <a:spLocks noEditPoints="1"/>
            </p:cNvSpPr>
            <p:nvPr/>
          </p:nvSpPr>
          <p:spPr>
            <a:xfrm>
              <a:off x="2805" y="2103"/>
              <a:ext cx="66" cy="30"/>
            </a:xfrm>
            <a:custGeom>
              <a:avLst/>
              <a:gdLst>
                <a:gd name="txL" fmla="*/ 0 w 66"/>
                <a:gd name="txT" fmla="*/ 0 h 30"/>
                <a:gd name="txR" fmla="*/ 66 w 66"/>
                <a:gd name="txB" fmla="*/ 30 h 30"/>
              </a:gdLst>
              <a:ahLst/>
              <a:cxnLst>
                <a:cxn ang="0">
                  <a:pos x="66" y="30"/>
                </a:cxn>
                <a:cxn ang="0">
                  <a:pos x="0" y="0"/>
                </a:cxn>
                <a:cxn ang="0">
                  <a:pos x="66" y="30"/>
                </a:cxn>
                <a:cxn ang="0">
                  <a:pos x="66" y="30"/>
                </a:cxn>
                <a:cxn ang="0">
                  <a:pos x="66" y="30"/>
                </a:cxn>
                <a:cxn ang="0">
                  <a:pos x="66" y="30"/>
                </a:cxn>
                <a:cxn ang="0">
                  <a:pos x="66" y="30"/>
                </a:cxn>
              </a:cxnLst>
              <a:rect l="txL" t="txT" r="txR" b="txB"/>
              <a:pathLst>
                <a:path w="66" h="30">
                  <a:moveTo>
                    <a:pt x="66" y="30"/>
                  </a:moveTo>
                  <a:lnTo>
                    <a:pt x="0" y="0"/>
                  </a:lnTo>
                  <a:lnTo>
                    <a:pt x="66" y="30"/>
                  </a:lnTo>
                  <a:close/>
                  <a:moveTo>
                    <a:pt x="66" y="30"/>
                  </a:moveTo>
                  <a:lnTo>
                    <a:pt x="66"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06" name="Freeform 43"/>
            <p:cNvSpPr>
              <a:spLocks noEditPoints="1"/>
            </p:cNvSpPr>
            <p:nvPr/>
          </p:nvSpPr>
          <p:spPr>
            <a:xfrm>
              <a:off x="2805" y="2073"/>
              <a:ext cx="66" cy="30"/>
            </a:xfrm>
            <a:custGeom>
              <a:avLst/>
              <a:gdLst>
                <a:gd name="txL" fmla="*/ 0 w 66"/>
                <a:gd name="txT" fmla="*/ 0 h 30"/>
                <a:gd name="txR" fmla="*/ 66 w 66"/>
                <a:gd name="txB" fmla="*/ 30 h 30"/>
              </a:gdLst>
              <a:ahLst/>
              <a:cxnLst>
                <a:cxn ang="0">
                  <a:pos x="0" y="30"/>
                </a:cxn>
                <a:cxn ang="0">
                  <a:pos x="66" y="0"/>
                </a:cxn>
                <a:cxn ang="0">
                  <a:pos x="0" y="30"/>
                </a:cxn>
                <a:cxn ang="0">
                  <a:pos x="0" y="30"/>
                </a:cxn>
                <a:cxn ang="0">
                  <a:pos x="0" y="30"/>
                </a:cxn>
                <a:cxn ang="0">
                  <a:pos x="0" y="30"/>
                </a:cxn>
                <a:cxn ang="0">
                  <a:pos x="0" y="30"/>
                </a:cxn>
              </a:cxnLst>
              <a:rect l="txL" t="txT" r="txR" b="txB"/>
              <a:pathLst>
                <a:path w="66" h="30">
                  <a:moveTo>
                    <a:pt x="0" y="30"/>
                  </a:moveTo>
                  <a:lnTo>
                    <a:pt x="66"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07" name="Freeform 44"/>
            <p:cNvSpPr>
              <a:spLocks noEditPoints="1"/>
            </p:cNvSpPr>
            <p:nvPr/>
          </p:nvSpPr>
          <p:spPr>
            <a:xfrm>
              <a:off x="2871" y="2037"/>
              <a:ext cx="65" cy="36"/>
            </a:xfrm>
            <a:custGeom>
              <a:avLst/>
              <a:gdLst>
                <a:gd name="txL" fmla="*/ 0 w 65"/>
                <a:gd name="txT" fmla="*/ 0 h 36"/>
                <a:gd name="txR" fmla="*/ 65 w 65"/>
                <a:gd name="txB" fmla="*/ 36 h 36"/>
              </a:gdLst>
              <a:ahLst/>
              <a:cxnLst>
                <a:cxn ang="0">
                  <a:pos x="0" y="36"/>
                </a:cxn>
                <a:cxn ang="0">
                  <a:pos x="65" y="0"/>
                </a:cxn>
                <a:cxn ang="0">
                  <a:pos x="0" y="36"/>
                </a:cxn>
                <a:cxn ang="0">
                  <a:pos x="0" y="36"/>
                </a:cxn>
                <a:cxn ang="0">
                  <a:pos x="0" y="36"/>
                </a:cxn>
                <a:cxn ang="0">
                  <a:pos x="0" y="36"/>
                </a:cxn>
                <a:cxn ang="0">
                  <a:pos x="0" y="36"/>
                </a:cxn>
              </a:cxnLst>
              <a:rect l="txL" t="txT" r="txR" b="txB"/>
              <a:pathLst>
                <a:path w="65" h="36">
                  <a:moveTo>
                    <a:pt x="0" y="36"/>
                  </a:moveTo>
                  <a:lnTo>
                    <a:pt x="65" y="0"/>
                  </a:lnTo>
                  <a:lnTo>
                    <a:pt x="0" y="36"/>
                  </a:lnTo>
                  <a:close/>
                  <a:moveTo>
                    <a:pt x="0" y="36"/>
                  </a:moveTo>
                  <a:lnTo>
                    <a:pt x="0"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08" name="Freeform 45"/>
            <p:cNvSpPr>
              <a:spLocks noEditPoints="1"/>
            </p:cNvSpPr>
            <p:nvPr/>
          </p:nvSpPr>
          <p:spPr>
            <a:xfrm>
              <a:off x="2871" y="2007"/>
              <a:ext cx="65" cy="30"/>
            </a:xfrm>
            <a:custGeom>
              <a:avLst/>
              <a:gdLst>
                <a:gd name="txL" fmla="*/ 0 w 65"/>
                <a:gd name="txT" fmla="*/ 0 h 30"/>
                <a:gd name="txR" fmla="*/ 65 w 65"/>
                <a:gd name="txB" fmla="*/ 30 h 30"/>
              </a:gdLst>
              <a:ahLst/>
              <a:cxnLst>
                <a:cxn ang="0">
                  <a:pos x="65" y="30"/>
                </a:cxn>
                <a:cxn ang="0">
                  <a:pos x="0" y="0"/>
                </a:cxn>
                <a:cxn ang="0">
                  <a:pos x="65" y="30"/>
                </a:cxn>
                <a:cxn ang="0">
                  <a:pos x="65" y="30"/>
                </a:cxn>
                <a:cxn ang="0">
                  <a:pos x="65" y="30"/>
                </a:cxn>
                <a:cxn ang="0">
                  <a:pos x="65" y="30"/>
                </a:cxn>
                <a:cxn ang="0">
                  <a:pos x="65" y="30"/>
                </a:cxn>
              </a:cxnLst>
              <a:rect l="txL" t="txT" r="txR" b="txB"/>
              <a:pathLst>
                <a:path w="65" h="30">
                  <a:moveTo>
                    <a:pt x="65" y="30"/>
                  </a:moveTo>
                  <a:lnTo>
                    <a:pt x="0" y="0"/>
                  </a:lnTo>
                  <a:lnTo>
                    <a:pt x="65" y="30"/>
                  </a:lnTo>
                  <a:close/>
                  <a:moveTo>
                    <a:pt x="65" y="30"/>
                  </a:moveTo>
                  <a:lnTo>
                    <a:pt x="65"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09" name="Freeform 46"/>
            <p:cNvSpPr>
              <a:spLocks noEditPoints="1"/>
            </p:cNvSpPr>
            <p:nvPr/>
          </p:nvSpPr>
          <p:spPr>
            <a:xfrm>
              <a:off x="2805" y="1977"/>
              <a:ext cx="66" cy="30"/>
            </a:xfrm>
            <a:custGeom>
              <a:avLst/>
              <a:gdLst>
                <a:gd name="txL" fmla="*/ 0 w 66"/>
                <a:gd name="txT" fmla="*/ 0 h 30"/>
                <a:gd name="txR" fmla="*/ 66 w 66"/>
                <a:gd name="txB" fmla="*/ 30 h 30"/>
              </a:gdLst>
              <a:ahLst/>
              <a:cxnLst>
                <a:cxn ang="0">
                  <a:pos x="66" y="30"/>
                </a:cxn>
                <a:cxn ang="0">
                  <a:pos x="0" y="0"/>
                </a:cxn>
                <a:cxn ang="0">
                  <a:pos x="66" y="30"/>
                </a:cxn>
                <a:cxn ang="0">
                  <a:pos x="66" y="30"/>
                </a:cxn>
                <a:cxn ang="0">
                  <a:pos x="66" y="30"/>
                </a:cxn>
                <a:cxn ang="0">
                  <a:pos x="66" y="30"/>
                </a:cxn>
                <a:cxn ang="0">
                  <a:pos x="66" y="30"/>
                </a:cxn>
              </a:cxnLst>
              <a:rect l="txL" t="txT" r="txR" b="txB"/>
              <a:pathLst>
                <a:path w="66" h="30">
                  <a:moveTo>
                    <a:pt x="66" y="30"/>
                  </a:moveTo>
                  <a:lnTo>
                    <a:pt x="0" y="0"/>
                  </a:lnTo>
                  <a:lnTo>
                    <a:pt x="66" y="30"/>
                  </a:lnTo>
                  <a:close/>
                  <a:moveTo>
                    <a:pt x="66" y="30"/>
                  </a:moveTo>
                  <a:lnTo>
                    <a:pt x="66"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10" name="Freeform 47"/>
            <p:cNvSpPr>
              <a:spLocks noEditPoints="1"/>
            </p:cNvSpPr>
            <p:nvPr/>
          </p:nvSpPr>
          <p:spPr>
            <a:xfrm>
              <a:off x="2805" y="1948"/>
              <a:ext cx="72" cy="29"/>
            </a:xfrm>
            <a:custGeom>
              <a:avLst/>
              <a:gdLst>
                <a:gd name="txL" fmla="*/ 0 w 72"/>
                <a:gd name="txT" fmla="*/ 0 h 29"/>
                <a:gd name="txR" fmla="*/ 72 w 72"/>
                <a:gd name="txB" fmla="*/ 29 h 29"/>
              </a:gdLst>
              <a:ahLst/>
              <a:cxnLst>
                <a:cxn ang="0">
                  <a:pos x="0" y="29"/>
                </a:cxn>
                <a:cxn ang="0">
                  <a:pos x="72" y="0"/>
                </a:cxn>
                <a:cxn ang="0">
                  <a:pos x="0" y="29"/>
                </a:cxn>
                <a:cxn ang="0">
                  <a:pos x="0" y="29"/>
                </a:cxn>
                <a:cxn ang="0">
                  <a:pos x="0" y="29"/>
                </a:cxn>
                <a:cxn ang="0">
                  <a:pos x="0" y="29"/>
                </a:cxn>
                <a:cxn ang="0">
                  <a:pos x="0" y="29"/>
                </a:cxn>
              </a:cxnLst>
              <a:rect l="txL" t="txT" r="txR" b="txB"/>
              <a:pathLst>
                <a:path w="72" h="29">
                  <a:moveTo>
                    <a:pt x="0" y="29"/>
                  </a:moveTo>
                  <a:lnTo>
                    <a:pt x="72" y="0"/>
                  </a:lnTo>
                  <a:lnTo>
                    <a:pt x="0" y="29"/>
                  </a:lnTo>
                  <a:close/>
                  <a:moveTo>
                    <a:pt x="0" y="29"/>
                  </a:moveTo>
                  <a:lnTo>
                    <a:pt x="0" y="2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11" name="Freeform 48"/>
            <p:cNvSpPr>
              <a:spLocks noEditPoints="1"/>
            </p:cNvSpPr>
            <p:nvPr/>
          </p:nvSpPr>
          <p:spPr>
            <a:xfrm>
              <a:off x="4438" y="2121"/>
              <a:ext cx="131" cy="155"/>
            </a:xfrm>
            <a:custGeom>
              <a:avLst/>
              <a:gdLst>
                <a:gd name="txL" fmla="*/ 0 w 131"/>
                <a:gd name="txT" fmla="*/ 0 h 155"/>
                <a:gd name="txR" fmla="*/ 131 w 131"/>
                <a:gd name="txB" fmla="*/ 155 h 155"/>
              </a:gdLst>
              <a:ahLst/>
              <a:cxnLst>
                <a:cxn ang="0">
                  <a:pos x="125" y="149"/>
                </a:cxn>
                <a:cxn ang="0">
                  <a:pos x="113" y="143"/>
                </a:cxn>
                <a:cxn ang="0">
                  <a:pos x="107" y="131"/>
                </a:cxn>
                <a:cxn ang="0">
                  <a:pos x="89" y="77"/>
                </a:cxn>
                <a:cxn ang="0">
                  <a:pos x="107" y="71"/>
                </a:cxn>
                <a:cxn ang="0">
                  <a:pos x="119" y="59"/>
                </a:cxn>
                <a:cxn ang="0">
                  <a:pos x="131" y="36"/>
                </a:cxn>
                <a:cxn ang="0">
                  <a:pos x="125" y="18"/>
                </a:cxn>
                <a:cxn ang="0">
                  <a:pos x="107" y="6"/>
                </a:cxn>
                <a:cxn ang="0">
                  <a:pos x="95" y="0"/>
                </a:cxn>
                <a:cxn ang="0">
                  <a:pos x="83" y="0"/>
                </a:cxn>
                <a:cxn ang="0">
                  <a:pos x="30" y="0"/>
                </a:cxn>
                <a:cxn ang="0">
                  <a:pos x="30" y="6"/>
                </a:cxn>
                <a:cxn ang="0">
                  <a:pos x="42" y="6"/>
                </a:cxn>
                <a:cxn ang="0">
                  <a:pos x="48" y="18"/>
                </a:cxn>
                <a:cxn ang="0">
                  <a:pos x="48" y="24"/>
                </a:cxn>
                <a:cxn ang="0">
                  <a:pos x="42" y="30"/>
                </a:cxn>
                <a:cxn ang="0">
                  <a:pos x="18" y="131"/>
                </a:cxn>
                <a:cxn ang="0">
                  <a:pos x="12" y="143"/>
                </a:cxn>
                <a:cxn ang="0">
                  <a:pos x="12" y="149"/>
                </a:cxn>
                <a:cxn ang="0">
                  <a:pos x="0" y="149"/>
                </a:cxn>
                <a:cxn ang="0">
                  <a:pos x="0" y="155"/>
                </a:cxn>
                <a:cxn ang="0">
                  <a:pos x="54" y="155"/>
                </a:cxn>
                <a:cxn ang="0">
                  <a:pos x="54" y="149"/>
                </a:cxn>
                <a:cxn ang="0">
                  <a:pos x="42" y="149"/>
                </a:cxn>
                <a:cxn ang="0">
                  <a:pos x="36" y="137"/>
                </a:cxn>
                <a:cxn ang="0">
                  <a:pos x="36" y="137"/>
                </a:cxn>
                <a:cxn ang="0">
                  <a:pos x="42" y="125"/>
                </a:cxn>
                <a:cxn ang="0">
                  <a:pos x="54" y="77"/>
                </a:cxn>
                <a:cxn ang="0">
                  <a:pos x="65" y="77"/>
                </a:cxn>
                <a:cxn ang="0">
                  <a:pos x="95" y="155"/>
                </a:cxn>
                <a:cxn ang="0">
                  <a:pos x="125" y="155"/>
                </a:cxn>
                <a:cxn ang="0">
                  <a:pos x="125" y="149"/>
                </a:cxn>
                <a:cxn ang="0">
                  <a:pos x="71" y="12"/>
                </a:cxn>
                <a:cxn ang="0">
                  <a:pos x="71" y="12"/>
                </a:cxn>
                <a:cxn ang="0">
                  <a:pos x="83" y="6"/>
                </a:cxn>
                <a:cxn ang="0">
                  <a:pos x="101" y="12"/>
                </a:cxn>
                <a:cxn ang="0">
                  <a:pos x="107" y="24"/>
                </a:cxn>
                <a:cxn ang="0">
                  <a:pos x="107" y="36"/>
                </a:cxn>
                <a:cxn ang="0">
                  <a:pos x="107" y="47"/>
                </a:cxn>
                <a:cxn ang="0">
                  <a:pos x="101" y="59"/>
                </a:cxn>
                <a:cxn ang="0">
                  <a:pos x="89" y="71"/>
                </a:cxn>
                <a:cxn ang="0">
                  <a:pos x="65" y="71"/>
                </a:cxn>
                <a:cxn ang="0">
                  <a:pos x="59" y="71"/>
                </a:cxn>
                <a:cxn ang="0">
                  <a:pos x="54" y="65"/>
                </a:cxn>
                <a:cxn ang="0">
                  <a:pos x="71" y="12"/>
                </a:cxn>
              </a:cxnLst>
              <a:rect l="txL" t="txT" r="txR" b="txB"/>
              <a:pathLst>
                <a:path w="131" h="155">
                  <a:moveTo>
                    <a:pt x="125" y="149"/>
                  </a:moveTo>
                  <a:lnTo>
                    <a:pt x="113" y="143"/>
                  </a:lnTo>
                  <a:lnTo>
                    <a:pt x="107" y="131"/>
                  </a:lnTo>
                  <a:lnTo>
                    <a:pt x="89" y="77"/>
                  </a:lnTo>
                  <a:lnTo>
                    <a:pt x="107" y="71"/>
                  </a:lnTo>
                  <a:lnTo>
                    <a:pt x="119" y="59"/>
                  </a:lnTo>
                  <a:lnTo>
                    <a:pt x="131" y="36"/>
                  </a:lnTo>
                  <a:lnTo>
                    <a:pt x="125" y="18"/>
                  </a:lnTo>
                  <a:lnTo>
                    <a:pt x="107" y="6"/>
                  </a:lnTo>
                  <a:lnTo>
                    <a:pt x="95" y="0"/>
                  </a:lnTo>
                  <a:lnTo>
                    <a:pt x="83" y="0"/>
                  </a:lnTo>
                  <a:lnTo>
                    <a:pt x="30" y="0"/>
                  </a:lnTo>
                  <a:lnTo>
                    <a:pt x="30" y="6"/>
                  </a:lnTo>
                  <a:lnTo>
                    <a:pt x="42" y="6"/>
                  </a:lnTo>
                  <a:lnTo>
                    <a:pt x="48" y="18"/>
                  </a:lnTo>
                  <a:lnTo>
                    <a:pt x="48" y="24"/>
                  </a:lnTo>
                  <a:lnTo>
                    <a:pt x="42" y="30"/>
                  </a:lnTo>
                  <a:lnTo>
                    <a:pt x="18" y="131"/>
                  </a:lnTo>
                  <a:lnTo>
                    <a:pt x="12" y="143"/>
                  </a:lnTo>
                  <a:lnTo>
                    <a:pt x="12" y="149"/>
                  </a:lnTo>
                  <a:lnTo>
                    <a:pt x="0" y="149"/>
                  </a:lnTo>
                  <a:lnTo>
                    <a:pt x="0" y="155"/>
                  </a:lnTo>
                  <a:lnTo>
                    <a:pt x="54" y="155"/>
                  </a:lnTo>
                  <a:lnTo>
                    <a:pt x="54" y="149"/>
                  </a:lnTo>
                  <a:lnTo>
                    <a:pt x="42" y="149"/>
                  </a:lnTo>
                  <a:lnTo>
                    <a:pt x="36" y="137"/>
                  </a:lnTo>
                  <a:lnTo>
                    <a:pt x="42" y="125"/>
                  </a:lnTo>
                  <a:lnTo>
                    <a:pt x="54" y="77"/>
                  </a:lnTo>
                  <a:lnTo>
                    <a:pt x="65" y="77"/>
                  </a:lnTo>
                  <a:lnTo>
                    <a:pt x="95" y="155"/>
                  </a:lnTo>
                  <a:lnTo>
                    <a:pt x="125" y="155"/>
                  </a:lnTo>
                  <a:lnTo>
                    <a:pt x="125" y="149"/>
                  </a:lnTo>
                  <a:close/>
                  <a:moveTo>
                    <a:pt x="71" y="12"/>
                  </a:moveTo>
                  <a:lnTo>
                    <a:pt x="71" y="12"/>
                  </a:lnTo>
                  <a:lnTo>
                    <a:pt x="83" y="6"/>
                  </a:lnTo>
                  <a:lnTo>
                    <a:pt x="101" y="12"/>
                  </a:lnTo>
                  <a:lnTo>
                    <a:pt x="107" y="24"/>
                  </a:lnTo>
                  <a:lnTo>
                    <a:pt x="107" y="36"/>
                  </a:lnTo>
                  <a:lnTo>
                    <a:pt x="107" y="47"/>
                  </a:lnTo>
                  <a:lnTo>
                    <a:pt x="101" y="59"/>
                  </a:lnTo>
                  <a:lnTo>
                    <a:pt x="89" y="71"/>
                  </a:lnTo>
                  <a:lnTo>
                    <a:pt x="65" y="71"/>
                  </a:lnTo>
                  <a:lnTo>
                    <a:pt x="59" y="71"/>
                  </a:lnTo>
                  <a:lnTo>
                    <a:pt x="54" y="65"/>
                  </a:lnTo>
                  <a:lnTo>
                    <a:pt x="71"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1012" name="Freeform 49"/>
            <p:cNvSpPr/>
            <p:nvPr/>
          </p:nvSpPr>
          <p:spPr>
            <a:xfrm>
              <a:off x="4575" y="2216"/>
              <a:ext cx="72" cy="120"/>
            </a:xfrm>
            <a:custGeom>
              <a:avLst/>
              <a:gdLst>
                <a:gd name="txL" fmla="*/ 0 w 72"/>
                <a:gd name="txT" fmla="*/ 0 h 120"/>
                <a:gd name="txR" fmla="*/ 72 w 72"/>
                <a:gd name="txB" fmla="*/ 120 h 120"/>
              </a:gdLst>
              <a:ahLst/>
              <a:cxnLst>
                <a:cxn ang="0">
                  <a:pos x="72" y="96"/>
                </a:cxn>
                <a:cxn ang="0">
                  <a:pos x="72" y="96"/>
                </a:cxn>
                <a:cxn ang="0">
                  <a:pos x="66" y="102"/>
                </a:cxn>
                <a:cxn ang="0">
                  <a:pos x="54" y="102"/>
                </a:cxn>
                <a:cxn ang="0">
                  <a:pos x="18" y="102"/>
                </a:cxn>
                <a:cxn ang="0">
                  <a:pos x="42" y="72"/>
                </a:cxn>
                <a:cxn ang="0">
                  <a:pos x="60" y="54"/>
                </a:cxn>
                <a:cxn ang="0">
                  <a:pos x="66" y="30"/>
                </a:cxn>
                <a:cxn ang="0">
                  <a:pos x="66" y="18"/>
                </a:cxn>
                <a:cxn ang="0">
                  <a:pos x="54" y="6"/>
                </a:cxn>
                <a:cxn ang="0">
                  <a:pos x="36" y="0"/>
                </a:cxn>
                <a:cxn ang="0">
                  <a:pos x="18" y="6"/>
                </a:cxn>
                <a:cxn ang="0">
                  <a:pos x="6" y="18"/>
                </a:cxn>
                <a:cxn ang="0">
                  <a:pos x="0" y="36"/>
                </a:cxn>
                <a:cxn ang="0">
                  <a:pos x="6" y="36"/>
                </a:cxn>
                <a:cxn ang="0">
                  <a:pos x="12" y="18"/>
                </a:cxn>
                <a:cxn ang="0">
                  <a:pos x="30" y="12"/>
                </a:cxn>
                <a:cxn ang="0">
                  <a:pos x="42" y="18"/>
                </a:cxn>
                <a:cxn ang="0">
                  <a:pos x="48" y="24"/>
                </a:cxn>
                <a:cxn ang="0">
                  <a:pos x="54" y="36"/>
                </a:cxn>
                <a:cxn ang="0">
                  <a:pos x="48" y="60"/>
                </a:cxn>
                <a:cxn ang="0">
                  <a:pos x="30" y="84"/>
                </a:cxn>
                <a:cxn ang="0">
                  <a:pos x="0" y="114"/>
                </a:cxn>
                <a:cxn ang="0">
                  <a:pos x="0" y="120"/>
                </a:cxn>
                <a:cxn ang="0">
                  <a:pos x="66" y="120"/>
                </a:cxn>
                <a:cxn ang="0">
                  <a:pos x="72" y="96"/>
                </a:cxn>
              </a:cxnLst>
              <a:rect l="txL" t="txT" r="txR" b="txB"/>
              <a:pathLst>
                <a:path w="72" h="120">
                  <a:moveTo>
                    <a:pt x="72" y="96"/>
                  </a:moveTo>
                  <a:lnTo>
                    <a:pt x="72" y="96"/>
                  </a:lnTo>
                  <a:lnTo>
                    <a:pt x="66" y="102"/>
                  </a:lnTo>
                  <a:lnTo>
                    <a:pt x="54" y="102"/>
                  </a:lnTo>
                  <a:lnTo>
                    <a:pt x="18" y="102"/>
                  </a:lnTo>
                  <a:lnTo>
                    <a:pt x="42" y="72"/>
                  </a:lnTo>
                  <a:lnTo>
                    <a:pt x="60" y="54"/>
                  </a:lnTo>
                  <a:lnTo>
                    <a:pt x="66" y="30"/>
                  </a:lnTo>
                  <a:lnTo>
                    <a:pt x="66" y="18"/>
                  </a:lnTo>
                  <a:lnTo>
                    <a:pt x="54" y="6"/>
                  </a:lnTo>
                  <a:lnTo>
                    <a:pt x="36" y="0"/>
                  </a:lnTo>
                  <a:lnTo>
                    <a:pt x="18" y="6"/>
                  </a:lnTo>
                  <a:lnTo>
                    <a:pt x="6" y="18"/>
                  </a:lnTo>
                  <a:lnTo>
                    <a:pt x="0" y="36"/>
                  </a:lnTo>
                  <a:lnTo>
                    <a:pt x="6" y="36"/>
                  </a:lnTo>
                  <a:lnTo>
                    <a:pt x="12" y="18"/>
                  </a:lnTo>
                  <a:lnTo>
                    <a:pt x="30" y="12"/>
                  </a:lnTo>
                  <a:lnTo>
                    <a:pt x="42" y="18"/>
                  </a:lnTo>
                  <a:lnTo>
                    <a:pt x="48" y="24"/>
                  </a:lnTo>
                  <a:lnTo>
                    <a:pt x="54" y="36"/>
                  </a:lnTo>
                  <a:lnTo>
                    <a:pt x="48" y="60"/>
                  </a:lnTo>
                  <a:lnTo>
                    <a:pt x="30" y="84"/>
                  </a:lnTo>
                  <a:lnTo>
                    <a:pt x="0" y="114"/>
                  </a:lnTo>
                  <a:lnTo>
                    <a:pt x="0" y="120"/>
                  </a:lnTo>
                  <a:lnTo>
                    <a:pt x="66" y="120"/>
                  </a:lnTo>
                  <a:lnTo>
                    <a:pt x="72" y="9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1013" name="Freeform 50"/>
            <p:cNvSpPr/>
            <p:nvPr/>
          </p:nvSpPr>
          <p:spPr>
            <a:xfrm>
              <a:off x="4264" y="2407"/>
              <a:ext cx="66" cy="30"/>
            </a:xfrm>
            <a:custGeom>
              <a:avLst/>
              <a:gdLst>
                <a:gd name="txL" fmla="*/ 0 w 66"/>
                <a:gd name="txT" fmla="*/ 0 h 30"/>
                <a:gd name="txR" fmla="*/ 66 w 66"/>
                <a:gd name="txB" fmla="*/ 30 h 30"/>
              </a:gdLst>
              <a:ahLst/>
              <a:cxnLst>
                <a:cxn ang="0">
                  <a:pos x="0" y="30"/>
                </a:cxn>
                <a:cxn ang="0">
                  <a:pos x="66" y="0"/>
                </a:cxn>
                <a:cxn ang="0">
                  <a:pos x="0" y="30"/>
                </a:cxn>
                <a:cxn ang="0">
                  <a:pos x="0" y="30"/>
                </a:cxn>
              </a:cxnLst>
              <a:rect l="txL" t="txT" r="txR" b="txB"/>
              <a:pathLst>
                <a:path w="66" h="30">
                  <a:moveTo>
                    <a:pt x="0" y="30"/>
                  </a:moveTo>
                  <a:lnTo>
                    <a:pt x="66" y="0"/>
                  </a:ln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14" name="Freeform 51"/>
            <p:cNvSpPr>
              <a:spLocks noEditPoints="1"/>
            </p:cNvSpPr>
            <p:nvPr/>
          </p:nvSpPr>
          <p:spPr>
            <a:xfrm>
              <a:off x="4264" y="2371"/>
              <a:ext cx="66" cy="36"/>
            </a:xfrm>
            <a:custGeom>
              <a:avLst/>
              <a:gdLst>
                <a:gd name="txL" fmla="*/ 0 w 66"/>
                <a:gd name="txT" fmla="*/ 0 h 36"/>
                <a:gd name="txR" fmla="*/ 66 w 66"/>
                <a:gd name="txB" fmla="*/ 36 h 36"/>
              </a:gdLst>
              <a:ahLst/>
              <a:cxnLst>
                <a:cxn ang="0">
                  <a:pos x="66" y="36"/>
                </a:cxn>
                <a:cxn ang="0">
                  <a:pos x="0" y="0"/>
                </a:cxn>
                <a:cxn ang="0">
                  <a:pos x="66" y="36"/>
                </a:cxn>
                <a:cxn ang="0">
                  <a:pos x="66" y="36"/>
                </a:cxn>
                <a:cxn ang="0">
                  <a:pos x="66" y="36"/>
                </a:cxn>
                <a:cxn ang="0">
                  <a:pos x="66" y="36"/>
                </a:cxn>
                <a:cxn ang="0">
                  <a:pos x="66" y="36"/>
                </a:cxn>
              </a:cxnLst>
              <a:rect l="txL" t="txT" r="txR" b="txB"/>
              <a:pathLst>
                <a:path w="66" h="36">
                  <a:moveTo>
                    <a:pt x="66" y="36"/>
                  </a:moveTo>
                  <a:lnTo>
                    <a:pt x="0" y="0"/>
                  </a:lnTo>
                  <a:lnTo>
                    <a:pt x="66" y="36"/>
                  </a:lnTo>
                  <a:close/>
                  <a:moveTo>
                    <a:pt x="66" y="36"/>
                  </a:moveTo>
                  <a:lnTo>
                    <a:pt x="66"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15" name="Freeform 52"/>
            <p:cNvSpPr>
              <a:spLocks noEditPoints="1"/>
            </p:cNvSpPr>
            <p:nvPr/>
          </p:nvSpPr>
          <p:spPr>
            <a:xfrm>
              <a:off x="4198" y="2342"/>
              <a:ext cx="66" cy="29"/>
            </a:xfrm>
            <a:custGeom>
              <a:avLst/>
              <a:gdLst>
                <a:gd name="txL" fmla="*/ 0 w 66"/>
                <a:gd name="txT" fmla="*/ 0 h 29"/>
                <a:gd name="txR" fmla="*/ 66 w 66"/>
                <a:gd name="txB" fmla="*/ 29 h 29"/>
              </a:gdLst>
              <a:ahLst/>
              <a:cxnLst>
                <a:cxn ang="0">
                  <a:pos x="66" y="29"/>
                </a:cxn>
                <a:cxn ang="0">
                  <a:pos x="0" y="0"/>
                </a:cxn>
                <a:cxn ang="0">
                  <a:pos x="66" y="29"/>
                </a:cxn>
                <a:cxn ang="0">
                  <a:pos x="66" y="29"/>
                </a:cxn>
                <a:cxn ang="0">
                  <a:pos x="66" y="29"/>
                </a:cxn>
                <a:cxn ang="0">
                  <a:pos x="66" y="29"/>
                </a:cxn>
                <a:cxn ang="0">
                  <a:pos x="66" y="29"/>
                </a:cxn>
              </a:cxnLst>
              <a:rect l="txL" t="txT" r="txR" b="txB"/>
              <a:pathLst>
                <a:path w="66" h="29">
                  <a:moveTo>
                    <a:pt x="66" y="29"/>
                  </a:moveTo>
                  <a:lnTo>
                    <a:pt x="0" y="0"/>
                  </a:lnTo>
                  <a:lnTo>
                    <a:pt x="66" y="29"/>
                  </a:lnTo>
                  <a:close/>
                  <a:moveTo>
                    <a:pt x="66" y="29"/>
                  </a:moveTo>
                  <a:lnTo>
                    <a:pt x="66" y="2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16" name="Freeform 53"/>
            <p:cNvSpPr>
              <a:spLocks noEditPoints="1"/>
            </p:cNvSpPr>
            <p:nvPr/>
          </p:nvSpPr>
          <p:spPr>
            <a:xfrm>
              <a:off x="4198" y="2312"/>
              <a:ext cx="66" cy="30"/>
            </a:xfrm>
            <a:custGeom>
              <a:avLst/>
              <a:gdLst>
                <a:gd name="txL" fmla="*/ 0 w 66"/>
                <a:gd name="txT" fmla="*/ 0 h 30"/>
                <a:gd name="txR" fmla="*/ 66 w 66"/>
                <a:gd name="txB" fmla="*/ 30 h 30"/>
              </a:gdLst>
              <a:ahLst/>
              <a:cxnLst>
                <a:cxn ang="0">
                  <a:pos x="0" y="30"/>
                </a:cxn>
                <a:cxn ang="0">
                  <a:pos x="66" y="0"/>
                </a:cxn>
                <a:cxn ang="0">
                  <a:pos x="0" y="30"/>
                </a:cxn>
                <a:cxn ang="0">
                  <a:pos x="0" y="30"/>
                </a:cxn>
                <a:cxn ang="0">
                  <a:pos x="0" y="30"/>
                </a:cxn>
                <a:cxn ang="0">
                  <a:pos x="0" y="30"/>
                </a:cxn>
                <a:cxn ang="0">
                  <a:pos x="0" y="30"/>
                </a:cxn>
              </a:cxnLst>
              <a:rect l="txL" t="txT" r="txR" b="txB"/>
              <a:pathLst>
                <a:path w="66" h="30">
                  <a:moveTo>
                    <a:pt x="0" y="30"/>
                  </a:moveTo>
                  <a:lnTo>
                    <a:pt x="66"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17" name="Freeform 54"/>
            <p:cNvSpPr>
              <a:spLocks noEditPoints="1"/>
            </p:cNvSpPr>
            <p:nvPr/>
          </p:nvSpPr>
          <p:spPr>
            <a:xfrm>
              <a:off x="4264" y="2312"/>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18" name="Freeform 55"/>
            <p:cNvSpPr>
              <a:spLocks noEditPoints="1"/>
            </p:cNvSpPr>
            <p:nvPr/>
          </p:nvSpPr>
          <p:spPr>
            <a:xfrm>
              <a:off x="4264" y="2282"/>
              <a:ext cx="66" cy="30"/>
            </a:xfrm>
            <a:custGeom>
              <a:avLst/>
              <a:gdLst>
                <a:gd name="txL" fmla="*/ 0 w 66"/>
                <a:gd name="txT" fmla="*/ 0 h 30"/>
                <a:gd name="txR" fmla="*/ 66 w 66"/>
                <a:gd name="txB" fmla="*/ 30 h 30"/>
              </a:gdLst>
              <a:ahLst/>
              <a:cxnLst>
                <a:cxn ang="0">
                  <a:pos x="0" y="30"/>
                </a:cxn>
                <a:cxn ang="0">
                  <a:pos x="66" y="0"/>
                </a:cxn>
                <a:cxn ang="0">
                  <a:pos x="0" y="30"/>
                </a:cxn>
                <a:cxn ang="0">
                  <a:pos x="0" y="30"/>
                </a:cxn>
                <a:cxn ang="0">
                  <a:pos x="0" y="30"/>
                </a:cxn>
                <a:cxn ang="0">
                  <a:pos x="0" y="30"/>
                </a:cxn>
                <a:cxn ang="0">
                  <a:pos x="0" y="30"/>
                </a:cxn>
              </a:cxnLst>
              <a:rect l="txL" t="txT" r="txR" b="txB"/>
              <a:pathLst>
                <a:path w="66" h="30">
                  <a:moveTo>
                    <a:pt x="0" y="30"/>
                  </a:moveTo>
                  <a:lnTo>
                    <a:pt x="66"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19" name="Freeform 56"/>
            <p:cNvSpPr>
              <a:spLocks noEditPoints="1"/>
            </p:cNvSpPr>
            <p:nvPr/>
          </p:nvSpPr>
          <p:spPr>
            <a:xfrm>
              <a:off x="4264" y="2252"/>
              <a:ext cx="66" cy="30"/>
            </a:xfrm>
            <a:custGeom>
              <a:avLst/>
              <a:gdLst>
                <a:gd name="txL" fmla="*/ 0 w 66"/>
                <a:gd name="txT" fmla="*/ 0 h 30"/>
                <a:gd name="txR" fmla="*/ 66 w 66"/>
                <a:gd name="txB" fmla="*/ 30 h 30"/>
              </a:gdLst>
              <a:ahLst/>
              <a:cxnLst>
                <a:cxn ang="0">
                  <a:pos x="66" y="30"/>
                </a:cxn>
                <a:cxn ang="0">
                  <a:pos x="0" y="0"/>
                </a:cxn>
                <a:cxn ang="0">
                  <a:pos x="66" y="30"/>
                </a:cxn>
                <a:cxn ang="0">
                  <a:pos x="66" y="30"/>
                </a:cxn>
                <a:cxn ang="0">
                  <a:pos x="66" y="30"/>
                </a:cxn>
                <a:cxn ang="0">
                  <a:pos x="66" y="30"/>
                </a:cxn>
                <a:cxn ang="0">
                  <a:pos x="66" y="30"/>
                </a:cxn>
              </a:cxnLst>
              <a:rect l="txL" t="txT" r="txR" b="txB"/>
              <a:pathLst>
                <a:path w="66" h="30">
                  <a:moveTo>
                    <a:pt x="66" y="30"/>
                  </a:moveTo>
                  <a:lnTo>
                    <a:pt x="0" y="0"/>
                  </a:lnTo>
                  <a:lnTo>
                    <a:pt x="66" y="30"/>
                  </a:lnTo>
                  <a:close/>
                  <a:moveTo>
                    <a:pt x="66" y="30"/>
                  </a:moveTo>
                  <a:lnTo>
                    <a:pt x="66"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20" name="Freeform 57"/>
            <p:cNvSpPr>
              <a:spLocks noEditPoints="1"/>
            </p:cNvSpPr>
            <p:nvPr/>
          </p:nvSpPr>
          <p:spPr>
            <a:xfrm>
              <a:off x="4198" y="2222"/>
              <a:ext cx="66" cy="30"/>
            </a:xfrm>
            <a:custGeom>
              <a:avLst/>
              <a:gdLst>
                <a:gd name="txL" fmla="*/ 0 w 66"/>
                <a:gd name="txT" fmla="*/ 0 h 30"/>
                <a:gd name="txR" fmla="*/ 66 w 66"/>
                <a:gd name="txB" fmla="*/ 30 h 30"/>
              </a:gdLst>
              <a:ahLst/>
              <a:cxnLst>
                <a:cxn ang="0">
                  <a:pos x="66" y="30"/>
                </a:cxn>
                <a:cxn ang="0">
                  <a:pos x="0" y="0"/>
                </a:cxn>
                <a:cxn ang="0">
                  <a:pos x="66" y="30"/>
                </a:cxn>
                <a:cxn ang="0">
                  <a:pos x="66" y="30"/>
                </a:cxn>
                <a:cxn ang="0">
                  <a:pos x="66" y="30"/>
                </a:cxn>
                <a:cxn ang="0">
                  <a:pos x="66" y="30"/>
                </a:cxn>
                <a:cxn ang="0">
                  <a:pos x="66" y="30"/>
                </a:cxn>
              </a:cxnLst>
              <a:rect l="txL" t="txT" r="txR" b="txB"/>
              <a:pathLst>
                <a:path w="66" h="30">
                  <a:moveTo>
                    <a:pt x="66" y="30"/>
                  </a:moveTo>
                  <a:lnTo>
                    <a:pt x="0" y="0"/>
                  </a:lnTo>
                  <a:lnTo>
                    <a:pt x="66" y="30"/>
                  </a:lnTo>
                  <a:close/>
                  <a:moveTo>
                    <a:pt x="66" y="30"/>
                  </a:moveTo>
                  <a:lnTo>
                    <a:pt x="66"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21" name="Freeform 58"/>
            <p:cNvSpPr>
              <a:spLocks noEditPoints="1"/>
            </p:cNvSpPr>
            <p:nvPr/>
          </p:nvSpPr>
          <p:spPr>
            <a:xfrm>
              <a:off x="4198" y="2192"/>
              <a:ext cx="66" cy="30"/>
            </a:xfrm>
            <a:custGeom>
              <a:avLst/>
              <a:gdLst>
                <a:gd name="txL" fmla="*/ 0 w 66"/>
                <a:gd name="txT" fmla="*/ 0 h 30"/>
                <a:gd name="txR" fmla="*/ 66 w 66"/>
                <a:gd name="txB" fmla="*/ 30 h 30"/>
              </a:gdLst>
              <a:ahLst/>
              <a:cxnLst>
                <a:cxn ang="0">
                  <a:pos x="0" y="30"/>
                </a:cxn>
                <a:cxn ang="0">
                  <a:pos x="66" y="0"/>
                </a:cxn>
                <a:cxn ang="0">
                  <a:pos x="0" y="30"/>
                </a:cxn>
                <a:cxn ang="0">
                  <a:pos x="0" y="30"/>
                </a:cxn>
                <a:cxn ang="0">
                  <a:pos x="0" y="30"/>
                </a:cxn>
                <a:cxn ang="0">
                  <a:pos x="0" y="30"/>
                </a:cxn>
                <a:cxn ang="0">
                  <a:pos x="0" y="30"/>
                </a:cxn>
              </a:cxnLst>
              <a:rect l="txL" t="txT" r="txR" b="txB"/>
              <a:pathLst>
                <a:path w="66" h="30">
                  <a:moveTo>
                    <a:pt x="0" y="30"/>
                  </a:moveTo>
                  <a:lnTo>
                    <a:pt x="66"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22" name="Freeform 59"/>
            <p:cNvSpPr>
              <a:spLocks noEditPoints="1"/>
            </p:cNvSpPr>
            <p:nvPr/>
          </p:nvSpPr>
          <p:spPr>
            <a:xfrm>
              <a:off x="4264" y="2162"/>
              <a:ext cx="66" cy="30"/>
            </a:xfrm>
            <a:custGeom>
              <a:avLst/>
              <a:gdLst>
                <a:gd name="txL" fmla="*/ 0 w 66"/>
                <a:gd name="txT" fmla="*/ 0 h 30"/>
                <a:gd name="txR" fmla="*/ 66 w 66"/>
                <a:gd name="txB" fmla="*/ 30 h 30"/>
              </a:gdLst>
              <a:ahLst/>
              <a:cxnLst>
                <a:cxn ang="0">
                  <a:pos x="0" y="30"/>
                </a:cxn>
                <a:cxn ang="0">
                  <a:pos x="66" y="0"/>
                </a:cxn>
                <a:cxn ang="0">
                  <a:pos x="0" y="30"/>
                </a:cxn>
                <a:cxn ang="0">
                  <a:pos x="0" y="30"/>
                </a:cxn>
                <a:cxn ang="0">
                  <a:pos x="0" y="30"/>
                </a:cxn>
                <a:cxn ang="0">
                  <a:pos x="0" y="30"/>
                </a:cxn>
                <a:cxn ang="0">
                  <a:pos x="0" y="30"/>
                </a:cxn>
              </a:cxnLst>
              <a:rect l="txL" t="txT" r="txR" b="txB"/>
              <a:pathLst>
                <a:path w="66" h="30">
                  <a:moveTo>
                    <a:pt x="0" y="30"/>
                  </a:moveTo>
                  <a:lnTo>
                    <a:pt x="66"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23" name="Freeform 60"/>
            <p:cNvSpPr>
              <a:spLocks noEditPoints="1"/>
            </p:cNvSpPr>
            <p:nvPr/>
          </p:nvSpPr>
          <p:spPr>
            <a:xfrm>
              <a:off x="4264" y="2133"/>
              <a:ext cx="66" cy="29"/>
            </a:xfrm>
            <a:custGeom>
              <a:avLst/>
              <a:gdLst>
                <a:gd name="txL" fmla="*/ 0 w 66"/>
                <a:gd name="txT" fmla="*/ 0 h 29"/>
                <a:gd name="txR" fmla="*/ 66 w 66"/>
                <a:gd name="txB" fmla="*/ 29 h 29"/>
              </a:gdLst>
              <a:ahLst/>
              <a:cxnLst>
                <a:cxn ang="0">
                  <a:pos x="66" y="29"/>
                </a:cxn>
                <a:cxn ang="0">
                  <a:pos x="0" y="0"/>
                </a:cxn>
                <a:cxn ang="0">
                  <a:pos x="66" y="29"/>
                </a:cxn>
                <a:cxn ang="0">
                  <a:pos x="66" y="29"/>
                </a:cxn>
                <a:cxn ang="0">
                  <a:pos x="66" y="29"/>
                </a:cxn>
                <a:cxn ang="0">
                  <a:pos x="66" y="29"/>
                </a:cxn>
                <a:cxn ang="0">
                  <a:pos x="66" y="29"/>
                </a:cxn>
              </a:cxnLst>
              <a:rect l="txL" t="txT" r="txR" b="txB"/>
              <a:pathLst>
                <a:path w="66" h="29">
                  <a:moveTo>
                    <a:pt x="66" y="29"/>
                  </a:moveTo>
                  <a:lnTo>
                    <a:pt x="0" y="0"/>
                  </a:lnTo>
                  <a:lnTo>
                    <a:pt x="66" y="29"/>
                  </a:lnTo>
                  <a:close/>
                  <a:moveTo>
                    <a:pt x="66" y="29"/>
                  </a:moveTo>
                  <a:lnTo>
                    <a:pt x="66" y="2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24" name="Freeform 61"/>
            <p:cNvSpPr>
              <a:spLocks noEditPoints="1"/>
            </p:cNvSpPr>
            <p:nvPr/>
          </p:nvSpPr>
          <p:spPr>
            <a:xfrm>
              <a:off x="4198" y="2103"/>
              <a:ext cx="66" cy="30"/>
            </a:xfrm>
            <a:custGeom>
              <a:avLst/>
              <a:gdLst>
                <a:gd name="txL" fmla="*/ 0 w 66"/>
                <a:gd name="txT" fmla="*/ 0 h 30"/>
                <a:gd name="txR" fmla="*/ 66 w 66"/>
                <a:gd name="txB" fmla="*/ 30 h 30"/>
              </a:gdLst>
              <a:ahLst/>
              <a:cxnLst>
                <a:cxn ang="0">
                  <a:pos x="66" y="30"/>
                </a:cxn>
                <a:cxn ang="0">
                  <a:pos x="0" y="0"/>
                </a:cxn>
                <a:cxn ang="0">
                  <a:pos x="66" y="30"/>
                </a:cxn>
                <a:cxn ang="0">
                  <a:pos x="66" y="30"/>
                </a:cxn>
                <a:cxn ang="0">
                  <a:pos x="66" y="30"/>
                </a:cxn>
                <a:cxn ang="0">
                  <a:pos x="66" y="30"/>
                </a:cxn>
                <a:cxn ang="0">
                  <a:pos x="66" y="30"/>
                </a:cxn>
              </a:cxnLst>
              <a:rect l="txL" t="txT" r="txR" b="txB"/>
              <a:pathLst>
                <a:path w="66" h="30">
                  <a:moveTo>
                    <a:pt x="66" y="30"/>
                  </a:moveTo>
                  <a:lnTo>
                    <a:pt x="0" y="0"/>
                  </a:lnTo>
                  <a:lnTo>
                    <a:pt x="66" y="30"/>
                  </a:lnTo>
                  <a:close/>
                  <a:moveTo>
                    <a:pt x="66" y="30"/>
                  </a:moveTo>
                  <a:lnTo>
                    <a:pt x="66"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25" name="Freeform 62"/>
            <p:cNvSpPr>
              <a:spLocks noEditPoints="1"/>
            </p:cNvSpPr>
            <p:nvPr/>
          </p:nvSpPr>
          <p:spPr>
            <a:xfrm>
              <a:off x="4198" y="2073"/>
              <a:ext cx="66" cy="30"/>
            </a:xfrm>
            <a:custGeom>
              <a:avLst/>
              <a:gdLst>
                <a:gd name="txL" fmla="*/ 0 w 66"/>
                <a:gd name="txT" fmla="*/ 0 h 30"/>
                <a:gd name="txR" fmla="*/ 66 w 66"/>
                <a:gd name="txB" fmla="*/ 30 h 30"/>
              </a:gdLst>
              <a:ahLst/>
              <a:cxnLst>
                <a:cxn ang="0">
                  <a:pos x="0" y="30"/>
                </a:cxn>
                <a:cxn ang="0">
                  <a:pos x="66" y="0"/>
                </a:cxn>
                <a:cxn ang="0">
                  <a:pos x="0" y="30"/>
                </a:cxn>
                <a:cxn ang="0">
                  <a:pos x="0" y="30"/>
                </a:cxn>
                <a:cxn ang="0">
                  <a:pos x="0" y="30"/>
                </a:cxn>
                <a:cxn ang="0">
                  <a:pos x="0" y="30"/>
                </a:cxn>
                <a:cxn ang="0">
                  <a:pos x="0" y="30"/>
                </a:cxn>
              </a:cxnLst>
              <a:rect l="txL" t="txT" r="txR" b="txB"/>
              <a:pathLst>
                <a:path w="66" h="30">
                  <a:moveTo>
                    <a:pt x="0" y="30"/>
                  </a:moveTo>
                  <a:lnTo>
                    <a:pt x="66"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26" name="Freeform 63"/>
            <p:cNvSpPr>
              <a:spLocks noEditPoints="1"/>
            </p:cNvSpPr>
            <p:nvPr/>
          </p:nvSpPr>
          <p:spPr>
            <a:xfrm>
              <a:off x="4264" y="2037"/>
              <a:ext cx="66" cy="36"/>
            </a:xfrm>
            <a:custGeom>
              <a:avLst/>
              <a:gdLst>
                <a:gd name="txL" fmla="*/ 0 w 66"/>
                <a:gd name="txT" fmla="*/ 0 h 36"/>
                <a:gd name="txR" fmla="*/ 66 w 66"/>
                <a:gd name="txB" fmla="*/ 36 h 36"/>
              </a:gdLst>
              <a:ahLst/>
              <a:cxnLst>
                <a:cxn ang="0">
                  <a:pos x="0" y="36"/>
                </a:cxn>
                <a:cxn ang="0">
                  <a:pos x="66" y="0"/>
                </a:cxn>
                <a:cxn ang="0">
                  <a:pos x="0" y="36"/>
                </a:cxn>
                <a:cxn ang="0">
                  <a:pos x="0" y="36"/>
                </a:cxn>
                <a:cxn ang="0">
                  <a:pos x="0" y="36"/>
                </a:cxn>
                <a:cxn ang="0">
                  <a:pos x="0" y="36"/>
                </a:cxn>
                <a:cxn ang="0">
                  <a:pos x="0" y="36"/>
                </a:cxn>
              </a:cxnLst>
              <a:rect l="txL" t="txT" r="txR" b="txB"/>
              <a:pathLst>
                <a:path w="66" h="36">
                  <a:moveTo>
                    <a:pt x="0" y="36"/>
                  </a:moveTo>
                  <a:lnTo>
                    <a:pt x="66" y="0"/>
                  </a:lnTo>
                  <a:lnTo>
                    <a:pt x="0" y="36"/>
                  </a:lnTo>
                  <a:close/>
                  <a:moveTo>
                    <a:pt x="0" y="36"/>
                  </a:moveTo>
                  <a:lnTo>
                    <a:pt x="0"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27" name="Freeform 64"/>
            <p:cNvSpPr>
              <a:spLocks noEditPoints="1"/>
            </p:cNvSpPr>
            <p:nvPr/>
          </p:nvSpPr>
          <p:spPr>
            <a:xfrm>
              <a:off x="4264" y="2007"/>
              <a:ext cx="66" cy="30"/>
            </a:xfrm>
            <a:custGeom>
              <a:avLst/>
              <a:gdLst>
                <a:gd name="txL" fmla="*/ 0 w 66"/>
                <a:gd name="txT" fmla="*/ 0 h 30"/>
                <a:gd name="txR" fmla="*/ 66 w 66"/>
                <a:gd name="txB" fmla="*/ 30 h 30"/>
              </a:gdLst>
              <a:ahLst/>
              <a:cxnLst>
                <a:cxn ang="0">
                  <a:pos x="66" y="30"/>
                </a:cxn>
                <a:cxn ang="0">
                  <a:pos x="0" y="0"/>
                </a:cxn>
                <a:cxn ang="0">
                  <a:pos x="66" y="30"/>
                </a:cxn>
                <a:cxn ang="0">
                  <a:pos x="66" y="30"/>
                </a:cxn>
                <a:cxn ang="0">
                  <a:pos x="66" y="30"/>
                </a:cxn>
                <a:cxn ang="0">
                  <a:pos x="66" y="30"/>
                </a:cxn>
                <a:cxn ang="0">
                  <a:pos x="66" y="30"/>
                </a:cxn>
              </a:cxnLst>
              <a:rect l="txL" t="txT" r="txR" b="txB"/>
              <a:pathLst>
                <a:path w="66" h="30">
                  <a:moveTo>
                    <a:pt x="66" y="30"/>
                  </a:moveTo>
                  <a:lnTo>
                    <a:pt x="0" y="0"/>
                  </a:lnTo>
                  <a:lnTo>
                    <a:pt x="66" y="30"/>
                  </a:lnTo>
                  <a:close/>
                  <a:moveTo>
                    <a:pt x="66" y="30"/>
                  </a:moveTo>
                  <a:lnTo>
                    <a:pt x="66"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28" name="Freeform 65"/>
            <p:cNvSpPr>
              <a:spLocks noEditPoints="1"/>
            </p:cNvSpPr>
            <p:nvPr/>
          </p:nvSpPr>
          <p:spPr>
            <a:xfrm>
              <a:off x="4198" y="1977"/>
              <a:ext cx="66" cy="30"/>
            </a:xfrm>
            <a:custGeom>
              <a:avLst/>
              <a:gdLst>
                <a:gd name="txL" fmla="*/ 0 w 66"/>
                <a:gd name="txT" fmla="*/ 0 h 30"/>
                <a:gd name="txR" fmla="*/ 66 w 66"/>
                <a:gd name="txB" fmla="*/ 30 h 30"/>
              </a:gdLst>
              <a:ahLst/>
              <a:cxnLst>
                <a:cxn ang="0">
                  <a:pos x="66" y="30"/>
                </a:cxn>
                <a:cxn ang="0">
                  <a:pos x="0" y="0"/>
                </a:cxn>
                <a:cxn ang="0">
                  <a:pos x="66" y="30"/>
                </a:cxn>
                <a:cxn ang="0">
                  <a:pos x="66" y="30"/>
                </a:cxn>
                <a:cxn ang="0">
                  <a:pos x="66" y="30"/>
                </a:cxn>
                <a:cxn ang="0">
                  <a:pos x="66" y="30"/>
                </a:cxn>
                <a:cxn ang="0">
                  <a:pos x="66" y="30"/>
                </a:cxn>
              </a:cxnLst>
              <a:rect l="txL" t="txT" r="txR" b="txB"/>
              <a:pathLst>
                <a:path w="66" h="30">
                  <a:moveTo>
                    <a:pt x="66" y="30"/>
                  </a:moveTo>
                  <a:lnTo>
                    <a:pt x="0" y="0"/>
                  </a:lnTo>
                  <a:lnTo>
                    <a:pt x="66" y="30"/>
                  </a:lnTo>
                  <a:close/>
                  <a:moveTo>
                    <a:pt x="66" y="30"/>
                  </a:moveTo>
                  <a:lnTo>
                    <a:pt x="66"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29" name="Freeform 66"/>
            <p:cNvSpPr>
              <a:spLocks noEditPoints="1"/>
            </p:cNvSpPr>
            <p:nvPr/>
          </p:nvSpPr>
          <p:spPr>
            <a:xfrm>
              <a:off x="4198" y="1948"/>
              <a:ext cx="72" cy="29"/>
            </a:xfrm>
            <a:custGeom>
              <a:avLst/>
              <a:gdLst>
                <a:gd name="txL" fmla="*/ 0 w 72"/>
                <a:gd name="txT" fmla="*/ 0 h 29"/>
                <a:gd name="txR" fmla="*/ 72 w 72"/>
                <a:gd name="txB" fmla="*/ 29 h 29"/>
              </a:gdLst>
              <a:ahLst/>
              <a:cxnLst>
                <a:cxn ang="0">
                  <a:pos x="0" y="29"/>
                </a:cxn>
                <a:cxn ang="0">
                  <a:pos x="72" y="0"/>
                </a:cxn>
                <a:cxn ang="0">
                  <a:pos x="0" y="29"/>
                </a:cxn>
                <a:cxn ang="0">
                  <a:pos x="0" y="29"/>
                </a:cxn>
                <a:cxn ang="0">
                  <a:pos x="0" y="29"/>
                </a:cxn>
                <a:cxn ang="0">
                  <a:pos x="0" y="29"/>
                </a:cxn>
                <a:cxn ang="0">
                  <a:pos x="0" y="29"/>
                </a:cxn>
              </a:cxnLst>
              <a:rect l="txL" t="txT" r="txR" b="txB"/>
              <a:pathLst>
                <a:path w="72" h="29">
                  <a:moveTo>
                    <a:pt x="0" y="29"/>
                  </a:moveTo>
                  <a:lnTo>
                    <a:pt x="72" y="0"/>
                  </a:lnTo>
                  <a:lnTo>
                    <a:pt x="0" y="29"/>
                  </a:lnTo>
                  <a:close/>
                  <a:moveTo>
                    <a:pt x="0" y="29"/>
                  </a:moveTo>
                  <a:lnTo>
                    <a:pt x="0" y="2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30" name="Freeform 67"/>
            <p:cNvSpPr>
              <a:spLocks noEditPoints="1"/>
            </p:cNvSpPr>
            <p:nvPr/>
          </p:nvSpPr>
          <p:spPr>
            <a:xfrm>
              <a:off x="2542" y="1547"/>
              <a:ext cx="47" cy="156"/>
            </a:xfrm>
            <a:custGeom>
              <a:avLst/>
              <a:gdLst>
                <a:gd name="txL" fmla="*/ 0 w 47"/>
                <a:gd name="txT" fmla="*/ 0 h 156"/>
                <a:gd name="txR" fmla="*/ 47 w 47"/>
                <a:gd name="txB" fmla="*/ 156 h 156"/>
              </a:gdLst>
              <a:ahLst/>
              <a:cxnLst>
                <a:cxn ang="0">
                  <a:pos x="35" y="126"/>
                </a:cxn>
                <a:cxn ang="0">
                  <a:pos x="29" y="138"/>
                </a:cxn>
                <a:cxn ang="0">
                  <a:pos x="17" y="144"/>
                </a:cxn>
                <a:cxn ang="0">
                  <a:pos x="17" y="144"/>
                </a:cxn>
                <a:cxn ang="0">
                  <a:pos x="17" y="132"/>
                </a:cxn>
                <a:cxn ang="0">
                  <a:pos x="17" y="126"/>
                </a:cxn>
                <a:cxn ang="0">
                  <a:pos x="41" y="48"/>
                </a:cxn>
                <a:cxn ang="0">
                  <a:pos x="41" y="48"/>
                </a:cxn>
                <a:cxn ang="0">
                  <a:pos x="23" y="54"/>
                </a:cxn>
                <a:cxn ang="0">
                  <a:pos x="6" y="54"/>
                </a:cxn>
                <a:cxn ang="0">
                  <a:pos x="6" y="60"/>
                </a:cxn>
                <a:cxn ang="0">
                  <a:pos x="17" y="60"/>
                </a:cxn>
                <a:cxn ang="0">
                  <a:pos x="17" y="66"/>
                </a:cxn>
                <a:cxn ang="0">
                  <a:pos x="17" y="78"/>
                </a:cxn>
                <a:cxn ang="0">
                  <a:pos x="12" y="102"/>
                </a:cxn>
                <a:cxn ang="0">
                  <a:pos x="6" y="126"/>
                </a:cxn>
                <a:cxn ang="0">
                  <a:pos x="0" y="144"/>
                </a:cxn>
                <a:cxn ang="0">
                  <a:pos x="0" y="150"/>
                </a:cxn>
                <a:cxn ang="0">
                  <a:pos x="12" y="156"/>
                </a:cxn>
                <a:cxn ang="0">
                  <a:pos x="29" y="150"/>
                </a:cxn>
                <a:cxn ang="0">
                  <a:pos x="41" y="126"/>
                </a:cxn>
                <a:cxn ang="0">
                  <a:pos x="35" y="126"/>
                </a:cxn>
                <a:cxn ang="0">
                  <a:pos x="47" y="12"/>
                </a:cxn>
                <a:cxn ang="0">
                  <a:pos x="41" y="6"/>
                </a:cxn>
                <a:cxn ang="0">
                  <a:pos x="35" y="0"/>
                </a:cxn>
                <a:cxn ang="0">
                  <a:pos x="29" y="6"/>
                </a:cxn>
                <a:cxn ang="0">
                  <a:pos x="23" y="12"/>
                </a:cxn>
                <a:cxn ang="0">
                  <a:pos x="29" y="18"/>
                </a:cxn>
                <a:cxn ang="0">
                  <a:pos x="35" y="24"/>
                </a:cxn>
                <a:cxn ang="0">
                  <a:pos x="41" y="18"/>
                </a:cxn>
                <a:cxn ang="0">
                  <a:pos x="47" y="12"/>
                </a:cxn>
                <a:cxn ang="0">
                  <a:pos x="47" y="12"/>
                </a:cxn>
              </a:cxnLst>
              <a:rect l="txL" t="txT" r="txR" b="txB"/>
              <a:pathLst>
                <a:path w="47" h="156">
                  <a:moveTo>
                    <a:pt x="35" y="126"/>
                  </a:moveTo>
                  <a:lnTo>
                    <a:pt x="29" y="138"/>
                  </a:lnTo>
                  <a:lnTo>
                    <a:pt x="17" y="144"/>
                  </a:lnTo>
                  <a:lnTo>
                    <a:pt x="17" y="132"/>
                  </a:lnTo>
                  <a:lnTo>
                    <a:pt x="17" y="126"/>
                  </a:lnTo>
                  <a:lnTo>
                    <a:pt x="41" y="48"/>
                  </a:lnTo>
                  <a:lnTo>
                    <a:pt x="23" y="54"/>
                  </a:lnTo>
                  <a:lnTo>
                    <a:pt x="6" y="54"/>
                  </a:lnTo>
                  <a:lnTo>
                    <a:pt x="6" y="60"/>
                  </a:lnTo>
                  <a:lnTo>
                    <a:pt x="17" y="60"/>
                  </a:lnTo>
                  <a:lnTo>
                    <a:pt x="17" y="66"/>
                  </a:lnTo>
                  <a:lnTo>
                    <a:pt x="17" y="78"/>
                  </a:lnTo>
                  <a:lnTo>
                    <a:pt x="12" y="102"/>
                  </a:lnTo>
                  <a:lnTo>
                    <a:pt x="6" y="126"/>
                  </a:lnTo>
                  <a:lnTo>
                    <a:pt x="0" y="144"/>
                  </a:lnTo>
                  <a:lnTo>
                    <a:pt x="0" y="150"/>
                  </a:lnTo>
                  <a:lnTo>
                    <a:pt x="12" y="156"/>
                  </a:lnTo>
                  <a:lnTo>
                    <a:pt x="29" y="150"/>
                  </a:lnTo>
                  <a:lnTo>
                    <a:pt x="41" y="126"/>
                  </a:lnTo>
                  <a:lnTo>
                    <a:pt x="35" y="126"/>
                  </a:lnTo>
                  <a:close/>
                  <a:moveTo>
                    <a:pt x="47" y="12"/>
                  </a:moveTo>
                  <a:lnTo>
                    <a:pt x="41" y="6"/>
                  </a:lnTo>
                  <a:lnTo>
                    <a:pt x="35" y="0"/>
                  </a:lnTo>
                  <a:lnTo>
                    <a:pt x="29" y="6"/>
                  </a:lnTo>
                  <a:lnTo>
                    <a:pt x="23" y="12"/>
                  </a:lnTo>
                  <a:lnTo>
                    <a:pt x="29" y="18"/>
                  </a:lnTo>
                  <a:lnTo>
                    <a:pt x="35" y="24"/>
                  </a:lnTo>
                  <a:lnTo>
                    <a:pt x="41" y="18"/>
                  </a:lnTo>
                  <a:lnTo>
                    <a:pt x="47"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1031" name="Freeform 68"/>
            <p:cNvSpPr/>
            <p:nvPr/>
          </p:nvSpPr>
          <p:spPr>
            <a:xfrm>
              <a:off x="2601" y="1637"/>
              <a:ext cx="42" cy="119"/>
            </a:xfrm>
            <a:custGeom>
              <a:avLst/>
              <a:gdLst>
                <a:gd name="txL" fmla="*/ 0 w 42"/>
                <a:gd name="txT" fmla="*/ 0 h 119"/>
                <a:gd name="txR" fmla="*/ 42 w 42"/>
                <a:gd name="txB" fmla="*/ 119 h 119"/>
              </a:gdLst>
              <a:ahLst/>
              <a:cxnLst>
                <a:cxn ang="0">
                  <a:pos x="0" y="119"/>
                </a:cxn>
                <a:cxn ang="0">
                  <a:pos x="42" y="119"/>
                </a:cxn>
                <a:cxn ang="0">
                  <a:pos x="42" y="119"/>
                </a:cxn>
                <a:cxn ang="0">
                  <a:pos x="30" y="119"/>
                </a:cxn>
                <a:cxn ang="0">
                  <a:pos x="30" y="108"/>
                </a:cxn>
                <a:cxn ang="0">
                  <a:pos x="30" y="0"/>
                </a:cxn>
                <a:cxn ang="0">
                  <a:pos x="24" y="0"/>
                </a:cxn>
                <a:cxn ang="0">
                  <a:pos x="0" y="18"/>
                </a:cxn>
                <a:cxn ang="0">
                  <a:pos x="0" y="24"/>
                </a:cxn>
                <a:cxn ang="0">
                  <a:pos x="6" y="18"/>
                </a:cxn>
                <a:cxn ang="0">
                  <a:pos x="6" y="18"/>
                </a:cxn>
                <a:cxn ang="0">
                  <a:pos x="12" y="24"/>
                </a:cxn>
                <a:cxn ang="0">
                  <a:pos x="12" y="24"/>
                </a:cxn>
                <a:cxn ang="0">
                  <a:pos x="12" y="108"/>
                </a:cxn>
                <a:cxn ang="0">
                  <a:pos x="6" y="119"/>
                </a:cxn>
                <a:cxn ang="0">
                  <a:pos x="0" y="119"/>
                </a:cxn>
                <a:cxn ang="0">
                  <a:pos x="0" y="119"/>
                </a:cxn>
              </a:cxnLst>
              <a:rect l="txL" t="txT" r="txR" b="txB"/>
              <a:pathLst>
                <a:path w="42" h="119">
                  <a:moveTo>
                    <a:pt x="0" y="119"/>
                  </a:moveTo>
                  <a:lnTo>
                    <a:pt x="42" y="119"/>
                  </a:lnTo>
                  <a:lnTo>
                    <a:pt x="30" y="119"/>
                  </a:lnTo>
                  <a:lnTo>
                    <a:pt x="30" y="108"/>
                  </a:lnTo>
                  <a:lnTo>
                    <a:pt x="30" y="0"/>
                  </a:lnTo>
                  <a:lnTo>
                    <a:pt x="24" y="0"/>
                  </a:lnTo>
                  <a:lnTo>
                    <a:pt x="0" y="18"/>
                  </a:lnTo>
                  <a:lnTo>
                    <a:pt x="0" y="24"/>
                  </a:lnTo>
                  <a:lnTo>
                    <a:pt x="6" y="18"/>
                  </a:lnTo>
                  <a:lnTo>
                    <a:pt x="12" y="24"/>
                  </a:lnTo>
                  <a:lnTo>
                    <a:pt x="12" y="108"/>
                  </a:lnTo>
                  <a:lnTo>
                    <a:pt x="6" y="119"/>
                  </a:lnTo>
                  <a:lnTo>
                    <a:pt x="0" y="11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1032" name="Freeform 69"/>
            <p:cNvSpPr>
              <a:spLocks noEditPoints="1"/>
            </p:cNvSpPr>
            <p:nvPr/>
          </p:nvSpPr>
          <p:spPr>
            <a:xfrm>
              <a:off x="3911" y="1536"/>
              <a:ext cx="42" cy="161"/>
            </a:xfrm>
            <a:custGeom>
              <a:avLst/>
              <a:gdLst>
                <a:gd name="txL" fmla="*/ 0 w 42"/>
                <a:gd name="txT" fmla="*/ 0 h 161"/>
                <a:gd name="txR" fmla="*/ 42 w 42"/>
                <a:gd name="txB" fmla="*/ 161 h 161"/>
              </a:gdLst>
              <a:ahLst/>
              <a:cxnLst>
                <a:cxn ang="0">
                  <a:pos x="36" y="131"/>
                </a:cxn>
                <a:cxn ang="0">
                  <a:pos x="24" y="143"/>
                </a:cxn>
                <a:cxn ang="0">
                  <a:pos x="18" y="149"/>
                </a:cxn>
                <a:cxn ang="0">
                  <a:pos x="18" y="149"/>
                </a:cxn>
                <a:cxn ang="0">
                  <a:pos x="12" y="143"/>
                </a:cxn>
                <a:cxn ang="0">
                  <a:pos x="18" y="137"/>
                </a:cxn>
                <a:cxn ang="0">
                  <a:pos x="18" y="131"/>
                </a:cxn>
                <a:cxn ang="0">
                  <a:pos x="36" y="53"/>
                </a:cxn>
                <a:cxn ang="0">
                  <a:pos x="36" y="53"/>
                </a:cxn>
                <a:cxn ang="0">
                  <a:pos x="18" y="59"/>
                </a:cxn>
                <a:cxn ang="0">
                  <a:pos x="0" y="59"/>
                </a:cxn>
                <a:cxn ang="0">
                  <a:pos x="0" y="59"/>
                </a:cxn>
                <a:cxn ang="0">
                  <a:pos x="12" y="65"/>
                </a:cxn>
                <a:cxn ang="0">
                  <a:pos x="12" y="65"/>
                </a:cxn>
                <a:cxn ang="0">
                  <a:pos x="12" y="83"/>
                </a:cxn>
                <a:cxn ang="0">
                  <a:pos x="6" y="107"/>
                </a:cxn>
                <a:cxn ang="0">
                  <a:pos x="0" y="125"/>
                </a:cxn>
                <a:cxn ang="0">
                  <a:pos x="0" y="143"/>
                </a:cxn>
                <a:cxn ang="0">
                  <a:pos x="0" y="155"/>
                </a:cxn>
                <a:cxn ang="0">
                  <a:pos x="6" y="161"/>
                </a:cxn>
                <a:cxn ang="0">
                  <a:pos x="18" y="161"/>
                </a:cxn>
                <a:cxn ang="0">
                  <a:pos x="24" y="149"/>
                </a:cxn>
                <a:cxn ang="0">
                  <a:pos x="36" y="131"/>
                </a:cxn>
                <a:cxn ang="0">
                  <a:pos x="36" y="131"/>
                </a:cxn>
                <a:cxn ang="0">
                  <a:pos x="42" y="17"/>
                </a:cxn>
                <a:cxn ang="0">
                  <a:pos x="42" y="5"/>
                </a:cxn>
                <a:cxn ang="0">
                  <a:pos x="36" y="0"/>
                </a:cxn>
                <a:cxn ang="0">
                  <a:pos x="30" y="5"/>
                </a:cxn>
                <a:cxn ang="0">
                  <a:pos x="24" y="17"/>
                </a:cxn>
                <a:cxn ang="0">
                  <a:pos x="30" y="23"/>
                </a:cxn>
                <a:cxn ang="0">
                  <a:pos x="36" y="29"/>
                </a:cxn>
                <a:cxn ang="0">
                  <a:pos x="42" y="23"/>
                </a:cxn>
                <a:cxn ang="0">
                  <a:pos x="42" y="17"/>
                </a:cxn>
                <a:cxn ang="0">
                  <a:pos x="42" y="17"/>
                </a:cxn>
              </a:cxnLst>
              <a:rect l="txL" t="txT" r="txR" b="txB"/>
              <a:pathLst>
                <a:path w="42" h="161">
                  <a:moveTo>
                    <a:pt x="36" y="131"/>
                  </a:moveTo>
                  <a:lnTo>
                    <a:pt x="24" y="143"/>
                  </a:lnTo>
                  <a:lnTo>
                    <a:pt x="18" y="149"/>
                  </a:lnTo>
                  <a:lnTo>
                    <a:pt x="12" y="143"/>
                  </a:lnTo>
                  <a:lnTo>
                    <a:pt x="18" y="137"/>
                  </a:lnTo>
                  <a:lnTo>
                    <a:pt x="18" y="131"/>
                  </a:lnTo>
                  <a:lnTo>
                    <a:pt x="36" y="53"/>
                  </a:lnTo>
                  <a:lnTo>
                    <a:pt x="18" y="59"/>
                  </a:lnTo>
                  <a:lnTo>
                    <a:pt x="0" y="59"/>
                  </a:lnTo>
                  <a:lnTo>
                    <a:pt x="12" y="65"/>
                  </a:lnTo>
                  <a:lnTo>
                    <a:pt x="12" y="83"/>
                  </a:lnTo>
                  <a:lnTo>
                    <a:pt x="6" y="107"/>
                  </a:lnTo>
                  <a:lnTo>
                    <a:pt x="0" y="125"/>
                  </a:lnTo>
                  <a:lnTo>
                    <a:pt x="0" y="143"/>
                  </a:lnTo>
                  <a:lnTo>
                    <a:pt x="0" y="155"/>
                  </a:lnTo>
                  <a:lnTo>
                    <a:pt x="6" y="161"/>
                  </a:lnTo>
                  <a:lnTo>
                    <a:pt x="18" y="161"/>
                  </a:lnTo>
                  <a:lnTo>
                    <a:pt x="24" y="149"/>
                  </a:lnTo>
                  <a:lnTo>
                    <a:pt x="36" y="131"/>
                  </a:lnTo>
                  <a:close/>
                  <a:moveTo>
                    <a:pt x="42" y="17"/>
                  </a:moveTo>
                  <a:lnTo>
                    <a:pt x="42" y="5"/>
                  </a:lnTo>
                  <a:lnTo>
                    <a:pt x="36" y="0"/>
                  </a:lnTo>
                  <a:lnTo>
                    <a:pt x="30" y="5"/>
                  </a:lnTo>
                  <a:lnTo>
                    <a:pt x="24" y="17"/>
                  </a:lnTo>
                  <a:lnTo>
                    <a:pt x="30" y="23"/>
                  </a:lnTo>
                  <a:lnTo>
                    <a:pt x="36" y="29"/>
                  </a:lnTo>
                  <a:lnTo>
                    <a:pt x="42" y="23"/>
                  </a:lnTo>
                  <a:lnTo>
                    <a:pt x="42" y="1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1033" name="Freeform 70"/>
            <p:cNvSpPr/>
            <p:nvPr/>
          </p:nvSpPr>
          <p:spPr>
            <a:xfrm>
              <a:off x="3965" y="1631"/>
              <a:ext cx="72" cy="119"/>
            </a:xfrm>
            <a:custGeom>
              <a:avLst/>
              <a:gdLst>
                <a:gd name="txL" fmla="*/ 0 w 72"/>
                <a:gd name="txT" fmla="*/ 0 h 119"/>
                <a:gd name="txR" fmla="*/ 72 w 72"/>
                <a:gd name="txB" fmla="*/ 119 h 119"/>
              </a:gdLst>
              <a:ahLst/>
              <a:cxnLst>
                <a:cxn ang="0">
                  <a:pos x="72" y="96"/>
                </a:cxn>
                <a:cxn ang="0">
                  <a:pos x="66" y="96"/>
                </a:cxn>
                <a:cxn ang="0">
                  <a:pos x="60" y="108"/>
                </a:cxn>
                <a:cxn ang="0">
                  <a:pos x="54" y="108"/>
                </a:cxn>
                <a:cxn ang="0">
                  <a:pos x="12" y="108"/>
                </a:cxn>
                <a:cxn ang="0">
                  <a:pos x="42" y="78"/>
                </a:cxn>
                <a:cxn ang="0">
                  <a:pos x="54" y="54"/>
                </a:cxn>
                <a:cxn ang="0">
                  <a:pos x="60" y="30"/>
                </a:cxn>
                <a:cxn ang="0">
                  <a:pos x="54" y="6"/>
                </a:cxn>
                <a:cxn ang="0">
                  <a:pos x="30" y="0"/>
                </a:cxn>
                <a:cxn ang="0">
                  <a:pos x="12" y="6"/>
                </a:cxn>
                <a:cxn ang="0">
                  <a:pos x="6" y="18"/>
                </a:cxn>
                <a:cxn ang="0">
                  <a:pos x="0" y="36"/>
                </a:cxn>
                <a:cxn ang="0">
                  <a:pos x="0" y="36"/>
                </a:cxn>
                <a:cxn ang="0">
                  <a:pos x="12" y="18"/>
                </a:cxn>
                <a:cxn ang="0">
                  <a:pos x="24" y="12"/>
                </a:cxn>
                <a:cxn ang="0">
                  <a:pos x="36" y="18"/>
                </a:cxn>
                <a:cxn ang="0">
                  <a:pos x="42" y="24"/>
                </a:cxn>
                <a:cxn ang="0">
                  <a:pos x="48" y="36"/>
                </a:cxn>
                <a:cxn ang="0">
                  <a:pos x="42" y="60"/>
                </a:cxn>
                <a:cxn ang="0">
                  <a:pos x="24" y="84"/>
                </a:cxn>
                <a:cxn ang="0">
                  <a:pos x="0" y="119"/>
                </a:cxn>
                <a:cxn ang="0">
                  <a:pos x="0" y="119"/>
                </a:cxn>
                <a:cxn ang="0">
                  <a:pos x="60" y="119"/>
                </a:cxn>
                <a:cxn ang="0">
                  <a:pos x="72" y="96"/>
                </a:cxn>
              </a:cxnLst>
              <a:rect l="txL" t="txT" r="txR" b="txB"/>
              <a:pathLst>
                <a:path w="72" h="119">
                  <a:moveTo>
                    <a:pt x="72" y="96"/>
                  </a:moveTo>
                  <a:lnTo>
                    <a:pt x="66" y="96"/>
                  </a:lnTo>
                  <a:lnTo>
                    <a:pt x="60" y="108"/>
                  </a:lnTo>
                  <a:lnTo>
                    <a:pt x="54" y="108"/>
                  </a:lnTo>
                  <a:lnTo>
                    <a:pt x="12" y="108"/>
                  </a:lnTo>
                  <a:lnTo>
                    <a:pt x="42" y="78"/>
                  </a:lnTo>
                  <a:lnTo>
                    <a:pt x="54" y="54"/>
                  </a:lnTo>
                  <a:lnTo>
                    <a:pt x="60" y="30"/>
                  </a:lnTo>
                  <a:lnTo>
                    <a:pt x="54" y="6"/>
                  </a:lnTo>
                  <a:lnTo>
                    <a:pt x="30" y="0"/>
                  </a:lnTo>
                  <a:lnTo>
                    <a:pt x="12" y="6"/>
                  </a:lnTo>
                  <a:lnTo>
                    <a:pt x="6" y="18"/>
                  </a:lnTo>
                  <a:lnTo>
                    <a:pt x="0" y="36"/>
                  </a:lnTo>
                  <a:lnTo>
                    <a:pt x="12" y="18"/>
                  </a:lnTo>
                  <a:lnTo>
                    <a:pt x="24" y="12"/>
                  </a:lnTo>
                  <a:lnTo>
                    <a:pt x="36" y="18"/>
                  </a:lnTo>
                  <a:lnTo>
                    <a:pt x="42" y="24"/>
                  </a:lnTo>
                  <a:lnTo>
                    <a:pt x="48" y="36"/>
                  </a:lnTo>
                  <a:lnTo>
                    <a:pt x="42" y="60"/>
                  </a:lnTo>
                  <a:lnTo>
                    <a:pt x="24" y="84"/>
                  </a:lnTo>
                  <a:lnTo>
                    <a:pt x="0" y="119"/>
                  </a:lnTo>
                  <a:lnTo>
                    <a:pt x="60" y="119"/>
                  </a:lnTo>
                  <a:lnTo>
                    <a:pt x="72" y="9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1034" name="Freeform 71"/>
            <p:cNvSpPr/>
            <p:nvPr/>
          </p:nvSpPr>
          <p:spPr>
            <a:xfrm>
              <a:off x="2763" y="1524"/>
              <a:ext cx="1" cy="155"/>
            </a:xfrm>
            <a:custGeom>
              <a:avLst/>
              <a:gdLst>
                <a:gd name="txL" fmla="*/ 0 w 1"/>
                <a:gd name="txT" fmla="*/ 0 h 155"/>
                <a:gd name="txR" fmla="*/ 1 w 1"/>
                <a:gd name="txB" fmla="*/ 155 h 155"/>
              </a:gdLst>
              <a:ahLst/>
              <a:cxnLst>
                <a:cxn ang="0">
                  <a:pos x="0" y="0"/>
                </a:cxn>
                <a:cxn ang="0">
                  <a:pos x="0" y="155"/>
                </a:cxn>
                <a:cxn ang="0">
                  <a:pos x="0" y="0"/>
                </a:cxn>
                <a:cxn ang="0">
                  <a:pos x="0" y="0"/>
                </a:cxn>
              </a:cxnLst>
              <a:rect l="txL" t="txT" r="txR" b="txB"/>
              <a:pathLst>
                <a:path w="1" h="155">
                  <a:moveTo>
                    <a:pt x="0" y="0"/>
                  </a:moveTo>
                  <a:lnTo>
                    <a:pt x="0" y="155"/>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35" name="Freeform 72"/>
            <p:cNvSpPr/>
            <p:nvPr/>
          </p:nvSpPr>
          <p:spPr>
            <a:xfrm>
              <a:off x="2715" y="1649"/>
              <a:ext cx="90" cy="179"/>
            </a:xfrm>
            <a:custGeom>
              <a:avLst/>
              <a:gdLst>
                <a:gd name="txL" fmla="*/ 0 w 90"/>
                <a:gd name="txT" fmla="*/ 0 h 179"/>
                <a:gd name="txR" fmla="*/ 90 w 90"/>
                <a:gd name="txB" fmla="*/ 179 h 179"/>
              </a:gdLst>
              <a:ahLst/>
              <a:cxnLst>
                <a:cxn ang="0">
                  <a:pos x="0" y="0"/>
                </a:cxn>
                <a:cxn ang="0">
                  <a:pos x="48" y="179"/>
                </a:cxn>
                <a:cxn ang="0">
                  <a:pos x="90" y="0"/>
                </a:cxn>
                <a:cxn ang="0">
                  <a:pos x="0" y="0"/>
                </a:cxn>
                <a:cxn ang="0">
                  <a:pos x="0" y="0"/>
                </a:cxn>
              </a:cxnLst>
              <a:rect l="txL" t="txT" r="txR" b="txB"/>
              <a:pathLst>
                <a:path w="90" h="179">
                  <a:moveTo>
                    <a:pt x="0" y="0"/>
                  </a:moveTo>
                  <a:lnTo>
                    <a:pt x="48" y="179"/>
                  </a:lnTo>
                  <a:lnTo>
                    <a:pt x="90" y="0"/>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36" name="Freeform 73"/>
            <p:cNvSpPr/>
            <p:nvPr/>
          </p:nvSpPr>
          <p:spPr>
            <a:xfrm>
              <a:off x="4151" y="1524"/>
              <a:ext cx="1" cy="155"/>
            </a:xfrm>
            <a:custGeom>
              <a:avLst/>
              <a:gdLst>
                <a:gd name="txL" fmla="*/ 0 w 1"/>
                <a:gd name="txT" fmla="*/ 0 h 155"/>
                <a:gd name="txR" fmla="*/ 1 w 1"/>
                <a:gd name="txB" fmla="*/ 155 h 155"/>
              </a:gdLst>
              <a:ahLst/>
              <a:cxnLst>
                <a:cxn ang="0">
                  <a:pos x="0" y="0"/>
                </a:cxn>
                <a:cxn ang="0">
                  <a:pos x="0" y="155"/>
                </a:cxn>
                <a:cxn ang="0">
                  <a:pos x="0" y="0"/>
                </a:cxn>
                <a:cxn ang="0">
                  <a:pos x="0" y="0"/>
                </a:cxn>
              </a:cxnLst>
              <a:rect l="txL" t="txT" r="txR" b="txB"/>
              <a:pathLst>
                <a:path w="1" h="155">
                  <a:moveTo>
                    <a:pt x="0" y="0"/>
                  </a:moveTo>
                  <a:lnTo>
                    <a:pt x="0" y="155"/>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37" name="Freeform 74"/>
            <p:cNvSpPr/>
            <p:nvPr/>
          </p:nvSpPr>
          <p:spPr>
            <a:xfrm>
              <a:off x="4109" y="1649"/>
              <a:ext cx="89" cy="179"/>
            </a:xfrm>
            <a:custGeom>
              <a:avLst/>
              <a:gdLst>
                <a:gd name="txL" fmla="*/ 0 w 89"/>
                <a:gd name="txT" fmla="*/ 0 h 179"/>
                <a:gd name="txR" fmla="*/ 89 w 89"/>
                <a:gd name="txB" fmla="*/ 179 h 179"/>
              </a:gdLst>
              <a:ahLst/>
              <a:cxnLst>
                <a:cxn ang="0">
                  <a:pos x="0" y="0"/>
                </a:cxn>
                <a:cxn ang="0">
                  <a:pos x="42" y="179"/>
                </a:cxn>
                <a:cxn ang="0">
                  <a:pos x="89" y="0"/>
                </a:cxn>
                <a:cxn ang="0">
                  <a:pos x="0" y="0"/>
                </a:cxn>
                <a:cxn ang="0">
                  <a:pos x="0" y="0"/>
                </a:cxn>
              </a:cxnLst>
              <a:rect l="txL" t="txT" r="txR" b="txB"/>
              <a:pathLst>
                <a:path w="89" h="179">
                  <a:moveTo>
                    <a:pt x="0" y="0"/>
                  </a:moveTo>
                  <a:lnTo>
                    <a:pt x="42" y="179"/>
                  </a:lnTo>
                  <a:lnTo>
                    <a:pt x="89" y="0"/>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38" name="Freeform 75"/>
            <p:cNvSpPr>
              <a:spLocks noEditPoints="1"/>
            </p:cNvSpPr>
            <p:nvPr/>
          </p:nvSpPr>
          <p:spPr>
            <a:xfrm>
              <a:off x="1680" y="873"/>
              <a:ext cx="48" cy="155"/>
            </a:xfrm>
            <a:custGeom>
              <a:avLst/>
              <a:gdLst>
                <a:gd name="txL" fmla="*/ 0 w 48"/>
                <a:gd name="txT" fmla="*/ 0 h 155"/>
                <a:gd name="txR" fmla="*/ 48 w 48"/>
                <a:gd name="txB" fmla="*/ 155 h 155"/>
              </a:gdLst>
              <a:ahLst/>
              <a:cxnLst>
                <a:cxn ang="0">
                  <a:pos x="42" y="125"/>
                </a:cxn>
                <a:cxn ang="0">
                  <a:pos x="30" y="137"/>
                </a:cxn>
                <a:cxn ang="0">
                  <a:pos x="24" y="143"/>
                </a:cxn>
                <a:cxn ang="0">
                  <a:pos x="18" y="143"/>
                </a:cxn>
                <a:cxn ang="0">
                  <a:pos x="18" y="137"/>
                </a:cxn>
                <a:cxn ang="0">
                  <a:pos x="24" y="131"/>
                </a:cxn>
                <a:cxn ang="0">
                  <a:pos x="24" y="125"/>
                </a:cxn>
                <a:cxn ang="0">
                  <a:pos x="42" y="48"/>
                </a:cxn>
                <a:cxn ang="0">
                  <a:pos x="42" y="48"/>
                </a:cxn>
                <a:cxn ang="0">
                  <a:pos x="24" y="53"/>
                </a:cxn>
                <a:cxn ang="0">
                  <a:pos x="6" y="53"/>
                </a:cxn>
                <a:cxn ang="0">
                  <a:pos x="6" y="59"/>
                </a:cxn>
                <a:cxn ang="0">
                  <a:pos x="18" y="59"/>
                </a:cxn>
                <a:cxn ang="0">
                  <a:pos x="18" y="65"/>
                </a:cxn>
                <a:cxn ang="0">
                  <a:pos x="18" y="77"/>
                </a:cxn>
                <a:cxn ang="0">
                  <a:pos x="12" y="101"/>
                </a:cxn>
                <a:cxn ang="0">
                  <a:pos x="6" y="119"/>
                </a:cxn>
                <a:cxn ang="0">
                  <a:pos x="0" y="137"/>
                </a:cxn>
                <a:cxn ang="0">
                  <a:pos x="0" y="149"/>
                </a:cxn>
                <a:cxn ang="0">
                  <a:pos x="12" y="155"/>
                </a:cxn>
                <a:cxn ang="0">
                  <a:pos x="30" y="149"/>
                </a:cxn>
                <a:cxn ang="0">
                  <a:pos x="42" y="125"/>
                </a:cxn>
                <a:cxn ang="0">
                  <a:pos x="42" y="125"/>
                </a:cxn>
                <a:cxn ang="0">
                  <a:pos x="48" y="12"/>
                </a:cxn>
                <a:cxn ang="0">
                  <a:pos x="48" y="6"/>
                </a:cxn>
                <a:cxn ang="0">
                  <a:pos x="36" y="0"/>
                </a:cxn>
                <a:cxn ang="0">
                  <a:pos x="36" y="0"/>
                </a:cxn>
                <a:cxn ang="0">
                  <a:pos x="30" y="12"/>
                </a:cxn>
                <a:cxn ang="0">
                  <a:pos x="36" y="18"/>
                </a:cxn>
                <a:cxn ang="0">
                  <a:pos x="36" y="24"/>
                </a:cxn>
                <a:cxn ang="0">
                  <a:pos x="48" y="18"/>
                </a:cxn>
                <a:cxn ang="0">
                  <a:pos x="48" y="12"/>
                </a:cxn>
                <a:cxn ang="0">
                  <a:pos x="48" y="12"/>
                </a:cxn>
              </a:cxnLst>
              <a:rect l="txL" t="txT" r="txR" b="txB"/>
              <a:pathLst>
                <a:path w="48" h="155">
                  <a:moveTo>
                    <a:pt x="42" y="125"/>
                  </a:moveTo>
                  <a:lnTo>
                    <a:pt x="30" y="137"/>
                  </a:lnTo>
                  <a:lnTo>
                    <a:pt x="24" y="143"/>
                  </a:lnTo>
                  <a:lnTo>
                    <a:pt x="18" y="143"/>
                  </a:lnTo>
                  <a:lnTo>
                    <a:pt x="18" y="137"/>
                  </a:lnTo>
                  <a:lnTo>
                    <a:pt x="24" y="131"/>
                  </a:lnTo>
                  <a:lnTo>
                    <a:pt x="24" y="125"/>
                  </a:lnTo>
                  <a:lnTo>
                    <a:pt x="42" y="48"/>
                  </a:lnTo>
                  <a:lnTo>
                    <a:pt x="24" y="53"/>
                  </a:lnTo>
                  <a:lnTo>
                    <a:pt x="6" y="53"/>
                  </a:lnTo>
                  <a:lnTo>
                    <a:pt x="6" y="59"/>
                  </a:lnTo>
                  <a:lnTo>
                    <a:pt x="18" y="59"/>
                  </a:lnTo>
                  <a:lnTo>
                    <a:pt x="18" y="65"/>
                  </a:lnTo>
                  <a:lnTo>
                    <a:pt x="18" y="77"/>
                  </a:lnTo>
                  <a:lnTo>
                    <a:pt x="12" y="101"/>
                  </a:lnTo>
                  <a:lnTo>
                    <a:pt x="6" y="119"/>
                  </a:lnTo>
                  <a:lnTo>
                    <a:pt x="0" y="137"/>
                  </a:lnTo>
                  <a:lnTo>
                    <a:pt x="0" y="149"/>
                  </a:lnTo>
                  <a:lnTo>
                    <a:pt x="12" y="155"/>
                  </a:lnTo>
                  <a:lnTo>
                    <a:pt x="30" y="149"/>
                  </a:lnTo>
                  <a:lnTo>
                    <a:pt x="42" y="125"/>
                  </a:lnTo>
                  <a:close/>
                  <a:moveTo>
                    <a:pt x="48" y="12"/>
                  </a:moveTo>
                  <a:lnTo>
                    <a:pt x="48" y="6"/>
                  </a:lnTo>
                  <a:lnTo>
                    <a:pt x="36" y="0"/>
                  </a:lnTo>
                  <a:lnTo>
                    <a:pt x="30" y="12"/>
                  </a:lnTo>
                  <a:lnTo>
                    <a:pt x="36" y="18"/>
                  </a:lnTo>
                  <a:lnTo>
                    <a:pt x="36" y="24"/>
                  </a:lnTo>
                  <a:lnTo>
                    <a:pt x="48" y="18"/>
                  </a:lnTo>
                  <a:lnTo>
                    <a:pt x="48"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1039" name="Freeform 76"/>
            <p:cNvSpPr/>
            <p:nvPr/>
          </p:nvSpPr>
          <p:spPr>
            <a:xfrm>
              <a:off x="1489" y="1153"/>
              <a:ext cx="359" cy="1"/>
            </a:xfrm>
            <a:custGeom>
              <a:avLst/>
              <a:gdLst>
                <a:gd name="txL" fmla="*/ 0 w 359"/>
                <a:gd name="txT" fmla="*/ 0 h 1"/>
                <a:gd name="txR" fmla="*/ 359 w 359"/>
                <a:gd name="txB" fmla="*/ 1 h 1"/>
              </a:gdLst>
              <a:ahLst/>
              <a:cxnLst>
                <a:cxn ang="0">
                  <a:pos x="0" y="0"/>
                </a:cxn>
                <a:cxn ang="0">
                  <a:pos x="359" y="0"/>
                </a:cxn>
                <a:cxn ang="0">
                  <a:pos x="0" y="0"/>
                </a:cxn>
                <a:cxn ang="0">
                  <a:pos x="0" y="0"/>
                </a:cxn>
              </a:cxnLst>
              <a:rect l="txL" t="txT" r="txR" b="txB"/>
              <a:pathLst>
                <a:path w="359" h="1">
                  <a:moveTo>
                    <a:pt x="0" y="0"/>
                  </a:moveTo>
                  <a:lnTo>
                    <a:pt x="359"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40" name="Freeform 77"/>
            <p:cNvSpPr/>
            <p:nvPr/>
          </p:nvSpPr>
          <p:spPr>
            <a:xfrm>
              <a:off x="1818" y="1106"/>
              <a:ext cx="161" cy="95"/>
            </a:xfrm>
            <a:custGeom>
              <a:avLst/>
              <a:gdLst>
                <a:gd name="txL" fmla="*/ 0 w 161"/>
                <a:gd name="txT" fmla="*/ 0 h 95"/>
                <a:gd name="txR" fmla="*/ 161 w 161"/>
                <a:gd name="txB" fmla="*/ 95 h 95"/>
              </a:gdLst>
              <a:ahLst/>
              <a:cxnLst>
                <a:cxn ang="0">
                  <a:pos x="0" y="95"/>
                </a:cxn>
                <a:cxn ang="0">
                  <a:pos x="161" y="47"/>
                </a:cxn>
                <a:cxn ang="0">
                  <a:pos x="0" y="0"/>
                </a:cxn>
                <a:cxn ang="0">
                  <a:pos x="0" y="95"/>
                </a:cxn>
                <a:cxn ang="0">
                  <a:pos x="0" y="95"/>
                </a:cxn>
              </a:cxnLst>
              <a:rect l="txL" t="txT" r="txR" b="txB"/>
              <a:pathLst>
                <a:path w="161" h="95">
                  <a:moveTo>
                    <a:pt x="0" y="95"/>
                  </a:moveTo>
                  <a:lnTo>
                    <a:pt x="161" y="47"/>
                  </a:lnTo>
                  <a:lnTo>
                    <a:pt x="0" y="0"/>
                  </a:lnTo>
                  <a:lnTo>
                    <a:pt x="0" y="95"/>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41" name="Freeform 78"/>
            <p:cNvSpPr/>
            <p:nvPr/>
          </p:nvSpPr>
          <p:spPr>
            <a:xfrm>
              <a:off x="2877" y="1237"/>
              <a:ext cx="1375" cy="1"/>
            </a:xfrm>
            <a:custGeom>
              <a:avLst/>
              <a:gdLst>
                <a:gd name="txL" fmla="*/ 0 w 1375"/>
                <a:gd name="txT" fmla="*/ 0 h 1"/>
                <a:gd name="txR" fmla="*/ 1375 w 1375"/>
                <a:gd name="txB" fmla="*/ 1 h 1"/>
              </a:gdLst>
              <a:ahLst/>
              <a:cxnLst>
                <a:cxn ang="0">
                  <a:pos x="0" y="0"/>
                </a:cxn>
                <a:cxn ang="0">
                  <a:pos x="1375" y="0"/>
                </a:cxn>
                <a:cxn ang="0">
                  <a:pos x="0" y="0"/>
                </a:cxn>
                <a:cxn ang="0">
                  <a:pos x="0" y="0"/>
                </a:cxn>
              </a:cxnLst>
              <a:rect l="txL" t="txT" r="txR" b="txB"/>
              <a:pathLst>
                <a:path w="1375" h="1">
                  <a:moveTo>
                    <a:pt x="0" y="0"/>
                  </a:moveTo>
                  <a:lnTo>
                    <a:pt x="1375"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42" name="Freeform 79"/>
            <p:cNvSpPr>
              <a:spLocks noEditPoints="1"/>
            </p:cNvSpPr>
            <p:nvPr/>
          </p:nvSpPr>
          <p:spPr>
            <a:xfrm>
              <a:off x="2877" y="1327"/>
              <a:ext cx="1489" cy="89"/>
            </a:xfrm>
            <a:custGeom>
              <a:avLst/>
              <a:gdLst>
                <a:gd name="txL" fmla="*/ 0 w 1489"/>
                <a:gd name="txT" fmla="*/ 0 h 89"/>
                <a:gd name="txR" fmla="*/ 1489 w 1489"/>
                <a:gd name="txB" fmla="*/ 89 h 89"/>
              </a:gdLst>
              <a:ahLst/>
              <a:cxnLst>
                <a:cxn ang="0">
                  <a:pos x="0" y="89"/>
                </a:cxn>
                <a:cxn ang="0">
                  <a:pos x="1375" y="89"/>
                </a:cxn>
                <a:cxn ang="0">
                  <a:pos x="0" y="89"/>
                </a:cxn>
                <a:cxn ang="0">
                  <a:pos x="0" y="89"/>
                </a:cxn>
                <a:cxn ang="0">
                  <a:pos x="1375" y="89"/>
                </a:cxn>
                <a:cxn ang="0">
                  <a:pos x="1423" y="83"/>
                </a:cxn>
                <a:cxn ang="0">
                  <a:pos x="1459" y="59"/>
                </a:cxn>
                <a:cxn ang="0">
                  <a:pos x="1483" y="29"/>
                </a:cxn>
                <a:cxn ang="0">
                  <a:pos x="1489" y="0"/>
                </a:cxn>
                <a:cxn ang="0">
                  <a:pos x="1489" y="0"/>
                </a:cxn>
                <a:cxn ang="0">
                  <a:pos x="1483" y="29"/>
                </a:cxn>
                <a:cxn ang="0">
                  <a:pos x="1459" y="59"/>
                </a:cxn>
                <a:cxn ang="0">
                  <a:pos x="1423" y="83"/>
                </a:cxn>
                <a:cxn ang="0">
                  <a:pos x="1375" y="89"/>
                </a:cxn>
                <a:cxn ang="0">
                  <a:pos x="1375" y="89"/>
                </a:cxn>
              </a:cxnLst>
              <a:rect l="txL" t="txT" r="txR" b="txB"/>
              <a:pathLst>
                <a:path w="1489" h="89">
                  <a:moveTo>
                    <a:pt x="0" y="89"/>
                  </a:moveTo>
                  <a:lnTo>
                    <a:pt x="1375" y="89"/>
                  </a:lnTo>
                  <a:lnTo>
                    <a:pt x="0" y="89"/>
                  </a:lnTo>
                  <a:close/>
                  <a:moveTo>
                    <a:pt x="1375" y="89"/>
                  </a:moveTo>
                  <a:lnTo>
                    <a:pt x="1423" y="83"/>
                  </a:lnTo>
                  <a:lnTo>
                    <a:pt x="1459" y="59"/>
                  </a:lnTo>
                  <a:lnTo>
                    <a:pt x="1483" y="29"/>
                  </a:lnTo>
                  <a:lnTo>
                    <a:pt x="1489" y="0"/>
                  </a:lnTo>
                  <a:lnTo>
                    <a:pt x="1483" y="29"/>
                  </a:lnTo>
                  <a:lnTo>
                    <a:pt x="1459" y="59"/>
                  </a:lnTo>
                  <a:lnTo>
                    <a:pt x="1423" y="83"/>
                  </a:lnTo>
                  <a:lnTo>
                    <a:pt x="1375" y="8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43" name="Freeform 80"/>
            <p:cNvSpPr>
              <a:spLocks noEditPoints="1"/>
            </p:cNvSpPr>
            <p:nvPr/>
          </p:nvSpPr>
          <p:spPr>
            <a:xfrm>
              <a:off x="4252" y="1237"/>
              <a:ext cx="114" cy="90"/>
            </a:xfrm>
            <a:custGeom>
              <a:avLst/>
              <a:gdLst>
                <a:gd name="txL" fmla="*/ 0 w 114"/>
                <a:gd name="txT" fmla="*/ 0 h 90"/>
                <a:gd name="txR" fmla="*/ 114 w 114"/>
                <a:gd name="txB" fmla="*/ 90 h 90"/>
              </a:gdLst>
              <a:ahLst/>
              <a:cxnLst>
                <a:cxn ang="0">
                  <a:pos x="114" y="90"/>
                </a:cxn>
                <a:cxn ang="0">
                  <a:pos x="108" y="60"/>
                </a:cxn>
                <a:cxn ang="0">
                  <a:pos x="84" y="30"/>
                </a:cxn>
                <a:cxn ang="0">
                  <a:pos x="48" y="6"/>
                </a:cxn>
                <a:cxn ang="0">
                  <a:pos x="0" y="0"/>
                </a:cxn>
                <a:cxn ang="0">
                  <a:pos x="0" y="0"/>
                </a:cxn>
                <a:cxn ang="0">
                  <a:pos x="48" y="6"/>
                </a:cxn>
                <a:cxn ang="0">
                  <a:pos x="84" y="30"/>
                </a:cxn>
                <a:cxn ang="0">
                  <a:pos x="108" y="60"/>
                </a:cxn>
                <a:cxn ang="0">
                  <a:pos x="114" y="90"/>
                </a:cxn>
                <a:cxn ang="0">
                  <a:pos x="114" y="90"/>
                </a:cxn>
                <a:cxn ang="0">
                  <a:pos x="114" y="90"/>
                </a:cxn>
                <a:cxn ang="0">
                  <a:pos x="114" y="90"/>
                </a:cxn>
                <a:cxn ang="0">
                  <a:pos x="114" y="90"/>
                </a:cxn>
              </a:cxnLst>
              <a:rect l="txL" t="txT" r="txR" b="txB"/>
              <a:pathLst>
                <a:path w="114" h="90">
                  <a:moveTo>
                    <a:pt x="114" y="90"/>
                  </a:moveTo>
                  <a:lnTo>
                    <a:pt x="108" y="60"/>
                  </a:lnTo>
                  <a:lnTo>
                    <a:pt x="84" y="30"/>
                  </a:lnTo>
                  <a:lnTo>
                    <a:pt x="48" y="6"/>
                  </a:lnTo>
                  <a:lnTo>
                    <a:pt x="0" y="0"/>
                  </a:lnTo>
                  <a:lnTo>
                    <a:pt x="48" y="6"/>
                  </a:lnTo>
                  <a:lnTo>
                    <a:pt x="84" y="30"/>
                  </a:lnTo>
                  <a:lnTo>
                    <a:pt x="108" y="60"/>
                  </a:lnTo>
                  <a:lnTo>
                    <a:pt x="114" y="90"/>
                  </a:lnTo>
                  <a:close/>
                  <a:moveTo>
                    <a:pt x="114" y="90"/>
                  </a:moveTo>
                  <a:lnTo>
                    <a:pt x="114" y="9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44" name="Freeform 81"/>
            <p:cNvSpPr>
              <a:spLocks noEditPoints="1"/>
            </p:cNvSpPr>
            <p:nvPr/>
          </p:nvSpPr>
          <p:spPr>
            <a:xfrm>
              <a:off x="2769" y="1237"/>
              <a:ext cx="108" cy="179"/>
            </a:xfrm>
            <a:custGeom>
              <a:avLst/>
              <a:gdLst>
                <a:gd name="txL" fmla="*/ 0 w 108"/>
                <a:gd name="txT" fmla="*/ 0 h 179"/>
                <a:gd name="txR" fmla="*/ 108 w 108"/>
                <a:gd name="txB" fmla="*/ 179 h 179"/>
              </a:gdLst>
              <a:ahLst/>
              <a:cxnLst>
                <a:cxn ang="0">
                  <a:pos x="108" y="0"/>
                </a:cxn>
                <a:cxn ang="0">
                  <a:pos x="60" y="6"/>
                </a:cxn>
                <a:cxn ang="0">
                  <a:pos x="30" y="30"/>
                </a:cxn>
                <a:cxn ang="0">
                  <a:pos x="6" y="60"/>
                </a:cxn>
                <a:cxn ang="0">
                  <a:pos x="0" y="90"/>
                </a:cxn>
                <a:cxn ang="0">
                  <a:pos x="0" y="90"/>
                </a:cxn>
                <a:cxn ang="0">
                  <a:pos x="6" y="60"/>
                </a:cxn>
                <a:cxn ang="0">
                  <a:pos x="30" y="30"/>
                </a:cxn>
                <a:cxn ang="0">
                  <a:pos x="60" y="6"/>
                </a:cxn>
                <a:cxn ang="0">
                  <a:pos x="108" y="0"/>
                </a:cxn>
                <a:cxn ang="0">
                  <a:pos x="108" y="0"/>
                </a:cxn>
                <a:cxn ang="0">
                  <a:pos x="0" y="90"/>
                </a:cxn>
                <a:cxn ang="0">
                  <a:pos x="6" y="119"/>
                </a:cxn>
                <a:cxn ang="0">
                  <a:pos x="30" y="149"/>
                </a:cxn>
                <a:cxn ang="0">
                  <a:pos x="66" y="173"/>
                </a:cxn>
                <a:cxn ang="0">
                  <a:pos x="108" y="179"/>
                </a:cxn>
                <a:cxn ang="0">
                  <a:pos x="108" y="179"/>
                </a:cxn>
                <a:cxn ang="0">
                  <a:pos x="66" y="173"/>
                </a:cxn>
                <a:cxn ang="0">
                  <a:pos x="30" y="149"/>
                </a:cxn>
                <a:cxn ang="0">
                  <a:pos x="6" y="119"/>
                </a:cxn>
                <a:cxn ang="0">
                  <a:pos x="0" y="90"/>
                </a:cxn>
                <a:cxn ang="0">
                  <a:pos x="0" y="90"/>
                </a:cxn>
              </a:cxnLst>
              <a:rect l="txL" t="txT" r="txR" b="txB"/>
              <a:pathLst>
                <a:path w="108" h="179">
                  <a:moveTo>
                    <a:pt x="108" y="0"/>
                  </a:moveTo>
                  <a:lnTo>
                    <a:pt x="60" y="6"/>
                  </a:lnTo>
                  <a:lnTo>
                    <a:pt x="30" y="30"/>
                  </a:lnTo>
                  <a:lnTo>
                    <a:pt x="6" y="60"/>
                  </a:lnTo>
                  <a:lnTo>
                    <a:pt x="0" y="90"/>
                  </a:lnTo>
                  <a:lnTo>
                    <a:pt x="6" y="60"/>
                  </a:lnTo>
                  <a:lnTo>
                    <a:pt x="30" y="30"/>
                  </a:lnTo>
                  <a:lnTo>
                    <a:pt x="60" y="6"/>
                  </a:lnTo>
                  <a:lnTo>
                    <a:pt x="108" y="0"/>
                  </a:lnTo>
                  <a:close/>
                  <a:moveTo>
                    <a:pt x="0" y="90"/>
                  </a:moveTo>
                  <a:lnTo>
                    <a:pt x="6" y="119"/>
                  </a:lnTo>
                  <a:lnTo>
                    <a:pt x="30" y="149"/>
                  </a:lnTo>
                  <a:lnTo>
                    <a:pt x="66" y="173"/>
                  </a:lnTo>
                  <a:lnTo>
                    <a:pt x="108" y="179"/>
                  </a:lnTo>
                  <a:lnTo>
                    <a:pt x="66" y="173"/>
                  </a:lnTo>
                  <a:lnTo>
                    <a:pt x="30" y="149"/>
                  </a:lnTo>
                  <a:lnTo>
                    <a:pt x="6" y="119"/>
                  </a:lnTo>
                  <a:lnTo>
                    <a:pt x="0" y="9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45" name="Freeform 82"/>
            <p:cNvSpPr/>
            <p:nvPr/>
          </p:nvSpPr>
          <p:spPr>
            <a:xfrm>
              <a:off x="2769" y="1327"/>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F0027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1046" name="Freeform 83"/>
            <p:cNvSpPr/>
            <p:nvPr/>
          </p:nvSpPr>
          <p:spPr>
            <a:xfrm>
              <a:off x="2877" y="2981"/>
              <a:ext cx="1375" cy="1"/>
            </a:xfrm>
            <a:custGeom>
              <a:avLst/>
              <a:gdLst>
                <a:gd name="txL" fmla="*/ 0 w 1375"/>
                <a:gd name="txT" fmla="*/ 0 h 1"/>
                <a:gd name="txR" fmla="*/ 1375 w 1375"/>
                <a:gd name="txB" fmla="*/ 1 h 1"/>
              </a:gdLst>
              <a:ahLst/>
              <a:cxnLst>
                <a:cxn ang="0">
                  <a:pos x="0" y="0"/>
                </a:cxn>
                <a:cxn ang="0">
                  <a:pos x="1375" y="0"/>
                </a:cxn>
                <a:cxn ang="0">
                  <a:pos x="0" y="0"/>
                </a:cxn>
                <a:cxn ang="0">
                  <a:pos x="0" y="0"/>
                </a:cxn>
              </a:cxnLst>
              <a:rect l="txL" t="txT" r="txR" b="txB"/>
              <a:pathLst>
                <a:path w="1375" h="1">
                  <a:moveTo>
                    <a:pt x="0" y="0"/>
                  </a:moveTo>
                  <a:lnTo>
                    <a:pt x="1375"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47" name="Freeform 84"/>
            <p:cNvSpPr>
              <a:spLocks noEditPoints="1"/>
            </p:cNvSpPr>
            <p:nvPr/>
          </p:nvSpPr>
          <p:spPr>
            <a:xfrm>
              <a:off x="2877" y="3070"/>
              <a:ext cx="1489" cy="90"/>
            </a:xfrm>
            <a:custGeom>
              <a:avLst/>
              <a:gdLst>
                <a:gd name="txL" fmla="*/ 0 w 1489"/>
                <a:gd name="txT" fmla="*/ 0 h 90"/>
                <a:gd name="txR" fmla="*/ 1489 w 1489"/>
                <a:gd name="txB" fmla="*/ 90 h 90"/>
              </a:gdLst>
              <a:ahLst/>
              <a:cxnLst>
                <a:cxn ang="0">
                  <a:pos x="0" y="90"/>
                </a:cxn>
                <a:cxn ang="0">
                  <a:pos x="1375" y="90"/>
                </a:cxn>
                <a:cxn ang="0">
                  <a:pos x="0" y="90"/>
                </a:cxn>
                <a:cxn ang="0">
                  <a:pos x="0" y="90"/>
                </a:cxn>
                <a:cxn ang="0">
                  <a:pos x="1375" y="90"/>
                </a:cxn>
                <a:cxn ang="0">
                  <a:pos x="1423" y="84"/>
                </a:cxn>
                <a:cxn ang="0">
                  <a:pos x="1459" y="60"/>
                </a:cxn>
                <a:cxn ang="0">
                  <a:pos x="1483" y="30"/>
                </a:cxn>
                <a:cxn ang="0">
                  <a:pos x="1489" y="0"/>
                </a:cxn>
                <a:cxn ang="0">
                  <a:pos x="1489" y="0"/>
                </a:cxn>
                <a:cxn ang="0">
                  <a:pos x="1483" y="30"/>
                </a:cxn>
                <a:cxn ang="0">
                  <a:pos x="1459" y="60"/>
                </a:cxn>
                <a:cxn ang="0">
                  <a:pos x="1423" y="84"/>
                </a:cxn>
                <a:cxn ang="0">
                  <a:pos x="1375" y="90"/>
                </a:cxn>
                <a:cxn ang="0">
                  <a:pos x="1375" y="90"/>
                </a:cxn>
              </a:cxnLst>
              <a:rect l="txL" t="txT" r="txR" b="txB"/>
              <a:pathLst>
                <a:path w="1489" h="90">
                  <a:moveTo>
                    <a:pt x="0" y="90"/>
                  </a:moveTo>
                  <a:lnTo>
                    <a:pt x="1375" y="90"/>
                  </a:lnTo>
                  <a:lnTo>
                    <a:pt x="0" y="90"/>
                  </a:lnTo>
                  <a:close/>
                  <a:moveTo>
                    <a:pt x="1375" y="90"/>
                  </a:moveTo>
                  <a:lnTo>
                    <a:pt x="1423" y="84"/>
                  </a:lnTo>
                  <a:lnTo>
                    <a:pt x="1459" y="60"/>
                  </a:lnTo>
                  <a:lnTo>
                    <a:pt x="1483" y="30"/>
                  </a:lnTo>
                  <a:lnTo>
                    <a:pt x="1489" y="0"/>
                  </a:lnTo>
                  <a:lnTo>
                    <a:pt x="1483" y="30"/>
                  </a:lnTo>
                  <a:lnTo>
                    <a:pt x="1459" y="60"/>
                  </a:lnTo>
                  <a:lnTo>
                    <a:pt x="1423" y="84"/>
                  </a:lnTo>
                  <a:lnTo>
                    <a:pt x="1375" y="9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48" name="Freeform 85"/>
            <p:cNvSpPr>
              <a:spLocks noEditPoints="1"/>
            </p:cNvSpPr>
            <p:nvPr/>
          </p:nvSpPr>
          <p:spPr>
            <a:xfrm>
              <a:off x="4252" y="2981"/>
              <a:ext cx="114" cy="89"/>
            </a:xfrm>
            <a:custGeom>
              <a:avLst/>
              <a:gdLst>
                <a:gd name="txL" fmla="*/ 0 w 114"/>
                <a:gd name="txT" fmla="*/ 0 h 89"/>
                <a:gd name="txR" fmla="*/ 114 w 114"/>
                <a:gd name="txB" fmla="*/ 89 h 89"/>
              </a:gdLst>
              <a:ahLst/>
              <a:cxnLst>
                <a:cxn ang="0">
                  <a:pos x="114" y="89"/>
                </a:cxn>
                <a:cxn ang="0">
                  <a:pos x="108" y="59"/>
                </a:cxn>
                <a:cxn ang="0">
                  <a:pos x="84" y="29"/>
                </a:cxn>
                <a:cxn ang="0">
                  <a:pos x="48" y="5"/>
                </a:cxn>
                <a:cxn ang="0">
                  <a:pos x="0" y="0"/>
                </a:cxn>
                <a:cxn ang="0">
                  <a:pos x="0" y="0"/>
                </a:cxn>
                <a:cxn ang="0">
                  <a:pos x="48" y="5"/>
                </a:cxn>
                <a:cxn ang="0">
                  <a:pos x="84" y="29"/>
                </a:cxn>
                <a:cxn ang="0">
                  <a:pos x="108" y="59"/>
                </a:cxn>
                <a:cxn ang="0">
                  <a:pos x="114" y="89"/>
                </a:cxn>
                <a:cxn ang="0">
                  <a:pos x="114" y="89"/>
                </a:cxn>
                <a:cxn ang="0">
                  <a:pos x="114" y="89"/>
                </a:cxn>
                <a:cxn ang="0">
                  <a:pos x="114" y="89"/>
                </a:cxn>
                <a:cxn ang="0">
                  <a:pos x="114" y="89"/>
                </a:cxn>
              </a:cxnLst>
              <a:rect l="txL" t="txT" r="txR" b="txB"/>
              <a:pathLst>
                <a:path w="114" h="89">
                  <a:moveTo>
                    <a:pt x="114" y="89"/>
                  </a:moveTo>
                  <a:lnTo>
                    <a:pt x="108" y="59"/>
                  </a:lnTo>
                  <a:lnTo>
                    <a:pt x="84" y="29"/>
                  </a:lnTo>
                  <a:lnTo>
                    <a:pt x="48" y="5"/>
                  </a:lnTo>
                  <a:lnTo>
                    <a:pt x="0" y="0"/>
                  </a:lnTo>
                  <a:lnTo>
                    <a:pt x="48" y="5"/>
                  </a:lnTo>
                  <a:lnTo>
                    <a:pt x="84" y="29"/>
                  </a:lnTo>
                  <a:lnTo>
                    <a:pt x="108" y="59"/>
                  </a:lnTo>
                  <a:lnTo>
                    <a:pt x="114" y="89"/>
                  </a:lnTo>
                  <a:close/>
                  <a:moveTo>
                    <a:pt x="114" y="89"/>
                  </a:moveTo>
                  <a:lnTo>
                    <a:pt x="114" y="8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49" name="Freeform 86"/>
            <p:cNvSpPr>
              <a:spLocks noEditPoints="1"/>
            </p:cNvSpPr>
            <p:nvPr/>
          </p:nvSpPr>
          <p:spPr>
            <a:xfrm>
              <a:off x="2769" y="2981"/>
              <a:ext cx="108" cy="185"/>
            </a:xfrm>
            <a:custGeom>
              <a:avLst/>
              <a:gdLst>
                <a:gd name="txL" fmla="*/ 0 w 108"/>
                <a:gd name="txT" fmla="*/ 0 h 185"/>
                <a:gd name="txR" fmla="*/ 108 w 108"/>
                <a:gd name="txB" fmla="*/ 185 h 185"/>
              </a:gdLst>
              <a:ahLst/>
              <a:cxnLst>
                <a:cxn ang="0">
                  <a:pos x="108" y="0"/>
                </a:cxn>
                <a:cxn ang="0">
                  <a:pos x="60" y="11"/>
                </a:cxn>
                <a:cxn ang="0">
                  <a:pos x="30" y="29"/>
                </a:cxn>
                <a:cxn ang="0">
                  <a:pos x="6" y="59"/>
                </a:cxn>
                <a:cxn ang="0">
                  <a:pos x="0" y="89"/>
                </a:cxn>
                <a:cxn ang="0">
                  <a:pos x="0" y="89"/>
                </a:cxn>
                <a:cxn ang="0">
                  <a:pos x="6" y="59"/>
                </a:cxn>
                <a:cxn ang="0">
                  <a:pos x="30" y="29"/>
                </a:cxn>
                <a:cxn ang="0">
                  <a:pos x="60" y="11"/>
                </a:cxn>
                <a:cxn ang="0">
                  <a:pos x="108" y="0"/>
                </a:cxn>
                <a:cxn ang="0">
                  <a:pos x="108" y="0"/>
                </a:cxn>
                <a:cxn ang="0">
                  <a:pos x="0" y="89"/>
                </a:cxn>
                <a:cxn ang="0">
                  <a:pos x="6" y="119"/>
                </a:cxn>
                <a:cxn ang="0">
                  <a:pos x="30" y="149"/>
                </a:cxn>
                <a:cxn ang="0">
                  <a:pos x="66" y="173"/>
                </a:cxn>
                <a:cxn ang="0">
                  <a:pos x="108" y="185"/>
                </a:cxn>
                <a:cxn ang="0">
                  <a:pos x="108" y="179"/>
                </a:cxn>
                <a:cxn ang="0">
                  <a:pos x="66" y="173"/>
                </a:cxn>
                <a:cxn ang="0">
                  <a:pos x="30" y="149"/>
                </a:cxn>
                <a:cxn ang="0">
                  <a:pos x="6" y="119"/>
                </a:cxn>
                <a:cxn ang="0">
                  <a:pos x="0" y="89"/>
                </a:cxn>
                <a:cxn ang="0">
                  <a:pos x="0" y="89"/>
                </a:cxn>
              </a:cxnLst>
              <a:rect l="txL" t="txT" r="txR" b="txB"/>
              <a:pathLst>
                <a:path w="108" h="185">
                  <a:moveTo>
                    <a:pt x="108" y="0"/>
                  </a:moveTo>
                  <a:lnTo>
                    <a:pt x="60" y="11"/>
                  </a:lnTo>
                  <a:lnTo>
                    <a:pt x="30" y="29"/>
                  </a:lnTo>
                  <a:lnTo>
                    <a:pt x="6" y="59"/>
                  </a:lnTo>
                  <a:lnTo>
                    <a:pt x="0" y="89"/>
                  </a:lnTo>
                  <a:lnTo>
                    <a:pt x="6" y="59"/>
                  </a:lnTo>
                  <a:lnTo>
                    <a:pt x="30" y="29"/>
                  </a:lnTo>
                  <a:lnTo>
                    <a:pt x="60" y="11"/>
                  </a:lnTo>
                  <a:lnTo>
                    <a:pt x="108" y="0"/>
                  </a:lnTo>
                  <a:close/>
                  <a:moveTo>
                    <a:pt x="0" y="89"/>
                  </a:moveTo>
                  <a:lnTo>
                    <a:pt x="6" y="119"/>
                  </a:lnTo>
                  <a:lnTo>
                    <a:pt x="30" y="149"/>
                  </a:lnTo>
                  <a:lnTo>
                    <a:pt x="66" y="173"/>
                  </a:lnTo>
                  <a:lnTo>
                    <a:pt x="108" y="185"/>
                  </a:lnTo>
                  <a:lnTo>
                    <a:pt x="108" y="179"/>
                  </a:lnTo>
                  <a:lnTo>
                    <a:pt x="66" y="173"/>
                  </a:lnTo>
                  <a:lnTo>
                    <a:pt x="30" y="149"/>
                  </a:lnTo>
                  <a:lnTo>
                    <a:pt x="6" y="119"/>
                  </a:lnTo>
                  <a:lnTo>
                    <a:pt x="0" y="8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1050" name="Freeform 87"/>
            <p:cNvSpPr/>
            <p:nvPr/>
          </p:nvSpPr>
          <p:spPr>
            <a:xfrm>
              <a:off x="2769" y="3070"/>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F0027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1051" name="Line 88"/>
            <p:cNvSpPr/>
            <p:nvPr/>
          </p:nvSpPr>
          <p:spPr>
            <a:xfrm>
              <a:off x="2868" y="2442"/>
              <a:ext cx="0" cy="624"/>
            </a:xfrm>
            <a:prstGeom prst="line">
              <a:avLst/>
            </a:prstGeom>
            <a:ln w="9525" cap="flat" cmpd="sng">
              <a:solidFill>
                <a:schemeClr val="tx1"/>
              </a:solidFill>
              <a:prstDash val="solid"/>
              <a:headEnd type="none" w="med" len="med"/>
              <a:tailEnd type="none" w="med" len="med"/>
            </a:ln>
          </p:spPr>
        </p:sp>
        <p:sp>
          <p:nvSpPr>
            <p:cNvPr id="41052" name="Line 89"/>
            <p:cNvSpPr/>
            <p:nvPr/>
          </p:nvSpPr>
          <p:spPr>
            <a:xfrm flipV="1">
              <a:off x="4266" y="2436"/>
              <a:ext cx="0" cy="630"/>
            </a:xfrm>
            <a:prstGeom prst="line">
              <a:avLst/>
            </a:prstGeom>
            <a:ln w="9525" cap="flat" cmpd="sng">
              <a:solidFill>
                <a:schemeClr val="tx1"/>
              </a:solidFill>
              <a:prstDash val="solid"/>
              <a:headEnd type="none" w="med" len="med"/>
              <a:tailEnd type="none" w="med" len="med"/>
            </a:ln>
          </p:spPr>
        </p:sp>
      </p:grpSp>
      <p:sp>
        <p:nvSpPr>
          <p:cNvPr id="40964" name="Text Box 90"/>
          <p:cNvSpPr txBox="1"/>
          <p:nvPr/>
        </p:nvSpPr>
        <p:spPr>
          <a:xfrm>
            <a:off x="1906588" y="5316538"/>
            <a:ext cx="2160587"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zh-CN" altLang="zh-CN" sz="1800" dirty="0">
              <a:ea typeface="Arial" panose="020B0604020202020204" pitchFamily="34" charset="0"/>
            </a:endParaRPr>
          </a:p>
        </p:txBody>
      </p:sp>
      <p:graphicFrame>
        <p:nvGraphicFramePr>
          <p:cNvPr id="40965" name="Object 91"/>
          <p:cNvGraphicFramePr>
            <a:graphicFrameLocks noChangeAspect="1"/>
          </p:cNvGraphicFramePr>
          <p:nvPr/>
        </p:nvGraphicFramePr>
        <p:xfrm>
          <a:off x="2476500" y="5486400"/>
          <a:ext cx="1944688" cy="1008063"/>
        </p:xfrm>
        <a:graphic>
          <a:graphicData uri="http://schemas.openxmlformats.org/presentationml/2006/ole">
            <mc:AlternateContent xmlns:mc="http://schemas.openxmlformats.org/markup-compatibility/2006">
              <mc:Choice xmlns:v="urn:schemas-microsoft-com:vml" Requires="v">
                <p:oleObj spid="_x0000_s3099" name="" r:id="rId1" imgW="901065" imgH="444500" progId="Equation.3">
                  <p:embed/>
                </p:oleObj>
              </mc:Choice>
              <mc:Fallback>
                <p:oleObj name="" r:id="rId1" imgW="901065" imgH="444500" progId="Equation.3">
                  <p:embed/>
                  <p:pic>
                    <p:nvPicPr>
                      <p:cNvPr id="0" name="图片 3098"/>
                      <p:cNvPicPr/>
                      <p:nvPr/>
                    </p:nvPicPr>
                    <p:blipFill>
                      <a:blip r:embed="rId2"/>
                      <a:stretch>
                        <a:fillRect/>
                      </a:stretch>
                    </p:blipFill>
                    <p:spPr>
                      <a:xfrm>
                        <a:off x="2476500" y="5486400"/>
                        <a:ext cx="1944688" cy="1008063"/>
                      </a:xfrm>
                      <a:prstGeom prst="rect">
                        <a:avLst/>
                      </a:prstGeom>
                      <a:noFill/>
                      <a:ln w="38100">
                        <a:noFill/>
                        <a:miter/>
                      </a:ln>
                    </p:spPr>
                  </p:pic>
                </p:oleObj>
              </mc:Fallback>
            </mc:AlternateContent>
          </a:graphicData>
        </a:graphic>
      </p:graphicFrame>
      <p:sp>
        <p:nvSpPr>
          <p:cNvPr id="40966" name="Text Box 92"/>
          <p:cNvSpPr txBox="1"/>
          <p:nvPr/>
        </p:nvSpPr>
        <p:spPr>
          <a:xfrm>
            <a:off x="4552950" y="5670550"/>
            <a:ext cx="576263"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Arial Black" panose="020B0A04020102020204" pitchFamily="34" charset="0"/>
                <a:cs typeface="Arial" panose="020B0604020202020204" pitchFamily="34" charset="0"/>
              </a:rPr>
              <a:t>或</a:t>
            </a:r>
            <a:endParaRPr lang="en-US" altLang="zh-CN" sz="2400" b="1" dirty="0">
              <a:latin typeface="Arial Black" panose="020B0A04020102020204" pitchFamily="34" charset="0"/>
              <a:ea typeface="Arial" panose="020B0604020202020204" pitchFamily="34" charset="0"/>
            </a:endParaRPr>
          </a:p>
        </p:txBody>
      </p:sp>
      <p:graphicFrame>
        <p:nvGraphicFramePr>
          <p:cNvPr id="40967" name="Object 93"/>
          <p:cNvGraphicFramePr>
            <a:graphicFrameLocks noGrp="1" noChangeAspect="1"/>
          </p:cNvGraphicFramePr>
          <p:nvPr>
            <p:ph sz="half" idx="2"/>
          </p:nvPr>
        </p:nvGraphicFramePr>
        <p:xfrm>
          <a:off x="5292725" y="5403850"/>
          <a:ext cx="2087563" cy="1058863"/>
        </p:xfrm>
        <a:graphic>
          <a:graphicData uri="http://schemas.openxmlformats.org/presentationml/2006/ole">
            <mc:AlternateContent xmlns:mc="http://schemas.openxmlformats.org/markup-compatibility/2006">
              <mc:Choice xmlns:v="urn:schemas-microsoft-com:vml" Requires="v">
                <p:oleObj spid="_x0000_s3101" name="" r:id="rId3" imgW="850265" imgH="431800" progId="Equation.3">
                  <p:embed/>
                </p:oleObj>
              </mc:Choice>
              <mc:Fallback>
                <p:oleObj name="" r:id="rId3" imgW="850265" imgH="431800" progId="Equation.3">
                  <p:embed/>
                  <p:pic>
                    <p:nvPicPr>
                      <p:cNvPr id="0" name="图片 3100"/>
                      <p:cNvPicPr/>
                      <p:nvPr/>
                    </p:nvPicPr>
                    <p:blipFill>
                      <a:blip r:embed="rId4"/>
                      <a:srcRect/>
                      <a:stretch>
                        <a:fillRect/>
                      </a:stretch>
                    </p:blipFill>
                    <p:spPr>
                      <a:xfrm>
                        <a:off x="5292725" y="5403850"/>
                        <a:ext cx="2087563" cy="1058863"/>
                      </a:xfrm>
                      <a:prstGeom prst="rect">
                        <a:avLst/>
                      </a:prstGeom>
                      <a:noFill/>
                      <a:ln w="38100">
                        <a:miter/>
                      </a:ln>
                    </p:spPr>
                  </p:pic>
                </p:oleObj>
              </mc:Fallback>
            </mc:AlternateContent>
          </a:graphicData>
        </a:graphic>
      </p:graphicFrame>
      <p:sp>
        <p:nvSpPr>
          <p:cNvPr id="40968" name="Text Box 95"/>
          <p:cNvSpPr txBox="1"/>
          <p:nvPr/>
        </p:nvSpPr>
        <p:spPr>
          <a:xfrm>
            <a:off x="1027113" y="4370388"/>
            <a:ext cx="7416800" cy="830262"/>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Arial Black" panose="020B0A04020102020204" pitchFamily="34" charset="0"/>
                <a:cs typeface="Arial" panose="020B0604020202020204" pitchFamily="34" charset="0"/>
              </a:rPr>
              <a:t>    两个并联电阻的</a:t>
            </a:r>
            <a:r>
              <a:rPr lang="zh-CN" altLang="en-US" sz="2400" b="1" dirty="0">
                <a:solidFill>
                  <a:srgbClr val="FF0000"/>
                </a:solidFill>
                <a:latin typeface="Arial Black" panose="020B0A04020102020204" pitchFamily="34" charset="0"/>
                <a:cs typeface="Arial" panose="020B0604020202020204" pitchFamily="34" charset="0"/>
              </a:rPr>
              <a:t>等效电阻</a:t>
            </a:r>
            <a:r>
              <a:rPr lang="zh-CN" altLang="en-US" sz="2400" b="1" dirty="0">
                <a:latin typeface="Arial Black" panose="020B0A04020102020204" pitchFamily="34" charset="0"/>
                <a:cs typeface="Arial" panose="020B0604020202020204" pitchFamily="34" charset="0"/>
              </a:rPr>
              <a:t>等于它们的电阻的乘积除以它们的和。</a:t>
            </a:r>
            <a:endParaRPr lang="en-US" altLang="zh-CN" sz="2400" b="1" dirty="0">
              <a:latin typeface="Arial Black" panose="020B0A04020102020204" pitchFamily="34" charset="0"/>
              <a:ea typeface="Arial" panose="020B0604020202020204" pitchFamily="34" charset="0"/>
            </a:endParaRPr>
          </a:p>
        </p:txBody>
      </p:sp>
      <p:sp>
        <p:nvSpPr>
          <p:cNvPr id="40969" name="灯片编号占位符 2"/>
          <p:cNvSpPr txBox="1">
            <a:spLocks noGrp="1"/>
          </p:cNvSpPr>
          <p:nvPr>
            <p:ph type="sldNum" sz="quarter" idx="11"/>
          </p:nvPr>
        </p:nvSpPr>
        <p:spPr>
          <a:xfrm>
            <a:off x="6875463" y="6297613"/>
            <a:ext cx="2133600" cy="457200"/>
          </a:xfrm>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40970" name="文本框 1"/>
          <p:cNvSpPr txBox="1"/>
          <p:nvPr/>
        </p:nvSpPr>
        <p:spPr>
          <a:xfrm>
            <a:off x="2997200" y="1644650"/>
            <a:ext cx="712788" cy="3381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1600" b="1" dirty="0"/>
              <a:t>节点</a:t>
            </a:r>
            <a:endParaRPr lang="zh-CN" altLang="en-US" sz="1600" b="1" dirty="0"/>
          </a:p>
        </p:txBody>
      </p:sp>
      <p:sp>
        <p:nvSpPr>
          <p:cNvPr id="40971" name="文本框 97"/>
          <p:cNvSpPr txBox="1"/>
          <p:nvPr/>
        </p:nvSpPr>
        <p:spPr>
          <a:xfrm>
            <a:off x="2987675" y="3671888"/>
            <a:ext cx="712788" cy="3381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1600" b="1" dirty="0"/>
              <a:t>节点</a:t>
            </a:r>
            <a:endParaRPr lang="zh-CN" altLang="en-US" sz="1600" b="1" dirty="0"/>
          </a:p>
        </p:txBody>
      </p:sp>
      <p:sp>
        <p:nvSpPr>
          <p:cNvPr id="40972" name="文本框 90"/>
          <p:cNvSpPr txBox="1"/>
          <p:nvPr/>
        </p:nvSpPr>
        <p:spPr>
          <a:xfrm>
            <a:off x="131763" y="5697538"/>
            <a:ext cx="234950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2400" b="1" dirty="0"/>
              <a:t>串联等效电阻：</a:t>
            </a:r>
            <a:endParaRPr lang="zh-CN" altLang="en-US" sz="2400" b="1" dirty="0"/>
          </a:p>
        </p:txBody>
      </p:sp>
      <p:pic>
        <p:nvPicPr>
          <p:cNvPr id="40973" name="Picture 4"/>
          <p:cNvPicPr>
            <a:picLocks noChangeAspect="1"/>
          </p:cNvPicPr>
          <p:nvPr/>
        </p:nvPicPr>
        <p:blipFill>
          <a:blip r:embed="rId5"/>
          <a:stretch>
            <a:fillRect/>
          </a:stretch>
        </p:blipFill>
        <p:spPr>
          <a:xfrm>
            <a:off x="5597525" y="1639888"/>
            <a:ext cx="2428875" cy="2417762"/>
          </a:xfrm>
          <a:prstGeom prst="rect">
            <a:avLst/>
          </a:prstGeom>
          <a:noFill/>
          <a:ln w="9525">
            <a:noFill/>
          </a:ln>
        </p:spPr>
      </p:pic>
      <p:graphicFrame>
        <p:nvGraphicFramePr>
          <p:cNvPr id="40974" name="Object 6"/>
          <p:cNvGraphicFramePr>
            <a:graphicFrameLocks noChangeAspect="1"/>
          </p:cNvGraphicFramePr>
          <p:nvPr/>
        </p:nvGraphicFramePr>
        <p:xfrm>
          <a:off x="7929563" y="2616200"/>
          <a:ext cx="865187" cy="373063"/>
        </p:xfrm>
        <a:graphic>
          <a:graphicData uri="http://schemas.openxmlformats.org/presentationml/2006/ole">
            <mc:AlternateContent xmlns:mc="http://schemas.openxmlformats.org/markup-compatibility/2006">
              <mc:Choice xmlns:v="urn:schemas-microsoft-com:vml" Requires="v">
                <p:oleObj spid="_x0000_s3102" name="" r:id="rId6" imgW="558800" imgH="241300" progId="Equation.3">
                  <p:embed/>
                </p:oleObj>
              </mc:Choice>
              <mc:Fallback>
                <p:oleObj name="" r:id="rId6" imgW="558800" imgH="241300" progId="Equation.3">
                  <p:embed/>
                  <p:pic>
                    <p:nvPicPr>
                      <p:cNvPr id="0" name="图片 3101"/>
                      <p:cNvPicPr/>
                      <p:nvPr/>
                    </p:nvPicPr>
                    <p:blipFill>
                      <a:blip r:embed="rId7"/>
                      <a:stretch>
                        <a:fillRect/>
                      </a:stretch>
                    </p:blipFill>
                    <p:spPr>
                      <a:xfrm>
                        <a:off x="7929563" y="2616200"/>
                        <a:ext cx="865187" cy="373063"/>
                      </a:xfrm>
                      <a:prstGeom prst="rect">
                        <a:avLst/>
                      </a:prstGeom>
                      <a:noFill/>
                      <a:ln w="38100">
                        <a:noFill/>
                        <a:miter/>
                      </a:ln>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1986" name="Object 3"/>
          <p:cNvGraphicFramePr>
            <a:graphicFrameLocks noGrp="1" noChangeAspect="1"/>
          </p:cNvGraphicFramePr>
          <p:nvPr>
            <p:ph sz="half" idx="1"/>
          </p:nvPr>
        </p:nvGraphicFramePr>
        <p:xfrm>
          <a:off x="2484438" y="1628775"/>
          <a:ext cx="3455987" cy="1000125"/>
        </p:xfrm>
        <a:graphic>
          <a:graphicData uri="http://schemas.openxmlformats.org/presentationml/2006/ole">
            <mc:AlternateContent xmlns:mc="http://schemas.openxmlformats.org/markup-compatibility/2006">
              <mc:Choice xmlns:v="urn:schemas-microsoft-com:vml" Requires="v">
                <p:oleObj spid="_x0000_s3105" name="" r:id="rId1" imgW="1536065" imgH="444500" progId="Equation.DSMT4">
                  <p:embed/>
                </p:oleObj>
              </mc:Choice>
              <mc:Fallback>
                <p:oleObj name="" r:id="rId1" imgW="1536065" imgH="444500" progId="Equation.DSMT4">
                  <p:embed/>
                  <p:pic>
                    <p:nvPicPr>
                      <p:cNvPr id="0" name="图片 3104"/>
                      <p:cNvPicPr/>
                      <p:nvPr/>
                    </p:nvPicPr>
                    <p:blipFill>
                      <a:blip r:embed="rId2"/>
                      <a:srcRect/>
                      <a:stretch>
                        <a:fillRect/>
                      </a:stretch>
                    </p:blipFill>
                    <p:spPr>
                      <a:xfrm>
                        <a:off x="2484438" y="1628775"/>
                        <a:ext cx="3455987" cy="1000125"/>
                      </a:xfrm>
                      <a:prstGeom prst="rect">
                        <a:avLst/>
                      </a:prstGeom>
                      <a:noFill/>
                      <a:ln>
                        <a:solidFill>
                          <a:srgbClr val="FF0000">
                            <a:alpha val="100000"/>
                          </a:srgbClr>
                        </a:solidFill>
                        <a:miter lim="800000"/>
                        <a:headEnd/>
                        <a:tailEnd/>
                      </a:ln>
                    </p:spPr>
                  </p:pic>
                </p:oleObj>
              </mc:Fallback>
            </mc:AlternateContent>
          </a:graphicData>
        </a:graphic>
      </p:graphicFrame>
      <p:graphicFrame>
        <p:nvGraphicFramePr>
          <p:cNvPr id="41987" name="Object 4"/>
          <p:cNvGraphicFramePr>
            <a:graphicFrameLocks noGrp="1" noChangeAspect="1"/>
          </p:cNvGraphicFramePr>
          <p:nvPr>
            <p:ph sz="half" idx="2"/>
          </p:nvPr>
        </p:nvGraphicFramePr>
        <p:xfrm>
          <a:off x="2051050" y="4111625"/>
          <a:ext cx="4249738" cy="592138"/>
        </p:xfrm>
        <a:graphic>
          <a:graphicData uri="http://schemas.openxmlformats.org/presentationml/2006/ole">
            <mc:AlternateContent xmlns:mc="http://schemas.openxmlformats.org/markup-compatibility/2006">
              <mc:Choice xmlns:v="urn:schemas-microsoft-com:vml" Requires="v">
                <p:oleObj spid="_x0000_s3100" name="" r:id="rId3" imgW="1727200" imgH="241300" progId="Equation.3">
                  <p:embed/>
                </p:oleObj>
              </mc:Choice>
              <mc:Fallback>
                <p:oleObj name="" r:id="rId3" imgW="1727200" imgH="241300" progId="Equation.3">
                  <p:embed/>
                  <p:pic>
                    <p:nvPicPr>
                      <p:cNvPr id="0" name="图片 3099"/>
                      <p:cNvPicPr/>
                      <p:nvPr/>
                    </p:nvPicPr>
                    <p:blipFill>
                      <a:blip r:embed="rId4"/>
                      <a:srcRect/>
                      <a:stretch>
                        <a:fillRect/>
                      </a:stretch>
                    </p:blipFill>
                    <p:spPr>
                      <a:xfrm>
                        <a:off x="2051050" y="4111625"/>
                        <a:ext cx="4249738" cy="592138"/>
                      </a:xfrm>
                      <a:prstGeom prst="rect">
                        <a:avLst/>
                      </a:prstGeom>
                      <a:noFill/>
                      <a:ln>
                        <a:solidFill>
                          <a:srgbClr val="FF0000">
                            <a:alpha val="100000"/>
                          </a:srgbClr>
                        </a:solidFill>
                        <a:miter lim="800000"/>
                        <a:headEnd/>
                        <a:tailEnd/>
                      </a:ln>
                    </p:spPr>
                  </p:pic>
                </p:oleObj>
              </mc:Fallback>
            </mc:AlternateContent>
          </a:graphicData>
        </a:graphic>
      </p:graphicFrame>
      <p:sp>
        <p:nvSpPr>
          <p:cNvPr id="41988" name="Text Box 5"/>
          <p:cNvSpPr txBox="1"/>
          <p:nvPr/>
        </p:nvSpPr>
        <p:spPr>
          <a:xfrm>
            <a:off x="1042988" y="3429000"/>
            <a:ext cx="4608512"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000" dirty="0">
                <a:latin typeface="Times New Roman" panose="02020603050405020304" pitchFamily="18" charset="0"/>
                <a:ea typeface="黑体" panose="02010609060101010101" pitchFamily="49" charset="-122"/>
              </a:rPr>
              <a:t>并联电路习惯上用电导计算（加法）。</a:t>
            </a:r>
            <a:endParaRPr lang="zh-CN" altLang="en-US" sz="2000" dirty="0">
              <a:latin typeface="Times New Roman" panose="02020603050405020304" pitchFamily="18" charset="0"/>
              <a:ea typeface="黑体" panose="02010609060101010101" pitchFamily="49" charset="-122"/>
            </a:endParaRPr>
          </a:p>
        </p:txBody>
      </p:sp>
      <p:sp>
        <p:nvSpPr>
          <p:cNvPr id="41989" name="Text Box 6"/>
          <p:cNvSpPr txBox="1"/>
          <p:nvPr/>
        </p:nvSpPr>
        <p:spPr>
          <a:xfrm>
            <a:off x="1042988" y="5229225"/>
            <a:ext cx="7248525" cy="523875"/>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Arial Black" panose="020B0A04020102020204" pitchFamily="34" charset="0"/>
                <a:cs typeface="Arial" panose="020B0604020202020204" pitchFamily="34" charset="0"/>
              </a:rPr>
              <a:t>  </a:t>
            </a:r>
            <a:r>
              <a:rPr lang="zh-CN" altLang="en-US" sz="2800" b="1" dirty="0">
                <a:latin typeface="Arial Black" panose="020B0A04020102020204" pitchFamily="34" charset="0"/>
                <a:cs typeface="Arial" panose="020B0604020202020204" pitchFamily="34" charset="0"/>
              </a:rPr>
              <a:t>并联电阻的</a:t>
            </a:r>
            <a:r>
              <a:rPr lang="zh-CN" altLang="en-US" sz="2800" b="1" dirty="0">
                <a:solidFill>
                  <a:srgbClr val="FF0000"/>
                </a:solidFill>
                <a:latin typeface="Arial Black" panose="020B0A04020102020204" pitchFamily="34" charset="0"/>
                <a:cs typeface="Arial" panose="020B0604020202020204" pitchFamily="34" charset="0"/>
              </a:rPr>
              <a:t>等效电导</a:t>
            </a:r>
            <a:r>
              <a:rPr lang="zh-CN" altLang="en-US" sz="2800" b="1" dirty="0">
                <a:latin typeface="Arial Black" panose="020B0A04020102020204" pitchFamily="34" charset="0"/>
                <a:cs typeface="Arial" panose="020B0604020202020204" pitchFamily="34" charset="0"/>
              </a:rPr>
              <a:t>是它们各自电导之和。</a:t>
            </a:r>
            <a:endParaRPr lang="en-US" altLang="zh-CN" sz="2400" b="1" dirty="0">
              <a:latin typeface="Arial Black" panose="020B0A04020102020204" pitchFamily="34" charset="0"/>
              <a:ea typeface="Arial" panose="020B0604020202020204" pitchFamily="34" charset="0"/>
            </a:endParaRPr>
          </a:p>
        </p:txBody>
      </p:sp>
      <p:sp>
        <p:nvSpPr>
          <p:cNvPr id="41990" name="Text Box 10"/>
          <p:cNvSpPr txBox="1"/>
          <p:nvPr/>
        </p:nvSpPr>
        <p:spPr>
          <a:xfrm>
            <a:off x="827088" y="1052513"/>
            <a:ext cx="19018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n</a:t>
            </a:r>
            <a:r>
              <a:rPr lang="zh-CN" altLang="en-US" sz="2400" b="1" dirty="0">
                <a:cs typeface="Arial" panose="020B0604020202020204" pitchFamily="34" charset="0"/>
              </a:rPr>
              <a:t>个电阻并联</a:t>
            </a:r>
            <a:endParaRPr lang="zh-CN" altLang="en-US" sz="2400" b="1" dirty="0">
              <a:ea typeface="Arial" panose="020B0604020202020204" pitchFamily="34" charset="0"/>
            </a:endParaRPr>
          </a:p>
        </p:txBody>
      </p:sp>
      <p:sp>
        <p:nvSpPr>
          <p:cNvPr id="41991"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Text Box 2"/>
          <p:cNvSpPr txBox="1"/>
          <p:nvPr/>
        </p:nvSpPr>
        <p:spPr>
          <a:xfrm>
            <a:off x="827088" y="981075"/>
            <a:ext cx="4321175"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zh-CN" altLang="zh-CN" sz="1800" dirty="0">
              <a:ea typeface="Arial" panose="020B0604020202020204" pitchFamily="34" charset="0"/>
            </a:endParaRPr>
          </a:p>
        </p:txBody>
      </p:sp>
      <p:graphicFrame>
        <p:nvGraphicFramePr>
          <p:cNvPr id="43011" name="Object 4"/>
          <p:cNvGraphicFramePr>
            <a:graphicFrameLocks noGrp="1" noChangeAspect="1"/>
          </p:cNvGraphicFramePr>
          <p:nvPr>
            <p:ph sz="half" idx="1"/>
          </p:nvPr>
        </p:nvGraphicFramePr>
        <p:xfrm>
          <a:off x="2555875" y="1968500"/>
          <a:ext cx="3529013" cy="1000125"/>
        </p:xfrm>
        <a:graphic>
          <a:graphicData uri="http://schemas.openxmlformats.org/presentationml/2006/ole">
            <mc:AlternateContent xmlns:mc="http://schemas.openxmlformats.org/markup-compatibility/2006">
              <mc:Choice xmlns:v="urn:schemas-microsoft-com:vml" Requires="v">
                <p:oleObj spid="_x0000_s3103" name="" r:id="rId1" imgW="1524000" imgH="431800" progId="Equation.3">
                  <p:embed/>
                </p:oleObj>
              </mc:Choice>
              <mc:Fallback>
                <p:oleObj name="" r:id="rId1" imgW="1524000" imgH="431800" progId="Equation.3">
                  <p:embed/>
                  <p:pic>
                    <p:nvPicPr>
                      <p:cNvPr id="0" name="图片 3102"/>
                      <p:cNvPicPr/>
                      <p:nvPr/>
                    </p:nvPicPr>
                    <p:blipFill>
                      <a:blip r:embed="rId2"/>
                      <a:srcRect/>
                      <a:stretch>
                        <a:fillRect/>
                      </a:stretch>
                    </p:blipFill>
                    <p:spPr>
                      <a:xfrm>
                        <a:off x="2555875" y="1968500"/>
                        <a:ext cx="3529013" cy="1000125"/>
                      </a:xfrm>
                      <a:prstGeom prst="rect">
                        <a:avLst/>
                      </a:prstGeom>
                      <a:noFill/>
                      <a:ln w="38100">
                        <a:miter/>
                      </a:ln>
                    </p:spPr>
                  </p:pic>
                </p:oleObj>
              </mc:Fallback>
            </mc:AlternateContent>
          </a:graphicData>
        </a:graphic>
      </p:graphicFrame>
      <p:graphicFrame>
        <p:nvGraphicFramePr>
          <p:cNvPr id="43012" name="Object 5"/>
          <p:cNvGraphicFramePr>
            <a:graphicFrameLocks noGrp="1" noChangeAspect="1"/>
          </p:cNvGraphicFramePr>
          <p:nvPr>
            <p:ph sz="half" idx="2"/>
          </p:nvPr>
        </p:nvGraphicFramePr>
        <p:xfrm>
          <a:off x="2555875" y="3789363"/>
          <a:ext cx="3960813" cy="1066800"/>
        </p:xfrm>
        <a:graphic>
          <a:graphicData uri="http://schemas.openxmlformats.org/presentationml/2006/ole">
            <mc:AlternateContent xmlns:mc="http://schemas.openxmlformats.org/markup-compatibility/2006">
              <mc:Choice xmlns:v="urn:schemas-microsoft-com:vml" Requires="v">
                <p:oleObj spid="_x0000_s3104" name="" r:id="rId3" imgW="1600200" imgH="431800" progId="Equation.3">
                  <p:embed/>
                </p:oleObj>
              </mc:Choice>
              <mc:Fallback>
                <p:oleObj name="" r:id="rId3" imgW="1600200" imgH="431800" progId="Equation.3">
                  <p:embed/>
                  <p:pic>
                    <p:nvPicPr>
                      <p:cNvPr id="0" name="图片 3103"/>
                      <p:cNvPicPr/>
                      <p:nvPr/>
                    </p:nvPicPr>
                    <p:blipFill>
                      <a:blip r:embed="rId4"/>
                      <a:srcRect/>
                      <a:stretch>
                        <a:fillRect/>
                      </a:stretch>
                    </p:blipFill>
                    <p:spPr>
                      <a:xfrm>
                        <a:off x="2555875" y="3789363"/>
                        <a:ext cx="3960813" cy="1066800"/>
                      </a:xfrm>
                      <a:prstGeom prst="rect">
                        <a:avLst/>
                      </a:prstGeom>
                      <a:noFill/>
                      <a:ln w="38100">
                        <a:miter/>
                      </a:ln>
                    </p:spPr>
                  </p:pic>
                </p:oleObj>
              </mc:Fallback>
            </mc:AlternateContent>
          </a:graphicData>
        </a:graphic>
      </p:graphicFrame>
      <p:sp>
        <p:nvSpPr>
          <p:cNvPr id="43013" name="Text Box 6"/>
          <p:cNvSpPr txBox="1"/>
          <p:nvPr/>
        </p:nvSpPr>
        <p:spPr>
          <a:xfrm>
            <a:off x="323850" y="927100"/>
            <a:ext cx="5327650" cy="8921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solidFill>
                  <a:srgbClr val="0000FF"/>
                </a:solidFill>
                <a:cs typeface="Arial" panose="020B0604020202020204" pitchFamily="34" charset="0"/>
              </a:rPr>
              <a:t>并联电阻分流公式：</a:t>
            </a:r>
            <a:endParaRPr lang="zh-CN" altLang="en-US" sz="2800" b="1" dirty="0">
              <a:solidFill>
                <a:srgbClr val="0000FF"/>
              </a:solidFill>
              <a:cs typeface="Arial" panose="020B0604020202020204" pitchFamily="34" charset="0"/>
            </a:endParaRPr>
          </a:p>
          <a:p>
            <a:pPr marL="0" lvl="0" indent="0" eaLnBrk="1" hangingPunct="1">
              <a:spcBef>
                <a:spcPct val="0"/>
              </a:spcBef>
              <a:buClrTx/>
              <a:buSzTx/>
              <a:buFontTx/>
              <a:buNone/>
            </a:pPr>
            <a:endParaRPr lang="en-US" altLang="zh-CN" sz="2400" b="1" dirty="0">
              <a:ea typeface="Arial" panose="020B0604020202020204" pitchFamily="34" charset="0"/>
            </a:endParaRPr>
          </a:p>
        </p:txBody>
      </p:sp>
      <p:sp>
        <p:nvSpPr>
          <p:cNvPr id="43014"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4034" name="Picture 3"/>
          <p:cNvPicPr>
            <a:picLocks noChangeAspect="1"/>
          </p:cNvPicPr>
          <p:nvPr/>
        </p:nvPicPr>
        <p:blipFill>
          <a:blip r:embed="rId1"/>
          <a:stretch>
            <a:fillRect/>
          </a:stretch>
        </p:blipFill>
        <p:spPr>
          <a:xfrm>
            <a:off x="360363" y="1484313"/>
            <a:ext cx="4643437" cy="3482975"/>
          </a:xfrm>
          <a:prstGeom prst="rect">
            <a:avLst/>
          </a:prstGeom>
          <a:noFill/>
          <a:ln w="9525">
            <a:noFill/>
          </a:ln>
        </p:spPr>
      </p:pic>
      <p:pic>
        <p:nvPicPr>
          <p:cNvPr id="44035" name="Picture 4"/>
          <p:cNvPicPr>
            <a:picLocks noChangeAspect="1"/>
          </p:cNvPicPr>
          <p:nvPr/>
        </p:nvPicPr>
        <p:blipFill>
          <a:blip r:embed="rId2"/>
          <a:stretch>
            <a:fillRect/>
          </a:stretch>
        </p:blipFill>
        <p:spPr>
          <a:xfrm>
            <a:off x="4500563" y="1412875"/>
            <a:ext cx="4356100" cy="3044825"/>
          </a:xfrm>
          <a:prstGeom prst="rect">
            <a:avLst/>
          </a:prstGeom>
          <a:noFill/>
          <a:ln w="9525">
            <a:noFill/>
          </a:ln>
        </p:spPr>
      </p:pic>
      <p:sp>
        <p:nvSpPr>
          <p:cNvPr id="44036" name="Text Box 5"/>
          <p:cNvSpPr txBox="1"/>
          <p:nvPr/>
        </p:nvSpPr>
        <p:spPr>
          <a:xfrm>
            <a:off x="2124075" y="4941888"/>
            <a:ext cx="4824413" cy="1016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chemeClr val="tx2"/>
                </a:solidFill>
                <a:latin typeface="Times New Roman" panose="02020603050405020304" pitchFamily="18" charset="0"/>
                <a:cs typeface="Arial" panose="020B0604020202020204" pitchFamily="34" charset="0"/>
              </a:rPr>
              <a:t>特殊情况：   </a:t>
            </a:r>
            <a:r>
              <a:rPr lang="en-US" altLang="zh-CN" sz="2400" b="1" dirty="0">
                <a:solidFill>
                  <a:schemeClr val="tx2"/>
                </a:solidFill>
                <a:latin typeface="Times New Roman" panose="02020603050405020304" pitchFamily="18" charset="0"/>
                <a:cs typeface="Arial" panose="020B0604020202020204" pitchFamily="34" charset="0"/>
              </a:rPr>
              <a:t>(a) </a:t>
            </a:r>
            <a:r>
              <a:rPr lang="zh-CN" altLang="en-US" sz="2400" b="1" dirty="0">
                <a:solidFill>
                  <a:srgbClr val="0000FF"/>
                </a:solidFill>
                <a:latin typeface="Times New Roman" panose="02020603050405020304" pitchFamily="18" charset="0"/>
                <a:cs typeface="Arial" panose="020B0604020202020204" pitchFamily="34" charset="0"/>
              </a:rPr>
              <a:t>短路</a:t>
            </a:r>
            <a:r>
              <a:rPr lang="en-US" altLang="zh-CN" sz="2400" b="1" dirty="0">
                <a:solidFill>
                  <a:schemeClr val="tx2"/>
                </a:solidFill>
                <a:latin typeface="Times New Roman" panose="02020603050405020304" pitchFamily="18" charset="0"/>
                <a:cs typeface="Arial" panose="020B0604020202020204" pitchFamily="34" charset="0"/>
              </a:rPr>
              <a:t> </a:t>
            </a:r>
            <a:endParaRPr lang="en-US" altLang="zh-CN" sz="2400" b="1" dirty="0">
              <a:solidFill>
                <a:schemeClr val="tx2"/>
              </a:solidFill>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solidFill>
                  <a:schemeClr val="tx2"/>
                </a:solidFill>
                <a:latin typeface="Times New Roman" panose="02020603050405020304" pitchFamily="18" charset="0"/>
                <a:cs typeface="Arial" panose="020B0604020202020204" pitchFamily="34" charset="0"/>
              </a:rPr>
              <a:t>                       (b) </a:t>
            </a:r>
            <a:r>
              <a:rPr lang="zh-CN" altLang="en-US" sz="2400" b="1" dirty="0">
                <a:solidFill>
                  <a:srgbClr val="0000FF"/>
                </a:solidFill>
                <a:latin typeface="Times New Roman" panose="02020603050405020304" pitchFamily="18" charset="0"/>
                <a:cs typeface="Arial" panose="020B0604020202020204" pitchFamily="34" charset="0"/>
              </a:rPr>
              <a:t>开路</a:t>
            </a:r>
            <a:endParaRPr lang="en-US" altLang="zh-CN" sz="2400" b="1" dirty="0">
              <a:solidFill>
                <a:srgbClr val="0000FF"/>
              </a:solidFill>
              <a:latin typeface="Times New Roman" panose="02020603050405020304" pitchFamily="18" charset="0"/>
              <a:ea typeface="Arial" panose="020B0604020202020204" pitchFamily="34" charset="0"/>
            </a:endParaRPr>
          </a:p>
        </p:txBody>
      </p:sp>
      <p:sp>
        <p:nvSpPr>
          <p:cNvPr id="44037" name="Text Box 6"/>
          <p:cNvSpPr txBox="1"/>
          <p:nvPr/>
        </p:nvSpPr>
        <p:spPr>
          <a:xfrm>
            <a:off x="539750" y="4365625"/>
            <a:ext cx="287972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zh-CN" altLang="zh-CN" sz="2000" b="1" dirty="0">
              <a:ea typeface="Arial" panose="020B0604020202020204" pitchFamily="34" charset="0"/>
            </a:endParaRPr>
          </a:p>
        </p:txBody>
      </p:sp>
      <p:sp>
        <p:nvSpPr>
          <p:cNvPr id="44038"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Text Box 3"/>
          <p:cNvSpPr txBox="1"/>
          <p:nvPr/>
        </p:nvSpPr>
        <p:spPr>
          <a:xfrm>
            <a:off x="609600" y="3567113"/>
            <a:ext cx="76342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ea typeface="黑体" panose="02010609060101010101" pitchFamily="49" charset="-122"/>
              </a:rPr>
              <a:t>比较以上两个式子，可看出串、并联电路的</a:t>
            </a:r>
            <a:r>
              <a:rPr lang="zh-CN" altLang="en-US" sz="2400" b="1" dirty="0">
                <a:solidFill>
                  <a:srgbClr val="CC0000"/>
                </a:solidFill>
                <a:ea typeface="黑体" panose="02010609060101010101" pitchFamily="49" charset="-122"/>
              </a:rPr>
              <a:t>对偶</a:t>
            </a:r>
            <a:r>
              <a:rPr lang="zh-CN" altLang="en-US" sz="2400" b="1" dirty="0">
                <a:ea typeface="黑体" panose="02010609060101010101" pitchFamily="49" charset="-122"/>
              </a:rPr>
              <a:t>关系</a:t>
            </a:r>
            <a:endParaRPr lang="zh-CN" altLang="en-US" sz="2400" b="1" dirty="0">
              <a:ea typeface="黑体" panose="02010609060101010101" pitchFamily="49" charset="-122"/>
            </a:endParaRPr>
          </a:p>
        </p:txBody>
      </p:sp>
      <p:pic>
        <p:nvPicPr>
          <p:cNvPr id="45059" name="Picture 4"/>
          <p:cNvPicPr>
            <a:picLocks noChangeAspect="1"/>
          </p:cNvPicPr>
          <p:nvPr/>
        </p:nvPicPr>
        <p:blipFill>
          <a:blip r:embed="rId1"/>
          <a:stretch>
            <a:fillRect/>
          </a:stretch>
        </p:blipFill>
        <p:spPr>
          <a:xfrm>
            <a:off x="3708400" y="5229225"/>
            <a:ext cx="1438275" cy="400050"/>
          </a:xfrm>
          <a:prstGeom prst="rect">
            <a:avLst/>
          </a:prstGeom>
          <a:noFill/>
          <a:ln w="9525">
            <a:noFill/>
          </a:ln>
        </p:spPr>
      </p:pic>
      <p:pic>
        <p:nvPicPr>
          <p:cNvPr id="45060" name="Picture 5"/>
          <p:cNvPicPr>
            <a:picLocks noChangeAspect="1"/>
          </p:cNvPicPr>
          <p:nvPr/>
        </p:nvPicPr>
        <p:blipFill>
          <a:blip r:embed="rId1"/>
          <a:stretch>
            <a:fillRect/>
          </a:stretch>
        </p:blipFill>
        <p:spPr>
          <a:xfrm>
            <a:off x="3708400" y="6165850"/>
            <a:ext cx="1438275" cy="400050"/>
          </a:xfrm>
          <a:prstGeom prst="rect">
            <a:avLst/>
          </a:prstGeom>
          <a:noFill/>
          <a:ln w="9525">
            <a:noFill/>
          </a:ln>
        </p:spPr>
      </p:pic>
      <p:pic>
        <p:nvPicPr>
          <p:cNvPr id="45061" name="Picture 6"/>
          <p:cNvPicPr>
            <a:picLocks noChangeAspect="1"/>
          </p:cNvPicPr>
          <p:nvPr/>
        </p:nvPicPr>
        <p:blipFill>
          <a:blip r:embed="rId1"/>
          <a:stretch>
            <a:fillRect/>
          </a:stretch>
        </p:blipFill>
        <p:spPr>
          <a:xfrm>
            <a:off x="3708400" y="4292600"/>
            <a:ext cx="1438275" cy="400050"/>
          </a:xfrm>
          <a:prstGeom prst="rect">
            <a:avLst/>
          </a:prstGeom>
          <a:noFill/>
          <a:ln w="9525">
            <a:noFill/>
          </a:ln>
        </p:spPr>
      </p:pic>
      <p:sp>
        <p:nvSpPr>
          <p:cNvPr id="45062" name="Text Box 7"/>
          <p:cNvSpPr txBox="1"/>
          <p:nvPr/>
        </p:nvSpPr>
        <p:spPr>
          <a:xfrm>
            <a:off x="3132138" y="4292600"/>
            <a:ext cx="358775" cy="2225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cs typeface="Arial" panose="020B0604020202020204" pitchFamily="34" charset="0"/>
              </a:rPr>
              <a:t>v </a:t>
            </a:r>
            <a:endParaRPr lang="en-US" altLang="zh-CN" sz="2000" b="1" dirty="0">
              <a:cs typeface="Arial" panose="020B0604020202020204" pitchFamily="34" charset="0"/>
            </a:endParaRPr>
          </a:p>
          <a:p>
            <a:pPr marL="0" lvl="0" indent="0" eaLnBrk="1" hangingPunct="1">
              <a:spcBef>
                <a:spcPct val="50000"/>
              </a:spcBef>
              <a:buClrTx/>
              <a:buSzTx/>
              <a:buFontTx/>
              <a:buNone/>
            </a:pPr>
            <a:r>
              <a:rPr lang="en-US" altLang="zh-CN" sz="2000" b="1" dirty="0">
                <a:cs typeface="Arial" panose="020B0604020202020204" pitchFamily="34" charset="0"/>
              </a:rPr>
              <a:t>     </a:t>
            </a:r>
            <a:endParaRPr lang="en-US" altLang="zh-CN" sz="2000" b="1" dirty="0">
              <a:cs typeface="Arial" panose="020B0604020202020204" pitchFamily="34" charset="0"/>
            </a:endParaRPr>
          </a:p>
          <a:p>
            <a:pPr marL="0" lvl="0" indent="0" eaLnBrk="1" hangingPunct="1">
              <a:spcBef>
                <a:spcPct val="50000"/>
              </a:spcBef>
              <a:buClrTx/>
              <a:buSzTx/>
              <a:buFontTx/>
              <a:buNone/>
            </a:pPr>
            <a:r>
              <a:rPr lang="en-US" altLang="zh-CN" sz="2000" b="1" dirty="0">
                <a:cs typeface="Arial" panose="020B0604020202020204" pitchFamily="34" charset="0"/>
              </a:rPr>
              <a:t>R</a:t>
            </a:r>
            <a:endParaRPr lang="en-US" altLang="zh-CN" sz="2000" b="1" dirty="0">
              <a:cs typeface="Arial" panose="020B0604020202020204" pitchFamily="34" charset="0"/>
            </a:endParaRPr>
          </a:p>
          <a:p>
            <a:pPr marL="0" lvl="0" indent="0" eaLnBrk="1" hangingPunct="1">
              <a:spcBef>
                <a:spcPct val="50000"/>
              </a:spcBef>
              <a:buClrTx/>
              <a:buSzTx/>
              <a:buFontTx/>
              <a:buNone/>
            </a:pPr>
            <a:r>
              <a:rPr lang="en-US" altLang="zh-CN" sz="2000" b="1" dirty="0">
                <a:cs typeface="Arial" panose="020B0604020202020204" pitchFamily="34" charset="0"/>
              </a:rPr>
              <a:t> </a:t>
            </a:r>
            <a:endParaRPr lang="en-US" altLang="zh-CN" sz="2000" b="1" dirty="0">
              <a:cs typeface="Arial" panose="020B0604020202020204" pitchFamily="34" charset="0"/>
            </a:endParaRPr>
          </a:p>
          <a:p>
            <a:pPr marL="0" lvl="0" indent="0" eaLnBrk="1" hangingPunct="1">
              <a:spcBef>
                <a:spcPct val="50000"/>
              </a:spcBef>
              <a:buClrTx/>
              <a:buSzTx/>
              <a:buFontTx/>
              <a:buNone/>
            </a:pPr>
            <a:r>
              <a:rPr lang="zh-CN" altLang="en-US" sz="2000" b="1" dirty="0">
                <a:cs typeface="Arial" panose="020B0604020202020204" pitchFamily="34" charset="0"/>
              </a:rPr>
              <a:t>串</a:t>
            </a:r>
            <a:endParaRPr lang="zh-CN" altLang="en-US" sz="2000" b="1" dirty="0">
              <a:ea typeface="Arial" panose="020B0604020202020204" pitchFamily="34" charset="0"/>
            </a:endParaRPr>
          </a:p>
        </p:txBody>
      </p:sp>
      <p:sp>
        <p:nvSpPr>
          <p:cNvPr id="45063" name="Text Box 8"/>
          <p:cNvSpPr txBox="1"/>
          <p:nvPr/>
        </p:nvSpPr>
        <p:spPr>
          <a:xfrm>
            <a:off x="5292725" y="4221163"/>
            <a:ext cx="360363" cy="2682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b="1" dirty="0">
                <a:cs typeface="Arial" panose="020B0604020202020204" pitchFamily="34" charset="0"/>
              </a:rPr>
              <a:t>i </a:t>
            </a:r>
            <a:endParaRPr lang="en-US" altLang="zh-CN" sz="2000" b="1" dirty="0">
              <a:cs typeface="Arial" panose="020B0604020202020204" pitchFamily="34" charset="0"/>
            </a:endParaRPr>
          </a:p>
          <a:p>
            <a:pPr marL="0" lvl="0" indent="0" eaLnBrk="1" hangingPunct="1">
              <a:spcBef>
                <a:spcPct val="0"/>
              </a:spcBef>
              <a:buClrTx/>
              <a:buSzTx/>
              <a:buFontTx/>
              <a:buNone/>
            </a:pPr>
            <a:endParaRPr lang="en-US" altLang="zh-CN" sz="2000" b="1" dirty="0">
              <a:cs typeface="Arial" panose="020B0604020202020204" pitchFamily="34" charset="0"/>
            </a:endParaRPr>
          </a:p>
          <a:p>
            <a:pPr marL="0" lvl="0" indent="0" eaLnBrk="1" hangingPunct="1">
              <a:spcBef>
                <a:spcPct val="0"/>
              </a:spcBef>
              <a:buClrTx/>
              <a:buSzTx/>
              <a:buFontTx/>
              <a:buNone/>
            </a:pPr>
            <a:r>
              <a:rPr lang="en-US" altLang="zh-CN" sz="2000" b="1" dirty="0">
                <a:cs typeface="Arial" panose="020B0604020202020204" pitchFamily="34" charset="0"/>
              </a:rPr>
              <a:t>     </a:t>
            </a:r>
            <a:endParaRPr lang="en-US" altLang="zh-CN" sz="2000" b="1" dirty="0">
              <a:cs typeface="Arial" panose="020B0604020202020204" pitchFamily="34" charset="0"/>
            </a:endParaRPr>
          </a:p>
          <a:p>
            <a:pPr marL="0" lvl="0" indent="0" eaLnBrk="1" hangingPunct="1">
              <a:spcBef>
                <a:spcPct val="0"/>
              </a:spcBef>
              <a:buClrTx/>
              <a:buSzTx/>
              <a:buFontTx/>
              <a:buNone/>
            </a:pPr>
            <a:r>
              <a:rPr lang="en-US" altLang="zh-CN" sz="2000" b="1" dirty="0">
                <a:cs typeface="Arial" panose="020B0604020202020204" pitchFamily="34" charset="0"/>
              </a:rPr>
              <a:t>G</a:t>
            </a:r>
            <a:endParaRPr lang="en-US" altLang="zh-CN" sz="2000" b="1" dirty="0">
              <a:cs typeface="Arial" panose="020B0604020202020204" pitchFamily="34" charset="0"/>
            </a:endParaRPr>
          </a:p>
          <a:p>
            <a:pPr marL="0" lvl="0" indent="0" eaLnBrk="1" hangingPunct="1">
              <a:spcBef>
                <a:spcPct val="0"/>
              </a:spcBef>
              <a:buClrTx/>
              <a:buSzTx/>
              <a:buFontTx/>
              <a:buNone/>
            </a:pPr>
            <a:endParaRPr lang="en-US" altLang="zh-CN" sz="2000" b="1" dirty="0">
              <a:cs typeface="Arial" panose="020B0604020202020204" pitchFamily="34" charset="0"/>
            </a:endParaRPr>
          </a:p>
          <a:p>
            <a:pPr marL="0" lvl="0" indent="0" eaLnBrk="1" hangingPunct="1">
              <a:spcBef>
                <a:spcPct val="0"/>
              </a:spcBef>
              <a:buClrTx/>
              <a:buSzTx/>
              <a:buFontTx/>
              <a:buNone/>
            </a:pPr>
            <a:r>
              <a:rPr lang="en-US" altLang="zh-CN" sz="2000" b="1" dirty="0">
                <a:cs typeface="Arial" panose="020B0604020202020204" pitchFamily="34" charset="0"/>
              </a:rPr>
              <a:t> </a:t>
            </a:r>
            <a:endParaRPr lang="en-US" altLang="zh-CN" sz="2000" b="1" dirty="0">
              <a:cs typeface="Arial" panose="020B0604020202020204" pitchFamily="34" charset="0"/>
            </a:endParaRPr>
          </a:p>
          <a:p>
            <a:pPr marL="0" lvl="0" indent="0" eaLnBrk="1" hangingPunct="1">
              <a:spcBef>
                <a:spcPct val="0"/>
              </a:spcBef>
              <a:buClrTx/>
              <a:buSzTx/>
              <a:buFontTx/>
              <a:buNone/>
            </a:pPr>
            <a:r>
              <a:rPr lang="zh-CN" altLang="en-US" sz="2000" b="1" dirty="0">
                <a:cs typeface="Arial" panose="020B0604020202020204" pitchFamily="34" charset="0"/>
              </a:rPr>
              <a:t>并</a:t>
            </a:r>
            <a:endParaRPr lang="zh-CN" altLang="en-US" sz="2000" b="1" dirty="0">
              <a:cs typeface="Arial" panose="020B0604020202020204" pitchFamily="34" charset="0"/>
            </a:endParaRPr>
          </a:p>
          <a:p>
            <a:pPr marL="0" lvl="0" indent="0" eaLnBrk="1" hangingPunct="1">
              <a:spcBef>
                <a:spcPct val="50000"/>
              </a:spcBef>
              <a:buClrTx/>
              <a:buSzTx/>
              <a:buFontTx/>
              <a:buNone/>
            </a:pPr>
            <a:endParaRPr lang="en-US" altLang="zh-CN" sz="2000" b="1" dirty="0">
              <a:ea typeface="Arial" panose="020B0604020202020204" pitchFamily="34" charset="0"/>
            </a:endParaRPr>
          </a:p>
        </p:txBody>
      </p:sp>
      <p:graphicFrame>
        <p:nvGraphicFramePr>
          <p:cNvPr id="45064" name="Object 11"/>
          <p:cNvGraphicFramePr>
            <a:graphicFrameLocks noChangeAspect="1"/>
          </p:cNvGraphicFramePr>
          <p:nvPr/>
        </p:nvGraphicFramePr>
        <p:xfrm>
          <a:off x="3995738" y="358775"/>
          <a:ext cx="3600450" cy="2535238"/>
        </p:xfrm>
        <a:graphic>
          <a:graphicData uri="http://schemas.openxmlformats.org/presentationml/2006/ole">
            <mc:AlternateContent xmlns:mc="http://schemas.openxmlformats.org/markup-compatibility/2006">
              <mc:Choice xmlns:v="urn:schemas-microsoft-com:vml" Requires="v">
                <p:oleObj spid="_x0000_s3106" name="" r:id="rId2" imgW="1587500" imgH="1117600" progId="Equation.DSMT4">
                  <p:embed/>
                </p:oleObj>
              </mc:Choice>
              <mc:Fallback>
                <p:oleObj name="" r:id="rId2" imgW="1587500" imgH="1117600" progId="Equation.DSMT4">
                  <p:embed/>
                  <p:pic>
                    <p:nvPicPr>
                      <p:cNvPr id="0" name="图片 3105"/>
                      <p:cNvPicPr/>
                      <p:nvPr/>
                    </p:nvPicPr>
                    <p:blipFill>
                      <a:blip r:embed="rId3"/>
                      <a:stretch>
                        <a:fillRect/>
                      </a:stretch>
                    </p:blipFill>
                    <p:spPr>
                      <a:xfrm>
                        <a:off x="3995738" y="358775"/>
                        <a:ext cx="3600450" cy="2535238"/>
                      </a:xfrm>
                      <a:prstGeom prst="rect">
                        <a:avLst/>
                      </a:prstGeom>
                      <a:noFill/>
                      <a:ln w="38100">
                        <a:noFill/>
                        <a:miter/>
                      </a:ln>
                    </p:spPr>
                  </p:pic>
                </p:oleObj>
              </mc:Fallback>
            </mc:AlternateContent>
          </a:graphicData>
        </a:graphic>
      </p:graphicFrame>
      <p:sp>
        <p:nvSpPr>
          <p:cNvPr id="45065" name="Text Box 12"/>
          <p:cNvSpPr txBox="1"/>
          <p:nvPr/>
        </p:nvSpPr>
        <p:spPr>
          <a:xfrm>
            <a:off x="1042988" y="646113"/>
            <a:ext cx="2927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cs typeface="Arial" panose="020B0604020202020204" pitchFamily="34" charset="0"/>
              </a:rPr>
              <a:t>串联电路分压公式：</a:t>
            </a:r>
            <a:endParaRPr lang="zh-CN" altLang="en-US" sz="2400" b="1" dirty="0">
              <a:ea typeface="Arial" panose="020B0604020202020204" pitchFamily="34" charset="0"/>
            </a:endParaRPr>
          </a:p>
        </p:txBody>
      </p:sp>
      <p:sp>
        <p:nvSpPr>
          <p:cNvPr id="45066" name="Text Box 13"/>
          <p:cNvSpPr txBox="1"/>
          <p:nvPr/>
        </p:nvSpPr>
        <p:spPr>
          <a:xfrm>
            <a:off x="1042988" y="2055813"/>
            <a:ext cx="2927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cs typeface="Arial" panose="020B0604020202020204" pitchFamily="34" charset="0"/>
              </a:rPr>
              <a:t>并联电路分流公式：</a:t>
            </a:r>
            <a:endParaRPr lang="zh-CN" altLang="en-US" sz="2400" b="1" dirty="0">
              <a:ea typeface="Arial" panose="020B0604020202020204" pitchFamily="34" charset="0"/>
            </a:endParaRPr>
          </a:p>
        </p:txBody>
      </p:sp>
      <p:sp>
        <p:nvSpPr>
          <p:cNvPr id="45067"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noChangeArrowheads="1"/>
          </p:cNvSpPr>
          <p:nvPr>
            <p:ph type="body" sz="half" idx="1"/>
          </p:nvPr>
        </p:nvSpPr>
        <p:spPr>
          <a:xfrm>
            <a:off x="395288" y="620713"/>
            <a:ext cx="5184775" cy="5903913"/>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mn-cs"/>
              </a:rPr>
              <a:t>例</a:t>
            </a:r>
            <a:r>
              <a:rPr kumimoji="0" lang="en-US" altLang="zh-CN" sz="28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mn-cs"/>
              </a:rPr>
              <a:t>2-9</a:t>
            </a:r>
            <a:r>
              <a:rPr kumimoji="0"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mn-cs"/>
              </a:rPr>
              <a:t>：</a:t>
            </a:r>
            <a:endParaRPr kumimoji="0" lang="en-US" altLang="zh-CN" sz="28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    求出右图中的</a:t>
            </a:r>
            <a:r>
              <a:rPr kumimoji="0" lang="en-US" altLang="zh-CN" sz="2800" b="1" i="1"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R</a:t>
            </a:r>
            <a:r>
              <a:rPr kumimoji="0" lang="en-US" altLang="zh-CN" sz="2800" b="1" i="0" u="none" strike="noStrike" kern="0" cap="none" spc="0" normalizeH="0" baseline="-25000" noProof="0" dirty="0">
                <a:ln>
                  <a:noFill/>
                </a:ln>
                <a:solidFill>
                  <a:schemeClr val="tx1"/>
                </a:solidFill>
                <a:effectLst/>
                <a:uLnTx/>
                <a:uFillTx/>
                <a:latin typeface="Times New Roman" panose="02020603050405020304" pitchFamily="18" charset="0"/>
                <a:ea typeface="+mn-ea"/>
                <a:cs typeface="+mn-cs"/>
              </a:rPr>
              <a:t>eq</a:t>
            </a:r>
            <a:endParaRPr kumimoji="0" lang="en-US" altLang="zh-CN"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altLang="zh-CN" sz="2800" b="1" i="0" u="none" strike="noStrike" kern="0" cap="none" spc="0" normalizeH="0" baseline="0" noProof="0" dirty="0">
              <a:ln>
                <a:noFill/>
              </a:ln>
              <a:solidFill>
                <a:schemeClr val="bg2"/>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altLang="zh-CN" sz="2800" b="1" i="0" u="none" strike="noStrike" kern="0" cap="none" spc="0" normalizeH="0" baseline="0" noProof="0" dirty="0">
              <a:ln>
                <a:noFill/>
              </a:ln>
              <a:solidFill>
                <a:schemeClr val="bg2"/>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zh-CN" altLang="en-US" sz="2800" b="1" i="0" u="none" strike="noStrike" kern="0" cap="none" spc="0" normalizeH="0" baseline="0" noProof="0" dirty="0">
                <a:ln>
                  <a:noFill/>
                </a:ln>
                <a:solidFill>
                  <a:schemeClr val="bg2"/>
                </a:solidFill>
                <a:effectLst/>
                <a:uLnTx/>
                <a:uFillTx/>
                <a:latin typeface="Times New Roman" panose="02020603050405020304" pitchFamily="18" charset="0"/>
                <a:ea typeface="+mn-ea"/>
                <a:cs typeface="+mn-cs"/>
              </a:rPr>
              <a:t>解</a:t>
            </a:r>
            <a:r>
              <a:rPr kumimoji="0" lang="en-US" altLang="zh-CN" sz="2800" b="1" i="0" u="none" strike="noStrike" kern="0" cap="none" spc="0" normalizeH="0" baseline="0" noProof="0" dirty="0">
                <a:ln>
                  <a:noFill/>
                </a:ln>
                <a:solidFill>
                  <a:schemeClr val="bg2"/>
                </a:solidFill>
                <a:effectLst/>
                <a:uLnTx/>
                <a:uFillTx/>
                <a:latin typeface="Times New Roman" panose="02020603050405020304" pitchFamily="18" charset="0"/>
                <a:ea typeface="+mn-ea"/>
                <a:cs typeface="+mn-cs"/>
              </a:rPr>
              <a:t>:</a:t>
            </a:r>
            <a:endParaRPr kumimoji="0" lang="en-US" altLang="zh-CN" sz="2800" b="1" i="0" u="none" strike="noStrike" kern="0" cap="none" spc="0" normalizeH="0" baseline="0" noProof="0" dirty="0">
              <a:ln>
                <a:noFill/>
              </a:ln>
              <a:solidFill>
                <a:schemeClr val="bg2"/>
              </a:solidFill>
              <a:effectLst/>
              <a:uLnTx/>
              <a:uFillTx/>
              <a:latin typeface="Times New Roman" panose="02020603050405020304" pitchFamily="18" charset="0"/>
              <a:ea typeface="+mn-ea"/>
              <a:cs typeface="+mn-cs"/>
            </a:endParaRPr>
          </a:p>
        </p:txBody>
      </p:sp>
      <p:grpSp>
        <p:nvGrpSpPr>
          <p:cNvPr id="46083" name="Group 3"/>
          <p:cNvGrpSpPr/>
          <p:nvPr/>
        </p:nvGrpSpPr>
        <p:grpSpPr>
          <a:xfrm>
            <a:off x="5111750" y="620713"/>
            <a:ext cx="4032250" cy="5153025"/>
            <a:chOff x="3742" y="391"/>
            <a:chExt cx="1692" cy="3246"/>
          </a:xfrm>
        </p:grpSpPr>
        <p:grpSp>
          <p:nvGrpSpPr>
            <p:cNvPr id="46091" name="Group 4"/>
            <p:cNvGrpSpPr/>
            <p:nvPr/>
          </p:nvGrpSpPr>
          <p:grpSpPr>
            <a:xfrm>
              <a:off x="3787" y="391"/>
              <a:ext cx="1452" cy="1361"/>
              <a:chOff x="696" y="684"/>
              <a:chExt cx="4368" cy="2976"/>
            </a:xfrm>
          </p:grpSpPr>
          <p:sp>
            <p:nvSpPr>
              <p:cNvPr id="46093" name="Freeform 5"/>
              <p:cNvSpPr/>
              <p:nvPr/>
            </p:nvSpPr>
            <p:spPr>
              <a:xfrm>
                <a:off x="1135" y="3570"/>
                <a:ext cx="3419" cy="1"/>
              </a:xfrm>
              <a:custGeom>
                <a:avLst/>
                <a:gdLst>
                  <a:gd name="txL" fmla="*/ 0 w 2004"/>
                  <a:gd name="txT" fmla="*/ 0 h 1"/>
                  <a:gd name="txR" fmla="*/ 2004 w 2004"/>
                  <a:gd name="txB" fmla="*/ 1 h 1"/>
                </a:gdLst>
                <a:ahLst/>
                <a:cxnLst>
                  <a:cxn ang="0">
                    <a:pos x="0" y="0"/>
                  </a:cxn>
                  <a:cxn ang="0">
                    <a:pos x="2147483646" y="0"/>
                  </a:cxn>
                  <a:cxn ang="0">
                    <a:pos x="0" y="0"/>
                  </a:cxn>
                  <a:cxn ang="0">
                    <a:pos x="0" y="0"/>
                  </a:cxn>
                </a:cxnLst>
                <a:rect l="txL" t="txT" r="txR" b="txB"/>
                <a:pathLst>
                  <a:path w="2004" h="1">
                    <a:moveTo>
                      <a:pt x="0" y="0"/>
                    </a:moveTo>
                    <a:lnTo>
                      <a:pt x="2004"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094" name="Freeform 6"/>
              <p:cNvSpPr>
                <a:spLocks noEditPoints="1"/>
              </p:cNvSpPr>
              <p:nvPr/>
            </p:nvSpPr>
            <p:spPr>
              <a:xfrm>
                <a:off x="4554" y="1172"/>
                <a:ext cx="2" cy="2398"/>
              </a:xfrm>
              <a:custGeom>
                <a:avLst/>
                <a:gdLst>
                  <a:gd name="txL" fmla="*/ 0 w 2"/>
                  <a:gd name="txT" fmla="*/ 0 h 1433"/>
                  <a:gd name="txR" fmla="*/ 2 w 2"/>
                  <a:gd name="txB" fmla="*/ 1433 h 1433"/>
                </a:gdLst>
                <a:ahLst/>
                <a:cxnLst>
                  <a:cxn ang="0">
                    <a:pos x="0" y="2147483646"/>
                  </a:cxn>
                  <a:cxn ang="0">
                    <a:pos x="0" y="0"/>
                  </a:cxn>
                  <a:cxn ang="0">
                    <a:pos x="0" y="2147483646"/>
                  </a:cxn>
                  <a:cxn ang="0">
                    <a:pos x="0" y="2147483646"/>
                  </a:cxn>
                  <a:cxn ang="0">
                    <a:pos x="0" y="2147483646"/>
                  </a:cxn>
                  <a:cxn ang="0">
                    <a:pos x="0" y="2147483646"/>
                  </a:cxn>
                  <a:cxn ang="0">
                    <a:pos x="0" y="2147483646"/>
                  </a:cxn>
                </a:cxnLst>
                <a:rect l="txL" t="txT" r="txR" b="txB"/>
                <a:pathLst>
                  <a:path w="2" h="1433">
                    <a:moveTo>
                      <a:pt x="0" y="1433"/>
                    </a:moveTo>
                    <a:lnTo>
                      <a:pt x="0" y="0"/>
                    </a:lnTo>
                    <a:lnTo>
                      <a:pt x="0" y="1433"/>
                    </a:lnTo>
                    <a:close/>
                    <a:moveTo>
                      <a:pt x="0" y="1433"/>
                    </a:moveTo>
                    <a:lnTo>
                      <a:pt x="0" y="143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095" name="Freeform 7"/>
              <p:cNvSpPr>
                <a:spLocks noEditPoints="1"/>
              </p:cNvSpPr>
              <p:nvPr/>
            </p:nvSpPr>
            <p:spPr>
              <a:xfrm>
                <a:off x="1135" y="1172"/>
                <a:ext cx="3419" cy="2"/>
              </a:xfrm>
              <a:custGeom>
                <a:avLst/>
                <a:gdLst>
                  <a:gd name="txL" fmla="*/ 0 w 2004"/>
                  <a:gd name="txT" fmla="*/ 0 h 2"/>
                  <a:gd name="txR" fmla="*/ 2004 w 2004"/>
                  <a:gd name="txB" fmla="*/ 2 h 2"/>
                </a:gdLst>
                <a:ahLst/>
                <a:cxnLst>
                  <a:cxn ang="0">
                    <a:pos x="2147483646" y="0"/>
                  </a:cxn>
                  <a:cxn ang="0">
                    <a:pos x="0" y="0"/>
                  </a:cxn>
                  <a:cxn ang="0">
                    <a:pos x="2147483646" y="0"/>
                  </a:cxn>
                  <a:cxn ang="0">
                    <a:pos x="2147483646" y="0"/>
                  </a:cxn>
                  <a:cxn ang="0">
                    <a:pos x="2147483646" y="0"/>
                  </a:cxn>
                  <a:cxn ang="0">
                    <a:pos x="2147483646" y="0"/>
                  </a:cxn>
                  <a:cxn ang="0">
                    <a:pos x="2147483646" y="0"/>
                  </a:cxn>
                </a:cxnLst>
                <a:rect l="txL" t="txT" r="txR" b="txB"/>
                <a:pathLst>
                  <a:path w="2004" h="2">
                    <a:moveTo>
                      <a:pt x="2004" y="0"/>
                    </a:moveTo>
                    <a:lnTo>
                      <a:pt x="0" y="0"/>
                    </a:lnTo>
                    <a:lnTo>
                      <a:pt x="2004" y="0"/>
                    </a:lnTo>
                    <a:close/>
                    <a:moveTo>
                      <a:pt x="2004" y="0"/>
                    </a:moveTo>
                    <a:lnTo>
                      <a:pt x="2004"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096" name="Freeform 8"/>
              <p:cNvSpPr/>
              <p:nvPr/>
            </p:nvSpPr>
            <p:spPr>
              <a:xfrm>
                <a:off x="3085" y="1172"/>
                <a:ext cx="1" cy="1200"/>
              </a:xfrm>
              <a:custGeom>
                <a:avLst/>
                <a:gdLst>
                  <a:gd name="txL" fmla="*/ 0 w 1"/>
                  <a:gd name="txT" fmla="*/ 0 h 717"/>
                  <a:gd name="txR" fmla="*/ 1 w 1"/>
                  <a:gd name="txB" fmla="*/ 717 h 717"/>
                </a:gdLst>
                <a:ahLst/>
                <a:cxnLst>
                  <a:cxn ang="0">
                    <a:pos x="0" y="0"/>
                  </a:cxn>
                  <a:cxn ang="0">
                    <a:pos x="0" y="1312239506"/>
                  </a:cxn>
                  <a:cxn ang="0">
                    <a:pos x="0" y="0"/>
                  </a:cxn>
                  <a:cxn ang="0">
                    <a:pos x="0" y="0"/>
                  </a:cxn>
                </a:cxnLst>
                <a:rect l="txL" t="txT" r="txR" b="txB"/>
                <a:pathLst>
                  <a:path w="1" h="717">
                    <a:moveTo>
                      <a:pt x="0" y="0"/>
                    </a:moveTo>
                    <a:lnTo>
                      <a:pt x="0" y="717"/>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097" name="Freeform 9"/>
              <p:cNvSpPr/>
              <p:nvPr/>
            </p:nvSpPr>
            <p:spPr>
              <a:xfrm>
                <a:off x="3298" y="1673"/>
                <a:ext cx="113" cy="209"/>
              </a:xfrm>
              <a:custGeom>
                <a:avLst/>
                <a:gdLst>
                  <a:gd name="txL" fmla="*/ 0 w 66"/>
                  <a:gd name="txT" fmla="*/ 0 h 125"/>
                  <a:gd name="txR" fmla="*/ 66 w 66"/>
                  <a:gd name="txB" fmla="*/ 125 h 125"/>
                </a:gdLst>
                <a:ahLst/>
                <a:cxnLst>
                  <a:cxn ang="0">
                    <a:pos x="227404463" y="180270673"/>
                  </a:cxn>
                  <a:cxn ang="0">
                    <a:pos x="207343611" y="180270673"/>
                  </a:cxn>
                  <a:cxn ang="0">
                    <a:pos x="186631197" y="201152610"/>
                  </a:cxn>
                  <a:cxn ang="0">
                    <a:pos x="165461561" y="201152610"/>
                  </a:cxn>
                  <a:cxn ang="0">
                    <a:pos x="42573784" y="201152610"/>
                  </a:cxn>
                  <a:cxn ang="0">
                    <a:pos x="124799047" y="137662308"/>
                  </a:cxn>
                  <a:cxn ang="0">
                    <a:pos x="165461561" y="106123500"/>
                  </a:cxn>
                  <a:cxn ang="0">
                    <a:pos x="186631197" y="63470993"/>
                  </a:cxn>
                  <a:cxn ang="0">
                    <a:pos x="165461561" y="20966477"/>
                  </a:cxn>
                  <a:cxn ang="0">
                    <a:pos x="102743129" y="0"/>
                  </a:cxn>
                  <a:cxn ang="0">
                    <a:pos x="42573784" y="10797121"/>
                  </a:cxn>
                  <a:cxn ang="0">
                    <a:pos x="20198245" y="31864540"/>
                  </a:cxn>
                  <a:cxn ang="0">
                    <a:pos x="0" y="63470993"/>
                  </a:cxn>
                  <a:cxn ang="0">
                    <a:pos x="0" y="63470993"/>
                  </a:cxn>
                  <a:cxn ang="0">
                    <a:pos x="42573784" y="42603353"/>
                  </a:cxn>
                  <a:cxn ang="0">
                    <a:pos x="62747034" y="31864540"/>
                  </a:cxn>
                  <a:cxn ang="0">
                    <a:pos x="82544286" y="20966477"/>
                  </a:cxn>
                  <a:cxn ang="0">
                    <a:pos x="124799047" y="31864540"/>
                  </a:cxn>
                  <a:cxn ang="0">
                    <a:pos x="145272535" y="42603353"/>
                  </a:cxn>
                  <a:cxn ang="0">
                    <a:pos x="145272535" y="74708774"/>
                  </a:cxn>
                  <a:cxn ang="0">
                    <a:pos x="124799047" y="117371663"/>
                  </a:cxn>
                  <a:cxn ang="0">
                    <a:pos x="82544286" y="158628791"/>
                  </a:cxn>
                  <a:cxn ang="0">
                    <a:pos x="0" y="222432841"/>
                  </a:cxn>
                  <a:cxn ang="0">
                    <a:pos x="0" y="222432841"/>
                  </a:cxn>
                  <a:cxn ang="0">
                    <a:pos x="186631197" y="222432841"/>
                  </a:cxn>
                  <a:cxn ang="0">
                    <a:pos x="227404463" y="180270673"/>
                  </a:cxn>
                </a:cxnLst>
                <a:rect l="txL" t="txT" r="txR" b="txB"/>
                <a:pathLst>
                  <a:path w="66" h="125">
                    <a:moveTo>
                      <a:pt x="66" y="101"/>
                    </a:moveTo>
                    <a:lnTo>
                      <a:pt x="60" y="101"/>
                    </a:lnTo>
                    <a:lnTo>
                      <a:pt x="54" y="113"/>
                    </a:lnTo>
                    <a:lnTo>
                      <a:pt x="48" y="113"/>
                    </a:lnTo>
                    <a:lnTo>
                      <a:pt x="12" y="113"/>
                    </a:lnTo>
                    <a:lnTo>
                      <a:pt x="36" y="77"/>
                    </a:lnTo>
                    <a:lnTo>
                      <a:pt x="48" y="60"/>
                    </a:lnTo>
                    <a:lnTo>
                      <a:pt x="54" y="36"/>
                    </a:lnTo>
                    <a:lnTo>
                      <a:pt x="48" y="12"/>
                    </a:lnTo>
                    <a:lnTo>
                      <a:pt x="30" y="0"/>
                    </a:lnTo>
                    <a:lnTo>
                      <a:pt x="12" y="6"/>
                    </a:lnTo>
                    <a:lnTo>
                      <a:pt x="6" y="18"/>
                    </a:lnTo>
                    <a:lnTo>
                      <a:pt x="0" y="36"/>
                    </a:lnTo>
                    <a:lnTo>
                      <a:pt x="12" y="24"/>
                    </a:lnTo>
                    <a:lnTo>
                      <a:pt x="18" y="18"/>
                    </a:lnTo>
                    <a:lnTo>
                      <a:pt x="24" y="12"/>
                    </a:lnTo>
                    <a:lnTo>
                      <a:pt x="36" y="18"/>
                    </a:lnTo>
                    <a:lnTo>
                      <a:pt x="42" y="24"/>
                    </a:lnTo>
                    <a:lnTo>
                      <a:pt x="42" y="42"/>
                    </a:lnTo>
                    <a:lnTo>
                      <a:pt x="36" y="66"/>
                    </a:lnTo>
                    <a:lnTo>
                      <a:pt x="24" y="89"/>
                    </a:lnTo>
                    <a:lnTo>
                      <a:pt x="0" y="125"/>
                    </a:lnTo>
                    <a:lnTo>
                      <a:pt x="54" y="125"/>
                    </a:lnTo>
                    <a:lnTo>
                      <a:pt x="66" y="10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098" name="Freeform 10"/>
              <p:cNvSpPr/>
              <p:nvPr/>
            </p:nvSpPr>
            <p:spPr>
              <a:xfrm>
                <a:off x="3482" y="1663"/>
                <a:ext cx="174" cy="219"/>
              </a:xfrm>
              <a:custGeom>
                <a:avLst/>
                <a:gdLst>
                  <a:gd name="txL" fmla="*/ 0 w 102"/>
                  <a:gd name="txT" fmla="*/ 0 h 131"/>
                  <a:gd name="txR" fmla="*/ 102 w 102"/>
                  <a:gd name="txB" fmla="*/ 131 h 131"/>
                </a:gdLst>
                <a:ahLst/>
                <a:cxnLst>
                  <a:cxn ang="0">
                    <a:pos x="132084678" y="189897556"/>
                  </a:cxn>
                  <a:cxn ang="0">
                    <a:pos x="111352156" y="179570663"/>
                  </a:cxn>
                  <a:cxn ang="0">
                    <a:pos x="93026255" y="168985750"/>
                  </a:cxn>
                  <a:cxn ang="0">
                    <a:pos x="74718101" y="147395594"/>
                  </a:cxn>
                  <a:cxn ang="0">
                    <a:pos x="56920789" y="95414291"/>
                  </a:cxn>
                  <a:cxn ang="0">
                    <a:pos x="93026255" y="31769720"/>
                  </a:cxn>
                  <a:cxn ang="0">
                    <a:pos x="132084678" y="20899364"/>
                  </a:cxn>
                  <a:cxn ang="0">
                    <a:pos x="168720410" y="10727476"/>
                  </a:cxn>
                  <a:cxn ang="0">
                    <a:pos x="206985299" y="20899364"/>
                  </a:cxn>
                  <a:cxn ang="0">
                    <a:pos x="225320921" y="31769720"/>
                  </a:cxn>
                  <a:cxn ang="0">
                    <a:pos x="261830456" y="63284681"/>
                  </a:cxn>
                  <a:cxn ang="0">
                    <a:pos x="261830456" y="95414291"/>
                  </a:cxn>
                  <a:cxn ang="0">
                    <a:pos x="243441471" y="147395594"/>
                  </a:cxn>
                  <a:cxn ang="0">
                    <a:pos x="243441471" y="168985750"/>
                  </a:cxn>
                  <a:cxn ang="0">
                    <a:pos x="225320921" y="179570663"/>
                  </a:cxn>
                  <a:cxn ang="0">
                    <a:pos x="206985299" y="189897556"/>
                  </a:cxn>
                  <a:cxn ang="0">
                    <a:pos x="187053770" y="232302959"/>
                  </a:cxn>
                  <a:cxn ang="0">
                    <a:pos x="319091725" y="232302959"/>
                  </a:cxn>
                  <a:cxn ang="0">
                    <a:pos x="319091725" y="179570663"/>
                  </a:cxn>
                  <a:cxn ang="0">
                    <a:pos x="319091725" y="179570663"/>
                  </a:cxn>
                  <a:cxn ang="0">
                    <a:pos x="300499614" y="200539597"/>
                  </a:cxn>
                  <a:cxn ang="0">
                    <a:pos x="282564852" y="200539597"/>
                  </a:cxn>
                  <a:cxn ang="0">
                    <a:pos x="225320921" y="200539597"/>
                  </a:cxn>
                  <a:cxn ang="0">
                    <a:pos x="225320921" y="189897556"/>
                  </a:cxn>
                  <a:cxn ang="0">
                    <a:pos x="261830456" y="179570663"/>
                  </a:cxn>
                  <a:cxn ang="0">
                    <a:pos x="300499614" y="157862133"/>
                  </a:cxn>
                  <a:cxn ang="0">
                    <a:pos x="319091725" y="105796528"/>
                  </a:cxn>
                  <a:cxn ang="0">
                    <a:pos x="300499614" y="53111211"/>
                  </a:cxn>
                  <a:cxn ang="0">
                    <a:pos x="282564852" y="31769720"/>
                  </a:cxn>
                  <a:cxn ang="0">
                    <a:pos x="243441471" y="20899364"/>
                  </a:cxn>
                  <a:cxn ang="0">
                    <a:pos x="206985299" y="10727476"/>
                  </a:cxn>
                  <a:cxn ang="0">
                    <a:pos x="168720410" y="0"/>
                  </a:cxn>
                  <a:cxn ang="0">
                    <a:pos x="132084678" y="10727476"/>
                  </a:cxn>
                  <a:cxn ang="0">
                    <a:pos x="74718101" y="20899364"/>
                  </a:cxn>
                  <a:cxn ang="0">
                    <a:pos x="56920789" y="31769720"/>
                  </a:cxn>
                  <a:cxn ang="0">
                    <a:pos x="36501676" y="53111211"/>
                  </a:cxn>
                  <a:cxn ang="0">
                    <a:pos x="18124865" y="105796528"/>
                  </a:cxn>
                  <a:cxn ang="0">
                    <a:pos x="18124865" y="137874911"/>
                  </a:cxn>
                  <a:cxn ang="0">
                    <a:pos x="36501676" y="157862133"/>
                  </a:cxn>
                  <a:cxn ang="0">
                    <a:pos x="74718101" y="179570663"/>
                  </a:cxn>
                  <a:cxn ang="0">
                    <a:pos x="111352156" y="189897556"/>
                  </a:cxn>
                  <a:cxn ang="0">
                    <a:pos x="111352156" y="200539597"/>
                  </a:cxn>
                  <a:cxn ang="0">
                    <a:pos x="36501676" y="200539597"/>
                  </a:cxn>
                  <a:cxn ang="0">
                    <a:pos x="18124865" y="200539597"/>
                  </a:cxn>
                  <a:cxn ang="0">
                    <a:pos x="18124865" y="179570663"/>
                  </a:cxn>
                  <a:cxn ang="0">
                    <a:pos x="0" y="179570663"/>
                  </a:cxn>
                  <a:cxn ang="0">
                    <a:pos x="0" y="232302959"/>
                  </a:cxn>
                  <a:cxn ang="0">
                    <a:pos x="132084678" y="232302959"/>
                  </a:cxn>
                  <a:cxn ang="0">
                    <a:pos x="132084678" y="189897556"/>
                  </a:cxn>
                </a:cxnLst>
                <a:rect l="txL" t="txT" r="txR" b="txB"/>
                <a:pathLst>
                  <a:path w="102" h="131">
                    <a:moveTo>
                      <a:pt x="42" y="107"/>
                    </a:moveTo>
                    <a:lnTo>
                      <a:pt x="36" y="101"/>
                    </a:lnTo>
                    <a:lnTo>
                      <a:pt x="30" y="95"/>
                    </a:lnTo>
                    <a:lnTo>
                      <a:pt x="24" y="83"/>
                    </a:lnTo>
                    <a:lnTo>
                      <a:pt x="18" y="54"/>
                    </a:lnTo>
                    <a:lnTo>
                      <a:pt x="30" y="18"/>
                    </a:lnTo>
                    <a:lnTo>
                      <a:pt x="42" y="12"/>
                    </a:lnTo>
                    <a:lnTo>
                      <a:pt x="54" y="6"/>
                    </a:lnTo>
                    <a:lnTo>
                      <a:pt x="66" y="12"/>
                    </a:lnTo>
                    <a:lnTo>
                      <a:pt x="72" y="18"/>
                    </a:lnTo>
                    <a:lnTo>
                      <a:pt x="84" y="36"/>
                    </a:lnTo>
                    <a:lnTo>
                      <a:pt x="84" y="54"/>
                    </a:lnTo>
                    <a:lnTo>
                      <a:pt x="78" y="83"/>
                    </a:lnTo>
                    <a:lnTo>
                      <a:pt x="78" y="95"/>
                    </a:lnTo>
                    <a:lnTo>
                      <a:pt x="72" y="101"/>
                    </a:lnTo>
                    <a:lnTo>
                      <a:pt x="66" y="107"/>
                    </a:lnTo>
                    <a:lnTo>
                      <a:pt x="60" y="131"/>
                    </a:lnTo>
                    <a:lnTo>
                      <a:pt x="102" y="131"/>
                    </a:lnTo>
                    <a:lnTo>
                      <a:pt x="102" y="101"/>
                    </a:lnTo>
                    <a:lnTo>
                      <a:pt x="96" y="113"/>
                    </a:lnTo>
                    <a:lnTo>
                      <a:pt x="90" y="113"/>
                    </a:lnTo>
                    <a:lnTo>
                      <a:pt x="72" y="113"/>
                    </a:lnTo>
                    <a:lnTo>
                      <a:pt x="72" y="107"/>
                    </a:lnTo>
                    <a:lnTo>
                      <a:pt x="84" y="101"/>
                    </a:lnTo>
                    <a:lnTo>
                      <a:pt x="96" y="89"/>
                    </a:lnTo>
                    <a:lnTo>
                      <a:pt x="102" y="60"/>
                    </a:lnTo>
                    <a:lnTo>
                      <a:pt x="96" y="30"/>
                    </a:lnTo>
                    <a:lnTo>
                      <a:pt x="90" y="18"/>
                    </a:lnTo>
                    <a:lnTo>
                      <a:pt x="78" y="12"/>
                    </a:lnTo>
                    <a:lnTo>
                      <a:pt x="66" y="6"/>
                    </a:lnTo>
                    <a:lnTo>
                      <a:pt x="54" y="0"/>
                    </a:lnTo>
                    <a:lnTo>
                      <a:pt x="42" y="6"/>
                    </a:lnTo>
                    <a:lnTo>
                      <a:pt x="24" y="12"/>
                    </a:lnTo>
                    <a:lnTo>
                      <a:pt x="18" y="18"/>
                    </a:lnTo>
                    <a:lnTo>
                      <a:pt x="12" y="30"/>
                    </a:lnTo>
                    <a:lnTo>
                      <a:pt x="6" y="60"/>
                    </a:lnTo>
                    <a:lnTo>
                      <a:pt x="6" y="78"/>
                    </a:lnTo>
                    <a:lnTo>
                      <a:pt x="12" y="89"/>
                    </a:lnTo>
                    <a:lnTo>
                      <a:pt x="24" y="101"/>
                    </a:lnTo>
                    <a:lnTo>
                      <a:pt x="36" y="107"/>
                    </a:lnTo>
                    <a:lnTo>
                      <a:pt x="36" y="113"/>
                    </a:lnTo>
                    <a:lnTo>
                      <a:pt x="12" y="113"/>
                    </a:lnTo>
                    <a:lnTo>
                      <a:pt x="6" y="113"/>
                    </a:lnTo>
                    <a:lnTo>
                      <a:pt x="6" y="101"/>
                    </a:lnTo>
                    <a:lnTo>
                      <a:pt x="0" y="101"/>
                    </a:lnTo>
                    <a:lnTo>
                      <a:pt x="0" y="131"/>
                    </a:lnTo>
                    <a:lnTo>
                      <a:pt x="42" y="131"/>
                    </a:lnTo>
                    <a:lnTo>
                      <a:pt x="42" y="10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099" name="Freeform 11"/>
              <p:cNvSpPr/>
              <p:nvPr/>
            </p:nvSpPr>
            <p:spPr>
              <a:xfrm>
                <a:off x="3054" y="1454"/>
                <a:ext cx="61" cy="639"/>
              </a:xfrm>
              <a:custGeom>
                <a:avLst/>
                <a:gdLst>
                  <a:gd name="txL" fmla="*/ 0 w 36"/>
                  <a:gd name="txT" fmla="*/ 0 h 382"/>
                  <a:gd name="txR" fmla="*/ 36 w 36"/>
                  <a:gd name="txB" fmla="*/ 382 h 382"/>
                </a:gdLst>
                <a:ahLst/>
                <a:cxnLst>
                  <a:cxn ang="0">
                    <a:pos x="93136701" y="0"/>
                  </a:cxn>
                  <a:cxn ang="0">
                    <a:pos x="0" y="0"/>
                  </a:cxn>
                  <a:cxn ang="0">
                    <a:pos x="0" y="689089909"/>
                  </a:cxn>
                  <a:cxn ang="0">
                    <a:pos x="93136701" y="689089909"/>
                  </a:cxn>
                  <a:cxn ang="0">
                    <a:pos x="93136701" y="0"/>
                  </a:cxn>
                  <a:cxn ang="0">
                    <a:pos x="93136701" y="0"/>
                  </a:cxn>
                </a:cxnLst>
                <a:rect l="txL" t="txT" r="txR" b="txB"/>
                <a:pathLst>
                  <a:path w="36" h="382">
                    <a:moveTo>
                      <a:pt x="36" y="0"/>
                    </a:moveTo>
                    <a:lnTo>
                      <a:pt x="0" y="0"/>
                    </a:lnTo>
                    <a:lnTo>
                      <a:pt x="0" y="382"/>
                    </a:lnTo>
                    <a:lnTo>
                      <a:pt x="36" y="382"/>
                    </a:lnTo>
                    <a:lnTo>
                      <a:pt x="36" y="0"/>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46100" name="Freeform 12"/>
              <p:cNvSpPr/>
              <p:nvPr/>
            </p:nvSpPr>
            <p:spPr>
              <a:xfrm>
                <a:off x="3085" y="2062"/>
                <a:ext cx="71" cy="41"/>
              </a:xfrm>
              <a:custGeom>
                <a:avLst/>
                <a:gdLst>
                  <a:gd name="txL" fmla="*/ 0 w 42"/>
                  <a:gd name="txT" fmla="*/ 0 h 24"/>
                  <a:gd name="txR" fmla="*/ 42 w 42"/>
                  <a:gd name="txB" fmla="*/ 24 h 24"/>
                </a:gdLst>
                <a:ahLst/>
                <a:cxnLst>
                  <a:cxn ang="0">
                    <a:pos x="0" y="78262881"/>
                  </a:cxn>
                  <a:cxn ang="0">
                    <a:pos x="101737945" y="0"/>
                  </a:cxn>
                  <a:cxn ang="0">
                    <a:pos x="0" y="78262881"/>
                  </a:cxn>
                  <a:cxn ang="0">
                    <a:pos x="0" y="78262881"/>
                  </a:cxn>
                </a:cxnLst>
                <a:rect l="txL" t="txT" r="txR" b="txB"/>
                <a:pathLst>
                  <a:path w="42" h="24">
                    <a:moveTo>
                      <a:pt x="0" y="24"/>
                    </a:moveTo>
                    <a:lnTo>
                      <a:pt x="42" y="0"/>
                    </a:ln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01" name="Freeform 13"/>
              <p:cNvSpPr>
                <a:spLocks noEditPoints="1"/>
              </p:cNvSpPr>
              <p:nvPr/>
            </p:nvSpPr>
            <p:spPr>
              <a:xfrm>
                <a:off x="3085" y="2022"/>
                <a:ext cx="71" cy="40"/>
              </a:xfrm>
              <a:custGeom>
                <a:avLst/>
                <a:gdLst>
                  <a:gd name="txL" fmla="*/ 0 w 42"/>
                  <a:gd name="txT" fmla="*/ 0 h 24"/>
                  <a:gd name="txR" fmla="*/ 42 w 42"/>
                  <a:gd name="txB" fmla="*/ 24 h 24"/>
                </a:gdLst>
                <a:ahLst/>
                <a:cxnLst>
                  <a:cxn ang="0">
                    <a:pos x="101737945" y="39511703"/>
                  </a:cxn>
                  <a:cxn ang="0">
                    <a:pos x="0" y="0"/>
                  </a:cxn>
                  <a:cxn ang="0">
                    <a:pos x="101737945" y="39511703"/>
                  </a:cxn>
                  <a:cxn ang="0">
                    <a:pos x="101737945" y="39511703"/>
                  </a:cxn>
                  <a:cxn ang="0">
                    <a:pos x="101737945" y="39511703"/>
                  </a:cxn>
                  <a:cxn ang="0">
                    <a:pos x="101737945" y="39511703"/>
                  </a:cxn>
                  <a:cxn ang="0">
                    <a:pos x="101737945" y="39511703"/>
                  </a:cxn>
                </a:cxnLst>
                <a:rect l="txL" t="txT" r="txR" b="txB"/>
                <a:pathLst>
                  <a:path w="42" h="24">
                    <a:moveTo>
                      <a:pt x="42" y="24"/>
                    </a:moveTo>
                    <a:lnTo>
                      <a:pt x="0" y="0"/>
                    </a:lnTo>
                    <a:lnTo>
                      <a:pt x="42" y="24"/>
                    </a:lnTo>
                    <a:close/>
                    <a:moveTo>
                      <a:pt x="42" y="24"/>
                    </a:moveTo>
                    <a:lnTo>
                      <a:pt x="4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02" name="Freeform 14"/>
              <p:cNvSpPr>
                <a:spLocks noEditPoints="1"/>
              </p:cNvSpPr>
              <p:nvPr/>
            </p:nvSpPr>
            <p:spPr>
              <a:xfrm>
                <a:off x="3003" y="1982"/>
                <a:ext cx="82" cy="40"/>
              </a:xfrm>
              <a:custGeom>
                <a:avLst/>
                <a:gdLst>
                  <a:gd name="txL" fmla="*/ 0 w 48"/>
                  <a:gd name="txT" fmla="*/ 0 h 24"/>
                  <a:gd name="txR" fmla="*/ 48 w 48"/>
                  <a:gd name="txB" fmla="*/ 24 h 24"/>
                </a:gdLst>
                <a:ahLst/>
                <a:cxnLst>
                  <a:cxn ang="0">
                    <a:pos x="155781089" y="39511703"/>
                  </a:cxn>
                  <a:cxn ang="0">
                    <a:pos x="0" y="0"/>
                  </a:cxn>
                  <a:cxn ang="0">
                    <a:pos x="155781089" y="39511703"/>
                  </a:cxn>
                  <a:cxn ang="0">
                    <a:pos x="155781089" y="39511703"/>
                  </a:cxn>
                  <a:cxn ang="0">
                    <a:pos x="155781089" y="39511703"/>
                  </a:cxn>
                  <a:cxn ang="0">
                    <a:pos x="155781089" y="39511703"/>
                  </a:cxn>
                  <a:cxn ang="0">
                    <a:pos x="155781089" y="39511703"/>
                  </a:cxn>
                </a:cxnLst>
                <a:rect l="txL" t="txT" r="txR" b="txB"/>
                <a:pathLst>
                  <a:path w="48" h="24">
                    <a:moveTo>
                      <a:pt x="48" y="24"/>
                    </a:moveTo>
                    <a:lnTo>
                      <a:pt x="0" y="0"/>
                    </a:lnTo>
                    <a:lnTo>
                      <a:pt x="48" y="24"/>
                    </a:lnTo>
                    <a:close/>
                    <a:moveTo>
                      <a:pt x="48" y="24"/>
                    </a:moveTo>
                    <a:lnTo>
                      <a:pt x="48"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03" name="Freeform 15"/>
              <p:cNvSpPr>
                <a:spLocks noEditPoints="1"/>
              </p:cNvSpPr>
              <p:nvPr/>
            </p:nvSpPr>
            <p:spPr>
              <a:xfrm>
                <a:off x="3003" y="1942"/>
                <a:ext cx="82" cy="40"/>
              </a:xfrm>
              <a:custGeom>
                <a:avLst/>
                <a:gdLst>
                  <a:gd name="txL" fmla="*/ 0 w 48"/>
                  <a:gd name="txT" fmla="*/ 0 h 24"/>
                  <a:gd name="txR" fmla="*/ 48 w 48"/>
                  <a:gd name="txB" fmla="*/ 24 h 24"/>
                </a:gdLst>
                <a:ahLst/>
                <a:cxnLst>
                  <a:cxn ang="0">
                    <a:pos x="0" y="39511703"/>
                  </a:cxn>
                  <a:cxn ang="0">
                    <a:pos x="155781089" y="0"/>
                  </a:cxn>
                  <a:cxn ang="0">
                    <a:pos x="0" y="39511703"/>
                  </a:cxn>
                  <a:cxn ang="0">
                    <a:pos x="0" y="39511703"/>
                  </a:cxn>
                  <a:cxn ang="0">
                    <a:pos x="0" y="39511703"/>
                  </a:cxn>
                  <a:cxn ang="0">
                    <a:pos x="0" y="39511703"/>
                  </a:cxn>
                  <a:cxn ang="0">
                    <a:pos x="0" y="39511703"/>
                  </a:cxn>
                </a:cxnLst>
                <a:rect l="txL" t="txT" r="txR" b="txB"/>
                <a:pathLst>
                  <a:path w="48" h="24">
                    <a:moveTo>
                      <a:pt x="0" y="24"/>
                    </a:moveTo>
                    <a:lnTo>
                      <a:pt x="48"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04" name="Freeform 16"/>
              <p:cNvSpPr>
                <a:spLocks noEditPoints="1"/>
              </p:cNvSpPr>
              <p:nvPr/>
            </p:nvSpPr>
            <p:spPr>
              <a:xfrm>
                <a:off x="3085" y="1942"/>
                <a:ext cx="1" cy="2"/>
              </a:xfrm>
              <a:custGeom>
                <a:avLst/>
                <a:gdLst>
                  <a:gd name="txL" fmla="*/ 0 w 1"/>
                  <a:gd name="txT" fmla="*/ 0 h 2"/>
                  <a:gd name="txR" fmla="*/ 1 w 1"/>
                  <a:gd name="txB" fmla="*/ 2 h 2"/>
                </a:gdLst>
                <a:ahLst/>
                <a:cxnLst>
                  <a:cxn ang="0">
                    <a:pos x="0" y="0"/>
                  </a:cxn>
                  <a:cxn ang="0">
                    <a:pos x="0" y="0"/>
                  </a:cxn>
                  <a:cxn ang="0">
                    <a:pos x="0" y="0"/>
                  </a:cxn>
                  <a:cxn ang="0">
                    <a:pos x="0" y="0"/>
                  </a:cxn>
                  <a:cxn ang="0">
                    <a:pos x="0" y="0"/>
                  </a:cxn>
                  <a:cxn ang="0">
                    <a:pos x="0" y="0"/>
                  </a:cxn>
                  <a:cxn ang="0">
                    <a:pos x="0" y="0"/>
                  </a:cxn>
                </a:cxnLst>
                <a:rect l="txL" t="txT" r="txR" b="txB"/>
                <a:pathLst>
                  <a:path w="1" h="2">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05" name="Freeform 17"/>
              <p:cNvSpPr>
                <a:spLocks noEditPoints="1"/>
              </p:cNvSpPr>
              <p:nvPr/>
            </p:nvSpPr>
            <p:spPr>
              <a:xfrm>
                <a:off x="3085" y="1892"/>
                <a:ext cx="71" cy="50"/>
              </a:xfrm>
              <a:custGeom>
                <a:avLst/>
                <a:gdLst>
                  <a:gd name="txL" fmla="*/ 0 w 42"/>
                  <a:gd name="txT" fmla="*/ 0 h 30"/>
                  <a:gd name="txR" fmla="*/ 42 w 42"/>
                  <a:gd name="txB" fmla="*/ 30 h 30"/>
                </a:gdLst>
                <a:ahLst/>
                <a:cxnLst>
                  <a:cxn ang="0">
                    <a:pos x="0" y="48463758"/>
                  </a:cxn>
                  <a:cxn ang="0">
                    <a:pos x="101737945" y="0"/>
                  </a:cxn>
                  <a:cxn ang="0">
                    <a:pos x="0" y="48463758"/>
                  </a:cxn>
                  <a:cxn ang="0">
                    <a:pos x="0" y="48463758"/>
                  </a:cxn>
                  <a:cxn ang="0">
                    <a:pos x="0" y="48463758"/>
                  </a:cxn>
                  <a:cxn ang="0">
                    <a:pos x="0" y="48463758"/>
                  </a:cxn>
                  <a:cxn ang="0">
                    <a:pos x="0" y="48463758"/>
                  </a:cxn>
                </a:cxnLst>
                <a:rect l="txL" t="txT" r="txR" b="txB"/>
                <a:pathLst>
                  <a:path w="42" h="30">
                    <a:moveTo>
                      <a:pt x="0" y="30"/>
                    </a:moveTo>
                    <a:lnTo>
                      <a:pt x="42"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06" name="Freeform 18"/>
              <p:cNvSpPr>
                <a:spLocks noEditPoints="1"/>
              </p:cNvSpPr>
              <p:nvPr/>
            </p:nvSpPr>
            <p:spPr>
              <a:xfrm>
                <a:off x="3085" y="1852"/>
                <a:ext cx="71" cy="40"/>
              </a:xfrm>
              <a:custGeom>
                <a:avLst/>
                <a:gdLst>
                  <a:gd name="txL" fmla="*/ 0 w 42"/>
                  <a:gd name="txT" fmla="*/ 0 h 24"/>
                  <a:gd name="txR" fmla="*/ 42 w 42"/>
                  <a:gd name="txB" fmla="*/ 24 h 24"/>
                </a:gdLst>
                <a:ahLst/>
                <a:cxnLst>
                  <a:cxn ang="0">
                    <a:pos x="101737945" y="39511703"/>
                  </a:cxn>
                  <a:cxn ang="0">
                    <a:pos x="0" y="0"/>
                  </a:cxn>
                  <a:cxn ang="0">
                    <a:pos x="101737945" y="39511703"/>
                  </a:cxn>
                  <a:cxn ang="0">
                    <a:pos x="101737945" y="39511703"/>
                  </a:cxn>
                  <a:cxn ang="0">
                    <a:pos x="101737945" y="39511703"/>
                  </a:cxn>
                  <a:cxn ang="0">
                    <a:pos x="101737945" y="39511703"/>
                  </a:cxn>
                  <a:cxn ang="0">
                    <a:pos x="101737945" y="39511703"/>
                  </a:cxn>
                </a:cxnLst>
                <a:rect l="txL" t="txT" r="txR" b="txB"/>
                <a:pathLst>
                  <a:path w="42" h="24">
                    <a:moveTo>
                      <a:pt x="42" y="24"/>
                    </a:moveTo>
                    <a:lnTo>
                      <a:pt x="0" y="0"/>
                    </a:lnTo>
                    <a:lnTo>
                      <a:pt x="42" y="24"/>
                    </a:lnTo>
                    <a:close/>
                    <a:moveTo>
                      <a:pt x="42" y="24"/>
                    </a:moveTo>
                    <a:lnTo>
                      <a:pt x="4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07" name="Freeform 19"/>
              <p:cNvSpPr>
                <a:spLocks noEditPoints="1"/>
              </p:cNvSpPr>
              <p:nvPr/>
            </p:nvSpPr>
            <p:spPr>
              <a:xfrm>
                <a:off x="3003" y="1812"/>
                <a:ext cx="82" cy="40"/>
              </a:xfrm>
              <a:custGeom>
                <a:avLst/>
                <a:gdLst>
                  <a:gd name="txL" fmla="*/ 0 w 48"/>
                  <a:gd name="txT" fmla="*/ 0 h 24"/>
                  <a:gd name="txR" fmla="*/ 48 w 48"/>
                  <a:gd name="txB" fmla="*/ 24 h 24"/>
                </a:gdLst>
                <a:ahLst/>
                <a:cxnLst>
                  <a:cxn ang="0">
                    <a:pos x="155781089" y="39511703"/>
                  </a:cxn>
                  <a:cxn ang="0">
                    <a:pos x="0" y="0"/>
                  </a:cxn>
                  <a:cxn ang="0">
                    <a:pos x="155781089" y="39511703"/>
                  </a:cxn>
                  <a:cxn ang="0">
                    <a:pos x="155781089" y="39511703"/>
                  </a:cxn>
                  <a:cxn ang="0">
                    <a:pos x="155781089" y="39511703"/>
                  </a:cxn>
                  <a:cxn ang="0">
                    <a:pos x="155781089" y="39511703"/>
                  </a:cxn>
                  <a:cxn ang="0">
                    <a:pos x="155781089" y="39511703"/>
                  </a:cxn>
                </a:cxnLst>
                <a:rect l="txL" t="txT" r="txR" b="txB"/>
                <a:pathLst>
                  <a:path w="48" h="24">
                    <a:moveTo>
                      <a:pt x="48" y="24"/>
                    </a:moveTo>
                    <a:lnTo>
                      <a:pt x="0" y="0"/>
                    </a:lnTo>
                    <a:lnTo>
                      <a:pt x="48" y="24"/>
                    </a:lnTo>
                    <a:close/>
                    <a:moveTo>
                      <a:pt x="48" y="24"/>
                    </a:moveTo>
                    <a:lnTo>
                      <a:pt x="48"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08" name="Freeform 20"/>
              <p:cNvSpPr>
                <a:spLocks noEditPoints="1"/>
              </p:cNvSpPr>
              <p:nvPr/>
            </p:nvSpPr>
            <p:spPr>
              <a:xfrm>
                <a:off x="3003" y="1773"/>
                <a:ext cx="82" cy="39"/>
              </a:xfrm>
              <a:custGeom>
                <a:avLst/>
                <a:gdLst>
                  <a:gd name="txL" fmla="*/ 0 w 48"/>
                  <a:gd name="txT" fmla="*/ 0 h 23"/>
                  <a:gd name="txR" fmla="*/ 48 w 48"/>
                  <a:gd name="txB" fmla="*/ 23 h 23"/>
                </a:gdLst>
                <a:ahLst/>
                <a:cxnLst>
                  <a:cxn ang="0">
                    <a:pos x="0" y="60621703"/>
                  </a:cxn>
                  <a:cxn ang="0">
                    <a:pos x="155781089" y="0"/>
                  </a:cxn>
                  <a:cxn ang="0">
                    <a:pos x="0" y="60621703"/>
                  </a:cxn>
                  <a:cxn ang="0">
                    <a:pos x="0" y="60621703"/>
                  </a:cxn>
                  <a:cxn ang="0">
                    <a:pos x="0" y="60621703"/>
                  </a:cxn>
                  <a:cxn ang="0">
                    <a:pos x="0" y="60621703"/>
                  </a:cxn>
                  <a:cxn ang="0">
                    <a:pos x="0" y="60621703"/>
                  </a:cxn>
                </a:cxnLst>
                <a:rect l="txL" t="txT" r="txR" b="txB"/>
                <a:pathLst>
                  <a:path w="48" h="23">
                    <a:moveTo>
                      <a:pt x="0" y="23"/>
                    </a:moveTo>
                    <a:lnTo>
                      <a:pt x="48" y="0"/>
                    </a:lnTo>
                    <a:lnTo>
                      <a:pt x="0" y="23"/>
                    </a:lnTo>
                    <a:close/>
                    <a:moveTo>
                      <a:pt x="0" y="23"/>
                    </a:moveTo>
                    <a:lnTo>
                      <a:pt x="0" y="2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09" name="Freeform 21"/>
              <p:cNvSpPr>
                <a:spLocks noEditPoints="1"/>
              </p:cNvSpPr>
              <p:nvPr/>
            </p:nvSpPr>
            <p:spPr>
              <a:xfrm>
                <a:off x="3085" y="1733"/>
                <a:ext cx="71" cy="40"/>
              </a:xfrm>
              <a:custGeom>
                <a:avLst/>
                <a:gdLst>
                  <a:gd name="txL" fmla="*/ 0 w 42"/>
                  <a:gd name="txT" fmla="*/ 0 h 24"/>
                  <a:gd name="txR" fmla="*/ 42 w 42"/>
                  <a:gd name="txB" fmla="*/ 24 h 24"/>
                </a:gdLst>
                <a:ahLst/>
                <a:cxnLst>
                  <a:cxn ang="0">
                    <a:pos x="0" y="39511703"/>
                  </a:cxn>
                  <a:cxn ang="0">
                    <a:pos x="101737945" y="0"/>
                  </a:cxn>
                  <a:cxn ang="0">
                    <a:pos x="0" y="39511703"/>
                  </a:cxn>
                  <a:cxn ang="0">
                    <a:pos x="0" y="39511703"/>
                  </a:cxn>
                  <a:cxn ang="0">
                    <a:pos x="0" y="39511703"/>
                  </a:cxn>
                  <a:cxn ang="0">
                    <a:pos x="0" y="39511703"/>
                  </a:cxn>
                  <a:cxn ang="0">
                    <a:pos x="0" y="39511703"/>
                  </a:cxn>
                </a:cxnLst>
                <a:rect l="txL" t="txT" r="txR" b="txB"/>
                <a:pathLst>
                  <a:path w="42" h="24">
                    <a:moveTo>
                      <a:pt x="0" y="24"/>
                    </a:moveTo>
                    <a:lnTo>
                      <a:pt x="42"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10" name="Freeform 22"/>
              <p:cNvSpPr>
                <a:spLocks noEditPoints="1"/>
              </p:cNvSpPr>
              <p:nvPr/>
            </p:nvSpPr>
            <p:spPr>
              <a:xfrm>
                <a:off x="3085" y="1693"/>
                <a:ext cx="71" cy="40"/>
              </a:xfrm>
              <a:custGeom>
                <a:avLst/>
                <a:gdLst>
                  <a:gd name="txL" fmla="*/ 0 w 42"/>
                  <a:gd name="txT" fmla="*/ 0 h 24"/>
                  <a:gd name="txR" fmla="*/ 42 w 42"/>
                  <a:gd name="txB" fmla="*/ 24 h 24"/>
                </a:gdLst>
                <a:ahLst/>
                <a:cxnLst>
                  <a:cxn ang="0">
                    <a:pos x="101737945" y="39511703"/>
                  </a:cxn>
                  <a:cxn ang="0">
                    <a:pos x="0" y="0"/>
                  </a:cxn>
                  <a:cxn ang="0">
                    <a:pos x="101737945" y="39511703"/>
                  </a:cxn>
                  <a:cxn ang="0">
                    <a:pos x="101737945" y="39511703"/>
                  </a:cxn>
                  <a:cxn ang="0">
                    <a:pos x="101737945" y="39511703"/>
                  </a:cxn>
                  <a:cxn ang="0">
                    <a:pos x="101737945" y="39511703"/>
                  </a:cxn>
                  <a:cxn ang="0">
                    <a:pos x="101737945" y="39511703"/>
                  </a:cxn>
                </a:cxnLst>
                <a:rect l="txL" t="txT" r="txR" b="txB"/>
                <a:pathLst>
                  <a:path w="42" h="24">
                    <a:moveTo>
                      <a:pt x="42" y="24"/>
                    </a:moveTo>
                    <a:lnTo>
                      <a:pt x="0" y="0"/>
                    </a:lnTo>
                    <a:lnTo>
                      <a:pt x="42" y="24"/>
                    </a:lnTo>
                    <a:close/>
                    <a:moveTo>
                      <a:pt x="42" y="24"/>
                    </a:moveTo>
                    <a:lnTo>
                      <a:pt x="4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11" name="Freeform 23"/>
              <p:cNvSpPr>
                <a:spLocks noEditPoints="1"/>
              </p:cNvSpPr>
              <p:nvPr/>
            </p:nvSpPr>
            <p:spPr>
              <a:xfrm>
                <a:off x="3003" y="1653"/>
                <a:ext cx="82" cy="40"/>
              </a:xfrm>
              <a:custGeom>
                <a:avLst/>
                <a:gdLst>
                  <a:gd name="txL" fmla="*/ 0 w 48"/>
                  <a:gd name="txT" fmla="*/ 0 h 24"/>
                  <a:gd name="txR" fmla="*/ 48 w 48"/>
                  <a:gd name="txB" fmla="*/ 24 h 24"/>
                </a:gdLst>
                <a:ahLst/>
                <a:cxnLst>
                  <a:cxn ang="0">
                    <a:pos x="155781089" y="39511703"/>
                  </a:cxn>
                  <a:cxn ang="0">
                    <a:pos x="0" y="0"/>
                  </a:cxn>
                  <a:cxn ang="0">
                    <a:pos x="155781089" y="39511703"/>
                  </a:cxn>
                  <a:cxn ang="0">
                    <a:pos x="155781089" y="39511703"/>
                  </a:cxn>
                  <a:cxn ang="0">
                    <a:pos x="155781089" y="39511703"/>
                  </a:cxn>
                  <a:cxn ang="0">
                    <a:pos x="155781089" y="39511703"/>
                  </a:cxn>
                  <a:cxn ang="0">
                    <a:pos x="155781089" y="39511703"/>
                  </a:cxn>
                </a:cxnLst>
                <a:rect l="txL" t="txT" r="txR" b="txB"/>
                <a:pathLst>
                  <a:path w="48" h="24">
                    <a:moveTo>
                      <a:pt x="48" y="24"/>
                    </a:moveTo>
                    <a:lnTo>
                      <a:pt x="0" y="0"/>
                    </a:lnTo>
                    <a:lnTo>
                      <a:pt x="48" y="24"/>
                    </a:lnTo>
                    <a:close/>
                    <a:moveTo>
                      <a:pt x="48" y="24"/>
                    </a:moveTo>
                    <a:lnTo>
                      <a:pt x="48"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12" name="Freeform 24"/>
              <p:cNvSpPr>
                <a:spLocks noEditPoints="1"/>
              </p:cNvSpPr>
              <p:nvPr/>
            </p:nvSpPr>
            <p:spPr>
              <a:xfrm>
                <a:off x="3003" y="1612"/>
                <a:ext cx="82" cy="41"/>
              </a:xfrm>
              <a:custGeom>
                <a:avLst/>
                <a:gdLst>
                  <a:gd name="txL" fmla="*/ 0 w 48"/>
                  <a:gd name="txT" fmla="*/ 0 h 24"/>
                  <a:gd name="txR" fmla="*/ 48 w 48"/>
                  <a:gd name="txB" fmla="*/ 24 h 24"/>
                </a:gdLst>
                <a:ahLst/>
                <a:cxnLst>
                  <a:cxn ang="0">
                    <a:pos x="0" y="78262881"/>
                  </a:cxn>
                  <a:cxn ang="0">
                    <a:pos x="155781089" y="0"/>
                  </a:cxn>
                  <a:cxn ang="0">
                    <a:pos x="0" y="78262881"/>
                  </a:cxn>
                  <a:cxn ang="0">
                    <a:pos x="0" y="78262881"/>
                  </a:cxn>
                  <a:cxn ang="0">
                    <a:pos x="0" y="78262881"/>
                  </a:cxn>
                  <a:cxn ang="0">
                    <a:pos x="0" y="78262881"/>
                  </a:cxn>
                  <a:cxn ang="0">
                    <a:pos x="0" y="78262881"/>
                  </a:cxn>
                </a:cxnLst>
                <a:rect l="txL" t="txT" r="txR" b="txB"/>
                <a:pathLst>
                  <a:path w="48" h="24">
                    <a:moveTo>
                      <a:pt x="0" y="24"/>
                    </a:moveTo>
                    <a:lnTo>
                      <a:pt x="48"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13" name="Freeform 25"/>
              <p:cNvSpPr>
                <a:spLocks noEditPoints="1"/>
              </p:cNvSpPr>
              <p:nvPr/>
            </p:nvSpPr>
            <p:spPr>
              <a:xfrm>
                <a:off x="3085" y="1562"/>
                <a:ext cx="71" cy="50"/>
              </a:xfrm>
              <a:custGeom>
                <a:avLst/>
                <a:gdLst>
                  <a:gd name="txL" fmla="*/ 0 w 42"/>
                  <a:gd name="txT" fmla="*/ 0 h 30"/>
                  <a:gd name="txR" fmla="*/ 42 w 42"/>
                  <a:gd name="txB" fmla="*/ 30 h 30"/>
                </a:gdLst>
                <a:ahLst/>
                <a:cxnLst>
                  <a:cxn ang="0">
                    <a:pos x="0" y="48463758"/>
                  </a:cxn>
                  <a:cxn ang="0">
                    <a:pos x="101737945" y="0"/>
                  </a:cxn>
                  <a:cxn ang="0">
                    <a:pos x="0" y="48463758"/>
                  </a:cxn>
                  <a:cxn ang="0">
                    <a:pos x="0" y="48463758"/>
                  </a:cxn>
                  <a:cxn ang="0">
                    <a:pos x="0" y="48463758"/>
                  </a:cxn>
                  <a:cxn ang="0">
                    <a:pos x="0" y="48463758"/>
                  </a:cxn>
                  <a:cxn ang="0">
                    <a:pos x="0" y="48463758"/>
                  </a:cxn>
                </a:cxnLst>
                <a:rect l="txL" t="txT" r="txR" b="txB"/>
                <a:pathLst>
                  <a:path w="42" h="30">
                    <a:moveTo>
                      <a:pt x="0" y="30"/>
                    </a:moveTo>
                    <a:lnTo>
                      <a:pt x="42"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14" name="Freeform 26"/>
              <p:cNvSpPr>
                <a:spLocks noEditPoints="1"/>
              </p:cNvSpPr>
              <p:nvPr/>
            </p:nvSpPr>
            <p:spPr>
              <a:xfrm>
                <a:off x="3085" y="1522"/>
                <a:ext cx="71" cy="40"/>
              </a:xfrm>
              <a:custGeom>
                <a:avLst/>
                <a:gdLst>
                  <a:gd name="txL" fmla="*/ 0 w 42"/>
                  <a:gd name="txT" fmla="*/ 0 h 24"/>
                  <a:gd name="txR" fmla="*/ 42 w 42"/>
                  <a:gd name="txB" fmla="*/ 24 h 24"/>
                </a:gdLst>
                <a:ahLst/>
                <a:cxnLst>
                  <a:cxn ang="0">
                    <a:pos x="101737945" y="39511703"/>
                  </a:cxn>
                  <a:cxn ang="0">
                    <a:pos x="0" y="0"/>
                  </a:cxn>
                  <a:cxn ang="0">
                    <a:pos x="101737945" y="39511703"/>
                  </a:cxn>
                  <a:cxn ang="0">
                    <a:pos x="101737945" y="39511703"/>
                  </a:cxn>
                  <a:cxn ang="0">
                    <a:pos x="101737945" y="39511703"/>
                  </a:cxn>
                  <a:cxn ang="0">
                    <a:pos x="101737945" y="39511703"/>
                  </a:cxn>
                  <a:cxn ang="0">
                    <a:pos x="101737945" y="39511703"/>
                  </a:cxn>
                </a:cxnLst>
                <a:rect l="txL" t="txT" r="txR" b="txB"/>
                <a:pathLst>
                  <a:path w="42" h="24">
                    <a:moveTo>
                      <a:pt x="42" y="24"/>
                    </a:moveTo>
                    <a:lnTo>
                      <a:pt x="0" y="0"/>
                    </a:lnTo>
                    <a:lnTo>
                      <a:pt x="42" y="24"/>
                    </a:lnTo>
                    <a:close/>
                    <a:moveTo>
                      <a:pt x="42" y="24"/>
                    </a:moveTo>
                    <a:lnTo>
                      <a:pt x="4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15" name="Freeform 27"/>
              <p:cNvSpPr>
                <a:spLocks noEditPoints="1"/>
              </p:cNvSpPr>
              <p:nvPr/>
            </p:nvSpPr>
            <p:spPr>
              <a:xfrm>
                <a:off x="3003" y="1482"/>
                <a:ext cx="82" cy="40"/>
              </a:xfrm>
              <a:custGeom>
                <a:avLst/>
                <a:gdLst>
                  <a:gd name="txL" fmla="*/ 0 w 48"/>
                  <a:gd name="txT" fmla="*/ 0 h 24"/>
                  <a:gd name="txR" fmla="*/ 48 w 48"/>
                  <a:gd name="txB" fmla="*/ 24 h 24"/>
                </a:gdLst>
                <a:ahLst/>
                <a:cxnLst>
                  <a:cxn ang="0">
                    <a:pos x="155781089" y="39511703"/>
                  </a:cxn>
                  <a:cxn ang="0">
                    <a:pos x="0" y="0"/>
                  </a:cxn>
                  <a:cxn ang="0">
                    <a:pos x="155781089" y="39511703"/>
                  </a:cxn>
                  <a:cxn ang="0">
                    <a:pos x="155781089" y="39511703"/>
                  </a:cxn>
                  <a:cxn ang="0">
                    <a:pos x="155781089" y="39511703"/>
                  </a:cxn>
                  <a:cxn ang="0">
                    <a:pos x="155781089" y="39511703"/>
                  </a:cxn>
                  <a:cxn ang="0">
                    <a:pos x="155781089" y="39511703"/>
                  </a:cxn>
                </a:cxnLst>
                <a:rect l="txL" t="txT" r="txR" b="txB"/>
                <a:pathLst>
                  <a:path w="48" h="24">
                    <a:moveTo>
                      <a:pt x="48" y="24"/>
                    </a:moveTo>
                    <a:lnTo>
                      <a:pt x="0" y="0"/>
                    </a:lnTo>
                    <a:lnTo>
                      <a:pt x="48" y="24"/>
                    </a:lnTo>
                    <a:close/>
                    <a:moveTo>
                      <a:pt x="48" y="24"/>
                    </a:moveTo>
                    <a:lnTo>
                      <a:pt x="48"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16" name="Freeform 28"/>
              <p:cNvSpPr>
                <a:spLocks noEditPoints="1"/>
              </p:cNvSpPr>
              <p:nvPr/>
            </p:nvSpPr>
            <p:spPr>
              <a:xfrm>
                <a:off x="3003" y="1443"/>
                <a:ext cx="82" cy="39"/>
              </a:xfrm>
              <a:custGeom>
                <a:avLst/>
                <a:gdLst>
                  <a:gd name="txL" fmla="*/ 0 w 48"/>
                  <a:gd name="txT" fmla="*/ 0 h 23"/>
                  <a:gd name="txR" fmla="*/ 48 w 48"/>
                  <a:gd name="txB" fmla="*/ 23 h 23"/>
                </a:gdLst>
                <a:ahLst/>
                <a:cxnLst>
                  <a:cxn ang="0">
                    <a:pos x="0" y="60621703"/>
                  </a:cxn>
                  <a:cxn ang="0">
                    <a:pos x="155781089" y="0"/>
                  </a:cxn>
                  <a:cxn ang="0">
                    <a:pos x="0" y="60621703"/>
                  </a:cxn>
                  <a:cxn ang="0">
                    <a:pos x="0" y="60621703"/>
                  </a:cxn>
                  <a:cxn ang="0">
                    <a:pos x="0" y="60621703"/>
                  </a:cxn>
                  <a:cxn ang="0">
                    <a:pos x="0" y="60621703"/>
                  </a:cxn>
                  <a:cxn ang="0">
                    <a:pos x="0" y="60621703"/>
                  </a:cxn>
                </a:cxnLst>
                <a:rect l="txL" t="txT" r="txR" b="txB"/>
                <a:pathLst>
                  <a:path w="48" h="23">
                    <a:moveTo>
                      <a:pt x="0" y="23"/>
                    </a:moveTo>
                    <a:lnTo>
                      <a:pt x="48" y="0"/>
                    </a:lnTo>
                    <a:lnTo>
                      <a:pt x="0" y="23"/>
                    </a:lnTo>
                    <a:close/>
                    <a:moveTo>
                      <a:pt x="0" y="23"/>
                    </a:moveTo>
                    <a:lnTo>
                      <a:pt x="0" y="2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17" name="Freeform 29"/>
              <p:cNvSpPr/>
              <p:nvPr/>
            </p:nvSpPr>
            <p:spPr>
              <a:xfrm>
                <a:off x="4707" y="2181"/>
                <a:ext cx="103" cy="221"/>
              </a:xfrm>
              <a:custGeom>
                <a:avLst/>
                <a:gdLst>
                  <a:gd name="txL" fmla="*/ 0 w 60"/>
                  <a:gd name="txT" fmla="*/ 0 h 132"/>
                  <a:gd name="txR" fmla="*/ 60 w 60"/>
                  <a:gd name="txB" fmla="*/ 132 h 132"/>
                </a:gdLst>
                <a:ahLst/>
                <a:cxnLst>
                  <a:cxn ang="0">
                    <a:pos x="66982069" y="33143956"/>
                  </a:cxn>
                  <a:cxn ang="0">
                    <a:pos x="177922717" y="33143956"/>
                  </a:cxn>
                  <a:cxn ang="0">
                    <a:pos x="202495943" y="33143956"/>
                  </a:cxn>
                  <a:cxn ang="0">
                    <a:pos x="202495943" y="33143956"/>
                  </a:cxn>
                  <a:cxn ang="0">
                    <a:pos x="223889006" y="0"/>
                  </a:cxn>
                  <a:cxn ang="0">
                    <a:pos x="202495943" y="0"/>
                  </a:cxn>
                  <a:cxn ang="0">
                    <a:pos x="202495943" y="11073798"/>
                  </a:cxn>
                  <a:cxn ang="0">
                    <a:pos x="177922717" y="11073798"/>
                  </a:cxn>
                  <a:cxn ang="0">
                    <a:pos x="66982069" y="11073798"/>
                  </a:cxn>
                  <a:cxn ang="0">
                    <a:pos x="21523929" y="88259283"/>
                  </a:cxn>
                  <a:cxn ang="0">
                    <a:pos x="21523929" y="99810709"/>
                  </a:cxn>
                  <a:cxn ang="0">
                    <a:pos x="21523929" y="99810709"/>
                  </a:cxn>
                  <a:cxn ang="0">
                    <a:pos x="66982069" y="99810709"/>
                  </a:cxn>
                  <a:cxn ang="0">
                    <a:pos x="112675183" y="110288960"/>
                  </a:cxn>
                  <a:cxn ang="0">
                    <a:pos x="157001295" y="133997052"/>
                  </a:cxn>
                  <a:cxn ang="0">
                    <a:pos x="177922717" y="167107323"/>
                  </a:cxn>
                  <a:cxn ang="0">
                    <a:pos x="157001295" y="222033846"/>
                  </a:cxn>
                  <a:cxn ang="0">
                    <a:pos x="88507462" y="232823704"/>
                  </a:cxn>
                  <a:cxn ang="0">
                    <a:pos x="66982069" y="222033846"/>
                  </a:cxn>
                  <a:cxn ang="0">
                    <a:pos x="21523929" y="211126264"/>
                  </a:cxn>
                  <a:cxn ang="0">
                    <a:pos x="0" y="222033846"/>
                  </a:cxn>
                  <a:cxn ang="0">
                    <a:pos x="0" y="222033846"/>
                  </a:cxn>
                  <a:cxn ang="0">
                    <a:pos x="21523929" y="232823704"/>
                  </a:cxn>
                  <a:cxn ang="0">
                    <a:pos x="66982069" y="243897103"/>
                  </a:cxn>
                  <a:cxn ang="0">
                    <a:pos x="133912135" y="243897103"/>
                  </a:cxn>
                  <a:cxn ang="0">
                    <a:pos x="177922717" y="222033846"/>
                  </a:cxn>
                  <a:cxn ang="0">
                    <a:pos x="202495943" y="167107323"/>
                  </a:cxn>
                  <a:cxn ang="0">
                    <a:pos x="202495943" y="133997052"/>
                  </a:cxn>
                  <a:cxn ang="0">
                    <a:pos x="177922717" y="99810709"/>
                  </a:cxn>
                  <a:cxn ang="0">
                    <a:pos x="112675183" y="77181173"/>
                  </a:cxn>
                  <a:cxn ang="0">
                    <a:pos x="45441011" y="65873949"/>
                  </a:cxn>
                  <a:cxn ang="0">
                    <a:pos x="66982069" y="33143956"/>
                  </a:cxn>
                </a:cxnLst>
                <a:rect l="txL" t="txT" r="txR" b="txB"/>
                <a:pathLst>
                  <a:path w="60" h="132">
                    <a:moveTo>
                      <a:pt x="18" y="18"/>
                    </a:moveTo>
                    <a:lnTo>
                      <a:pt x="48" y="18"/>
                    </a:lnTo>
                    <a:lnTo>
                      <a:pt x="54" y="18"/>
                    </a:lnTo>
                    <a:lnTo>
                      <a:pt x="60" y="0"/>
                    </a:lnTo>
                    <a:lnTo>
                      <a:pt x="54" y="0"/>
                    </a:lnTo>
                    <a:lnTo>
                      <a:pt x="54" y="6"/>
                    </a:lnTo>
                    <a:lnTo>
                      <a:pt x="48" y="6"/>
                    </a:lnTo>
                    <a:lnTo>
                      <a:pt x="18" y="6"/>
                    </a:lnTo>
                    <a:lnTo>
                      <a:pt x="6" y="48"/>
                    </a:lnTo>
                    <a:lnTo>
                      <a:pt x="6" y="54"/>
                    </a:lnTo>
                    <a:lnTo>
                      <a:pt x="18" y="54"/>
                    </a:lnTo>
                    <a:lnTo>
                      <a:pt x="30" y="60"/>
                    </a:lnTo>
                    <a:lnTo>
                      <a:pt x="42" y="72"/>
                    </a:lnTo>
                    <a:lnTo>
                      <a:pt x="48" y="90"/>
                    </a:lnTo>
                    <a:lnTo>
                      <a:pt x="42" y="120"/>
                    </a:lnTo>
                    <a:lnTo>
                      <a:pt x="24" y="126"/>
                    </a:lnTo>
                    <a:lnTo>
                      <a:pt x="18" y="120"/>
                    </a:lnTo>
                    <a:lnTo>
                      <a:pt x="6" y="114"/>
                    </a:lnTo>
                    <a:lnTo>
                      <a:pt x="0" y="120"/>
                    </a:lnTo>
                    <a:lnTo>
                      <a:pt x="6" y="126"/>
                    </a:lnTo>
                    <a:lnTo>
                      <a:pt x="18" y="132"/>
                    </a:lnTo>
                    <a:lnTo>
                      <a:pt x="36" y="132"/>
                    </a:lnTo>
                    <a:lnTo>
                      <a:pt x="48" y="120"/>
                    </a:lnTo>
                    <a:lnTo>
                      <a:pt x="54" y="90"/>
                    </a:lnTo>
                    <a:lnTo>
                      <a:pt x="54" y="72"/>
                    </a:lnTo>
                    <a:lnTo>
                      <a:pt x="48" y="54"/>
                    </a:lnTo>
                    <a:lnTo>
                      <a:pt x="30" y="42"/>
                    </a:lnTo>
                    <a:lnTo>
                      <a:pt x="12" y="36"/>
                    </a:lnTo>
                    <a:lnTo>
                      <a:pt x="18" y="1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18" name="Freeform 30"/>
              <p:cNvSpPr/>
              <p:nvPr/>
            </p:nvSpPr>
            <p:spPr>
              <a:xfrm>
                <a:off x="4890" y="2181"/>
                <a:ext cx="174" cy="221"/>
              </a:xfrm>
              <a:custGeom>
                <a:avLst/>
                <a:gdLst>
                  <a:gd name="txL" fmla="*/ 0 w 102"/>
                  <a:gd name="txT" fmla="*/ 0 h 132"/>
                  <a:gd name="txR" fmla="*/ 102 w 102"/>
                  <a:gd name="txB" fmla="*/ 132 h 132"/>
                </a:gdLst>
                <a:ahLst/>
                <a:cxnLst>
                  <a:cxn ang="0">
                    <a:pos x="132084678" y="188786725"/>
                  </a:cxn>
                  <a:cxn ang="0">
                    <a:pos x="111352156" y="178039904"/>
                  </a:cxn>
                  <a:cxn ang="0">
                    <a:pos x="93026255" y="167107323"/>
                  </a:cxn>
                  <a:cxn ang="0">
                    <a:pos x="74718101" y="144446462"/>
                  </a:cxn>
                  <a:cxn ang="0">
                    <a:pos x="56920789" y="122545071"/>
                  </a:cxn>
                  <a:cxn ang="0">
                    <a:pos x="56920789" y="88259283"/>
                  </a:cxn>
                  <a:cxn ang="0">
                    <a:pos x="74718101" y="55491017"/>
                  </a:cxn>
                  <a:cxn ang="0">
                    <a:pos x="93026255" y="21645544"/>
                  </a:cxn>
                  <a:cxn ang="0">
                    <a:pos x="132084678" y="11073798"/>
                  </a:cxn>
                  <a:cxn ang="0">
                    <a:pos x="168720410" y="11073798"/>
                  </a:cxn>
                  <a:cxn ang="0">
                    <a:pos x="206985299" y="11073798"/>
                  </a:cxn>
                  <a:cxn ang="0">
                    <a:pos x="225320921" y="21645544"/>
                  </a:cxn>
                  <a:cxn ang="0">
                    <a:pos x="243441471" y="55491017"/>
                  </a:cxn>
                  <a:cxn ang="0">
                    <a:pos x="261830456" y="88259283"/>
                  </a:cxn>
                  <a:cxn ang="0">
                    <a:pos x="261830456" y="122545071"/>
                  </a:cxn>
                  <a:cxn ang="0">
                    <a:pos x="243441471" y="144446462"/>
                  </a:cxn>
                  <a:cxn ang="0">
                    <a:pos x="225320921" y="167107323"/>
                  </a:cxn>
                  <a:cxn ang="0">
                    <a:pos x="225320921" y="178039904"/>
                  </a:cxn>
                  <a:cxn ang="0">
                    <a:pos x="187053770" y="188786725"/>
                  </a:cxn>
                  <a:cxn ang="0">
                    <a:pos x="187053770" y="243897103"/>
                  </a:cxn>
                  <a:cxn ang="0">
                    <a:pos x="319091725" y="243897103"/>
                  </a:cxn>
                  <a:cxn ang="0">
                    <a:pos x="319091725" y="188786725"/>
                  </a:cxn>
                  <a:cxn ang="0">
                    <a:pos x="319091725" y="188786725"/>
                  </a:cxn>
                  <a:cxn ang="0">
                    <a:pos x="300499614" y="199736038"/>
                  </a:cxn>
                  <a:cxn ang="0">
                    <a:pos x="282564852" y="199736038"/>
                  </a:cxn>
                  <a:cxn ang="0">
                    <a:pos x="206985299" y="199736038"/>
                  </a:cxn>
                  <a:cxn ang="0">
                    <a:pos x="206985299" y="199736038"/>
                  </a:cxn>
                  <a:cxn ang="0">
                    <a:pos x="261830456" y="178039904"/>
                  </a:cxn>
                  <a:cxn ang="0">
                    <a:pos x="300499614" y="155546187"/>
                  </a:cxn>
                  <a:cxn ang="0">
                    <a:pos x="319091725" y="99810709"/>
                  </a:cxn>
                  <a:cxn ang="0">
                    <a:pos x="300499614" y="55491017"/>
                  </a:cxn>
                  <a:cxn ang="0">
                    <a:pos x="282564852" y="33143956"/>
                  </a:cxn>
                  <a:cxn ang="0">
                    <a:pos x="282564852" y="21645544"/>
                  </a:cxn>
                  <a:cxn ang="0">
                    <a:pos x="243441471" y="11073798"/>
                  </a:cxn>
                  <a:cxn ang="0">
                    <a:pos x="206985299" y="0"/>
                  </a:cxn>
                  <a:cxn ang="0">
                    <a:pos x="168720410" y="0"/>
                  </a:cxn>
                  <a:cxn ang="0">
                    <a:pos x="111352156" y="0"/>
                  </a:cxn>
                  <a:cxn ang="0">
                    <a:pos x="74718101" y="11073798"/>
                  </a:cxn>
                  <a:cxn ang="0">
                    <a:pos x="56920789" y="21645544"/>
                  </a:cxn>
                  <a:cxn ang="0">
                    <a:pos x="36501676" y="33143956"/>
                  </a:cxn>
                  <a:cxn ang="0">
                    <a:pos x="18124865" y="55491017"/>
                  </a:cxn>
                  <a:cxn ang="0">
                    <a:pos x="0" y="99810709"/>
                  </a:cxn>
                  <a:cxn ang="0">
                    <a:pos x="36501676" y="155546187"/>
                  </a:cxn>
                  <a:cxn ang="0">
                    <a:pos x="74718101" y="178039904"/>
                  </a:cxn>
                  <a:cxn ang="0">
                    <a:pos x="111352156" y="199736038"/>
                  </a:cxn>
                  <a:cxn ang="0">
                    <a:pos x="111352156" y="199736038"/>
                  </a:cxn>
                  <a:cxn ang="0">
                    <a:pos x="36501676" y="199736038"/>
                  </a:cxn>
                  <a:cxn ang="0">
                    <a:pos x="18124865" y="199736038"/>
                  </a:cxn>
                  <a:cxn ang="0">
                    <a:pos x="0" y="188786725"/>
                  </a:cxn>
                  <a:cxn ang="0">
                    <a:pos x="0" y="188786725"/>
                  </a:cxn>
                  <a:cxn ang="0">
                    <a:pos x="0" y="243897103"/>
                  </a:cxn>
                  <a:cxn ang="0">
                    <a:pos x="132084678" y="243897103"/>
                  </a:cxn>
                  <a:cxn ang="0">
                    <a:pos x="132084678" y="188786725"/>
                  </a:cxn>
                </a:cxnLst>
                <a:rect l="txL" t="txT" r="txR" b="txB"/>
                <a:pathLst>
                  <a:path w="102" h="132">
                    <a:moveTo>
                      <a:pt x="42" y="102"/>
                    </a:moveTo>
                    <a:lnTo>
                      <a:pt x="36" y="96"/>
                    </a:lnTo>
                    <a:lnTo>
                      <a:pt x="30" y="90"/>
                    </a:lnTo>
                    <a:lnTo>
                      <a:pt x="24" y="78"/>
                    </a:lnTo>
                    <a:lnTo>
                      <a:pt x="18" y="66"/>
                    </a:lnTo>
                    <a:lnTo>
                      <a:pt x="18" y="48"/>
                    </a:lnTo>
                    <a:lnTo>
                      <a:pt x="24" y="30"/>
                    </a:lnTo>
                    <a:lnTo>
                      <a:pt x="30" y="12"/>
                    </a:lnTo>
                    <a:lnTo>
                      <a:pt x="42" y="6"/>
                    </a:lnTo>
                    <a:lnTo>
                      <a:pt x="54" y="6"/>
                    </a:lnTo>
                    <a:lnTo>
                      <a:pt x="66" y="6"/>
                    </a:lnTo>
                    <a:lnTo>
                      <a:pt x="72" y="12"/>
                    </a:lnTo>
                    <a:lnTo>
                      <a:pt x="78" y="30"/>
                    </a:lnTo>
                    <a:lnTo>
                      <a:pt x="84" y="48"/>
                    </a:lnTo>
                    <a:lnTo>
                      <a:pt x="84" y="66"/>
                    </a:lnTo>
                    <a:lnTo>
                      <a:pt x="78" y="78"/>
                    </a:lnTo>
                    <a:lnTo>
                      <a:pt x="72" y="90"/>
                    </a:lnTo>
                    <a:lnTo>
                      <a:pt x="72" y="96"/>
                    </a:lnTo>
                    <a:lnTo>
                      <a:pt x="60" y="102"/>
                    </a:lnTo>
                    <a:lnTo>
                      <a:pt x="60" y="132"/>
                    </a:lnTo>
                    <a:lnTo>
                      <a:pt x="102" y="132"/>
                    </a:lnTo>
                    <a:lnTo>
                      <a:pt x="102" y="102"/>
                    </a:lnTo>
                    <a:lnTo>
                      <a:pt x="96" y="108"/>
                    </a:lnTo>
                    <a:lnTo>
                      <a:pt x="90" y="108"/>
                    </a:lnTo>
                    <a:lnTo>
                      <a:pt x="66" y="108"/>
                    </a:lnTo>
                    <a:lnTo>
                      <a:pt x="84" y="96"/>
                    </a:lnTo>
                    <a:lnTo>
                      <a:pt x="96" y="84"/>
                    </a:lnTo>
                    <a:lnTo>
                      <a:pt x="102" y="54"/>
                    </a:lnTo>
                    <a:lnTo>
                      <a:pt x="96" y="30"/>
                    </a:lnTo>
                    <a:lnTo>
                      <a:pt x="90" y="18"/>
                    </a:lnTo>
                    <a:lnTo>
                      <a:pt x="90" y="12"/>
                    </a:lnTo>
                    <a:lnTo>
                      <a:pt x="78" y="6"/>
                    </a:lnTo>
                    <a:lnTo>
                      <a:pt x="66" y="0"/>
                    </a:lnTo>
                    <a:lnTo>
                      <a:pt x="54" y="0"/>
                    </a:lnTo>
                    <a:lnTo>
                      <a:pt x="36" y="0"/>
                    </a:lnTo>
                    <a:lnTo>
                      <a:pt x="24" y="6"/>
                    </a:lnTo>
                    <a:lnTo>
                      <a:pt x="18" y="12"/>
                    </a:lnTo>
                    <a:lnTo>
                      <a:pt x="12" y="18"/>
                    </a:lnTo>
                    <a:lnTo>
                      <a:pt x="6" y="30"/>
                    </a:lnTo>
                    <a:lnTo>
                      <a:pt x="0" y="54"/>
                    </a:lnTo>
                    <a:lnTo>
                      <a:pt x="12" y="84"/>
                    </a:lnTo>
                    <a:lnTo>
                      <a:pt x="24" y="96"/>
                    </a:lnTo>
                    <a:lnTo>
                      <a:pt x="36" y="108"/>
                    </a:lnTo>
                    <a:lnTo>
                      <a:pt x="12" y="108"/>
                    </a:lnTo>
                    <a:lnTo>
                      <a:pt x="6" y="108"/>
                    </a:lnTo>
                    <a:lnTo>
                      <a:pt x="0" y="102"/>
                    </a:lnTo>
                    <a:lnTo>
                      <a:pt x="0" y="132"/>
                    </a:lnTo>
                    <a:lnTo>
                      <a:pt x="42" y="132"/>
                    </a:lnTo>
                    <a:lnTo>
                      <a:pt x="42" y="10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19" name="Freeform 31"/>
              <p:cNvSpPr/>
              <p:nvPr/>
            </p:nvSpPr>
            <p:spPr>
              <a:xfrm>
                <a:off x="4523" y="1962"/>
                <a:ext cx="62" cy="649"/>
              </a:xfrm>
              <a:custGeom>
                <a:avLst/>
                <a:gdLst>
                  <a:gd name="txL" fmla="*/ 0 w 36"/>
                  <a:gd name="txT" fmla="*/ 0 h 388"/>
                  <a:gd name="txR" fmla="*/ 36 w 36"/>
                  <a:gd name="txB" fmla="*/ 388 h 388"/>
                </a:gdLst>
                <a:ahLst/>
                <a:cxnLst>
                  <a:cxn ang="0">
                    <a:pos x="146934375" y="0"/>
                  </a:cxn>
                  <a:cxn ang="0">
                    <a:pos x="0" y="0"/>
                  </a:cxn>
                  <a:cxn ang="0">
                    <a:pos x="0" y="699199491"/>
                  </a:cxn>
                  <a:cxn ang="0">
                    <a:pos x="146934375" y="699199491"/>
                  </a:cxn>
                  <a:cxn ang="0">
                    <a:pos x="146934375" y="0"/>
                  </a:cxn>
                  <a:cxn ang="0">
                    <a:pos x="146934375" y="0"/>
                  </a:cxn>
                </a:cxnLst>
                <a:rect l="txL" t="txT" r="txR" b="txB"/>
                <a:pathLst>
                  <a:path w="36" h="388">
                    <a:moveTo>
                      <a:pt x="36" y="0"/>
                    </a:moveTo>
                    <a:lnTo>
                      <a:pt x="0" y="0"/>
                    </a:lnTo>
                    <a:lnTo>
                      <a:pt x="0" y="388"/>
                    </a:lnTo>
                    <a:lnTo>
                      <a:pt x="36" y="388"/>
                    </a:lnTo>
                    <a:lnTo>
                      <a:pt x="36" y="0"/>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46120" name="Freeform 32"/>
              <p:cNvSpPr/>
              <p:nvPr/>
            </p:nvSpPr>
            <p:spPr>
              <a:xfrm>
                <a:off x="4554" y="2571"/>
                <a:ext cx="71" cy="40"/>
              </a:xfrm>
              <a:custGeom>
                <a:avLst/>
                <a:gdLst>
                  <a:gd name="txL" fmla="*/ 0 w 42"/>
                  <a:gd name="txT" fmla="*/ 0 h 24"/>
                  <a:gd name="txR" fmla="*/ 42 w 42"/>
                  <a:gd name="txB" fmla="*/ 24 h 24"/>
                </a:gdLst>
                <a:ahLst/>
                <a:cxnLst>
                  <a:cxn ang="0">
                    <a:pos x="0" y="39511703"/>
                  </a:cxn>
                  <a:cxn ang="0">
                    <a:pos x="101737945" y="0"/>
                  </a:cxn>
                  <a:cxn ang="0">
                    <a:pos x="0" y="39511703"/>
                  </a:cxn>
                  <a:cxn ang="0">
                    <a:pos x="0" y="39511703"/>
                  </a:cxn>
                </a:cxnLst>
                <a:rect l="txL" t="txT" r="txR" b="txB"/>
                <a:pathLst>
                  <a:path w="42" h="24">
                    <a:moveTo>
                      <a:pt x="0" y="24"/>
                    </a:moveTo>
                    <a:lnTo>
                      <a:pt x="42" y="0"/>
                    </a:ln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21" name="Freeform 33"/>
              <p:cNvSpPr>
                <a:spLocks noEditPoints="1"/>
              </p:cNvSpPr>
              <p:nvPr/>
            </p:nvSpPr>
            <p:spPr>
              <a:xfrm>
                <a:off x="4554" y="2531"/>
                <a:ext cx="71" cy="40"/>
              </a:xfrm>
              <a:custGeom>
                <a:avLst/>
                <a:gdLst>
                  <a:gd name="txL" fmla="*/ 0 w 42"/>
                  <a:gd name="txT" fmla="*/ 0 h 24"/>
                  <a:gd name="txR" fmla="*/ 42 w 42"/>
                  <a:gd name="txB" fmla="*/ 24 h 24"/>
                </a:gdLst>
                <a:ahLst/>
                <a:cxnLst>
                  <a:cxn ang="0">
                    <a:pos x="101737945" y="39511703"/>
                  </a:cxn>
                  <a:cxn ang="0">
                    <a:pos x="0" y="0"/>
                  </a:cxn>
                  <a:cxn ang="0">
                    <a:pos x="101737945" y="39511703"/>
                  </a:cxn>
                  <a:cxn ang="0">
                    <a:pos x="101737945" y="39511703"/>
                  </a:cxn>
                  <a:cxn ang="0">
                    <a:pos x="101737945" y="39511703"/>
                  </a:cxn>
                  <a:cxn ang="0">
                    <a:pos x="101737945" y="39511703"/>
                  </a:cxn>
                  <a:cxn ang="0">
                    <a:pos x="101737945" y="39511703"/>
                  </a:cxn>
                </a:cxnLst>
                <a:rect l="txL" t="txT" r="txR" b="txB"/>
                <a:pathLst>
                  <a:path w="42" h="24">
                    <a:moveTo>
                      <a:pt x="42" y="24"/>
                    </a:moveTo>
                    <a:lnTo>
                      <a:pt x="0" y="0"/>
                    </a:lnTo>
                    <a:lnTo>
                      <a:pt x="42" y="24"/>
                    </a:lnTo>
                    <a:close/>
                    <a:moveTo>
                      <a:pt x="42" y="24"/>
                    </a:moveTo>
                    <a:lnTo>
                      <a:pt x="4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22" name="Freeform 34"/>
              <p:cNvSpPr>
                <a:spLocks noEditPoints="1"/>
              </p:cNvSpPr>
              <p:nvPr/>
            </p:nvSpPr>
            <p:spPr>
              <a:xfrm>
                <a:off x="4472" y="2492"/>
                <a:ext cx="82" cy="39"/>
              </a:xfrm>
              <a:custGeom>
                <a:avLst/>
                <a:gdLst>
                  <a:gd name="txL" fmla="*/ 0 w 48"/>
                  <a:gd name="txT" fmla="*/ 0 h 23"/>
                  <a:gd name="txR" fmla="*/ 48 w 48"/>
                  <a:gd name="txB" fmla="*/ 23 h 23"/>
                </a:gdLst>
                <a:ahLst/>
                <a:cxnLst>
                  <a:cxn ang="0">
                    <a:pos x="155781089" y="60621703"/>
                  </a:cxn>
                  <a:cxn ang="0">
                    <a:pos x="0" y="0"/>
                  </a:cxn>
                  <a:cxn ang="0">
                    <a:pos x="155781089" y="60621703"/>
                  </a:cxn>
                  <a:cxn ang="0">
                    <a:pos x="155781089" y="60621703"/>
                  </a:cxn>
                  <a:cxn ang="0">
                    <a:pos x="155781089" y="60621703"/>
                  </a:cxn>
                  <a:cxn ang="0">
                    <a:pos x="155781089" y="60621703"/>
                  </a:cxn>
                  <a:cxn ang="0">
                    <a:pos x="155781089" y="60621703"/>
                  </a:cxn>
                </a:cxnLst>
                <a:rect l="txL" t="txT" r="txR" b="txB"/>
                <a:pathLst>
                  <a:path w="48" h="23">
                    <a:moveTo>
                      <a:pt x="48" y="23"/>
                    </a:moveTo>
                    <a:lnTo>
                      <a:pt x="0" y="0"/>
                    </a:lnTo>
                    <a:lnTo>
                      <a:pt x="48" y="23"/>
                    </a:lnTo>
                    <a:close/>
                    <a:moveTo>
                      <a:pt x="48" y="23"/>
                    </a:moveTo>
                    <a:lnTo>
                      <a:pt x="48" y="2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23" name="Freeform 35"/>
              <p:cNvSpPr>
                <a:spLocks noEditPoints="1"/>
              </p:cNvSpPr>
              <p:nvPr/>
            </p:nvSpPr>
            <p:spPr>
              <a:xfrm>
                <a:off x="4472" y="2452"/>
                <a:ext cx="82" cy="40"/>
              </a:xfrm>
              <a:custGeom>
                <a:avLst/>
                <a:gdLst>
                  <a:gd name="txL" fmla="*/ 0 w 48"/>
                  <a:gd name="txT" fmla="*/ 0 h 24"/>
                  <a:gd name="txR" fmla="*/ 48 w 48"/>
                  <a:gd name="txB" fmla="*/ 24 h 24"/>
                </a:gdLst>
                <a:ahLst/>
                <a:cxnLst>
                  <a:cxn ang="0">
                    <a:pos x="0" y="39511703"/>
                  </a:cxn>
                  <a:cxn ang="0">
                    <a:pos x="155781089" y="0"/>
                  </a:cxn>
                  <a:cxn ang="0">
                    <a:pos x="0" y="39511703"/>
                  </a:cxn>
                  <a:cxn ang="0">
                    <a:pos x="0" y="39511703"/>
                  </a:cxn>
                  <a:cxn ang="0">
                    <a:pos x="0" y="39511703"/>
                  </a:cxn>
                  <a:cxn ang="0">
                    <a:pos x="0" y="39511703"/>
                  </a:cxn>
                  <a:cxn ang="0">
                    <a:pos x="0" y="39511703"/>
                  </a:cxn>
                </a:cxnLst>
                <a:rect l="txL" t="txT" r="txR" b="txB"/>
                <a:pathLst>
                  <a:path w="48" h="24">
                    <a:moveTo>
                      <a:pt x="0" y="24"/>
                    </a:moveTo>
                    <a:lnTo>
                      <a:pt x="48"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24" name="Freeform 36"/>
              <p:cNvSpPr>
                <a:spLocks noEditPoints="1"/>
              </p:cNvSpPr>
              <p:nvPr/>
            </p:nvSpPr>
            <p:spPr>
              <a:xfrm>
                <a:off x="4554" y="2452"/>
                <a:ext cx="2" cy="2"/>
              </a:xfrm>
              <a:custGeom>
                <a:avLst/>
                <a:gdLst>
                  <a:gd name="txL" fmla="*/ 0 w 2"/>
                  <a:gd name="txT" fmla="*/ 0 h 2"/>
                  <a:gd name="txR" fmla="*/ 2 w 2"/>
                  <a:gd name="txB" fmla="*/ 2 h 2"/>
                </a:gdLst>
                <a:ahLst/>
                <a:cxnLst>
                  <a:cxn ang="0">
                    <a:pos x="0" y="0"/>
                  </a:cxn>
                  <a:cxn ang="0">
                    <a:pos x="0" y="0"/>
                  </a:cxn>
                  <a:cxn ang="0">
                    <a:pos x="0" y="0"/>
                  </a:cxn>
                  <a:cxn ang="0">
                    <a:pos x="0" y="0"/>
                  </a:cxn>
                  <a:cxn ang="0">
                    <a:pos x="0" y="0"/>
                  </a:cxn>
                  <a:cxn ang="0">
                    <a:pos x="0" y="0"/>
                  </a:cxn>
                  <a:cxn ang="0">
                    <a:pos x="0" y="0"/>
                  </a:cxn>
                </a:cxnLst>
                <a:rect l="txL" t="txT" r="txR" b="txB"/>
                <a:pathLst>
                  <a:path w="2" h="2">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25" name="Freeform 37"/>
              <p:cNvSpPr>
                <a:spLocks noEditPoints="1"/>
              </p:cNvSpPr>
              <p:nvPr/>
            </p:nvSpPr>
            <p:spPr>
              <a:xfrm>
                <a:off x="4554" y="2412"/>
                <a:ext cx="71" cy="40"/>
              </a:xfrm>
              <a:custGeom>
                <a:avLst/>
                <a:gdLst>
                  <a:gd name="txL" fmla="*/ 0 w 42"/>
                  <a:gd name="txT" fmla="*/ 0 h 24"/>
                  <a:gd name="txR" fmla="*/ 42 w 42"/>
                  <a:gd name="txB" fmla="*/ 24 h 24"/>
                </a:gdLst>
                <a:ahLst/>
                <a:cxnLst>
                  <a:cxn ang="0">
                    <a:pos x="0" y="39511703"/>
                  </a:cxn>
                  <a:cxn ang="0">
                    <a:pos x="101737945" y="0"/>
                  </a:cxn>
                  <a:cxn ang="0">
                    <a:pos x="0" y="39511703"/>
                  </a:cxn>
                  <a:cxn ang="0">
                    <a:pos x="0" y="39511703"/>
                  </a:cxn>
                  <a:cxn ang="0">
                    <a:pos x="0" y="39511703"/>
                  </a:cxn>
                  <a:cxn ang="0">
                    <a:pos x="0" y="39511703"/>
                  </a:cxn>
                  <a:cxn ang="0">
                    <a:pos x="0" y="39511703"/>
                  </a:cxn>
                </a:cxnLst>
                <a:rect l="txL" t="txT" r="txR" b="txB"/>
                <a:pathLst>
                  <a:path w="42" h="24">
                    <a:moveTo>
                      <a:pt x="0" y="24"/>
                    </a:moveTo>
                    <a:lnTo>
                      <a:pt x="42"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26" name="Freeform 38"/>
              <p:cNvSpPr>
                <a:spLocks noEditPoints="1"/>
              </p:cNvSpPr>
              <p:nvPr/>
            </p:nvSpPr>
            <p:spPr>
              <a:xfrm>
                <a:off x="4554" y="2372"/>
                <a:ext cx="71" cy="40"/>
              </a:xfrm>
              <a:custGeom>
                <a:avLst/>
                <a:gdLst>
                  <a:gd name="txL" fmla="*/ 0 w 42"/>
                  <a:gd name="txT" fmla="*/ 0 h 24"/>
                  <a:gd name="txR" fmla="*/ 42 w 42"/>
                  <a:gd name="txB" fmla="*/ 24 h 24"/>
                </a:gdLst>
                <a:ahLst/>
                <a:cxnLst>
                  <a:cxn ang="0">
                    <a:pos x="101737945" y="39511703"/>
                  </a:cxn>
                  <a:cxn ang="0">
                    <a:pos x="0" y="0"/>
                  </a:cxn>
                  <a:cxn ang="0">
                    <a:pos x="101737945" y="39511703"/>
                  </a:cxn>
                  <a:cxn ang="0">
                    <a:pos x="101737945" y="39511703"/>
                  </a:cxn>
                  <a:cxn ang="0">
                    <a:pos x="101737945" y="39511703"/>
                  </a:cxn>
                  <a:cxn ang="0">
                    <a:pos x="101737945" y="39511703"/>
                  </a:cxn>
                  <a:cxn ang="0">
                    <a:pos x="101737945" y="39511703"/>
                  </a:cxn>
                </a:cxnLst>
                <a:rect l="txL" t="txT" r="txR" b="txB"/>
                <a:pathLst>
                  <a:path w="42" h="24">
                    <a:moveTo>
                      <a:pt x="42" y="24"/>
                    </a:moveTo>
                    <a:lnTo>
                      <a:pt x="0" y="0"/>
                    </a:lnTo>
                    <a:lnTo>
                      <a:pt x="42" y="24"/>
                    </a:lnTo>
                    <a:close/>
                    <a:moveTo>
                      <a:pt x="42" y="24"/>
                    </a:moveTo>
                    <a:lnTo>
                      <a:pt x="4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27" name="Freeform 39"/>
              <p:cNvSpPr>
                <a:spLocks noEditPoints="1"/>
              </p:cNvSpPr>
              <p:nvPr/>
            </p:nvSpPr>
            <p:spPr>
              <a:xfrm>
                <a:off x="4472" y="2322"/>
                <a:ext cx="82" cy="50"/>
              </a:xfrm>
              <a:custGeom>
                <a:avLst/>
                <a:gdLst>
                  <a:gd name="txL" fmla="*/ 0 w 48"/>
                  <a:gd name="txT" fmla="*/ 0 h 30"/>
                  <a:gd name="txR" fmla="*/ 48 w 48"/>
                  <a:gd name="txB" fmla="*/ 30 h 30"/>
                </a:gdLst>
                <a:ahLst/>
                <a:cxnLst>
                  <a:cxn ang="0">
                    <a:pos x="155781089" y="48463758"/>
                  </a:cxn>
                  <a:cxn ang="0">
                    <a:pos x="0" y="0"/>
                  </a:cxn>
                  <a:cxn ang="0">
                    <a:pos x="155781089" y="48463758"/>
                  </a:cxn>
                  <a:cxn ang="0">
                    <a:pos x="155781089" y="48463758"/>
                  </a:cxn>
                  <a:cxn ang="0">
                    <a:pos x="155781089" y="48463758"/>
                  </a:cxn>
                  <a:cxn ang="0">
                    <a:pos x="155781089" y="48463758"/>
                  </a:cxn>
                  <a:cxn ang="0">
                    <a:pos x="155781089" y="48463758"/>
                  </a:cxn>
                </a:cxnLst>
                <a:rect l="txL" t="txT" r="txR" b="txB"/>
                <a:pathLst>
                  <a:path w="48" h="30">
                    <a:moveTo>
                      <a:pt x="48" y="30"/>
                    </a:moveTo>
                    <a:lnTo>
                      <a:pt x="0" y="0"/>
                    </a:lnTo>
                    <a:lnTo>
                      <a:pt x="48" y="30"/>
                    </a:lnTo>
                    <a:close/>
                    <a:moveTo>
                      <a:pt x="48" y="30"/>
                    </a:moveTo>
                    <a:lnTo>
                      <a:pt x="48"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28" name="Freeform 40"/>
              <p:cNvSpPr>
                <a:spLocks noEditPoints="1"/>
              </p:cNvSpPr>
              <p:nvPr/>
            </p:nvSpPr>
            <p:spPr>
              <a:xfrm>
                <a:off x="4472" y="2282"/>
                <a:ext cx="82" cy="40"/>
              </a:xfrm>
              <a:custGeom>
                <a:avLst/>
                <a:gdLst>
                  <a:gd name="txL" fmla="*/ 0 w 48"/>
                  <a:gd name="txT" fmla="*/ 0 h 24"/>
                  <a:gd name="txR" fmla="*/ 48 w 48"/>
                  <a:gd name="txB" fmla="*/ 24 h 24"/>
                </a:gdLst>
                <a:ahLst/>
                <a:cxnLst>
                  <a:cxn ang="0">
                    <a:pos x="0" y="39511703"/>
                  </a:cxn>
                  <a:cxn ang="0">
                    <a:pos x="155781089" y="0"/>
                  </a:cxn>
                  <a:cxn ang="0">
                    <a:pos x="0" y="39511703"/>
                  </a:cxn>
                  <a:cxn ang="0">
                    <a:pos x="0" y="39511703"/>
                  </a:cxn>
                  <a:cxn ang="0">
                    <a:pos x="0" y="39511703"/>
                  </a:cxn>
                  <a:cxn ang="0">
                    <a:pos x="0" y="39511703"/>
                  </a:cxn>
                  <a:cxn ang="0">
                    <a:pos x="0" y="39511703"/>
                  </a:cxn>
                </a:cxnLst>
                <a:rect l="txL" t="txT" r="txR" b="txB"/>
                <a:pathLst>
                  <a:path w="48" h="24">
                    <a:moveTo>
                      <a:pt x="0" y="24"/>
                    </a:moveTo>
                    <a:lnTo>
                      <a:pt x="48"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29" name="Freeform 41"/>
              <p:cNvSpPr>
                <a:spLocks noEditPoints="1"/>
              </p:cNvSpPr>
              <p:nvPr/>
            </p:nvSpPr>
            <p:spPr>
              <a:xfrm>
                <a:off x="4554" y="2241"/>
                <a:ext cx="71" cy="41"/>
              </a:xfrm>
              <a:custGeom>
                <a:avLst/>
                <a:gdLst>
                  <a:gd name="txL" fmla="*/ 0 w 42"/>
                  <a:gd name="txT" fmla="*/ 0 h 24"/>
                  <a:gd name="txR" fmla="*/ 42 w 42"/>
                  <a:gd name="txB" fmla="*/ 24 h 24"/>
                </a:gdLst>
                <a:ahLst/>
                <a:cxnLst>
                  <a:cxn ang="0">
                    <a:pos x="0" y="78262881"/>
                  </a:cxn>
                  <a:cxn ang="0">
                    <a:pos x="101737945" y="0"/>
                  </a:cxn>
                  <a:cxn ang="0">
                    <a:pos x="0" y="78262881"/>
                  </a:cxn>
                  <a:cxn ang="0">
                    <a:pos x="0" y="78262881"/>
                  </a:cxn>
                  <a:cxn ang="0">
                    <a:pos x="0" y="78262881"/>
                  </a:cxn>
                  <a:cxn ang="0">
                    <a:pos x="0" y="78262881"/>
                  </a:cxn>
                  <a:cxn ang="0">
                    <a:pos x="0" y="78262881"/>
                  </a:cxn>
                </a:cxnLst>
                <a:rect l="txL" t="txT" r="txR" b="txB"/>
                <a:pathLst>
                  <a:path w="42" h="24">
                    <a:moveTo>
                      <a:pt x="0" y="24"/>
                    </a:moveTo>
                    <a:lnTo>
                      <a:pt x="42"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30" name="Freeform 42"/>
              <p:cNvSpPr>
                <a:spLocks noEditPoints="1"/>
              </p:cNvSpPr>
              <p:nvPr/>
            </p:nvSpPr>
            <p:spPr>
              <a:xfrm>
                <a:off x="4554" y="2201"/>
                <a:ext cx="71" cy="40"/>
              </a:xfrm>
              <a:custGeom>
                <a:avLst/>
                <a:gdLst>
                  <a:gd name="txL" fmla="*/ 0 w 42"/>
                  <a:gd name="txT" fmla="*/ 0 h 24"/>
                  <a:gd name="txR" fmla="*/ 42 w 42"/>
                  <a:gd name="txB" fmla="*/ 24 h 24"/>
                </a:gdLst>
                <a:ahLst/>
                <a:cxnLst>
                  <a:cxn ang="0">
                    <a:pos x="101737945" y="39511703"/>
                  </a:cxn>
                  <a:cxn ang="0">
                    <a:pos x="0" y="0"/>
                  </a:cxn>
                  <a:cxn ang="0">
                    <a:pos x="101737945" y="39511703"/>
                  </a:cxn>
                  <a:cxn ang="0">
                    <a:pos x="101737945" y="39511703"/>
                  </a:cxn>
                  <a:cxn ang="0">
                    <a:pos x="101737945" y="39511703"/>
                  </a:cxn>
                  <a:cxn ang="0">
                    <a:pos x="101737945" y="39511703"/>
                  </a:cxn>
                  <a:cxn ang="0">
                    <a:pos x="101737945" y="39511703"/>
                  </a:cxn>
                </a:cxnLst>
                <a:rect l="txL" t="txT" r="txR" b="txB"/>
                <a:pathLst>
                  <a:path w="42" h="24">
                    <a:moveTo>
                      <a:pt x="42" y="24"/>
                    </a:moveTo>
                    <a:lnTo>
                      <a:pt x="0" y="0"/>
                    </a:lnTo>
                    <a:lnTo>
                      <a:pt x="42" y="24"/>
                    </a:lnTo>
                    <a:close/>
                    <a:moveTo>
                      <a:pt x="42" y="24"/>
                    </a:moveTo>
                    <a:lnTo>
                      <a:pt x="4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31" name="Freeform 43"/>
              <p:cNvSpPr>
                <a:spLocks noEditPoints="1"/>
              </p:cNvSpPr>
              <p:nvPr/>
            </p:nvSpPr>
            <p:spPr>
              <a:xfrm>
                <a:off x="4472" y="2161"/>
                <a:ext cx="82" cy="40"/>
              </a:xfrm>
              <a:custGeom>
                <a:avLst/>
                <a:gdLst>
                  <a:gd name="txL" fmla="*/ 0 w 48"/>
                  <a:gd name="txT" fmla="*/ 0 h 24"/>
                  <a:gd name="txR" fmla="*/ 48 w 48"/>
                  <a:gd name="txB" fmla="*/ 24 h 24"/>
                </a:gdLst>
                <a:ahLst/>
                <a:cxnLst>
                  <a:cxn ang="0">
                    <a:pos x="155781089" y="39511703"/>
                  </a:cxn>
                  <a:cxn ang="0">
                    <a:pos x="0" y="0"/>
                  </a:cxn>
                  <a:cxn ang="0">
                    <a:pos x="155781089" y="39511703"/>
                  </a:cxn>
                  <a:cxn ang="0">
                    <a:pos x="155781089" y="39511703"/>
                  </a:cxn>
                  <a:cxn ang="0">
                    <a:pos x="155781089" y="39511703"/>
                  </a:cxn>
                  <a:cxn ang="0">
                    <a:pos x="155781089" y="39511703"/>
                  </a:cxn>
                  <a:cxn ang="0">
                    <a:pos x="155781089" y="39511703"/>
                  </a:cxn>
                </a:cxnLst>
                <a:rect l="txL" t="txT" r="txR" b="txB"/>
                <a:pathLst>
                  <a:path w="48" h="24">
                    <a:moveTo>
                      <a:pt x="48" y="24"/>
                    </a:moveTo>
                    <a:lnTo>
                      <a:pt x="0" y="0"/>
                    </a:lnTo>
                    <a:lnTo>
                      <a:pt x="48" y="24"/>
                    </a:lnTo>
                    <a:close/>
                    <a:moveTo>
                      <a:pt x="48" y="24"/>
                    </a:moveTo>
                    <a:lnTo>
                      <a:pt x="48"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32" name="Freeform 44"/>
              <p:cNvSpPr>
                <a:spLocks noEditPoints="1"/>
              </p:cNvSpPr>
              <p:nvPr/>
            </p:nvSpPr>
            <p:spPr>
              <a:xfrm>
                <a:off x="4472" y="2123"/>
                <a:ext cx="82" cy="38"/>
              </a:xfrm>
              <a:custGeom>
                <a:avLst/>
                <a:gdLst>
                  <a:gd name="txL" fmla="*/ 0 w 48"/>
                  <a:gd name="txT" fmla="*/ 0 h 23"/>
                  <a:gd name="txR" fmla="*/ 48 w 48"/>
                  <a:gd name="txB" fmla="*/ 23 h 23"/>
                </a:gdLst>
                <a:ahLst/>
                <a:cxnLst>
                  <a:cxn ang="0">
                    <a:pos x="0" y="29399283"/>
                  </a:cxn>
                  <a:cxn ang="0">
                    <a:pos x="155781089" y="0"/>
                  </a:cxn>
                  <a:cxn ang="0">
                    <a:pos x="0" y="29399283"/>
                  </a:cxn>
                  <a:cxn ang="0">
                    <a:pos x="0" y="29399283"/>
                  </a:cxn>
                  <a:cxn ang="0">
                    <a:pos x="0" y="29399283"/>
                  </a:cxn>
                  <a:cxn ang="0">
                    <a:pos x="0" y="29399283"/>
                  </a:cxn>
                  <a:cxn ang="0">
                    <a:pos x="0" y="29399283"/>
                  </a:cxn>
                </a:cxnLst>
                <a:rect l="txL" t="txT" r="txR" b="txB"/>
                <a:pathLst>
                  <a:path w="48" h="23">
                    <a:moveTo>
                      <a:pt x="0" y="23"/>
                    </a:moveTo>
                    <a:lnTo>
                      <a:pt x="48" y="0"/>
                    </a:lnTo>
                    <a:lnTo>
                      <a:pt x="0" y="23"/>
                    </a:lnTo>
                    <a:close/>
                    <a:moveTo>
                      <a:pt x="0" y="23"/>
                    </a:moveTo>
                    <a:lnTo>
                      <a:pt x="0" y="2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33" name="Freeform 45"/>
              <p:cNvSpPr>
                <a:spLocks noEditPoints="1"/>
              </p:cNvSpPr>
              <p:nvPr/>
            </p:nvSpPr>
            <p:spPr>
              <a:xfrm>
                <a:off x="4554" y="2083"/>
                <a:ext cx="71" cy="40"/>
              </a:xfrm>
              <a:custGeom>
                <a:avLst/>
                <a:gdLst>
                  <a:gd name="txL" fmla="*/ 0 w 42"/>
                  <a:gd name="txT" fmla="*/ 0 h 24"/>
                  <a:gd name="txR" fmla="*/ 42 w 42"/>
                  <a:gd name="txB" fmla="*/ 24 h 24"/>
                </a:gdLst>
                <a:ahLst/>
                <a:cxnLst>
                  <a:cxn ang="0">
                    <a:pos x="0" y="39511703"/>
                  </a:cxn>
                  <a:cxn ang="0">
                    <a:pos x="101737945" y="0"/>
                  </a:cxn>
                  <a:cxn ang="0">
                    <a:pos x="0" y="39511703"/>
                  </a:cxn>
                  <a:cxn ang="0">
                    <a:pos x="0" y="39511703"/>
                  </a:cxn>
                  <a:cxn ang="0">
                    <a:pos x="0" y="39511703"/>
                  </a:cxn>
                  <a:cxn ang="0">
                    <a:pos x="0" y="39511703"/>
                  </a:cxn>
                  <a:cxn ang="0">
                    <a:pos x="0" y="39511703"/>
                  </a:cxn>
                </a:cxnLst>
                <a:rect l="txL" t="txT" r="txR" b="txB"/>
                <a:pathLst>
                  <a:path w="42" h="24">
                    <a:moveTo>
                      <a:pt x="0" y="24"/>
                    </a:moveTo>
                    <a:lnTo>
                      <a:pt x="42"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34" name="Freeform 46"/>
              <p:cNvSpPr>
                <a:spLocks noEditPoints="1"/>
              </p:cNvSpPr>
              <p:nvPr/>
            </p:nvSpPr>
            <p:spPr>
              <a:xfrm>
                <a:off x="4554" y="2042"/>
                <a:ext cx="71" cy="41"/>
              </a:xfrm>
              <a:custGeom>
                <a:avLst/>
                <a:gdLst>
                  <a:gd name="txL" fmla="*/ 0 w 42"/>
                  <a:gd name="txT" fmla="*/ 0 h 24"/>
                  <a:gd name="txR" fmla="*/ 42 w 42"/>
                  <a:gd name="txB" fmla="*/ 24 h 24"/>
                </a:gdLst>
                <a:ahLst/>
                <a:cxnLst>
                  <a:cxn ang="0">
                    <a:pos x="101737945" y="78262881"/>
                  </a:cxn>
                  <a:cxn ang="0">
                    <a:pos x="0" y="0"/>
                  </a:cxn>
                  <a:cxn ang="0">
                    <a:pos x="101737945" y="78262881"/>
                  </a:cxn>
                  <a:cxn ang="0">
                    <a:pos x="101737945" y="78262881"/>
                  </a:cxn>
                  <a:cxn ang="0">
                    <a:pos x="101737945" y="78262881"/>
                  </a:cxn>
                  <a:cxn ang="0">
                    <a:pos x="101737945" y="78262881"/>
                  </a:cxn>
                  <a:cxn ang="0">
                    <a:pos x="101737945" y="78262881"/>
                  </a:cxn>
                </a:cxnLst>
                <a:rect l="txL" t="txT" r="txR" b="txB"/>
                <a:pathLst>
                  <a:path w="42" h="24">
                    <a:moveTo>
                      <a:pt x="42" y="24"/>
                    </a:moveTo>
                    <a:lnTo>
                      <a:pt x="0" y="0"/>
                    </a:lnTo>
                    <a:lnTo>
                      <a:pt x="42" y="24"/>
                    </a:lnTo>
                    <a:close/>
                    <a:moveTo>
                      <a:pt x="42" y="24"/>
                    </a:moveTo>
                    <a:lnTo>
                      <a:pt x="4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35" name="Freeform 47"/>
              <p:cNvSpPr>
                <a:spLocks noEditPoints="1"/>
              </p:cNvSpPr>
              <p:nvPr/>
            </p:nvSpPr>
            <p:spPr>
              <a:xfrm>
                <a:off x="4472" y="1992"/>
                <a:ext cx="82" cy="50"/>
              </a:xfrm>
              <a:custGeom>
                <a:avLst/>
                <a:gdLst>
                  <a:gd name="txL" fmla="*/ 0 w 48"/>
                  <a:gd name="txT" fmla="*/ 0 h 30"/>
                  <a:gd name="txR" fmla="*/ 48 w 48"/>
                  <a:gd name="txB" fmla="*/ 30 h 30"/>
                </a:gdLst>
                <a:ahLst/>
                <a:cxnLst>
                  <a:cxn ang="0">
                    <a:pos x="155781089" y="48463758"/>
                  </a:cxn>
                  <a:cxn ang="0">
                    <a:pos x="0" y="0"/>
                  </a:cxn>
                  <a:cxn ang="0">
                    <a:pos x="155781089" y="48463758"/>
                  </a:cxn>
                  <a:cxn ang="0">
                    <a:pos x="155781089" y="48463758"/>
                  </a:cxn>
                  <a:cxn ang="0">
                    <a:pos x="155781089" y="48463758"/>
                  </a:cxn>
                  <a:cxn ang="0">
                    <a:pos x="155781089" y="48463758"/>
                  </a:cxn>
                  <a:cxn ang="0">
                    <a:pos x="155781089" y="48463758"/>
                  </a:cxn>
                </a:cxnLst>
                <a:rect l="txL" t="txT" r="txR" b="txB"/>
                <a:pathLst>
                  <a:path w="48" h="30">
                    <a:moveTo>
                      <a:pt x="48" y="30"/>
                    </a:moveTo>
                    <a:lnTo>
                      <a:pt x="0" y="0"/>
                    </a:lnTo>
                    <a:lnTo>
                      <a:pt x="48" y="30"/>
                    </a:lnTo>
                    <a:close/>
                    <a:moveTo>
                      <a:pt x="48" y="30"/>
                    </a:moveTo>
                    <a:lnTo>
                      <a:pt x="48"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36" name="Freeform 48"/>
              <p:cNvSpPr>
                <a:spLocks noEditPoints="1"/>
              </p:cNvSpPr>
              <p:nvPr/>
            </p:nvSpPr>
            <p:spPr>
              <a:xfrm>
                <a:off x="4472" y="1952"/>
                <a:ext cx="82" cy="40"/>
              </a:xfrm>
              <a:custGeom>
                <a:avLst/>
                <a:gdLst>
                  <a:gd name="txL" fmla="*/ 0 w 48"/>
                  <a:gd name="txT" fmla="*/ 0 h 24"/>
                  <a:gd name="txR" fmla="*/ 48 w 48"/>
                  <a:gd name="txB" fmla="*/ 24 h 24"/>
                </a:gdLst>
                <a:ahLst/>
                <a:cxnLst>
                  <a:cxn ang="0">
                    <a:pos x="0" y="39511703"/>
                  </a:cxn>
                  <a:cxn ang="0">
                    <a:pos x="155781089" y="0"/>
                  </a:cxn>
                  <a:cxn ang="0">
                    <a:pos x="0" y="39511703"/>
                  </a:cxn>
                  <a:cxn ang="0">
                    <a:pos x="0" y="39511703"/>
                  </a:cxn>
                  <a:cxn ang="0">
                    <a:pos x="0" y="39511703"/>
                  </a:cxn>
                  <a:cxn ang="0">
                    <a:pos x="0" y="39511703"/>
                  </a:cxn>
                  <a:cxn ang="0">
                    <a:pos x="0" y="39511703"/>
                  </a:cxn>
                </a:cxnLst>
                <a:rect l="txL" t="txT" r="txR" b="txB"/>
                <a:pathLst>
                  <a:path w="48" h="24">
                    <a:moveTo>
                      <a:pt x="0" y="24"/>
                    </a:moveTo>
                    <a:lnTo>
                      <a:pt x="48"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37" name="Freeform 49"/>
              <p:cNvSpPr>
                <a:spLocks noEditPoints="1"/>
              </p:cNvSpPr>
              <p:nvPr/>
            </p:nvSpPr>
            <p:spPr>
              <a:xfrm>
                <a:off x="696" y="2002"/>
                <a:ext cx="154" cy="209"/>
              </a:xfrm>
              <a:custGeom>
                <a:avLst/>
                <a:gdLst>
                  <a:gd name="txL" fmla="*/ 0 w 90"/>
                  <a:gd name="txT" fmla="*/ 0 h 125"/>
                  <a:gd name="txR" fmla="*/ 90 w 90"/>
                  <a:gd name="txB" fmla="*/ 125 h 125"/>
                </a:gdLst>
                <a:ahLst/>
                <a:cxnLst>
                  <a:cxn ang="0">
                    <a:pos x="285746458" y="222432841"/>
                  </a:cxn>
                  <a:cxn ang="0">
                    <a:pos x="264596241" y="212160118"/>
                  </a:cxn>
                  <a:cxn ang="0">
                    <a:pos x="243754016" y="201152610"/>
                  </a:cxn>
                  <a:cxn ang="0">
                    <a:pos x="204313805" y="117371663"/>
                  </a:cxn>
                  <a:cxn ang="0">
                    <a:pos x="285746458" y="95696880"/>
                  </a:cxn>
                  <a:cxn ang="0">
                    <a:pos x="306912363" y="53277511"/>
                  </a:cxn>
                  <a:cxn ang="0">
                    <a:pos x="285746458" y="20966477"/>
                  </a:cxn>
                  <a:cxn ang="0">
                    <a:pos x="264596241" y="10797121"/>
                  </a:cxn>
                  <a:cxn ang="0">
                    <a:pos x="224366308" y="0"/>
                  </a:cxn>
                  <a:cxn ang="0">
                    <a:pos x="204313805" y="0"/>
                  </a:cxn>
                  <a:cxn ang="0">
                    <a:pos x="81431501" y="0"/>
                  </a:cxn>
                  <a:cxn ang="0">
                    <a:pos x="81431501" y="10797121"/>
                  </a:cxn>
                  <a:cxn ang="0">
                    <a:pos x="101063965" y="10797121"/>
                  </a:cxn>
                  <a:cxn ang="0">
                    <a:pos x="101063965" y="31864540"/>
                  </a:cxn>
                  <a:cxn ang="0">
                    <a:pos x="101063965" y="42603353"/>
                  </a:cxn>
                  <a:cxn ang="0">
                    <a:pos x="101063965" y="42603353"/>
                  </a:cxn>
                  <a:cxn ang="0">
                    <a:pos x="42000625" y="190471175"/>
                  </a:cxn>
                  <a:cxn ang="0">
                    <a:pos x="19945009" y="212160118"/>
                  </a:cxn>
                  <a:cxn ang="0">
                    <a:pos x="0" y="222432841"/>
                  </a:cxn>
                  <a:cxn ang="0">
                    <a:pos x="0" y="222432841"/>
                  </a:cxn>
                  <a:cxn ang="0">
                    <a:pos x="122973682" y="222432841"/>
                  </a:cxn>
                  <a:cxn ang="0">
                    <a:pos x="122973682" y="222432841"/>
                  </a:cxn>
                  <a:cxn ang="0">
                    <a:pos x="101063965" y="222432841"/>
                  </a:cxn>
                  <a:cxn ang="0">
                    <a:pos x="81431501" y="201152610"/>
                  </a:cxn>
                  <a:cxn ang="0">
                    <a:pos x="81431501" y="201152610"/>
                  </a:cxn>
                  <a:cxn ang="0">
                    <a:pos x="101063965" y="190471175"/>
                  </a:cxn>
                  <a:cxn ang="0">
                    <a:pos x="122973682" y="117371663"/>
                  </a:cxn>
                  <a:cxn ang="0">
                    <a:pos x="163013593" y="117371663"/>
                  </a:cxn>
                  <a:cxn ang="0">
                    <a:pos x="224366308" y="222432841"/>
                  </a:cxn>
                  <a:cxn ang="0">
                    <a:pos x="285746458" y="222432841"/>
                  </a:cxn>
                  <a:cxn ang="0">
                    <a:pos x="285746458" y="222432841"/>
                  </a:cxn>
                  <a:cxn ang="0">
                    <a:pos x="163013593" y="20966477"/>
                  </a:cxn>
                  <a:cxn ang="0">
                    <a:pos x="163013593" y="20966477"/>
                  </a:cxn>
                  <a:cxn ang="0">
                    <a:pos x="182609162" y="10797121"/>
                  </a:cxn>
                  <a:cxn ang="0">
                    <a:pos x="224366308" y="20966477"/>
                  </a:cxn>
                  <a:cxn ang="0">
                    <a:pos x="243754016" y="53277511"/>
                  </a:cxn>
                  <a:cxn ang="0">
                    <a:pos x="224366308" y="85393663"/>
                  </a:cxn>
                  <a:cxn ang="0">
                    <a:pos x="204313805" y="106123500"/>
                  </a:cxn>
                  <a:cxn ang="0">
                    <a:pos x="163013593" y="106123500"/>
                  </a:cxn>
                  <a:cxn ang="0">
                    <a:pos x="142453646" y="106123500"/>
                  </a:cxn>
                  <a:cxn ang="0">
                    <a:pos x="122973682" y="106123500"/>
                  </a:cxn>
                  <a:cxn ang="0">
                    <a:pos x="163013593" y="20966477"/>
                  </a:cxn>
                </a:cxnLst>
                <a:rect l="txL" t="txT" r="txR" b="txB"/>
                <a:pathLst>
                  <a:path w="90" h="125">
                    <a:moveTo>
                      <a:pt x="84" y="125"/>
                    </a:moveTo>
                    <a:lnTo>
                      <a:pt x="78" y="119"/>
                    </a:lnTo>
                    <a:lnTo>
                      <a:pt x="72" y="113"/>
                    </a:lnTo>
                    <a:lnTo>
                      <a:pt x="60" y="66"/>
                    </a:lnTo>
                    <a:lnTo>
                      <a:pt x="84" y="54"/>
                    </a:lnTo>
                    <a:lnTo>
                      <a:pt x="90" y="30"/>
                    </a:lnTo>
                    <a:lnTo>
                      <a:pt x="84" y="12"/>
                    </a:lnTo>
                    <a:lnTo>
                      <a:pt x="78" y="6"/>
                    </a:lnTo>
                    <a:lnTo>
                      <a:pt x="66" y="0"/>
                    </a:lnTo>
                    <a:lnTo>
                      <a:pt x="60" y="0"/>
                    </a:lnTo>
                    <a:lnTo>
                      <a:pt x="24" y="0"/>
                    </a:lnTo>
                    <a:lnTo>
                      <a:pt x="24" y="6"/>
                    </a:lnTo>
                    <a:lnTo>
                      <a:pt x="30" y="6"/>
                    </a:lnTo>
                    <a:lnTo>
                      <a:pt x="30" y="18"/>
                    </a:lnTo>
                    <a:lnTo>
                      <a:pt x="30" y="24"/>
                    </a:lnTo>
                    <a:lnTo>
                      <a:pt x="12" y="107"/>
                    </a:lnTo>
                    <a:lnTo>
                      <a:pt x="6" y="119"/>
                    </a:lnTo>
                    <a:lnTo>
                      <a:pt x="0" y="125"/>
                    </a:lnTo>
                    <a:lnTo>
                      <a:pt x="36" y="125"/>
                    </a:lnTo>
                    <a:lnTo>
                      <a:pt x="30" y="125"/>
                    </a:lnTo>
                    <a:lnTo>
                      <a:pt x="24" y="113"/>
                    </a:lnTo>
                    <a:lnTo>
                      <a:pt x="30" y="107"/>
                    </a:lnTo>
                    <a:lnTo>
                      <a:pt x="36" y="66"/>
                    </a:lnTo>
                    <a:lnTo>
                      <a:pt x="48" y="66"/>
                    </a:lnTo>
                    <a:lnTo>
                      <a:pt x="66" y="125"/>
                    </a:lnTo>
                    <a:lnTo>
                      <a:pt x="84" y="125"/>
                    </a:lnTo>
                    <a:close/>
                    <a:moveTo>
                      <a:pt x="48" y="12"/>
                    </a:moveTo>
                    <a:lnTo>
                      <a:pt x="48" y="12"/>
                    </a:lnTo>
                    <a:lnTo>
                      <a:pt x="54" y="6"/>
                    </a:lnTo>
                    <a:lnTo>
                      <a:pt x="66" y="12"/>
                    </a:lnTo>
                    <a:lnTo>
                      <a:pt x="72" y="30"/>
                    </a:lnTo>
                    <a:lnTo>
                      <a:pt x="66" y="48"/>
                    </a:lnTo>
                    <a:lnTo>
                      <a:pt x="60" y="60"/>
                    </a:lnTo>
                    <a:lnTo>
                      <a:pt x="48" y="60"/>
                    </a:lnTo>
                    <a:lnTo>
                      <a:pt x="42" y="60"/>
                    </a:lnTo>
                    <a:lnTo>
                      <a:pt x="36" y="60"/>
                    </a:lnTo>
                    <a:lnTo>
                      <a:pt x="48"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38" name="Freeform 50"/>
              <p:cNvSpPr>
                <a:spLocks noEditPoints="1"/>
              </p:cNvSpPr>
              <p:nvPr/>
            </p:nvSpPr>
            <p:spPr>
              <a:xfrm>
                <a:off x="860" y="2181"/>
                <a:ext cx="71" cy="121"/>
              </a:xfrm>
              <a:custGeom>
                <a:avLst/>
                <a:gdLst>
                  <a:gd name="txL" fmla="*/ 0 w 42"/>
                  <a:gd name="txT" fmla="*/ 0 h 72"/>
                  <a:gd name="txR" fmla="*/ 42 w 42"/>
                  <a:gd name="txB" fmla="*/ 72 h 72"/>
                </a:gdLst>
                <a:ahLst/>
                <a:cxnLst>
                  <a:cxn ang="0">
                    <a:pos x="101737945" y="86669656"/>
                  </a:cxn>
                  <a:cxn ang="0">
                    <a:pos x="87167315" y="111241053"/>
                  </a:cxn>
                  <a:cxn ang="0">
                    <a:pos x="58759882" y="123827083"/>
                  </a:cxn>
                  <a:cxn ang="0">
                    <a:pos x="28445017" y="111241053"/>
                  </a:cxn>
                  <a:cxn ang="0">
                    <a:pos x="14563632" y="99120624"/>
                  </a:cxn>
                  <a:cxn ang="0">
                    <a:pos x="14563632" y="61004958"/>
                  </a:cxn>
                  <a:cxn ang="0">
                    <a:pos x="101737945" y="61004958"/>
                  </a:cxn>
                  <a:cxn ang="0">
                    <a:pos x="72655338" y="12585948"/>
                  </a:cxn>
                  <a:cxn ang="0">
                    <a:pos x="42979214" y="0"/>
                  </a:cxn>
                  <a:cxn ang="0">
                    <a:pos x="14563632" y="24708531"/>
                  </a:cxn>
                  <a:cxn ang="0">
                    <a:pos x="0" y="74953490"/>
                  </a:cxn>
                  <a:cxn ang="0">
                    <a:pos x="14563632" y="135969394"/>
                  </a:cxn>
                  <a:cxn ang="0">
                    <a:pos x="42979214" y="147515164"/>
                  </a:cxn>
                  <a:cxn ang="0">
                    <a:pos x="72655338" y="135969394"/>
                  </a:cxn>
                  <a:cxn ang="0">
                    <a:pos x="87167315" y="123827083"/>
                  </a:cxn>
                  <a:cxn ang="0">
                    <a:pos x="101737945" y="111241053"/>
                  </a:cxn>
                  <a:cxn ang="0">
                    <a:pos x="101737945" y="99120624"/>
                  </a:cxn>
                  <a:cxn ang="0">
                    <a:pos x="101737945" y="86669656"/>
                  </a:cxn>
                  <a:cxn ang="0">
                    <a:pos x="14563632" y="48871463"/>
                  </a:cxn>
                  <a:cxn ang="0">
                    <a:pos x="28445017" y="24708531"/>
                  </a:cxn>
                  <a:cxn ang="0">
                    <a:pos x="42979214" y="12585948"/>
                  </a:cxn>
                  <a:cxn ang="0">
                    <a:pos x="72655338" y="24708531"/>
                  </a:cxn>
                  <a:cxn ang="0">
                    <a:pos x="72655338" y="48871463"/>
                  </a:cxn>
                  <a:cxn ang="0">
                    <a:pos x="14563632" y="48871463"/>
                  </a:cxn>
                </a:cxnLst>
                <a:rect l="txL" t="txT" r="txR" b="txB"/>
                <a:pathLst>
                  <a:path w="42" h="72">
                    <a:moveTo>
                      <a:pt x="42" y="42"/>
                    </a:moveTo>
                    <a:lnTo>
                      <a:pt x="36" y="54"/>
                    </a:lnTo>
                    <a:lnTo>
                      <a:pt x="24" y="60"/>
                    </a:lnTo>
                    <a:lnTo>
                      <a:pt x="12" y="54"/>
                    </a:lnTo>
                    <a:lnTo>
                      <a:pt x="6" y="48"/>
                    </a:lnTo>
                    <a:lnTo>
                      <a:pt x="6" y="30"/>
                    </a:lnTo>
                    <a:lnTo>
                      <a:pt x="42" y="30"/>
                    </a:lnTo>
                    <a:lnTo>
                      <a:pt x="30" y="6"/>
                    </a:lnTo>
                    <a:lnTo>
                      <a:pt x="18" y="0"/>
                    </a:lnTo>
                    <a:lnTo>
                      <a:pt x="6" y="12"/>
                    </a:lnTo>
                    <a:lnTo>
                      <a:pt x="0" y="36"/>
                    </a:lnTo>
                    <a:lnTo>
                      <a:pt x="6" y="66"/>
                    </a:lnTo>
                    <a:lnTo>
                      <a:pt x="18" y="72"/>
                    </a:lnTo>
                    <a:lnTo>
                      <a:pt x="30" y="66"/>
                    </a:lnTo>
                    <a:lnTo>
                      <a:pt x="36" y="60"/>
                    </a:lnTo>
                    <a:lnTo>
                      <a:pt x="42" y="54"/>
                    </a:lnTo>
                    <a:lnTo>
                      <a:pt x="42" y="48"/>
                    </a:lnTo>
                    <a:lnTo>
                      <a:pt x="42" y="42"/>
                    </a:lnTo>
                    <a:close/>
                    <a:moveTo>
                      <a:pt x="6" y="24"/>
                    </a:moveTo>
                    <a:lnTo>
                      <a:pt x="12" y="12"/>
                    </a:lnTo>
                    <a:lnTo>
                      <a:pt x="18" y="6"/>
                    </a:lnTo>
                    <a:lnTo>
                      <a:pt x="30" y="12"/>
                    </a:lnTo>
                    <a:lnTo>
                      <a:pt x="30" y="24"/>
                    </a:lnTo>
                    <a:lnTo>
                      <a:pt x="6" y="2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39" name="Freeform 51"/>
              <p:cNvSpPr>
                <a:spLocks noEditPoints="1"/>
              </p:cNvSpPr>
              <p:nvPr/>
            </p:nvSpPr>
            <p:spPr>
              <a:xfrm>
                <a:off x="942" y="2181"/>
                <a:ext cx="80" cy="171"/>
              </a:xfrm>
              <a:custGeom>
                <a:avLst/>
                <a:gdLst>
                  <a:gd name="txL" fmla="*/ 0 w 47"/>
                  <a:gd name="txT" fmla="*/ 0 h 102"/>
                  <a:gd name="txR" fmla="*/ 47 w 47"/>
                  <a:gd name="txB" fmla="*/ 102 h 102"/>
                </a:gdLst>
                <a:ahLst/>
                <a:cxnLst>
                  <a:cxn ang="0">
                    <a:pos x="103558574" y="11875199"/>
                  </a:cxn>
                  <a:cxn ang="0">
                    <a:pos x="84042529" y="11875199"/>
                  </a:cxn>
                  <a:cxn ang="0">
                    <a:pos x="66766805" y="0"/>
                  </a:cxn>
                  <a:cxn ang="0">
                    <a:pos x="49374986" y="11875199"/>
                  </a:cxn>
                  <a:cxn ang="0">
                    <a:pos x="17042085" y="23328476"/>
                  </a:cxn>
                  <a:cxn ang="0">
                    <a:pos x="0" y="68745552"/>
                  </a:cxn>
                  <a:cxn ang="0">
                    <a:pos x="17042085" y="127059379"/>
                  </a:cxn>
                  <a:cxn ang="0">
                    <a:pos x="49374986" y="138554016"/>
                  </a:cxn>
                  <a:cxn ang="0">
                    <a:pos x="84042529" y="127059379"/>
                  </a:cxn>
                  <a:cxn ang="0">
                    <a:pos x="103558574" y="115249896"/>
                  </a:cxn>
                  <a:cxn ang="0">
                    <a:pos x="103558574" y="115249896"/>
                  </a:cxn>
                  <a:cxn ang="0">
                    <a:pos x="103558574" y="161275299"/>
                  </a:cxn>
                  <a:cxn ang="0">
                    <a:pos x="84042529" y="184276571"/>
                  </a:cxn>
                  <a:cxn ang="0">
                    <a:pos x="66766805" y="184276571"/>
                  </a:cxn>
                  <a:cxn ang="0">
                    <a:pos x="66766805" y="195779085"/>
                  </a:cxn>
                  <a:cxn ang="0">
                    <a:pos x="137517551" y="195779085"/>
                  </a:cxn>
                  <a:cxn ang="0">
                    <a:pos x="137517551" y="184276571"/>
                  </a:cxn>
                  <a:cxn ang="0">
                    <a:pos x="137517551" y="184276571"/>
                  </a:cxn>
                  <a:cxn ang="0">
                    <a:pos x="121089535" y="172717908"/>
                  </a:cxn>
                  <a:cxn ang="0">
                    <a:pos x="121089535" y="0"/>
                  </a:cxn>
                  <a:cxn ang="0">
                    <a:pos x="121089535" y="0"/>
                  </a:cxn>
                  <a:cxn ang="0">
                    <a:pos x="121089535" y="0"/>
                  </a:cxn>
                  <a:cxn ang="0">
                    <a:pos x="103558574" y="11875199"/>
                  </a:cxn>
                  <a:cxn ang="0">
                    <a:pos x="103558574" y="91609677"/>
                  </a:cxn>
                  <a:cxn ang="0">
                    <a:pos x="103558574" y="104789719"/>
                  </a:cxn>
                  <a:cxn ang="0">
                    <a:pos x="84042529" y="115249896"/>
                  </a:cxn>
                  <a:cxn ang="0">
                    <a:pos x="66766805" y="115249896"/>
                  </a:cxn>
                  <a:cxn ang="0">
                    <a:pos x="66766805" y="115249896"/>
                  </a:cxn>
                  <a:cxn ang="0">
                    <a:pos x="34765067" y="104789719"/>
                  </a:cxn>
                  <a:cxn ang="0">
                    <a:pos x="17042085" y="68745552"/>
                  </a:cxn>
                  <a:cxn ang="0">
                    <a:pos x="34765067" y="23328476"/>
                  </a:cxn>
                  <a:cxn ang="0">
                    <a:pos x="66766805" y="11875199"/>
                  </a:cxn>
                  <a:cxn ang="0">
                    <a:pos x="103558574" y="23328476"/>
                  </a:cxn>
                  <a:cxn ang="0">
                    <a:pos x="103558574" y="34227883"/>
                  </a:cxn>
                  <a:cxn ang="0">
                    <a:pos x="103558574" y="91609677"/>
                  </a:cxn>
                </a:cxnLst>
                <a:rect l="txL" t="txT" r="txR" b="txB"/>
                <a:pathLst>
                  <a:path w="47" h="102">
                    <a:moveTo>
                      <a:pt x="35" y="6"/>
                    </a:moveTo>
                    <a:lnTo>
                      <a:pt x="29" y="6"/>
                    </a:lnTo>
                    <a:lnTo>
                      <a:pt x="23" y="0"/>
                    </a:lnTo>
                    <a:lnTo>
                      <a:pt x="17" y="6"/>
                    </a:lnTo>
                    <a:lnTo>
                      <a:pt x="6" y="12"/>
                    </a:lnTo>
                    <a:lnTo>
                      <a:pt x="0" y="36"/>
                    </a:lnTo>
                    <a:lnTo>
                      <a:pt x="6" y="66"/>
                    </a:lnTo>
                    <a:lnTo>
                      <a:pt x="17" y="72"/>
                    </a:lnTo>
                    <a:lnTo>
                      <a:pt x="29" y="66"/>
                    </a:lnTo>
                    <a:lnTo>
                      <a:pt x="35" y="60"/>
                    </a:lnTo>
                    <a:lnTo>
                      <a:pt x="35" y="84"/>
                    </a:lnTo>
                    <a:lnTo>
                      <a:pt x="29" y="96"/>
                    </a:lnTo>
                    <a:lnTo>
                      <a:pt x="23" y="96"/>
                    </a:lnTo>
                    <a:lnTo>
                      <a:pt x="23" y="102"/>
                    </a:lnTo>
                    <a:lnTo>
                      <a:pt x="47" y="102"/>
                    </a:lnTo>
                    <a:lnTo>
                      <a:pt x="47" y="96"/>
                    </a:lnTo>
                    <a:lnTo>
                      <a:pt x="41" y="90"/>
                    </a:lnTo>
                    <a:lnTo>
                      <a:pt x="41" y="0"/>
                    </a:lnTo>
                    <a:lnTo>
                      <a:pt x="35" y="6"/>
                    </a:lnTo>
                    <a:close/>
                    <a:moveTo>
                      <a:pt x="35" y="48"/>
                    </a:moveTo>
                    <a:lnTo>
                      <a:pt x="35" y="54"/>
                    </a:lnTo>
                    <a:lnTo>
                      <a:pt x="29" y="60"/>
                    </a:lnTo>
                    <a:lnTo>
                      <a:pt x="23" y="60"/>
                    </a:lnTo>
                    <a:lnTo>
                      <a:pt x="12" y="54"/>
                    </a:lnTo>
                    <a:lnTo>
                      <a:pt x="6" y="36"/>
                    </a:lnTo>
                    <a:lnTo>
                      <a:pt x="12" y="12"/>
                    </a:lnTo>
                    <a:lnTo>
                      <a:pt x="23" y="6"/>
                    </a:lnTo>
                    <a:lnTo>
                      <a:pt x="35" y="12"/>
                    </a:lnTo>
                    <a:lnTo>
                      <a:pt x="35" y="18"/>
                    </a:lnTo>
                    <a:lnTo>
                      <a:pt x="35"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40" name="Freeform 52"/>
              <p:cNvSpPr/>
              <p:nvPr/>
            </p:nvSpPr>
            <p:spPr>
              <a:xfrm>
                <a:off x="696" y="2442"/>
                <a:ext cx="408" cy="2"/>
              </a:xfrm>
              <a:custGeom>
                <a:avLst/>
                <a:gdLst>
                  <a:gd name="txL" fmla="*/ 0 w 239"/>
                  <a:gd name="txT" fmla="*/ 0 h 2"/>
                  <a:gd name="txR" fmla="*/ 239 w 239"/>
                  <a:gd name="txB" fmla="*/ 2 h 2"/>
                </a:gdLst>
                <a:ahLst/>
                <a:cxnLst>
                  <a:cxn ang="0">
                    <a:pos x="0" y="0"/>
                  </a:cxn>
                  <a:cxn ang="0">
                    <a:pos x="762094436" y="0"/>
                  </a:cxn>
                  <a:cxn ang="0">
                    <a:pos x="0" y="0"/>
                  </a:cxn>
                  <a:cxn ang="0">
                    <a:pos x="0" y="0"/>
                  </a:cxn>
                </a:cxnLst>
                <a:rect l="txL" t="txT" r="txR" b="txB"/>
                <a:pathLst>
                  <a:path w="239" h="2">
                    <a:moveTo>
                      <a:pt x="0" y="0"/>
                    </a:moveTo>
                    <a:lnTo>
                      <a:pt x="239" y="0"/>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41" name="Freeform 53"/>
              <p:cNvSpPr/>
              <p:nvPr/>
            </p:nvSpPr>
            <p:spPr>
              <a:xfrm>
                <a:off x="1073" y="2382"/>
                <a:ext cx="184" cy="129"/>
              </a:xfrm>
              <a:custGeom>
                <a:avLst/>
                <a:gdLst>
                  <a:gd name="txL" fmla="*/ 0 w 108"/>
                  <a:gd name="txT" fmla="*/ 0 h 77"/>
                  <a:gd name="txR" fmla="*/ 108 w 108"/>
                  <a:gd name="txB" fmla="*/ 77 h 77"/>
                </a:gdLst>
                <a:ahLst/>
                <a:cxnLst>
                  <a:cxn ang="0">
                    <a:pos x="0" y="144739012"/>
                  </a:cxn>
                  <a:cxn ang="0">
                    <a:pos x="324788483" y="67594258"/>
                  </a:cxn>
                  <a:cxn ang="0">
                    <a:pos x="0" y="0"/>
                  </a:cxn>
                  <a:cxn ang="0">
                    <a:pos x="0" y="144739012"/>
                  </a:cxn>
                  <a:cxn ang="0">
                    <a:pos x="0" y="144739012"/>
                  </a:cxn>
                </a:cxnLst>
                <a:rect l="txL" t="txT" r="txR" b="txB"/>
                <a:pathLst>
                  <a:path w="108" h="77">
                    <a:moveTo>
                      <a:pt x="0" y="77"/>
                    </a:moveTo>
                    <a:lnTo>
                      <a:pt x="108" y="36"/>
                    </a:lnTo>
                    <a:lnTo>
                      <a:pt x="0" y="0"/>
                    </a:lnTo>
                    <a:lnTo>
                      <a:pt x="0" y="77"/>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42" name="Freeform 54"/>
              <p:cNvSpPr/>
              <p:nvPr/>
            </p:nvSpPr>
            <p:spPr>
              <a:xfrm>
                <a:off x="1073" y="1104"/>
                <a:ext cx="123" cy="139"/>
              </a:xfrm>
              <a:custGeom>
                <a:avLst/>
                <a:gdLst>
                  <a:gd name="txL" fmla="*/ 0 w 72"/>
                  <a:gd name="txT" fmla="*/ 0 h 83"/>
                  <a:gd name="txR" fmla="*/ 72 w 72"/>
                  <a:gd name="txB" fmla="*/ 83 h 83"/>
                </a:gdLst>
                <a:ahLst/>
                <a:cxnLst>
                  <a:cxn ang="0">
                    <a:pos x="118003057" y="154721915"/>
                  </a:cxn>
                  <a:cxn ang="0">
                    <a:pos x="155781089" y="154721915"/>
                  </a:cxn>
                  <a:cxn ang="0">
                    <a:pos x="193478366" y="132066010"/>
                  </a:cxn>
                  <a:cxn ang="0">
                    <a:pos x="233995764" y="110295497"/>
                  </a:cxn>
                  <a:cxn ang="0">
                    <a:pos x="233995764" y="76968076"/>
                  </a:cxn>
                  <a:cxn ang="0">
                    <a:pos x="233995764" y="43204163"/>
                  </a:cxn>
                  <a:cxn ang="0">
                    <a:pos x="193478366" y="19937247"/>
                  </a:cxn>
                  <a:cxn ang="0">
                    <a:pos x="155781089" y="8761761"/>
                  </a:cxn>
                  <a:cxn ang="0">
                    <a:pos x="118003057" y="0"/>
                  </a:cxn>
                  <a:cxn ang="0">
                    <a:pos x="78262881" y="8761761"/>
                  </a:cxn>
                  <a:cxn ang="0">
                    <a:pos x="37828759" y="19937247"/>
                  </a:cxn>
                  <a:cxn ang="0">
                    <a:pos x="18995478" y="43204163"/>
                  </a:cxn>
                  <a:cxn ang="0">
                    <a:pos x="0" y="76968076"/>
                  </a:cxn>
                  <a:cxn ang="0">
                    <a:pos x="18995478" y="110295497"/>
                  </a:cxn>
                  <a:cxn ang="0">
                    <a:pos x="37828759" y="132066010"/>
                  </a:cxn>
                  <a:cxn ang="0">
                    <a:pos x="78262881" y="154721915"/>
                  </a:cxn>
                  <a:cxn ang="0">
                    <a:pos x="118003057" y="154721915"/>
                  </a:cxn>
                  <a:cxn ang="0">
                    <a:pos x="118003057" y="154721915"/>
                  </a:cxn>
                </a:cxnLst>
                <a:rect l="txL" t="txT" r="txR" b="txB"/>
                <a:pathLst>
                  <a:path w="72" h="83">
                    <a:moveTo>
                      <a:pt x="36" y="83"/>
                    </a:moveTo>
                    <a:lnTo>
                      <a:pt x="48" y="83"/>
                    </a:lnTo>
                    <a:lnTo>
                      <a:pt x="60" y="71"/>
                    </a:lnTo>
                    <a:lnTo>
                      <a:pt x="72" y="59"/>
                    </a:lnTo>
                    <a:lnTo>
                      <a:pt x="72" y="41"/>
                    </a:lnTo>
                    <a:lnTo>
                      <a:pt x="72" y="23"/>
                    </a:lnTo>
                    <a:lnTo>
                      <a:pt x="60" y="11"/>
                    </a:lnTo>
                    <a:lnTo>
                      <a:pt x="48" y="5"/>
                    </a:lnTo>
                    <a:lnTo>
                      <a:pt x="36" y="0"/>
                    </a:lnTo>
                    <a:lnTo>
                      <a:pt x="24" y="5"/>
                    </a:lnTo>
                    <a:lnTo>
                      <a:pt x="12" y="11"/>
                    </a:lnTo>
                    <a:lnTo>
                      <a:pt x="6" y="23"/>
                    </a:lnTo>
                    <a:lnTo>
                      <a:pt x="0" y="41"/>
                    </a:lnTo>
                    <a:lnTo>
                      <a:pt x="6" y="59"/>
                    </a:lnTo>
                    <a:lnTo>
                      <a:pt x="12" y="71"/>
                    </a:lnTo>
                    <a:lnTo>
                      <a:pt x="24" y="83"/>
                    </a:lnTo>
                    <a:lnTo>
                      <a:pt x="36" y="83"/>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43" name="Freeform 55"/>
              <p:cNvSpPr/>
              <p:nvPr/>
            </p:nvSpPr>
            <p:spPr>
              <a:xfrm>
                <a:off x="1135" y="1172"/>
                <a:ext cx="61" cy="71"/>
              </a:xfrm>
              <a:custGeom>
                <a:avLst/>
                <a:gdLst>
                  <a:gd name="txL" fmla="*/ 0 w 36"/>
                  <a:gd name="txT" fmla="*/ 0 h 42"/>
                  <a:gd name="txR" fmla="*/ 36 w 36"/>
                  <a:gd name="txB" fmla="*/ 42 h 42"/>
                </a:gdLst>
                <a:ahLst/>
                <a:cxnLst>
                  <a:cxn ang="0">
                    <a:pos x="0" y="101737945"/>
                  </a:cxn>
                  <a:cxn ang="0">
                    <a:pos x="30703554" y="101737945"/>
                  </a:cxn>
                  <a:cxn ang="0">
                    <a:pos x="62048998" y="72655338"/>
                  </a:cxn>
                  <a:cxn ang="0">
                    <a:pos x="93136701" y="42979214"/>
                  </a:cxn>
                  <a:cxn ang="0">
                    <a:pos x="93136701" y="0"/>
                  </a:cxn>
                  <a:cxn ang="0">
                    <a:pos x="93136701" y="0"/>
                  </a:cxn>
                  <a:cxn ang="0">
                    <a:pos x="93136701" y="42979214"/>
                  </a:cxn>
                  <a:cxn ang="0">
                    <a:pos x="62048998" y="72655338"/>
                  </a:cxn>
                  <a:cxn ang="0">
                    <a:pos x="30703554" y="101737945"/>
                  </a:cxn>
                  <a:cxn ang="0">
                    <a:pos x="0" y="101737945"/>
                  </a:cxn>
                  <a:cxn ang="0">
                    <a:pos x="0" y="101737945"/>
                  </a:cxn>
                </a:cxnLst>
                <a:rect l="txL" t="txT" r="txR" b="txB"/>
                <a:pathLst>
                  <a:path w="36" h="42">
                    <a:moveTo>
                      <a:pt x="0" y="42"/>
                    </a:moveTo>
                    <a:lnTo>
                      <a:pt x="12" y="42"/>
                    </a:lnTo>
                    <a:lnTo>
                      <a:pt x="24" y="30"/>
                    </a:lnTo>
                    <a:lnTo>
                      <a:pt x="36" y="18"/>
                    </a:lnTo>
                    <a:lnTo>
                      <a:pt x="36" y="0"/>
                    </a:lnTo>
                    <a:lnTo>
                      <a:pt x="36" y="18"/>
                    </a:lnTo>
                    <a:lnTo>
                      <a:pt x="24" y="30"/>
                    </a:lnTo>
                    <a:lnTo>
                      <a:pt x="12" y="42"/>
                    </a:lnTo>
                    <a:lnTo>
                      <a:pt x="0" y="4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44" name="Freeform 56"/>
              <p:cNvSpPr>
                <a:spLocks noEditPoints="1"/>
              </p:cNvSpPr>
              <p:nvPr/>
            </p:nvSpPr>
            <p:spPr>
              <a:xfrm>
                <a:off x="1135" y="1104"/>
                <a:ext cx="61" cy="68"/>
              </a:xfrm>
              <a:custGeom>
                <a:avLst/>
                <a:gdLst>
                  <a:gd name="txL" fmla="*/ 0 w 36"/>
                  <a:gd name="txT" fmla="*/ 0 h 41"/>
                  <a:gd name="txR" fmla="*/ 36 w 36"/>
                  <a:gd name="txB" fmla="*/ 41 h 41"/>
                </a:gdLst>
                <a:ahLst/>
                <a:cxnLst>
                  <a:cxn ang="0">
                    <a:pos x="93136701" y="58138655"/>
                  </a:cxn>
                  <a:cxn ang="0">
                    <a:pos x="93136701" y="32244830"/>
                  </a:cxn>
                  <a:cxn ang="0">
                    <a:pos x="62048998" y="15625131"/>
                  </a:cxn>
                  <a:cxn ang="0">
                    <a:pos x="30703554" y="6818629"/>
                  </a:cxn>
                  <a:cxn ang="0">
                    <a:pos x="0" y="0"/>
                  </a:cxn>
                  <a:cxn ang="0">
                    <a:pos x="0" y="0"/>
                  </a:cxn>
                  <a:cxn ang="0">
                    <a:pos x="30703554" y="6818629"/>
                  </a:cxn>
                  <a:cxn ang="0">
                    <a:pos x="62048998" y="15625131"/>
                  </a:cxn>
                  <a:cxn ang="0">
                    <a:pos x="93136701" y="32244830"/>
                  </a:cxn>
                  <a:cxn ang="0">
                    <a:pos x="93136701" y="58138655"/>
                  </a:cxn>
                  <a:cxn ang="0">
                    <a:pos x="93136701" y="58138655"/>
                  </a:cxn>
                  <a:cxn ang="0">
                    <a:pos x="93136701" y="58138655"/>
                  </a:cxn>
                  <a:cxn ang="0">
                    <a:pos x="93136701" y="58138655"/>
                  </a:cxn>
                  <a:cxn ang="0">
                    <a:pos x="93136701" y="58138655"/>
                  </a:cxn>
                </a:cxnLst>
                <a:rect l="txL" t="txT" r="txR" b="txB"/>
                <a:pathLst>
                  <a:path w="36" h="41">
                    <a:moveTo>
                      <a:pt x="36" y="41"/>
                    </a:moveTo>
                    <a:lnTo>
                      <a:pt x="36" y="23"/>
                    </a:lnTo>
                    <a:lnTo>
                      <a:pt x="24" y="11"/>
                    </a:lnTo>
                    <a:lnTo>
                      <a:pt x="12" y="5"/>
                    </a:lnTo>
                    <a:lnTo>
                      <a:pt x="0" y="0"/>
                    </a:lnTo>
                    <a:lnTo>
                      <a:pt x="12" y="5"/>
                    </a:lnTo>
                    <a:lnTo>
                      <a:pt x="24" y="11"/>
                    </a:lnTo>
                    <a:lnTo>
                      <a:pt x="36" y="23"/>
                    </a:lnTo>
                    <a:lnTo>
                      <a:pt x="36" y="41"/>
                    </a:lnTo>
                    <a:close/>
                    <a:moveTo>
                      <a:pt x="36" y="41"/>
                    </a:moveTo>
                    <a:lnTo>
                      <a:pt x="36" y="4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45" name="Freeform 57"/>
              <p:cNvSpPr>
                <a:spLocks noEditPoints="1"/>
              </p:cNvSpPr>
              <p:nvPr/>
            </p:nvSpPr>
            <p:spPr>
              <a:xfrm>
                <a:off x="1073" y="1104"/>
                <a:ext cx="62" cy="68"/>
              </a:xfrm>
              <a:custGeom>
                <a:avLst/>
                <a:gdLst>
                  <a:gd name="txL" fmla="*/ 0 w 36"/>
                  <a:gd name="txT" fmla="*/ 0 h 41"/>
                  <a:gd name="txR" fmla="*/ 36 w 36"/>
                  <a:gd name="txB" fmla="*/ 41 h 41"/>
                </a:gdLst>
                <a:ahLst/>
                <a:cxnLst>
                  <a:cxn ang="0">
                    <a:pos x="146934375" y="0"/>
                  </a:cxn>
                  <a:cxn ang="0">
                    <a:pos x="97395872" y="6818629"/>
                  </a:cxn>
                  <a:cxn ang="0">
                    <a:pos x="49538749" y="15625131"/>
                  </a:cxn>
                  <a:cxn ang="0">
                    <a:pos x="23130235" y="32244830"/>
                  </a:cxn>
                  <a:cxn ang="0">
                    <a:pos x="0" y="58138655"/>
                  </a:cxn>
                  <a:cxn ang="0">
                    <a:pos x="0" y="58138655"/>
                  </a:cxn>
                  <a:cxn ang="0">
                    <a:pos x="23130235" y="32244830"/>
                  </a:cxn>
                  <a:cxn ang="0">
                    <a:pos x="49538749" y="15625131"/>
                  </a:cxn>
                  <a:cxn ang="0">
                    <a:pos x="97395872" y="6818629"/>
                  </a:cxn>
                  <a:cxn ang="0">
                    <a:pos x="146934375" y="0"/>
                  </a:cxn>
                  <a:cxn ang="0">
                    <a:pos x="146934375" y="0"/>
                  </a:cxn>
                  <a:cxn ang="0">
                    <a:pos x="146934375" y="0"/>
                  </a:cxn>
                  <a:cxn ang="0">
                    <a:pos x="146934375" y="0"/>
                  </a:cxn>
                  <a:cxn ang="0">
                    <a:pos x="146934375" y="0"/>
                  </a:cxn>
                </a:cxnLst>
                <a:rect l="txL" t="txT" r="txR" b="txB"/>
                <a:pathLst>
                  <a:path w="36" h="41">
                    <a:moveTo>
                      <a:pt x="36" y="0"/>
                    </a:moveTo>
                    <a:lnTo>
                      <a:pt x="24" y="5"/>
                    </a:lnTo>
                    <a:lnTo>
                      <a:pt x="12" y="11"/>
                    </a:lnTo>
                    <a:lnTo>
                      <a:pt x="6" y="23"/>
                    </a:lnTo>
                    <a:lnTo>
                      <a:pt x="0" y="41"/>
                    </a:lnTo>
                    <a:lnTo>
                      <a:pt x="6" y="23"/>
                    </a:lnTo>
                    <a:lnTo>
                      <a:pt x="12" y="11"/>
                    </a:lnTo>
                    <a:lnTo>
                      <a:pt x="24" y="5"/>
                    </a:lnTo>
                    <a:lnTo>
                      <a:pt x="36" y="0"/>
                    </a:lnTo>
                    <a:close/>
                    <a:moveTo>
                      <a:pt x="36" y="0"/>
                    </a:moveTo>
                    <a:lnTo>
                      <a:pt x="3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46" name="Freeform 58"/>
              <p:cNvSpPr>
                <a:spLocks noEditPoints="1"/>
              </p:cNvSpPr>
              <p:nvPr/>
            </p:nvSpPr>
            <p:spPr>
              <a:xfrm>
                <a:off x="1073" y="1172"/>
                <a:ext cx="62" cy="71"/>
              </a:xfrm>
              <a:custGeom>
                <a:avLst/>
                <a:gdLst>
                  <a:gd name="txL" fmla="*/ 0 w 36"/>
                  <a:gd name="txT" fmla="*/ 0 h 42"/>
                  <a:gd name="txR" fmla="*/ 36 w 36"/>
                  <a:gd name="txB" fmla="*/ 42 h 42"/>
                </a:gdLst>
                <a:ahLst/>
                <a:cxnLst>
                  <a:cxn ang="0">
                    <a:pos x="0" y="0"/>
                  </a:cxn>
                  <a:cxn ang="0">
                    <a:pos x="23130235" y="42979214"/>
                  </a:cxn>
                  <a:cxn ang="0">
                    <a:pos x="49538749" y="72655338"/>
                  </a:cxn>
                  <a:cxn ang="0">
                    <a:pos x="97395872" y="101737945"/>
                  </a:cxn>
                  <a:cxn ang="0">
                    <a:pos x="146934375" y="101737945"/>
                  </a:cxn>
                  <a:cxn ang="0">
                    <a:pos x="146934375" y="101737945"/>
                  </a:cxn>
                  <a:cxn ang="0">
                    <a:pos x="97395872" y="101737945"/>
                  </a:cxn>
                  <a:cxn ang="0">
                    <a:pos x="49538749" y="72655338"/>
                  </a:cxn>
                  <a:cxn ang="0">
                    <a:pos x="23130235" y="42979214"/>
                  </a:cxn>
                  <a:cxn ang="0">
                    <a:pos x="0" y="0"/>
                  </a:cxn>
                  <a:cxn ang="0">
                    <a:pos x="0" y="0"/>
                  </a:cxn>
                  <a:cxn ang="0">
                    <a:pos x="0" y="0"/>
                  </a:cxn>
                  <a:cxn ang="0">
                    <a:pos x="0" y="0"/>
                  </a:cxn>
                  <a:cxn ang="0">
                    <a:pos x="0" y="0"/>
                  </a:cxn>
                </a:cxnLst>
                <a:rect l="txL" t="txT" r="txR" b="txB"/>
                <a:pathLst>
                  <a:path w="36" h="42">
                    <a:moveTo>
                      <a:pt x="0" y="0"/>
                    </a:moveTo>
                    <a:lnTo>
                      <a:pt x="6" y="18"/>
                    </a:lnTo>
                    <a:lnTo>
                      <a:pt x="12" y="30"/>
                    </a:lnTo>
                    <a:lnTo>
                      <a:pt x="24" y="42"/>
                    </a:lnTo>
                    <a:lnTo>
                      <a:pt x="36" y="42"/>
                    </a:lnTo>
                    <a:lnTo>
                      <a:pt x="24" y="42"/>
                    </a:lnTo>
                    <a:lnTo>
                      <a:pt x="12" y="30"/>
                    </a:lnTo>
                    <a:lnTo>
                      <a:pt x="6" y="18"/>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47" name="Freeform 59"/>
              <p:cNvSpPr/>
              <p:nvPr/>
            </p:nvSpPr>
            <p:spPr>
              <a:xfrm>
                <a:off x="1135" y="1243"/>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48" name="Freeform 60"/>
              <p:cNvSpPr/>
              <p:nvPr/>
            </p:nvSpPr>
            <p:spPr>
              <a:xfrm>
                <a:off x="1073" y="3491"/>
                <a:ext cx="123" cy="149"/>
              </a:xfrm>
              <a:custGeom>
                <a:avLst/>
                <a:gdLst>
                  <a:gd name="txL" fmla="*/ 0 w 72"/>
                  <a:gd name="txT" fmla="*/ 0 h 89"/>
                  <a:gd name="txR" fmla="*/ 72 w 72"/>
                  <a:gd name="txB" fmla="*/ 89 h 89"/>
                </a:gdLst>
                <a:ahLst/>
                <a:cxnLst>
                  <a:cxn ang="0">
                    <a:pos x="118003057" y="164099668"/>
                  </a:cxn>
                  <a:cxn ang="0">
                    <a:pos x="155781089" y="164099668"/>
                  </a:cxn>
                  <a:cxn ang="0">
                    <a:pos x="193478366" y="142448763"/>
                  </a:cxn>
                  <a:cxn ang="0">
                    <a:pos x="233995764" y="119997579"/>
                  </a:cxn>
                  <a:cxn ang="0">
                    <a:pos x="233995764" y="86844504"/>
                  </a:cxn>
                  <a:cxn ang="0">
                    <a:pos x="233995764" y="53735944"/>
                  </a:cxn>
                  <a:cxn ang="0">
                    <a:pos x="193478366" y="33109245"/>
                  </a:cxn>
                  <a:cxn ang="0">
                    <a:pos x="155781089" y="11054963"/>
                  </a:cxn>
                  <a:cxn ang="0">
                    <a:pos x="118003057" y="0"/>
                  </a:cxn>
                  <a:cxn ang="0">
                    <a:pos x="78262881" y="11054963"/>
                  </a:cxn>
                  <a:cxn ang="0">
                    <a:pos x="37828759" y="33109245"/>
                  </a:cxn>
                  <a:cxn ang="0">
                    <a:pos x="18995478" y="53735944"/>
                  </a:cxn>
                  <a:cxn ang="0">
                    <a:pos x="0" y="86844504"/>
                  </a:cxn>
                  <a:cxn ang="0">
                    <a:pos x="18995478" y="119997579"/>
                  </a:cxn>
                  <a:cxn ang="0">
                    <a:pos x="37828759" y="142448763"/>
                  </a:cxn>
                  <a:cxn ang="0">
                    <a:pos x="78262881" y="164099668"/>
                  </a:cxn>
                  <a:cxn ang="0">
                    <a:pos x="118003057" y="164099668"/>
                  </a:cxn>
                  <a:cxn ang="0">
                    <a:pos x="118003057" y="164099668"/>
                  </a:cxn>
                </a:cxnLst>
                <a:rect l="txL" t="txT" r="txR" b="txB"/>
                <a:pathLst>
                  <a:path w="72" h="89">
                    <a:moveTo>
                      <a:pt x="36" y="89"/>
                    </a:moveTo>
                    <a:lnTo>
                      <a:pt x="48" y="89"/>
                    </a:lnTo>
                    <a:lnTo>
                      <a:pt x="60" y="77"/>
                    </a:lnTo>
                    <a:lnTo>
                      <a:pt x="72" y="65"/>
                    </a:lnTo>
                    <a:lnTo>
                      <a:pt x="72" y="47"/>
                    </a:lnTo>
                    <a:lnTo>
                      <a:pt x="72" y="29"/>
                    </a:lnTo>
                    <a:lnTo>
                      <a:pt x="60" y="18"/>
                    </a:lnTo>
                    <a:lnTo>
                      <a:pt x="48" y="6"/>
                    </a:lnTo>
                    <a:lnTo>
                      <a:pt x="36" y="0"/>
                    </a:lnTo>
                    <a:lnTo>
                      <a:pt x="24" y="6"/>
                    </a:lnTo>
                    <a:lnTo>
                      <a:pt x="12" y="18"/>
                    </a:lnTo>
                    <a:lnTo>
                      <a:pt x="6" y="29"/>
                    </a:lnTo>
                    <a:lnTo>
                      <a:pt x="0" y="47"/>
                    </a:lnTo>
                    <a:lnTo>
                      <a:pt x="6" y="65"/>
                    </a:lnTo>
                    <a:lnTo>
                      <a:pt x="12" y="77"/>
                    </a:lnTo>
                    <a:lnTo>
                      <a:pt x="24" y="89"/>
                    </a:lnTo>
                    <a:lnTo>
                      <a:pt x="36" y="89"/>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49" name="Freeform 61"/>
              <p:cNvSpPr/>
              <p:nvPr/>
            </p:nvSpPr>
            <p:spPr>
              <a:xfrm>
                <a:off x="1135" y="3570"/>
                <a:ext cx="61" cy="70"/>
              </a:xfrm>
              <a:custGeom>
                <a:avLst/>
                <a:gdLst>
                  <a:gd name="txL" fmla="*/ 0 w 36"/>
                  <a:gd name="txT" fmla="*/ 0 h 42"/>
                  <a:gd name="txR" fmla="*/ 36 w 36"/>
                  <a:gd name="txB" fmla="*/ 42 h 42"/>
                </a:gdLst>
                <a:ahLst/>
                <a:cxnLst>
                  <a:cxn ang="0">
                    <a:pos x="0" y="68600333"/>
                  </a:cxn>
                  <a:cxn ang="0">
                    <a:pos x="30703554" y="68600333"/>
                  </a:cxn>
                  <a:cxn ang="0">
                    <a:pos x="62048998" y="48463758"/>
                  </a:cxn>
                  <a:cxn ang="0">
                    <a:pos x="93136701" y="29078255"/>
                  </a:cxn>
                  <a:cxn ang="0">
                    <a:pos x="93136701" y="0"/>
                  </a:cxn>
                  <a:cxn ang="0">
                    <a:pos x="93136701" y="0"/>
                  </a:cxn>
                  <a:cxn ang="0">
                    <a:pos x="93136701" y="29078255"/>
                  </a:cxn>
                  <a:cxn ang="0">
                    <a:pos x="62048998" y="48463758"/>
                  </a:cxn>
                  <a:cxn ang="0">
                    <a:pos x="30703554" y="68600333"/>
                  </a:cxn>
                  <a:cxn ang="0">
                    <a:pos x="0" y="68600333"/>
                  </a:cxn>
                  <a:cxn ang="0">
                    <a:pos x="0" y="68600333"/>
                  </a:cxn>
                </a:cxnLst>
                <a:rect l="txL" t="txT" r="txR" b="txB"/>
                <a:pathLst>
                  <a:path w="36" h="42">
                    <a:moveTo>
                      <a:pt x="0" y="42"/>
                    </a:moveTo>
                    <a:lnTo>
                      <a:pt x="12" y="42"/>
                    </a:lnTo>
                    <a:lnTo>
                      <a:pt x="24" y="30"/>
                    </a:lnTo>
                    <a:lnTo>
                      <a:pt x="36" y="18"/>
                    </a:lnTo>
                    <a:lnTo>
                      <a:pt x="36" y="0"/>
                    </a:lnTo>
                    <a:lnTo>
                      <a:pt x="36" y="18"/>
                    </a:lnTo>
                    <a:lnTo>
                      <a:pt x="24" y="30"/>
                    </a:lnTo>
                    <a:lnTo>
                      <a:pt x="12" y="42"/>
                    </a:lnTo>
                    <a:lnTo>
                      <a:pt x="0" y="4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50" name="Freeform 62"/>
              <p:cNvSpPr>
                <a:spLocks noEditPoints="1"/>
              </p:cNvSpPr>
              <p:nvPr/>
            </p:nvSpPr>
            <p:spPr>
              <a:xfrm>
                <a:off x="1135" y="3491"/>
                <a:ext cx="61" cy="79"/>
              </a:xfrm>
              <a:custGeom>
                <a:avLst/>
                <a:gdLst>
                  <a:gd name="txL" fmla="*/ 0 w 36"/>
                  <a:gd name="txT" fmla="*/ 0 h 47"/>
                  <a:gd name="txR" fmla="*/ 36 w 36"/>
                  <a:gd name="txB" fmla="*/ 47 h 47"/>
                </a:gdLst>
                <a:ahLst/>
                <a:cxnLst>
                  <a:cxn ang="0">
                    <a:pos x="93136701" y="97602431"/>
                  </a:cxn>
                  <a:cxn ang="0">
                    <a:pos x="93136701" y="60071329"/>
                  </a:cxn>
                  <a:cxn ang="0">
                    <a:pos x="62048998" y="36418207"/>
                  </a:cxn>
                  <a:cxn ang="0">
                    <a:pos x="30703554" y="12649680"/>
                  </a:cxn>
                  <a:cxn ang="0">
                    <a:pos x="0" y="0"/>
                  </a:cxn>
                  <a:cxn ang="0">
                    <a:pos x="0" y="0"/>
                  </a:cxn>
                  <a:cxn ang="0">
                    <a:pos x="30703554" y="12649680"/>
                  </a:cxn>
                  <a:cxn ang="0">
                    <a:pos x="62048998" y="36418207"/>
                  </a:cxn>
                  <a:cxn ang="0">
                    <a:pos x="93136701" y="60071329"/>
                  </a:cxn>
                  <a:cxn ang="0">
                    <a:pos x="93136701" y="97602431"/>
                  </a:cxn>
                  <a:cxn ang="0">
                    <a:pos x="93136701" y="97602431"/>
                  </a:cxn>
                  <a:cxn ang="0">
                    <a:pos x="93136701" y="97602431"/>
                  </a:cxn>
                  <a:cxn ang="0">
                    <a:pos x="93136701" y="97602431"/>
                  </a:cxn>
                  <a:cxn ang="0">
                    <a:pos x="93136701" y="97602431"/>
                  </a:cxn>
                </a:cxnLst>
                <a:rect l="txL" t="txT" r="txR" b="txB"/>
                <a:pathLst>
                  <a:path w="36" h="47">
                    <a:moveTo>
                      <a:pt x="36" y="47"/>
                    </a:moveTo>
                    <a:lnTo>
                      <a:pt x="36" y="29"/>
                    </a:lnTo>
                    <a:lnTo>
                      <a:pt x="24" y="18"/>
                    </a:lnTo>
                    <a:lnTo>
                      <a:pt x="12" y="6"/>
                    </a:lnTo>
                    <a:lnTo>
                      <a:pt x="0" y="0"/>
                    </a:lnTo>
                    <a:lnTo>
                      <a:pt x="12" y="6"/>
                    </a:lnTo>
                    <a:lnTo>
                      <a:pt x="24" y="18"/>
                    </a:lnTo>
                    <a:lnTo>
                      <a:pt x="36" y="29"/>
                    </a:lnTo>
                    <a:lnTo>
                      <a:pt x="36" y="47"/>
                    </a:lnTo>
                    <a:close/>
                    <a:moveTo>
                      <a:pt x="36" y="47"/>
                    </a:moveTo>
                    <a:lnTo>
                      <a:pt x="36" y="4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51" name="Freeform 63"/>
              <p:cNvSpPr>
                <a:spLocks noEditPoints="1"/>
              </p:cNvSpPr>
              <p:nvPr/>
            </p:nvSpPr>
            <p:spPr>
              <a:xfrm>
                <a:off x="1073" y="3491"/>
                <a:ext cx="62" cy="79"/>
              </a:xfrm>
              <a:custGeom>
                <a:avLst/>
                <a:gdLst>
                  <a:gd name="txL" fmla="*/ 0 w 36"/>
                  <a:gd name="txT" fmla="*/ 0 h 47"/>
                  <a:gd name="txR" fmla="*/ 36 w 36"/>
                  <a:gd name="txB" fmla="*/ 47 h 47"/>
                </a:gdLst>
                <a:ahLst/>
                <a:cxnLst>
                  <a:cxn ang="0">
                    <a:pos x="146934375" y="0"/>
                  </a:cxn>
                  <a:cxn ang="0">
                    <a:pos x="97395872" y="12649680"/>
                  </a:cxn>
                  <a:cxn ang="0">
                    <a:pos x="49538749" y="36418207"/>
                  </a:cxn>
                  <a:cxn ang="0">
                    <a:pos x="23130235" y="60071329"/>
                  </a:cxn>
                  <a:cxn ang="0">
                    <a:pos x="0" y="97602431"/>
                  </a:cxn>
                  <a:cxn ang="0">
                    <a:pos x="0" y="97602431"/>
                  </a:cxn>
                  <a:cxn ang="0">
                    <a:pos x="23130235" y="60071329"/>
                  </a:cxn>
                  <a:cxn ang="0">
                    <a:pos x="49538749" y="36418207"/>
                  </a:cxn>
                  <a:cxn ang="0">
                    <a:pos x="97395872" y="12649680"/>
                  </a:cxn>
                  <a:cxn ang="0">
                    <a:pos x="146934375" y="0"/>
                  </a:cxn>
                  <a:cxn ang="0">
                    <a:pos x="146934375" y="0"/>
                  </a:cxn>
                  <a:cxn ang="0">
                    <a:pos x="146934375" y="0"/>
                  </a:cxn>
                  <a:cxn ang="0">
                    <a:pos x="146934375" y="0"/>
                  </a:cxn>
                  <a:cxn ang="0">
                    <a:pos x="146934375" y="0"/>
                  </a:cxn>
                </a:cxnLst>
                <a:rect l="txL" t="txT" r="txR" b="txB"/>
                <a:pathLst>
                  <a:path w="36" h="47">
                    <a:moveTo>
                      <a:pt x="36" y="0"/>
                    </a:moveTo>
                    <a:lnTo>
                      <a:pt x="24" y="6"/>
                    </a:lnTo>
                    <a:lnTo>
                      <a:pt x="12" y="18"/>
                    </a:lnTo>
                    <a:lnTo>
                      <a:pt x="6" y="29"/>
                    </a:lnTo>
                    <a:lnTo>
                      <a:pt x="0" y="47"/>
                    </a:lnTo>
                    <a:lnTo>
                      <a:pt x="6" y="29"/>
                    </a:lnTo>
                    <a:lnTo>
                      <a:pt x="12" y="18"/>
                    </a:lnTo>
                    <a:lnTo>
                      <a:pt x="24" y="6"/>
                    </a:lnTo>
                    <a:lnTo>
                      <a:pt x="36" y="0"/>
                    </a:lnTo>
                    <a:close/>
                    <a:moveTo>
                      <a:pt x="36" y="0"/>
                    </a:moveTo>
                    <a:lnTo>
                      <a:pt x="3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52" name="Freeform 64"/>
              <p:cNvSpPr>
                <a:spLocks noEditPoints="1"/>
              </p:cNvSpPr>
              <p:nvPr/>
            </p:nvSpPr>
            <p:spPr>
              <a:xfrm>
                <a:off x="1073" y="3570"/>
                <a:ext cx="62" cy="70"/>
              </a:xfrm>
              <a:custGeom>
                <a:avLst/>
                <a:gdLst>
                  <a:gd name="txL" fmla="*/ 0 w 36"/>
                  <a:gd name="txT" fmla="*/ 0 h 42"/>
                  <a:gd name="txR" fmla="*/ 36 w 36"/>
                  <a:gd name="txB" fmla="*/ 42 h 42"/>
                </a:gdLst>
                <a:ahLst/>
                <a:cxnLst>
                  <a:cxn ang="0">
                    <a:pos x="0" y="0"/>
                  </a:cxn>
                  <a:cxn ang="0">
                    <a:pos x="23130235" y="29078255"/>
                  </a:cxn>
                  <a:cxn ang="0">
                    <a:pos x="49538749" y="48463758"/>
                  </a:cxn>
                  <a:cxn ang="0">
                    <a:pos x="97395872" y="68600333"/>
                  </a:cxn>
                  <a:cxn ang="0">
                    <a:pos x="146934375" y="68600333"/>
                  </a:cxn>
                  <a:cxn ang="0">
                    <a:pos x="146934375" y="68600333"/>
                  </a:cxn>
                  <a:cxn ang="0">
                    <a:pos x="97395872" y="68600333"/>
                  </a:cxn>
                  <a:cxn ang="0">
                    <a:pos x="49538749" y="48463758"/>
                  </a:cxn>
                  <a:cxn ang="0">
                    <a:pos x="23130235" y="29078255"/>
                  </a:cxn>
                  <a:cxn ang="0">
                    <a:pos x="0" y="0"/>
                  </a:cxn>
                  <a:cxn ang="0">
                    <a:pos x="0" y="0"/>
                  </a:cxn>
                  <a:cxn ang="0">
                    <a:pos x="0" y="0"/>
                  </a:cxn>
                  <a:cxn ang="0">
                    <a:pos x="0" y="0"/>
                  </a:cxn>
                  <a:cxn ang="0">
                    <a:pos x="0" y="0"/>
                  </a:cxn>
                </a:cxnLst>
                <a:rect l="txL" t="txT" r="txR" b="txB"/>
                <a:pathLst>
                  <a:path w="36" h="42">
                    <a:moveTo>
                      <a:pt x="0" y="0"/>
                    </a:moveTo>
                    <a:lnTo>
                      <a:pt x="6" y="18"/>
                    </a:lnTo>
                    <a:lnTo>
                      <a:pt x="12" y="30"/>
                    </a:lnTo>
                    <a:lnTo>
                      <a:pt x="24" y="42"/>
                    </a:lnTo>
                    <a:lnTo>
                      <a:pt x="36" y="42"/>
                    </a:lnTo>
                    <a:lnTo>
                      <a:pt x="24" y="42"/>
                    </a:lnTo>
                    <a:lnTo>
                      <a:pt x="12" y="30"/>
                    </a:lnTo>
                    <a:lnTo>
                      <a:pt x="6" y="18"/>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53" name="Freeform 65"/>
              <p:cNvSpPr/>
              <p:nvPr/>
            </p:nvSpPr>
            <p:spPr>
              <a:xfrm>
                <a:off x="1135" y="3640"/>
                <a:ext cx="1" cy="2"/>
              </a:xfrm>
              <a:custGeom>
                <a:avLst/>
                <a:gdLst>
                  <a:gd name="txL" fmla="*/ 0 w 1"/>
                  <a:gd name="txT" fmla="*/ 0 h 2"/>
                  <a:gd name="txR" fmla="*/ 1 w 1"/>
                  <a:gd name="txB" fmla="*/ 2 h 2"/>
                </a:gdLst>
                <a:ahLst/>
                <a:cxnLst>
                  <a:cxn ang="0">
                    <a:pos x="0" y="0"/>
                  </a:cxn>
                  <a:cxn ang="0">
                    <a:pos x="0" y="0"/>
                  </a:cxn>
                  <a:cxn ang="0">
                    <a:pos x="0" y="0"/>
                  </a:cxn>
                </a:cxnLst>
                <a:rect l="txL" t="txT" r="txR" b="txB"/>
                <a:pathLst>
                  <a:path w="1" h="2">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54" name="Freeform 66"/>
              <p:cNvSpPr/>
              <p:nvPr/>
            </p:nvSpPr>
            <p:spPr>
              <a:xfrm>
                <a:off x="3615" y="2372"/>
                <a:ext cx="2" cy="1208"/>
              </a:xfrm>
              <a:custGeom>
                <a:avLst/>
                <a:gdLst>
                  <a:gd name="txL" fmla="*/ 0 w 2"/>
                  <a:gd name="txT" fmla="*/ 0 h 722"/>
                  <a:gd name="txR" fmla="*/ 2 w 2"/>
                  <a:gd name="txB" fmla="*/ 722 h 722"/>
                </a:gdLst>
                <a:ahLst/>
                <a:cxnLst>
                  <a:cxn ang="0">
                    <a:pos x="0" y="1310100406"/>
                  </a:cxn>
                  <a:cxn ang="0">
                    <a:pos x="0" y="0"/>
                  </a:cxn>
                  <a:cxn ang="0">
                    <a:pos x="0" y="1310100406"/>
                  </a:cxn>
                  <a:cxn ang="0">
                    <a:pos x="0" y="1310100406"/>
                  </a:cxn>
                </a:cxnLst>
                <a:rect l="txL" t="txT" r="txR" b="txB"/>
                <a:pathLst>
                  <a:path w="2" h="722">
                    <a:moveTo>
                      <a:pt x="0" y="722"/>
                    </a:moveTo>
                    <a:lnTo>
                      <a:pt x="0" y="0"/>
                    </a:lnTo>
                    <a:lnTo>
                      <a:pt x="0" y="72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55" name="Freeform 67"/>
              <p:cNvSpPr>
                <a:spLocks noEditPoints="1"/>
              </p:cNvSpPr>
              <p:nvPr/>
            </p:nvSpPr>
            <p:spPr>
              <a:xfrm>
                <a:off x="2575" y="2372"/>
                <a:ext cx="1040" cy="2"/>
              </a:xfrm>
              <a:custGeom>
                <a:avLst/>
                <a:gdLst>
                  <a:gd name="txL" fmla="*/ 0 w 610"/>
                  <a:gd name="txT" fmla="*/ 0 h 2"/>
                  <a:gd name="txR" fmla="*/ 610 w 610"/>
                  <a:gd name="txB" fmla="*/ 2 h 2"/>
                </a:gdLst>
                <a:ahLst/>
                <a:cxnLst>
                  <a:cxn ang="0">
                    <a:pos x="1875039460" y="0"/>
                  </a:cxn>
                  <a:cxn ang="0">
                    <a:pos x="0" y="0"/>
                  </a:cxn>
                  <a:cxn ang="0">
                    <a:pos x="1875039460" y="0"/>
                  </a:cxn>
                  <a:cxn ang="0">
                    <a:pos x="1875039460" y="0"/>
                  </a:cxn>
                  <a:cxn ang="0">
                    <a:pos x="1875039460" y="0"/>
                  </a:cxn>
                  <a:cxn ang="0">
                    <a:pos x="1875039460" y="0"/>
                  </a:cxn>
                  <a:cxn ang="0">
                    <a:pos x="1875039460" y="0"/>
                  </a:cxn>
                </a:cxnLst>
                <a:rect l="txL" t="txT" r="txR" b="txB"/>
                <a:pathLst>
                  <a:path w="610" h="2">
                    <a:moveTo>
                      <a:pt x="610" y="0"/>
                    </a:moveTo>
                    <a:lnTo>
                      <a:pt x="0" y="0"/>
                    </a:lnTo>
                    <a:lnTo>
                      <a:pt x="610" y="0"/>
                    </a:lnTo>
                    <a:close/>
                    <a:moveTo>
                      <a:pt x="610" y="0"/>
                    </a:moveTo>
                    <a:lnTo>
                      <a:pt x="61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56" name="Freeform 68"/>
              <p:cNvSpPr>
                <a:spLocks noEditPoints="1"/>
              </p:cNvSpPr>
              <p:nvPr/>
            </p:nvSpPr>
            <p:spPr>
              <a:xfrm>
                <a:off x="2575" y="2372"/>
                <a:ext cx="1" cy="1198"/>
              </a:xfrm>
              <a:custGeom>
                <a:avLst/>
                <a:gdLst>
                  <a:gd name="txL" fmla="*/ 0 w 1"/>
                  <a:gd name="txT" fmla="*/ 0 h 716"/>
                  <a:gd name="txR" fmla="*/ 1 w 1"/>
                  <a:gd name="txB" fmla="*/ 716 h 716"/>
                </a:gdLst>
                <a:ahLst/>
                <a:cxnLst>
                  <a:cxn ang="0">
                    <a:pos x="0" y="0"/>
                  </a:cxn>
                  <a:cxn ang="0">
                    <a:pos x="0" y="1300261277"/>
                  </a:cxn>
                  <a:cxn ang="0">
                    <a:pos x="0" y="0"/>
                  </a:cxn>
                  <a:cxn ang="0">
                    <a:pos x="0" y="0"/>
                  </a:cxn>
                  <a:cxn ang="0">
                    <a:pos x="0" y="0"/>
                  </a:cxn>
                  <a:cxn ang="0">
                    <a:pos x="0" y="0"/>
                  </a:cxn>
                  <a:cxn ang="0">
                    <a:pos x="0" y="0"/>
                  </a:cxn>
                </a:cxnLst>
                <a:rect l="txL" t="txT" r="txR" b="txB"/>
                <a:pathLst>
                  <a:path w="1" h="716">
                    <a:moveTo>
                      <a:pt x="0" y="0"/>
                    </a:moveTo>
                    <a:lnTo>
                      <a:pt x="0" y="716"/>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57" name="Freeform 69"/>
              <p:cNvSpPr>
                <a:spLocks noEditPoints="1"/>
              </p:cNvSpPr>
              <p:nvPr/>
            </p:nvSpPr>
            <p:spPr>
              <a:xfrm>
                <a:off x="1952" y="694"/>
                <a:ext cx="112" cy="209"/>
              </a:xfrm>
              <a:custGeom>
                <a:avLst/>
                <a:gdLst>
                  <a:gd name="txL" fmla="*/ 0 w 66"/>
                  <a:gd name="txT" fmla="*/ 0 h 125"/>
                  <a:gd name="txR" fmla="*/ 66 w 66"/>
                  <a:gd name="txB" fmla="*/ 125 h 125"/>
                </a:gdLst>
                <a:ahLst/>
                <a:cxnLst>
                  <a:cxn ang="0">
                    <a:pos x="177633626" y="147855202"/>
                  </a:cxn>
                  <a:cxn ang="0">
                    <a:pos x="146358635" y="147855202"/>
                  </a:cxn>
                  <a:cxn ang="0">
                    <a:pos x="146358635" y="0"/>
                  </a:cxn>
                  <a:cxn ang="0">
                    <a:pos x="128166783" y="0"/>
                  </a:cxn>
                  <a:cxn ang="0">
                    <a:pos x="0" y="147855202"/>
                  </a:cxn>
                  <a:cxn ang="0">
                    <a:pos x="0" y="169549438"/>
                  </a:cxn>
                  <a:cxn ang="0">
                    <a:pos x="112473694" y="169549438"/>
                  </a:cxn>
                  <a:cxn ang="0">
                    <a:pos x="112473694" y="222432841"/>
                  </a:cxn>
                  <a:cxn ang="0">
                    <a:pos x="146358635" y="222432841"/>
                  </a:cxn>
                  <a:cxn ang="0">
                    <a:pos x="146358635" y="169549438"/>
                  </a:cxn>
                  <a:cxn ang="0">
                    <a:pos x="177633626" y="169549438"/>
                  </a:cxn>
                  <a:cxn ang="0">
                    <a:pos x="177633626" y="147855202"/>
                  </a:cxn>
                  <a:cxn ang="0">
                    <a:pos x="112473694" y="147855202"/>
                  </a:cxn>
                  <a:cxn ang="0">
                    <a:pos x="15923605" y="147855202"/>
                  </a:cxn>
                  <a:cxn ang="0">
                    <a:pos x="112473694" y="31864540"/>
                  </a:cxn>
                  <a:cxn ang="0">
                    <a:pos x="112473694" y="31864540"/>
                  </a:cxn>
                  <a:cxn ang="0">
                    <a:pos x="112473694" y="147855202"/>
                  </a:cxn>
                </a:cxnLst>
                <a:rect l="txL" t="txT" r="txR" b="txB"/>
                <a:pathLst>
                  <a:path w="66" h="125">
                    <a:moveTo>
                      <a:pt x="66" y="83"/>
                    </a:moveTo>
                    <a:lnTo>
                      <a:pt x="54" y="83"/>
                    </a:lnTo>
                    <a:lnTo>
                      <a:pt x="54" y="0"/>
                    </a:lnTo>
                    <a:lnTo>
                      <a:pt x="48" y="0"/>
                    </a:lnTo>
                    <a:lnTo>
                      <a:pt x="0" y="83"/>
                    </a:lnTo>
                    <a:lnTo>
                      <a:pt x="0" y="95"/>
                    </a:lnTo>
                    <a:lnTo>
                      <a:pt x="42" y="95"/>
                    </a:lnTo>
                    <a:lnTo>
                      <a:pt x="42" y="125"/>
                    </a:lnTo>
                    <a:lnTo>
                      <a:pt x="54" y="125"/>
                    </a:lnTo>
                    <a:lnTo>
                      <a:pt x="54" y="95"/>
                    </a:lnTo>
                    <a:lnTo>
                      <a:pt x="66" y="95"/>
                    </a:lnTo>
                    <a:lnTo>
                      <a:pt x="66" y="83"/>
                    </a:lnTo>
                    <a:close/>
                    <a:moveTo>
                      <a:pt x="42" y="83"/>
                    </a:moveTo>
                    <a:lnTo>
                      <a:pt x="6" y="83"/>
                    </a:lnTo>
                    <a:lnTo>
                      <a:pt x="42" y="18"/>
                    </a:lnTo>
                    <a:lnTo>
                      <a:pt x="42" y="8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58" name="Freeform 70"/>
              <p:cNvSpPr/>
              <p:nvPr/>
            </p:nvSpPr>
            <p:spPr>
              <a:xfrm>
                <a:off x="2145" y="684"/>
                <a:ext cx="174" cy="219"/>
              </a:xfrm>
              <a:custGeom>
                <a:avLst/>
                <a:gdLst>
                  <a:gd name="txL" fmla="*/ 0 w 102"/>
                  <a:gd name="txT" fmla="*/ 0 h 131"/>
                  <a:gd name="txR" fmla="*/ 102 w 102"/>
                  <a:gd name="txB" fmla="*/ 131 h 131"/>
                </a:gdLst>
                <a:ahLst/>
                <a:cxnLst>
                  <a:cxn ang="0">
                    <a:pos x="132084678" y="189897556"/>
                  </a:cxn>
                  <a:cxn ang="0">
                    <a:pos x="111352156" y="179570663"/>
                  </a:cxn>
                  <a:cxn ang="0">
                    <a:pos x="93026255" y="168985750"/>
                  </a:cxn>
                  <a:cxn ang="0">
                    <a:pos x="74718101" y="147395594"/>
                  </a:cxn>
                  <a:cxn ang="0">
                    <a:pos x="56920789" y="126403329"/>
                  </a:cxn>
                  <a:cxn ang="0">
                    <a:pos x="56920789" y="94428947"/>
                  </a:cxn>
                  <a:cxn ang="0">
                    <a:pos x="74718101" y="63284681"/>
                  </a:cxn>
                  <a:cxn ang="0">
                    <a:pos x="93026255" y="31769720"/>
                  </a:cxn>
                  <a:cxn ang="0">
                    <a:pos x="132084678" y="20899364"/>
                  </a:cxn>
                  <a:cxn ang="0">
                    <a:pos x="150415344" y="10727476"/>
                  </a:cxn>
                  <a:cxn ang="0">
                    <a:pos x="187053770" y="20899364"/>
                  </a:cxn>
                  <a:cxn ang="0">
                    <a:pos x="225320921" y="31769720"/>
                  </a:cxn>
                  <a:cxn ang="0">
                    <a:pos x="243441471" y="63284681"/>
                  </a:cxn>
                  <a:cxn ang="0">
                    <a:pos x="261830456" y="94428947"/>
                  </a:cxn>
                  <a:cxn ang="0">
                    <a:pos x="261830456" y="126403329"/>
                  </a:cxn>
                  <a:cxn ang="0">
                    <a:pos x="243441471" y="147395594"/>
                  </a:cxn>
                  <a:cxn ang="0">
                    <a:pos x="225320921" y="168985750"/>
                  </a:cxn>
                  <a:cxn ang="0">
                    <a:pos x="225320921" y="179570663"/>
                  </a:cxn>
                  <a:cxn ang="0">
                    <a:pos x="187053770" y="189897556"/>
                  </a:cxn>
                  <a:cxn ang="0">
                    <a:pos x="187053770" y="232302959"/>
                  </a:cxn>
                  <a:cxn ang="0">
                    <a:pos x="319091725" y="232302959"/>
                  </a:cxn>
                  <a:cxn ang="0">
                    <a:pos x="319091725" y="179570663"/>
                  </a:cxn>
                  <a:cxn ang="0">
                    <a:pos x="319091725" y="179570663"/>
                  </a:cxn>
                  <a:cxn ang="0">
                    <a:pos x="300499614" y="200539597"/>
                  </a:cxn>
                  <a:cxn ang="0">
                    <a:pos x="282564852" y="200539597"/>
                  </a:cxn>
                  <a:cxn ang="0">
                    <a:pos x="206985299" y="200539597"/>
                  </a:cxn>
                  <a:cxn ang="0">
                    <a:pos x="206985299" y="189897556"/>
                  </a:cxn>
                  <a:cxn ang="0">
                    <a:pos x="243441471" y="179570663"/>
                  </a:cxn>
                  <a:cxn ang="0">
                    <a:pos x="282564852" y="157862133"/>
                  </a:cxn>
                  <a:cxn ang="0">
                    <a:pos x="319091725" y="105557480"/>
                  </a:cxn>
                  <a:cxn ang="0">
                    <a:pos x="300499614" y="53111211"/>
                  </a:cxn>
                  <a:cxn ang="0">
                    <a:pos x="261830456" y="31769720"/>
                  </a:cxn>
                  <a:cxn ang="0">
                    <a:pos x="243441471" y="20899364"/>
                  </a:cxn>
                  <a:cxn ang="0">
                    <a:pos x="206985299" y="10727476"/>
                  </a:cxn>
                  <a:cxn ang="0">
                    <a:pos x="150415344" y="0"/>
                  </a:cxn>
                  <a:cxn ang="0">
                    <a:pos x="111352156" y="10727476"/>
                  </a:cxn>
                  <a:cxn ang="0">
                    <a:pos x="74718101" y="20899364"/>
                  </a:cxn>
                  <a:cxn ang="0">
                    <a:pos x="56920789" y="31769720"/>
                  </a:cxn>
                  <a:cxn ang="0">
                    <a:pos x="18124865" y="53111211"/>
                  </a:cxn>
                  <a:cxn ang="0">
                    <a:pos x="0" y="105557480"/>
                  </a:cxn>
                  <a:cxn ang="0">
                    <a:pos x="18124865" y="157862133"/>
                  </a:cxn>
                  <a:cxn ang="0">
                    <a:pos x="56920789" y="179570663"/>
                  </a:cxn>
                  <a:cxn ang="0">
                    <a:pos x="111352156" y="189897556"/>
                  </a:cxn>
                  <a:cxn ang="0">
                    <a:pos x="111352156" y="200539597"/>
                  </a:cxn>
                  <a:cxn ang="0">
                    <a:pos x="36501676" y="200539597"/>
                  </a:cxn>
                  <a:cxn ang="0">
                    <a:pos x="18124865" y="200539597"/>
                  </a:cxn>
                  <a:cxn ang="0">
                    <a:pos x="0" y="179570663"/>
                  </a:cxn>
                  <a:cxn ang="0">
                    <a:pos x="0" y="179570663"/>
                  </a:cxn>
                  <a:cxn ang="0">
                    <a:pos x="0" y="232302959"/>
                  </a:cxn>
                  <a:cxn ang="0">
                    <a:pos x="132084678" y="232302959"/>
                  </a:cxn>
                  <a:cxn ang="0">
                    <a:pos x="132084678" y="189897556"/>
                  </a:cxn>
                </a:cxnLst>
                <a:rect l="txL" t="txT" r="txR" b="txB"/>
                <a:pathLst>
                  <a:path w="102" h="131">
                    <a:moveTo>
                      <a:pt x="42" y="107"/>
                    </a:moveTo>
                    <a:lnTo>
                      <a:pt x="36" y="101"/>
                    </a:lnTo>
                    <a:lnTo>
                      <a:pt x="30" y="95"/>
                    </a:lnTo>
                    <a:lnTo>
                      <a:pt x="24" y="83"/>
                    </a:lnTo>
                    <a:lnTo>
                      <a:pt x="18" y="71"/>
                    </a:lnTo>
                    <a:lnTo>
                      <a:pt x="18" y="53"/>
                    </a:lnTo>
                    <a:lnTo>
                      <a:pt x="24" y="36"/>
                    </a:lnTo>
                    <a:lnTo>
                      <a:pt x="30" y="18"/>
                    </a:lnTo>
                    <a:lnTo>
                      <a:pt x="42" y="12"/>
                    </a:lnTo>
                    <a:lnTo>
                      <a:pt x="48" y="6"/>
                    </a:lnTo>
                    <a:lnTo>
                      <a:pt x="60" y="12"/>
                    </a:lnTo>
                    <a:lnTo>
                      <a:pt x="72" y="18"/>
                    </a:lnTo>
                    <a:lnTo>
                      <a:pt x="78" y="36"/>
                    </a:lnTo>
                    <a:lnTo>
                      <a:pt x="84" y="53"/>
                    </a:lnTo>
                    <a:lnTo>
                      <a:pt x="84" y="71"/>
                    </a:lnTo>
                    <a:lnTo>
                      <a:pt x="78" y="83"/>
                    </a:lnTo>
                    <a:lnTo>
                      <a:pt x="72" y="95"/>
                    </a:lnTo>
                    <a:lnTo>
                      <a:pt x="72" y="101"/>
                    </a:lnTo>
                    <a:lnTo>
                      <a:pt x="60" y="107"/>
                    </a:lnTo>
                    <a:lnTo>
                      <a:pt x="60" y="131"/>
                    </a:lnTo>
                    <a:lnTo>
                      <a:pt x="102" y="131"/>
                    </a:lnTo>
                    <a:lnTo>
                      <a:pt x="102" y="101"/>
                    </a:lnTo>
                    <a:lnTo>
                      <a:pt x="96" y="113"/>
                    </a:lnTo>
                    <a:lnTo>
                      <a:pt x="90" y="113"/>
                    </a:lnTo>
                    <a:lnTo>
                      <a:pt x="66" y="113"/>
                    </a:lnTo>
                    <a:lnTo>
                      <a:pt x="66" y="107"/>
                    </a:lnTo>
                    <a:lnTo>
                      <a:pt x="78" y="101"/>
                    </a:lnTo>
                    <a:lnTo>
                      <a:pt x="90" y="89"/>
                    </a:lnTo>
                    <a:lnTo>
                      <a:pt x="102" y="59"/>
                    </a:lnTo>
                    <a:lnTo>
                      <a:pt x="96" y="30"/>
                    </a:lnTo>
                    <a:lnTo>
                      <a:pt x="84" y="18"/>
                    </a:lnTo>
                    <a:lnTo>
                      <a:pt x="78" y="12"/>
                    </a:lnTo>
                    <a:lnTo>
                      <a:pt x="66" y="6"/>
                    </a:lnTo>
                    <a:lnTo>
                      <a:pt x="48" y="0"/>
                    </a:lnTo>
                    <a:lnTo>
                      <a:pt x="36" y="6"/>
                    </a:lnTo>
                    <a:lnTo>
                      <a:pt x="24" y="12"/>
                    </a:lnTo>
                    <a:lnTo>
                      <a:pt x="18" y="18"/>
                    </a:lnTo>
                    <a:lnTo>
                      <a:pt x="6" y="30"/>
                    </a:lnTo>
                    <a:lnTo>
                      <a:pt x="0" y="59"/>
                    </a:lnTo>
                    <a:lnTo>
                      <a:pt x="6" y="89"/>
                    </a:lnTo>
                    <a:lnTo>
                      <a:pt x="18" y="101"/>
                    </a:lnTo>
                    <a:lnTo>
                      <a:pt x="36" y="107"/>
                    </a:lnTo>
                    <a:lnTo>
                      <a:pt x="36" y="113"/>
                    </a:lnTo>
                    <a:lnTo>
                      <a:pt x="12" y="113"/>
                    </a:lnTo>
                    <a:lnTo>
                      <a:pt x="6" y="113"/>
                    </a:lnTo>
                    <a:lnTo>
                      <a:pt x="0" y="101"/>
                    </a:lnTo>
                    <a:lnTo>
                      <a:pt x="0" y="131"/>
                    </a:lnTo>
                    <a:lnTo>
                      <a:pt x="42" y="131"/>
                    </a:lnTo>
                    <a:lnTo>
                      <a:pt x="42" y="10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59" name="Freeform 71"/>
              <p:cNvSpPr>
                <a:spLocks noEditPoints="1"/>
              </p:cNvSpPr>
              <p:nvPr/>
            </p:nvSpPr>
            <p:spPr>
              <a:xfrm>
                <a:off x="1716" y="3081"/>
                <a:ext cx="92" cy="219"/>
              </a:xfrm>
              <a:custGeom>
                <a:avLst/>
                <a:gdLst>
                  <a:gd name="txL" fmla="*/ 0 w 54"/>
                  <a:gd name="txT" fmla="*/ 0 h 131"/>
                  <a:gd name="txR" fmla="*/ 54 w 54"/>
                  <a:gd name="txB" fmla="*/ 131 h 131"/>
                </a:gdLst>
                <a:ahLst/>
                <a:cxnLst>
                  <a:cxn ang="0">
                    <a:pos x="54782073" y="115271185"/>
                  </a:cxn>
                  <a:cxn ang="0">
                    <a:pos x="108032061" y="147395594"/>
                  </a:cxn>
                  <a:cxn ang="0">
                    <a:pos x="128024409" y="179570663"/>
                  </a:cxn>
                  <a:cxn ang="0">
                    <a:pos x="108032061" y="211315489"/>
                  </a:cxn>
                  <a:cxn ang="0">
                    <a:pos x="90049622" y="221429509"/>
                  </a:cxn>
                  <a:cxn ang="0">
                    <a:pos x="54782073" y="211315489"/>
                  </a:cxn>
                  <a:cxn ang="0">
                    <a:pos x="35521111" y="168985750"/>
                  </a:cxn>
                  <a:cxn ang="0">
                    <a:pos x="54782073" y="137149218"/>
                  </a:cxn>
                  <a:cxn ang="0">
                    <a:pos x="54782073" y="115271185"/>
                  </a:cxn>
                  <a:cxn ang="0">
                    <a:pos x="54782073" y="115271185"/>
                  </a:cxn>
                  <a:cxn ang="0">
                    <a:pos x="0" y="179570663"/>
                  </a:cxn>
                  <a:cxn ang="0">
                    <a:pos x="17356953" y="211315489"/>
                  </a:cxn>
                  <a:cxn ang="0">
                    <a:pos x="35521111" y="232302959"/>
                  </a:cxn>
                  <a:cxn ang="0">
                    <a:pos x="72554560" y="232302959"/>
                  </a:cxn>
                  <a:cxn ang="0">
                    <a:pos x="128024409" y="221429509"/>
                  </a:cxn>
                  <a:cxn ang="0">
                    <a:pos x="145519506" y="211315489"/>
                  </a:cxn>
                  <a:cxn ang="0">
                    <a:pos x="162670412" y="168985750"/>
                  </a:cxn>
                  <a:cxn ang="0">
                    <a:pos x="162670412" y="137149218"/>
                  </a:cxn>
                  <a:cxn ang="0">
                    <a:pos x="128024409" y="115271185"/>
                  </a:cxn>
                  <a:cxn ang="0">
                    <a:pos x="90049622" y="95414291"/>
                  </a:cxn>
                  <a:cxn ang="0">
                    <a:pos x="145519506" y="74394068"/>
                  </a:cxn>
                  <a:cxn ang="0">
                    <a:pos x="162670412" y="42458423"/>
                  </a:cxn>
                  <a:cxn ang="0">
                    <a:pos x="145519506" y="10727476"/>
                  </a:cxn>
                  <a:cxn ang="0">
                    <a:pos x="72554560" y="0"/>
                  </a:cxn>
                  <a:cxn ang="0">
                    <a:pos x="17356953" y="10727476"/>
                  </a:cxn>
                  <a:cxn ang="0">
                    <a:pos x="0" y="31769720"/>
                  </a:cxn>
                  <a:cxn ang="0">
                    <a:pos x="0" y="53111211"/>
                  </a:cxn>
                  <a:cxn ang="0">
                    <a:pos x="17356953" y="84910245"/>
                  </a:cxn>
                  <a:cxn ang="0">
                    <a:pos x="54782073" y="115271185"/>
                  </a:cxn>
                  <a:cxn ang="0">
                    <a:pos x="17356953" y="147395594"/>
                  </a:cxn>
                  <a:cxn ang="0">
                    <a:pos x="0" y="179570663"/>
                  </a:cxn>
                  <a:cxn ang="0">
                    <a:pos x="0" y="179570663"/>
                  </a:cxn>
                  <a:cxn ang="0">
                    <a:pos x="35521111" y="42458423"/>
                  </a:cxn>
                  <a:cxn ang="0">
                    <a:pos x="35521111" y="20899364"/>
                  </a:cxn>
                  <a:cxn ang="0">
                    <a:pos x="72554560" y="10727476"/>
                  </a:cxn>
                  <a:cxn ang="0">
                    <a:pos x="108032061" y="20899364"/>
                  </a:cxn>
                  <a:cxn ang="0">
                    <a:pos x="128024409" y="42458423"/>
                  </a:cxn>
                  <a:cxn ang="0">
                    <a:pos x="108032061" y="74394068"/>
                  </a:cxn>
                  <a:cxn ang="0">
                    <a:pos x="90049622" y="95414291"/>
                  </a:cxn>
                  <a:cxn ang="0">
                    <a:pos x="54782073" y="74394068"/>
                  </a:cxn>
                  <a:cxn ang="0">
                    <a:pos x="35521111" y="42458423"/>
                  </a:cxn>
                  <a:cxn ang="0">
                    <a:pos x="35521111" y="42458423"/>
                  </a:cxn>
                </a:cxnLst>
                <a:rect l="txL" t="txT" r="txR" b="txB"/>
                <a:pathLst>
                  <a:path w="54" h="131">
                    <a:moveTo>
                      <a:pt x="18" y="65"/>
                    </a:moveTo>
                    <a:lnTo>
                      <a:pt x="36" y="83"/>
                    </a:lnTo>
                    <a:lnTo>
                      <a:pt x="42" y="101"/>
                    </a:lnTo>
                    <a:lnTo>
                      <a:pt x="36" y="119"/>
                    </a:lnTo>
                    <a:lnTo>
                      <a:pt x="30" y="125"/>
                    </a:lnTo>
                    <a:lnTo>
                      <a:pt x="18" y="119"/>
                    </a:lnTo>
                    <a:lnTo>
                      <a:pt x="12" y="95"/>
                    </a:lnTo>
                    <a:lnTo>
                      <a:pt x="18" y="77"/>
                    </a:lnTo>
                    <a:lnTo>
                      <a:pt x="18" y="65"/>
                    </a:lnTo>
                    <a:close/>
                    <a:moveTo>
                      <a:pt x="0" y="101"/>
                    </a:moveTo>
                    <a:lnTo>
                      <a:pt x="6" y="119"/>
                    </a:lnTo>
                    <a:lnTo>
                      <a:pt x="12" y="131"/>
                    </a:lnTo>
                    <a:lnTo>
                      <a:pt x="24" y="131"/>
                    </a:lnTo>
                    <a:lnTo>
                      <a:pt x="42" y="125"/>
                    </a:lnTo>
                    <a:lnTo>
                      <a:pt x="48" y="119"/>
                    </a:lnTo>
                    <a:lnTo>
                      <a:pt x="54" y="95"/>
                    </a:lnTo>
                    <a:lnTo>
                      <a:pt x="54" y="77"/>
                    </a:lnTo>
                    <a:lnTo>
                      <a:pt x="42" y="65"/>
                    </a:lnTo>
                    <a:lnTo>
                      <a:pt x="30" y="54"/>
                    </a:lnTo>
                    <a:lnTo>
                      <a:pt x="48" y="42"/>
                    </a:lnTo>
                    <a:lnTo>
                      <a:pt x="54" y="24"/>
                    </a:lnTo>
                    <a:lnTo>
                      <a:pt x="48" y="6"/>
                    </a:lnTo>
                    <a:lnTo>
                      <a:pt x="24" y="0"/>
                    </a:lnTo>
                    <a:lnTo>
                      <a:pt x="6" y="6"/>
                    </a:lnTo>
                    <a:lnTo>
                      <a:pt x="0" y="18"/>
                    </a:lnTo>
                    <a:lnTo>
                      <a:pt x="0" y="30"/>
                    </a:lnTo>
                    <a:lnTo>
                      <a:pt x="6" y="48"/>
                    </a:lnTo>
                    <a:lnTo>
                      <a:pt x="18" y="65"/>
                    </a:lnTo>
                    <a:lnTo>
                      <a:pt x="6" y="83"/>
                    </a:lnTo>
                    <a:lnTo>
                      <a:pt x="0" y="101"/>
                    </a:lnTo>
                    <a:close/>
                    <a:moveTo>
                      <a:pt x="12" y="24"/>
                    </a:moveTo>
                    <a:lnTo>
                      <a:pt x="12" y="12"/>
                    </a:lnTo>
                    <a:lnTo>
                      <a:pt x="24" y="6"/>
                    </a:lnTo>
                    <a:lnTo>
                      <a:pt x="36" y="12"/>
                    </a:lnTo>
                    <a:lnTo>
                      <a:pt x="42" y="24"/>
                    </a:lnTo>
                    <a:lnTo>
                      <a:pt x="36" y="42"/>
                    </a:lnTo>
                    <a:lnTo>
                      <a:pt x="30" y="54"/>
                    </a:lnTo>
                    <a:lnTo>
                      <a:pt x="18" y="42"/>
                    </a:lnTo>
                    <a:lnTo>
                      <a:pt x="12" y="2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60" name="Freeform 72"/>
              <p:cNvSpPr/>
              <p:nvPr/>
            </p:nvSpPr>
            <p:spPr>
              <a:xfrm>
                <a:off x="1890" y="3071"/>
                <a:ext cx="183" cy="219"/>
              </a:xfrm>
              <a:custGeom>
                <a:avLst/>
                <a:gdLst>
                  <a:gd name="txL" fmla="*/ 0 w 107"/>
                  <a:gd name="txT" fmla="*/ 0 h 131"/>
                  <a:gd name="txR" fmla="*/ 107 w 107"/>
                  <a:gd name="txB" fmla="*/ 131 h 131"/>
                </a:gdLst>
                <a:ahLst/>
                <a:cxnLst>
                  <a:cxn ang="0">
                    <a:pos x="140861286" y="179570663"/>
                  </a:cxn>
                  <a:cxn ang="0">
                    <a:pos x="121552481" y="179570663"/>
                  </a:cxn>
                  <a:cxn ang="0">
                    <a:pos x="100056781" y="168985750"/>
                  </a:cxn>
                  <a:cxn ang="0">
                    <a:pos x="80480935" y="147395594"/>
                  </a:cxn>
                  <a:cxn ang="0">
                    <a:pos x="80480935" y="95414291"/>
                  </a:cxn>
                  <a:cxn ang="0">
                    <a:pos x="80480935" y="63284681"/>
                  </a:cxn>
                  <a:cxn ang="0">
                    <a:pos x="100056781" y="31769720"/>
                  </a:cxn>
                  <a:cxn ang="0">
                    <a:pos x="140861286" y="20899364"/>
                  </a:cxn>
                  <a:cxn ang="0">
                    <a:pos x="180498812" y="10727476"/>
                  </a:cxn>
                  <a:cxn ang="0">
                    <a:pos x="221286504" y="20899364"/>
                  </a:cxn>
                  <a:cxn ang="0">
                    <a:pos x="260588027" y="31769720"/>
                  </a:cxn>
                  <a:cxn ang="0">
                    <a:pos x="282291153" y="63284681"/>
                  </a:cxn>
                  <a:cxn ang="0">
                    <a:pos x="282291153" y="95414291"/>
                  </a:cxn>
                  <a:cxn ang="0">
                    <a:pos x="282291153" y="147395594"/>
                  </a:cxn>
                  <a:cxn ang="0">
                    <a:pos x="260588027" y="168985750"/>
                  </a:cxn>
                  <a:cxn ang="0">
                    <a:pos x="260588027" y="179570663"/>
                  </a:cxn>
                  <a:cxn ang="0">
                    <a:pos x="221286504" y="179570663"/>
                  </a:cxn>
                  <a:cxn ang="0">
                    <a:pos x="202057476" y="232302959"/>
                  </a:cxn>
                  <a:cxn ang="0">
                    <a:pos x="358994302" y="232302959"/>
                  </a:cxn>
                  <a:cxn ang="0">
                    <a:pos x="358994302" y="179570663"/>
                  </a:cxn>
                  <a:cxn ang="0">
                    <a:pos x="342000745" y="179570663"/>
                  </a:cxn>
                  <a:cxn ang="0">
                    <a:pos x="342000745" y="200539597"/>
                  </a:cxn>
                  <a:cxn ang="0">
                    <a:pos x="321354675" y="200539597"/>
                  </a:cxn>
                  <a:cxn ang="0">
                    <a:pos x="240912293" y="200539597"/>
                  </a:cxn>
                  <a:cxn ang="0">
                    <a:pos x="240912293" y="189897556"/>
                  </a:cxn>
                  <a:cxn ang="0">
                    <a:pos x="282291153" y="179570663"/>
                  </a:cxn>
                  <a:cxn ang="0">
                    <a:pos x="321354675" y="157862133"/>
                  </a:cxn>
                  <a:cxn ang="0">
                    <a:pos x="342000745" y="126403329"/>
                  </a:cxn>
                  <a:cxn ang="0">
                    <a:pos x="342000745" y="105796528"/>
                  </a:cxn>
                  <a:cxn ang="0">
                    <a:pos x="321354675" y="53111211"/>
                  </a:cxn>
                  <a:cxn ang="0">
                    <a:pos x="302061538" y="31769720"/>
                  </a:cxn>
                  <a:cxn ang="0">
                    <a:pos x="260588027" y="20899364"/>
                  </a:cxn>
                  <a:cxn ang="0">
                    <a:pos x="221286504" y="10727476"/>
                  </a:cxn>
                  <a:cxn ang="0">
                    <a:pos x="180498812" y="0"/>
                  </a:cxn>
                  <a:cxn ang="0">
                    <a:pos x="140861286" y="10727476"/>
                  </a:cxn>
                  <a:cxn ang="0">
                    <a:pos x="100056781" y="20899364"/>
                  </a:cxn>
                  <a:cxn ang="0">
                    <a:pos x="80480935" y="31769720"/>
                  </a:cxn>
                  <a:cxn ang="0">
                    <a:pos x="41555566" y="53111211"/>
                  </a:cxn>
                  <a:cxn ang="0">
                    <a:pos x="19667893" y="105796528"/>
                  </a:cxn>
                  <a:cxn ang="0">
                    <a:pos x="19667893" y="126403329"/>
                  </a:cxn>
                  <a:cxn ang="0">
                    <a:pos x="41555566" y="157862133"/>
                  </a:cxn>
                  <a:cxn ang="0">
                    <a:pos x="80480935" y="179570663"/>
                  </a:cxn>
                  <a:cxn ang="0">
                    <a:pos x="121552481" y="189897556"/>
                  </a:cxn>
                  <a:cxn ang="0">
                    <a:pos x="121552481" y="200539597"/>
                  </a:cxn>
                  <a:cxn ang="0">
                    <a:pos x="41555566" y="200539597"/>
                  </a:cxn>
                  <a:cxn ang="0">
                    <a:pos x="19667893" y="200539597"/>
                  </a:cxn>
                  <a:cxn ang="0">
                    <a:pos x="19667893" y="179570663"/>
                  </a:cxn>
                  <a:cxn ang="0">
                    <a:pos x="0" y="179570663"/>
                  </a:cxn>
                  <a:cxn ang="0">
                    <a:pos x="0" y="232302959"/>
                  </a:cxn>
                  <a:cxn ang="0">
                    <a:pos x="160531872" y="232302959"/>
                  </a:cxn>
                  <a:cxn ang="0">
                    <a:pos x="140861286" y="179570663"/>
                  </a:cxn>
                </a:cxnLst>
                <a:rect l="txL" t="txT" r="txR" b="txB"/>
                <a:pathLst>
                  <a:path w="107" h="131">
                    <a:moveTo>
                      <a:pt x="42" y="101"/>
                    </a:moveTo>
                    <a:lnTo>
                      <a:pt x="36" y="101"/>
                    </a:lnTo>
                    <a:lnTo>
                      <a:pt x="30" y="95"/>
                    </a:lnTo>
                    <a:lnTo>
                      <a:pt x="24" y="83"/>
                    </a:lnTo>
                    <a:lnTo>
                      <a:pt x="24" y="54"/>
                    </a:lnTo>
                    <a:lnTo>
                      <a:pt x="24" y="36"/>
                    </a:lnTo>
                    <a:lnTo>
                      <a:pt x="30" y="18"/>
                    </a:lnTo>
                    <a:lnTo>
                      <a:pt x="42" y="12"/>
                    </a:lnTo>
                    <a:lnTo>
                      <a:pt x="54" y="6"/>
                    </a:lnTo>
                    <a:lnTo>
                      <a:pt x="66" y="12"/>
                    </a:lnTo>
                    <a:lnTo>
                      <a:pt x="78" y="18"/>
                    </a:lnTo>
                    <a:lnTo>
                      <a:pt x="84" y="36"/>
                    </a:lnTo>
                    <a:lnTo>
                      <a:pt x="84" y="54"/>
                    </a:lnTo>
                    <a:lnTo>
                      <a:pt x="84" y="83"/>
                    </a:lnTo>
                    <a:lnTo>
                      <a:pt x="78" y="95"/>
                    </a:lnTo>
                    <a:lnTo>
                      <a:pt x="78" y="101"/>
                    </a:lnTo>
                    <a:lnTo>
                      <a:pt x="66" y="101"/>
                    </a:lnTo>
                    <a:lnTo>
                      <a:pt x="60" y="131"/>
                    </a:lnTo>
                    <a:lnTo>
                      <a:pt x="107" y="131"/>
                    </a:lnTo>
                    <a:lnTo>
                      <a:pt x="107" y="101"/>
                    </a:lnTo>
                    <a:lnTo>
                      <a:pt x="102" y="101"/>
                    </a:lnTo>
                    <a:lnTo>
                      <a:pt x="102" y="113"/>
                    </a:lnTo>
                    <a:lnTo>
                      <a:pt x="96" y="113"/>
                    </a:lnTo>
                    <a:lnTo>
                      <a:pt x="72" y="113"/>
                    </a:lnTo>
                    <a:lnTo>
                      <a:pt x="72" y="107"/>
                    </a:lnTo>
                    <a:lnTo>
                      <a:pt x="84" y="101"/>
                    </a:lnTo>
                    <a:lnTo>
                      <a:pt x="96" y="89"/>
                    </a:lnTo>
                    <a:lnTo>
                      <a:pt x="102" y="71"/>
                    </a:lnTo>
                    <a:lnTo>
                      <a:pt x="102" y="60"/>
                    </a:lnTo>
                    <a:lnTo>
                      <a:pt x="96" y="30"/>
                    </a:lnTo>
                    <a:lnTo>
                      <a:pt x="90" y="18"/>
                    </a:lnTo>
                    <a:lnTo>
                      <a:pt x="78" y="12"/>
                    </a:lnTo>
                    <a:lnTo>
                      <a:pt x="66" y="6"/>
                    </a:lnTo>
                    <a:lnTo>
                      <a:pt x="54" y="0"/>
                    </a:lnTo>
                    <a:lnTo>
                      <a:pt x="42" y="6"/>
                    </a:lnTo>
                    <a:lnTo>
                      <a:pt x="30" y="12"/>
                    </a:lnTo>
                    <a:lnTo>
                      <a:pt x="24" y="18"/>
                    </a:lnTo>
                    <a:lnTo>
                      <a:pt x="12" y="30"/>
                    </a:lnTo>
                    <a:lnTo>
                      <a:pt x="6" y="60"/>
                    </a:lnTo>
                    <a:lnTo>
                      <a:pt x="6" y="71"/>
                    </a:lnTo>
                    <a:lnTo>
                      <a:pt x="12" y="89"/>
                    </a:lnTo>
                    <a:lnTo>
                      <a:pt x="24" y="101"/>
                    </a:lnTo>
                    <a:lnTo>
                      <a:pt x="36" y="107"/>
                    </a:lnTo>
                    <a:lnTo>
                      <a:pt x="36" y="113"/>
                    </a:lnTo>
                    <a:lnTo>
                      <a:pt x="12" y="113"/>
                    </a:lnTo>
                    <a:lnTo>
                      <a:pt x="6" y="113"/>
                    </a:lnTo>
                    <a:lnTo>
                      <a:pt x="6" y="101"/>
                    </a:lnTo>
                    <a:lnTo>
                      <a:pt x="0" y="101"/>
                    </a:lnTo>
                    <a:lnTo>
                      <a:pt x="0" y="131"/>
                    </a:lnTo>
                    <a:lnTo>
                      <a:pt x="48" y="131"/>
                    </a:lnTo>
                    <a:lnTo>
                      <a:pt x="42" y="10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61" name="Freeform 73"/>
              <p:cNvSpPr/>
              <p:nvPr/>
            </p:nvSpPr>
            <p:spPr>
              <a:xfrm>
                <a:off x="1624" y="3530"/>
                <a:ext cx="500" cy="80"/>
              </a:xfrm>
              <a:custGeom>
                <a:avLst/>
                <a:gdLst>
                  <a:gd name="txL" fmla="*/ 0 w 293"/>
                  <a:gd name="txT" fmla="*/ 0 h 48"/>
                  <a:gd name="txR" fmla="*/ 293 w 293"/>
                  <a:gd name="txB" fmla="*/ 48 h 48"/>
                </a:gdLst>
                <a:ahLst/>
                <a:cxnLst>
                  <a:cxn ang="0">
                    <a:pos x="0" y="78081658"/>
                  </a:cxn>
                  <a:cxn ang="0">
                    <a:pos x="0" y="0"/>
                  </a:cxn>
                  <a:cxn ang="0">
                    <a:pos x="924296870" y="0"/>
                  </a:cxn>
                  <a:cxn ang="0">
                    <a:pos x="924296870" y="78081658"/>
                  </a:cxn>
                  <a:cxn ang="0">
                    <a:pos x="0" y="78081658"/>
                  </a:cxn>
                  <a:cxn ang="0">
                    <a:pos x="0" y="78081658"/>
                  </a:cxn>
                </a:cxnLst>
                <a:rect l="txL" t="txT" r="txR" b="txB"/>
                <a:pathLst>
                  <a:path w="293" h="48">
                    <a:moveTo>
                      <a:pt x="0" y="48"/>
                    </a:moveTo>
                    <a:lnTo>
                      <a:pt x="0" y="0"/>
                    </a:lnTo>
                    <a:lnTo>
                      <a:pt x="293" y="0"/>
                    </a:lnTo>
                    <a:lnTo>
                      <a:pt x="293" y="48"/>
                    </a:lnTo>
                    <a:lnTo>
                      <a:pt x="0" y="48"/>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46162" name="Freeform 74"/>
              <p:cNvSpPr/>
              <p:nvPr/>
            </p:nvSpPr>
            <p:spPr>
              <a:xfrm>
                <a:off x="2093" y="3570"/>
                <a:ext cx="41" cy="90"/>
              </a:xfrm>
              <a:custGeom>
                <a:avLst/>
                <a:gdLst>
                  <a:gd name="txL" fmla="*/ 0 w 24"/>
                  <a:gd name="txT" fmla="*/ 0 h 54"/>
                  <a:gd name="txR" fmla="*/ 24 w 24"/>
                  <a:gd name="txB" fmla="*/ 54 h 54"/>
                </a:gdLst>
                <a:ahLst/>
                <a:cxnLst>
                  <a:cxn ang="0">
                    <a:pos x="78262881" y="0"/>
                  </a:cxn>
                  <a:cxn ang="0">
                    <a:pos x="0" y="87996783"/>
                  </a:cxn>
                  <a:cxn ang="0">
                    <a:pos x="78262881" y="0"/>
                  </a:cxn>
                  <a:cxn ang="0">
                    <a:pos x="78262881" y="0"/>
                  </a:cxn>
                </a:cxnLst>
                <a:rect l="txL" t="txT" r="txR" b="txB"/>
                <a:pathLst>
                  <a:path w="24" h="54">
                    <a:moveTo>
                      <a:pt x="24" y="0"/>
                    </a:moveTo>
                    <a:lnTo>
                      <a:pt x="0" y="54"/>
                    </a:ln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63" name="Freeform 75"/>
              <p:cNvSpPr>
                <a:spLocks noEditPoints="1"/>
              </p:cNvSpPr>
              <p:nvPr/>
            </p:nvSpPr>
            <p:spPr>
              <a:xfrm>
                <a:off x="2064" y="3570"/>
                <a:ext cx="29" cy="90"/>
              </a:xfrm>
              <a:custGeom>
                <a:avLst/>
                <a:gdLst>
                  <a:gd name="txL" fmla="*/ 0 w 17"/>
                  <a:gd name="txT" fmla="*/ 0 h 54"/>
                  <a:gd name="txR" fmla="*/ 17 w 17"/>
                  <a:gd name="txB" fmla="*/ 54 h 54"/>
                </a:gdLst>
                <a:ahLst/>
                <a:cxnLst>
                  <a:cxn ang="0">
                    <a:pos x="52743984" y="87996783"/>
                  </a:cxn>
                  <a:cxn ang="0">
                    <a:pos x="0" y="0"/>
                  </a:cxn>
                  <a:cxn ang="0">
                    <a:pos x="52743984" y="87996783"/>
                  </a:cxn>
                  <a:cxn ang="0">
                    <a:pos x="52743984" y="87996783"/>
                  </a:cxn>
                  <a:cxn ang="0">
                    <a:pos x="52743984" y="87996783"/>
                  </a:cxn>
                  <a:cxn ang="0">
                    <a:pos x="52743984" y="87996783"/>
                  </a:cxn>
                  <a:cxn ang="0">
                    <a:pos x="52743984" y="87996783"/>
                  </a:cxn>
                </a:cxnLst>
                <a:rect l="txL" t="txT" r="txR" b="txB"/>
                <a:pathLst>
                  <a:path w="17" h="54">
                    <a:moveTo>
                      <a:pt x="17" y="54"/>
                    </a:moveTo>
                    <a:lnTo>
                      <a:pt x="0" y="0"/>
                    </a:lnTo>
                    <a:lnTo>
                      <a:pt x="17" y="54"/>
                    </a:lnTo>
                    <a:close/>
                    <a:moveTo>
                      <a:pt x="17" y="54"/>
                    </a:moveTo>
                    <a:lnTo>
                      <a:pt x="17" y="5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64" name="Freeform 76"/>
              <p:cNvSpPr>
                <a:spLocks noEditPoints="1"/>
              </p:cNvSpPr>
              <p:nvPr/>
            </p:nvSpPr>
            <p:spPr>
              <a:xfrm>
                <a:off x="2034" y="3471"/>
                <a:ext cx="30" cy="99"/>
              </a:xfrm>
              <a:custGeom>
                <a:avLst/>
                <a:gdLst>
                  <a:gd name="txL" fmla="*/ 0 w 18"/>
                  <a:gd name="txT" fmla="*/ 0 h 59"/>
                  <a:gd name="txR" fmla="*/ 18 w 18"/>
                  <a:gd name="txB" fmla="*/ 59 h 59"/>
                </a:gdLst>
                <a:ahLst/>
                <a:cxnLst>
                  <a:cxn ang="0">
                    <a:pos x="29078255" y="116093103"/>
                  </a:cxn>
                  <a:cxn ang="0">
                    <a:pos x="0" y="0"/>
                  </a:cxn>
                  <a:cxn ang="0">
                    <a:pos x="29078255" y="116093103"/>
                  </a:cxn>
                  <a:cxn ang="0">
                    <a:pos x="29078255" y="116093103"/>
                  </a:cxn>
                  <a:cxn ang="0">
                    <a:pos x="29078255" y="116093103"/>
                  </a:cxn>
                  <a:cxn ang="0">
                    <a:pos x="29078255" y="116093103"/>
                  </a:cxn>
                  <a:cxn ang="0">
                    <a:pos x="29078255" y="116093103"/>
                  </a:cxn>
                </a:cxnLst>
                <a:rect l="txL" t="txT" r="txR" b="txB"/>
                <a:pathLst>
                  <a:path w="18" h="59">
                    <a:moveTo>
                      <a:pt x="18" y="59"/>
                    </a:moveTo>
                    <a:lnTo>
                      <a:pt x="0" y="0"/>
                    </a:lnTo>
                    <a:lnTo>
                      <a:pt x="18" y="59"/>
                    </a:lnTo>
                    <a:close/>
                    <a:moveTo>
                      <a:pt x="18" y="59"/>
                    </a:moveTo>
                    <a:lnTo>
                      <a:pt x="18"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65" name="Freeform 77"/>
              <p:cNvSpPr>
                <a:spLocks noEditPoints="1"/>
              </p:cNvSpPr>
              <p:nvPr/>
            </p:nvSpPr>
            <p:spPr>
              <a:xfrm>
                <a:off x="2003" y="3471"/>
                <a:ext cx="31" cy="99"/>
              </a:xfrm>
              <a:custGeom>
                <a:avLst/>
                <a:gdLst>
                  <a:gd name="txL" fmla="*/ 0 w 18"/>
                  <a:gd name="txT" fmla="*/ 0 h 59"/>
                  <a:gd name="txR" fmla="*/ 18 w 18"/>
                  <a:gd name="txB" fmla="*/ 59 h 59"/>
                </a:gdLst>
                <a:ahLst/>
                <a:cxnLst>
                  <a:cxn ang="0">
                    <a:pos x="72737244" y="0"/>
                  </a:cxn>
                  <a:cxn ang="0">
                    <a:pos x="0" y="116093103"/>
                  </a:cxn>
                  <a:cxn ang="0">
                    <a:pos x="72737244" y="0"/>
                  </a:cxn>
                  <a:cxn ang="0">
                    <a:pos x="72737244" y="0"/>
                  </a:cxn>
                  <a:cxn ang="0">
                    <a:pos x="72737244" y="0"/>
                  </a:cxn>
                  <a:cxn ang="0">
                    <a:pos x="72737244" y="0"/>
                  </a:cxn>
                  <a:cxn ang="0">
                    <a:pos x="72737244" y="0"/>
                  </a:cxn>
                </a:cxnLst>
                <a:rect l="txL" t="txT" r="txR" b="txB"/>
                <a:pathLst>
                  <a:path w="18" h="59">
                    <a:moveTo>
                      <a:pt x="18" y="0"/>
                    </a:moveTo>
                    <a:lnTo>
                      <a:pt x="0" y="59"/>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66" name="Freeform 78"/>
              <p:cNvSpPr>
                <a:spLocks noEditPoints="1"/>
              </p:cNvSpPr>
              <p:nvPr/>
            </p:nvSpPr>
            <p:spPr>
              <a:xfrm>
                <a:off x="2003" y="3570"/>
                <a:ext cx="2" cy="1"/>
              </a:xfrm>
              <a:custGeom>
                <a:avLst/>
                <a:gdLst>
                  <a:gd name="txL" fmla="*/ 0 w 2"/>
                  <a:gd name="txT" fmla="*/ 0 h 1"/>
                  <a:gd name="txR" fmla="*/ 2 w 2"/>
                  <a:gd name="txB" fmla="*/ 1 h 1"/>
                </a:gdLst>
                <a:ahLst/>
                <a:cxnLst>
                  <a:cxn ang="0">
                    <a:pos x="0" y="0"/>
                  </a:cxn>
                  <a:cxn ang="0">
                    <a:pos x="0" y="0"/>
                  </a:cxn>
                  <a:cxn ang="0">
                    <a:pos x="0" y="0"/>
                  </a:cxn>
                  <a:cxn ang="0">
                    <a:pos x="0" y="0"/>
                  </a:cxn>
                  <a:cxn ang="0">
                    <a:pos x="0" y="0"/>
                  </a:cxn>
                  <a:cxn ang="0">
                    <a:pos x="0" y="0"/>
                  </a:cxn>
                  <a:cxn ang="0">
                    <a:pos x="0" y="0"/>
                  </a:cxn>
                </a:cxnLst>
                <a:rect l="txL" t="txT" r="txR" b="txB"/>
                <a:pathLst>
                  <a:path w="2"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67" name="Freeform 79"/>
              <p:cNvSpPr>
                <a:spLocks noEditPoints="1"/>
              </p:cNvSpPr>
              <p:nvPr/>
            </p:nvSpPr>
            <p:spPr>
              <a:xfrm>
                <a:off x="1972" y="3570"/>
                <a:ext cx="31" cy="90"/>
              </a:xfrm>
              <a:custGeom>
                <a:avLst/>
                <a:gdLst>
                  <a:gd name="txL" fmla="*/ 0 w 18"/>
                  <a:gd name="txT" fmla="*/ 0 h 54"/>
                  <a:gd name="txR" fmla="*/ 18 w 18"/>
                  <a:gd name="txB" fmla="*/ 54 h 54"/>
                </a:gdLst>
                <a:ahLst/>
                <a:cxnLst>
                  <a:cxn ang="0">
                    <a:pos x="72737244" y="0"/>
                  </a:cxn>
                  <a:cxn ang="0">
                    <a:pos x="0" y="87996783"/>
                  </a:cxn>
                  <a:cxn ang="0">
                    <a:pos x="72737244" y="0"/>
                  </a:cxn>
                  <a:cxn ang="0">
                    <a:pos x="72737244" y="0"/>
                  </a:cxn>
                  <a:cxn ang="0">
                    <a:pos x="72737244" y="0"/>
                  </a:cxn>
                  <a:cxn ang="0">
                    <a:pos x="72737244" y="0"/>
                  </a:cxn>
                  <a:cxn ang="0">
                    <a:pos x="72737244" y="0"/>
                  </a:cxn>
                </a:cxnLst>
                <a:rect l="txL" t="txT" r="txR" b="txB"/>
                <a:pathLst>
                  <a:path w="18" h="54">
                    <a:moveTo>
                      <a:pt x="18" y="0"/>
                    </a:moveTo>
                    <a:lnTo>
                      <a:pt x="0" y="54"/>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68" name="Freeform 80"/>
              <p:cNvSpPr>
                <a:spLocks noEditPoints="1"/>
              </p:cNvSpPr>
              <p:nvPr/>
            </p:nvSpPr>
            <p:spPr>
              <a:xfrm>
                <a:off x="1942" y="3570"/>
                <a:ext cx="30" cy="90"/>
              </a:xfrm>
              <a:custGeom>
                <a:avLst/>
                <a:gdLst>
                  <a:gd name="txL" fmla="*/ 0 w 18"/>
                  <a:gd name="txT" fmla="*/ 0 h 54"/>
                  <a:gd name="txR" fmla="*/ 18 w 18"/>
                  <a:gd name="txB" fmla="*/ 54 h 54"/>
                </a:gdLst>
                <a:ahLst/>
                <a:cxnLst>
                  <a:cxn ang="0">
                    <a:pos x="29078255" y="87996783"/>
                  </a:cxn>
                  <a:cxn ang="0">
                    <a:pos x="0" y="0"/>
                  </a:cxn>
                  <a:cxn ang="0">
                    <a:pos x="29078255" y="87996783"/>
                  </a:cxn>
                  <a:cxn ang="0">
                    <a:pos x="29078255" y="87996783"/>
                  </a:cxn>
                  <a:cxn ang="0">
                    <a:pos x="29078255" y="87996783"/>
                  </a:cxn>
                  <a:cxn ang="0">
                    <a:pos x="29078255" y="87996783"/>
                  </a:cxn>
                  <a:cxn ang="0">
                    <a:pos x="29078255" y="87996783"/>
                  </a:cxn>
                </a:cxnLst>
                <a:rect l="txL" t="txT" r="txR" b="txB"/>
                <a:pathLst>
                  <a:path w="18" h="54">
                    <a:moveTo>
                      <a:pt x="18" y="54"/>
                    </a:moveTo>
                    <a:lnTo>
                      <a:pt x="0" y="0"/>
                    </a:lnTo>
                    <a:lnTo>
                      <a:pt x="18" y="54"/>
                    </a:lnTo>
                    <a:close/>
                    <a:moveTo>
                      <a:pt x="18" y="54"/>
                    </a:moveTo>
                    <a:lnTo>
                      <a:pt x="18" y="5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69" name="Freeform 81"/>
              <p:cNvSpPr>
                <a:spLocks noEditPoints="1"/>
              </p:cNvSpPr>
              <p:nvPr/>
            </p:nvSpPr>
            <p:spPr>
              <a:xfrm>
                <a:off x="1901" y="3471"/>
                <a:ext cx="41" cy="99"/>
              </a:xfrm>
              <a:custGeom>
                <a:avLst/>
                <a:gdLst>
                  <a:gd name="txL" fmla="*/ 0 w 24"/>
                  <a:gd name="txT" fmla="*/ 0 h 59"/>
                  <a:gd name="txR" fmla="*/ 24 w 24"/>
                  <a:gd name="txB" fmla="*/ 59 h 59"/>
                </a:gdLst>
                <a:ahLst/>
                <a:cxnLst>
                  <a:cxn ang="0">
                    <a:pos x="78262881" y="116093103"/>
                  </a:cxn>
                  <a:cxn ang="0">
                    <a:pos x="0" y="0"/>
                  </a:cxn>
                  <a:cxn ang="0">
                    <a:pos x="78262881" y="116093103"/>
                  </a:cxn>
                  <a:cxn ang="0">
                    <a:pos x="78262881" y="116093103"/>
                  </a:cxn>
                  <a:cxn ang="0">
                    <a:pos x="78262881" y="116093103"/>
                  </a:cxn>
                  <a:cxn ang="0">
                    <a:pos x="78262881" y="116093103"/>
                  </a:cxn>
                  <a:cxn ang="0">
                    <a:pos x="78262881" y="116093103"/>
                  </a:cxn>
                </a:cxnLst>
                <a:rect l="txL" t="txT" r="txR" b="txB"/>
                <a:pathLst>
                  <a:path w="24" h="59">
                    <a:moveTo>
                      <a:pt x="24" y="59"/>
                    </a:moveTo>
                    <a:lnTo>
                      <a:pt x="0" y="0"/>
                    </a:lnTo>
                    <a:lnTo>
                      <a:pt x="24" y="59"/>
                    </a:lnTo>
                    <a:close/>
                    <a:moveTo>
                      <a:pt x="24" y="59"/>
                    </a:moveTo>
                    <a:lnTo>
                      <a:pt x="24"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70" name="Freeform 82"/>
              <p:cNvSpPr>
                <a:spLocks noEditPoints="1"/>
              </p:cNvSpPr>
              <p:nvPr/>
            </p:nvSpPr>
            <p:spPr>
              <a:xfrm>
                <a:off x="1870" y="3471"/>
                <a:ext cx="31" cy="99"/>
              </a:xfrm>
              <a:custGeom>
                <a:avLst/>
                <a:gdLst>
                  <a:gd name="txL" fmla="*/ 0 w 18"/>
                  <a:gd name="txT" fmla="*/ 0 h 59"/>
                  <a:gd name="txR" fmla="*/ 18 w 18"/>
                  <a:gd name="txB" fmla="*/ 59 h 59"/>
                </a:gdLst>
                <a:ahLst/>
                <a:cxnLst>
                  <a:cxn ang="0">
                    <a:pos x="72737244" y="0"/>
                  </a:cxn>
                  <a:cxn ang="0">
                    <a:pos x="0" y="116093103"/>
                  </a:cxn>
                  <a:cxn ang="0">
                    <a:pos x="72737244" y="0"/>
                  </a:cxn>
                  <a:cxn ang="0">
                    <a:pos x="72737244" y="0"/>
                  </a:cxn>
                  <a:cxn ang="0">
                    <a:pos x="72737244" y="0"/>
                  </a:cxn>
                  <a:cxn ang="0">
                    <a:pos x="72737244" y="0"/>
                  </a:cxn>
                  <a:cxn ang="0">
                    <a:pos x="72737244" y="0"/>
                  </a:cxn>
                </a:cxnLst>
                <a:rect l="txL" t="txT" r="txR" b="txB"/>
                <a:pathLst>
                  <a:path w="18" h="59">
                    <a:moveTo>
                      <a:pt x="18" y="0"/>
                    </a:moveTo>
                    <a:lnTo>
                      <a:pt x="0" y="59"/>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71" name="Freeform 83"/>
              <p:cNvSpPr>
                <a:spLocks noEditPoints="1"/>
              </p:cNvSpPr>
              <p:nvPr/>
            </p:nvSpPr>
            <p:spPr>
              <a:xfrm>
                <a:off x="1839" y="3570"/>
                <a:ext cx="31" cy="90"/>
              </a:xfrm>
              <a:custGeom>
                <a:avLst/>
                <a:gdLst>
                  <a:gd name="txL" fmla="*/ 0 w 18"/>
                  <a:gd name="txT" fmla="*/ 0 h 54"/>
                  <a:gd name="txR" fmla="*/ 18 w 18"/>
                  <a:gd name="txB" fmla="*/ 54 h 54"/>
                </a:gdLst>
                <a:ahLst/>
                <a:cxnLst>
                  <a:cxn ang="0">
                    <a:pos x="72737244" y="0"/>
                  </a:cxn>
                  <a:cxn ang="0">
                    <a:pos x="0" y="87996783"/>
                  </a:cxn>
                  <a:cxn ang="0">
                    <a:pos x="72737244" y="0"/>
                  </a:cxn>
                  <a:cxn ang="0">
                    <a:pos x="72737244" y="0"/>
                  </a:cxn>
                  <a:cxn ang="0">
                    <a:pos x="72737244" y="0"/>
                  </a:cxn>
                  <a:cxn ang="0">
                    <a:pos x="72737244" y="0"/>
                  </a:cxn>
                  <a:cxn ang="0">
                    <a:pos x="72737244" y="0"/>
                  </a:cxn>
                </a:cxnLst>
                <a:rect l="txL" t="txT" r="txR" b="txB"/>
                <a:pathLst>
                  <a:path w="18" h="54">
                    <a:moveTo>
                      <a:pt x="18" y="0"/>
                    </a:moveTo>
                    <a:lnTo>
                      <a:pt x="0" y="54"/>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72" name="Freeform 84"/>
              <p:cNvSpPr>
                <a:spLocks noEditPoints="1"/>
              </p:cNvSpPr>
              <p:nvPr/>
            </p:nvSpPr>
            <p:spPr>
              <a:xfrm>
                <a:off x="1808" y="3570"/>
                <a:ext cx="31" cy="90"/>
              </a:xfrm>
              <a:custGeom>
                <a:avLst/>
                <a:gdLst>
                  <a:gd name="txL" fmla="*/ 0 w 18"/>
                  <a:gd name="txT" fmla="*/ 0 h 54"/>
                  <a:gd name="txR" fmla="*/ 18 w 18"/>
                  <a:gd name="txB" fmla="*/ 54 h 54"/>
                </a:gdLst>
                <a:ahLst/>
                <a:cxnLst>
                  <a:cxn ang="0">
                    <a:pos x="72737244" y="87996783"/>
                  </a:cxn>
                  <a:cxn ang="0">
                    <a:pos x="0" y="0"/>
                  </a:cxn>
                  <a:cxn ang="0">
                    <a:pos x="72737244" y="87996783"/>
                  </a:cxn>
                  <a:cxn ang="0">
                    <a:pos x="72737244" y="87996783"/>
                  </a:cxn>
                  <a:cxn ang="0">
                    <a:pos x="72737244" y="87996783"/>
                  </a:cxn>
                  <a:cxn ang="0">
                    <a:pos x="72737244" y="87996783"/>
                  </a:cxn>
                  <a:cxn ang="0">
                    <a:pos x="72737244" y="87996783"/>
                  </a:cxn>
                </a:cxnLst>
                <a:rect l="txL" t="txT" r="txR" b="txB"/>
                <a:pathLst>
                  <a:path w="18" h="54">
                    <a:moveTo>
                      <a:pt x="18" y="54"/>
                    </a:moveTo>
                    <a:lnTo>
                      <a:pt x="0" y="0"/>
                    </a:lnTo>
                    <a:lnTo>
                      <a:pt x="18" y="54"/>
                    </a:lnTo>
                    <a:close/>
                    <a:moveTo>
                      <a:pt x="18" y="54"/>
                    </a:moveTo>
                    <a:lnTo>
                      <a:pt x="18" y="5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73" name="Freeform 85"/>
              <p:cNvSpPr>
                <a:spLocks noEditPoints="1"/>
              </p:cNvSpPr>
              <p:nvPr/>
            </p:nvSpPr>
            <p:spPr>
              <a:xfrm>
                <a:off x="1778" y="3471"/>
                <a:ext cx="30" cy="99"/>
              </a:xfrm>
              <a:custGeom>
                <a:avLst/>
                <a:gdLst>
                  <a:gd name="txL" fmla="*/ 0 w 18"/>
                  <a:gd name="txT" fmla="*/ 0 h 59"/>
                  <a:gd name="txR" fmla="*/ 18 w 18"/>
                  <a:gd name="txB" fmla="*/ 59 h 59"/>
                </a:gdLst>
                <a:ahLst/>
                <a:cxnLst>
                  <a:cxn ang="0">
                    <a:pos x="29078255" y="116093103"/>
                  </a:cxn>
                  <a:cxn ang="0">
                    <a:pos x="0" y="0"/>
                  </a:cxn>
                  <a:cxn ang="0">
                    <a:pos x="29078255" y="116093103"/>
                  </a:cxn>
                  <a:cxn ang="0">
                    <a:pos x="29078255" y="116093103"/>
                  </a:cxn>
                  <a:cxn ang="0">
                    <a:pos x="29078255" y="116093103"/>
                  </a:cxn>
                  <a:cxn ang="0">
                    <a:pos x="29078255" y="116093103"/>
                  </a:cxn>
                  <a:cxn ang="0">
                    <a:pos x="29078255" y="116093103"/>
                  </a:cxn>
                </a:cxnLst>
                <a:rect l="txL" t="txT" r="txR" b="txB"/>
                <a:pathLst>
                  <a:path w="18" h="59">
                    <a:moveTo>
                      <a:pt x="18" y="59"/>
                    </a:moveTo>
                    <a:lnTo>
                      <a:pt x="0" y="0"/>
                    </a:lnTo>
                    <a:lnTo>
                      <a:pt x="18" y="59"/>
                    </a:lnTo>
                    <a:close/>
                    <a:moveTo>
                      <a:pt x="18" y="59"/>
                    </a:moveTo>
                    <a:lnTo>
                      <a:pt x="18"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74" name="Freeform 86"/>
              <p:cNvSpPr>
                <a:spLocks noEditPoints="1"/>
              </p:cNvSpPr>
              <p:nvPr/>
            </p:nvSpPr>
            <p:spPr>
              <a:xfrm>
                <a:off x="1747" y="3471"/>
                <a:ext cx="31" cy="99"/>
              </a:xfrm>
              <a:custGeom>
                <a:avLst/>
                <a:gdLst>
                  <a:gd name="txL" fmla="*/ 0 w 18"/>
                  <a:gd name="txT" fmla="*/ 0 h 59"/>
                  <a:gd name="txR" fmla="*/ 18 w 18"/>
                  <a:gd name="txB" fmla="*/ 59 h 59"/>
                </a:gdLst>
                <a:ahLst/>
                <a:cxnLst>
                  <a:cxn ang="0">
                    <a:pos x="72737244" y="0"/>
                  </a:cxn>
                  <a:cxn ang="0">
                    <a:pos x="0" y="116093103"/>
                  </a:cxn>
                  <a:cxn ang="0">
                    <a:pos x="72737244" y="0"/>
                  </a:cxn>
                  <a:cxn ang="0">
                    <a:pos x="72737244" y="0"/>
                  </a:cxn>
                  <a:cxn ang="0">
                    <a:pos x="72737244" y="0"/>
                  </a:cxn>
                  <a:cxn ang="0">
                    <a:pos x="72737244" y="0"/>
                  </a:cxn>
                  <a:cxn ang="0">
                    <a:pos x="72737244" y="0"/>
                  </a:cxn>
                </a:cxnLst>
                <a:rect l="txL" t="txT" r="txR" b="txB"/>
                <a:pathLst>
                  <a:path w="18" h="59">
                    <a:moveTo>
                      <a:pt x="18" y="0"/>
                    </a:moveTo>
                    <a:lnTo>
                      <a:pt x="0" y="59"/>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75" name="Freeform 87"/>
              <p:cNvSpPr>
                <a:spLocks noEditPoints="1"/>
              </p:cNvSpPr>
              <p:nvPr/>
            </p:nvSpPr>
            <p:spPr>
              <a:xfrm>
                <a:off x="1716" y="3570"/>
                <a:ext cx="31" cy="90"/>
              </a:xfrm>
              <a:custGeom>
                <a:avLst/>
                <a:gdLst>
                  <a:gd name="txL" fmla="*/ 0 w 18"/>
                  <a:gd name="txT" fmla="*/ 0 h 54"/>
                  <a:gd name="txR" fmla="*/ 18 w 18"/>
                  <a:gd name="txB" fmla="*/ 54 h 54"/>
                </a:gdLst>
                <a:ahLst/>
                <a:cxnLst>
                  <a:cxn ang="0">
                    <a:pos x="72737244" y="0"/>
                  </a:cxn>
                  <a:cxn ang="0">
                    <a:pos x="0" y="87996783"/>
                  </a:cxn>
                  <a:cxn ang="0">
                    <a:pos x="72737244" y="0"/>
                  </a:cxn>
                  <a:cxn ang="0">
                    <a:pos x="72737244" y="0"/>
                  </a:cxn>
                  <a:cxn ang="0">
                    <a:pos x="72737244" y="0"/>
                  </a:cxn>
                  <a:cxn ang="0">
                    <a:pos x="72737244" y="0"/>
                  </a:cxn>
                  <a:cxn ang="0">
                    <a:pos x="72737244" y="0"/>
                  </a:cxn>
                </a:cxnLst>
                <a:rect l="txL" t="txT" r="txR" b="txB"/>
                <a:pathLst>
                  <a:path w="18" h="54">
                    <a:moveTo>
                      <a:pt x="18" y="0"/>
                    </a:moveTo>
                    <a:lnTo>
                      <a:pt x="0" y="54"/>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76" name="Freeform 88"/>
              <p:cNvSpPr>
                <a:spLocks noEditPoints="1"/>
              </p:cNvSpPr>
              <p:nvPr/>
            </p:nvSpPr>
            <p:spPr>
              <a:xfrm>
                <a:off x="1675" y="3570"/>
                <a:ext cx="41" cy="90"/>
              </a:xfrm>
              <a:custGeom>
                <a:avLst/>
                <a:gdLst>
                  <a:gd name="txL" fmla="*/ 0 w 24"/>
                  <a:gd name="txT" fmla="*/ 0 h 54"/>
                  <a:gd name="txR" fmla="*/ 24 w 24"/>
                  <a:gd name="txB" fmla="*/ 54 h 54"/>
                </a:gdLst>
                <a:ahLst/>
                <a:cxnLst>
                  <a:cxn ang="0">
                    <a:pos x="78262881" y="87996783"/>
                  </a:cxn>
                  <a:cxn ang="0">
                    <a:pos x="0" y="0"/>
                  </a:cxn>
                  <a:cxn ang="0">
                    <a:pos x="78262881" y="87996783"/>
                  </a:cxn>
                  <a:cxn ang="0">
                    <a:pos x="78262881" y="87996783"/>
                  </a:cxn>
                  <a:cxn ang="0">
                    <a:pos x="78262881" y="87996783"/>
                  </a:cxn>
                  <a:cxn ang="0">
                    <a:pos x="78262881" y="87996783"/>
                  </a:cxn>
                  <a:cxn ang="0">
                    <a:pos x="78262881" y="87996783"/>
                  </a:cxn>
                </a:cxnLst>
                <a:rect l="txL" t="txT" r="txR" b="txB"/>
                <a:pathLst>
                  <a:path w="24" h="54">
                    <a:moveTo>
                      <a:pt x="24" y="54"/>
                    </a:moveTo>
                    <a:lnTo>
                      <a:pt x="0" y="0"/>
                    </a:lnTo>
                    <a:lnTo>
                      <a:pt x="24" y="54"/>
                    </a:lnTo>
                    <a:close/>
                    <a:moveTo>
                      <a:pt x="24" y="54"/>
                    </a:moveTo>
                    <a:lnTo>
                      <a:pt x="24" y="5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77" name="Freeform 89"/>
              <p:cNvSpPr>
                <a:spLocks noEditPoints="1"/>
              </p:cNvSpPr>
              <p:nvPr/>
            </p:nvSpPr>
            <p:spPr>
              <a:xfrm>
                <a:off x="1645" y="3471"/>
                <a:ext cx="30" cy="99"/>
              </a:xfrm>
              <a:custGeom>
                <a:avLst/>
                <a:gdLst>
                  <a:gd name="txL" fmla="*/ 0 w 18"/>
                  <a:gd name="txT" fmla="*/ 0 h 59"/>
                  <a:gd name="txR" fmla="*/ 18 w 18"/>
                  <a:gd name="txB" fmla="*/ 59 h 59"/>
                </a:gdLst>
                <a:ahLst/>
                <a:cxnLst>
                  <a:cxn ang="0">
                    <a:pos x="29078255" y="116093103"/>
                  </a:cxn>
                  <a:cxn ang="0">
                    <a:pos x="0" y="0"/>
                  </a:cxn>
                  <a:cxn ang="0">
                    <a:pos x="29078255" y="116093103"/>
                  </a:cxn>
                  <a:cxn ang="0">
                    <a:pos x="29078255" y="116093103"/>
                  </a:cxn>
                  <a:cxn ang="0">
                    <a:pos x="29078255" y="116093103"/>
                  </a:cxn>
                  <a:cxn ang="0">
                    <a:pos x="29078255" y="116093103"/>
                  </a:cxn>
                  <a:cxn ang="0">
                    <a:pos x="29078255" y="116093103"/>
                  </a:cxn>
                </a:cxnLst>
                <a:rect l="txL" t="txT" r="txR" b="txB"/>
                <a:pathLst>
                  <a:path w="18" h="59">
                    <a:moveTo>
                      <a:pt x="18" y="59"/>
                    </a:moveTo>
                    <a:lnTo>
                      <a:pt x="0" y="0"/>
                    </a:lnTo>
                    <a:lnTo>
                      <a:pt x="18" y="59"/>
                    </a:lnTo>
                    <a:close/>
                    <a:moveTo>
                      <a:pt x="18" y="59"/>
                    </a:moveTo>
                    <a:lnTo>
                      <a:pt x="18"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78" name="Freeform 90"/>
              <p:cNvSpPr>
                <a:spLocks noEditPoints="1"/>
              </p:cNvSpPr>
              <p:nvPr/>
            </p:nvSpPr>
            <p:spPr>
              <a:xfrm>
                <a:off x="1614" y="3471"/>
                <a:ext cx="31" cy="99"/>
              </a:xfrm>
              <a:custGeom>
                <a:avLst/>
                <a:gdLst>
                  <a:gd name="txL" fmla="*/ 0 w 18"/>
                  <a:gd name="txT" fmla="*/ 0 h 59"/>
                  <a:gd name="txR" fmla="*/ 18 w 18"/>
                  <a:gd name="txB" fmla="*/ 59 h 59"/>
                </a:gdLst>
                <a:ahLst/>
                <a:cxnLst>
                  <a:cxn ang="0">
                    <a:pos x="72737244" y="0"/>
                  </a:cxn>
                  <a:cxn ang="0">
                    <a:pos x="0" y="116093103"/>
                  </a:cxn>
                  <a:cxn ang="0">
                    <a:pos x="72737244" y="0"/>
                  </a:cxn>
                  <a:cxn ang="0">
                    <a:pos x="72737244" y="0"/>
                  </a:cxn>
                  <a:cxn ang="0">
                    <a:pos x="72737244" y="0"/>
                  </a:cxn>
                  <a:cxn ang="0">
                    <a:pos x="72737244" y="0"/>
                  </a:cxn>
                  <a:cxn ang="0">
                    <a:pos x="72737244" y="0"/>
                  </a:cxn>
                </a:cxnLst>
                <a:rect l="txL" t="txT" r="txR" b="txB"/>
                <a:pathLst>
                  <a:path w="18" h="59">
                    <a:moveTo>
                      <a:pt x="18" y="0"/>
                    </a:moveTo>
                    <a:lnTo>
                      <a:pt x="0" y="59"/>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79" name="Freeform 91"/>
              <p:cNvSpPr/>
              <p:nvPr/>
            </p:nvSpPr>
            <p:spPr>
              <a:xfrm>
                <a:off x="3636" y="694"/>
                <a:ext cx="72" cy="209"/>
              </a:xfrm>
              <a:custGeom>
                <a:avLst/>
                <a:gdLst>
                  <a:gd name="txL" fmla="*/ 0 w 42"/>
                  <a:gd name="txT" fmla="*/ 0 h 125"/>
                  <a:gd name="txR" fmla="*/ 42 w 42"/>
                  <a:gd name="txB" fmla="*/ 125 h 125"/>
                </a:gdLst>
                <a:ahLst/>
                <a:cxnLst>
                  <a:cxn ang="0">
                    <a:pos x="20762829" y="222432841"/>
                  </a:cxn>
                  <a:cxn ang="0">
                    <a:pos x="150398018" y="222432841"/>
                  </a:cxn>
                  <a:cxn ang="0">
                    <a:pos x="150398018" y="222432841"/>
                  </a:cxn>
                  <a:cxn ang="0">
                    <a:pos x="105746362" y="222432841"/>
                  </a:cxn>
                  <a:cxn ang="0">
                    <a:pos x="105746362" y="201152610"/>
                  </a:cxn>
                  <a:cxn ang="0">
                    <a:pos x="105746362" y="0"/>
                  </a:cxn>
                  <a:cxn ang="0">
                    <a:pos x="105746362" y="0"/>
                  </a:cxn>
                  <a:cxn ang="0">
                    <a:pos x="0" y="31864540"/>
                  </a:cxn>
                  <a:cxn ang="0">
                    <a:pos x="0" y="31864540"/>
                  </a:cxn>
                  <a:cxn ang="0">
                    <a:pos x="44060940" y="31864540"/>
                  </a:cxn>
                  <a:cxn ang="0">
                    <a:pos x="44060940" y="31864540"/>
                  </a:cxn>
                  <a:cxn ang="0">
                    <a:pos x="64661414" y="31864540"/>
                  </a:cxn>
                  <a:cxn ang="0">
                    <a:pos x="64661414" y="42603353"/>
                  </a:cxn>
                  <a:cxn ang="0">
                    <a:pos x="64661414" y="190471175"/>
                  </a:cxn>
                  <a:cxn ang="0">
                    <a:pos x="64661414" y="212160118"/>
                  </a:cxn>
                  <a:cxn ang="0">
                    <a:pos x="44060940" y="222432841"/>
                  </a:cxn>
                  <a:cxn ang="0">
                    <a:pos x="20762829" y="222432841"/>
                  </a:cxn>
                  <a:cxn ang="0">
                    <a:pos x="20762829" y="222432841"/>
                  </a:cxn>
                </a:cxnLst>
                <a:rect l="txL" t="txT" r="txR" b="txB"/>
                <a:pathLst>
                  <a:path w="42" h="125">
                    <a:moveTo>
                      <a:pt x="6" y="125"/>
                    </a:moveTo>
                    <a:lnTo>
                      <a:pt x="42" y="125"/>
                    </a:lnTo>
                    <a:lnTo>
                      <a:pt x="30" y="125"/>
                    </a:lnTo>
                    <a:lnTo>
                      <a:pt x="30" y="113"/>
                    </a:lnTo>
                    <a:lnTo>
                      <a:pt x="30" y="0"/>
                    </a:lnTo>
                    <a:lnTo>
                      <a:pt x="0" y="18"/>
                    </a:lnTo>
                    <a:lnTo>
                      <a:pt x="12" y="18"/>
                    </a:lnTo>
                    <a:lnTo>
                      <a:pt x="18" y="18"/>
                    </a:lnTo>
                    <a:lnTo>
                      <a:pt x="18" y="24"/>
                    </a:lnTo>
                    <a:lnTo>
                      <a:pt x="18" y="107"/>
                    </a:lnTo>
                    <a:lnTo>
                      <a:pt x="18" y="119"/>
                    </a:lnTo>
                    <a:lnTo>
                      <a:pt x="12" y="125"/>
                    </a:lnTo>
                    <a:lnTo>
                      <a:pt x="6" y="12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80" name="Freeform 92"/>
              <p:cNvSpPr/>
              <p:nvPr/>
            </p:nvSpPr>
            <p:spPr>
              <a:xfrm>
                <a:off x="3808" y="684"/>
                <a:ext cx="174" cy="219"/>
              </a:xfrm>
              <a:custGeom>
                <a:avLst/>
                <a:gdLst>
                  <a:gd name="txL" fmla="*/ 0 w 102"/>
                  <a:gd name="txT" fmla="*/ 0 h 131"/>
                  <a:gd name="txR" fmla="*/ 102 w 102"/>
                  <a:gd name="txB" fmla="*/ 131 h 131"/>
                </a:gdLst>
                <a:ahLst/>
                <a:cxnLst>
                  <a:cxn ang="0">
                    <a:pos x="132084678" y="189897556"/>
                  </a:cxn>
                  <a:cxn ang="0">
                    <a:pos x="111352156" y="179570663"/>
                  </a:cxn>
                  <a:cxn ang="0">
                    <a:pos x="93026255" y="168985750"/>
                  </a:cxn>
                  <a:cxn ang="0">
                    <a:pos x="74718101" y="147395594"/>
                  </a:cxn>
                  <a:cxn ang="0">
                    <a:pos x="56920789" y="126403329"/>
                  </a:cxn>
                  <a:cxn ang="0">
                    <a:pos x="56920789" y="94428947"/>
                  </a:cxn>
                  <a:cxn ang="0">
                    <a:pos x="74718101" y="63284681"/>
                  </a:cxn>
                  <a:cxn ang="0">
                    <a:pos x="93026255" y="31769720"/>
                  </a:cxn>
                  <a:cxn ang="0">
                    <a:pos x="132084678" y="20899364"/>
                  </a:cxn>
                  <a:cxn ang="0">
                    <a:pos x="150415344" y="10727476"/>
                  </a:cxn>
                  <a:cxn ang="0">
                    <a:pos x="187053770" y="20899364"/>
                  </a:cxn>
                  <a:cxn ang="0">
                    <a:pos x="225320921" y="31769720"/>
                  </a:cxn>
                  <a:cxn ang="0">
                    <a:pos x="243441471" y="63284681"/>
                  </a:cxn>
                  <a:cxn ang="0">
                    <a:pos x="261830456" y="94428947"/>
                  </a:cxn>
                  <a:cxn ang="0">
                    <a:pos x="261830456" y="126403329"/>
                  </a:cxn>
                  <a:cxn ang="0">
                    <a:pos x="243441471" y="147395594"/>
                  </a:cxn>
                  <a:cxn ang="0">
                    <a:pos x="225320921" y="168985750"/>
                  </a:cxn>
                  <a:cxn ang="0">
                    <a:pos x="225320921" y="179570663"/>
                  </a:cxn>
                  <a:cxn ang="0">
                    <a:pos x="187053770" y="189897556"/>
                  </a:cxn>
                  <a:cxn ang="0">
                    <a:pos x="187053770" y="232302959"/>
                  </a:cxn>
                  <a:cxn ang="0">
                    <a:pos x="319091725" y="232302959"/>
                  </a:cxn>
                  <a:cxn ang="0">
                    <a:pos x="319091725" y="179570663"/>
                  </a:cxn>
                  <a:cxn ang="0">
                    <a:pos x="319091725" y="179570663"/>
                  </a:cxn>
                  <a:cxn ang="0">
                    <a:pos x="300499614" y="200539597"/>
                  </a:cxn>
                  <a:cxn ang="0">
                    <a:pos x="282564852" y="200539597"/>
                  </a:cxn>
                  <a:cxn ang="0">
                    <a:pos x="206985299" y="200539597"/>
                  </a:cxn>
                  <a:cxn ang="0">
                    <a:pos x="206985299" y="189897556"/>
                  </a:cxn>
                  <a:cxn ang="0">
                    <a:pos x="243441471" y="179570663"/>
                  </a:cxn>
                  <a:cxn ang="0">
                    <a:pos x="282564852" y="157862133"/>
                  </a:cxn>
                  <a:cxn ang="0">
                    <a:pos x="319091725" y="105557480"/>
                  </a:cxn>
                  <a:cxn ang="0">
                    <a:pos x="300499614" y="53111211"/>
                  </a:cxn>
                  <a:cxn ang="0">
                    <a:pos x="261830456" y="31769720"/>
                  </a:cxn>
                  <a:cxn ang="0">
                    <a:pos x="243441471" y="20899364"/>
                  </a:cxn>
                  <a:cxn ang="0">
                    <a:pos x="206985299" y="10727476"/>
                  </a:cxn>
                  <a:cxn ang="0">
                    <a:pos x="150415344" y="0"/>
                  </a:cxn>
                  <a:cxn ang="0">
                    <a:pos x="111352156" y="10727476"/>
                  </a:cxn>
                  <a:cxn ang="0">
                    <a:pos x="74718101" y="20899364"/>
                  </a:cxn>
                  <a:cxn ang="0">
                    <a:pos x="56920789" y="31769720"/>
                  </a:cxn>
                  <a:cxn ang="0">
                    <a:pos x="18124865" y="53111211"/>
                  </a:cxn>
                  <a:cxn ang="0">
                    <a:pos x="0" y="105557480"/>
                  </a:cxn>
                  <a:cxn ang="0">
                    <a:pos x="18124865" y="157862133"/>
                  </a:cxn>
                  <a:cxn ang="0">
                    <a:pos x="56920789" y="179570663"/>
                  </a:cxn>
                  <a:cxn ang="0">
                    <a:pos x="111352156" y="189897556"/>
                  </a:cxn>
                  <a:cxn ang="0">
                    <a:pos x="111352156" y="200539597"/>
                  </a:cxn>
                  <a:cxn ang="0">
                    <a:pos x="36501676" y="200539597"/>
                  </a:cxn>
                  <a:cxn ang="0">
                    <a:pos x="18124865" y="200539597"/>
                  </a:cxn>
                  <a:cxn ang="0">
                    <a:pos x="0" y="179570663"/>
                  </a:cxn>
                  <a:cxn ang="0">
                    <a:pos x="0" y="179570663"/>
                  </a:cxn>
                  <a:cxn ang="0">
                    <a:pos x="0" y="232302959"/>
                  </a:cxn>
                  <a:cxn ang="0">
                    <a:pos x="132084678" y="232302959"/>
                  </a:cxn>
                  <a:cxn ang="0">
                    <a:pos x="132084678" y="189897556"/>
                  </a:cxn>
                </a:cxnLst>
                <a:rect l="txL" t="txT" r="txR" b="txB"/>
                <a:pathLst>
                  <a:path w="102" h="131">
                    <a:moveTo>
                      <a:pt x="42" y="107"/>
                    </a:moveTo>
                    <a:lnTo>
                      <a:pt x="36" y="101"/>
                    </a:lnTo>
                    <a:lnTo>
                      <a:pt x="30" y="95"/>
                    </a:lnTo>
                    <a:lnTo>
                      <a:pt x="24" y="83"/>
                    </a:lnTo>
                    <a:lnTo>
                      <a:pt x="18" y="71"/>
                    </a:lnTo>
                    <a:lnTo>
                      <a:pt x="18" y="53"/>
                    </a:lnTo>
                    <a:lnTo>
                      <a:pt x="24" y="36"/>
                    </a:lnTo>
                    <a:lnTo>
                      <a:pt x="30" y="18"/>
                    </a:lnTo>
                    <a:lnTo>
                      <a:pt x="42" y="12"/>
                    </a:lnTo>
                    <a:lnTo>
                      <a:pt x="48" y="6"/>
                    </a:lnTo>
                    <a:lnTo>
                      <a:pt x="60" y="12"/>
                    </a:lnTo>
                    <a:lnTo>
                      <a:pt x="72" y="18"/>
                    </a:lnTo>
                    <a:lnTo>
                      <a:pt x="78" y="36"/>
                    </a:lnTo>
                    <a:lnTo>
                      <a:pt x="84" y="53"/>
                    </a:lnTo>
                    <a:lnTo>
                      <a:pt x="84" y="71"/>
                    </a:lnTo>
                    <a:lnTo>
                      <a:pt x="78" y="83"/>
                    </a:lnTo>
                    <a:lnTo>
                      <a:pt x="72" y="95"/>
                    </a:lnTo>
                    <a:lnTo>
                      <a:pt x="72" y="101"/>
                    </a:lnTo>
                    <a:lnTo>
                      <a:pt x="60" y="107"/>
                    </a:lnTo>
                    <a:lnTo>
                      <a:pt x="60" y="131"/>
                    </a:lnTo>
                    <a:lnTo>
                      <a:pt x="102" y="131"/>
                    </a:lnTo>
                    <a:lnTo>
                      <a:pt x="102" y="101"/>
                    </a:lnTo>
                    <a:lnTo>
                      <a:pt x="96" y="113"/>
                    </a:lnTo>
                    <a:lnTo>
                      <a:pt x="90" y="113"/>
                    </a:lnTo>
                    <a:lnTo>
                      <a:pt x="66" y="113"/>
                    </a:lnTo>
                    <a:lnTo>
                      <a:pt x="66" y="107"/>
                    </a:lnTo>
                    <a:lnTo>
                      <a:pt x="78" y="101"/>
                    </a:lnTo>
                    <a:lnTo>
                      <a:pt x="90" y="89"/>
                    </a:lnTo>
                    <a:lnTo>
                      <a:pt x="102" y="59"/>
                    </a:lnTo>
                    <a:lnTo>
                      <a:pt x="96" y="30"/>
                    </a:lnTo>
                    <a:lnTo>
                      <a:pt x="84" y="18"/>
                    </a:lnTo>
                    <a:lnTo>
                      <a:pt x="78" y="12"/>
                    </a:lnTo>
                    <a:lnTo>
                      <a:pt x="66" y="6"/>
                    </a:lnTo>
                    <a:lnTo>
                      <a:pt x="48" y="0"/>
                    </a:lnTo>
                    <a:lnTo>
                      <a:pt x="36" y="6"/>
                    </a:lnTo>
                    <a:lnTo>
                      <a:pt x="24" y="12"/>
                    </a:lnTo>
                    <a:lnTo>
                      <a:pt x="18" y="18"/>
                    </a:lnTo>
                    <a:lnTo>
                      <a:pt x="6" y="30"/>
                    </a:lnTo>
                    <a:lnTo>
                      <a:pt x="0" y="59"/>
                    </a:lnTo>
                    <a:lnTo>
                      <a:pt x="6" y="89"/>
                    </a:lnTo>
                    <a:lnTo>
                      <a:pt x="18" y="101"/>
                    </a:lnTo>
                    <a:lnTo>
                      <a:pt x="36" y="107"/>
                    </a:lnTo>
                    <a:lnTo>
                      <a:pt x="36" y="113"/>
                    </a:lnTo>
                    <a:lnTo>
                      <a:pt x="12" y="113"/>
                    </a:lnTo>
                    <a:lnTo>
                      <a:pt x="6" y="113"/>
                    </a:lnTo>
                    <a:lnTo>
                      <a:pt x="0" y="101"/>
                    </a:lnTo>
                    <a:lnTo>
                      <a:pt x="0" y="131"/>
                    </a:lnTo>
                    <a:lnTo>
                      <a:pt x="42" y="131"/>
                    </a:lnTo>
                    <a:lnTo>
                      <a:pt x="42" y="10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181" name="Freeform 93"/>
              <p:cNvSpPr/>
              <p:nvPr/>
            </p:nvSpPr>
            <p:spPr>
              <a:xfrm>
                <a:off x="3533" y="1142"/>
                <a:ext cx="500" cy="81"/>
              </a:xfrm>
              <a:custGeom>
                <a:avLst/>
                <a:gdLst>
                  <a:gd name="txL" fmla="*/ 0 w 293"/>
                  <a:gd name="txT" fmla="*/ 0 h 48"/>
                  <a:gd name="txR" fmla="*/ 293 w 293"/>
                  <a:gd name="txB" fmla="*/ 48 h 48"/>
                </a:gdLst>
                <a:ahLst/>
                <a:cxnLst>
                  <a:cxn ang="0">
                    <a:pos x="0" y="110831585"/>
                  </a:cxn>
                  <a:cxn ang="0">
                    <a:pos x="0" y="0"/>
                  </a:cxn>
                  <a:cxn ang="0">
                    <a:pos x="924296870" y="0"/>
                  </a:cxn>
                  <a:cxn ang="0">
                    <a:pos x="924296870" y="110831585"/>
                  </a:cxn>
                  <a:cxn ang="0">
                    <a:pos x="0" y="110831585"/>
                  </a:cxn>
                  <a:cxn ang="0">
                    <a:pos x="0" y="110831585"/>
                  </a:cxn>
                </a:cxnLst>
                <a:rect l="txL" t="txT" r="txR" b="txB"/>
                <a:pathLst>
                  <a:path w="293" h="48">
                    <a:moveTo>
                      <a:pt x="0" y="48"/>
                    </a:moveTo>
                    <a:lnTo>
                      <a:pt x="0" y="0"/>
                    </a:lnTo>
                    <a:lnTo>
                      <a:pt x="293" y="0"/>
                    </a:lnTo>
                    <a:lnTo>
                      <a:pt x="293" y="48"/>
                    </a:lnTo>
                    <a:lnTo>
                      <a:pt x="0" y="48"/>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46182" name="Freeform 94"/>
              <p:cNvSpPr/>
              <p:nvPr/>
            </p:nvSpPr>
            <p:spPr>
              <a:xfrm>
                <a:off x="4013" y="1183"/>
                <a:ext cx="31" cy="100"/>
              </a:xfrm>
              <a:custGeom>
                <a:avLst/>
                <a:gdLst>
                  <a:gd name="txL" fmla="*/ 0 w 18"/>
                  <a:gd name="txT" fmla="*/ 0 h 60"/>
                  <a:gd name="txR" fmla="*/ 18 w 18"/>
                  <a:gd name="txB" fmla="*/ 60 h 60"/>
                </a:gdLst>
                <a:ahLst/>
                <a:cxnLst>
                  <a:cxn ang="0">
                    <a:pos x="72737244" y="0"/>
                  </a:cxn>
                  <a:cxn ang="0">
                    <a:pos x="0" y="97774133"/>
                  </a:cxn>
                  <a:cxn ang="0">
                    <a:pos x="72737244" y="0"/>
                  </a:cxn>
                  <a:cxn ang="0">
                    <a:pos x="72737244" y="0"/>
                  </a:cxn>
                </a:cxnLst>
                <a:rect l="txL" t="txT" r="txR" b="txB"/>
                <a:pathLst>
                  <a:path w="18" h="60">
                    <a:moveTo>
                      <a:pt x="18" y="0"/>
                    </a:moveTo>
                    <a:lnTo>
                      <a:pt x="0" y="60"/>
                    </a:ln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83" name="Freeform 95"/>
              <p:cNvSpPr>
                <a:spLocks noEditPoints="1"/>
              </p:cNvSpPr>
              <p:nvPr/>
            </p:nvSpPr>
            <p:spPr>
              <a:xfrm>
                <a:off x="3982" y="1183"/>
                <a:ext cx="31" cy="100"/>
              </a:xfrm>
              <a:custGeom>
                <a:avLst/>
                <a:gdLst>
                  <a:gd name="txL" fmla="*/ 0 w 18"/>
                  <a:gd name="txT" fmla="*/ 0 h 60"/>
                  <a:gd name="txR" fmla="*/ 18 w 18"/>
                  <a:gd name="txB" fmla="*/ 60 h 60"/>
                </a:gdLst>
                <a:ahLst/>
                <a:cxnLst>
                  <a:cxn ang="0">
                    <a:pos x="72737244" y="97774133"/>
                  </a:cxn>
                  <a:cxn ang="0">
                    <a:pos x="0" y="0"/>
                  </a:cxn>
                  <a:cxn ang="0">
                    <a:pos x="72737244" y="97774133"/>
                  </a:cxn>
                  <a:cxn ang="0">
                    <a:pos x="72737244" y="97774133"/>
                  </a:cxn>
                  <a:cxn ang="0">
                    <a:pos x="72737244" y="97774133"/>
                  </a:cxn>
                  <a:cxn ang="0">
                    <a:pos x="72737244" y="97774133"/>
                  </a:cxn>
                  <a:cxn ang="0">
                    <a:pos x="72737244" y="97774133"/>
                  </a:cxn>
                </a:cxnLst>
                <a:rect l="txL" t="txT" r="txR" b="txB"/>
                <a:pathLst>
                  <a:path w="18" h="60">
                    <a:moveTo>
                      <a:pt x="18" y="60"/>
                    </a:moveTo>
                    <a:lnTo>
                      <a:pt x="0" y="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84" name="Freeform 96"/>
              <p:cNvSpPr>
                <a:spLocks noEditPoints="1"/>
              </p:cNvSpPr>
              <p:nvPr/>
            </p:nvSpPr>
            <p:spPr>
              <a:xfrm>
                <a:off x="3941" y="1084"/>
                <a:ext cx="41" cy="99"/>
              </a:xfrm>
              <a:custGeom>
                <a:avLst/>
                <a:gdLst>
                  <a:gd name="txL" fmla="*/ 0 w 24"/>
                  <a:gd name="txT" fmla="*/ 0 h 59"/>
                  <a:gd name="txR" fmla="*/ 24 w 24"/>
                  <a:gd name="txB" fmla="*/ 59 h 59"/>
                </a:gdLst>
                <a:ahLst/>
                <a:cxnLst>
                  <a:cxn ang="0">
                    <a:pos x="78262881" y="116093103"/>
                  </a:cxn>
                  <a:cxn ang="0">
                    <a:pos x="0" y="0"/>
                  </a:cxn>
                  <a:cxn ang="0">
                    <a:pos x="78262881" y="116093103"/>
                  </a:cxn>
                  <a:cxn ang="0">
                    <a:pos x="78262881" y="116093103"/>
                  </a:cxn>
                  <a:cxn ang="0">
                    <a:pos x="78262881" y="116093103"/>
                  </a:cxn>
                  <a:cxn ang="0">
                    <a:pos x="78262881" y="116093103"/>
                  </a:cxn>
                  <a:cxn ang="0">
                    <a:pos x="78262881" y="116093103"/>
                  </a:cxn>
                </a:cxnLst>
                <a:rect l="txL" t="txT" r="txR" b="txB"/>
                <a:pathLst>
                  <a:path w="24" h="59">
                    <a:moveTo>
                      <a:pt x="24" y="59"/>
                    </a:moveTo>
                    <a:lnTo>
                      <a:pt x="0" y="0"/>
                    </a:lnTo>
                    <a:lnTo>
                      <a:pt x="24" y="59"/>
                    </a:lnTo>
                    <a:close/>
                    <a:moveTo>
                      <a:pt x="24" y="59"/>
                    </a:moveTo>
                    <a:lnTo>
                      <a:pt x="24"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85" name="Freeform 97"/>
              <p:cNvSpPr>
                <a:spLocks noEditPoints="1"/>
              </p:cNvSpPr>
              <p:nvPr/>
            </p:nvSpPr>
            <p:spPr>
              <a:xfrm>
                <a:off x="3911" y="1084"/>
                <a:ext cx="30" cy="99"/>
              </a:xfrm>
              <a:custGeom>
                <a:avLst/>
                <a:gdLst>
                  <a:gd name="txL" fmla="*/ 0 w 18"/>
                  <a:gd name="txT" fmla="*/ 0 h 59"/>
                  <a:gd name="txR" fmla="*/ 18 w 18"/>
                  <a:gd name="txB" fmla="*/ 59 h 59"/>
                </a:gdLst>
                <a:ahLst/>
                <a:cxnLst>
                  <a:cxn ang="0">
                    <a:pos x="29078255" y="0"/>
                  </a:cxn>
                  <a:cxn ang="0">
                    <a:pos x="0" y="116093103"/>
                  </a:cxn>
                  <a:cxn ang="0">
                    <a:pos x="29078255" y="0"/>
                  </a:cxn>
                  <a:cxn ang="0">
                    <a:pos x="29078255" y="0"/>
                  </a:cxn>
                  <a:cxn ang="0">
                    <a:pos x="29078255" y="0"/>
                  </a:cxn>
                  <a:cxn ang="0">
                    <a:pos x="29078255" y="0"/>
                  </a:cxn>
                  <a:cxn ang="0">
                    <a:pos x="29078255" y="0"/>
                  </a:cxn>
                </a:cxnLst>
                <a:rect l="txL" t="txT" r="txR" b="txB"/>
                <a:pathLst>
                  <a:path w="18" h="59">
                    <a:moveTo>
                      <a:pt x="18" y="0"/>
                    </a:moveTo>
                    <a:lnTo>
                      <a:pt x="0" y="59"/>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86" name="Freeform 98"/>
              <p:cNvSpPr>
                <a:spLocks noEditPoints="1"/>
              </p:cNvSpPr>
              <p:nvPr/>
            </p:nvSpPr>
            <p:spPr>
              <a:xfrm>
                <a:off x="3911" y="1183"/>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87" name="Freeform 99"/>
              <p:cNvSpPr>
                <a:spLocks noEditPoints="1"/>
              </p:cNvSpPr>
              <p:nvPr/>
            </p:nvSpPr>
            <p:spPr>
              <a:xfrm>
                <a:off x="3880" y="1183"/>
                <a:ext cx="31" cy="100"/>
              </a:xfrm>
              <a:custGeom>
                <a:avLst/>
                <a:gdLst>
                  <a:gd name="txL" fmla="*/ 0 w 18"/>
                  <a:gd name="txT" fmla="*/ 0 h 60"/>
                  <a:gd name="txR" fmla="*/ 18 w 18"/>
                  <a:gd name="txB" fmla="*/ 60 h 60"/>
                </a:gdLst>
                <a:ahLst/>
                <a:cxnLst>
                  <a:cxn ang="0">
                    <a:pos x="72737244" y="0"/>
                  </a:cxn>
                  <a:cxn ang="0">
                    <a:pos x="0" y="97774133"/>
                  </a:cxn>
                  <a:cxn ang="0">
                    <a:pos x="72737244" y="0"/>
                  </a:cxn>
                  <a:cxn ang="0">
                    <a:pos x="72737244" y="0"/>
                  </a:cxn>
                  <a:cxn ang="0">
                    <a:pos x="72737244" y="0"/>
                  </a:cxn>
                  <a:cxn ang="0">
                    <a:pos x="72737244" y="0"/>
                  </a:cxn>
                  <a:cxn ang="0">
                    <a:pos x="72737244" y="0"/>
                  </a:cxn>
                </a:cxnLst>
                <a:rect l="txL" t="txT" r="txR" b="txB"/>
                <a:pathLst>
                  <a:path w="18" h="60">
                    <a:moveTo>
                      <a:pt x="18" y="0"/>
                    </a:moveTo>
                    <a:lnTo>
                      <a:pt x="0" y="60"/>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88" name="Freeform 100"/>
              <p:cNvSpPr>
                <a:spLocks noEditPoints="1"/>
              </p:cNvSpPr>
              <p:nvPr/>
            </p:nvSpPr>
            <p:spPr>
              <a:xfrm>
                <a:off x="3849" y="1183"/>
                <a:ext cx="31" cy="100"/>
              </a:xfrm>
              <a:custGeom>
                <a:avLst/>
                <a:gdLst>
                  <a:gd name="txL" fmla="*/ 0 w 18"/>
                  <a:gd name="txT" fmla="*/ 0 h 60"/>
                  <a:gd name="txR" fmla="*/ 18 w 18"/>
                  <a:gd name="txB" fmla="*/ 60 h 60"/>
                </a:gdLst>
                <a:ahLst/>
                <a:cxnLst>
                  <a:cxn ang="0">
                    <a:pos x="72737244" y="97774133"/>
                  </a:cxn>
                  <a:cxn ang="0">
                    <a:pos x="0" y="0"/>
                  </a:cxn>
                  <a:cxn ang="0">
                    <a:pos x="72737244" y="97774133"/>
                  </a:cxn>
                  <a:cxn ang="0">
                    <a:pos x="72737244" y="97774133"/>
                  </a:cxn>
                  <a:cxn ang="0">
                    <a:pos x="72737244" y="97774133"/>
                  </a:cxn>
                  <a:cxn ang="0">
                    <a:pos x="72737244" y="97774133"/>
                  </a:cxn>
                  <a:cxn ang="0">
                    <a:pos x="72737244" y="97774133"/>
                  </a:cxn>
                </a:cxnLst>
                <a:rect l="txL" t="txT" r="txR" b="txB"/>
                <a:pathLst>
                  <a:path w="18" h="60">
                    <a:moveTo>
                      <a:pt x="18" y="60"/>
                    </a:moveTo>
                    <a:lnTo>
                      <a:pt x="0" y="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89" name="Freeform 101"/>
              <p:cNvSpPr>
                <a:spLocks noEditPoints="1"/>
              </p:cNvSpPr>
              <p:nvPr/>
            </p:nvSpPr>
            <p:spPr>
              <a:xfrm>
                <a:off x="3818" y="1084"/>
                <a:ext cx="31" cy="99"/>
              </a:xfrm>
              <a:custGeom>
                <a:avLst/>
                <a:gdLst>
                  <a:gd name="txL" fmla="*/ 0 w 18"/>
                  <a:gd name="txT" fmla="*/ 0 h 59"/>
                  <a:gd name="txR" fmla="*/ 18 w 18"/>
                  <a:gd name="txB" fmla="*/ 59 h 59"/>
                </a:gdLst>
                <a:ahLst/>
                <a:cxnLst>
                  <a:cxn ang="0">
                    <a:pos x="72737244" y="116093103"/>
                  </a:cxn>
                  <a:cxn ang="0">
                    <a:pos x="0" y="0"/>
                  </a:cxn>
                  <a:cxn ang="0">
                    <a:pos x="72737244" y="116093103"/>
                  </a:cxn>
                  <a:cxn ang="0">
                    <a:pos x="72737244" y="116093103"/>
                  </a:cxn>
                  <a:cxn ang="0">
                    <a:pos x="72737244" y="116093103"/>
                  </a:cxn>
                  <a:cxn ang="0">
                    <a:pos x="72737244" y="116093103"/>
                  </a:cxn>
                  <a:cxn ang="0">
                    <a:pos x="72737244" y="116093103"/>
                  </a:cxn>
                </a:cxnLst>
                <a:rect l="txL" t="txT" r="txR" b="txB"/>
                <a:pathLst>
                  <a:path w="18" h="59">
                    <a:moveTo>
                      <a:pt x="18" y="59"/>
                    </a:moveTo>
                    <a:lnTo>
                      <a:pt x="0" y="0"/>
                    </a:lnTo>
                    <a:lnTo>
                      <a:pt x="18" y="59"/>
                    </a:lnTo>
                    <a:close/>
                    <a:moveTo>
                      <a:pt x="18" y="59"/>
                    </a:moveTo>
                    <a:lnTo>
                      <a:pt x="18"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90" name="Freeform 102"/>
              <p:cNvSpPr>
                <a:spLocks noEditPoints="1"/>
              </p:cNvSpPr>
              <p:nvPr/>
            </p:nvSpPr>
            <p:spPr>
              <a:xfrm>
                <a:off x="3788" y="1084"/>
                <a:ext cx="30" cy="99"/>
              </a:xfrm>
              <a:custGeom>
                <a:avLst/>
                <a:gdLst>
                  <a:gd name="txL" fmla="*/ 0 w 18"/>
                  <a:gd name="txT" fmla="*/ 0 h 59"/>
                  <a:gd name="txR" fmla="*/ 18 w 18"/>
                  <a:gd name="txB" fmla="*/ 59 h 59"/>
                </a:gdLst>
                <a:ahLst/>
                <a:cxnLst>
                  <a:cxn ang="0">
                    <a:pos x="29078255" y="0"/>
                  </a:cxn>
                  <a:cxn ang="0">
                    <a:pos x="0" y="116093103"/>
                  </a:cxn>
                  <a:cxn ang="0">
                    <a:pos x="29078255" y="0"/>
                  </a:cxn>
                  <a:cxn ang="0">
                    <a:pos x="29078255" y="0"/>
                  </a:cxn>
                  <a:cxn ang="0">
                    <a:pos x="29078255" y="0"/>
                  </a:cxn>
                  <a:cxn ang="0">
                    <a:pos x="29078255" y="0"/>
                  </a:cxn>
                  <a:cxn ang="0">
                    <a:pos x="29078255" y="0"/>
                  </a:cxn>
                </a:cxnLst>
                <a:rect l="txL" t="txT" r="txR" b="txB"/>
                <a:pathLst>
                  <a:path w="18" h="59">
                    <a:moveTo>
                      <a:pt x="18" y="0"/>
                    </a:moveTo>
                    <a:lnTo>
                      <a:pt x="0" y="59"/>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91" name="Freeform 103"/>
              <p:cNvSpPr>
                <a:spLocks noEditPoints="1"/>
              </p:cNvSpPr>
              <p:nvPr/>
            </p:nvSpPr>
            <p:spPr>
              <a:xfrm>
                <a:off x="3747" y="1183"/>
                <a:ext cx="41" cy="100"/>
              </a:xfrm>
              <a:custGeom>
                <a:avLst/>
                <a:gdLst>
                  <a:gd name="txL" fmla="*/ 0 w 24"/>
                  <a:gd name="txT" fmla="*/ 0 h 60"/>
                  <a:gd name="txR" fmla="*/ 24 w 24"/>
                  <a:gd name="txB" fmla="*/ 60 h 60"/>
                </a:gdLst>
                <a:ahLst/>
                <a:cxnLst>
                  <a:cxn ang="0">
                    <a:pos x="78262881" y="0"/>
                  </a:cxn>
                  <a:cxn ang="0">
                    <a:pos x="0" y="97774133"/>
                  </a:cxn>
                  <a:cxn ang="0">
                    <a:pos x="78262881" y="0"/>
                  </a:cxn>
                  <a:cxn ang="0">
                    <a:pos x="78262881" y="0"/>
                  </a:cxn>
                  <a:cxn ang="0">
                    <a:pos x="78262881" y="0"/>
                  </a:cxn>
                  <a:cxn ang="0">
                    <a:pos x="78262881" y="0"/>
                  </a:cxn>
                  <a:cxn ang="0">
                    <a:pos x="78262881" y="0"/>
                  </a:cxn>
                </a:cxnLst>
                <a:rect l="txL" t="txT" r="txR" b="txB"/>
                <a:pathLst>
                  <a:path w="24" h="60">
                    <a:moveTo>
                      <a:pt x="24" y="0"/>
                    </a:moveTo>
                    <a:lnTo>
                      <a:pt x="0" y="60"/>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92" name="Freeform 104"/>
              <p:cNvSpPr>
                <a:spLocks noEditPoints="1"/>
              </p:cNvSpPr>
              <p:nvPr/>
            </p:nvSpPr>
            <p:spPr>
              <a:xfrm>
                <a:off x="3716" y="1183"/>
                <a:ext cx="31" cy="100"/>
              </a:xfrm>
              <a:custGeom>
                <a:avLst/>
                <a:gdLst>
                  <a:gd name="txL" fmla="*/ 0 w 18"/>
                  <a:gd name="txT" fmla="*/ 0 h 60"/>
                  <a:gd name="txR" fmla="*/ 18 w 18"/>
                  <a:gd name="txB" fmla="*/ 60 h 60"/>
                </a:gdLst>
                <a:ahLst/>
                <a:cxnLst>
                  <a:cxn ang="0">
                    <a:pos x="72737244" y="97774133"/>
                  </a:cxn>
                  <a:cxn ang="0">
                    <a:pos x="0" y="0"/>
                  </a:cxn>
                  <a:cxn ang="0">
                    <a:pos x="72737244" y="97774133"/>
                  </a:cxn>
                  <a:cxn ang="0">
                    <a:pos x="72737244" y="97774133"/>
                  </a:cxn>
                  <a:cxn ang="0">
                    <a:pos x="72737244" y="97774133"/>
                  </a:cxn>
                  <a:cxn ang="0">
                    <a:pos x="72737244" y="97774133"/>
                  </a:cxn>
                  <a:cxn ang="0">
                    <a:pos x="72737244" y="97774133"/>
                  </a:cxn>
                </a:cxnLst>
                <a:rect l="txL" t="txT" r="txR" b="txB"/>
                <a:pathLst>
                  <a:path w="18" h="60">
                    <a:moveTo>
                      <a:pt x="18" y="60"/>
                    </a:moveTo>
                    <a:lnTo>
                      <a:pt x="0" y="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93" name="Freeform 105"/>
              <p:cNvSpPr>
                <a:spLocks noEditPoints="1"/>
              </p:cNvSpPr>
              <p:nvPr/>
            </p:nvSpPr>
            <p:spPr>
              <a:xfrm>
                <a:off x="3687" y="1084"/>
                <a:ext cx="29" cy="99"/>
              </a:xfrm>
              <a:custGeom>
                <a:avLst/>
                <a:gdLst>
                  <a:gd name="txL" fmla="*/ 0 w 17"/>
                  <a:gd name="txT" fmla="*/ 0 h 59"/>
                  <a:gd name="txR" fmla="*/ 17 w 17"/>
                  <a:gd name="txB" fmla="*/ 59 h 59"/>
                </a:gdLst>
                <a:ahLst/>
                <a:cxnLst>
                  <a:cxn ang="0">
                    <a:pos x="52743984" y="116093103"/>
                  </a:cxn>
                  <a:cxn ang="0">
                    <a:pos x="0" y="0"/>
                  </a:cxn>
                  <a:cxn ang="0">
                    <a:pos x="52743984" y="116093103"/>
                  </a:cxn>
                  <a:cxn ang="0">
                    <a:pos x="52743984" y="116093103"/>
                  </a:cxn>
                  <a:cxn ang="0">
                    <a:pos x="52743984" y="116093103"/>
                  </a:cxn>
                  <a:cxn ang="0">
                    <a:pos x="52743984" y="116093103"/>
                  </a:cxn>
                  <a:cxn ang="0">
                    <a:pos x="52743984" y="116093103"/>
                  </a:cxn>
                </a:cxnLst>
                <a:rect l="txL" t="txT" r="txR" b="txB"/>
                <a:pathLst>
                  <a:path w="17" h="59">
                    <a:moveTo>
                      <a:pt x="17" y="59"/>
                    </a:moveTo>
                    <a:lnTo>
                      <a:pt x="0" y="0"/>
                    </a:lnTo>
                    <a:lnTo>
                      <a:pt x="17" y="59"/>
                    </a:lnTo>
                    <a:close/>
                    <a:moveTo>
                      <a:pt x="17" y="59"/>
                    </a:moveTo>
                    <a:lnTo>
                      <a:pt x="17"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94" name="Freeform 106"/>
              <p:cNvSpPr>
                <a:spLocks noEditPoints="1"/>
              </p:cNvSpPr>
              <p:nvPr/>
            </p:nvSpPr>
            <p:spPr>
              <a:xfrm>
                <a:off x="3656" y="1084"/>
                <a:ext cx="31" cy="99"/>
              </a:xfrm>
              <a:custGeom>
                <a:avLst/>
                <a:gdLst>
                  <a:gd name="txL" fmla="*/ 0 w 18"/>
                  <a:gd name="txT" fmla="*/ 0 h 59"/>
                  <a:gd name="txR" fmla="*/ 18 w 18"/>
                  <a:gd name="txB" fmla="*/ 59 h 59"/>
                </a:gdLst>
                <a:ahLst/>
                <a:cxnLst>
                  <a:cxn ang="0">
                    <a:pos x="72737244" y="0"/>
                  </a:cxn>
                  <a:cxn ang="0">
                    <a:pos x="0" y="116093103"/>
                  </a:cxn>
                  <a:cxn ang="0">
                    <a:pos x="72737244" y="0"/>
                  </a:cxn>
                  <a:cxn ang="0">
                    <a:pos x="72737244" y="0"/>
                  </a:cxn>
                  <a:cxn ang="0">
                    <a:pos x="72737244" y="0"/>
                  </a:cxn>
                  <a:cxn ang="0">
                    <a:pos x="72737244" y="0"/>
                  </a:cxn>
                  <a:cxn ang="0">
                    <a:pos x="72737244" y="0"/>
                  </a:cxn>
                </a:cxnLst>
                <a:rect l="txL" t="txT" r="txR" b="txB"/>
                <a:pathLst>
                  <a:path w="18" h="59">
                    <a:moveTo>
                      <a:pt x="18" y="0"/>
                    </a:moveTo>
                    <a:lnTo>
                      <a:pt x="0" y="59"/>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95" name="Freeform 107"/>
              <p:cNvSpPr>
                <a:spLocks noEditPoints="1"/>
              </p:cNvSpPr>
              <p:nvPr/>
            </p:nvSpPr>
            <p:spPr>
              <a:xfrm>
                <a:off x="3626" y="1183"/>
                <a:ext cx="30" cy="100"/>
              </a:xfrm>
              <a:custGeom>
                <a:avLst/>
                <a:gdLst>
                  <a:gd name="txL" fmla="*/ 0 w 18"/>
                  <a:gd name="txT" fmla="*/ 0 h 60"/>
                  <a:gd name="txR" fmla="*/ 18 w 18"/>
                  <a:gd name="txB" fmla="*/ 60 h 60"/>
                </a:gdLst>
                <a:ahLst/>
                <a:cxnLst>
                  <a:cxn ang="0">
                    <a:pos x="29078255" y="0"/>
                  </a:cxn>
                  <a:cxn ang="0">
                    <a:pos x="0" y="97774133"/>
                  </a:cxn>
                  <a:cxn ang="0">
                    <a:pos x="29078255" y="0"/>
                  </a:cxn>
                  <a:cxn ang="0">
                    <a:pos x="29078255" y="0"/>
                  </a:cxn>
                  <a:cxn ang="0">
                    <a:pos x="29078255" y="0"/>
                  </a:cxn>
                  <a:cxn ang="0">
                    <a:pos x="29078255" y="0"/>
                  </a:cxn>
                  <a:cxn ang="0">
                    <a:pos x="29078255" y="0"/>
                  </a:cxn>
                </a:cxnLst>
                <a:rect l="txL" t="txT" r="txR" b="txB"/>
                <a:pathLst>
                  <a:path w="18" h="60">
                    <a:moveTo>
                      <a:pt x="18" y="0"/>
                    </a:moveTo>
                    <a:lnTo>
                      <a:pt x="0" y="60"/>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96" name="Freeform 108"/>
              <p:cNvSpPr>
                <a:spLocks noEditPoints="1"/>
              </p:cNvSpPr>
              <p:nvPr/>
            </p:nvSpPr>
            <p:spPr>
              <a:xfrm>
                <a:off x="3595" y="1183"/>
                <a:ext cx="31" cy="100"/>
              </a:xfrm>
              <a:custGeom>
                <a:avLst/>
                <a:gdLst>
                  <a:gd name="txL" fmla="*/ 0 w 18"/>
                  <a:gd name="txT" fmla="*/ 0 h 60"/>
                  <a:gd name="txR" fmla="*/ 18 w 18"/>
                  <a:gd name="txB" fmla="*/ 60 h 60"/>
                </a:gdLst>
                <a:ahLst/>
                <a:cxnLst>
                  <a:cxn ang="0">
                    <a:pos x="72737244" y="97774133"/>
                  </a:cxn>
                  <a:cxn ang="0">
                    <a:pos x="0" y="0"/>
                  </a:cxn>
                  <a:cxn ang="0">
                    <a:pos x="72737244" y="97774133"/>
                  </a:cxn>
                  <a:cxn ang="0">
                    <a:pos x="72737244" y="97774133"/>
                  </a:cxn>
                  <a:cxn ang="0">
                    <a:pos x="72737244" y="97774133"/>
                  </a:cxn>
                  <a:cxn ang="0">
                    <a:pos x="72737244" y="97774133"/>
                  </a:cxn>
                  <a:cxn ang="0">
                    <a:pos x="72737244" y="97774133"/>
                  </a:cxn>
                </a:cxnLst>
                <a:rect l="txL" t="txT" r="txR" b="txB"/>
                <a:pathLst>
                  <a:path w="18" h="60">
                    <a:moveTo>
                      <a:pt x="18" y="60"/>
                    </a:moveTo>
                    <a:lnTo>
                      <a:pt x="0" y="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97" name="Freeform 109"/>
              <p:cNvSpPr>
                <a:spLocks noEditPoints="1"/>
              </p:cNvSpPr>
              <p:nvPr/>
            </p:nvSpPr>
            <p:spPr>
              <a:xfrm>
                <a:off x="3564" y="1084"/>
                <a:ext cx="31" cy="99"/>
              </a:xfrm>
              <a:custGeom>
                <a:avLst/>
                <a:gdLst>
                  <a:gd name="txL" fmla="*/ 0 w 18"/>
                  <a:gd name="txT" fmla="*/ 0 h 59"/>
                  <a:gd name="txR" fmla="*/ 18 w 18"/>
                  <a:gd name="txB" fmla="*/ 59 h 59"/>
                </a:gdLst>
                <a:ahLst/>
                <a:cxnLst>
                  <a:cxn ang="0">
                    <a:pos x="72737244" y="116093103"/>
                  </a:cxn>
                  <a:cxn ang="0">
                    <a:pos x="0" y="0"/>
                  </a:cxn>
                  <a:cxn ang="0">
                    <a:pos x="72737244" y="116093103"/>
                  </a:cxn>
                  <a:cxn ang="0">
                    <a:pos x="72737244" y="116093103"/>
                  </a:cxn>
                  <a:cxn ang="0">
                    <a:pos x="72737244" y="116093103"/>
                  </a:cxn>
                  <a:cxn ang="0">
                    <a:pos x="72737244" y="116093103"/>
                  </a:cxn>
                  <a:cxn ang="0">
                    <a:pos x="72737244" y="116093103"/>
                  </a:cxn>
                </a:cxnLst>
                <a:rect l="txL" t="txT" r="txR" b="txB"/>
                <a:pathLst>
                  <a:path w="18" h="59">
                    <a:moveTo>
                      <a:pt x="18" y="59"/>
                    </a:moveTo>
                    <a:lnTo>
                      <a:pt x="0" y="0"/>
                    </a:lnTo>
                    <a:lnTo>
                      <a:pt x="18" y="59"/>
                    </a:lnTo>
                    <a:close/>
                    <a:moveTo>
                      <a:pt x="18" y="59"/>
                    </a:moveTo>
                    <a:lnTo>
                      <a:pt x="18"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98" name="Freeform 110"/>
              <p:cNvSpPr>
                <a:spLocks noEditPoints="1"/>
              </p:cNvSpPr>
              <p:nvPr/>
            </p:nvSpPr>
            <p:spPr>
              <a:xfrm>
                <a:off x="3523" y="1084"/>
                <a:ext cx="41" cy="109"/>
              </a:xfrm>
              <a:custGeom>
                <a:avLst/>
                <a:gdLst>
                  <a:gd name="txL" fmla="*/ 0 w 24"/>
                  <a:gd name="txT" fmla="*/ 0 h 65"/>
                  <a:gd name="txR" fmla="*/ 24 w 24"/>
                  <a:gd name="txB" fmla="*/ 65 h 65"/>
                </a:gdLst>
                <a:ahLst/>
                <a:cxnLst>
                  <a:cxn ang="0">
                    <a:pos x="78262881" y="0"/>
                  </a:cxn>
                  <a:cxn ang="0">
                    <a:pos x="0" y="125988779"/>
                  </a:cxn>
                  <a:cxn ang="0">
                    <a:pos x="78262881" y="0"/>
                  </a:cxn>
                  <a:cxn ang="0">
                    <a:pos x="78262881" y="0"/>
                  </a:cxn>
                  <a:cxn ang="0">
                    <a:pos x="78262881" y="0"/>
                  </a:cxn>
                  <a:cxn ang="0">
                    <a:pos x="78262881" y="0"/>
                  </a:cxn>
                  <a:cxn ang="0">
                    <a:pos x="78262881" y="0"/>
                  </a:cxn>
                </a:cxnLst>
                <a:rect l="txL" t="txT" r="txR" b="txB"/>
                <a:pathLst>
                  <a:path w="24" h="65">
                    <a:moveTo>
                      <a:pt x="24" y="0"/>
                    </a:moveTo>
                    <a:lnTo>
                      <a:pt x="0" y="65"/>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199" name="Freeform 111"/>
              <p:cNvSpPr/>
              <p:nvPr/>
            </p:nvSpPr>
            <p:spPr>
              <a:xfrm>
                <a:off x="1870" y="1142"/>
                <a:ext cx="510" cy="81"/>
              </a:xfrm>
              <a:custGeom>
                <a:avLst/>
                <a:gdLst>
                  <a:gd name="txL" fmla="*/ 0 w 299"/>
                  <a:gd name="txT" fmla="*/ 0 h 48"/>
                  <a:gd name="txR" fmla="*/ 299 w 299"/>
                  <a:gd name="txB" fmla="*/ 48 h 48"/>
                </a:gdLst>
                <a:ahLst/>
                <a:cxnLst>
                  <a:cxn ang="0">
                    <a:pos x="0" y="110831585"/>
                  </a:cxn>
                  <a:cxn ang="0">
                    <a:pos x="0" y="0"/>
                  </a:cxn>
                  <a:cxn ang="0">
                    <a:pos x="930756874" y="0"/>
                  </a:cxn>
                  <a:cxn ang="0">
                    <a:pos x="930756874" y="110831585"/>
                  </a:cxn>
                  <a:cxn ang="0">
                    <a:pos x="0" y="110831585"/>
                  </a:cxn>
                  <a:cxn ang="0">
                    <a:pos x="0" y="110831585"/>
                  </a:cxn>
                </a:cxnLst>
                <a:rect l="txL" t="txT" r="txR" b="txB"/>
                <a:pathLst>
                  <a:path w="299" h="48">
                    <a:moveTo>
                      <a:pt x="0" y="48"/>
                    </a:moveTo>
                    <a:lnTo>
                      <a:pt x="0" y="0"/>
                    </a:lnTo>
                    <a:lnTo>
                      <a:pt x="299" y="0"/>
                    </a:lnTo>
                    <a:lnTo>
                      <a:pt x="299" y="48"/>
                    </a:lnTo>
                    <a:lnTo>
                      <a:pt x="0" y="48"/>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46200" name="Freeform 112"/>
              <p:cNvSpPr/>
              <p:nvPr/>
            </p:nvSpPr>
            <p:spPr>
              <a:xfrm>
                <a:off x="2349" y="1183"/>
                <a:ext cx="31" cy="100"/>
              </a:xfrm>
              <a:custGeom>
                <a:avLst/>
                <a:gdLst>
                  <a:gd name="txL" fmla="*/ 0 w 18"/>
                  <a:gd name="txT" fmla="*/ 0 h 60"/>
                  <a:gd name="txR" fmla="*/ 18 w 18"/>
                  <a:gd name="txB" fmla="*/ 60 h 60"/>
                </a:gdLst>
                <a:ahLst/>
                <a:cxnLst>
                  <a:cxn ang="0">
                    <a:pos x="72737244" y="0"/>
                  </a:cxn>
                  <a:cxn ang="0">
                    <a:pos x="0" y="97774133"/>
                  </a:cxn>
                  <a:cxn ang="0">
                    <a:pos x="72737244" y="0"/>
                  </a:cxn>
                  <a:cxn ang="0">
                    <a:pos x="72737244" y="0"/>
                  </a:cxn>
                </a:cxnLst>
                <a:rect l="txL" t="txT" r="txR" b="txB"/>
                <a:pathLst>
                  <a:path w="18" h="60">
                    <a:moveTo>
                      <a:pt x="18" y="0"/>
                    </a:moveTo>
                    <a:lnTo>
                      <a:pt x="0" y="60"/>
                    </a:ln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01" name="Freeform 113"/>
              <p:cNvSpPr>
                <a:spLocks noEditPoints="1"/>
              </p:cNvSpPr>
              <p:nvPr/>
            </p:nvSpPr>
            <p:spPr>
              <a:xfrm>
                <a:off x="2319" y="1183"/>
                <a:ext cx="30" cy="100"/>
              </a:xfrm>
              <a:custGeom>
                <a:avLst/>
                <a:gdLst>
                  <a:gd name="txL" fmla="*/ 0 w 18"/>
                  <a:gd name="txT" fmla="*/ 0 h 60"/>
                  <a:gd name="txR" fmla="*/ 18 w 18"/>
                  <a:gd name="txB" fmla="*/ 60 h 60"/>
                </a:gdLst>
                <a:ahLst/>
                <a:cxnLst>
                  <a:cxn ang="0">
                    <a:pos x="29078255" y="97774133"/>
                  </a:cxn>
                  <a:cxn ang="0">
                    <a:pos x="0" y="0"/>
                  </a:cxn>
                  <a:cxn ang="0">
                    <a:pos x="29078255" y="97774133"/>
                  </a:cxn>
                  <a:cxn ang="0">
                    <a:pos x="29078255" y="97774133"/>
                  </a:cxn>
                  <a:cxn ang="0">
                    <a:pos x="29078255" y="97774133"/>
                  </a:cxn>
                  <a:cxn ang="0">
                    <a:pos x="29078255" y="97774133"/>
                  </a:cxn>
                  <a:cxn ang="0">
                    <a:pos x="29078255" y="97774133"/>
                  </a:cxn>
                </a:cxnLst>
                <a:rect l="txL" t="txT" r="txR" b="txB"/>
                <a:pathLst>
                  <a:path w="18" h="60">
                    <a:moveTo>
                      <a:pt x="18" y="60"/>
                    </a:moveTo>
                    <a:lnTo>
                      <a:pt x="0" y="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02" name="Freeform 114"/>
              <p:cNvSpPr>
                <a:spLocks noEditPoints="1"/>
              </p:cNvSpPr>
              <p:nvPr/>
            </p:nvSpPr>
            <p:spPr>
              <a:xfrm>
                <a:off x="2288" y="1084"/>
                <a:ext cx="31" cy="99"/>
              </a:xfrm>
              <a:custGeom>
                <a:avLst/>
                <a:gdLst>
                  <a:gd name="txL" fmla="*/ 0 w 18"/>
                  <a:gd name="txT" fmla="*/ 0 h 59"/>
                  <a:gd name="txR" fmla="*/ 18 w 18"/>
                  <a:gd name="txB" fmla="*/ 59 h 59"/>
                </a:gdLst>
                <a:ahLst/>
                <a:cxnLst>
                  <a:cxn ang="0">
                    <a:pos x="72737244" y="116093103"/>
                  </a:cxn>
                  <a:cxn ang="0">
                    <a:pos x="0" y="0"/>
                  </a:cxn>
                  <a:cxn ang="0">
                    <a:pos x="72737244" y="116093103"/>
                  </a:cxn>
                  <a:cxn ang="0">
                    <a:pos x="72737244" y="116093103"/>
                  </a:cxn>
                  <a:cxn ang="0">
                    <a:pos x="72737244" y="116093103"/>
                  </a:cxn>
                  <a:cxn ang="0">
                    <a:pos x="72737244" y="116093103"/>
                  </a:cxn>
                  <a:cxn ang="0">
                    <a:pos x="72737244" y="116093103"/>
                  </a:cxn>
                </a:cxnLst>
                <a:rect l="txL" t="txT" r="txR" b="txB"/>
                <a:pathLst>
                  <a:path w="18" h="59">
                    <a:moveTo>
                      <a:pt x="18" y="59"/>
                    </a:moveTo>
                    <a:lnTo>
                      <a:pt x="0" y="0"/>
                    </a:lnTo>
                    <a:lnTo>
                      <a:pt x="18" y="59"/>
                    </a:lnTo>
                    <a:close/>
                    <a:moveTo>
                      <a:pt x="18" y="59"/>
                    </a:moveTo>
                    <a:lnTo>
                      <a:pt x="18"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03" name="Freeform 115"/>
              <p:cNvSpPr>
                <a:spLocks noEditPoints="1"/>
              </p:cNvSpPr>
              <p:nvPr/>
            </p:nvSpPr>
            <p:spPr>
              <a:xfrm>
                <a:off x="2257" y="1084"/>
                <a:ext cx="31" cy="99"/>
              </a:xfrm>
              <a:custGeom>
                <a:avLst/>
                <a:gdLst>
                  <a:gd name="txL" fmla="*/ 0 w 18"/>
                  <a:gd name="txT" fmla="*/ 0 h 59"/>
                  <a:gd name="txR" fmla="*/ 18 w 18"/>
                  <a:gd name="txB" fmla="*/ 59 h 59"/>
                </a:gdLst>
                <a:ahLst/>
                <a:cxnLst>
                  <a:cxn ang="0">
                    <a:pos x="72737244" y="0"/>
                  </a:cxn>
                  <a:cxn ang="0">
                    <a:pos x="0" y="116093103"/>
                  </a:cxn>
                  <a:cxn ang="0">
                    <a:pos x="72737244" y="0"/>
                  </a:cxn>
                  <a:cxn ang="0">
                    <a:pos x="72737244" y="0"/>
                  </a:cxn>
                  <a:cxn ang="0">
                    <a:pos x="72737244" y="0"/>
                  </a:cxn>
                  <a:cxn ang="0">
                    <a:pos x="72737244" y="0"/>
                  </a:cxn>
                  <a:cxn ang="0">
                    <a:pos x="72737244" y="0"/>
                  </a:cxn>
                </a:cxnLst>
                <a:rect l="txL" t="txT" r="txR" b="txB"/>
                <a:pathLst>
                  <a:path w="18" h="59">
                    <a:moveTo>
                      <a:pt x="18" y="0"/>
                    </a:moveTo>
                    <a:lnTo>
                      <a:pt x="0" y="59"/>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04" name="Freeform 116"/>
              <p:cNvSpPr>
                <a:spLocks noEditPoints="1"/>
              </p:cNvSpPr>
              <p:nvPr/>
            </p:nvSpPr>
            <p:spPr>
              <a:xfrm>
                <a:off x="2257" y="1183"/>
                <a:ext cx="2" cy="1"/>
              </a:xfrm>
              <a:custGeom>
                <a:avLst/>
                <a:gdLst>
                  <a:gd name="txL" fmla="*/ 0 w 2"/>
                  <a:gd name="txT" fmla="*/ 0 h 1"/>
                  <a:gd name="txR" fmla="*/ 2 w 2"/>
                  <a:gd name="txB" fmla="*/ 1 h 1"/>
                </a:gdLst>
                <a:ahLst/>
                <a:cxnLst>
                  <a:cxn ang="0">
                    <a:pos x="0" y="0"/>
                  </a:cxn>
                  <a:cxn ang="0">
                    <a:pos x="0" y="0"/>
                  </a:cxn>
                  <a:cxn ang="0">
                    <a:pos x="0" y="0"/>
                  </a:cxn>
                  <a:cxn ang="0">
                    <a:pos x="0" y="0"/>
                  </a:cxn>
                  <a:cxn ang="0">
                    <a:pos x="0" y="0"/>
                  </a:cxn>
                  <a:cxn ang="0">
                    <a:pos x="0" y="0"/>
                  </a:cxn>
                  <a:cxn ang="0">
                    <a:pos x="0" y="0"/>
                  </a:cxn>
                </a:cxnLst>
                <a:rect l="txL" t="txT" r="txR" b="txB"/>
                <a:pathLst>
                  <a:path w="2"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05" name="Freeform 117"/>
              <p:cNvSpPr>
                <a:spLocks noEditPoints="1"/>
              </p:cNvSpPr>
              <p:nvPr/>
            </p:nvSpPr>
            <p:spPr>
              <a:xfrm>
                <a:off x="2216" y="1183"/>
                <a:ext cx="41" cy="100"/>
              </a:xfrm>
              <a:custGeom>
                <a:avLst/>
                <a:gdLst>
                  <a:gd name="txL" fmla="*/ 0 w 24"/>
                  <a:gd name="txT" fmla="*/ 0 h 60"/>
                  <a:gd name="txR" fmla="*/ 24 w 24"/>
                  <a:gd name="txB" fmla="*/ 60 h 60"/>
                </a:gdLst>
                <a:ahLst/>
                <a:cxnLst>
                  <a:cxn ang="0">
                    <a:pos x="78262881" y="0"/>
                  </a:cxn>
                  <a:cxn ang="0">
                    <a:pos x="0" y="97774133"/>
                  </a:cxn>
                  <a:cxn ang="0">
                    <a:pos x="78262881" y="0"/>
                  </a:cxn>
                  <a:cxn ang="0">
                    <a:pos x="78262881" y="0"/>
                  </a:cxn>
                  <a:cxn ang="0">
                    <a:pos x="78262881" y="0"/>
                  </a:cxn>
                  <a:cxn ang="0">
                    <a:pos x="78262881" y="0"/>
                  </a:cxn>
                  <a:cxn ang="0">
                    <a:pos x="78262881" y="0"/>
                  </a:cxn>
                </a:cxnLst>
                <a:rect l="txL" t="txT" r="txR" b="txB"/>
                <a:pathLst>
                  <a:path w="24" h="60">
                    <a:moveTo>
                      <a:pt x="24" y="0"/>
                    </a:moveTo>
                    <a:lnTo>
                      <a:pt x="0" y="60"/>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06" name="Freeform 118"/>
              <p:cNvSpPr>
                <a:spLocks noEditPoints="1"/>
              </p:cNvSpPr>
              <p:nvPr/>
            </p:nvSpPr>
            <p:spPr>
              <a:xfrm>
                <a:off x="2186" y="1183"/>
                <a:ext cx="30" cy="100"/>
              </a:xfrm>
              <a:custGeom>
                <a:avLst/>
                <a:gdLst>
                  <a:gd name="txL" fmla="*/ 0 w 18"/>
                  <a:gd name="txT" fmla="*/ 0 h 60"/>
                  <a:gd name="txR" fmla="*/ 18 w 18"/>
                  <a:gd name="txB" fmla="*/ 60 h 60"/>
                </a:gdLst>
                <a:ahLst/>
                <a:cxnLst>
                  <a:cxn ang="0">
                    <a:pos x="29078255" y="97774133"/>
                  </a:cxn>
                  <a:cxn ang="0">
                    <a:pos x="0" y="0"/>
                  </a:cxn>
                  <a:cxn ang="0">
                    <a:pos x="29078255" y="97774133"/>
                  </a:cxn>
                  <a:cxn ang="0">
                    <a:pos x="29078255" y="97774133"/>
                  </a:cxn>
                  <a:cxn ang="0">
                    <a:pos x="29078255" y="97774133"/>
                  </a:cxn>
                  <a:cxn ang="0">
                    <a:pos x="29078255" y="97774133"/>
                  </a:cxn>
                  <a:cxn ang="0">
                    <a:pos x="29078255" y="97774133"/>
                  </a:cxn>
                </a:cxnLst>
                <a:rect l="txL" t="txT" r="txR" b="txB"/>
                <a:pathLst>
                  <a:path w="18" h="60">
                    <a:moveTo>
                      <a:pt x="18" y="60"/>
                    </a:moveTo>
                    <a:lnTo>
                      <a:pt x="0" y="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07" name="Freeform 119"/>
              <p:cNvSpPr>
                <a:spLocks noEditPoints="1"/>
              </p:cNvSpPr>
              <p:nvPr/>
            </p:nvSpPr>
            <p:spPr>
              <a:xfrm>
                <a:off x="2155" y="1084"/>
                <a:ext cx="31" cy="99"/>
              </a:xfrm>
              <a:custGeom>
                <a:avLst/>
                <a:gdLst>
                  <a:gd name="txL" fmla="*/ 0 w 18"/>
                  <a:gd name="txT" fmla="*/ 0 h 59"/>
                  <a:gd name="txR" fmla="*/ 18 w 18"/>
                  <a:gd name="txB" fmla="*/ 59 h 59"/>
                </a:gdLst>
                <a:ahLst/>
                <a:cxnLst>
                  <a:cxn ang="0">
                    <a:pos x="72737244" y="116093103"/>
                  </a:cxn>
                  <a:cxn ang="0">
                    <a:pos x="0" y="0"/>
                  </a:cxn>
                  <a:cxn ang="0">
                    <a:pos x="72737244" y="116093103"/>
                  </a:cxn>
                  <a:cxn ang="0">
                    <a:pos x="72737244" y="116093103"/>
                  </a:cxn>
                  <a:cxn ang="0">
                    <a:pos x="72737244" y="116093103"/>
                  </a:cxn>
                  <a:cxn ang="0">
                    <a:pos x="72737244" y="116093103"/>
                  </a:cxn>
                  <a:cxn ang="0">
                    <a:pos x="72737244" y="116093103"/>
                  </a:cxn>
                </a:cxnLst>
                <a:rect l="txL" t="txT" r="txR" b="txB"/>
                <a:pathLst>
                  <a:path w="18" h="59">
                    <a:moveTo>
                      <a:pt x="18" y="59"/>
                    </a:moveTo>
                    <a:lnTo>
                      <a:pt x="0" y="0"/>
                    </a:lnTo>
                    <a:lnTo>
                      <a:pt x="18" y="59"/>
                    </a:lnTo>
                    <a:close/>
                    <a:moveTo>
                      <a:pt x="18" y="59"/>
                    </a:moveTo>
                    <a:lnTo>
                      <a:pt x="18"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08" name="Freeform 120"/>
              <p:cNvSpPr>
                <a:spLocks noEditPoints="1"/>
              </p:cNvSpPr>
              <p:nvPr/>
            </p:nvSpPr>
            <p:spPr>
              <a:xfrm>
                <a:off x="2124" y="1084"/>
                <a:ext cx="31" cy="99"/>
              </a:xfrm>
              <a:custGeom>
                <a:avLst/>
                <a:gdLst>
                  <a:gd name="txL" fmla="*/ 0 w 18"/>
                  <a:gd name="txT" fmla="*/ 0 h 59"/>
                  <a:gd name="txR" fmla="*/ 18 w 18"/>
                  <a:gd name="txB" fmla="*/ 59 h 59"/>
                </a:gdLst>
                <a:ahLst/>
                <a:cxnLst>
                  <a:cxn ang="0">
                    <a:pos x="72737244" y="0"/>
                  </a:cxn>
                  <a:cxn ang="0">
                    <a:pos x="0" y="116093103"/>
                  </a:cxn>
                  <a:cxn ang="0">
                    <a:pos x="72737244" y="0"/>
                  </a:cxn>
                  <a:cxn ang="0">
                    <a:pos x="72737244" y="0"/>
                  </a:cxn>
                  <a:cxn ang="0">
                    <a:pos x="72737244" y="0"/>
                  </a:cxn>
                  <a:cxn ang="0">
                    <a:pos x="72737244" y="0"/>
                  </a:cxn>
                  <a:cxn ang="0">
                    <a:pos x="72737244" y="0"/>
                  </a:cxn>
                </a:cxnLst>
                <a:rect l="txL" t="txT" r="txR" b="txB"/>
                <a:pathLst>
                  <a:path w="18" h="59">
                    <a:moveTo>
                      <a:pt x="18" y="0"/>
                    </a:moveTo>
                    <a:lnTo>
                      <a:pt x="0" y="59"/>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09" name="Freeform 121"/>
              <p:cNvSpPr>
                <a:spLocks noEditPoints="1"/>
              </p:cNvSpPr>
              <p:nvPr/>
            </p:nvSpPr>
            <p:spPr>
              <a:xfrm>
                <a:off x="2093" y="1183"/>
                <a:ext cx="31" cy="100"/>
              </a:xfrm>
              <a:custGeom>
                <a:avLst/>
                <a:gdLst>
                  <a:gd name="txL" fmla="*/ 0 w 18"/>
                  <a:gd name="txT" fmla="*/ 0 h 60"/>
                  <a:gd name="txR" fmla="*/ 18 w 18"/>
                  <a:gd name="txB" fmla="*/ 60 h 60"/>
                </a:gdLst>
                <a:ahLst/>
                <a:cxnLst>
                  <a:cxn ang="0">
                    <a:pos x="72737244" y="0"/>
                  </a:cxn>
                  <a:cxn ang="0">
                    <a:pos x="0" y="97774133"/>
                  </a:cxn>
                  <a:cxn ang="0">
                    <a:pos x="72737244" y="0"/>
                  </a:cxn>
                  <a:cxn ang="0">
                    <a:pos x="72737244" y="0"/>
                  </a:cxn>
                  <a:cxn ang="0">
                    <a:pos x="72737244" y="0"/>
                  </a:cxn>
                  <a:cxn ang="0">
                    <a:pos x="72737244" y="0"/>
                  </a:cxn>
                  <a:cxn ang="0">
                    <a:pos x="72737244" y="0"/>
                  </a:cxn>
                </a:cxnLst>
                <a:rect l="txL" t="txT" r="txR" b="txB"/>
                <a:pathLst>
                  <a:path w="18" h="60">
                    <a:moveTo>
                      <a:pt x="18" y="0"/>
                    </a:moveTo>
                    <a:lnTo>
                      <a:pt x="0" y="60"/>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10" name="Freeform 122"/>
              <p:cNvSpPr>
                <a:spLocks noEditPoints="1"/>
              </p:cNvSpPr>
              <p:nvPr/>
            </p:nvSpPr>
            <p:spPr>
              <a:xfrm>
                <a:off x="2064" y="1183"/>
                <a:ext cx="29" cy="100"/>
              </a:xfrm>
              <a:custGeom>
                <a:avLst/>
                <a:gdLst>
                  <a:gd name="txL" fmla="*/ 0 w 17"/>
                  <a:gd name="txT" fmla="*/ 0 h 60"/>
                  <a:gd name="txR" fmla="*/ 17 w 17"/>
                  <a:gd name="txB" fmla="*/ 60 h 60"/>
                </a:gdLst>
                <a:ahLst/>
                <a:cxnLst>
                  <a:cxn ang="0">
                    <a:pos x="52743984" y="97774133"/>
                  </a:cxn>
                  <a:cxn ang="0">
                    <a:pos x="0" y="0"/>
                  </a:cxn>
                  <a:cxn ang="0">
                    <a:pos x="52743984" y="97774133"/>
                  </a:cxn>
                  <a:cxn ang="0">
                    <a:pos x="52743984" y="97774133"/>
                  </a:cxn>
                  <a:cxn ang="0">
                    <a:pos x="52743984" y="97774133"/>
                  </a:cxn>
                  <a:cxn ang="0">
                    <a:pos x="52743984" y="97774133"/>
                  </a:cxn>
                  <a:cxn ang="0">
                    <a:pos x="52743984" y="97774133"/>
                  </a:cxn>
                </a:cxnLst>
                <a:rect l="txL" t="txT" r="txR" b="txB"/>
                <a:pathLst>
                  <a:path w="17" h="60">
                    <a:moveTo>
                      <a:pt x="17" y="60"/>
                    </a:moveTo>
                    <a:lnTo>
                      <a:pt x="0" y="0"/>
                    </a:lnTo>
                    <a:lnTo>
                      <a:pt x="17" y="60"/>
                    </a:lnTo>
                    <a:close/>
                    <a:moveTo>
                      <a:pt x="17" y="60"/>
                    </a:moveTo>
                    <a:lnTo>
                      <a:pt x="17"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11" name="Freeform 123"/>
              <p:cNvSpPr>
                <a:spLocks noEditPoints="1"/>
              </p:cNvSpPr>
              <p:nvPr/>
            </p:nvSpPr>
            <p:spPr>
              <a:xfrm>
                <a:off x="2023" y="1084"/>
                <a:ext cx="41" cy="99"/>
              </a:xfrm>
              <a:custGeom>
                <a:avLst/>
                <a:gdLst>
                  <a:gd name="txL" fmla="*/ 0 w 24"/>
                  <a:gd name="txT" fmla="*/ 0 h 59"/>
                  <a:gd name="txR" fmla="*/ 24 w 24"/>
                  <a:gd name="txB" fmla="*/ 59 h 59"/>
                </a:gdLst>
                <a:ahLst/>
                <a:cxnLst>
                  <a:cxn ang="0">
                    <a:pos x="78262881" y="116093103"/>
                  </a:cxn>
                  <a:cxn ang="0">
                    <a:pos x="0" y="0"/>
                  </a:cxn>
                  <a:cxn ang="0">
                    <a:pos x="78262881" y="116093103"/>
                  </a:cxn>
                  <a:cxn ang="0">
                    <a:pos x="78262881" y="116093103"/>
                  </a:cxn>
                  <a:cxn ang="0">
                    <a:pos x="78262881" y="116093103"/>
                  </a:cxn>
                  <a:cxn ang="0">
                    <a:pos x="78262881" y="116093103"/>
                  </a:cxn>
                  <a:cxn ang="0">
                    <a:pos x="78262881" y="116093103"/>
                  </a:cxn>
                </a:cxnLst>
                <a:rect l="txL" t="txT" r="txR" b="txB"/>
                <a:pathLst>
                  <a:path w="24" h="59">
                    <a:moveTo>
                      <a:pt x="24" y="59"/>
                    </a:moveTo>
                    <a:lnTo>
                      <a:pt x="0" y="0"/>
                    </a:lnTo>
                    <a:lnTo>
                      <a:pt x="24" y="59"/>
                    </a:lnTo>
                    <a:close/>
                    <a:moveTo>
                      <a:pt x="24" y="59"/>
                    </a:moveTo>
                    <a:lnTo>
                      <a:pt x="24"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12" name="Freeform 124"/>
              <p:cNvSpPr>
                <a:spLocks noEditPoints="1"/>
              </p:cNvSpPr>
              <p:nvPr/>
            </p:nvSpPr>
            <p:spPr>
              <a:xfrm>
                <a:off x="1993" y="1084"/>
                <a:ext cx="30" cy="99"/>
              </a:xfrm>
              <a:custGeom>
                <a:avLst/>
                <a:gdLst>
                  <a:gd name="txL" fmla="*/ 0 w 18"/>
                  <a:gd name="txT" fmla="*/ 0 h 59"/>
                  <a:gd name="txR" fmla="*/ 18 w 18"/>
                  <a:gd name="txB" fmla="*/ 59 h 59"/>
                </a:gdLst>
                <a:ahLst/>
                <a:cxnLst>
                  <a:cxn ang="0">
                    <a:pos x="29078255" y="0"/>
                  </a:cxn>
                  <a:cxn ang="0">
                    <a:pos x="0" y="116093103"/>
                  </a:cxn>
                  <a:cxn ang="0">
                    <a:pos x="29078255" y="0"/>
                  </a:cxn>
                  <a:cxn ang="0">
                    <a:pos x="29078255" y="0"/>
                  </a:cxn>
                  <a:cxn ang="0">
                    <a:pos x="29078255" y="0"/>
                  </a:cxn>
                  <a:cxn ang="0">
                    <a:pos x="29078255" y="0"/>
                  </a:cxn>
                  <a:cxn ang="0">
                    <a:pos x="29078255" y="0"/>
                  </a:cxn>
                </a:cxnLst>
                <a:rect l="txL" t="txT" r="txR" b="txB"/>
                <a:pathLst>
                  <a:path w="18" h="59">
                    <a:moveTo>
                      <a:pt x="18" y="0"/>
                    </a:moveTo>
                    <a:lnTo>
                      <a:pt x="0" y="59"/>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13" name="Freeform 125"/>
              <p:cNvSpPr>
                <a:spLocks noEditPoints="1"/>
              </p:cNvSpPr>
              <p:nvPr/>
            </p:nvSpPr>
            <p:spPr>
              <a:xfrm>
                <a:off x="1962" y="1183"/>
                <a:ext cx="31" cy="100"/>
              </a:xfrm>
              <a:custGeom>
                <a:avLst/>
                <a:gdLst>
                  <a:gd name="txL" fmla="*/ 0 w 18"/>
                  <a:gd name="txT" fmla="*/ 0 h 60"/>
                  <a:gd name="txR" fmla="*/ 18 w 18"/>
                  <a:gd name="txB" fmla="*/ 60 h 60"/>
                </a:gdLst>
                <a:ahLst/>
                <a:cxnLst>
                  <a:cxn ang="0">
                    <a:pos x="72737244" y="0"/>
                  </a:cxn>
                  <a:cxn ang="0">
                    <a:pos x="0" y="97774133"/>
                  </a:cxn>
                  <a:cxn ang="0">
                    <a:pos x="72737244" y="0"/>
                  </a:cxn>
                  <a:cxn ang="0">
                    <a:pos x="72737244" y="0"/>
                  </a:cxn>
                  <a:cxn ang="0">
                    <a:pos x="72737244" y="0"/>
                  </a:cxn>
                  <a:cxn ang="0">
                    <a:pos x="72737244" y="0"/>
                  </a:cxn>
                  <a:cxn ang="0">
                    <a:pos x="72737244" y="0"/>
                  </a:cxn>
                </a:cxnLst>
                <a:rect l="txL" t="txT" r="txR" b="txB"/>
                <a:pathLst>
                  <a:path w="18" h="60">
                    <a:moveTo>
                      <a:pt x="18" y="0"/>
                    </a:moveTo>
                    <a:lnTo>
                      <a:pt x="0" y="60"/>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14" name="Freeform 126"/>
              <p:cNvSpPr>
                <a:spLocks noEditPoints="1"/>
              </p:cNvSpPr>
              <p:nvPr/>
            </p:nvSpPr>
            <p:spPr>
              <a:xfrm>
                <a:off x="1931" y="1183"/>
                <a:ext cx="31" cy="100"/>
              </a:xfrm>
              <a:custGeom>
                <a:avLst/>
                <a:gdLst>
                  <a:gd name="txL" fmla="*/ 0 w 18"/>
                  <a:gd name="txT" fmla="*/ 0 h 60"/>
                  <a:gd name="txR" fmla="*/ 18 w 18"/>
                  <a:gd name="txB" fmla="*/ 60 h 60"/>
                </a:gdLst>
                <a:ahLst/>
                <a:cxnLst>
                  <a:cxn ang="0">
                    <a:pos x="72737244" y="97774133"/>
                  </a:cxn>
                  <a:cxn ang="0">
                    <a:pos x="0" y="0"/>
                  </a:cxn>
                  <a:cxn ang="0">
                    <a:pos x="72737244" y="97774133"/>
                  </a:cxn>
                  <a:cxn ang="0">
                    <a:pos x="72737244" y="97774133"/>
                  </a:cxn>
                  <a:cxn ang="0">
                    <a:pos x="72737244" y="97774133"/>
                  </a:cxn>
                  <a:cxn ang="0">
                    <a:pos x="72737244" y="97774133"/>
                  </a:cxn>
                  <a:cxn ang="0">
                    <a:pos x="72737244" y="97774133"/>
                  </a:cxn>
                </a:cxnLst>
                <a:rect l="txL" t="txT" r="txR" b="txB"/>
                <a:pathLst>
                  <a:path w="18" h="60">
                    <a:moveTo>
                      <a:pt x="18" y="60"/>
                    </a:moveTo>
                    <a:lnTo>
                      <a:pt x="0" y="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15" name="Freeform 127"/>
              <p:cNvSpPr>
                <a:spLocks noEditPoints="1"/>
              </p:cNvSpPr>
              <p:nvPr/>
            </p:nvSpPr>
            <p:spPr>
              <a:xfrm>
                <a:off x="1901" y="1084"/>
                <a:ext cx="30" cy="99"/>
              </a:xfrm>
              <a:custGeom>
                <a:avLst/>
                <a:gdLst>
                  <a:gd name="txL" fmla="*/ 0 w 18"/>
                  <a:gd name="txT" fmla="*/ 0 h 59"/>
                  <a:gd name="txR" fmla="*/ 18 w 18"/>
                  <a:gd name="txB" fmla="*/ 59 h 59"/>
                </a:gdLst>
                <a:ahLst/>
                <a:cxnLst>
                  <a:cxn ang="0">
                    <a:pos x="29078255" y="116093103"/>
                  </a:cxn>
                  <a:cxn ang="0">
                    <a:pos x="0" y="0"/>
                  </a:cxn>
                  <a:cxn ang="0">
                    <a:pos x="29078255" y="116093103"/>
                  </a:cxn>
                  <a:cxn ang="0">
                    <a:pos x="29078255" y="116093103"/>
                  </a:cxn>
                  <a:cxn ang="0">
                    <a:pos x="29078255" y="116093103"/>
                  </a:cxn>
                  <a:cxn ang="0">
                    <a:pos x="29078255" y="116093103"/>
                  </a:cxn>
                  <a:cxn ang="0">
                    <a:pos x="29078255" y="116093103"/>
                  </a:cxn>
                </a:cxnLst>
                <a:rect l="txL" t="txT" r="txR" b="txB"/>
                <a:pathLst>
                  <a:path w="18" h="59">
                    <a:moveTo>
                      <a:pt x="18" y="59"/>
                    </a:moveTo>
                    <a:lnTo>
                      <a:pt x="0" y="0"/>
                    </a:lnTo>
                    <a:lnTo>
                      <a:pt x="18" y="59"/>
                    </a:lnTo>
                    <a:close/>
                    <a:moveTo>
                      <a:pt x="18" y="59"/>
                    </a:moveTo>
                    <a:lnTo>
                      <a:pt x="18"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16" name="Freeform 128"/>
              <p:cNvSpPr>
                <a:spLocks noEditPoints="1"/>
              </p:cNvSpPr>
              <p:nvPr/>
            </p:nvSpPr>
            <p:spPr>
              <a:xfrm>
                <a:off x="1860" y="1084"/>
                <a:ext cx="41" cy="109"/>
              </a:xfrm>
              <a:custGeom>
                <a:avLst/>
                <a:gdLst>
                  <a:gd name="txL" fmla="*/ 0 w 24"/>
                  <a:gd name="txT" fmla="*/ 0 h 65"/>
                  <a:gd name="txR" fmla="*/ 24 w 24"/>
                  <a:gd name="txB" fmla="*/ 65 h 65"/>
                </a:gdLst>
                <a:ahLst/>
                <a:cxnLst>
                  <a:cxn ang="0">
                    <a:pos x="78262881" y="0"/>
                  </a:cxn>
                  <a:cxn ang="0">
                    <a:pos x="0" y="125988779"/>
                  </a:cxn>
                  <a:cxn ang="0">
                    <a:pos x="78262881" y="0"/>
                  </a:cxn>
                  <a:cxn ang="0">
                    <a:pos x="78262881" y="0"/>
                  </a:cxn>
                  <a:cxn ang="0">
                    <a:pos x="78262881" y="0"/>
                  </a:cxn>
                  <a:cxn ang="0">
                    <a:pos x="78262881" y="0"/>
                  </a:cxn>
                  <a:cxn ang="0">
                    <a:pos x="78262881" y="0"/>
                  </a:cxn>
                </a:cxnLst>
                <a:rect l="txL" t="txT" r="txR" b="txB"/>
                <a:pathLst>
                  <a:path w="24" h="65">
                    <a:moveTo>
                      <a:pt x="24" y="0"/>
                    </a:moveTo>
                    <a:lnTo>
                      <a:pt x="0" y="65"/>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17" name="Freeform 129"/>
              <p:cNvSpPr>
                <a:spLocks noEditPoints="1"/>
              </p:cNvSpPr>
              <p:nvPr/>
            </p:nvSpPr>
            <p:spPr>
              <a:xfrm>
                <a:off x="2778" y="2860"/>
                <a:ext cx="112" cy="221"/>
              </a:xfrm>
              <a:custGeom>
                <a:avLst/>
                <a:gdLst>
                  <a:gd name="txL" fmla="*/ 0 w 66"/>
                  <a:gd name="txT" fmla="*/ 0 h 132"/>
                  <a:gd name="txR" fmla="*/ 66 w 66"/>
                  <a:gd name="txB" fmla="*/ 132 h 132"/>
                </a:gdLst>
                <a:ahLst/>
                <a:cxnLst>
                  <a:cxn ang="0">
                    <a:pos x="162332512" y="0"/>
                  </a:cxn>
                  <a:cxn ang="0">
                    <a:pos x="97112480" y="11073798"/>
                  </a:cxn>
                  <a:cxn ang="0">
                    <a:pos x="49764487" y="44228507"/>
                  </a:cxn>
                  <a:cxn ang="0">
                    <a:pos x="15923605" y="88259283"/>
                  </a:cxn>
                  <a:cxn ang="0">
                    <a:pos x="0" y="133997052"/>
                  </a:cxn>
                  <a:cxn ang="0">
                    <a:pos x="15923605" y="188786725"/>
                  </a:cxn>
                  <a:cxn ang="0">
                    <a:pos x="31892319" y="222033846"/>
                  </a:cxn>
                  <a:cxn ang="0">
                    <a:pos x="49764487" y="232823704"/>
                  </a:cxn>
                  <a:cxn ang="0">
                    <a:pos x="81640355" y="243897103"/>
                  </a:cxn>
                  <a:cxn ang="0">
                    <a:pos x="128166783" y="232823704"/>
                  </a:cxn>
                  <a:cxn ang="0">
                    <a:pos x="162332512" y="211126264"/>
                  </a:cxn>
                  <a:cxn ang="0">
                    <a:pos x="177633626" y="188786725"/>
                  </a:cxn>
                  <a:cxn ang="0">
                    <a:pos x="177633626" y="167107323"/>
                  </a:cxn>
                  <a:cxn ang="0">
                    <a:pos x="162332512" y="110288960"/>
                  </a:cxn>
                  <a:cxn ang="0">
                    <a:pos x="128166783" y="99810709"/>
                  </a:cxn>
                  <a:cxn ang="0">
                    <a:pos x="97112480" y="88259283"/>
                  </a:cxn>
                  <a:cxn ang="0">
                    <a:pos x="81640355" y="88259283"/>
                  </a:cxn>
                  <a:cxn ang="0">
                    <a:pos x="49764487" y="110288960"/>
                  </a:cxn>
                  <a:cxn ang="0">
                    <a:pos x="65772456" y="77181173"/>
                  </a:cxn>
                  <a:cxn ang="0">
                    <a:pos x="81640355" y="44228507"/>
                  </a:cxn>
                  <a:cxn ang="0">
                    <a:pos x="112473694" y="11073798"/>
                  </a:cxn>
                  <a:cxn ang="0">
                    <a:pos x="162332512" y="0"/>
                  </a:cxn>
                  <a:cxn ang="0">
                    <a:pos x="162332512" y="0"/>
                  </a:cxn>
                  <a:cxn ang="0">
                    <a:pos x="81640355" y="110288960"/>
                  </a:cxn>
                  <a:cxn ang="0">
                    <a:pos x="112473694" y="122545071"/>
                  </a:cxn>
                  <a:cxn ang="0">
                    <a:pos x="128166783" y="133997052"/>
                  </a:cxn>
                  <a:cxn ang="0">
                    <a:pos x="128166783" y="178039904"/>
                  </a:cxn>
                  <a:cxn ang="0">
                    <a:pos x="128166783" y="211126264"/>
                  </a:cxn>
                  <a:cxn ang="0">
                    <a:pos x="112473694" y="222033846"/>
                  </a:cxn>
                  <a:cxn ang="0">
                    <a:pos x="97112480" y="232823704"/>
                  </a:cxn>
                  <a:cxn ang="0">
                    <a:pos x="49764487" y="211126264"/>
                  </a:cxn>
                  <a:cxn ang="0">
                    <a:pos x="31892319" y="188786725"/>
                  </a:cxn>
                  <a:cxn ang="0">
                    <a:pos x="31892319" y="155546187"/>
                  </a:cxn>
                  <a:cxn ang="0">
                    <a:pos x="49764487" y="133997052"/>
                  </a:cxn>
                  <a:cxn ang="0">
                    <a:pos x="49764487" y="122545071"/>
                  </a:cxn>
                  <a:cxn ang="0">
                    <a:pos x="65772456" y="110288960"/>
                  </a:cxn>
                  <a:cxn ang="0">
                    <a:pos x="81640355" y="110288960"/>
                  </a:cxn>
                  <a:cxn ang="0">
                    <a:pos x="81640355" y="110288960"/>
                  </a:cxn>
                </a:cxnLst>
                <a:rect l="txL" t="txT" r="txR" b="txB"/>
                <a:pathLst>
                  <a:path w="66" h="132">
                    <a:moveTo>
                      <a:pt x="60" y="0"/>
                    </a:moveTo>
                    <a:lnTo>
                      <a:pt x="36" y="6"/>
                    </a:lnTo>
                    <a:lnTo>
                      <a:pt x="18" y="24"/>
                    </a:lnTo>
                    <a:lnTo>
                      <a:pt x="6" y="48"/>
                    </a:lnTo>
                    <a:lnTo>
                      <a:pt x="0" y="72"/>
                    </a:lnTo>
                    <a:lnTo>
                      <a:pt x="6" y="102"/>
                    </a:lnTo>
                    <a:lnTo>
                      <a:pt x="12" y="120"/>
                    </a:lnTo>
                    <a:lnTo>
                      <a:pt x="18" y="126"/>
                    </a:lnTo>
                    <a:lnTo>
                      <a:pt x="30" y="132"/>
                    </a:lnTo>
                    <a:lnTo>
                      <a:pt x="48" y="126"/>
                    </a:lnTo>
                    <a:lnTo>
                      <a:pt x="60" y="114"/>
                    </a:lnTo>
                    <a:lnTo>
                      <a:pt x="66" y="102"/>
                    </a:lnTo>
                    <a:lnTo>
                      <a:pt x="66" y="90"/>
                    </a:lnTo>
                    <a:lnTo>
                      <a:pt x="60" y="60"/>
                    </a:lnTo>
                    <a:lnTo>
                      <a:pt x="48" y="54"/>
                    </a:lnTo>
                    <a:lnTo>
                      <a:pt x="36" y="48"/>
                    </a:lnTo>
                    <a:lnTo>
                      <a:pt x="30" y="48"/>
                    </a:lnTo>
                    <a:lnTo>
                      <a:pt x="18" y="60"/>
                    </a:lnTo>
                    <a:lnTo>
                      <a:pt x="24" y="42"/>
                    </a:lnTo>
                    <a:lnTo>
                      <a:pt x="30" y="24"/>
                    </a:lnTo>
                    <a:lnTo>
                      <a:pt x="42" y="6"/>
                    </a:lnTo>
                    <a:lnTo>
                      <a:pt x="60" y="0"/>
                    </a:lnTo>
                    <a:close/>
                    <a:moveTo>
                      <a:pt x="30" y="60"/>
                    </a:moveTo>
                    <a:lnTo>
                      <a:pt x="42" y="66"/>
                    </a:lnTo>
                    <a:lnTo>
                      <a:pt x="48" y="72"/>
                    </a:lnTo>
                    <a:lnTo>
                      <a:pt x="48" y="96"/>
                    </a:lnTo>
                    <a:lnTo>
                      <a:pt x="48" y="114"/>
                    </a:lnTo>
                    <a:lnTo>
                      <a:pt x="42" y="120"/>
                    </a:lnTo>
                    <a:lnTo>
                      <a:pt x="36" y="126"/>
                    </a:lnTo>
                    <a:lnTo>
                      <a:pt x="18" y="114"/>
                    </a:lnTo>
                    <a:lnTo>
                      <a:pt x="12" y="102"/>
                    </a:lnTo>
                    <a:lnTo>
                      <a:pt x="12" y="84"/>
                    </a:lnTo>
                    <a:lnTo>
                      <a:pt x="18" y="72"/>
                    </a:lnTo>
                    <a:lnTo>
                      <a:pt x="18" y="66"/>
                    </a:lnTo>
                    <a:lnTo>
                      <a:pt x="24" y="60"/>
                    </a:lnTo>
                    <a:lnTo>
                      <a:pt x="30" y="6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218" name="Freeform 130"/>
              <p:cNvSpPr/>
              <p:nvPr/>
            </p:nvSpPr>
            <p:spPr>
              <a:xfrm>
                <a:off x="2962" y="2860"/>
                <a:ext cx="174" cy="221"/>
              </a:xfrm>
              <a:custGeom>
                <a:avLst/>
                <a:gdLst>
                  <a:gd name="txL" fmla="*/ 0 w 102"/>
                  <a:gd name="txT" fmla="*/ 0 h 132"/>
                  <a:gd name="txR" fmla="*/ 102 w 102"/>
                  <a:gd name="txB" fmla="*/ 132 h 132"/>
                </a:gdLst>
                <a:ahLst/>
                <a:cxnLst>
                  <a:cxn ang="0">
                    <a:pos x="132084678" y="188786725"/>
                  </a:cxn>
                  <a:cxn ang="0">
                    <a:pos x="111352156" y="178039904"/>
                  </a:cxn>
                  <a:cxn ang="0">
                    <a:pos x="93026255" y="167107323"/>
                  </a:cxn>
                  <a:cxn ang="0">
                    <a:pos x="74718101" y="144446462"/>
                  </a:cxn>
                  <a:cxn ang="0">
                    <a:pos x="56920789" y="122545071"/>
                  </a:cxn>
                  <a:cxn ang="0">
                    <a:pos x="56920789" y="88259283"/>
                  </a:cxn>
                  <a:cxn ang="0">
                    <a:pos x="74718101" y="55491017"/>
                  </a:cxn>
                  <a:cxn ang="0">
                    <a:pos x="93026255" y="21645544"/>
                  </a:cxn>
                  <a:cxn ang="0">
                    <a:pos x="132084678" y="11073798"/>
                  </a:cxn>
                  <a:cxn ang="0">
                    <a:pos x="168720410" y="11073798"/>
                  </a:cxn>
                  <a:cxn ang="0">
                    <a:pos x="206985299" y="11073798"/>
                  </a:cxn>
                  <a:cxn ang="0">
                    <a:pos x="225320921" y="21645544"/>
                  </a:cxn>
                  <a:cxn ang="0">
                    <a:pos x="261830456" y="55491017"/>
                  </a:cxn>
                  <a:cxn ang="0">
                    <a:pos x="261830456" y="88259283"/>
                  </a:cxn>
                  <a:cxn ang="0">
                    <a:pos x="261830456" y="122545071"/>
                  </a:cxn>
                  <a:cxn ang="0">
                    <a:pos x="261830456" y="144446462"/>
                  </a:cxn>
                  <a:cxn ang="0">
                    <a:pos x="243441471" y="167107323"/>
                  </a:cxn>
                  <a:cxn ang="0">
                    <a:pos x="225320921" y="178039904"/>
                  </a:cxn>
                  <a:cxn ang="0">
                    <a:pos x="206985299" y="188786725"/>
                  </a:cxn>
                  <a:cxn ang="0">
                    <a:pos x="187053770" y="243897103"/>
                  </a:cxn>
                  <a:cxn ang="0">
                    <a:pos x="319091725" y="243897103"/>
                  </a:cxn>
                  <a:cxn ang="0">
                    <a:pos x="319091725" y="188786725"/>
                  </a:cxn>
                  <a:cxn ang="0">
                    <a:pos x="319091725" y="188786725"/>
                  </a:cxn>
                  <a:cxn ang="0">
                    <a:pos x="319091725" y="199736038"/>
                  </a:cxn>
                  <a:cxn ang="0">
                    <a:pos x="300499614" y="211126264"/>
                  </a:cxn>
                  <a:cxn ang="0">
                    <a:pos x="225320921" y="211126264"/>
                  </a:cxn>
                  <a:cxn ang="0">
                    <a:pos x="225320921" y="199736038"/>
                  </a:cxn>
                  <a:cxn ang="0">
                    <a:pos x="261830456" y="178039904"/>
                  </a:cxn>
                  <a:cxn ang="0">
                    <a:pos x="300499614" y="155546187"/>
                  </a:cxn>
                  <a:cxn ang="0">
                    <a:pos x="319091725" y="99810709"/>
                  </a:cxn>
                  <a:cxn ang="0">
                    <a:pos x="300499614" y="55491017"/>
                  </a:cxn>
                  <a:cxn ang="0">
                    <a:pos x="282564852" y="33143956"/>
                  </a:cxn>
                  <a:cxn ang="0">
                    <a:pos x="282564852" y="21645544"/>
                  </a:cxn>
                  <a:cxn ang="0">
                    <a:pos x="243441471" y="11073798"/>
                  </a:cxn>
                  <a:cxn ang="0">
                    <a:pos x="206985299" y="0"/>
                  </a:cxn>
                  <a:cxn ang="0">
                    <a:pos x="168720410" y="0"/>
                  </a:cxn>
                  <a:cxn ang="0">
                    <a:pos x="132084678" y="0"/>
                  </a:cxn>
                  <a:cxn ang="0">
                    <a:pos x="74718101" y="11073798"/>
                  </a:cxn>
                  <a:cxn ang="0">
                    <a:pos x="56920789" y="21645544"/>
                  </a:cxn>
                  <a:cxn ang="0">
                    <a:pos x="56920789" y="33143956"/>
                  </a:cxn>
                  <a:cxn ang="0">
                    <a:pos x="36501676" y="55491017"/>
                  </a:cxn>
                  <a:cxn ang="0">
                    <a:pos x="18124865" y="99810709"/>
                  </a:cxn>
                  <a:cxn ang="0">
                    <a:pos x="18124865" y="133997052"/>
                  </a:cxn>
                  <a:cxn ang="0">
                    <a:pos x="36501676" y="155546187"/>
                  </a:cxn>
                  <a:cxn ang="0">
                    <a:pos x="74718101" y="178039904"/>
                  </a:cxn>
                  <a:cxn ang="0">
                    <a:pos x="111352156" y="199736038"/>
                  </a:cxn>
                  <a:cxn ang="0">
                    <a:pos x="111352156" y="211126264"/>
                  </a:cxn>
                  <a:cxn ang="0">
                    <a:pos x="36501676" y="211126264"/>
                  </a:cxn>
                  <a:cxn ang="0">
                    <a:pos x="18124865" y="199736038"/>
                  </a:cxn>
                  <a:cxn ang="0">
                    <a:pos x="18124865" y="188786725"/>
                  </a:cxn>
                  <a:cxn ang="0">
                    <a:pos x="0" y="188786725"/>
                  </a:cxn>
                  <a:cxn ang="0">
                    <a:pos x="0" y="243897103"/>
                  </a:cxn>
                  <a:cxn ang="0">
                    <a:pos x="150415344" y="243897103"/>
                  </a:cxn>
                  <a:cxn ang="0">
                    <a:pos x="132084678" y="188786725"/>
                  </a:cxn>
                </a:cxnLst>
                <a:rect l="txL" t="txT" r="txR" b="txB"/>
                <a:pathLst>
                  <a:path w="102" h="132">
                    <a:moveTo>
                      <a:pt x="42" y="102"/>
                    </a:moveTo>
                    <a:lnTo>
                      <a:pt x="36" y="96"/>
                    </a:lnTo>
                    <a:lnTo>
                      <a:pt x="30" y="90"/>
                    </a:lnTo>
                    <a:lnTo>
                      <a:pt x="24" y="78"/>
                    </a:lnTo>
                    <a:lnTo>
                      <a:pt x="18" y="66"/>
                    </a:lnTo>
                    <a:lnTo>
                      <a:pt x="18" y="48"/>
                    </a:lnTo>
                    <a:lnTo>
                      <a:pt x="24" y="30"/>
                    </a:lnTo>
                    <a:lnTo>
                      <a:pt x="30" y="12"/>
                    </a:lnTo>
                    <a:lnTo>
                      <a:pt x="42" y="6"/>
                    </a:lnTo>
                    <a:lnTo>
                      <a:pt x="54" y="6"/>
                    </a:lnTo>
                    <a:lnTo>
                      <a:pt x="66" y="6"/>
                    </a:lnTo>
                    <a:lnTo>
                      <a:pt x="72" y="12"/>
                    </a:lnTo>
                    <a:lnTo>
                      <a:pt x="84" y="30"/>
                    </a:lnTo>
                    <a:lnTo>
                      <a:pt x="84" y="48"/>
                    </a:lnTo>
                    <a:lnTo>
                      <a:pt x="84" y="66"/>
                    </a:lnTo>
                    <a:lnTo>
                      <a:pt x="84" y="78"/>
                    </a:lnTo>
                    <a:lnTo>
                      <a:pt x="78" y="90"/>
                    </a:lnTo>
                    <a:lnTo>
                      <a:pt x="72" y="96"/>
                    </a:lnTo>
                    <a:lnTo>
                      <a:pt x="66" y="102"/>
                    </a:lnTo>
                    <a:lnTo>
                      <a:pt x="60" y="132"/>
                    </a:lnTo>
                    <a:lnTo>
                      <a:pt x="102" y="132"/>
                    </a:lnTo>
                    <a:lnTo>
                      <a:pt x="102" y="102"/>
                    </a:lnTo>
                    <a:lnTo>
                      <a:pt x="102" y="108"/>
                    </a:lnTo>
                    <a:lnTo>
                      <a:pt x="96" y="114"/>
                    </a:lnTo>
                    <a:lnTo>
                      <a:pt x="72" y="114"/>
                    </a:lnTo>
                    <a:lnTo>
                      <a:pt x="72" y="108"/>
                    </a:lnTo>
                    <a:lnTo>
                      <a:pt x="84" y="96"/>
                    </a:lnTo>
                    <a:lnTo>
                      <a:pt x="96" y="84"/>
                    </a:lnTo>
                    <a:lnTo>
                      <a:pt x="102" y="54"/>
                    </a:lnTo>
                    <a:lnTo>
                      <a:pt x="96" y="30"/>
                    </a:lnTo>
                    <a:lnTo>
                      <a:pt x="90" y="18"/>
                    </a:lnTo>
                    <a:lnTo>
                      <a:pt x="90" y="12"/>
                    </a:lnTo>
                    <a:lnTo>
                      <a:pt x="78" y="6"/>
                    </a:lnTo>
                    <a:lnTo>
                      <a:pt x="66" y="0"/>
                    </a:lnTo>
                    <a:lnTo>
                      <a:pt x="54" y="0"/>
                    </a:lnTo>
                    <a:lnTo>
                      <a:pt x="42" y="0"/>
                    </a:lnTo>
                    <a:lnTo>
                      <a:pt x="24" y="6"/>
                    </a:lnTo>
                    <a:lnTo>
                      <a:pt x="18" y="12"/>
                    </a:lnTo>
                    <a:lnTo>
                      <a:pt x="18" y="18"/>
                    </a:lnTo>
                    <a:lnTo>
                      <a:pt x="12" y="30"/>
                    </a:lnTo>
                    <a:lnTo>
                      <a:pt x="6" y="54"/>
                    </a:lnTo>
                    <a:lnTo>
                      <a:pt x="6" y="72"/>
                    </a:lnTo>
                    <a:lnTo>
                      <a:pt x="12" y="84"/>
                    </a:lnTo>
                    <a:lnTo>
                      <a:pt x="24" y="96"/>
                    </a:lnTo>
                    <a:lnTo>
                      <a:pt x="36" y="108"/>
                    </a:lnTo>
                    <a:lnTo>
                      <a:pt x="36" y="114"/>
                    </a:lnTo>
                    <a:lnTo>
                      <a:pt x="12" y="114"/>
                    </a:lnTo>
                    <a:lnTo>
                      <a:pt x="6" y="108"/>
                    </a:lnTo>
                    <a:lnTo>
                      <a:pt x="6" y="102"/>
                    </a:lnTo>
                    <a:lnTo>
                      <a:pt x="0" y="102"/>
                    </a:lnTo>
                    <a:lnTo>
                      <a:pt x="0" y="132"/>
                    </a:lnTo>
                    <a:lnTo>
                      <a:pt x="48" y="132"/>
                    </a:lnTo>
                    <a:lnTo>
                      <a:pt x="42" y="10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219" name="Freeform 131"/>
              <p:cNvSpPr/>
              <p:nvPr/>
            </p:nvSpPr>
            <p:spPr>
              <a:xfrm>
                <a:off x="2544" y="2641"/>
                <a:ext cx="61" cy="649"/>
              </a:xfrm>
              <a:custGeom>
                <a:avLst/>
                <a:gdLst>
                  <a:gd name="txL" fmla="*/ 0 w 36"/>
                  <a:gd name="txT" fmla="*/ 0 h 388"/>
                  <a:gd name="txR" fmla="*/ 36 w 36"/>
                  <a:gd name="txB" fmla="*/ 388 h 388"/>
                </a:gdLst>
                <a:ahLst/>
                <a:cxnLst>
                  <a:cxn ang="0">
                    <a:pos x="0" y="0"/>
                  </a:cxn>
                  <a:cxn ang="0">
                    <a:pos x="93136701" y="0"/>
                  </a:cxn>
                  <a:cxn ang="0">
                    <a:pos x="93136701" y="699199491"/>
                  </a:cxn>
                  <a:cxn ang="0">
                    <a:pos x="0" y="699199491"/>
                  </a:cxn>
                  <a:cxn ang="0">
                    <a:pos x="0" y="0"/>
                  </a:cxn>
                  <a:cxn ang="0">
                    <a:pos x="0" y="0"/>
                  </a:cxn>
                </a:cxnLst>
                <a:rect l="txL" t="txT" r="txR" b="txB"/>
                <a:pathLst>
                  <a:path w="36" h="388">
                    <a:moveTo>
                      <a:pt x="0" y="0"/>
                    </a:moveTo>
                    <a:lnTo>
                      <a:pt x="36" y="0"/>
                    </a:lnTo>
                    <a:lnTo>
                      <a:pt x="36" y="388"/>
                    </a:lnTo>
                    <a:lnTo>
                      <a:pt x="0" y="388"/>
                    </a:lnTo>
                    <a:lnTo>
                      <a:pt x="0" y="0"/>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46220" name="Freeform 132"/>
              <p:cNvSpPr/>
              <p:nvPr/>
            </p:nvSpPr>
            <p:spPr>
              <a:xfrm>
                <a:off x="2503" y="3250"/>
                <a:ext cx="72" cy="50"/>
              </a:xfrm>
              <a:custGeom>
                <a:avLst/>
                <a:gdLst>
                  <a:gd name="txL" fmla="*/ 0 w 42"/>
                  <a:gd name="txT" fmla="*/ 0 h 30"/>
                  <a:gd name="txR" fmla="*/ 42 w 42"/>
                  <a:gd name="txB" fmla="*/ 30 h 30"/>
                </a:gdLst>
                <a:ahLst/>
                <a:cxnLst>
                  <a:cxn ang="0">
                    <a:pos x="150398018" y="48463758"/>
                  </a:cxn>
                  <a:cxn ang="0">
                    <a:pos x="0" y="0"/>
                  </a:cxn>
                  <a:cxn ang="0">
                    <a:pos x="150398018" y="48463758"/>
                  </a:cxn>
                  <a:cxn ang="0">
                    <a:pos x="150398018" y="48463758"/>
                  </a:cxn>
                </a:cxnLst>
                <a:rect l="txL" t="txT" r="txR" b="txB"/>
                <a:pathLst>
                  <a:path w="42" h="30">
                    <a:moveTo>
                      <a:pt x="42" y="30"/>
                    </a:moveTo>
                    <a:lnTo>
                      <a:pt x="0" y="0"/>
                    </a:lnTo>
                    <a:lnTo>
                      <a:pt x="42"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21" name="Freeform 133"/>
              <p:cNvSpPr>
                <a:spLocks noEditPoints="1"/>
              </p:cNvSpPr>
              <p:nvPr/>
            </p:nvSpPr>
            <p:spPr>
              <a:xfrm>
                <a:off x="2503" y="3210"/>
                <a:ext cx="72" cy="40"/>
              </a:xfrm>
              <a:custGeom>
                <a:avLst/>
                <a:gdLst>
                  <a:gd name="txL" fmla="*/ 0 w 42"/>
                  <a:gd name="txT" fmla="*/ 0 h 24"/>
                  <a:gd name="txR" fmla="*/ 42 w 42"/>
                  <a:gd name="txB" fmla="*/ 24 h 24"/>
                </a:gdLst>
                <a:ahLst/>
                <a:cxnLst>
                  <a:cxn ang="0">
                    <a:pos x="0" y="39511703"/>
                  </a:cxn>
                  <a:cxn ang="0">
                    <a:pos x="150398018" y="0"/>
                  </a:cxn>
                  <a:cxn ang="0">
                    <a:pos x="0" y="39511703"/>
                  </a:cxn>
                  <a:cxn ang="0">
                    <a:pos x="0" y="39511703"/>
                  </a:cxn>
                  <a:cxn ang="0">
                    <a:pos x="0" y="39511703"/>
                  </a:cxn>
                  <a:cxn ang="0">
                    <a:pos x="0" y="39511703"/>
                  </a:cxn>
                  <a:cxn ang="0">
                    <a:pos x="0" y="39511703"/>
                  </a:cxn>
                </a:cxnLst>
                <a:rect l="txL" t="txT" r="txR" b="txB"/>
                <a:pathLst>
                  <a:path w="42" h="24">
                    <a:moveTo>
                      <a:pt x="0" y="24"/>
                    </a:moveTo>
                    <a:lnTo>
                      <a:pt x="42"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22" name="Freeform 134"/>
              <p:cNvSpPr>
                <a:spLocks noEditPoints="1"/>
              </p:cNvSpPr>
              <p:nvPr/>
            </p:nvSpPr>
            <p:spPr>
              <a:xfrm>
                <a:off x="2575" y="3172"/>
                <a:ext cx="80" cy="38"/>
              </a:xfrm>
              <a:custGeom>
                <a:avLst/>
                <a:gdLst>
                  <a:gd name="txL" fmla="*/ 0 w 47"/>
                  <a:gd name="txT" fmla="*/ 0 h 23"/>
                  <a:gd name="txR" fmla="*/ 47 w 47"/>
                  <a:gd name="txB" fmla="*/ 23 h 23"/>
                </a:gdLst>
                <a:ahLst/>
                <a:cxnLst>
                  <a:cxn ang="0">
                    <a:pos x="0" y="29399283"/>
                  </a:cxn>
                  <a:cxn ang="0">
                    <a:pos x="137517551" y="0"/>
                  </a:cxn>
                  <a:cxn ang="0">
                    <a:pos x="0" y="29399283"/>
                  </a:cxn>
                  <a:cxn ang="0">
                    <a:pos x="0" y="29399283"/>
                  </a:cxn>
                  <a:cxn ang="0">
                    <a:pos x="0" y="29399283"/>
                  </a:cxn>
                  <a:cxn ang="0">
                    <a:pos x="0" y="29399283"/>
                  </a:cxn>
                  <a:cxn ang="0">
                    <a:pos x="0" y="29399283"/>
                  </a:cxn>
                </a:cxnLst>
                <a:rect l="txL" t="txT" r="txR" b="txB"/>
                <a:pathLst>
                  <a:path w="47" h="23">
                    <a:moveTo>
                      <a:pt x="0" y="23"/>
                    </a:moveTo>
                    <a:lnTo>
                      <a:pt x="47" y="0"/>
                    </a:lnTo>
                    <a:lnTo>
                      <a:pt x="0" y="23"/>
                    </a:lnTo>
                    <a:close/>
                    <a:moveTo>
                      <a:pt x="0" y="23"/>
                    </a:moveTo>
                    <a:lnTo>
                      <a:pt x="0" y="2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23" name="Freeform 135"/>
              <p:cNvSpPr>
                <a:spLocks noEditPoints="1"/>
              </p:cNvSpPr>
              <p:nvPr/>
            </p:nvSpPr>
            <p:spPr>
              <a:xfrm>
                <a:off x="2575" y="3131"/>
                <a:ext cx="80" cy="41"/>
              </a:xfrm>
              <a:custGeom>
                <a:avLst/>
                <a:gdLst>
                  <a:gd name="txL" fmla="*/ 0 w 47"/>
                  <a:gd name="txT" fmla="*/ 0 h 24"/>
                  <a:gd name="txR" fmla="*/ 47 w 47"/>
                  <a:gd name="txB" fmla="*/ 24 h 24"/>
                </a:gdLst>
                <a:ahLst/>
                <a:cxnLst>
                  <a:cxn ang="0">
                    <a:pos x="137517551" y="78262881"/>
                  </a:cxn>
                  <a:cxn ang="0">
                    <a:pos x="0" y="0"/>
                  </a:cxn>
                  <a:cxn ang="0">
                    <a:pos x="137517551" y="78262881"/>
                  </a:cxn>
                  <a:cxn ang="0">
                    <a:pos x="137517551" y="78262881"/>
                  </a:cxn>
                  <a:cxn ang="0">
                    <a:pos x="137517551" y="78262881"/>
                  </a:cxn>
                  <a:cxn ang="0">
                    <a:pos x="137517551" y="78262881"/>
                  </a:cxn>
                  <a:cxn ang="0">
                    <a:pos x="137517551" y="78262881"/>
                  </a:cxn>
                </a:cxnLst>
                <a:rect l="txL" t="txT" r="txR" b="txB"/>
                <a:pathLst>
                  <a:path w="47" h="24">
                    <a:moveTo>
                      <a:pt x="47" y="24"/>
                    </a:moveTo>
                    <a:lnTo>
                      <a:pt x="0" y="0"/>
                    </a:lnTo>
                    <a:lnTo>
                      <a:pt x="47" y="24"/>
                    </a:lnTo>
                    <a:close/>
                    <a:moveTo>
                      <a:pt x="47" y="24"/>
                    </a:moveTo>
                    <a:lnTo>
                      <a:pt x="47"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24" name="Freeform 136"/>
              <p:cNvSpPr>
                <a:spLocks noEditPoints="1"/>
              </p:cNvSpPr>
              <p:nvPr/>
            </p:nvSpPr>
            <p:spPr>
              <a:xfrm>
                <a:off x="2575" y="3131"/>
                <a:ext cx="1" cy="2"/>
              </a:xfrm>
              <a:custGeom>
                <a:avLst/>
                <a:gdLst>
                  <a:gd name="txL" fmla="*/ 0 w 1"/>
                  <a:gd name="txT" fmla="*/ 0 h 2"/>
                  <a:gd name="txR" fmla="*/ 1 w 1"/>
                  <a:gd name="txB" fmla="*/ 2 h 2"/>
                </a:gdLst>
                <a:ahLst/>
                <a:cxnLst>
                  <a:cxn ang="0">
                    <a:pos x="0" y="0"/>
                  </a:cxn>
                  <a:cxn ang="0">
                    <a:pos x="0" y="0"/>
                  </a:cxn>
                  <a:cxn ang="0">
                    <a:pos x="0" y="0"/>
                  </a:cxn>
                  <a:cxn ang="0">
                    <a:pos x="0" y="0"/>
                  </a:cxn>
                  <a:cxn ang="0">
                    <a:pos x="0" y="0"/>
                  </a:cxn>
                  <a:cxn ang="0">
                    <a:pos x="0" y="0"/>
                  </a:cxn>
                  <a:cxn ang="0">
                    <a:pos x="0" y="0"/>
                  </a:cxn>
                </a:cxnLst>
                <a:rect l="txL" t="txT" r="txR" b="txB"/>
                <a:pathLst>
                  <a:path w="1" h="2">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25" name="Freeform 137"/>
              <p:cNvSpPr>
                <a:spLocks noEditPoints="1"/>
              </p:cNvSpPr>
              <p:nvPr/>
            </p:nvSpPr>
            <p:spPr>
              <a:xfrm>
                <a:off x="2503" y="3091"/>
                <a:ext cx="72" cy="40"/>
              </a:xfrm>
              <a:custGeom>
                <a:avLst/>
                <a:gdLst>
                  <a:gd name="txL" fmla="*/ 0 w 42"/>
                  <a:gd name="txT" fmla="*/ 0 h 24"/>
                  <a:gd name="txR" fmla="*/ 42 w 42"/>
                  <a:gd name="txB" fmla="*/ 24 h 24"/>
                </a:gdLst>
                <a:ahLst/>
                <a:cxnLst>
                  <a:cxn ang="0">
                    <a:pos x="150398018" y="39511703"/>
                  </a:cxn>
                  <a:cxn ang="0">
                    <a:pos x="0" y="0"/>
                  </a:cxn>
                  <a:cxn ang="0">
                    <a:pos x="150398018" y="39511703"/>
                  </a:cxn>
                  <a:cxn ang="0">
                    <a:pos x="150398018" y="39511703"/>
                  </a:cxn>
                  <a:cxn ang="0">
                    <a:pos x="150398018" y="39511703"/>
                  </a:cxn>
                  <a:cxn ang="0">
                    <a:pos x="150398018" y="39511703"/>
                  </a:cxn>
                  <a:cxn ang="0">
                    <a:pos x="150398018" y="39511703"/>
                  </a:cxn>
                </a:cxnLst>
                <a:rect l="txL" t="txT" r="txR" b="txB"/>
                <a:pathLst>
                  <a:path w="42" h="24">
                    <a:moveTo>
                      <a:pt x="42" y="24"/>
                    </a:moveTo>
                    <a:lnTo>
                      <a:pt x="0" y="0"/>
                    </a:lnTo>
                    <a:lnTo>
                      <a:pt x="42" y="24"/>
                    </a:lnTo>
                    <a:close/>
                    <a:moveTo>
                      <a:pt x="42" y="24"/>
                    </a:moveTo>
                    <a:lnTo>
                      <a:pt x="4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26" name="Freeform 138"/>
              <p:cNvSpPr>
                <a:spLocks noEditPoints="1"/>
              </p:cNvSpPr>
              <p:nvPr/>
            </p:nvSpPr>
            <p:spPr>
              <a:xfrm>
                <a:off x="2503" y="3051"/>
                <a:ext cx="72" cy="40"/>
              </a:xfrm>
              <a:custGeom>
                <a:avLst/>
                <a:gdLst>
                  <a:gd name="txL" fmla="*/ 0 w 42"/>
                  <a:gd name="txT" fmla="*/ 0 h 24"/>
                  <a:gd name="txR" fmla="*/ 42 w 42"/>
                  <a:gd name="txB" fmla="*/ 24 h 24"/>
                </a:gdLst>
                <a:ahLst/>
                <a:cxnLst>
                  <a:cxn ang="0">
                    <a:pos x="0" y="39511703"/>
                  </a:cxn>
                  <a:cxn ang="0">
                    <a:pos x="150398018" y="0"/>
                  </a:cxn>
                  <a:cxn ang="0">
                    <a:pos x="0" y="39511703"/>
                  </a:cxn>
                  <a:cxn ang="0">
                    <a:pos x="0" y="39511703"/>
                  </a:cxn>
                  <a:cxn ang="0">
                    <a:pos x="0" y="39511703"/>
                  </a:cxn>
                  <a:cxn ang="0">
                    <a:pos x="0" y="39511703"/>
                  </a:cxn>
                  <a:cxn ang="0">
                    <a:pos x="0" y="39511703"/>
                  </a:cxn>
                </a:cxnLst>
                <a:rect l="txL" t="txT" r="txR" b="txB"/>
                <a:pathLst>
                  <a:path w="42" h="24">
                    <a:moveTo>
                      <a:pt x="0" y="24"/>
                    </a:moveTo>
                    <a:lnTo>
                      <a:pt x="42"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27" name="Freeform 139"/>
              <p:cNvSpPr>
                <a:spLocks noEditPoints="1"/>
              </p:cNvSpPr>
              <p:nvPr/>
            </p:nvSpPr>
            <p:spPr>
              <a:xfrm>
                <a:off x="2575" y="3011"/>
                <a:ext cx="80" cy="40"/>
              </a:xfrm>
              <a:custGeom>
                <a:avLst/>
                <a:gdLst>
                  <a:gd name="txL" fmla="*/ 0 w 47"/>
                  <a:gd name="txT" fmla="*/ 0 h 24"/>
                  <a:gd name="txR" fmla="*/ 47 w 47"/>
                  <a:gd name="txB" fmla="*/ 24 h 24"/>
                </a:gdLst>
                <a:ahLst/>
                <a:cxnLst>
                  <a:cxn ang="0">
                    <a:pos x="0" y="39511703"/>
                  </a:cxn>
                  <a:cxn ang="0">
                    <a:pos x="137517551" y="0"/>
                  </a:cxn>
                  <a:cxn ang="0">
                    <a:pos x="0" y="39511703"/>
                  </a:cxn>
                  <a:cxn ang="0">
                    <a:pos x="0" y="39511703"/>
                  </a:cxn>
                  <a:cxn ang="0">
                    <a:pos x="0" y="39511703"/>
                  </a:cxn>
                  <a:cxn ang="0">
                    <a:pos x="0" y="39511703"/>
                  </a:cxn>
                  <a:cxn ang="0">
                    <a:pos x="0" y="39511703"/>
                  </a:cxn>
                </a:cxnLst>
                <a:rect l="txL" t="txT" r="txR" b="txB"/>
                <a:pathLst>
                  <a:path w="47" h="24">
                    <a:moveTo>
                      <a:pt x="0" y="24"/>
                    </a:moveTo>
                    <a:lnTo>
                      <a:pt x="47"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28" name="Freeform 140"/>
              <p:cNvSpPr>
                <a:spLocks noEditPoints="1"/>
              </p:cNvSpPr>
              <p:nvPr/>
            </p:nvSpPr>
            <p:spPr>
              <a:xfrm>
                <a:off x="2575" y="2961"/>
                <a:ext cx="80" cy="50"/>
              </a:xfrm>
              <a:custGeom>
                <a:avLst/>
                <a:gdLst>
                  <a:gd name="txL" fmla="*/ 0 w 47"/>
                  <a:gd name="txT" fmla="*/ 0 h 30"/>
                  <a:gd name="txR" fmla="*/ 47 w 47"/>
                  <a:gd name="txB" fmla="*/ 30 h 30"/>
                </a:gdLst>
                <a:ahLst/>
                <a:cxnLst>
                  <a:cxn ang="0">
                    <a:pos x="137517551" y="48463758"/>
                  </a:cxn>
                  <a:cxn ang="0">
                    <a:pos x="0" y="0"/>
                  </a:cxn>
                  <a:cxn ang="0">
                    <a:pos x="137517551" y="48463758"/>
                  </a:cxn>
                  <a:cxn ang="0">
                    <a:pos x="137517551" y="48463758"/>
                  </a:cxn>
                  <a:cxn ang="0">
                    <a:pos x="137517551" y="48463758"/>
                  </a:cxn>
                  <a:cxn ang="0">
                    <a:pos x="137517551" y="48463758"/>
                  </a:cxn>
                  <a:cxn ang="0">
                    <a:pos x="137517551" y="48463758"/>
                  </a:cxn>
                </a:cxnLst>
                <a:rect l="txL" t="txT" r="txR" b="txB"/>
                <a:pathLst>
                  <a:path w="47" h="30">
                    <a:moveTo>
                      <a:pt x="47" y="30"/>
                    </a:moveTo>
                    <a:lnTo>
                      <a:pt x="0" y="0"/>
                    </a:lnTo>
                    <a:lnTo>
                      <a:pt x="47" y="30"/>
                    </a:lnTo>
                    <a:close/>
                    <a:moveTo>
                      <a:pt x="47" y="30"/>
                    </a:moveTo>
                    <a:lnTo>
                      <a:pt x="47"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29" name="Freeform 141"/>
              <p:cNvSpPr>
                <a:spLocks noEditPoints="1"/>
              </p:cNvSpPr>
              <p:nvPr/>
            </p:nvSpPr>
            <p:spPr>
              <a:xfrm>
                <a:off x="2503" y="2921"/>
                <a:ext cx="72" cy="40"/>
              </a:xfrm>
              <a:custGeom>
                <a:avLst/>
                <a:gdLst>
                  <a:gd name="txL" fmla="*/ 0 w 42"/>
                  <a:gd name="txT" fmla="*/ 0 h 24"/>
                  <a:gd name="txR" fmla="*/ 42 w 42"/>
                  <a:gd name="txB" fmla="*/ 24 h 24"/>
                </a:gdLst>
                <a:ahLst/>
                <a:cxnLst>
                  <a:cxn ang="0">
                    <a:pos x="150398018" y="39511703"/>
                  </a:cxn>
                  <a:cxn ang="0">
                    <a:pos x="0" y="0"/>
                  </a:cxn>
                  <a:cxn ang="0">
                    <a:pos x="150398018" y="39511703"/>
                  </a:cxn>
                  <a:cxn ang="0">
                    <a:pos x="150398018" y="39511703"/>
                  </a:cxn>
                  <a:cxn ang="0">
                    <a:pos x="150398018" y="39511703"/>
                  </a:cxn>
                  <a:cxn ang="0">
                    <a:pos x="150398018" y="39511703"/>
                  </a:cxn>
                  <a:cxn ang="0">
                    <a:pos x="150398018" y="39511703"/>
                  </a:cxn>
                </a:cxnLst>
                <a:rect l="txL" t="txT" r="txR" b="txB"/>
                <a:pathLst>
                  <a:path w="42" h="24">
                    <a:moveTo>
                      <a:pt x="42" y="24"/>
                    </a:moveTo>
                    <a:lnTo>
                      <a:pt x="0" y="0"/>
                    </a:lnTo>
                    <a:lnTo>
                      <a:pt x="42" y="24"/>
                    </a:lnTo>
                    <a:close/>
                    <a:moveTo>
                      <a:pt x="42" y="24"/>
                    </a:moveTo>
                    <a:lnTo>
                      <a:pt x="4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30" name="Freeform 142"/>
              <p:cNvSpPr>
                <a:spLocks noEditPoints="1"/>
              </p:cNvSpPr>
              <p:nvPr/>
            </p:nvSpPr>
            <p:spPr>
              <a:xfrm>
                <a:off x="2503" y="2880"/>
                <a:ext cx="72" cy="41"/>
              </a:xfrm>
              <a:custGeom>
                <a:avLst/>
                <a:gdLst>
                  <a:gd name="txL" fmla="*/ 0 w 42"/>
                  <a:gd name="txT" fmla="*/ 0 h 24"/>
                  <a:gd name="txR" fmla="*/ 42 w 42"/>
                  <a:gd name="txB" fmla="*/ 24 h 24"/>
                </a:gdLst>
                <a:ahLst/>
                <a:cxnLst>
                  <a:cxn ang="0">
                    <a:pos x="0" y="78262881"/>
                  </a:cxn>
                  <a:cxn ang="0">
                    <a:pos x="150398018" y="0"/>
                  </a:cxn>
                  <a:cxn ang="0">
                    <a:pos x="0" y="78262881"/>
                  </a:cxn>
                  <a:cxn ang="0">
                    <a:pos x="0" y="78262881"/>
                  </a:cxn>
                  <a:cxn ang="0">
                    <a:pos x="0" y="78262881"/>
                  </a:cxn>
                  <a:cxn ang="0">
                    <a:pos x="0" y="78262881"/>
                  </a:cxn>
                  <a:cxn ang="0">
                    <a:pos x="0" y="78262881"/>
                  </a:cxn>
                </a:cxnLst>
                <a:rect l="txL" t="txT" r="txR" b="txB"/>
                <a:pathLst>
                  <a:path w="42" h="24">
                    <a:moveTo>
                      <a:pt x="0" y="24"/>
                    </a:moveTo>
                    <a:lnTo>
                      <a:pt x="42"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31" name="Freeform 143"/>
              <p:cNvSpPr>
                <a:spLocks noEditPoints="1"/>
              </p:cNvSpPr>
              <p:nvPr/>
            </p:nvSpPr>
            <p:spPr>
              <a:xfrm>
                <a:off x="2575" y="2840"/>
                <a:ext cx="80" cy="40"/>
              </a:xfrm>
              <a:custGeom>
                <a:avLst/>
                <a:gdLst>
                  <a:gd name="txL" fmla="*/ 0 w 47"/>
                  <a:gd name="txT" fmla="*/ 0 h 24"/>
                  <a:gd name="txR" fmla="*/ 47 w 47"/>
                  <a:gd name="txB" fmla="*/ 24 h 24"/>
                </a:gdLst>
                <a:ahLst/>
                <a:cxnLst>
                  <a:cxn ang="0">
                    <a:pos x="0" y="39511703"/>
                  </a:cxn>
                  <a:cxn ang="0">
                    <a:pos x="137517551" y="0"/>
                  </a:cxn>
                  <a:cxn ang="0">
                    <a:pos x="0" y="39511703"/>
                  </a:cxn>
                  <a:cxn ang="0">
                    <a:pos x="0" y="39511703"/>
                  </a:cxn>
                  <a:cxn ang="0">
                    <a:pos x="0" y="39511703"/>
                  </a:cxn>
                  <a:cxn ang="0">
                    <a:pos x="0" y="39511703"/>
                  </a:cxn>
                  <a:cxn ang="0">
                    <a:pos x="0" y="39511703"/>
                  </a:cxn>
                </a:cxnLst>
                <a:rect l="txL" t="txT" r="txR" b="txB"/>
                <a:pathLst>
                  <a:path w="47" h="24">
                    <a:moveTo>
                      <a:pt x="0" y="24"/>
                    </a:moveTo>
                    <a:lnTo>
                      <a:pt x="47"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32" name="Freeform 144"/>
              <p:cNvSpPr>
                <a:spLocks noEditPoints="1"/>
              </p:cNvSpPr>
              <p:nvPr/>
            </p:nvSpPr>
            <p:spPr>
              <a:xfrm>
                <a:off x="2575" y="2802"/>
                <a:ext cx="80" cy="38"/>
              </a:xfrm>
              <a:custGeom>
                <a:avLst/>
                <a:gdLst>
                  <a:gd name="txL" fmla="*/ 0 w 47"/>
                  <a:gd name="txT" fmla="*/ 0 h 23"/>
                  <a:gd name="txR" fmla="*/ 47 w 47"/>
                  <a:gd name="txB" fmla="*/ 23 h 23"/>
                </a:gdLst>
                <a:ahLst/>
                <a:cxnLst>
                  <a:cxn ang="0">
                    <a:pos x="137517551" y="29399283"/>
                  </a:cxn>
                  <a:cxn ang="0">
                    <a:pos x="0" y="0"/>
                  </a:cxn>
                  <a:cxn ang="0">
                    <a:pos x="137517551" y="29399283"/>
                  </a:cxn>
                  <a:cxn ang="0">
                    <a:pos x="137517551" y="29399283"/>
                  </a:cxn>
                  <a:cxn ang="0">
                    <a:pos x="137517551" y="29399283"/>
                  </a:cxn>
                  <a:cxn ang="0">
                    <a:pos x="137517551" y="29399283"/>
                  </a:cxn>
                  <a:cxn ang="0">
                    <a:pos x="137517551" y="29399283"/>
                  </a:cxn>
                </a:cxnLst>
                <a:rect l="txL" t="txT" r="txR" b="txB"/>
                <a:pathLst>
                  <a:path w="47" h="23">
                    <a:moveTo>
                      <a:pt x="47" y="23"/>
                    </a:moveTo>
                    <a:lnTo>
                      <a:pt x="0" y="0"/>
                    </a:lnTo>
                    <a:lnTo>
                      <a:pt x="47" y="23"/>
                    </a:lnTo>
                    <a:close/>
                    <a:moveTo>
                      <a:pt x="47" y="23"/>
                    </a:moveTo>
                    <a:lnTo>
                      <a:pt x="47" y="2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33" name="Freeform 145"/>
              <p:cNvSpPr>
                <a:spLocks noEditPoints="1"/>
              </p:cNvSpPr>
              <p:nvPr/>
            </p:nvSpPr>
            <p:spPr>
              <a:xfrm>
                <a:off x="2503" y="2762"/>
                <a:ext cx="72" cy="40"/>
              </a:xfrm>
              <a:custGeom>
                <a:avLst/>
                <a:gdLst>
                  <a:gd name="txL" fmla="*/ 0 w 42"/>
                  <a:gd name="txT" fmla="*/ 0 h 24"/>
                  <a:gd name="txR" fmla="*/ 42 w 42"/>
                  <a:gd name="txB" fmla="*/ 24 h 24"/>
                </a:gdLst>
                <a:ahLst/>
                <a:cxnLst>
                  <a:cxn ang="0">
                    <a:pos x="150398018" y="39511703"/>
                  </a:cxn>
                  <a:cxn ang="0">
                    <a:pos x="0" y="0"/>
                  </a:cxn>
                  <a:cxn ang="0">
                    <a:pos x="150398018" y="39511703"/>
                  </a:cxn>
                  <a:cxn ang="0">
                    <a:pos x="150398018" y="39511703"/>
                  </a:cxn>
                  <a:cxn ang="0">
                    <a:pos x="150398018" y="39511703"/>
                  </a:cxn>
                  <a:cxn ang="0">
                    <a:pos x="150398018" y="39511703"/>
                  </a:cxn>
                  <a:cxn ang="0">
                    <a:pos x="150398018" y="39511703"/>
                  </a:cxn>
                </a:cxnLst>
                <a:rect l="txL" t="txT" r="txR" b="txB"/>
                <a:pathLst>
                  <a:path w="42" h="24">
                    <a:moveTo>
                      <a:pt x="42" y="24"/>
                    </a:moveTo>
                    <a:lnTo>
                      <a:pt x="0" y="0"/>
                    </a:lnTo>
                    <a:lnTo>
                      <a:pt x="42" y="24"/>
                    </a:lnTo>
                    <a:close/>
                    <a:moveTo>
                      <a:pt x="42" y="24"/>
                    </a:moveTo>
                    <a:lnTo>
                      <a:pt x="4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34" name="Freeform 146"/>
              <p:cNvSpPr>
                <a:spLocks noEditPoints="1"/>
              </p:cNvSpPr>
              <p:nvPr/>
            </p:nvSpPr>
            <p:spPr>
              <a:xfrm>
                <a:off x="2503" y="2722"/>
                <a:ext cx="72" cy="40"/>
              </a:xfrm>
              <a:custGeom>
                <a:avLst/>
                <a:gdLst>
                  <a:gd name="txL" fmla="*/ 0 w 42"/>
                  <a:gd name="txT" fmla="*/ 0 h 24"/>
                  <a:gd name="txR" fmla="*/ 42 w 42"/>
                  <a:gd name="txB" fmla="*/ 24 h 24"/>
                </a:gdLst>
                <a:ahLst/>
                <a:cxnLst>
                  <a:cxn ang="0">
                    <a:pos x="0" y="39511703"/>
                  </a:cxn>
                  <a:cxn ang="0">
                    <a:pos x="150398018" y="0"/>
                  </a:cxn>
                  <a:cxn ang="0">
                    <a:pos x="0" y="39511703"/>
                  </a:cxn>
                  <a:cxn ang="0">
                    <a:pos x="0" y="39511703"/>
                  </a:cxn>
                  <a:cxn ang="0">
                    <a:pos x="0" y="39511703"/>
                  </a:cxn>
                  <a:cxn ang="0">
                    <a:pos x="0" y="39511703"/>
                  </a:cxn>
                  <a:cxn ang="0">
                    <a:pos x="0" y="39511703"/>
                  </a:cxn>
                </a:cxnLst>
                <a:rect l="txL" t="txT" r="txR" b="txB"/>
                <a:pathLst>
                  <a:path w="42" h="24">
                    <a:moveTo>
                      <a:pt x="0" y="24"/>
                    </a:moveTo>
                    <a:lnTo>
                      <a:pt x="42"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35" name="Freeform 147"/>
              <p:cNvSpPr>
                <a:spLocks noEditPoints="1"/>
              </p:cNvSpPr>
              <p:nvPr/>
            </p:nvSpPr>
            <p:spPr>
              <a:xfrm>
                <a:off x="2575" y="2671"/>
                <a:ext cx="80" cy="51"/>
              </a:xfrm>
              <a:custGeom>
                <a:avLst/>
                <a:gdLst>
                  <a:gd name="txL" fmla="*/ 0 w 47"/>
                  <a:gd name="txT" fmla="*/ 0 h 30"/>
                  <a:gd name="txR" fmla="*/ 47 w 47"/>
                  <a:gd name="txB" fmla="*/ 30 h 30"/>
                </a:gdLst>
                <a:ahLst/>
                <a:cxnLst>
                  <a:cxn ang="0">
                    <a:pos x="0" y="85561655"/>
                  </a:cxn>
                  <a:cxn ang="0">
                    <a:pos x="137517551" y="0"/>
                  </a:cxn>
                  <a:cxn ang="0">
                    <a:pos x="0" y="85561655"/>
                  </a:cxn>
                  <a:cxn ang="0">
                    <a:pos x="0" y="85561655"/>
                  </a:cxn>
                  <a:cxn ang="0">
                    <a:pos x="0" y="85561655"/>
                  </a:cxn>
                  <a:cxn ang="0">
                    <a:pos x="0" y="85561655"/>
                  </a:cxn>
                  <a:cxn ang="0">
                    <a:pos x="0" y="85561655"/>
                  </a:cxn>
                </a:cxnLst>
                <a:rect l="txL" t="txT" r="txR" b="txB"/>
                <a:pathLst>
                  <a:path w="47" h="30">
                    <a:moveTo>
                      <a:pt x="0" y="30"/>
                    </a:moveTo>
                    <a:lnTo>
                      <a:pt x="47"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36" name="Freeform 148"/>
              <p:cNvSpPr>
                <a:spLocks noEditPoints="1"/>
              </p:cNvSpPr>
              <p:nvPr/>
            </p:nvSpPr>
            <p:spPr>
              <a:xfrm>
                <a:off x="2575" y="2631"/>
                <a:ext cx="80" cy="40"/>
              </a:xfrm>
              <a:custGeom>
                <a:avLst/>
                <a:gdLst>
                  <a:gd name="txL" fmla="*/ 0 w 47"/>
                  <a:gd name="txT" fmla="*/ 0 h 24"/>
                  <a:gd name="txR" fmla="*/ 47 w 47"/>
                  <a:gd name="txB" fmla="*/ 24 h 24"/>
                </a:gdLst>
                <a:ahLst/>
                <a:cxnLst>
                  <a:cxn ang="0">
                    <a:pos x="137517551" y="39511703"/>
                  </a:cxn>
                  <a:cxn ang="0">
                    <a:pos x="0" y="0"/>
                  </a:cxn>
                  <a:cxn ang="0">
                    <a:pos x="137517551" y="39511703"/>
                  </a:cxn>
                  <a:cxn ang="0">
                    <a:pos x="137517551" y="39511703"/>
                  </a:cxn>
                  <a:cxn ang="0">
                    <a:pos x="137517551" y="39511703"/>
                  </a:cxn>
                  <a:cxn ang="0">
                    <a:pos x="137517551" y="39511703"/>
                  </a:cxn>
                  <a:cxn ang="0">
                    <a:pos x="137517551" y="39511703"/>
                  </a:cxn>
                </a:cxnLst>
                <a:rect l="txL" t="txT" r="txR" b="txB"/>
                <a:pathLst>
                  <a:path w="47" h="24">
                    <a:moveTo>
                      <a:pt x="47" y="24"/>
                    </a:moveTo>
                    <a:lnTo>
                      <a:pt x="0" y="0"/>
                    </a:lnTo>
                    <a:lnTo>
                      <a:pt x="47" y="24"/>
                    </a:lnTo>
                    <a:close/>
                    <a:moveTo>
                      <a:pt x="47" y="24"/>
                    </a:moveTo>
                    <a:lnTo>
                      <a:pt x="47"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37" name="Freeform 149"/>
              <p:cNvSpPr/>
              <p:nvPr/>
            </p:nvSpPr>
            <p:spPr>
              <a:xfrm>
                <a:off x="3829" y="2860"/>
                <a:ext cx="92" cy="221"/>
              </a:xfrm>
              <a:custGeom>
                <a:avLst/>
                <a:gdLst>
                  <a:gd name="txL" fmla="*/ 0 w 54"/>
                  <a:gd name="txT" fmla="*/ 0 h 132"/>
                  <a:gd name="txR" fmla="*/ 54 w 54"/>
                  <a:gd name="txB" fmla="*/ 132 h 132"/>
                </a:gdLst>
                <a:ahLst/>
                <a:cxnLst>
                  <a:cxn ang="0">
                    <a:pos x="35521111" y="122545071"/>
                  </a:cxn>
                  <a:cxn ang="0">
                    <a:pos x="72554560" y="122545071"/>
                  </a:cxn>
                  <a:cxn ang="0">
                    <a:pos x="108032061" y="133997052"/>
                  </a:cxn>
                  <a:cxn ang="0">
                    <a:pos x="128024409" y="155546187"/>
                  </a:cxn>
                  <a:cxn ang="0">
                    <a:pos x="128024409" y="178039904"/>
                  </a:cxn>
                  <a:cxn ang="0">
                    <a:pos x="108032061" y="211126264"/>
                  </a:cxn>
                  <a:cxn ang="0">
                    <a:pos x="90049622" y="232823704"/>
                  </a:cxn>
                  <a:cxn ang="0">
                    <a:pos x="72554560" y="232823704"/>
                  </a:cxn>
                  <a:cxn ang="0">
                    <a:pos x="54782073" y="222033846"/>
                  </a:cxn>
                  <a:cxn ang="0">
                    <a:pos x="17356953" y="211126264"/>
                  </a:cxn>
                  <a:cxn ang="0">
                    <a:pos x="0" y="211126264"/>
                  </a:cxn>
                  <a:cxn ang="0">
                    <a:pos x="0" y="222033846"/>
                  </a:cxn>
                  <a:cxn ang="0">
                    <a:pos x="17356953" y="243897103"/>
                  </a:cxn>
                  <a:cxn ang="0">
                    <a:pos x="35521111" y="243897103"/>
                  </a:cxn>
                  <a:cxn ang="0">
                    <a:pos x="90049622" y="243897103"/>
                  </a:cxn>
                  <a:cxn ang="0">
                    <a:pos x="128024409" y="222033846"/>
                  </a:cxn>
                  <a:cxn ang="0">
                    <a:pos x="162670412" y="199736038"/>
                  </a:cxn>
                  <a:cxn ang="0">
                    <a:pos x="162670412" y="167107323"/>
                  </a:cxn>
                  <a:cxn ang="0">
                    <a:pos x="145519506" y="122545071"/>
                  </a:cxn>
                  <a:cxn ang="0">
                    <a:pos x="108032061" y="99810709"/>
                  </a:cxn>
                  <a:cxn ang="0">
                    <a:pos x="145519506" y="77181173"/>
                  </a:cxn>
                  <a:cxn ang="0">
                    <a:pos x="145519506" y="44228507"/>
                  </a:cxn>
                  <a:cxn ang="0">
                    <a:pos x="145519506" y="21645544"/>
                  </a:cxn>
                  <a:cxn ang="0">
                    <a:pos x="128024409" y="11073798"/>
                  </a:cxn>
                  <a:cxn ang="0">
                    <a:pos x="90049622" y="0"/>
                  </a:cxn>
                  <a:cxn ang="0">
                    <a:pos x="35521111" y="11073798"/>
                  </a:cxn>
                  <a:cxn ang="0">
                    <a:pos x="17356953" y="33143956"/>
                  </a:cxn>
                  <a:cxn ang="0">
                    <a:pos x="0" y="55491017"/>
                  </a:cxn>
                  <a:cxn ang="0">
                    <a:pos x="0" y="55491017"/>
                  </a:cxn>
                  <a:cxn ang="0">
                    <a:pos x="35521111" y="33143956"/>
                  </a:cxn>
                  <a:cxn ang="0">
                    <a:pos x="72554560" y="21645544"/>
                  </a:cxn>
                  <a:cxn ang="0">
                    <a:pos x="108032061" y="33143956"/>
                  </a:cxn>
                  <a:cxn ang="0">
                    <a:pos x="108032061" y="55491017"/>
                  </a:cxn>
                  <a:cxn ang="0">
                    <a:pos x="90049622" y="99810709"/>
                  </a:cxn>
                  <a:cxn ang="0">
                    <a:pos x="35521111" y="122545071"/>
                  </a:cxn>
                  <a:cxn ang="0">
                    <a:pos x="35521111" y="122545071"/>
                  </a:cxn>
                </a:cxnLst>
                <a:rect l="txL" t="txT" r="txR" b="txB"/>
                <a:pathLst>
                  <a:path w="54" h="132">
                    <a:moveTo>
                      <a:pt x="12" y="66"/>
                    </a:moveTo>
                    <a:lnTo>
                      <a:pt x="24" y="66"/>
                    </a:lnTo>
                    <a:lnTo>
                      <a:pt x="36" y="72"/>
                    </a:lnTo>
                    <a:lnTo>
                      <a:pt x="42" y="84"/>
                    </a:lnTo>
                    <a:lnTo>
                      <a:pt x="42" y="96"/>
                    </a:lnTo>
                    <a:lnTo>
                      <a:pt x="36" y="114"/>
                    </a:lnTo>
                    <a:lnTo>
                      <a:pt x="30" y="126"/>
                    </a:lnTo>
                    <a:lnTo>
                      <a:pt x="24" y="126"/>
                    </a:lnTo>
                    <a:lnTo>
                      <a:pt x="18" y="120"/>
                    </a:lnTo>
                    <a:lnTo>
                      <a:pt x="6" y="114"/>
                    </a:lnTo>
                    <a:lnTo>
                      <a:pt x="0" y="114"/>
                    </a:lnTo>
                    <a:lnTo>
                      <a:pt x="0" y="120"/>
                    </a:lnTo>
                    <a:lnTo>
                      <a:pt x="6" y="132"/>
                    </a:lnTo>
                    <a:lnTo>
                      <a:pt x="12" y="132"/>
                    </a:lnTo>
                    <a:lnTo>
                      <a:pt x="30" y="132"/>
                    </a:lnTo>
                    <a:lnTo>
                      <a:pt x="42" y="120"/>
                    </a:lnTo>
                    <a:lnTo>
                      <a:pt x="54" y="108"/>
                    </a:lnTo>
                    <a:lnTo>
                      <a:pt x="54" y="90"/>
                    </a:lnTo>
                    <a:lnTo>
                      <a:pt x="48" y="66"/>
                    </a:lnTo>
                    <a:lnTo>
                      <a:pt x="36" y="54"/>
                    </a:lnTo>
                    <a:lnTo>
                      <a:pt x="48" y="42"/>
                    </a:lnTo>
                    <a:lnTo>
                      <a:pt x="48" y="24"/>
                    </a:lnTo>
                    <a:lnTo>
                      <a:pt x="48" y="12"/>
                    </a:lnTo>
                    <a:lnTo>
                      <a:pt x="42" y="6"/>
                    </a:lnTo>
                    <a:lnTo>
                      <a:pt x="30" y="0"/>
                    </a:lnTo>
                    <a:lnTo>
                      <a:pt x="12" y="6"/>
                    </a:lnTo>
                    <a:lnTo>
                      <a:pt x="6" y="18"/>
                    </a:lnTo>
                    <a:lnTo>
                      <a:pt x="0" y="30"/>
                    </a:lnTo>
                    <a:lnTo>
                      <a:pt x="12" y="18"/>
                    </a:lnTo>
                    <a:lnTo>
                      <a:pt x="24" y="12"/>
                    </a:lnTo>
                    <a:lnTo>
                      <a:pt x="36" y="18"/>
                    </a:lnTo>
                    <a:lnTo>
                      <a:pt x="36" y="30"/>
                    </a:lnTo>
                    <a:lnTo>
                      <a:pt x="30" y="54"/>
                    </a:lnTo>
                    <a:lnTo>
                      <a:pt x="12" y="6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238" name="Freeform 150"/>
              <p:cNvSpPr/>
              <p:nvPr/>
            </p:nvSpPr>
            <p:spPr>
              <a:xfrm>
                <a:off x="4013" y="2860"/>
                <a:ext cx="174" cy="221"/>
              </a:xfrm>
              <a:custGeom>
                <a:avLst/>
                <a:gdLst>
                  <a:gd name="txL" fmla="*/ 0 w 102"/>
                  <a:gd name="txT" fmla="*/ 0 h 132"/>
                  <a:gd name="txR" fmla="*/ 102 w 102"/>
                  <a:gd name="txB" fmla="*/ 132 h 132"/>
                </a:gdLst>
                <a:ahLst/>
                <a:cxnLst>
                  <a:cxn ang="0">
                    <a:pos x="132084678" y="188786725"/>
                  </a:cxn>
                  <a:cxn ang="0">
                    <a:pos x="111352156" y="178039904"/>
                  </a:cxn>
                  <a:cxn ang="0">
                    <a:pos x="93026255" y="167107323"/>
                  </a:cxn>
                  <a:cxn ang="0">
                    <a:pos x="74718101" y="144446462"/>
                  </a:cxn>
                  <a:cxn ang="0">
                    <a:pos x="56920789" y="122545071"/>
                  </a:cxn>
                  <a:cxn ang="0">
                    <a:pos x="56920789" y="88259283"/>
                  </a:cxn>
                  <a:cxn ang="0">
                    <a:pos x="74718101" y="55491017"/>
                  </a:cxn>
                  <a:cxn ang="0">
                    <a:pos x="93026255" y="21645544"/>
                  </a:cxn>
                  <a:cxn ang="0">
                    <a:pos x="132084678" y="11073798"/>
                  </a:cxn>
                  <a:cxn ang="0">
                    <a:pos x="150415344" y="11073798"/>
                  </a:cxn>
                  <a:cxn ang="0">
                    <a:pos x="187053770" y="11073798"/>
                  </a:cxn>
                  <a:cxn ang="0">
                    <a:pos x="225320921" y="21645544"/>
                  </a:cxn>
                  <a:cxn ang="0">
                    <a:pos x="243441471" y="55491017"/>
                  </a:cxn>
                  <a:cxn ang="0">
                    <a:pos x="261830456" y="88259283"/>
                  </a:cxn>
                  <a:cxn ang="0">
                    <a:pos x="261830456" y="122545071"/>
                  </a:cxn>
                  <a:cxn ang="0">
                    <a:pos x="243441471" y="144446462"/>
                  </a:cxn>
                  <a:cxn ang="0">
                    <a:pos x="225320921" y="167107323"/>
                  </a:cxn>
                  <a:cxn ang="0">
                    <a:pos x="225320921" y="178039904"/>
                  </a:cxn>
                  <a:cxn ang="0">
                    <a:pos x="187053770" y="188786725"/>
                  </a:cxn>
                  <a:cxn ang="0">
                    <a:pos x="187053770" y="243897103"/>
                  </a:cxn>
                  <a:cxn ang="0">
                    <a:pos x="319091725" y="243897103"/>
                  </a:cxn>
                  <a:cxn ang="0">
                    <a:pos x="319091725" y="178039904"/>
                  </a:cxn>
                  <a:cxn ang="0">
                    <a:pos x="319091725" y="178039904"/>
                  </a:cxn>
                  <a:cxn ang="0">
                    <a:pos x="300499614" y="199736038"/>
                  </a:cxn>
                  <a:cxn ang="0">
                    <a:pos x="282564852" y="199736038"/>
                  </a:cxn>
                  <a:cxn ang="0">
                    <a:pos x="206985299" y="199736038"/>
                  </a:cxn>
                  <a:cxn ang="0">
                    <a:pos x="206985299" y="199736038"/>
                  </a:cxn>
                  <a:cxn ang="0">
                    <a:pos x="243441471" y="178039904"/>
                  </a:cxn>
                  <a:cxn ang="0">
                    <a:pos x="282564852" y="155546187"/>
                  </a:cxn>
                  <a:cxn ang="0">
                    <a:pos x="319091725" y="99810709"/>
                  </a:cxn>
                  <a:cxn ang="0">
                    <a:pos x="300499614" y="55491017"/>
                  </a:cxn>
                  <a:cxn ang="0">
                    <a:pos x="282564852" y="33143956"/>
                  </a:cxn>
                  <a:cxn ang="0">
                    <a:pos x="282564852" y="21645544"/>
                  </a:cxn>
                  <a:cxn ang="0">
                    <a:pos x="243441471" y="11073798"/>
                  </a:cxn>
                  <a:cxn ang="0">
                    <a:pos x="206985299" y="0"/>
                  </a:cxn>
                  <a:cxn ang="0">
                    <a:pos x="150415344" y="0"/>
                  </a:cxn>
                  <a:cxn ang="0">
                    <a:pos x="111352156" y="0"/>
                  </a:cxn>
                  <a:cxn ang="0">
                    <a:pos x="74718101" y="11073798"/>
                  </a:cxn>
                  <a:cxn ang="0">
                    <a:pos x="56920789" y="21645544"/>
                  </a:cxn>
                  <a:cxn ang="0">
                    <a:pos x="36501676" y="33143956"/>
                  </a:cxn>
                  <a:cxn ang="0">
                    <a:pos x="18124865" y="55491017"/>
                  </a:cxn>
                  <a:cxn ang="0">
                    <a:pos x="0" y="99810709"/>
                  </a:cxn>
                  <a:cxn ang="0">
                    <a:pos x="36501676" y="155546187"/>
                  </a:cxn>
                  <a:cxn ang="0">
                    <a:pos x="74718101" y="178039904"/>
                  </a:cxn>
                  <a:cxn ang="0">
                    <a:pos x="111352156" y="199736038"/>
                  </a:cxn>
                  <a:cxn ang="0">
                    <a:pos x="111352156" y="199736038"/>
                  </a:cxn>
                  <a:cxn ang="0">
                    <a:pos x="36501676" y="199736038"/>
                  </a:cxn>
                  <a:cxn ang="0">
                    <a:pos x="18124865" y="199736038"/>
                  </a:cxn>
                  <a:cxn ang="0">
                    <a:pos x="0" y="178039904"/>
                  </a:cxn>
                  <a:cxn ang="0">
                    <a:pos x="0" y="178039904"/>
                  </a:cxn>
                  <a:cxn ang="0">
                    <a:pos x="0" y="243897103"/>
                  </a:cxn>
                  <a:cxn ang="0">
                    <a:pos x="132084678" y="243897103"/>
                  </a:cxn>
                  <a:cxn ang="0">
                    <a:pos x="132084678" y="188786725"/>
                  </a:cxn>
                </a:cxnLst>
                <a:rect l="txL" t="txT" r="txR" b="txB"/>
                <a:pathLst>
                  <a:path w="102" h="132">
                    <a:moveTo>
                      <a:pt x="42" y="102"/>
                    </a:moveTo>
                    <a:lnTo>
                      <a:pt x="36" y="96"/>
                    </a:lnTo>
                    <a:lnTo>
                      <a:pt x="30" y="90"/>
                    </a:lnTo>
                    <a:lnTo>
                      <a:pt x="24" y="78"/>
                    </a:lnTo>
                    <a:lnTo>
                      <a:pt x="18" y="66"/>
                    </a:lnTo>
                    <a:lnTo>
                      <a:pt x="18" y="48"/>
                    </a:lnTo>
                    <a:lnTo>
                      <a:pt x="24" y="30"/>
                    </a:lnTo>
                    <a:lnTo>
                      <a:pt x="30" y="12"/>
                    </a:lnTo>
                    <a:lnTo>
                      <a:pt x="42" y="6"/>
                    </a:lnTo>
                    <a:lnTo>
                      <a:pt x="48" y="6"/>
                    </a:lnTo>
                    <a:lnTo>
                      <a:pt x="60" y="6"/>
                    </a:lnTo>
                    <a:lnTo>
                      <a:pt x="72" y="12"/>
                    </a:lnTo>
                    <a:lnTo>
                      <a:pt x="78" y="30"/>
                    </a:lnTo>
                    <a:lnTo>
                      <a:pt x="84" y="48"/>
                    </a:lnTo>
                    <a:lnTo>
                      <a:pt x="84" y="66"/>
                    </a:lnTo>
                    <a:lnTo>
                      <a:pt x="78" y="78"/>
                    </a:lnTo>
                    <a:lnTo>
                      <a:pt x="72" y="90"/>
                    </a:lnTo>
                    <a:lnTo>
                      <a:pt x="72" y="96"/>
                    </a:lnTo>
                    <a:lnTo>
                      <a:pt x="60" y="102"/>
                    </a:lnTo>
                    <a:lnTo>
                      <a:pt x="60" y="132"/>
                    </a:lnTo>
                    <a:lnTo>
                      <a:pt x="102" y="132"/>
                    </a:lnTo>
                    <a:lnTo>
                      <a:pt x="102" y="96"/>
                    </a:lnTo>
                    <a:lnTo>
                      <a:pt x="96" y="108"/>
                    </a:lnTo>
                    <a:lnTo>
                      <a:pt x="90" y="108"/>
                    </a:lnTo>
                    <a:lnTo>
                      <a:pt x="66" y="108"/>
                    </a:lnTo>
                    <a:lnTo>
                      <a:pt x="78" y="96"/>
                    </a:lnTo>
                    <a:lnTo>
                      <a:pt x="90" y="84"/>
                    </a:lnTo>
                    <a:lnTo>
                      <a:pt x="102" y="54"/>
                    </a:lnTo>
                    <a:lnTo>
                      <a:pt x="96" y="30"/>
                    </a:lnTo>
                    <a:lnTo>
                      <a:pt x="90" y="18"/>
                    </a:lnTo>
                    <a:lnTo>
                      <a:pt x="90" y="12"/>
                    </a:lnTo>
                    <a:lnTo>
                      <a:pt x="78" y="6"/>
                    </a:lnTo>
                    <a:lnTo>
                      <a:pt x="66" y="0"/>
                    </a:lnTo>
                    <a:lnTo>
                      <a:pt x="48" y="0"/>
                    </a:lnTo>
                    <a:lnTo>
                      <a:pt x="36" y="0"/>
                    </a:lnTo>
                    <a:lnTo>
                      <a:pt x="24" y="6"/>
                    </a:lnTo>
                    <a:lnTo>
                      <a:pt x="18" y="12"/>
                    </a:lnTo>
                    <a:lnTo>
                      <a:pt x="12" y="18"/>
                    </a:lnTo>
                    <a:lnTo>
                      <a:pt x="6" y="30"/>
                    </a:lnTo>
                    <a:lnTo>
                      <a:pt x="0" y="54"/>
                    </a:lnTo>
                    <a:lnTo>
                      <a:pt x="12" y="84"/>
                    </a:lnTo>
                    <a:lnTo>
                      <a:pt x="24" y="96"/>
                    </a:lnTo>
                    <a:lnTo>
                      <a:pt x="36" y="108"/>
                    </a:lnTo>
                    <a:lnTo>
                      <a:pt x="12" y="108"/>
                    </a:lnTo>
                    <a:lnTo>
                      <a:pt x="6" y="108"/>
                    </a:lnTo>
                    <a:lnTo>
                      <a:pt x="0" y="96"/>
                    </a:lnTo>
                    <a:lnTo>
                      <a:pt x="0" y="132"/>
                    </a:lnTo>
                    <a:lnTo>
                      <a:pt x="42" y="132"/>
                    </a:lnTo>
                    <a:lnTo>
                      <a:pt x="42" y="10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239" name="Freeform 151"/>
              <p:cNvSpPr/>
              <p:nvPr/>
            </p:nvSpPr>
            <p:spPr>
              <a:xfrm>
                <a:off x="3585" y="2641"/>
                <a:ext cx="61" cy="649"/>
              </a:xfrm>
              <a:custGeom>
                <a:avLst/>
                <a:gdLst>
                  <a:gd name="txL" fmla="*/ 0 w 36"/>
                  <a:gd name="txT" fmla="*/ 0 h 388"/>
                  <a:gd name="txR" fmla="*/ 36 w 36"/>
                  <a:gd name="txB" fmla="*/ 388 h 388"/>
                </a:gdLst>
                <a:ahLst/>
                <a:cxnLst>
                  <a:cxn ang="0">
                    <a:pos x="93136701" y="0"/>
                  </a:cxn>
                  <a:cxn ang="0">
                    <a:pos x="0" y="0"/>
                  </a:cxn>
                  <a:cxn ang="0">
                    <a:pos x="0" y="699199491"/>
                  </a:cxn>
                  <a:cxn ang="0">
                    <a:pos x="93136701" y="699199491"/>
                  </a:cxn>
                  <a:cxn ang="0">
                    <a:pos x="93136701" y="0"/>
                  </a:cxn>
                  <a:cxn ang="0">
                    <a:pos x="93136701" y="0"/>
                  </a:cxn>
                </a:cxnLst>
                <a:rect l="txL" t="txT" r="txR" b="txB"/>
                <a:pathLst>
                  <a:path w="36" h="388">
                    <a:moveTo>
                      <a:pt x="36" y="0"/>
                    </a:moveTo>
                    <a:lnTo>
                      <a:pt x="0" y="0"/>
                    </a:lnTo>
                    <a:lnTo>
                      <a:pt x="0" y="388"/>
                    </a:lnTo>
                    <a:lnTo>
                      <a:pt x="36" y="388"/>
                    </a:lnTo>
                    <a:lnTo>
                      <a:pt x="36" y="0"/>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46240" name="Freeform 152"/>
              <p:cNvSpPr/>
              <p:nvPr/>
            </p:nvSpPr>
            <p:spPr>
              <a:xfrm>
                <a:off x="3605" y="3250"/>
                <a:ext cx="82" cy="40"/>
              </a:xfrm>
              <a:custGeom>
                <a:avLst/>
                <a:gdLst>
                  <a:gd name="txL" fmla="*/ 0 w 48"/>
                  <a:gd name="txT" fmla="*/ 0 h 24"/>
                  <a:gd name="txR" fmla="*/ 48 w 48"/>
                  <a:gd name="txB" fmla="*/ 24 h 24"/>
                </a:gdLst>
                <a:ahLst/>
                <a:cxnLst>
                  <a:cxn ang="0">
                    <a:pos x="0" y="39511703"/>
                  </a:cxn>
                  <a:cxn ang="0">
                    <a:pos x="155781089" y="0"/>
                  </a:cxn>
                  <a:cxn ang="0">
                    <a:pos x="0" y="39511703"/>
                  </a:cxn>
                  <a:cxn ang="0">
                    <a:pos x="0" y="39511703"/>
                  </a:cxn>
                </a:cxnLst>
                <a:rect l="txL" t="txT" r="txR" b="txB"/>
                <a:pathLst>
                  <a:path w="48" h="24">
                    <a:moveTo>
                      <a:pt x="0" y="24"/>
                    </a:moveTo>
                    <a:lnTo>
                      <a:pt x="48" y="0"/>
                    </a:ln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41" name="Freeform 153"/>
              <p:cNvSpPr>
                <a:spLocks noEditPoints="1"/>
              </p:cNvSpPr>
              <p:nvPr/>
            </p:nvSpPr>
            <p:spPr>
              <a:xfrm>
                <a:off x="3605" y="3210"/>
                <a:ext cx="82" cy="40"/>
              </a:xfrm>
              <a:custGeom>
                <a:avLst/>
                <a:gdLst>
                  <a:gd name="txL" fmla="*/ 0 w 48"/>
                  <a:gd name="txT" fmla="*/ 0 h 24"/>
                  <a:gd name="txR" fmla="*/ 48 w 48"/>
                  <a:gd name="txB" fmla="*/ 24 h 24"/>
                </a:gdLst>
                <a:ahLst/>
                <a:cxnLst>
                  <a:cxn ang="0">
                    <a:pos x="155781089" y="39511703"/>
                  </a:cxn>
                  <a:cxn ang="0">
                    <a:pos x="0" y="0"/>
                  </a:cxn>
                  <a:cxn ang="0">
                    <a:pos x="155781089" y="39511703"/>
                  </a:cxn>
                  <a:cxn ang="0">
                    <a:pos x="155781089" y="39511703"/>
                  </a:cxn>
                  <a:cxn ang="0">
                    <a:pos x="155781089" y="39511703"/>
                  </a:cxn>
                  <a:cxn ang="0">
                    <a:pos x="155781089" y="39511703"/>
                  </a:cxn>
                  <a:cxn ang="0">
                    <a:pos x="155781089" y="39511703"/>
                  </a:cxn>
                </a:cxnLst>
                <a:rect l="txL" t="txT" r="txR" b="txB"/>
                <a:pathLst>
                  <a:path w="48" h="24">
                    <a:moveTo>
                      <a:pt x="48" y="24"/>
                    </a:moveTo>
                    <a:lnTo>
                      <a:pt x="0" y="0"/>
                    </a:lnTo>
                    <a:lnTo>
                      <a:pt x="48" y="24"/>
                    </a:lnTo>
                    <a:close/>
                    <a:moveTo>
                      <a:pt x="48" y="24"/>
                    </a:moveTo>
                    <a:lnTo>
                      <a:pt x="48"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42" name="Freeform 154"/>
              <p:cNvSpPr>
                <a:spLocks noEditPoints="1"/>
              </p:cNvSpPr>
              <p:nvPr/>
            </p:nvSpPr>
            <p:spPr>
              <a:xfrm>
                <a:off x="3533" y="3172"/>
                <a:ext cx="72" cy="38"/>
              </a:xfrm>
              <a:custGeom>
                <a:avLst/>
                <a:gdLst>
                  <a:gd name="txL" fmla="*/ 0 w 42"/>
                  <a:gd name="txT" fmla="*/ 0 h 23"/>
                  <a:gd name="txR" fmla="*/ 42 w 42"/>
                  <a:gd name="txB" fmla="*/ 23 h 23"/>
                </a:gdLst>
                <a:ahLst/>
                <a:cxnLst>
                  <a:cxn ang="0">
                    <a:pos x="150398018" y="29399283"/>
                  </a:cxn>
                  <a:cxn ang="0">
                    <a:pos x="0" y="0"/>
                  </a:cxn>
                  <a:cxn ang="0">
                    <a:pos x="150398018" y="29399283"/>
                  </a:cxn>
                  <a:cxn ang="0">
                    <a:pos x="150398018" y="29399283"/>
                  </a:cxn>
                  <a:cxn ang="0">
                    <a:pos x="150398018" y="29399283"/>
                  </a:cxn>
                  <a:cxn ang="0">
                    <a:pos x="150398018" y="29399283"/>
                  </a:cxn>
                  <a:cxn ang="0">
                    <a:pos x="150398018" y="29399283"/>
                  </a:cxn>
                </a:cxnLst>
                <a:rect l="txL" t="txT" r="txR" b="txB"/>
                <a:pathLst>
                  <a:path w="42" h="23">
                    <a:moveTo>
                      <a:pt x="42" y="23"/>
                    </a:moveTo>
                    <a:lnTo>
                      <a:pt x="0" y="0"/>
                    </a:lnTo>
                    <a:lnTo>
                      <a:pt x="42" y="23"/>
                    </a:lnTo>
                    <a:close/>
                    <a:moveTo>
                      <a:pt x="42" y="23"/>
                    </a:moveTo>
                    <a:lnTo>
                      <a:pt x="42" y="2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43" name="Freeform 155"/>
              <p:cNvSpPr>
                <a:spLocks noEditPoints="1"/>
              </p:cNvSpPr>
              <p:nvPr/>
            </p:nvSpPr>
            <p:spPr>
              <a:xfrm>
                <a:off x="3533" y="3131"/>
                <a:ext cx="72" cy="41"/>
              </a:xfrm>
              <a:custGeom>
                <a:avLst/>
                <a:gdLst>
                  <a:gd name="txL" fmla="*/ 0 w 42"/>
                  <a:gd name="txT" fmla="*/ 0 h 24"/>
                  <a:gd name="txR" fmla="*/ 42 w 42"/>
                  <a:gd name="txB" fmla="*/ 24 h 24"/>
                </a:gdLst>
                <a:ahLst/>
                <a:cxnLst>
                  <a:cxn ang="0">
                    <a:pos x="0" y="78262881"/>
                  </a:cxn>
                  <a:cxn ang="0">
                    <a:pos x="150398018" y="0"/>
                  </a:cxn>
                  <a:cxn ang="0">
                    <a:pos x="0" y="78262881"/>
                  </a:cxn>
                  <a:cxn ang="0">
                    <a:pos x="0" y="78262881"/>
                  </a:cxn>
                  <a:cxn ang="0">
                    <a:pos x="0" y="78262881"/>
                  </a:cxn>
                  <a:cxn ang="0">
                    <a:pos x="0" y="78262881"/>
                  </a:cxn>
                  <a:cxn ang="0">
                    <a:pos x="0" y="78262881"/>
                  </a:cxn>
                </a:cxnLst>
                <a:rect l="txL" t="txT" r="txR" b="txB"/>
                <a:pathLst>
                  <a:path w="42" h="24">
                    <a:moveTo>
                      <a:pt x="0" y="24"/>
                    </a:moveTo>
                    <a:lnTo>
                      <a:pt x="42"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44" name="Freeform 156"/>
              <p:cNvSpPr>
                <a:spLocks noEditPoints="1"/>
              </p:cNvSpPr>
              <p:nvPr/>
            </p:nvSpPr>
            <p:spPr>
              <a:xfrm>
                <a:off x="3605" y="3131"/>
                <a:ext cx="2" cy="2"/>
              </a:xfrm>
              <a:custGeom>
                <a:avLst/>
                <a:gdLst>
                  <a:gd name="txL" fmla="*/ 0 w 2"/>
                  <a:gd name="txT" fmla="*/ 0 h 2"/>
                  <a:gd name="txR" fmla="*/ 2 w 2"/>
                  <a:gd name="txB" fmla="*/ 2 h 2"/>
                </a:gdLst>
                <a:ahLst/>
                <a:cxnLst>
                  <a:cxn ang="0">
                    <a:pos x="0" y="0"/>
                  </a:cxn>
                  <a:cxn ang="0">
                    <a:pos x="0" y="0"/>
                  </a:cxn>
                  <a:cxn ang="0">
                    <a:pos x="0" y="0"/>
                  </a:cxn>
                  <a:cxn ang="0">
                    <a:pos x="0" y="0"/>
                  </a:cxn>
                  <a:cxn ang="0">
                    <a:pos x="0" y="0"/>
                  </a:cxn>
                  <a:cxn ang="0">
                    <a:pos x="0" y="0"/>
                  </a:cxn>
                  <a:cxn ang="0">
                    <a:pos x="0" y="0"/>
                  </a:cxn>
                </a:cxnLst>
                <a:rect l="txL" t="txT" r="txR" b="txB"/>
                <a:pathLst>
                  <a:path w="2" h="2">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45" name="Freeform 157"/>
              <p:cNvSpPr>
                <a:spLocks noEditPoints="1"/>
              </p:cNvSpPr>
              <p:nvPr/>
            </p:nvSpPr>
            <p:spPr>
              <a:xfrm>
                <a:off x="3605" y="3091"/>
                <a:ext cx="82" cy="40"/>
              </a:xfrm>
              <a:custGeom>
                <a:avLst/>
                <a:gdLst>
                  <a:gd name="txL" fmla="*/ 0 w 48"/>
                  <a:gd name="txT" fmla="*/ 0 h 24"/>
                  <a:gd name="txR" fmla="*/ 48 w 48"/>
                  <a:gd name="txB" fmla="*/ 24 h 24"/>
                </a:gdLst>
                <a:ahLst/>
                <a:cxnLst>
                  <a:cxn ang="0">
                    <a:pos x="0" y="39511703"/>
                  </a:cxn>
                  <a:cxn ang="0">
                    <a:pos x="155781089" y="0"/>
                  </a:cxn>
                  <a:cxn ang="0">
                    <a:pos x="0" y="39511703"/>
                  </a:cxn>
                  <a:cxn ang="0">
                    <a:pos x="0" y="39511703"/>
                  </a:cxn>
                  <a:cxn ang="0">
                    <a:pos x="0" y="39511703"/>
                  </a:cxn>
                  <a:cxn ang="0">
                    <a:pos x="0" y="39511703"/>
                  </a:cxn>
                  <a:cxn ang="0">
                    <a:pos x="0" y="39511703"/>
                  </a:cxn>
                </a:cxnLst>
                <a:rect l="txL" t="txT" r="txR" b="txB"/>
                <a:pathLst>
                  <a:path w="48" h="24">
                    <a:moveTo>
                      <a:pt x="0" y="24"/>
                    </a:moveTo>
                    <a:lnTo>
                      <a:pt x="48"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46" name="Freeform 158"/>
              <p:cNvSpPr>
                <a:spLocks noEditPoints="1"/>
              </p:cNvSpPr>
              <p:nvPr/>
            </p:nvSpPr>
            <p:spPr>
              <a:xfrm>
                <a:off x="3605" y="3051"/>
                <a:ext cx="82" cy="40"/>
              </a:xfrm>
              <a:custGeom>
                <a:avLst/>
                <a:gdLst>
                  <a:gd name="txL" fmla="*/ 0 w 48"/>
                  <a:gd name="txT" fmla="*/ 0 h 24"/>
                  <a:gd name="txR" fmla="*/ 48 w 48"/>
                  <a:gd name="txB" fmla="*/ 24 h 24"/>
                </a:gdLst>
                <a:ahLst/>
                <a:cxnLst>
                  <a:cxn ang="0">
                    <a:pos x="155781089" y="39511703"/>
                  </a:cxn>
                  <a:cxn ang="0">
                    <a:pos x="0" y="0"/>
                  </a:cxn>
                  <a:cxn ang="0">
                    <a:pos x="155781089" y="39511703"/>
                  </a:cxn>
                  <a:cxn ang="0">
                    <a:pos x="155781089" y="39511703"/>
                  </a:cxn>
                  <a:cxn ang="0">
                    <a:pos x="155781089" y="39511703"/>
                  </a:cxn>
                  <a:cxn ang="0">
                    <a:pos x="155781089" y="39511703"/>
                  </a:cxn>
                  <a:cxn ang="0">
                    <a:pos x="155781089" y="39511703"/>
                  </a:cxn>
                </a:cxnLst>
                <a:rect l="txL" t="txT" r="txR" b="txB"/>
                <a:pathLst>
                  <a:path w="48" h="24">
                    <a:moveTo>
                      <a:pt x="48" y="24"/>
                    </a:moveTo>
                    <a:lnTo>
                      <a:pt x="0" y="0"/>
                    </a:lnTo>
                    <a:lnTo>
                      <a:pt x="48" y="24"/>
                    </a:lnTo>
                    <a:close/>
                    <a:moveTo>
                      <a:pt x="48" y="24"/>
                    </a:moveTo>
                    <a:lnTo>
                      <a:pt x="48"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47" name="Freeform 159"/>
              <p:cNvSpPr>
                <a:spLocks noEditPoints="1"/>
              </p:cNvSpPr>
              <p:nvPr/>
            </p:nvSpPr>
            <p:spPr>
              <a:xfrm>
                <a:off x="3533" y="3001"/>
                <a:ext cx="72" cy="50"/>
              </a:xfrm>
              <a:custGeom>
                <a:avLst/>
                <a:gdLst>
                  <a:gd name="txL" fmla="*/ 0 w 42"/>
                  <a:gd name="txT" fmla="*/ 0 h 30"/>
                  <a:gd name="txR" fmla="*/ 42 w 42"/>
                  <a:gd name="txB" fmla="*/ 30 h 30"/>
                </a:gdLst>
                <a:ahLst/>
                <a:cxnLst>
                  <a:cxn ang="0">
                    <a:pos x="150398018" y="48463758"/>
                  </a:cxn>
                  <a:cxn ang="0">
                    <a:pos x="0" y="0"/>
                  </a:cxn>
                  <a:cxn ang="0">
                    <a:pos x="150398018" y="48463758"/>
                  </a:cxn>
                  <a:cxn ang="0">
                    <a:pos x="150398018" y="48463758"/>
                  </a:cxn>
                  <a:cxn ang="0">
                    <a:pos x="150398018" y="48463758"/>
                  </a:cxn>
                  <a:cxn ang="0">
                    <a:pos x="150398018" y="48463758"/>
                  </a:cxn>
                  <a:cxn ang="0">
                    <a:pos x="150398018" y="48463758"/>
                  </a:cxn>
                </a:cxnLst>
                <a:rect l="txL" t="txT" r="txR" b="txB"/>
                <a:pathLst>
                  <a:path w="42" h="30">
                    <a:moveTo>
                      <a:pt x="42" y="30"/>
                    </a:moveTo>
                    <a:lnTo>
                      <a:pt x="0" y="0"/>
                    </a:lnTo>
                    <a:lnTo>
                      <a:pt x="42" y="30"/>
                    </a:lnTo>
                    <a:close/>
                    <a:moveTo>
                      <a:pt x="42" y="30"/>
                    </a:moveTo>
                    <a:lnTo>
                      <a:pt x="42"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48" name="Freeform 160"/>
              <p:cNvSpPr>
                <a:spLocks noEditPoints="1"/>
              </p:cNvSpPr>
              <p:nvPr/>
            </p:nvSpPr>
            <p:spPr>
              <a:xfrm>
                <a:off x="3533" y="2961"/>
                <a:ext cx="72" cy="40"/>
              </a:xfrm>
              <a:custGeom>
                <a:avLst/>
                <a:gdLst>
                  <a:gd name="txL" fmla="*/ 0 w 42"/>
                  <a:gd name="txT" fmla="*/ 0 h 24"/>
                  <a:gd name="txR" fmla="*/ 42 w 42"/>
                  <a:gd name="txB" fmla="*/ 24 h 24"/>
                </a:gdLst>
                <a:ahLst/>
                <a:cxnLst>
                  <a:cxn ang="0">
                    <a:pos x="0" y="39511703"/>
                  </a:cxn>
                  <a:cxn ang="0">
                    <a:pos x="150398018" y="0"/>
                  </a:cxn>
                  <a:cxn ang="0">
                    <a:pos x="0" y="39511703"/>
                  </a:cxn>
                  <a:cxn ang="0">
                    <a:pos x="0" y="39511703"/>
                  </a:cxn>
                  <a:cxn ang="0">
                    <a:pos x="0" y="39511703"/>
                  </a:cxn>
                  <a:cxn ang="0">
                    <a:pos x="0" y="39511703"/>
                  </a:cxn>
                  <a:cxn ang="0">
                    <a:pos x="0" y="39511703"/>
                  </a:cxn>
                </a:cxnLst>
                <a:rect l="txL" t="txT" r="txR" b="txB"/>
                <a:pathLst>
                  <a:path w="42" h="24">
                    <a:moveTo>
                      <a:pt x="0" y="24"/>
                    </a:moveTo>
                    <a:lnTo>
                      <a:pt x="42"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49" name="Freeform 161"/>
              <p:cNvSpPr>
                <a:spLocks noEditPoints="1"/>
              </p:cNvSpPr>
              <p:nvPr/>
            </p:nvSpPr>
            <p:spPr>
              <a:xfrm>
                <a:off x="3605" y="2921"/>
                <a:ext cx="82" cy="40"/>
              </a:xfrm>
              <a:custGeom>
                <a:avLst/>
                <a:gdLst>
                  <a:gd name="txL" fmla="*/ 0 w 48"/>
                  <a:gd name="txT" fmla="*/ 0 h 24"/>
                  <a:gd name="txR" fmla="*/ 48 w 48"/>
                  <a:gd name="txB" fmla="*/ 24 h 24"/>
                </a:gdLst>
                <a:ahLst/>
                <a:cxnLst>
                  <a:cxn ang="0">
                    <a:pos x="0" y="39511703"/>
                  </a:cxn>
                  <a:cxn ang="0">
                    <a:pos x="155781089" y="0"/>
                  </a:cxn>
                  <a:cxn ang="0">
                    <a:pos x="0" y="39511703"/>
                  </a:cxn>
                  <a:cxn ang="0">
                    <a:pos x="0" y="39511703"/>
                  </a:cxn>
                  <a:cxn ang="0">
                    <a:pos x="0" y="39511703"/>
                  </a:cxn>
                  <a:cxn ang="0">
                    <a:pos x="0" y="39511703"/>
                  </a:cxn>
                  <a:cxn ang="0">
                    <a:pos x="0" y="39511703"/>
                  </a:cxn>
                </a:cxnLst>
                <a:rect l="txL" t="txT" r="txR" b="txB"/>
                <a:pathLst>
                  <a:path w="48" h="24">
                    <a:moveTo>
                      <a:pt x="0" y="24"/>
                    </a:moveTo>
                    <a:lnTo>
                      <a:pt x="48"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50" name="Freeform 162"/>
              <p:cNvSpPr>
                <a:spLocks noEditPoints="1"/>
              </p:cNvSpPr>
              <p:nvPr/>
            </p:nvSpPr>
            <p:spPr>
              <a:xfrm>
                <a:off x="3605" y="2880"/>
                <a:ext cx="82" cy="41"/>
              </a:xfrm>
              <a:custGeom>
                <a:avLst/>
                <a:gdLst>
                  <a:gd name="txL" fmla="*/ 0 w 48"/>
                  <a:gd name="txT" fmla="*/ 0 h 24"/>
                  <a:gd name="txR" fmla="*/ 48 w 48"/>
                  <a:gd name="txB" fmla="*/ 24 h 24"/>
                </a:gdLst>
                <a:ahLst/>
                <a:cxnLst>
                  <a:cxn ang="0">
                    <a:pos x="155781089" y="78262881"/>
                  </a:cxn>
                  <a:cxn ang="0">
                    <a:pos x="0" y="0"/>
                  </a:cxn>
                  <a:cxn ang="0">
                    <a:pos x="155781089" y="78262881"/>
                  </a:cxn>
                  <a:cxn ang="0">
                    <a:pos x="155781089" y="78262881"/>
                  </a:cxn>
                  <a:cxn ang="0">
                    <a:pos x="155781089" y="78262881"/>
                  </a:cxn>
                  <a:cxn ang="0">
                    <a:pos x="155781089" y="78262881"/>
                  </a:cxn>
                  <a:cxn ang="0">
                    <a:pos x="155781089" y="78262881"/>
                  </a:cxn>
                </a:cxnLst>
                <a:rect l="txL" t="txT" r="txR" b="txB"/>
                <a:pathLst>
                  <a:path w="48" h="24">
                    <a:moveTo>
                      <a:pt x="48" y="24"/>
                    </a:moveTo>
                    <a:lnTo>
                      <a:pt x="0" y="0"/>
                    </a:lnTo>
                    <a:lnTo>
                      <a:pt x="48" y="24"/>
                    </a:lnTo>
                    <a:close/>
                    <a:moveTo>
                      <a:pt x="48" y="24"/>
                    </a:moveTo>
                    <a:lnTo>
                      <a:pt x="48"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51" name="Freeform 163"/>
              <p:cNvSpPr>
                <a:spLocks noEditPoints="1"/>
              </p:cNvSpPr>
              <p:nvPr/>
            </p:nvSpPr>
            <p:spPr>
              <a:xfrm>
                <a:off x="3533" y="2840"/>
                <a:ext cx="72" cy="40"/>
              </a:xfrm>
              <a:custGeom>
                <a:avLst/>
                <a:gdLst>
                  <a:gd name="txL" fmla="*/ 0 w 42"/>
                  <a:gd name="txT" fmla="*/ 0 h 24"/>
                  <a:gd name="txR" fmla="*/ 42 w 42"/>
                  <a:gd name="txB" fmla="*/ 24 h 24"/>
                </a:gdLst>
                <a:ahLst/>
                <a:cxnLst>
                  <a:cxn ang="0">
                    <a:pos x="150398018" y="39511703"/>
                  </a:cxn>
                  <a:cxn ang="0">
                    <a:pos x="0" y="0"/>
                  </a:cxn>
                  <a:cxn ang="0">
                    <a:pos x="150398018" y="39511703"/>
                  </a:cxn>
                  <a:cxn ang="0">
                    <a:pos x="150398018" y="39511703"/>
                  </a:cxn>
                  <a:cxn ang="0">
                    <a:pos x="150398018" y="39511703"/>
                  </a:cxn>
                  <a:cxn ang="0">
                    <a:pos x="150398018" y="39511703"/>
                  </a:cxn>
                  <a:cxn ang="0">
                    <a:pos x="150398018" y="39511703"/>
                  </a:cxn>
                </a:cxnLst>
                <a:rect l="txL" t="txT" r="txR" b="txB"/>
                <a:pathLst>
                  <a:path w="42" h="24">
                    <a:moveTo>
                      <a:pt x="42" y="24"/>
                    </a:moveTo>
                    <a:lnTo>
                      <a:pt x="0" y="0"/>
                    </a:lnTo>
                    <a:lnTo>
                      <a:pt x="42" y="24"/>
                    </a:lnTo>
                    <a:close/>
                    <a:moveTo>
                      <a:pt x="42" y="24"/>
                    </a:moveTo>
                    <a:lnTo>
                      <a:pt x="4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52" name="Freeform 164"/>
              <p:cNvSpPr>
                <a:spLocks noEditPoints="1"/>
              </p:cNvSpPr>
              <p:nvPr/>
            </p:nvSpPr>
            <p:spPr>
              <a:xfrm>
                <a:off x="3533" y="2802"/>
                <a:ext cx="72" cy="38"/>
              </a:xfrm>
              <a:custGeom>
                <a:avLst/>
                <a:gdLst>
                  <a:gd name="txL" fmla="*/ 0 w 42"/>
                  <a:gd name="txT" fmla="*/ 0 h 23"/>
                  <a:gd name="txR" fmla="*/ 42 w 42"/>
                  <a:gd name="txB" fmla="*/ 23 h 23"/>
                </a:gdLst>
                <a:ahLst/>
                <a:cxnLst>
                  <a:cxn ang="0">
                    <a:pos x="0" y="29399283"/>
                  </a:cxn>
                  <a:cxn ang="0">
                    <a:pos x="150398018" y="0"/>
                  </a:cxn>
                  <a:cxn ang="0">
                    <a:pos x="0" y="29399283"/>
                  </a:cxn>
                  <a:cxn ang="0">
                    <a:pos x="0" y="29399283"/>
                  </a:cxn>
                  <a:cxn ang="0">
                    <a:pos x="0" y="29399283"/>
                  </a:cxn>
                  <a:cxn ang="0">
                    <a:pos x="0" y="29399283"/>
                  </a:cxn>
                  <a:cxn ang="0">
                    <a:pos x="0" y="29399283"/>
                  </a:cxn>
                </a:cxnLst>
                <a:rect l="txL" t="txT" r="txR" b="txB"/>
                <a:pathLst>
                  <a:path w="42" h="23">
                    <a:moveTo>
                      <a:pt x="0" y="23"/>
                    </a:moveTo>
                    <a:lnTo>
                      <a:pt x="42" y="0"/>
                    </a:lnTo>
                    <a:lnTo>
                      <a:pt x="0" y="23"/>
                    </a:lnTo>
                    <a:close/>
                    <a:moveTo>
                      <a:pt x="0" y="23"/>
                    </a:moveTo>
                    <a:lnTo>
                      <a:pt x="0" y="2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53" name="Freeform 165"/>
              <p:cNvSpPr>
                <a:spLocks noEditPoints="1"/>
              </p:cNvSpPr>
              <p:nvPr/>
            </p:nvSpPr>
            <p:spPr>
              <a:xfrm>
                <a:off x="3605" y="2762"/>
                <a:ext cx="82" cy="40"/>
              </a:xfrm>
              <a:custGeom>
                <a:avLst/>
                <a:gdLst>
                  <a:gd name="txL" fmla="*/ 0 w 48"/>
                  <a:gd name="txT" fmla="*/ 0 h 24"/>
                  <a:gd name="txR" fmla="*/ 48 w 48"/>
                  <a:gd name="txB" fmla="*/ 24 h 24"/>
                </a:gdLst>
                <a:ahLst/>
                <a:cxnLst>
                  <a:cxn ang="0">
                    <a:pos x="0" y="39511703"/>
                  </a:cxn>
                  <a:cxn ang="0">
                    <a:pos x="155781089" y="0"/>
                  </a:cxn>
                  <a:cxn ang="0">
                    <a:pos x="0" y="39511703"/>
                  </a:cxn>
                  <a:cxn ang="0">
                    <a:pos x="0" y="39511703"/>
                  </a:cxn>
                  <a:cxn ang="0">
                    <a:pos x="0" y="39511703"/>
                  </a:cxn>
                  <a:cxn ang="0">
                    <a:pos x="0" y="39511703"/>
                  </a:cxn>
                  <a:cxn ang="0">
                    <a:pos x="0" y="39511703"/>
                  </a:cxn>
                </a:cxnLst>
                <a:rect l="txL" t="txT" r="txR" b="txB"/>
                <a:pathLst>
                  <a:path w="48" h="24">
                    <a:moveTo>
                      <a:pt x="0" y="24"/>
                    </a:moveTo>
                    <a:lnTo>
                      <a:pt x="48"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54" name="Freeform 166"/>
              <p:cNvSpPr>
                <a:spLocks noEditPoints="1"/>
              </p:cNvSpPr>
              <p:nvPr/>
            </p:nvSpPr>
            <p:spPr>
              <a:xfrm>
                <a:off x="3605" y="2711"/>
                <a:ext cx="82" cy="51"/>
              </a:xfrm>
              <a:custGeom>
                <a:avLst/>
                <a:gdLst>
                  <a:gd name="txL" fmla="*/ 0 w 48"/>
                  <a:gd name="txT" fmla="*/ 0 h 30"/>
                  <a:gd name="txR" fmla="*/ 48 w 48"/>
                  <a:gd name="txB" fmla="*/ 30 h 30"/>
                </a:gdLst>
                <a:ahLst/>
                <a:cxnLst>
                  <a:cxn ang="0">
                    <a:pos x="155781089" y="85561655"/>
                  </a:cxn>
                  <a:cxn ang="0">
                    <a:pos x="0" y="0"/>
                  </a:cxn>
                  <a:cxn ang="0">
                    <a:pos x="155781089" y="85561655"/>
                  </a:cxn>
                  <a:cxn ang="0">
                    <a:pos x="155781089" y="85561655"/>
                  </a:cxn>
                  <a:cxn ang="0">
                    <a:pos x="155781089" y="85561655"/>
                  </a:cxn>
                  <a:cxn ang="0">
                    <a:pos x="155781089" y="85561655"/>
                  </a:cxn>
                  <a:cxn ang="0">
                    <a:pos x="155781089" y="85561655"/>
                  </a:cxn>
                </a:cxnLst>
                <a:rect l="txL" t="txT" r="txR" b="txB"/>
                <a:pathLst>
                  <a:path w="48" h="30">
                    <a:moveTo>
                      <a:pt x="48" y="30"/>
                    </a:moveTo>
                    <a:lnTo>
                      <a:pt x="0" y="0"/>
                    </a:lnTo>
                    <a:lnTo>
                      <a:pt x="48" y="30"/>
                    </a:lnTo>
                    <a:close/>
                    <a:moveTo>
                      <a:pt x="48" y="30"/>
                    </a:moveTo>
                    <a:lnTo>
                      <a:pt x="48"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55" name="Freeform 167"/>
              <p:cNvSpPr>
                <a:spLocks noEditPoints="1"/>
              </p:cNvSpPr>
              <p:nvPr/>
            </p:nvSpPr>
            <p:spPr>
              <a:xfrm>
                <a:off x="3533" y="2671"/>
                <a:ext cx="72" cy="40"/>
              </a:xfrm>
              <a:custGeom>
                <a:avLst/>
                <a:gdLst>
                  <a:gd name="txL" fmla="*/ 0 w 42"/>
                  <a:gd name="txT" fmla="*/ 0 h 24"/>
                  <a:gd name="txR" fmla="*/ 42 w 42"/>
                  <a:gd name="txB" fmla="*/ 24 h 24"/>
                </a:gdLst>
                <a:ahLst/>
                <a:cxnLst>
                  <a:cxn ang="0">
                    <a:pos x="150398018" y="39511703"/>
                  </a:cxn>
                  <a:cxn ang="0">
                    <a:pos x="0" y="0"/>
                  </a:cxn>
                  <a:cxn ang="0">
                    <a:pos x="150398018" y="39511703"/>
                  </a:cxn>
                  <a:cxn ang="0">
                    <a:pos x="150398018" y="39511703"/>
                  </a:cxn>
                  <a:cxn ang="0">
                    <a:pos x="150398018" y="39511703"/>
                  </a:cxn>
                  <a:cxn ang="0">
                    <a:pos x="150398018" y="39511703"/>
                  </a:cxn>
                  <a:cxn ang="0">
                    <a:pos x="150398018" y="39511703"/>
                  </a:cxn>
                </a:cxnLst>
                <a:rect l="txL" t="txT" r="txR" b="txB"/>
                <a:pathLst>
                  <a:path w="42" h="24">
                    <a:moveTo>
                      <a:pt x="42" y="24"/>
                    </a:moveTo>
                    <a:lnTo>
                      <a:pt x="0" y="0"/>
                    </a:lnTo>
                    <a:lnTo>
                      <a:pt x="42" y="24"/>
                    </a:lnTo>
                    <a:close/>
                    <a:moveTo>
                      <a:pt x="42" y="24"/>
                    </a:moveTo>
                    <a:lnTo>
                      <a:pt x="4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46256" name="Freeform 168"/>
              <p:cNvSpPr>
                <a:spLocks noEditPoints="1"/>
              </p:cNvSpPr>
              <p:nvPr/>
            </p:nvSpPr>
            <p:spPr>
              <a:xfrm>
                <a:off x="3533" y="2631"/>
                <a:ext cx="82" cy="40"/>
              </a:xfrm>
              <a:custGeom>
                <a:avLst/>
                <a:gdLst>
                  <a:gd name="txL" fmla="*/ 0 w 48"/>
                  <a:gd name="txT" fmla="*/ 0 h 24"/>
                  <a:gd name="txR" fmla="*/ 48 w 48"/>
                  <a:gd name="txB" fmla="*/ 24 h 24"/>
                </a:gdLst>
                <a:ahLst/>
                <a:cxnLst>
                  <a:cxn ang="0">
                    <a:pos x="0" y="39511703"/>
                  </a:cxn>
                  <a:cxn ang="0">
                    <a:pos x="155781089" y="0"/>
                  </a:cxn>
                  <a:cxn ang="0">
                    <a:pos x="0" y="39511703"/>
                  </a:cxn>
                  <a:cxn ang="0">
                    <a:pos x="0" y="39511703"/>
                  </a:cxn>
                  <a:cxn ang="0">
                    <a:pos x="0" y="39511703"/>
                  </a:cxn>
                  <a:cxn ang="0">
                    <a:pos x="0" y="39511703"/>
                  </a:cxn>
                  <a:cxn ang="0">
                    <a:pos x="0" y="39511703"/>
                  </a:cxn>
                </a:cxnLst>
                <a:rect l="txL" t="txT" r="txR" b="txB"/>
                <a:pathLst>
                  <a:path w="48" h="24">
                    <a:moveTo>
                      <a:pt x="0" y="24"/>
                    </a:moveTo>
                    <a:lnTo>
                      <a:pt x="48"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grpSp>
        <p:pic>
          <p:nvPicPr>
            <p:cNvPr id="46092" name="Picture 171"/>
            <p:cNvPicPr>
              <a:picLocks noChangeAspect="1"/>
            </p:cNvPicPr>
            <p:nvPr/>
          </p:nvPicPr>
          <p:blipFill>
            <a:blip r:embed="rId1"/>
            <a:stretch>
              <a:fillRect/>
            </a:stretch>
          </p:blipFill>
          <p:spPr>
            <a:xfrm>
              <a:off x="3742" y="2251"/>
              <a:ext cx="1692" cy="1386"/>
            </a:xfrm>
            <a:prstGeom prst="rect">
              <a:avLst/>
            </a:prstGeom>
            <a:noFill/>
            <a:ln w="9525">
              <a:noFill/>
            </a:ln>
          </p:spPr>
        </p:pic>
      </p:grpSp>
      <p:graphicFrame>
        <p:nvGraphicFramePr>
          <p:cNvPr id="46084" name="Object 175"/>
          <p:cNvGraphicFramePr>
            <a:graphicFrameLocks noChangeAspect="1"/>
          </p:cNvGraphicFramePr>
          <p:nvPr/>
        </p:nvGraphicFramePr>
        <p:xfrm>
          <a:off x="600075" y="3354388"/>
          <a:ext cx="4679950" cy="831850"/>
        </p:xfrm>
        <a:graphic>
          <a:graphicData uri="http://schemas.openxmlformats.org/presentationml/2006/ole">
            <mc:AlternateContent xmlns:mc="http://schemas.openxmlformats.org/markup-compatibility/2006">
              <mc:Choice xmlns:v="urn:schemas-microsoft-com:vml" Requires="v">
                <p:oleObj spid="_x0000_s3107" name="" r:id="rId2" imgW="1129665" imgH="355600" progId="Equation.DSMT4">
                  <p:embed/>
                </p:oleObj>
              </mc:Choice>
              <mc:Fallback>
                <p:oleObj name="" r:id="rId2" imgW="1129665" imgH="355600" progId="Equation.DSMT4">
                  <p:embed/>
                  <p:pic>
                    <p:nvPicPr>
                      <p:cNvPr id="0" name="图片 3106"/>
                      <p:cNvPicPr/>
                      <p:nvPr/>
                    </p:nvPicPr>
                    <p:blipFill>
                      <a:blip r:embed="rId3"/>
                      <a:stretch>
                        <a:fillRect/>
                      </a:stretch>
                    </p:blipFill>
                    <p:spPr>
                      <a:xfrm>
                        <a:off x="600075" y="3354388"/>
                        <a:ext cx="4679950" cy="831850"/>
                      </a:xfrm>
                      <a:prstGeom prst="rect">
                        <a:avLst/>
                      </a:prstGeom>
                      <a:noFill/>
                      <a:ln w="38100">
                        <a:noFill/>
                        <a:miter/>
                      </a:ln>
                    </p:spPr>
                  </p:pic>
                </p:oleObj>
              </mc:Fallback>
            </mc:AlternateContent>
          </a:graphicData>
        </a:graphic>
      </p:graphicFrame>
      <p:graphicFrame>
        <p:nvGraphicFramePr>
          <p:cNvPr id="46085" name="Object 183"/>
          <p:cNvGraphicFramePr>
            <a:graphicFrameLocks noChangeAspect="1"/>
          </p:cNvGraphicFramePr>
          <p:nvPr/>
        </p:nvGraphicFramePr>
        <p:xfrm>
          <a:off x="600075" y="5229225"/>
          <a:ext cx="3095625" cy="417513"/>
        </p:xfrm>
        <a:graphic>
          <a:graphicData uri="http://schemas.openxmlformats.org/presentationml/2006/ole">
            <mc:AlternateContent xmlns:mc="http://schemas.openxmlformats.org/markup-compatibility/2006">
              <mc:Choice xmlns:v="urn:schemas-microsoft-com:vml" Requires="v">
                <p:oleObj spid="_x0000_s3108" name="" r:id="rId4" imgW="926465" imgH="165100" progId="Equation.3">
                  <p:embed/>
                </p:oleObj>
              </mc:Choice>
              <mc:Fallback>
                <p:oleObj name="" r:id="rId4" imgW="926465" imgH="165100" progId="Equation.3">
                  <p:embed/>
                  <p:pic>
                    <p:nvPicPr>
                      <p:cNvPr id="0" name="图片 3107"/>
                      <p:cNvPicPr/>
                      <p:nvPr/>
                    </p:nvPicPr>
                    <p:blipFill>
                      <a:blip r:embed="rId5"/>
                      <a:stretch>
                        <a:fillRect/>
                      </a:stretch>
                    </p:blipFill>
                    <p:spPr>
                      <a:xfrm>
                        <a:off x="600075" y="5229225"/>
                        <a:ext cx="3095625" cy="417513"/>
                      </a:xfrm>
                      <a:prstGeom prst="rect">
                        <a:avLst/>
                      </a:prstGeom>
                      <a:noFill/>
                      <a:ln w="38100">
                        <a:noFill/>
                        <a:miter/>
                      </a:ln>
                    </p:spPr>
                  </p:pic>
                </p:oleObj>
              </mc:Fallback>
            </mc:AlternateContent>
          </a:graphicData>
        </a:graphic>
      </p:graphicFrame>
      <p:graphicFrame>
        <p:nvGraphicFramePr>
          <p:cNvPr id="46086" name="对象 4"/>
          <p:cNvGraphicFramePr>
            <a:graphicFrameLocks noChangeAspect="1"/>
          </p:cNvGraphicFramePr>
          <p:nvPr/>
        </p:nvGraphicFramePr>
        <p:xfrm>
          <a:off x="636588" y="4354513"/>
          <a:ext cx="3689350" cy="414337"/>
        </p:xfrm>
        <a:graphic>
          <a:graphicData uri="http://schemas.openxmlformats.org/presentationml/2006/ole">
            <mc:AlternateContent xmlns:mc="http://schemas.openxmlformats.org/markup-compatibility/2006">
              <mc:Choice xmlns:v="urn:schemas-microsoft-com:vml" Requires="v">
                <p:oleObj spid="_x0000_s3109" name="" r:id="rId6" imgW="888365" imgH="177800" progId="Equation.DSMT4">
                  <p:embed/>
                </p:oleObj>
              </mc:Choice>
              <mc:Fallback>
                <p:oleObj name="" r:id="rId6" imgW="888365" imgH="177800" progId="Equation.DSMT4">
                  <p:embed/>
                  <p:pic>
                    <p:nvPicPr>
                      <p:cNvPr id="0" name="图片 3108"/>
                      <p:cNvPicPr/>
                      <p:nvPr/>
                    </p:nvPicPr>
                    <p:blipFill>
                      <a:blip r:embed="rId7"/>
                      <a:stretch>
                        <a:fillRect/>
                      </a:stretch>
                    </p:blipFill>
                    <p:spPr>
                      <a:xfrm>
                        <a:off x="636588" y="4354513"/>
                        <a:ext cx="3689350" cy="414337"/>
                      </a:xfrm>
                      <a:prstGeom prst="rect">
                        <a:avLst/>
                      </a:prstGeom>
                      <a:noFill/>
                      <a:ln w="38100">
                        <a:noFill/>
                        <a:miter/>
                      </a:ln>
                    </p:spPr>
                  </p:pic>
                </p:oleObj>
              </mc:Fallback>
            </mc:AlternateContent>
          </a:graphicData>
        </a:graphic>
      </p:graphicFrame>
      <p:sp>
        <p:nvSpPr>
          <p:cNvPr id="46087"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46088" name="Freeform 69"/>
          <p:cNvSpPr>
            <a:spLocks noEditPoints="1"/>
          </p:cNvSpPr>
          <p:nvPr/>
        </p:nvSpPr>
        <p:spPr>
          <a:xfrm>
            <a:off x="6743700" y="3644900"/>
            <a:ext cx="69850" cy="152400"/>
          </a:xfrm>
          <a:custGeom>
            <a:avLst/>
            <a:gdLst>
              <a:gd name="txL" fmla="*/ 0 w 66"/>
              <a:gd name="txT" fmla="*/ 0 h 125"/>
              <a:gd name="txR" fmla="*/ 66 w 66"/>
              <a:gd name="txB" fmla="*/ 125 h 125"/>
            </a:gdLst>
            <a:ahLst/>
            <a:cxnLst>
              <a:cxn ang="0">
                <a:pos x="2147483646" y="2147483646"/>
              </a:cxn>
              <a:cxn ang="0">
                <a:pos x="2147483646" y="2147483646"/>
              </a:cxn>
              <a:cxn ang="0">
                <a:pos x="2147483646" y="0"/>
              </a:cxn>
              <a:cxn ang="0">
                <a:pos x="2147483646" y="0"/>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66" h="125">
                <a:moveTo>
                  <a:pt x="66" y="83"/>
                </a:moveTo>
                <a:lnTo>
                  <a:pt x="54" y="83"/>
                </a:lnTo>
                <a:lnTo>
                  <a:pt x="54" y="0"/>
                </a:lnTo>
                <a:lnTo>
                  <a:pt x="48" y="0"/>
                </a:lnTo>
                <a:lnTo>
                  <a:pt x="0" y="83"/>
                </a:lnTo>
                <a:lnTo>
                  <a:pt x="0" y="95"/>
                </a:lnTo>
                <a:lnTo>
                  <a:pt x="42" y="95"/>
                </a:lnTo>
                <a:lnTo>
                  <a:pt x="42" y="125"/>
                </a:lnTo>
                <a:lnTo>
                  <a:pt x="54" y="125"/>
                </a:lnTo>
                <a:lnTo>
                  <a:pt x="54" y="95"/>
                </a:lnTo>
                <a:lnTo>
                  <a:pt x="66" y="95"/>
                </a:lnTo>
                <a:lnTo>
                  <a:pt x="66" y="83"/>
                </a:lnTo>
                <a:close/>
                <a:moveTo>
                  <a:pt x="42" y="83"/>
                </a:moveTo>
                <a:lnTo>
                  <a:pt x="6" y="83"/>
                </a:lnTo>
                <a:lnTo>
                  <a:pt x="42" y="18"/>
                </a:lnTo>
                <a:lnTo>
                  <a:pt x="42" y="8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6089" name="Freeform 70"/>
          <p:cNvSpPr/>
          <p:nvPr/>
        </p:nvSpPr>
        <p:spPr>
          <a:xfrm>
            <a:off x="6875463" y="3630613"/>
            <a:ext cx="109537" cy="158750"/>
          </a:xfrm>
          <a:custGeom>
            <a:avLst/>
            <a:gdLst>
              <a:gd name="txL" fmla="*/ 0 w 102"/>
              <a:gd name="txT" fmla="*/ 0 h 131"/>
              <a:gd name="txR" fmla="*/ 102 w 102"/>
              <a:gd name="txB" fmla="*/ 131 h 13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2147483646"/>
              </a:cxn>
              <a:cxn ang="0">
                <a:pos x="2147483646" y="2147483646"/>
              </a:cxn>
              <a:cxn ang="0">
                <a:pos x="2147483646" y="2147483646"/>
              </a:cxn>
            </a:cxnLst>
            <a:rect l="txL" t="txT" r="txR" b="txB"/>
            <a:pathLst>
              <a:path w="102" h="131">
                <a:moveTo>
                  <a:pt x="42" y="107"/>
                </a:moveTo>
                <a:lnTo>
                  <a:pt x="36" y="101"/>
                </a:lnTo>
                <a:lnTo>
                  <a:pt x="30" y="95"/>
                </a:lnTo>
                <a:lnTo>
                  <a:pt x="24" y="83"/>
                </a:lnTo>
                <a:lnTo>
                  <a:pt x="18" y="71"/>
                </a:lnTo>
                <a:lnTo>
                  <a:pt x="18" y="53"/>
                </a:lnTo>
                <a:lnTo>
                  <a:pt x="24" y="36"/>
                </a:lnTo>
                <a:lnTo>
                  <a:pt x="30" y="18"/>
                </a:lnTo>
                <a:lnTo>
                  <a:pt x="42" y="12"/>
                </a:lnTo>
                <a:lnTo>
                  <a:pt x="48" y="6"/>
                </a:lnTo>
                <a:lnTo>
                  <a:pt x="60" y="12"/>
                </a:lnTo>
                <a:lnTo>
                  <a:pt x="72" y="18"/>
                </a:lnTo>
                <a:lnTo>
                  <a:pt x="78" y="36"/>
                </a:lnTo>
                <a:lnTo>
                  <a:pt x="84" y="53"/>
                </a:lnTo>
                <a:lnTo>
                  <a:pt x="84" y="71"/>
                </a:lnTo>
                <a:lnTo>
                  <a:pt x="78" y="83"/>
                </a:lnTo>
                <a:lnTo>
                  <a:pt x="72" y="95"/>
                </a:lnTo>
                <a:lnTo>
                  <a:pt x="72" y="101"/>
                </a:lnTo>
                <a:lnTo>
                  <a:pt x="60" y="107"/>
                </a:lnTo>
                <a:lnTo>
                  <a:pt x="60" y="131"/>
                </a:lnTo>
                <a:lnTo>
                  <a:pt x="102" y="131"/>
                </a:lnTo>
                <a:lnTo>
                  <a:pt x="102" y="101"/>
                </a:lnTo>
                <a:lnTo>
                  <a:pt x="96" y="113"/>
                </a:lnTo>
                <a:lnTo>
                  <a:pt x="90" y="113"/>
                </a:lnTo>
                <a:lnTo>
                  <a:pt x="66" y="113"/>
                </a:lnTo>
                <a:lnTo>
                  <a:pt x="66" y="107"/>
                </a:lnTo>
                <a:lnTo>
                  <a:pt x="78" y="101"/>
                </a:lnTo>
                <a:lnTo>
                  <a:pt x="90" y="89"/>
                </a:lnTo>
                <a:lnTo>
                  <a:pt x="102" y="59"/>
                </a:lnTo>
                <a:lnTo>
                  <a:pt x="96" y="30"/>
                </a:lnTo>
                <a:lnTo>
                  <a:pt x="84" y="18"/>
                </a:lnTo>
                <a:lnTo>
                  <a:pt x="78" y="12"/>
                </a:lnTo>
                <a:lnTo>
                  <a:pt x="66" y="6"/>
                </a:lnTo>
                <a:lnTo>
                  <a:pt x="48" y="0"/>
                </a:lnTo>
                <a:lnTo>
                  <a:pt x="36" y="6"/>
                </a:lnTo>
                <a:lnTo>
                  <a:pt x="24" y="12"/>
                </a:lnTo>
                <a:lnTo>
                  <a:pt x="18" y="18"/>
                </a:lnTo>
                <a:lnTo>
                  <a:pt x="6" y="30"/>
                </a:lnTo>
                <a:lnTo>
                  <a:pt x="0" y="59"/>
                </a:lnTo>
                <a:lnTo>
                  <a:pt x="6" y="89"/>
                </a:lnTo>
                <a:lnTo>
                  <a:pt x="18" y="101"/>
                </a:lnTo>
                <a:lnTo>
                  <a:pt x="36" y="107"/>
                </a:lnTo>
                <a:lnTo>
                  <a:pt x="36" y="113"/>
                </a:lnTo>
                <a:lnTo>
                  <a:pt x="12" y="113"/>
                </a:lnTo>
                <a:lnTo>
                  <a:pt x="6" y="113"/>
                </a:lnTo>
                <a:lnTo>
                  <a:pt x="0" y="101"/>
                </a:lnTo>
                <a:lnTo>
                  <a:pt x="0" y="131"/>
                </a:lnTo>
                <a:lnTo>
                  <a:pt x="42" y="131"/>
                </a:lnTo>
                <a:lnTo>
                  <a:pt x="42" y="10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 name="箭头: 下 1"/>
          <p:cNvSpPr/>
          <p:nvPr/>
        </p:nvSpPr>
        <p:spPr>
          <a:xfrm>
            <a:off x="7789863" y="3000375"/>
            <a:ext cx="319088" cy="7080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7106" name="Object 10"/>
          <p:cNvGraphicFramePr>
            <a:graphicFrameLocks noChangeAspect="1"/>
          </p:cNvGraphicFramePr>
          <p:nvPr/>
        </p:nvGraphicFramePr>
        <p:xfrm>
          <a:off x="1403350" y="4724400"/>
          <a:ext cx="3311525" cy="503238"/>
        </p:xfrm>
        <a:graphic>
          <a:graphicData uri="http://schemas.openxmlformats.org/presentationml/2006/ole">
            <mc:AlternateContent xmlns:mc="http://schemas.openxmlformats.org/markup-compatibility/2006">
              <mc:Choice xmlns:v="urn:schemas-microsoft-com:vml" Requires="v">
                <p:oleObj spid="_x0000_s3110" name="" r:id="rId1" imgW="1879600" imgH="241300" progId="Equation.3">
                  <p:embed/>
                </p:oleObj>
              </mc:Choice>
              <mc:Fallback>
                <p:oleObj name="" r:id="rId1" imgW="1879600" imgH="241300" progId="Equation.3">
                  <p:embed/>
                  <p:pic>
                    <p:nvPicPr>
                      <p:cNvPr id="0" name="图片 3109"/>
                      <p:cNvPicPr/>
                      <p:nvPr/>
                    </p:nvPicPr>
                    <p:blipFill>
                      <a:blip r:embed="rId2"/>
                      <a:stretch>
                        <a:fillRect/>
                      </a:stretch>
                    </p:blipFill>
                    <p:spPr>
                      <a:xfrm>
                        <a:off x="1403350" y="4724400"/>
                        <a:ext cx="3311525" cy="503238"/>
                      </a:xfrm>
                      <a:prstGeom prst="rect">
                        <a:avLst/>
                      </a:prstGeom>
                      <a:noFill/>
                      <a:ln w="38100">
                        <a:noFill/>
                        <a:miter/>
                      </a:ln>
                    </p:spPr>
                  </p:pic>
                </p:oleObj>
              </mc:Fallback>
            </mc:AlternateContent>
          </a:graphicData>
        </a:graphic>
      </p:graphicFrame>
      <p:pic>
        <p:nvPicPr>
          <p:cNvPr id="47107" name="Picture 12"/>
          <p:cNvPicPr>
            <a:picLocks noChangeAspect="1"/>
          </p:cNvPicPr>
          <p:nvPr/>
        </p:nvPicPr>
        <p:blipFill>
          <a:blip r:embed="rId3"/>
          <a:stretch>
            <a:fillRect/>
          </a:stretch>
        </p:blipFill>
        <p:spPr>
          <a:xfrm>
            <a:off x="5724525" y="574675"/>
            <a:ext cx="3175000" cy="5832475"/>
          </a:xfrm>
          <a:prstGeom prst="rect">
            <a:avLst/>
          </a:prstGeom>
          <a:noFill/>
          <a:ln w="9525">
            <a:noFill/>
          </a:ln>
        </p:spPr>
      </p:pic>
      <p:graphicFrame>
        <p:nvGraphicFramePr>
          <p:cNvPr id="47108" name="对象 1"/>
          <p:cNvGraphicFramePr>
            <a:graphicFrameLocks noChangeAspect="1"/>
          </p:cNvGraphicFramePr>
          <p:nvPr/>
        </p:nvGraphicFramePr>
        <p:xfrm>
          <a:off x="539750" y="2676525"/>
          <a:ext cx="5040313" cy="814388"/>
        </p:xfrm>
        <a:graphic>
          <a:graphicData uri="http://schemas.openxmlformats.org/presentationml/2006/ole">
            <mc:AlternateContent xmlns:mc="http://schemas.openxmlformats.org/markup-compatibility/2006">
              <mc:Choice xmlns:v="urn:schemas-microsoft-com:vml" Requires="v">
                <p:oleObj spid="_x0000_s3115" name="" r:id="rId4" imgW="1243965" imgH="355600" progId="Equation.DSMT4">
                  <p:embed/>
                </p:oleObj>
              </mc:Choice>
              <mc:Fallback>
                <p:oleObj name="" r:id="rId4" imgW="1243965" imgH="355600" progId="Equation.DSMT4">
                  <p:embed/>
                  <p:pic>
                    <p:nvPicPr>
                      <p:cNvPr id="0" name="图片 3114"/>
                      <p:cNvPicPr/>
                      <p:nvPr/>
                    </p:nvPicPr>
                    <p:blipFill>
                      <a:blip r:embed="rId5"/>
                      <a:stretch>
                        <a:fillRect/>
                      </a:stretch>
                    </p:blipFill>
                    <p:spPr>
                      <a:xfrm>
                        <a:off x="539750" y="2676525"/>
                        <a:ext cx="5040313" cy="814388"/>
                      </a:xfrm>
                      <a:prstGeom prst="rect">
                        <a:avLst/>
                      </a:prstGeom>
                      <a:noFill/>
                      <a:ln w="38100">
                        <a:noFill/>
                        <a:miter/>
                      </a:ln>
                    </p:spPr>
                  </p:pic>
                </p:oleObj>
              </mc:Fallback>
            </mc:AlternateContent>
          </a:graphicData>
        </a:graphic>
      </p:graphicFrame>
      <p:sp>
        <p:nvSpPr>
          <p:cNvPr id="47109"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2" name="箭头: 下 1"/>
          <p:cNvSpPr/>
          <p:nvPr/>
        </p:nvSpPr>
        <p:spPr>
          <a:xfrm>
            <a:off x="7956550" y="2924175"/>
            <a:ext cx="287338" cy="8651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1029335" y="568960"/>
            <a:ext cx="7325995" cy="556260"/>
          </a:xfrm>
          <a:prstGeom prst="rect">
            <a:avLst/>
          </a:prstGeom>
        </p:spPr>
      </p:pic>
      <p:pic>
        <p:nvPicPr>
          <p:cNvPr id="6" name="图片 5"/>
          <p:cNvPicPr>
            <a:picLocks noChangeAspect="1"/>
          </p:cNvPicPr>
          <p:nvPr/>
        </p:nvPicPr>
        <p:blipFill>
          <a:blip r:embed="rId2"/>
          <a:stretch>
            <a:fillRect/>
          </a:stretch>
        </p:blipFill>
        <p:spPr>
          <a:xfrm>
            <a:off x="3810635" y="1280160"/>
            <a:ext cx="4745355" cy="2502535"/>
          </a:xfrm>
          <a:prstGeom prst="rect">
            <a:avLst/>
          </a:prstGeom>
        </p:spPr>
      </p:pic>
      <p:sp>
        <p:nvSpPr>
          <p:cNvPr id="8" name="文本框 7"/>
          <p:cNvSpPr txBox="1"/>
          <p:nvPr/>
        </p:nvSpPr>
        <p:spPr>
          <a:xfrm>
            <a:off x="909955" y="1925320"/>
            <a:ext cx="3016250" cy="2676525"/>
          </a:xfrm>
          <a:prstGeom prst="rect">
            <a:avLst/>
          </a:prstGeom>
          <a:noFill/>
        </p:spPr>
        <p:txBody>
          <a:bodyPr wrap="square" rtlCol="0">
            <a:spAutoFit/>
          </a:bodyPr>
          <a:p>
            <a:r>
              <a:rPr lang="zh-CN" altLang="en-US" sz="2400"/>
              <a:t>解：</a:t>
            </a:r>
            <a:endParaRPr lang="zh-CN" altLang="en-US" sz="2400"/>
          </a:p>
          <a:p>
            <a:r>
              <a:rPr lang="en-US" altLang="zh-CN" sz="2400"/>
              <a:t>(6+10+8)x12/36=8;</a:t>
            </a:r>
            <a:endParaRPr lang="en-US" altLang="zh-CN" sz="2400"/>
          </a:p>
          <a:p>
            <a:endParaRPr lang="en-US" altLang="zh-CN" sz="2400"/>
          </a:p>
          <a:p>
            <a:r>
              <a:rPr lang="en-US" altLang="zh-CN" sz="2400"/>
              <a:t>(4+8)x6/18=4;</a:t>
            </a:r>
            <a:endParaRPr lang="en-US" altLang="zh-CN" sz="2400"/>
          </a:p>
          <a:p>
            <a:endParaRPr lang="en-US" altLang="zh-CN" sz="2400"/>
          </a:p>
          <a:p>
            <a:r>
              <a:rPr lang="en-US" altLang="zh-CN" sz="2400"/>
              <a:t>4+4+3=11(</a:t>
            </a:r>
            <a:r>
              <a:rPr lang="zh-CN" altLang="en-US" sz="2400"/>
              <a:t>欧姆）</a:t>
            </a:r>
            <a:endParaRPr lang="en-US" altLang="zh-CN" sz="2400"/>
          </a:p>
          <a:p>
            <a:endParaRPr lang="en-US" altLang="zh-CN" sz="2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type="body" sz="half" idx="1"/>
          </p:nvPr>
        </p:nvSpPr>
        <p:spPr>
          <a:xfrm>
            <a:off x="450850" y="1087438"/>
            <a:ext cx="8208963" cy="1152525"/>
          </a:xfrm>
        </p:spPr>
        <p:txBody>
          <a:bodyPr vert="horz" wrap="square" lIns="91440" tIns="45720" rIns="91440" bIns="45720" anchor="t"/>
          <a:p>
            <a:pPr eaLnBrk="1" hangingPunct="1">
              <a:buClr>
                <a:schemeClr val="bg2"/>
              </a:buClr>
              <a:buSzPct val="75000"/>
              <a:buFont typeface="Wingdings" panose="05000000000000000000" pitchFamily="2" charset="2"/>
            </a:pPr>
            <a:r>
              <a:rPr lang="zh-CN" altLang="en-US" sz="2400" b="1" dirty="0">
                <a:solidFill>
                  <a:srgbClr val="FF0000"/>
                </a:solidFill>
                <a:latin typeface="Times New Roman" panose="02020603050405020304" pitchFamily="18" charset="0"/>
              </a:rPr>
              <a:t>例</a:t>
            </a:r>
            <a:r>
              <a:rPr lang="en-US" altLang="zh-CN" sz="2400" b="1" dirty="0">
                <a:solidFill>
                  <a:srgbClr val="FF0000"/>
                </a:solidFill>
                <a:latin typeface="Times New Roman" panose="02020603050405020304" pitchFamily="18" charset="0"/>
              </a:rPr>
              <a:t>2-10</a:t>
            </a:r>
            <a:r>
              <a:rPr lang="zh-CN" altLang="en-US" sz="2400" b="1" dirty="0">
                <a:solidFill>
                  <a:srgbClr val="FF0000"/>
                </a:solidFill>
                <a:latin typeface="Times New Roman" panose="02020603050405020304" pitchFamily="18" charset="0"/>
              </a:rPr>
              <a:t>（堂练）</a:t>
            </a:r>
            <a:endParaRPr lang="en-US" altLang="zh-CN" sz="2400" b="1" dirty="0">
              <a:solidFill>
                <a:srgbClr val="FF0000"/>
              </a:solidFill>
              <a:latin typeface="Times New Roman" panose="02020603050405020304" pitchFamily="18" charset="0"/>
            </a:endParaRPr>
          </a:p>
          <a:p>
            <a:pPr eaLnBrk="1" hangingPunct="1">
              <a:buClr>
                <a:schemeClr val="bg2"/>
              </a:buClr>
              <a:buSzPct val="75000"/>
              <a:buFont typeface="Wingdings" panose="05000000000000000000" pitchFamily="2" charset="2"/>
              <a:buNone/>
            </a:pPr>
            <a:r>
              <a:rPr lang="zh-CN" altLang="en-US" sz="2400" b="1" dirty="0">
                <a:latin typeface="Times New Roman" panose="02020603050405020304" pitchFamily="18" charset="0"/>
              </a:rPr>
              <a:t>计算所示电路的等效电阻</a:t>
            </a:r>
            <a:endParaRPr lang="en-US" altLang="zh-CN" sz="2400" b="1" dirty="0">
              <a:latin typeface="Times New Roman" panose="02020603050405020304" pitchFamily="18" charset="0"/>
            </a:endParaRPr>
          </a:p>
        </p:txBody>
      </p:sp>
      <p:pic>
        <p:nvPicPr>
          <p:cNvPr id="48131" name="Picture 4"/>
          <p:cNvPicPr>
            <a:picLocks noChangeAspect="1"/>
          </p:cNvPicPr>
          <p:nvPr/>
        </p:nvPicPr>
        <p:blipFill>
          <a:blip r:embed="rId1"/>
          <a:stretch>
            <a:fillRect/>
          </a:stretch>
        </p:blipFill>
        <p:spPr>
          <a:xfrm>
            <a:off x="1979613" y="2513013"/>
            <a:ext cx="5327650" cy="2886075"/>
          </a:xfrm>
          <a:prstGeom prst="rect">
            <a:avLst/>
          </a:prstGeom>
          <a:noFill/>
          <a:ln w="9525">
            <a:noFill/>
          </a:ln>
        </p:spPr>
      </p:pic>
      <p:graphicFrame>
        <p:nvGraphicFramePr>
          <p:cNvPr id="48132" name="Object 10"/>
          <p:cNvGraphicFramePr>
            <a:graphicFrameLocks noGrp="1" noChangeAspect="1"/>
          </p:cNvGraphicFramePr>
          <p:nvPr>
            <p:ph sz="half" idx="2"/>
          </p:nvPr>
        </p:nvGraphicFramePr>
        <p:xfrm>
          <a:off x="4016375" y="1557338"/>
          <a:ext cx="504825" cy="477837"/>
        </p:xfrm>
        <a:graphic>
          <a:graphicData uri="http://schemas.openxmlformats.org/presentationml/2006/ole">
            <mc:AlternateContent xmlns:mc="http://schemas.openxmlformats.org/markup-compatibility/2006">
              <mc:Choice xmlns:v="urn:schemas-microsoft-com:vml" Requires="v">
                <p:oleObj spid="_x0000_s3113" name="" r:id="rId2" imgW="241300" imgH="228600" progId="Equation.3">
                  <p:embed/>
                </p:oleObj>
              </mc:Choice>
              <mc:Fallback>
                <p:oleObj name="" r:id="rId2" imgW="241300" imgH="228600" progId="Equation.3">
                  <p:embed/>
                  <p:pic>
                    <p:nvPicPr>
                      <p:cNvPr id="0" name="图片 3112"/>
                      <p:cNvPicPr/>
                      <p:nvPr/>
                    </p:nvPicPr>
                    <p:blipFill>
                      <a:blip r:embed="rId3"/>
                      <a:srcRect/>
                      <a:stretch>
                        <a:fillRect/>
                      </a:stretch>
                    </p:blipFill>
                    <p:spPr>
                      <a:xfrm>
                        <a:off x="4016375" y="1557338"/>
                        <a:ext cx="504825" cy="477837"/>
                      </a:xfrm>
                      <a:prstGeom prst="rect">
                        <a:avLst/>
                      </a:prstGeom>
                      <a:noFill/>
                      <a:ln w="38100">
                        <a:miter/>
                      </a:ln>
                    </p:spPr>
                  </p:pic>
                </p:oleObj>
              </mc:Fallback>
            </mc:AlternateContent>
          </a:graphicData>
        </a:graphic>
      </p:graphicFrame>
      <p:sp>
        <p:nvSpPr>
          <p:cNvPr id="48133"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48134" name="文本框 1"/>
          <p:cNvSpPr txBox="1"/>
          <p:nvPr/>
        </p:nvSpPr>
        <p:spPr>
          <a:xfrm>
            <a:off x="7019925" y="5788025"/>
            <a:ext cx="877888" cy="369888"/>
          </a:xfrm>
          <a:prstGeom prst="rect">
            <a:avLst/>
          </a:prstGeom>
          <a:noFill/>
          <a:ln w="9525">
            <a:noFill/>
          </a:ln>
        </p:spPr>
        <p:txBody>
          <a:bodyPr wrap="none">
            <a:spAutoFit/>
          </a:bodyPr>
          <a:p>
            <a:r>
              <a:rPr lang="zh-CN" altLang="en-US" dirty="0">
                <a:latin typeface="Arial" panose="020B0604020202020204" pitchFamily="34" charset="0"/>
              </a:rPr>
              <a:t>。。。</a:t>
            </a:r>
            <a:endParaRPr lang="zh-CN" altLang="en-US" dirty="0">
              <a:latin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ext Box 5"/>
          <p:cNvSpPr txBox="1"/>
          <p:nvPr/>
        </p:nvSpPr>
        <p:spPr>
          <a:xfrm>
            <a:off x="385763" y="5132388"/>
            <a:ext cx="5905500"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pPr>
            <a:r>
              <a:rPr lang="en-US" altLang="zh-CN" sz="2400" b="1" dirty="0">
                <a:latin typeface="Times New Roman" panose="02020603050405020304" pitchFamily="18" charset="0"/>
                <a:cs typeface="Arial" panose="020B0604020202020204" pitchFamily="34" charset="0"/>
              </a:rPr>
              <a:t>1-Ω</a:t>
            </a:r>
            <a:r>
              <a:rPr lang="zh-CN" altLang="en-US" sz="2400" b="1" dirty="0">
                <a:latin typeface="Times New Roman" panose="02020603050405020304" pitchFamily="18" charset="0"/>
                <a:cs typeface="Arial" panose="020B0604020202020204" pitchFamily="34" charset="0"/>
              </a:rPr>
              <a:t>和</a:t>
            </a:r>
            <a:r>
              <a:rPr lang="en-US" altLang="zh-CN" sz="2400" b="1" dirty="0">
                <a:latin typeface="Times New Roman" panose="02020603050405020304" pitchFamily="18" charset="0"/>
                <a:cs typeface="Arial" panose="020B0604020202020204" pitchFamily="34" charset="0"/>
              </a:rPr>
              <a:t>5-Ω</a:t>
            </a:r>
            <a:r>
              <a:rPr lang="zh-CN" altLang="en-US" sz="2400" b="1" dirty="0">
                <a:latin typeface="Times New Roman" panose="02020603050405020304" pitchFamily="18" charset="0"/>
                <a:cs typeface="Arial" panose="020B0604020202020204" pitchFamily="34" charset="0"/>
              </a:rPr>
              <a:t>电阻串联为</a:t>
            </a:r>
            <a:r>
              <a:rPr lang="en-US" altLang="zh-CN" sz="2400" b="1" dirty="0">
                <a:latin typeface="Times New Roman" panose="02020603050405020304" pitchFamily="18" charset="0"/>
                <a:cs typeface="Arial" panose="020B0604020202020204" pitchFamily="34" charset="0"/>
              </a:rPr>
              <a:t> </a:t>
            </a:r>
            <a:endParaRPr lang="en-US" altLang="zh-CN" sz="2400" b="1" dirty="0">
              <a:latin typeface="Times New Roman" panose="02020603050405020304" pitchFamily="18" charset="0"/>
              <a:ea typeface="Arial" panose="020B0604020202020204" pitchFamily="34" charset="0"/>
            </a:endParaRPr>
          </a:p>
        </p:txBody>
      </p:sp>
      <p:sp>
        <p:nvSpPr>
          <p:cNvPr id="49155" name="Text Box 10"/>
          <p:cNvSpPr txBox="1"/>
          <p:nvPr/>
        </p:nvSpPr>
        <p:spPr>
          <a:xfrm>
            <a:off x="385763" y="3146425"/>
            <a:ext cx="5330825"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ClrTx/>
              <a:buSzTx/>
            </a:pPr>
            <a:r>
              <a:rPr lang="en-US" altLang="zh-CN" sz="2400" b="1" dirty="0">
                <a:latin typeface="Times New Roman" panose="02020603050405020304" pitchFamily="18" charset="0"/>
                <a:cs typeface="Arial" panose="020B0604020202020204" pitchFamily="34" charset="0"/>
              </a:rPr>
              <a:t>12-Ω </a:t>
            </a:r>
            <a:r>
              <a:rPr lang="zh-CN" altLang="en-US" sz="2400" b="1" dirty="0">
                <a:latin typeface="Times New Roman" panose="02020603050405020304" pitchFamily="18" charset="0"/>
                <a:cs typeface="Arial" panose="020B0604020202020204" pitchFamily="34" charset="0"/>
              </a:rPr>
              <a:t>和</a:t>
            </a:r>
            <a:r>
              <a:rPr lang="en-US" altLang="zh-CN" sz="2400" b="1" dirty="0">
                <a:latin typeface="Times New Roman" panose="02020603050405020304" pitchFamily="18" charset="0"/>
                <a:cs typeface="Arial" panose="020B0604020202020204" pitchFamily="34" charset="0"/>
              </a:rPr>
              <a:t> 4-Ω</a:t>
            </a:r>
            <a:r>
              <a:rPr lang="zh-CN" altLang="en-US" sz="2400" b="1" dirty="0">
                <a:latin typeface="Times New Roman" panose="02020603050405020304" pitchFamily="18" charset="0"/>
                <a:cs typeface="Arial" panose="020B0604020202020204" pitchFamily="34" charset="0"/>
              </a:rPr>
              <a:t>电阻并联为</a:t>
            </a:r>
            <a:endParaRPr lang="en-US" altLang="zh-CN" sz="2400" b="1" dirty="0">
              <a:latin typeface="Times New Roman" panose="02020603050405020304" pitchFamily="18" charset="0"/>
              <a:ea typeface="Arial" panose="020B0604020202020204" pitchFamily="34" charset="0"/>
            </a:endParaRPr>
          </a:p>
        </p:txBody>
      </p:sp>
      <p:pic>
        <p:nvPicPr>
          <p:cNvPr id="49156" name="Picture 14"/>
          <p:cNvPicPr>
            <a:picLocks noChangeAspect="1"/>
          </p:cNvPicPr>
          <p:nvPr/>
        </p:nvPicPr>
        <p:blipFill>
          <a:blip r:embed="rId1"/>
          <a:stretch>
            <a:fillRect/>
          </a:stretch>
        </p:blipFill>
        <p:spPr>
          <a:xfrm>
            <a:off x="5116513" y="4592638"/>
            <a:ext cx="4027487" cy="2124075"/>
          </a:xfrm>
          <a:prstGeom prst="rect">
            <a:avLst/>
          </a:prstGeom>
          <a:noFill/>
          <a:ln w="9525">
            <a:noFill/>
          </a:ln>
        </p:spPr>
      </p:pic>
      <p:graphicFrame>
        <p:nvGraphicFramePr>
          <p:cNvPr id="49157" name="对象 1"/>
          <p:cNvGraphicFramePr>
            <a:graphicFrameLocks noChangeAspect="1"/>
          </p:cNvGraphicFramePr>
          <p:nvPr/>
        </p:nvGraphicFramePr>
        <p:xfrm>
          <a:off x="750888" y="1847850"/>
          <a:ext cx="4229100" cy="752475"/>
        </p:xfrm>
        <a:graphic>
          <a:graphicData uri="http://schemas.openxmlformats.org/presentationml/2006/ole">
            <mc:AlternateContent xmlns:mc="http://schemas.openxmlformats.org/markup-compatibility/2006">
              <mc:Choice xmlns:v="urn:schemas-microsoft-com:vml" Requires="v">
                <p:oleObj spid="_x0000_s3114" name="" r:id="rId2" imgW="1129665" imgH="355600" progId="Equation.DSMT4">
                  <p:embed/>
                </p:oleObj>
              </mc:Choice>
              <mc:Fallback>
                <p:oleObj name="" r:id="rId2" imgW="1129665" imgH="355600" progId="Equation.DSMT4">
                  <p:embed/>
                  <p:pic>
                    <p:nvPicPr>
                      <p:cNvPr id="0" name="图片 3113"/>
                      <p:cNvPicPr/>
                      <p:nvPr/>
                    </p:nvPicPr>
                    <p:blipFill>
                      <a:blip r:embed="rId3"/>
                      <a:stretch>
                        <a:fillRect/>
                      </a:stretch>
                    </p:blipFill>
                    <p:spPr>
                      <a:xfrm>
                        <a:off x="750888" y="1847850"/>
                        <a:ext cx="4229100" cy="752475"/>
                      </a:xfrm>
                      <a:prstGeom prst="rect">
                        <a:avLst/>
                      </a:prstGeom>
                      <a:noFill/>
                      <a:ln w="38100">
                        <a:noFill/>
                        <a:miter/>
                      </a:ln>
                    </p:spPr>
                  </p:pic>
                </p:oleObj>
              </mc:Fallback>
            </mc:AlternateContent>
          </a:graphicData>
        </a:graphic>
      </p:graphicFrame>
      <p:graphicFrame>
        <p:nvGraphicFramePr>
          <p:cNvPr id="49158" name="对象 2"/>
          <p:cNvGraphicFramePr>
            <a:graphicFrameLocks noChangeAspect="1"/>
          </p:cNvGraphicFramePr>
          <p:nvPr/>
        </p:nvGraphicFramePr>
        <p:xfrm>
          <a:off x="782638" y="3736975"/>
          <a:ext cx="5224462" cy="844550"/>
        </p:xfrm>
        <a:graphic>
          <a:graphicData uri="http://schemas.openxmlformats.org/presentationml/2006/ole">
            <mc:AlternateContent xmlns:mc="http://schemas.openxmlformats.org/markup-compatibility/2006">
              <mc:Choice xmlns:v="urn:schemas-microsoft-com:vml" Requires="v">
                <p:oleObj spid="_x0000_s3111" name="" r:id="rId4" imgW="1243965" imgH="355600" progId="Equation.DSMT4">
                  <p:embed/>
                </p:oleObj>
              </mc:Choice>
              <mc:Fallback>
                <p:oleObj name="" r:id="rId4" imgW="1243965" imgH="355600" progId="Equation.DSMT4">
                  <p:embed/>
                  <p:pic>
                    <p:nvPicPr>
                      <p:cNvPr id="0" name="图片 3110"/>
                      <p:cNvPicPr/>
                      <p:nvPr/>
                    </p:nvPicPr>
                    <p:blipFill>
                      <a:blip r:embed="rId5"/>
                      <a:stretch>
                        <a:fillRect/>
                      </a:stretch>
                    </p:blipFill>
                    <p:spPr>
                      <a:xfrm>
                        <a:off x="782638" y="3736975"/>
                        <a:ext cx="5224462" cy="844550"/>
                      </a:xfrm>
                      <a:prstGeom prst="rect">
                        <a:avLst/>
                      </a:prstGeom>
                      <a:noFill/>
                      <a:ln w="38100">
                        <a:noFill/>
                        <a:miter/>
                      </a:ln>
                    </p:spPr>
                  </p:pic>
                </p:oleObj>
              </mc:Fallback>
            </mc:AlternateContent>
          </a:graphicData>
        </a:graphic>
      </p:graphicFrame>
      <p:graphicFrame>
        <p:nvGraphicFramePr>
          <p:cNvPr id="49159" name="对象 3"/>
          <p:cNvGraphicFramePr>
            <a:graphicFrameLocks noChangeAspect="1"/>
          </p:cNvGraphicFramePr>
          <p:nvPr/>
        </p:nvGraphicFramePr>
        <p:xfrm>
          <a:off x="1214438" y="5800725"/>
          <a:ext cx="3201987" cy="401638"/>
        </p:xfrm>
        <a:graphic>
          <a:graphicData uri="http://schemas.openxmlformats.org/presentationml/2006/ole">
            <mc:AlternateContent xmlns:mc="http://schemas.openxmlformats.org/markup-compatibility/2006">
              <mc:Choice xmlns:v="urn:schemas-microsoft-com:vml" Requires="v">
                <p:oleObj spid="_x0000_s3112" name="" r:id="rId6" imgW="748030" imgH="165100" progId="Equation.DSMT4">
                  <p:embed/>
                </p:oleObj>
              </mc:Choice>
              <mc:Fallback>
                <p:oleObj name="" r:id="rId6" imgW="748030" imgH="165100" progId="Equation.DSMT4">
                  <p:embed/>
                  <p:pic>
                    <p:nvPicPr>
                      <p:cNvPr id="0" name="图片 3111"/>
                      <p:cNvPicPr/>
                      <p:nvPr/>
                    </p:nvPicPr>
                    <p:blipFill>
                      <a:blip r:embed="rId7"/>
                      <a:stretch>
                        <a:fillRect/>
                      </a:stretch>
                    </p:blipFill>
                    <p:spPr>
                      <a:xfrm>
                        <a:off x="1214438" y="5800725"/>
                        <a:ext cx="3201987" cy="401638"/>
                      </a:xfrm>
                      <a:prstGeom prst="rect">
                        <a:avLst/>
                      </a:prstGeom>
                      <a:noFill/>
                      <a:ln w="38100">
                        <a:noFill/>
                        <a:miter/>
                      </a:ln>
                    </p:spPr>
                  </p:pic>
                </p:oleObj>
              </mc:Fallback>
            </mc:AlternateContent>
          </a:graphicData>
        </a:graphic>
      </p:graphicFrame>
      <p:sp>
        <p:nvSpPr>
          <p:cNvPr id="49160"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11" name="Text Box 7"/>
          <p:cNvSpPr txBox="1">
            <a:spLocks noChangeArrowheads="1"/>
          </p:cNvSpPr>
          <p:nvPr/>
        </p:nvSpPr>
        <p:spPr bwMode="auto">
          <a:xfrm>
            <a:off x="346075" y="701675"/>
            <a:ext cx="5903913" cy="1016000"/>
          </a:xfrm>
          <a:prstGeom prst="rect">
            <a:avLst/>
          </a:prstGeom>
          <a:noFill/>
          <a:ln>
            <a:noFill/>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Arial" panose="020B0604020202020204" pitchFamily="34" charset="0"/>
              </a:rPr>
              <a:t>解</a:t>
            </a:r>
            <a:r>
              <a:rPr kumimoji="0" lang="en-US" altLang="zh-CN"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Arial" panose="020B0604020202020204" pitchFamily="34" charset="0"/>
              </a:rPr>
              <a:t>:</a:t>
            </a:r>
            <a:endParaRPr kumimoji="0" lang="en-US" altLang="zh-CN" sz="2400" b="1" i="0" u="none" strike="noStrike" kern="1200" cap="none" spc="0" normalizeH="0" baseline="0" noProof="0" dirty="0">
              <a:ln>
                <a:noFill/>
              </a:ln>
              <a:solidFill>
                <a:schemeClr val="bg2"/>
              </a:solidFill>
              <a:effectLst/>
              <a:uLnTx/>
              <a:uFillTx/>
              <a:latin typeface="Times New Roman" panose="02020603050405020304" pitchFamily="18" charset="0"/>
              <a:ea typeface="宋体" panose="02010600030101010101" pitchFamily="2" charset="-122"/>
              <a:cs typeface="Arial" panose="020B0604020202020204" pitchFamily="34" charset="0"/>
            </a:endParaRPr>
          </a:p>
          <a:p>
            <a:pPr marL="342900" marR="0" lvl="0" indent="-342900" algn="l" defTabSz="914400" rtl="0" eaLnBrk="1" fontAlgn="base" latinLnBrk="0" hangingPunct="1">
              <a:lnSpc>
                <a:spcPct val="100000"/>
              </a:lnSpc>
              <a:spcBef>
                <a:spcPct val="50000"/>
              </a:spcBef>
              <a:spcAft>
                <a:spcPct val="0"/>
              </a:spcAft>
              <a:buClrTx/>
              <a:buSzTx/>
              <a:buFont typeface="Wingdings" panose="05000000000000000000" pitchFamily="2" charset="2"/>
              <a:buChar char="n"/>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Arial" panose="020B0604020202020204" pitchFamily="34" charset="0"/>
              </a:rPr>
              <a:t>3-Ω</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Arial" panose="020B0604020202020204" pitchFamily="34" charset="0"/>
              </a:rPr>
              <a:t>和</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Arial" panose="020B0604020202020204" pitchFamily="34" charset="0"/>
              </a:rPr>
              <a:t>6-Ω</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Arial" panose="020B0604020202020204" pitchFamily="34" charset="0"/>
              </a:rPr>
              <a:t>并联等效电阻为</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Arial" panose="020B0604020202020204" pitchFamily="34" charset="0"/>
            </a:endParaRPr>
          </a:p>
        </p:txBody>
      </p:sp>
      <p:pic>
        <p:nvPicPr>
          <p:cNvPr id="49162" name="Picture 4"/>
          <p:cNvPicPr>
            <a:picLocks noChangeAspect="1"/>
          </p:cNvPicPr>
          <p:nvPr/>
        </p:nvPicPr>
        <p:blipFill>
          <a:blip r:embed="rId8"/>
          <a:stretch>
            <a:fillRect/>
          </a:stretch>
        </p:blipFill>
        <p:spPr>
          <a:xfrm>
            <a:off x="5116513" y="476250"/>
            <a:ext cx="4027487" cy="2578100"/>
          </a:xfrm>
          <a:prstGeom prst="rect">
            <a:avLst/>
          </a:prstGeom>
          <a:noFill/>
          <a:ln w="9525">
            <a:noFill/>
          </a:ln>
        </p:spPr>
      </p:pic>
      <p:sp>
        <p:nvSpPr>
          <p:cNvPr id="2" name="箭头: 下 1"/>
          <p:cNvSpPr/>
          <p:nvPr/>
        </p:nvSpPr>
        <p:spPr>
          <a:xfrm>
            <a:off x="7840663" y="3167063"/>
            <a:ext cx="214313" cy="9747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Text Box 3"/>
          <p:cNvSpPr txBox="1"/>
          <p:nvPr/>
        </p:nvSpPr>
        <p:spPr>
          <a:xfrm>
            <a:off x="684213" y="908050"/>
            <a:ext cx="7058025"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None/>
            </a:pPr>
            <a:endParaRPr lang="zh-CN" altLang="zh-CN" dirty="0">
              <a:ea typeface="Arial" panose="020B0604020202020204" pitchFamily="34" charset="0"/>
            </a:endParaRPr>
          </a:p>
        </p:txBody>
      </p:sp>
      <p:graphicFrame>
        <p:nvGraphicFramePr>
          <p:cNvPr id="50179" name="Object 4"/>
          <p:cNvGraphicFramePr>
            <a:graphicFrameLocks noGrp="1" noChangeAspect="1"/>
          </p:cNvGraphicFramePr>
          <p:nvPr>
            <p:ph sz="half" idx="1"/>
          </p:nvPr>
        </p:nvGraphicFramePr>
        <p:xfrm>
          <a:off x="1482725" y="5202238"/>
          <a:ext cx="2867025" cy="477837"/>
        </p:xfrm>
        <a:graphic>
          <a:graphicData uri="http://schemas.openxmlformats.org/presentationml/2006/ole">
            <mc:AlternateContent xmlns:mc="http://schemas.openxmlformats.org/markup-compatibility/2006">
              <mc:Choice xmlns:v="urn:schemas-microsoft-com:vml" Requires="v">
                <p:oleObj spid="_x0000_s3116" name="" r:id="rId1" imgW="1371600" imgH="228600" progId="Equation.3">
                  <p:embed/>
                </p:oleObj>
              </mc:Choice>
              <mc:Fallback>
                <p:oleObj name="" r:id="rId1" imgW="1371600" imgH="228600" progId="Equation.3">
                  <p:embed/>
                  <p:pic>
                    <p:nvPicPr>
                      <p:cNvPr id="0" name="图片 3115"/>
                      <p:cNvPicPr/>
                      <p:nvPr/>
                    </p:nvPicPr>
                    <p:blipFill>
                      <a:blip r:embed="rId2"/>
                      <a:srcRect/>
                      <a:stretch>
                        <a:fillRect/>
                      </a:stretch>
                    </p:blipFill>
                    <p:spPr>
                      <a:xfrm>
                        <a:off x="1482725" y="5202238"/>
                        <a:ext cx="2867025" cy="477837"/>
                      </a:xfrm>
                      <a:prstGeom prst="rect">
                        <a:avLst/>
                      </a:prstGeom>
                      <a:noFill/>
                      <a:ln w="38100">
                        <a:miter/>
                      </a:ln>
                    </p:spPr>
                  </p:pic>
                </p:oleObj>
              </mc:Fallback>
            </mc:AlternateContent>
          </a:graphicData>
        </a:graphic>
      </p:graphicFrame>
      <p:sp>
        <p:nvSpPr>
          <p:cNvPr id="50180" name="Text Box 5"/>
          <p:cNvSpPr txBox="1"/>
          <p:nvPr/>
        </p:nvSpPr>
        <p:spPr>
          <a:xfrm>
            <a:off x="576263" y="4533900"/>
            <a:ext cx="5580062"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None/>
            </a:pPr>
            <a:r>
              <a:rPr lang="en-US" altLang="zh-CN" sz="2400" b="1" dirty="0">
                <a:latin typeface="Times New Roman" panose="02020603050405020304" pitchFamily="18" charset="0"/>
                <a:cs typeface="Arial" panose="020B0604020202020204" pitchFamily="34" charset="0"/>
              </a:rPr>
              <a:t>1.2-</a:t>
            </a:r>
            <a:r>
              <a:rPr lang="en-US" altLang="zh-CN" sz="2400" b="1" dirty="0">
                <a:cs typeface="Arial" panose="020B0604020202020204" pitchFamily="34" charset="0"/>
              </a:rPr>
              <a:t>Ω</a:t>
            </a:r>
            <a:r>
              <a:rPr lang="zh-CN" altLang="en-US" sz="2400" b="1" dirty="0">
                <a:cs typeface="Arial" panose="020B0604020202020204" pitchFamily="34" charset="0"/>
              </a:rPr>
              <a:t>电阻</a:t>
            </a:r>
            <a:r>
              <a:rPr lang="en-US" altLang="zh-CN" sz="2400" b="1" dirty="0">
                <a:latin typeface="Times New Roman" panose="02020603050405020304" pitchFamily="18" charset="0"/>
                <a:cs typeface="Arial" panose="020B0604020202020204" pitchFamily="34" charset="0"/>
              </a:rPr>
              <a:t>10-</a:t>
            </a:r>
            <a:r>
              <a:rPr lang="en-US" altLang="zh-CN" sz="2400" b="1" dirty="0">
                <a:cs typeface="Arial" panose="020B0604020202020204" pitchFamily="34" charset="0"/>
              </a:rPr>
              <a:t>Ω</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电阻串联，故</a:t>
            </a:r>
            <a:endParaRPr lang="en-US" altLang="zh-CN" sz="2400" b="1" dirty="0">
              <a:latin typeface="Times New Roman" panose="02020603050405020304" pitchFamily="18" charset="0"/>
              <a:ea typeface="Arial" panose="020B0604020202020204" pitchFamily="34" charset="0"/>
            </a:endParaRPr>
          </a:p>
        </p:txBody>
      </p:sp>
      <p:sp>
        <p:nvSpPr>
          <p:cNvPr id="50181" name="Text Box 9"/>
          <p:cNvSpPr txBox="1"/>
          <p:nvPr/>
        </p:nvSpPr>
        <p:spPr>
          <a:xfrm>
            <a:off x="85725" y="736600"/>
            <a:ext cx="6084888"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pPr>
            <a:r>
              <a:rPr lang="en-US" altLang="zh-CN" sz="2400" b="1" dirty="0">
                <a:latin typeface="Times New Roman" panose="02020603050405020304" pitchFamily="18" charset="0"/>
                <a:cs typeface="Arial" panose="020B0604020202020204" pitchFamily="34" charset="0"/>
              </a:rPr>
              <a:t>3-</a:t>
            </a:r>
            <a:r>
              <a:rPr lang="en-US" altLang="zh-CN" sz="2400" b="1" dirty="0">
                <a:cs typeface="Arial" panose="020B0604020202020204" pitchFamily="34" charset="0"/>
              </a:rPr>
              <a:t>Ω</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电阻与</a:t>
            </a:r>
            <a:r>
              <a:rPr lang="en-US" altLang="zh-CN" sz="2400" b="1" dirty="0">
                <a:latin typeface="Times New Roman" panose="02020603050405020304" pitchFamily="18" charset="0"/>
                <a:cs typeface="Arial" panose="020B0604020202020204" pitchFamily="34" charset="0"/>
              </a:rPr>
              <a:t>6-</a:t>
            </a:r>
            <a:r>
              <a:rPr lang="en-US" altLang="zh-CN" sz="2400" b="1" dirty="0">
                <a:cs typeface="Arial" panose="020B0604020202020204" pitchFamily="34" charset="0"/>
              </a:rPr>
              <a:t>Ω</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电阻并联得：</a:t>
            </a:r>
            <a:r>
              <a:rPr lang="en-US" altLang="zh-CN" sz="2400" b="1" dirty="0">
                <a:latin typeface="Times New Roman" panose="02020603050405020304" pitchFamily="18" charset="0"/>
                <a:cs typeface="Arial" panose="020B0604020202020204" pitchFamily="34" charset="0"/>
              </a:rPr>
              <a:t>2-</a:t>
            </a:r>
            <a:r>
              <a:rPr lang="en-US" altLang="zh-CN" sz="2400" b="1" dirty="0">
                <a:cs typeface="Arial" panose="020B0604020202020204" pitchFamily="34" charset="0"/>
              </a:rPr>
              <a:t>Ω</a:t>
            </a:r>
            <a:r>
              <a:rPr lang="en-US" altLang="zh-CN" sz="2400" b="1" dirty="0">
                <a:latin typeface="Times New Roman" panose="02020603050405020304" pitchFamily="18" charset="0"/>
                <a:cs typeface="Arial" panose="020B0604020202020204" pitchFamily="34" charset="0"/>
              </a:rPr>
              <a:t>  </a:t>
            </a:r>
            <a:endParaRPr lang="en-US" altLang="zh-CN" sz="2400" b="1" dirty="0">
              <a:latin typeface="Times New Roman" panose="02020603050405020304" pitchFamily="18" charset="0"/>
              <a:ea typeface="Arial" panose="020B0604020202020204" pitchFamily="34" charset="0"/>
            </a:endParaRPr>
          </a:p>
        </p:txBody>
      </p:sp>
      <p:graphicFrame>
        <p:nvGraphicFramePr>
          <p:cNvPr id="50182" name="Object 17"/>
          <p:cNvGraphicFramePr>
            <a:graphicFrameLocks noGrp="1" noChangeAspect="1"/>
          </p:cNvGraphicFramePr>
          <p:nvPr>
            <p:ph sz="quarter" idx="2"/>
          </p:nvPr>
        </p:nvGraphicFramePr>
        <p:xfrm>
          <a:off x="755650" y="1760538"/>
          <a:ext cx="1871663" cy="374650"/>
        </p:xfrm>
        <a:graphic>
          <a:graphicData uri="http://schemas.openxmlformats.org/presentationml/2006/ole">
            <mc:AlternateContent xmlns:mc="http://schemas.openxmlformats.org/markup-compatibility/2006">
              <mc:Choice xmlns:v="urn:schemas-microsoft-com:vml" Requires="v">
                <p:oleObj spid="_x0000_s3122" name="" r:id="rId3" imgW="888365" imgH="177800" progId="Equation.3">
                  <p:embed/>
                </p:oleObj>
              </mc:Choice>
              <mc:Fallback>
                <p:oleObj name="" r:id="rId3" imgW="888365" imgH="177800" progId="Equation.3">
                  <p:embed/>
                  <p:pic>
                    <p:nvPicPr>
                      <p:cNvPr id="0" name="图片 3121"/>
                      <p:cNvPicPr/>
                      <p:nvPr/>
                    </p:nvPicPr>
                    <p:blipFill>
                      <a:blip r:embed="rId4"/>
                      <a:srcRect/>
                      <a:stretch>
                        <a:fillRect/>
                      </a:stretch>
                    </p:blipFill>
                    <p:spPr>
                      <a:xfrm>
                        <a:off x="755650" y="1760538"/>
                        <a:ext cx="1871663" cy="374650"/>
                      </a:xfrm>
                      <a:prstGeom prst="rect">
                        <a:avLst/>
                      </a:prstGeom>
                      <a:noFill/>
                      <a:ln w="38100">
                        <a:miter/>
                      </a:ln>
                    </p:spPr>
                  </p:pic>
                </p:oleObj>
              </mc:Fallback>
            </mc:AlternateContent>
          </a:graphicData>
        </a:graphic>
      </p:graphicFrame>
      <p:sp>
        <p:nvSpPr>
          <p:cNvPr id="50183" name="Text Box 18"/>
          <p:cNvSpPr txBox="1"/>
          <p:nvPr/>
        </p:nvSpPr>
        <p:spPr>
          <a:xfrm>
            <a:off x="6156325" y="6021388"/>
            <a:ext cx="1728788"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None/>
            </a:pPr>
            <a:endParaRPr lang="zh-CN" altLang="zh-CN" sz="2000" dirty="0">
              <a:latin typeface="Times New Roman" panose="02020603050405020304" pitchFamily="18" charset="0"/>
              <a:ea typeface="Arial" panose="020B0604020202020204" pitchFamily="34" charset="0"/>
            </a:endParaRPr>
          </a:p>
        </p:txBody>
      </p:sp>
      <p:pic>
        <p:nvPicPr>
          <p:cNvPr id="50184" name="Picture 20"/>
          <p:cNvPicPr>
            <a:picLocks noChangeAspect="1"/>
          </p:cNvPicPr>
          <p:nvPr/>
        </p:nvPicPr>
        <p:blipFill>
          <a:blip r:embed="rId5"/>
          <a:stretch>
            <a:fillRect/>
          </a:stretch>
        </p:blipFill>
        <p:spPr>
          <a:xfrm>
            <a:off x="5753100" y="4006850"/>
            <a:ext cx="3390900" cy="1731963"/>
          </a:xfrm>
          <a:prstGeom prst="rect">
            <a:avLst/>
          </a:prstGeom>
          <a:noFill/>
          <a:ln w="9525">
            <a:noFill/>
          </a:ln>
        </p:spPr>
      </p:pic>
      <p:graphicFrame>
        <p:nvGraphicFramePr>
          <p:cNvPr id="50185" name="对象 1"/>
          <p:cNvGraphicFramePr>
            <a:graphicFrameLocks noChangeAspect="1"/>
          </p:cNvGraphicFramePr>
          <p:nvPr/>
        </p:nvGraphicFramePr>
        <p:xfrm>
          <a:off x="539750" y="2824163"/>
          <a:ext cx="4752975" cy="782637"/>
        </p:xfrm>
        <a:graphic>
          <a:graphicData uri="http://schemas.openxmlformats.org/presentationml/2006/ole">
            <mc:AlternateContent xmlns:mc="http://schemas.openxmlformats.org/markup-compatibility/2006">
              <mc:Choice xmlns:v="urn:schemas-microsoft-com:vml" Requires="v">
                <p:oleObj spid="_x0000_s3123" name="" r:id="rId6" imgW="1218565" imgH="355600" progId="Equation.DSMT4">
                  <p:embed/>
                </p:oleObj>
              </mc:Choice>
              <mc:Fallback>
                <p:oleObj name="" r:id="rId6" imgW="1218565" imgH="355600" progId="Equation.DSMT4">
                  <p:embed/>
                  <p:pic>
                    <p:nvPicPr>
                      <p:cNvPr id="0" name="图片 3122"/>
                      <p:cNvPicPr/>
                      <p:nvPr/>
                    </p:nvPicPr>
                    <p:blipFill>
                      <a:blip r:embed="rId7"/>
                      <a:stretch>
                        <a:fillRect/>
                      </a:stretch>
                    </p:blipFill>
                    <p:spPr>
                      <a:xfrm>
                        <a:off x="539750" y="2824163"/>
                        <a:ext cx="4752975" cy="782637"/>
                      </a:xfrm>
                      <a:prstGeom prst="rect">
                        <a:avLst/>
                      </a:prstGeom>
                      <a:noFill/>
                      <a:ln w="38100">
                        <a:noFill/>
                        <a:miter/>
                      </a:ln>
                    </p:spPr>
                  </p:pic>
                </p:oleObj>
              </mc:Fallback>
            </mc:AlternateContent>
          </a:graphicData>
        </a:graphic>
      </p:graphicFrame>
      <p:sp>
        <p:nvSpPr>
          <p:cNvPr id="50186"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pic>
        <p:nvPicPr>
          <p:cNvPr id="50187" name="Picture 14"/>
          <p:cNvPicPr>
            <a:picLocks noChangeAspect="1"/>
          </p:cNvPicPr>
          <p:nvPr/>
        </p:nvPicPr>
        <p:blipFill>
          <a:blip r:embed="rId8"/>
          <a:stretch>
            <a:fillRect/>
          </a:stretch>
        </p:blipFill>
        <p:spPr>
          <a:xfrm>
            <a:off x="5054600" y="622300"/>
            <a:ext cx="4027488" cy="2124075"/>
          </a:xfrm>
          <a:prstGeom prst="rect">
            <a:avLst/>
          </a:prstGeom>
          <a:noFill/>
          <a:ln w="9525">
            <a:noFill/>
          </a:ln>
        </p:spPr>
      </p:pic>
      <p:sp>
        <p:nvSpPr>
          <p:cNvPr id="50188" name="文本框 3"/>
          <p:cNvSpPr txBox="1"/>
          <p:nvPr/>
        </p:nvSpPr>
        <p:spPr>
          <a:xfrm>
            <a:off x="173038" y="4638675"/>
            <a:ext cx="538162"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285750" lvl="0" indent="-285750">
              <a:spcBef>
                <a:spcPct val="0"/>
              </a:spcBef>
              <a:buClrTx/>
              <a:buSzTx/>
            </a:pPr>
            <a:r>
              <a:rPr lang="en-US" altLang="zh-CN" sz="1800" dirty="0"/>
              <a:t> </a:t>
            </a:r>
            <a:endParaRPr lang="zh-CN" altLang="en-US" sz="1800" dirty="0"/>
          </a:p>
        </p:txBody>
      </p:sp>
      <p:sp>
        <p:nvSpPr>
          <p:cNvPr id="50189" name="文本框 4"/>
          <p:cNvSpPr txBox="1"/>
          <p:nvPr/>
        </p:nvSpPr>
        <p:spPr>
          <a:xfrm>
            <a:off x="147638" y="1785938"/>
            <a:ext cx="536575" cy="369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285750" lvl="0" indent="-285750">
              <a:spcBef>
                <a:spcPct val="0"/>
              </a:spcBef>
              <a:buClrTx/>
              <a:buSzTx/>
            </a:pPr>
            <a:r>
              <a:rPr lang="en-US" altLang="zh-CN" sz="1800" dirty="0"/>
              <a:t> </a:t>
            </a:r>
            <a:endParaRPr lang="zh-CN" altLang="en-US" sz="1800" dirty="0"/>
          </a:p>
        </p:txBody>
      </p:sp>
      <p:sp>
        <p:nvSpPr>
          <p:cNvPr id="50190" name="文本框 5"/>
          <p:cNvSpPr txBox="1"/>
          <p:nvPr/>
        </p:nvSpPr>
        <p:spPr>
          <a:xfrm>
            <a:off x="173038" y="3041650"/>
            <a:ext cx="538162"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285750" lvl="0" indent="-285750">
              <a:spcBef>
                <a:spcPct val="0"/>
              </a:spcBef>
              <a:buClrTx/>
              <a:buSzTx/>
            </a:pPr>
            <a:r>
              <a:rPr lang="en-US" altLang="zh-CN" sz="1800" dirty="0"/>
              <a:t> </a:t>
            </a:r>
            <a:endParaRPr lang="zh-CN" altLang="en-US" sz="1800" dirty="0"/>
          </a:p>
        </p:txBody>
      </p:sp>
      <p:sp>
        <p:nvSpPr>
          <p:cNvPr id="7" name="箭头: 下 6"/>
          <p:cNvSpPr/>
          <p:nvPr/>
        </p:nvSpPr>
        <p:spPr>
          <a:xfrm>
            <a:off x="7380288" y="2924175"/>
            <a:ext cx="361950" cy="7842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51202" name="Text Box 6"/>
          <p:cNvSpPr txBox="1"/>
          <p:nvPr/>
        </p:nvSpPr>
        <p:spPr>
          <a:xfrm>
            <a:off x="468313" y="620713"/>
            <a:ext cx="4824412"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None/>
            </a:pPr>
            <a:r>
              <a:rPr lang="zh-CN" altLang="en-US" sz="2400" b="1" dirty="0">
                <a:solidFill>
                  <a:srgbClr val="FF0000"/>
                </a:solidFill>
                <a:latin typeface="Times New Roman" panose="02020603050405020304" pitchFamily="18" charset="0"/>
                <a:cs typeface="Arial" panose="020B0604020202020204" pitchFamily="34" charset="0"/>
              </a:rPr>
              <a:t>堂练：</a:t>
            </a:r>
            <a:r>
              <a:rPr lang="en-US" altLang="zh-CN" sz="2400" b="1" dirty="0">
                <a:solidFill>
                  <a:srgbClr val="FF0000"/>
                </a:solidFill>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求如图电路中的</a:t>
            </a:r>
            <a:endParaRPr lang="en-US" altLang="zh-CN" sz="2400" b="1" dirty="0">
              <a:latin typeface="Times New Roman" panose="02020603050405020304" pitchFamily="18" charset="0"/>
              <a:ea typeface="Arial" panose="020B0604020202020204" pitchFamily="34" charset="0"/>
            </a:endParaRPr>
          </a:p>
        </p:txBody>
      </p:sp>
      <p:pic>
        <p:nvPicPr>
          <p:cNvPr id="51203" name="Picture 3"/>
          <p:cNvPicPr>
            <a:picLocks noChangeAspect="1"/>
          </p:cNvPicPr>
          <p:nvPr/>
        </p:nvPicPr>
        <p:blipFill>
          <a:blip r:embed="rId1"/>
          <a:stretch>
            <a:fillRect/>
          </a:stretch>
        </p:blipFill>
        <p:spPr>
          <a:xfrm>
            <a:off x="3650933" y="1346518"/>
            <a:ext cx="5545137" cy="4362450"/>
          </a:xfrm>
          <a:prstGeom prst="rect">
            <a:avLst/>
          </a:prstGeom>
          <a:noFill/>
          <a:ln w="9525">
            <a:noFill/>
          </a:ln>
        </p:spPr>
      </p:pic>
      <p:graphicFrame>
        <p:nvGraphicFramePr>
          <p:cNvPr id="51204" name="Object 7"/>
          <p:cNvGraphicFramePr>
            <a:graphicFrameLocks noChangeAspect="1"/>
          </p:cNvGraphicFramePr>
          <p:nvPr/>
        </p:nvGraphicFramePr>
        <p:xfrm>
          <a:off x="3708400" y="620713"/>
          <a:ext cx="477838" cy="476250"/>
        </p:xfrm>
        <a:graphic>
          <a:graphicData uri="http://schemas.openxmlformats.org/presentationml/2006/ole">
            <mc:AlternateContent xmlns:mc="http://schemas.openxmlformats.org/markup-compatibility/2006">
              <mc:Choice xmlns:v="urn:schemas-microsoft-com:vml" Requires="v">
                <p:oleObj spid="_x0000_s3118" name="" r:id="rId2" imgW="228600" imgH="228600" progId="Equation.3">
                  <p:embed/>
                </p:oleObj>
              </mc:Choice>
              <mc:Fallback>
                <p:oleObj name="" r:id="rId2" imgW="228600" imgH="228600" progId="Equation.3">
                  <p:embed/>
                  <p:pic>
                    <p:nvPicPr>
                      <p:cNvPr id="0" name="图片 3117"/>
                      <p:cNvPicPr/>
                      <p:nvPr/>
                    </p:nvPicPr>
                    <p:blipFill>
                      <a:blip r:embed="rId3"/>
                      <a:stretch>
                        <a:fillRect/>
                      </a:stretch>
                    </p:blipFill>
                    <p:spPr>
                      <a:xfrm>
                        <a:off x="3708400" y="620713"/>
                        <a:ext cx="477838" cy="476250"/>
                      </a:xfrm>
                      <a:prstGeom prst="rect">
                        <a:avLst/>
                      </a:prstGeom>
                      <a:noFill/>
                      <a:ln w="38100">
                        <a:noFill/>
                        <a:miter/>
                      </a:ln>
                    </p:spPr>
                  </p:pic>
                </p:oleObj>
              </mc:Fallback>
            </mc:AlternateContent>
          </a:graphicData>
        </a:graphic>
      </p:graphicFrame>
      <p:sp>
        <p:nvSpPr>
          <p:cNvPr id="51205" name="TextBox 5"/>
          <p:cNvSpPr txBox="1"/>
          <p:nvPr/>
        </p:nvSpPr>
        <p:spPr>
          <a:xfrm>
            <a:off x="7164388" y="5013325"/>
            <a:ext cx="357187" cy="522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800" dirty="0">
                <a:latin typeface="Leelawadee" panose="020B0502040204020203" pitchFamily="34" charset="-34"/>
                <a:ea typeface="Leelawadee" panose="020B0502040204020203" pitchFamily="34" charset="-34"/>
              </a:rPr>
              <a:t>c</a:t>
            </a:r>
            <a:endParaRPr lang="zh-CN" altLang="en-US" sz="2800" dirty="0">
              <a:latin typeface="Leelawadee" panose="020B0502040204020203" pitchFamily="34" charset="-34"/>
              <a:ea typeface="Leelawadee" panose="020B0502040204020203" pitchFamily="34" charset="-34"/>
            </a:endParaRPr>
          </a:p>
        </p:txBody>
      </p:sp>
      <p:sp>
        <p:nvSpPr>
          <p:cNvPr id="51206"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2" name="文本框 1"/>
          <p:cNvSpPr txBox="1"/>
          <p:nvPr/>
        </p:nvSpPr>
        <p:spPr>
          <a:xfrm>
            <a:off x="5810885" y="585470"/>
            <a:ext cx="1353820" cy="460375"/>
          </a:xfrm>
          <a:prstGeom prst="rect">
            <a:avLst/>
          </a:prstGeom>
          <a:noFill/>
        </p:spPr>
        <p:txBody>
          <a:bodyPr wrap="none" rtlCol="0">
            <a:spAutoFit/>
          </a:bodyPr>
          <a:p>
            <a:pPr algn="l"/>
            <a:r>
              <a:rPr lang="zh-CN" altLang="en-US" sz="2400" b="1" dirty="0">
                <a:solidFill>
                  <a:srgbClr val="FF0000"/>
                </a:solidFill>
                <a:latin typeface="Times New Roman" panose="02020603050405020304" pitchFamily="18" charset="0"/>
                <a:cs typeface="Arial" panose="020B0604020202020204" pitchFamily="34" charset="0"/>
                <a:sym typeface="+mn-ea"/>
              </a:rPr>
              <a:t>练习</a:t>
            </a:r>
            <a:r>
              <a:rPr lang="en-US" altLang="zh-CN" sz="2400" b="1" dirty="0">
                <a:solidFill>
                  <a:srgbClr val="FF0000"/>
                </a:solidFill>
                <a:latin typeface="Times New Roman" panose="02020603050405020304" pitchFamily="18" charset="0"/>
                <a:cs typeface="Arial" panose="020B0604020202020204" pitchFamily="34" charset="0"/>
                <a:sym typeface="+mn-ea"/>
              </a:rPr>
              <a:t>2-10</a:t>
            </a:r>
            <a:endParaRPr lang="en-US" altLang="zh-CN" sz="2400" b="1" dirty="0">
              <a:latin typeface="Times New Roman" panose="02020603050405020304" pitchFamily="18" charset="0"/>
              <a:ea typeface="Arial" panose="020B0604020202020204" pitchFamily="34" charset="0"/>
            </a:endParaRPr>
          </a:p>
        </p:txBody>
      </p:sp>
      <p:sp>
        <p:nvSpPr>
          <p:cNvPr id="3" name="文本框 2"/>
          <p:cNvSpPr txBox="1"/>
          <p:nvPr/>
        </p:nvSpPr>
        <p:spPr>
          <a:xfrm>
            <a:off x="387985" y="1835150"/>
            <a:ext cx="3605530" cy="4892675"/>
          </a:xfrm>
          <a:prstGeom prst="rect">
            <a:avLst/>
          </a:prstGeom>
          <a:noFill/>
        </p:spPr>
        <p:txBody>
          <a:bodyPr wrap="square" rtlCol="0">
            <a:spAutoFit/>
          </a:bodyPr>
          <a:p>
            <a:r>
              <a:rPr lang="zh-CN" altLang="en-US" sz="2400"/>
              <a:t>解：</a:t>
            </a:r>
            <a:r>
              <a:rPr lang="en-US" altLang="zh-CN" sz="2400"/>
              <a:t>(5x20)/(5+20)=4</a:t>
            </a:r>
            <a:endParaRPr lang="en-US" altLang="zh-CN" sz="2400"/>
          </a:p>
          <a:p>
            <a:endParaRPr lang="en-US" altLang="zh-CN" sz="2400"/>
          </a:p>
          <a:p>
            <a:r>
              <a:rPr lang="zh-CN" altLang="en-US" sz="2400">
                <a:sym typeface="+mn-ea"/>
              </a:rPr>
              <a:t>（</a:t>
            </a:r>
            <a:r>
              <a:rPr lang="en-US" altLang="zh-CN" sz="2400">
                <a:sym typeface="+mn-ea"/>
              </a:rPr>
              <a:t>4+1</a:t>
            </a:r>
            <a:r>
              <a:rPr lang="zh-CN" altLang="en-US" sz="2400">
                <a:sym typeface="+mn-ea"/>
              </a:rPr>
              <a:t>）</a:t>
            </a:r>
            <a:r>
              <a:rPr lang="en-US" altLang="zh-CN" sz="2400">
                <a:sym typeface="+mn-ea"/>
              </a:rPr>
              <a:t>x20/(5+20)=4;</a:t>
            </a:r>
            <a:endParaRPr lang="en-US" altLang="zh-CN" sz="2400">
              <a:sym typeface="+mn-ea"/>
            </a:endParaRPr>
          </a:p>
          <a:p>
            <a:endParaRPr lang="en-US" altLang="zh-CN" sz="2400">
              <a:sym typeface="+mn-ea"/>
            </a:endParaRPr>
          </a:p>
          <a:p>
            <a:r>
              <a:rPr lang="en-US" altLang="zh-CN" sz="2400">
                <a:sym typeface="+mn-ea"/>
              </a:rPr>
              <a:t>4+2=6</a:t>
            </a:r>
            <a:endParaRPr lang="en-US" altLang="zh-CN" sz="2400">
              <a:sym typeface="+mn-ea"/>
            </a:endParaRPr>
          </a:p>
          <a:p>
            <a:endParaRPr lang="en-US" altLang="zh-CN" sz="2400">
              <a:sym typeface="+mn-ea"/>
            </a:endParaRPr>
          </a:p>
          <a:p>
            <a:r>
              <a:rPr lang="en-US" altLang="zh-CN" sz="2400">
                <a:sym typeface="+mn-ea"/>
              </a:rPr>
              <a:t>(9x18)/(9+18)=6</a:t>
            </a:r>
            <a:endParaRPr lang="en-US" altLang="zh-CN" sz="2400">
              <a:sym typeface="+mn-ea"/>
            </a:endParaRPr>
          </a:p>
          <a:p>
            <a:endParaRPr lang="en-US" altLang="zh-CN" sz="2400">
              <a:sym typeface="+mn-ea"/>
            </a:endParaRPr>
          </a:p>
          <a:p>
            <a:r>
              <a:rPr lang="en-US" altLang="zh-CN" sz="2400">
                <a:sym typeface="+mn-ea"/>
              </a:rPr>
              <a:t>(6x6)/(6+6)=3</a:t>
            </a:r>
            <a:endParaRPr lang="en-US" altLang="zh-CN" sz="2400">
              <a:sym typeface="+mn-ea"/>
            </a:endParaRPr>
          </a:p>
          <a:p>
            <a:endParaRPr lang="en-US" altLang="zh-CN" sz="2400">
              <a:sym typeface="+mn-ea"/>
            </a:endParaRPr>
          </a:p>
          <a:p>
            <a:r>
              <a:rPr lang="en-US" altLang="zh-CN" sz="2400">
                <a:sym typeface="+mn-ea"/>
              </a:rPr>
              <a:t>8+3=11 (</a:t>
            </a:r>
            <a:r>
              <a:rPr lang="zh-CN" altLang="zh-CN" sz="2400">
                <a:sym typeface="+mn-ea"/>
              </a:rPr>
              <a:t>欧姆）</a:t>
            </a:r>
            <a:endParaRPr lang="en-US" altLang="zh-CN" sz="2400"/>
          </a:p>
          <a:p>
            <a:endParaRPr lang="en-US" altLang="zh-CN" sz="2400"/>
          </a:p>
          <a:p>
            <a:endParaRPr lang="en-US" altLang="zh-CN" sz="240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Text Box 5"/>
          <p:cNvSpPr txBox="1"/>
          <p:nvPr/>
        </p:nvSpPr>
        <p:spPr>
          <a:xfrm>
            <a:off x="196850" y="649288"/>
            <a:ext cx="9074150" cy="2676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None/>
            </a:pPr>
            <a:r>
              <a:rPr lang="zh-CN" altLang="en-US" sz="2400" b="1" dirty="0">
                <a:solidFill>
                  <a:srgbClr val="FF0000"/>
                </a:solidFill>
                <a:latin typeface="Times New Roman" panose="02020603050405020304" pitchFamily="18" charset="0"/>
                <a:cs typeface="Arial" panose="020B0604020202020204" pitchFamily="34" charset="0"/>
              </a:rPr>
              <a:t>例</a:t>
            </a:r>
            <a:r>
              <a:rPr lang="en-US" altLang="zh-CN" sz="2400" b="1" dirty="0">
                <a:solidFill>
                  <a:srgbClr val="FF0000"/>
                </a:solidFill>
                <a:latin typeface="Times New Roman" panose="02020603050405020304" pitchFamily="18" charset="0"/>
                <a:cs typeface="Arial" panose="020B0604020202020204" pitchFamily="34" charset="0"/>
              </a:rPr>
              <a:t>2-11</a:t>
            </a:r>
            <a:r>
              <a:rPr lang="zh-CN" altLang="en-US" sz="2400" b="1" dirty="0">
                <a:solidFill>
                  <a:srgbClr val="FF0000"/>
                </a:solidFill>
                <a:latin typeface="Times New Roman" panose="02020603050405020304" pitchFamily="18" charset="0"/>
                <a:cs typeface="Arial" panose="020B0604020202020204" pitchFamily="34" charset="0"/>
              </a:rPr>
              <a:t>：</a:t>
            </a:r>
            <a:endParaRPr lang="en-US" altLang="zh-CN" sz="2400" b="1" dirty="0">
              <a:solidFill>
                <a:srgbClr val="FF0000"/>
              </a:solidFill>
              <a:latin typeface="Times New Roman" panose="02020603050405020304" pitchFamily="18" charset="0"/>
              <a:cs typeface="Arial" panose="020B0604020202020204" pitchFamily="34" charset="0"/>
            </a:endParaRPr>
          </a:p>
          <a:p>
            <a:pPr marL="342900" lvl="0" indent="-342900" eaLnBrk="1" hangingPunct="1">
              <a:spcBef>
                <a:spcPct val="50000"/>
              </a:spcBef>
              <a:buNone/>
            </a:pPr>
            <a:r>
              <a:rPr lang="zh-CN" altLang="en-US" sz="2400" b="1" dirty="0">
                <a:latin typeface="Times New Roman" panose="02020603050405020304" pitchFamily="18" charset="0"/>
                <a:cs typeface="Arial" panose="020B0604020202020204" pitchFamily="34" charset="0"/>
              </a:rPr>
              <a:t>求出如图电路中的</a:t>
            </a:r>
            <a:r>
              <a:rPr lang="zh-CN" altLang="en-US" sz="2400" b="1" dirty="0">
                <a:solidFill>
                  <a:srgbClr val="0000FF"/>
                </a:solidFill>
                <a:latin typeface="Times New Roman" panose="02020603050405020304" pitchFamily="18" charset="0"/>
                <a:cs typeface="Arial" panose="020B0604020202020204" pitchFamily="34" charset="0"/>
              </a:rPr>
              <a:t>等效电导</a:t>
            </a:r>
            <a:endParaRPr lang="en-US" altLang="zh-CN" sz="2400" b="1" dirty="0">
              <a:solidFill>
                <a:srgbClr val="0000FF"/>
              </a:solidFill>
              <a:latin typeface="Times New Roman" panose="02020603050405020304" pitchFamily="18" charset="0"/>
              <a:cs typeface="Arial" panose="020B0604020202020204" pitchFamily="34" charset="0"/>
            </a:endParaRPr>
          </a:p>
          <a:p>
            <a:pPr marL="342900" lvl="0" indent="-342900" eaLnBrk="1" hangingPunct="1">
              <a:spcBef>
                <a:spcPct val="50000"/>
              </a:spcBef>
              <a:buNone/>
            </a:pPr>
            <a:endParaRPr lang="en-US" altLang="zh-CN" sz="2400" b="1" dirty="0">
              <a:solidFill>
                <a:schemeClr val="bg2"/>
              </a:solidFill>
              <a:latin typeface="Times New Roman" panose="02020603050405020304" pitchFamily="18" charset="0"/>
              <a:cs typeface="Arial" panose="020B0604020202020204" pitchFamily="34" charset="0"/>
            </a:endParaRPr>
          </a:p>
          <a:p>
            <a:pPr marL="342900" lvl="0" indent="-342900" eaLnBrk="1" hangingPunct="1">
              <a:spcBef>
                <a:spcPct val="50000"/>
              </a:spcBef>
              <a:buNone/>
            </a:pPr>
            <a:endParaRPr lang="en-US" altLang="zh-CN" sz="2400" b="1" dirty="0">
              <a:solidFill>
                <a:schemeClr val="bg2"/>
              </a:solidFill>
              <a:latin typeface="Times New Roman" panose="02020603050405020304" pitchFamily="18" charset="0"/>
              <a:cs typeface="Arial" panose="020B0604020202020204" pitchFamily="34" charset="0"/>
            </a:endParaRPr>
          </a:p>
          <a:p>
            <a:pPr marL="342900" lvl="0" indent="-342900" eaLnBrk="1" hangingPunct="1">
              <a:spcBef>
                <a:spcPct val="50000"/>
              </a:spcBef>
              <a:buNone/>
            </a:pPr>
            <a:r>
              <a:rPr lang="zh-CN" altLang="en-US" sz="2400" b="1" dirty="0">
                <a:solidFill>
                  <a:schemeClr val="bg2"/>
                </a:solidFill>
                <a:latin typeface="Times New Roman" panose="02020603050405020304" pitchFamily="18" charset="0"/>
                <a:cs typeface="Arial" panose="020B0604020202020204" pitchFamily="34" charset="0"/>
              </a:rPr>
              <a:t>   解</a:t>
            </a:r>
            <a:r>
              <a:rPr lang="en-US" altLang="zh-CN" sz="2400" b="1" dirty="0">
                <a:solidFill>
                  <a:schemeClr val="bg2"/>
                </a:solidFill>
                <a:latin typeface="Times New Roman" panose="02020603050405020304" pitchFamily="18" charset="0"/>
                <a:cs typeface="Arial" panose="020B0604020202020204" pitchFamily="34" charset="0"/>
              </a:rPr>
              <a:t>1</a:t>
            </a:r>
            <a:r>
              <a:rPr lang="zh-CN" altLang="en-US" sz="2400" b="1" dirty="0">
                <a:solidFill>
                  <a:schemeClr val="bg2"/>
                </a:solidFill>
                <a:latin typeface="Times New Roman" panose="02020603050405020304" pitchFamily="18" charset="0"/>
                <a:cs typeface="Arial" panose="020B0604020202020204" pitchFamily="34" charset="0"/>
              </a:rPr>
              <a:t>（用电导计算）</a:t>
            </a:r>
            <a:r>
              <a:rPr lang="en-US" altLang="zh-CN" sz="2400" b="1" dirty="0">
                <a:solidFill>
                  <a:schemeClr val="bg2"/>
                </a:solidFill>
                <a:latin typeface="Times New Roman" panose="02020603050405020304" pitchFamily="18" charset="0"/>
                <a:cs typeface="Arial" panose="020B0604020202020204" pitchFamily="34" charset="0"/>
              </a:rPr>
              <a:t>:</a:t>
            </a:r>
            <a:endParaRPr lang="en-US" altLang="zh-CN" sz="2400" b="1" dirty="0">
              <a:solidFill>
                <a:schemeClr val="bg2"/>
              </a:solidFill>
              <a:latin typeface="Times New Roman" panose="02020603050405020304" pitchFamily="18" charset="0"/>
              <a:ea typeface="Arial" panose="020B0604020202020204" pitchFamily="34" charset="0"/>
            </a:endParaRPr>
          </a:p>
        </p:txBody>
      </p:sp>
      <p:graphicFrame>
        <p:nvGraphicFramePr>
          <p:cNvPr id="52227" name="Object 2"/>
          <p:cNvGraphicFramePr>
            <a:graphicFrameLocks noGrp="1" noChangeAspect="1"/>
          </p:cNvGraphicFramePr>
          <p:nvPr>
            <p:ph sz="quarter" idx="1"/>
          </p:nvPr>
        </p:nvGraphicFramePr>
        <p:xfrm>
          <a:off x="1331913" y="3411538"/>
          <a:ext cx="2160587" cy="393700"/>
        </p:xfrm>
        <a:graphic>
          <a:graphicData uri="http://schemas.openxmlformats.org/presentationml/2006/ole">
            <mc:AlternateContent xmlns:mc="http://schemas.openxmlformats.org/markup-compatibility/2006">
              <mc:Choice xmlns:v="urn:schemas-microsoft-com:vml" Requires="v">
                <p:oleObj spid="_x0000_s3117" name="" r:id="rId1" imgW="977265" imgH="177800" progId="Equation.3">
                  <p:embed/>
                </p:oleObj>
              </mc:Choice>
              <mc:Fallback>
                <p:oleObj name="" r:id="rId1" imgW="977265" imgH="177800" progId="Equation.3">
                  <p:embed/>
                  <p:pic>
                    <p:nvPicPr>
                      <p:cNvPr id="0" name="图片 3116"/>
                      <p:cNvPicPr/>
                      <p:nvPr/>
                    </p:nvPicPr>
                    <p:blipFill>
                      <a:blip r:embed="rId2"/>
                      <a:srcRect/>
                      <a:stretch>
                        <a:fillRect/>
                      </a:stretch>
                    </p:blipFill>
                    <p:spPr>
                      <a:xfrm>
                        <a:off x="1331913" y="3411538"/>
                        <a:ext cx="2160587" cy="393700"/>
                      </a:xfrm>
                      <a:prstGeom prst="rect">
                        <a:avLst/>
                      </a:prstGeom>
                      <a:noFill/>
                      <a:ln w="38100">
                        <a:miter/>
                      </a:ln>
                    </p:spPr>
                  </p:pic>
                </p:oleObj>
              </mc:Fallback>
            </mc:AlternateContent>
          </a:graphicData>
        </a:graphic>
      </p:graphicFrame>
      <p:graphicFrame>
        <p:nvGraphicFramePr>
          <p:cNvPr id="52228" name="Object 3"/>
          <p:cNvGraphicFramePr>
            <a:graphicFrameLocks noGrp="1" noChangeAspect="1"/>
          </p:cNvGraphicFramePr>
          <p:nvPr>
            <p:ph sz="quarter" idx="2"/>
          </p:nvPr>
        </p:nvGraphicFramePr>
        <p:xfrm>
          <a:off x="4014788" y="1257300"/>
          <a:ext cx="473075" cy="473075"/>
        </p:xfrm>
        <a:graphic>
          <a:graphicData uri="http://schemas.openxmlformats.org/presentationml/2006/ole">
            <mc:AlternateContent xmlns:mc="http://schemas.openxmlformats.org/markup-compatibility/2006">
              <mc:Choice xmlns:v="urn:schemas-microsoft-com:vml" Requires="v">
                <p:oleObj spid="_x0000_s3119" name="" r:id="rId3" imgW="241300" imgH="241300" progId="Equation.3">
                  <p:embed/>
                </p:oleObj>
              </mc:Choice>
              <mc:Fallback>
                <p:oleObj name="" r:id="rId3" imgW="241300" imgH="241300" progId="Equation.3">
                  <p:embed/>
                  <p:pic>
                    <p:nvPicPr>
                      <p:cNvPr id="0" name="图片 3118"/>
                      <p:cNvPicPr/>
                      <p:nvPr/>
                    </p:nvPicPr>
                    <p:blipFill>
                      <a:blip r:embed="rId4"/>
                      <a:srcRect/>
                      <a:stretch>
                        <a:fillRect/>
                      </a:stretch>
                    </p:blipFill>
                    <p:spPr>
                      <a:xfrm>
                        <a:off x="4014788" y="1257300"/>
                        <a:ext cx="473075" cy="473075"/>
                      </a:xfrm>
                      <a:prstGeom prst="rect">
                        <a:avLst/>
                      </a:prstGeom>
                      <a:noFill/>
                      <a:ln w="38100">
                        <a:miter/>
                      </a:ln>
                    </p:spPr>
                  </p:pic>
                </p:oleObj>
              </mc:Fallback>
            </mc:AlternateContent>
          </a:graphicData>
        </a:graphic>
      </p:graphicFrame>
      <p:graphicFrame>
        <p:nvGraphicFramePr>
          <p:cNvPr id="52229" name="Object 4"/>
          <p:cNvGraphicFramePr>
            <a:graphicFrameLocks noGrp="1" noChangeAspect="1"/>
          </p:cNvGraphicFramePr>
          <p:nvPr>
            <p:ph sz="quarter" idx="3"/>
          </p:nvPr>
        </p:nvGraphicFramePr>
        <p:xfrm>
          <a:off x="1296988" y="4198938"/>
          <a:ext cx="2901950" cy="779462"/>
        </p:xfrm>
        <a:graphic>
          <a:graphicData uri="http://schemas.openxmlformats.org/presentationml/2006/ole">
            <mc:AlternateContent xmlns:mc="http://schemas.openxmlformats.org/markup-compatibility/2006">
              <mc:Choice xmlns:v="urn:schemas-microsoft-com:vml" Requires="v">
                <p:oleObj spid="_x0000_s3120" name="" r:id="rId5" imgW="748665" imgH="393700" progId="Equation.3">
                  <p:embed/>
                </p:oleObj>
              </mc:Choice>
              <mc:Fallback>
                <p:oleObj name="" r:id="rId5" imgW="748665" imgH="393700" progId="Equation.3">
                  <p:embed/>
                  <p:pic>
                    <p:nvPicPr>
                      <p:cNvPr id="0" name="图片 3119"/>
                      <p:cNvPicPr/>
                      <p:nvPr/>
                    </p:nvPicPr>
                    <p:blipFill>
                      <a:blip r:embed="rId6"/>
                      <a:srcRect/>
                      <a:stretch>
                        <a:fillRect/>
                      </a:stretch>
                    </p:blipFill>
                    <p:spPr>
                      <a:xfrm>
                        <a:off x="1296988" y="4198938"/>
                        <a:ext cx="2901950" cy="779462"/>
                      </a:xfrm>
                      <a:prstGeom prst="rect">
                        <a:avLst/>
                      </a:prstGeom>
                      <a:noFill/>
                      <a:ln w="38100">
                        <a:miter/>
                      </a:ln>
                    </p:spPr>
                  </p:pic>
                </p:oleObj>
              </mc:Fallback>
            </mc:AlternateContent>
          </a:graphicData>
        </a:graphic>
      </p:graphicFrame>
      <p:graphicFrame>
        <p:nvGraphicFramePr>
          <p:cNvPr id="52230" name="Object 6"/>
          <p:cNvGraphicFramePr>
            <a:graphicFrameLocks noGrp="1" noChangeAspect="1"/>
          </p:cNvGraphicFramePr>
          <p:nvPr>
            <p:ph sz="quarter" idx="4"/>
          </p:nvPr>
        </p:nvGraphicFramePr>
        <p:xfrm>
          <a:off x="1403350" y="5367338"/>
          <a:ext cx="2160588" cy="482600"/>
        </p:xfrm>
        <a:graphic>
          <a:graphicData uri="http://schemas.openxmlformats.org/presentationml/2006/ole">
            <mc:AlternateContent xmlns:mc="http://schemas.openxmlformats.org/markup-compatibility/2006">
              <mc:Choice xmlns:v="urn:schemas-microsoft-com:vml" Requires="v">
                <p:oleObj spid="_x0000_s3121" name="" r:id="rId7" imgW="1078865" imgH="241300" progId="Equation.3">
                  <p:embed/>
                </p:oleObj>
              </mc:Choice>
              <mc:Fallback>
                <p:oleObj name="" r:id="rId7" imgW="1078865" imgH="241300" progId="Equation.3">
                  <p:embed/>
                  <p:pic>
                    <p:nvPicPr>
                      <p:cNvPr id="0" name="图片 3120"/>
                      <p:cNvPicPr/>
                      <p:nvPr/>
                    </p:nvPicPr>
                    <p:blipFill>
                      <a:blip r:embed="rId8"/>
                      <a:srcRect/>
                      <a:stretch>
                        <a:fillRect/>
                      </a:stretch>
                    </p:blipFill>
                    <p:spPr>
                      <a:xfrm>
                        <a:off x="1403350" y="5367338"/>
                        <a:ext cx="2160588" cy="482600"/>
                      </a:xfrm>
                      <a:prstGeom prst="rect">
                        <a:avLst/>
                      </a:prstGeom>
                      <a:noFill/>
                      <a:ln w="38100">
                        <a:miter/>
                      </a:ln>
                    </p:spPr>
                  </p:pic>
                </p:oleObj>
              </mc:Fallback>
            </mc:AlternateContent>
          </a:graphicData>
        </a:graphic>
      </p:graphicFrame>
      <p:pic>
        <p:nvPicPr>
          <p:cNvPr id="52231" name="Picture 10"/>
          <p:cNvPicPr>
            <a:picLocks noChangeAspect="1"/>
          </p:cNvPicPr>
          <p:nvPr/>
        </p:nvPicPr>
        <p:blipFill>
          <a:blip r:embed="rId9"/>
          <a:stretch>
            <a:fillRect/>
          </a:stretch>
        </p:blipFill>
        <p:spPr>
          <a:xfrm>
            <a:off x="5435600" y="981075"/>
            <a:ext cx="3282950" cy="1852613"/>
          </a:xfrm>
          <a:prstGeom prst="rect">
            <a:avLst/>
          </a:prstGeom>
          <a:noFill/>
          <a:ln w="9525">
            <a:noFill/>
          </a:ln>
        </p:spPr>
      </p:pic>
      <p:pic>
        <p:nvPicPr>
          <p:cNvPr id="52232" name="Picture 13"/>
          <p:cNvPicPr>
            <a:picLocks noChangeAspect="1"/>
          </p:cNvPicPr>
          <p:nvPr/>
        </p:nvPicPr>
        <p:blipFill>
          <a:blip r:embed="rId10"/>
          <a:stretch>
            <a:fillRect/>
          </a:stretch>
        </p:blipFill>
        <p:spPr>
          <a:xfrm>
            <a:off x="5478463" y="4191000"/>
            <a:ext cx="3240087" cy="1774825"/>
          </a:xfrm>
          <a:prstGeom prst="rect">
            <a:avLst/>
          </a:prstGeom>
          <a:noFill/>
          <a:ln w="9525">
            <a:noFill/>
          </a:ln>
        </p:spPr>
      </p:pic>
      <p:sp>
        <p:nvSpPr>
          <p:cNvPr id="52233" name="灯片编号占位符 2"/>
          <p:cNvSpPr txBox="1">
            <a:spLocks noGrp="1"/>
          </p:cNvSpPr>
          <p:nvPr>
            <p:ph type="sldNum" sz="quarter" idx="11"/>
          </p:nvPr>
        </p:nvSpPr>
        <p:spPr>
          <a:xfrm>
            <a:off x="6784975" y="6208713"/>
            <a:ext cx="2133600" cy="457200"/>
          </a:xfrm>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4274" name="Object 3"/>
          <p:cNvGraphicFramePr>
            <a:graphicFrameLocks noChangeAspect="1"/>
          </p:cNvGraphicFramePr>
          <p:nvPr/>
        </p:nvGraphicFramePr>
        <p:xfrm>
          <a:off x="5981700" y="2465388"/>
          <a:ext cx="2238375" cy="979487"/>
        </p:xfrm>
        <a:graphic>
          <a:graphicData uri="http://schemas.openxmlformats.org/presentationml/2006/ole">
            <mc:AlternateContent xmlns:mc="http://schemas.openxmlformats.org/markup-compatibility/2006">
              <mc:Choice xmlns:v="urn:schemas-microsoft-com:vml" Requires="v">
                <p:oleObj spid="_x0000_s3124" name="" r:id="rId1" imgW="1015365" imgH="444500" progId="Equation.3">
                  <p:embed/>
                </p:oleObj>
              </mc:Choice>
              <mc:Fallback>
                <p:oleObj name="" r:id="rId1" imgW="1015365" imgH="444500" progId="Equation.3">
                  <p:embed/>
                  <p:pic>
                    <p:nvPicPr>
                      <p:cNvPr id="0" name="图片 3123"/>
                      <p:cNvPicPr/>
                      <p:nvPr/>
                    </p:nvPicPr>
                    <p:blipFill>
                      <a:blip r:embed="rId2"/>
                      <a:stretch>
                        <a:fillRect/>
                      </a:stretch>
                    </p:blipFill>
                    <p:spPr>
                      <a:xfrm>
                        <a:off x="5981700" y="2465388"/>
                        <a:ext cx="2238375" cy="979487"/>
                      </a:xfrm>
                      <a:prstGeom prst="rect">
                        <a:avLst/>
                      </a:prstGeom>
                      <a:noFill/>
                      <a:ln w="38100">
                        <a:noFill/>
                        <a:miter/>
                      </a:ln>
                    </p:spPr>
                  </p:pic>
                </p:oleObj>
              </mc:Fallback>
            </mc:AlternateContent>
          </a:graphicData>
        </a:graphic>
      </p:graphicFrame>
      <p:sp>
        <p:nvSpPr>
          <p:cNvPr id="54275" name="Text Box 4"/>
          <p:cNvSpPr txBox="1"/>
          <p:nvPr/>
        </p:nvSpPr>
        <p:spPr>
          <a:xfrm>
            <a:off x="434975" y="531813"/>
            <a:ext cx="8251825"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buNone/>
            </a:pPr>
            <a:r>
              <a:rPr lang="zh-CN" altLang="en-US" sz="2400" b="1" dirty="0">
                <a:solidFill>
                  <a:srgbClr val="002060"/>
                </a:solidFill>
                <a:latin typeface="Times New Roman" panose="02020603050405020304" pitchFamily="18" charset="0"/>
                <a:cs typeface="Arial" panose="020B0604020202020204" pitchFamily="34" charset="0"/>
              </a:rPr>
              <a:t>解</a:t>
            </a:r>
            <a:r>
              <a:rPr lang="en-US" altLang="zh-CN" sz="2400" b="1" dirty="0">
                <a:solidFill>
                  <a:srgbClr val="002060"/>
                </a:solidFill>
                <a:latin typeface="Times New Roman" panose="02020603050405020304" pitchFamily="18" charset="0"/>
                <a:cs typeface="Arial" panose="020B0604020202020204" pitchFamily="34" charset="0"/>
              </a:rPr>
              <a:t>2</a:t>
            </a:r>
            <a:r>
              <a:rPr lang="zh-CN" altLang="en-US" sz="2400" b="1" dirty="0">
                <a:solidFill>
                  <a:schemeClr val="bg2"/>
                </a:solidFill>
                <a:latin typeface="Times New Roman" panose="02020603050405020304" pitchFamily="18" charset="0"/>
                <a:cs typeface="Arial" panose="020B0604020202020204" pitchFamily="34" charset="0"/>
              </a:rPr>
              <a:t> （用电阻计算） </a:t>
            </a:r>
            <a:r>
              <a:rPr lang="zh-CN" altLang="en-US" sz="2400" b="1" dirty="0">
                <a:solidFill>
                  <a:srgbClr val="002060"/>
                </a:solidFill>
                <a:latin typeface="Times New Roman" panose="02020603050405020304" pitchFamily="18" charset="0"/>
                <a:cs typeface="Arial" panose="020B0604020202020204" pitchFamily="34" charset="0"/>
              </a:rPr>
              <a:t>：</a:t>
            </a:r>
            <a:endParaRPr lang="en-US" altLang="zh-CN" sz="2400" b="1" dirty="0">
              <a:latin typeface="Times New Roman" panose="02020603050405020304" pitchFamily="18" charset="0"/>
              <a:ea typeface="Arial" panose="020B0604020202020204" pitchFamily="34" charset="0"/>
            </a:endParaRPr>
          </a:p>
        </p:txBody>
      </p:sp>
      <p:pic>
        <p:nvPicPr>
          <p:cNvPr id="54276" name="Picture 5"/>
          <p:cNvPicPr>
            <a:picLocks noChangeAspect="1"/>
          </p:cNvPicPr>
          <p:nvPr/>
        </p:nvPicPr>
        <p:blipFill>
          <a:blip r:embed="rId3"/>
          <a:stretch>
            <a:fillRect/>
          </a:stretch>
        </p:blipFill>
        <p:spPr>
          <a:xfrm>
            <a:off x="5326063" y="3727450"/>
            <a:ext cx="3282950" cy="2197100"/>
          </a:xfrm>
          <a:prstGeom prst="rect">
            <a:avLst/>
          </a:prstGeom>
          <a:noFill/>
          <a:ln w="9525">
            <a:noFill/>
          </a:ln>
        </p:spPr>
      </p:pic>
      <p:grpSp>
        <p:nvGrpSpPr>
          <p:cNvPr id="54277" name="Group 10"/>
          <p:cNvGrpSpPr/>
          <p:nvPr/>
        </p:nvGrpSpPr>
        <p:grpSpPr>
          <a:xfrm>
            <a:off x="515938" y="1174750"/>
            <a:ext cx="5946775" cy="2446338"/>
            <a:chOff x="313" y="1117"/>
            <a:chExt cx="4744" cy="1883"/>
          </a:xfrm>
        </p:grpSpPr>
        <p:graphicFrame>
          <p:nvGraphicFramePr>
            <p:cNvPr id="54282" name="Object 7"/>
            <p:cNvGraphicFramePr>
              <a:graphicFrameLocks noChangeAspect="1"/>
            </p:cNvGraphicFramePr>
            <p:nvPr/>
          </p:nvGraphicFramePr>
          <p:xfrm>
            <a:off x="313" y="1117"/>
            <a:ext cx="4744" cy="581"/>
          </p:xfrm>
          <a:graphic>
            <a:graphicData uri="http://schemas.openxmlformats.org/presentationml/2006/ole">
              <mc:AlternateContent xmlns:mc="http://schemas.openxmlformats.org/markup-compatibility/2006">
                <mc:Choice xmlns:v="urn:schemas-microsoft-com:vml" Requires="v">
                  <p:oleObj spid="_x0000_s3129" name="" r:id="rId4" imgW="3733800" imgH="457200" progId="Equation.3">
                    <p:embed/>
                  </p:oleObj>
                </mc:Choice>
                <mc:Fallback>
                  <p:oleObj name="" r:id="rId4" imgW="3733800" imgH="457200" progId="Equation.3">
                    <p:embed/>
                    <p:pic>
                      <p:nvPicPr>
                        <p:cNvPr id="0" name="图片 3128"/>
                        <p:cNvPicPr/>
                        <p:nvPr/>
                      </p:nvPicPr>
                      <p:blipFill>
                        <a:blip r:embed="rId5"/>
                        <a:stretch>
                          <a:fillRect/>
                        </a:stretch>
                      </p:blipFill>
                      <p:spPr>
                        <a:xfrm>
                          <a:off x="313" y="1117"/>
                          <a:ext cx="4744" cy="581"/>
                        </a:xfrm>
                        <a:prstGeom prst="rect">
                          <a:avLst/>
                        </a:prstGeom>
                        <a:noFill/>
                        <a:ln w="38100">
                          <a:noFill/>
                          <a:miter/>
                        </a:ln>
                      </p:spPr>
                    </p:pic>
                  </p:oleObj>
                </mc:Fallback>
              </mc:AlternateContent>
            </a:graphicData>
          </a:graphic>
        </p:graphicFrame>
        <p:graphicFrame>
          <p:nvGraphicFramePr>
            <p:cNvPr id="54283" name="Object 8"/>
            <p:cNvGraphicFramePr>
              <a:graphicFrameLocks noChangeAspect="1"/>
            </p:cNvGraphicFramePr>
            <p:nvPr/>
          </p:nvGraphicFramePr>
          <p:xfrm>
            <a:off x="657" y="2024"/>
            <a:ext cx="2179" cy="976"/>
          </p:xfrm>
          <a:graphic>
            <a:graphicData uri="http://schemas.openxmlformats.org/presentationml/2006/ole">
              <mc:AlternateContent xmlns:mc="http://schemas.openxmlformats.org/markup-compatibility/2006">
                <mc:Choice xmlns:v="urn:schemas-microsoft-com:vml" Requires="v">
                  <p:oleObj spid="_x0000_s3128" name="" r:id="rId6" imgW="977265" imgH="761365" progId="Equation.3">
                    <p:embed/>
                  </p:oleObj>
                </mc:Choice>
                <mc:Fallback>
                  <p:oleObj name="" r:id="rId6" imgW="977265" imgH="761365" progId="Equation.3">
                    <p:embed/>
                    <p:pic>
                      <p:nvPicPr>
                        <p:cNvPr id="0" name="图片 3127"/>
                        <p:cNvPicPr/>
                        <p:nvPr/>
                      </p:nvPicPr>
                      <p:blipFill>
                        <a:blip r:embed="rId7"/>
                        <a:stretch>
                          <a:fillRect/>
                        </a:stretch>
                      </p:blipFill>
                      <p:spPr>
                        <a:xfrm>
                          <a:off x="657" y="2024"/>
                          <a:ext cx="2179" cy="976"/>
                        </a:xfrm>
                        <a:prstGeom prst="rect">
                          <a:avLst/>
                        </a:prstGeom>
                        <a:noFill/>
                        <a:ln w="38100">
                          <a:noFill/>
                          <a:miter/>
                        </a:ln>
                      </p:spPr>
                    </p:pic>
                  </p:oleObj>
                </mc:Fallback>
              </mc:AlternateContent>
            </a:graphicData>
          </a:graphic>
        </p:graphicFrame>
      </p:grpSp>
      <p:sp>
        <p:nvSpPr>
          <p:cNvPr id="54278"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pic>
        <p:nvPicPr>
          <p:cNvPr id="54279" name="Picture 10"/>
          <p:cNvPicPr>
            <a:picLocks noChangeAspect="1"/>
          </p:cNvPicPr>
          <p:nvPr/>
        </p:nvPicPr>
        <p:blipFill>
          <a:blip r:embed="rId8"/>
          <a:stretch>
            <a:fillRect/>
          </a:stretch>
        </p:blipFill>
        <p:spPr>
          <a:xfrm>
            <a:off x="457200" y="4133850"/>
            <a:ext cx="3282950" cy="1852613"/>
          </a:xfrm>
          <a:prstGeom prst="rect">
            <a:avLst/>
          </a:prstGeom>
          <a:noFill/>
          <a:ln w="9525">
            <a:noFill/>
          </a:ln>
        </p:spPr>
      </p:pic>
      <p:sp>
        <p:nvSpPr>
          <p:cNvPr id="5" name="箭头: 右 4"/>
          <p:cNvSpPr/>
          <p:nvPr/>
        </p:nvSpPr>
        <p:spPr>
          <a:xfrm>
            <a:off x="4391025" y="2895600"/>
            <a:ext cx="1257300" cy="2492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箭头: 右 13"/>
          <p:cNvSpPr/>
          <p:nvPr/>
        </p:nvSpPr>
        <p:spPr>
          <a:xfrm>
            <a:off x="4068763" y="5060950"/>
            <a:ext cx="935038" cy="2492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594360" y="621665"/>
            <a:ext cx="6607175" cy="486410"/>
          </a:xfrm>
          <a:prstGeom prst="rect">
            <a:avLst/>
          </a:prstGeom>
        </p:spPr>
      </p:pic>
      <p:pic>
        <p:nvPicPr>
          <p:cNvPr id="7" name="图片 6"/>
          <p:cNvPicPr>
            <a:picLocks noChangeAspect="1"/>
          </p:cNvPicPr>
          <p:nvPr/>
        </p:nvPicPr>
        <p:blipFill>
          <a:blip r:embed="rId2"/>
          <a:stretch>
            <a:fillRect/>
          </a:stretch>
        </p:blipFill>
        <p:spPr>
          <a:xfrm>
            <a:off x="5394325" y="1382395"/>
            <a:ext cx="2795905" cy="2066925"/>
          </a:xfrm>
          <a:prstGeom prst="rect">
            <a:avLst/>
          </a:prstGeom>
        </p:spPr>
      </p:pic>
      <p:sp>
        <p:nvSpPr>
          <p:cNvPr id="8" name="文本框 7"/>
          <p:cNvSpPr txBox="1"/>
          <p:nvPr/>
        </p:nvSpPr>
        <p:spPr>
          <a:xfrm>
            <a:off x="927100" y="1607820"/>
            <a:ext cx="3756025" cy="1938020"/>
          </a:xfrm>
          <a:prstGeom prst="rect">
            <a:avLst/>
          </a:prstGeom>
          <a:noFill/>
        </p:spPr>
        <p:txBody>
          <a:bodyPr wrap="square" rtlCol="0">
            <a:spAutoFit/>
          </a:bodyPr>
          <a:p>
            <a:r>
              <a:rPr lang="zh-CN" altLang="en-US" sz="2000"/>
              <a:t>解：</a:t>
            </a:r>
            <a:r>
              <a:rPr lang="en-US" altLang="zh-CN" sz="2000"/>
              <a:t>Geq=(7+5)(16+6)/(12+22)</a:t>
            </a:r>
            <a:endParaRPr lang="en-US" altLang="zh-CN" sz="2000"/>
          </a:p>
          <a:p>
            <a:endParaRPr lang="en-US" altLang="zh-CN" sz="2000"/>
          </a:p>
          <a:p>
            <a:r>
              <a:rPr lang="en-US" altLang="zh-CN" sz="2000"/>
              <a:t>=</a:t>
            </a:r>
            <a:r>
              <a:rPr lang="zh-CN" altLang="en-US" sz="2000"/>
              <a:t>（</a:t>
            </a:r>
            <a:r>
              <a:rPr lang="en-US" altLang="zh-CN" sz="2000"/>
              <a:t>12x22)/(12+22)</a:t>
            </a:r>
            <a:endParaRPr lang="en-US" altLang="zh-CN" sz="2000"/>
          </a:p>
          <a:p>
            <a:endParaRPr lang="en-US" altLang="zh-CN" sz="2000"/>
          </a:p>
          <a:p>
            <a:r>
              <a:rPr lang="en-US" altLang="zh-CN" sz="2000"/>
              <a:t>=7.764 (S)</a:t>
            </a:r>
            <a:endParaRPr lang="en-US" altLang="zh-CN" sz="2000"/>
          </a:p>
          <a:p>
            <a:endParaRPr lang="en-US" altLang="zh-CN" sz="20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412115" y="620395"/>
            <a:ext cx="8300720" cy="577850"/>
          </a:xfrm>
          <a:prstGeom prst="rect">
            <a:avLst/>
          </a:prstGeom>
        </p:spPr>
      </p:pic>
      <p:pic>
        <p:nvPicPr>
          <p:cNvPr id="7" name="图片 6"/>
          <p:cNvPicPr>
            <a:picLocks noChangeAspect="1"/>
          </p:cNvPicPr>
          <p:nvPr/>
        </p:nvPicPr>
        <p:blipFill>
          <a:blip r:embed="rId2"/>
          <a:stretch>
            <a:fillRect/>
          </a:stretch>
        </p:blipFill>
        <p:spPr>
          <a:xfrm>
            <a:off x="1139190" y="1198245"/>
            <a:ext cx="5876290" cy="2418080"/>
          </a:xfrm>
          <a:prstGeom prst="rect">
            <a:avLst/>
          </a:prstGeom>
        </p:spPr>
      </p:pic>
      <p:sp>
        <p:nvSpPr>
          <p:cNvPr id="8" name="文本框 7"/>
          <p:cNvSpPr txBox="1"/>
          <p:nvPr/>
        </p:nvSpPr>
        <p:spPr>
          <a:xfrm>
            <a:off x="2530475" y="3872230"/>
            <a:ext cx="3093720" cy="1476375"/>
          </a:xfrm>
          <a:prstGeom prst="rect">
            <a:avLst/>
          </a:prstGeom>
          <a:noFill/>
        </p:spPr>
        <p:txBody>
          <a:bodyPr wrap="square" rtlCol="0">
            <a:spAutoFit/>
          </a:bodyPr>
          <a:p>
            <a:r>
              <a:rPr lang="zh-CN" altLang="en-US"/>
              <a:t>解：</a:t>
            </a:r>
            <a:r>
              <a:rPr lang="en-US" altLang="zh-CN"/>
              <a:t>V0=12/3=4</a:t>
            </a:r>
            <a:r>
              <a:rPr lang="zh-CN" altLang="en-US"/>
              <a:t>（</a:t>
            </a:r>
            <a:r>
              <a:rPr lang="en-US" altLang="zh-CN"/>
              <a:t>V)</a:t>
            </a:r>
            <a:endParaRPr lang="en-US" altLang="zh-CN"/>
          </a:p>
          <a:p>
            <a:r>
              <a:rPr lang="en-US" altLang="zh-CN"/>
              <a:t> </a:t>
            </a:r>
            <a:endParaRPr lang="en-US" altLang="zh-CN"/>
          </a:p>
          <a:p>
            <a:r>
              <a:rPr lang="en-US" altLang="zh-CN"/>
              <a:t>       I=8/4=2(A)</a:t>
            </a:r>
            <a:endParaRPr lang="en-US" altLang="zh-CN"/>
          </a:p>
          <a:p>
            <a:endParaRPr lang="en-US" altLang="zh-CN"/>
          </a:p>
          <a:p>
            <a:r>
              <a:rPr lang="en-US" altLang="zh-CN"/>
              <a:t>       I0=(6/9)X2=4/3 (A)</a:t>
            </a:r>
            <a:endParaRPr lang="en-US" altLang="zh-C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548640" y="803275"/>
            <a:ext cx="7529830" cy="609600"/>
          </a:xfrm>
          <a:prstGeom prst="rect">
            <a:avLst/>
          </a:prstGeom>
        </p:spPr>
      </p:pic>
      <p:pic>
        <p:nvPicPr>
          <p:cNvPr id="7" name="图片 6"/>
          <p:cNvPicPr>
            <a:picLocks noChangeAspect="1"/>
          </p:cNvPicPr>
          <p:nvPr/>
        </p:nvPicPr>
        <p:blipFill>
          <a:blip r:embed="rId2"/>
          <a:stretch>
            <a:fillRect/>
          </a:stretch>
        </p:blipFill>
        <p:spPr>
          <a:xfrm>
            <a:off x="4488180" y="1215390"/>
            <a:ext cx="3848735" cy="3076575"/>
          </a:xfrm>
          <a:prstGeom prst="rect">
            <a:avLst/>
          </a:prstGeom>
        </p:spPr>
      </p:pic>
      <p:sp>
        <p:nvSpPr>
          <p:cNvPr id="8" name="文本框 7"/>
          <p:cNvSpPr txBox="1"/>
          <p:nvPr/>
        </p:nvSpPr>
        <p:spPr>
          <a:xfrm>
            <a:off x="609600" y="1777365"/>
            <a:ext cx="3386455" cy="3138170"/>
          </a:xfrm>
          <a:prstGeom prst="rect">
            <a:avLst/>
          </a:prstGeom>
          <a:noFill/>
        </p:spPr>
        <p:txBody>
          <a:bodyPr wrap="square" rtlCol="0">
            <a:spAutoFit/>
          </a:bodyPr>
          <a:p>
            <a:r>
              <a:rPr lang="zh-CN" altLang="en-US"/>
              <a:t>解：（</a:t>
            </a:r>
            <a:r>
              <a:rPr lang="en-US" altLang="zh-CN"/>
              <a:t>6x12)/(6+12)=4</a:t>
            </a:r>
            <a:endParaRPr lang="en-US" altLang="zh-CN"/>
          </a:p>
          <a:p>
            <a:endParaRPr lang="en-US" altLang="zh-CN"/>
          </a:p>
          <a:p>
            <a:r>
              <a:rPr lang="en-US" altLang="zh-CN"/>
              <a:t>     (10x40)/(10+40)=8</a:t>
            </a:r>
            <a:endParaRPr lang="en-US" altLang="zh-CN"/>
          </a:p>
          <a:p>
            <a:endParaRPr lang="en-US" altLang="zh-CN"/>
          </a:p>
          <a:p>
            <a:r>
              <a:rPr lang="en-US" altLang="zh-CN"/>
              <a:t>V1= 4x30/(4+8)=10(V)</a:t>
            </a:r>
            <a:endParaRPr lang="en-US" altLang="zh-CN"/>
          </a:p>
          <a:p>
            <a:endParaRPr lang="zh-CN" altLang="en-US"/>
          </a:p>
          <a:p>
            <a:r>
              <a:rPr lang="en-US" altLang="zh-CN"/>
              <a:t>V2=20V</a:t>
            </a:r>
            <a:endParaRPr lang="en-US" altLang="zh-CN"/>
          </a:p>
          <a:p>
            <a:endParaRPr lang="en-US" altLang="zh-CN"/>
          </a:p>
          <a:p>
            <a:r>
              <a:rPr lang="en-US" altLang="zh-CN"/>
              <a:t>p1=100/12=8.333...  (W)</a:t>
            </a:r>
            <a:endParaRPr lang="en-US" altLang="zh-CN"/>
          </a:p>
          <a:p>
            <a:endParaRPr lang="en-US" altLang="zh-CN"/>
          </a:p>
          <a:p>
            <a:r>
              <a:rPr lang="en-US" altLang="zh-CN"/>
              <a:t>P2=400/40=10(W)</a:t>
            </a:r>
            <a:endParaRPr lang="en-US" altLang="zh-C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idx="1"/>
          </p:nvPr>
        </p:nvSpPr>
        <p:spPr>
          <a:xfrm>
            <a:off x="250825" y="549275"/>
            <a:ext cx="7505700" cy="1439863"/>
          </a:xfrm>
        </p:spPr>
        <p:txBody>
          <a:bodyPr vert="horz" wrap="square" lIns="91440" tIns="45720" rIns="91440" bIns="45720" anchor="t"/>
          <a:p>
            <a:pPr eaLnBrk="1" hangingPunct="1"/>
            <a:r>
              <a:rPr lang="zh-CN" altLang="en-US" sz="2800" b="1" dirty="0">
                <a:solidFill>
                  <a:srgbClr val="FF0000"/>
                </a:solidFill>
                <a:latin typeface="Times New Roman" panose="02020603050405020304" pitchFamily="18" charset="0"/>
              </a:rPr>
              <a:t>例</a:t>
            </a:r>
            <a:r>
              <a:rPr lang="en-US" altLang="zh-CN" sz="2800" b="1" dirty="0">
                <a:solidFill>
                  <a:srgbClr val="FF0000"/>
                </a:solidFill>
                <a:latin typeface="Times New Roman" panose="02020603050405020304" pitchFamily="18" charset="0"/>
              </a:rPr>
              <a:t>2-13</a:t>
            </a:r>
            <a:endParaRPr lang="en-US" altLang="zh-CN" sz="2800" b="1" dirty="0">
              <a:solidFill>
                <a:srgbClr val="FF0000"/>
              </a:solidFill>
              <a:latin typeface="Times New Roman" panose="02020603050405020304" pitchFamily="18" charset="0"/>
            </a:endParaRPr>
          </a:p>
          <a:p>
            <a:pPr eaLnBrk="1" hangingPunct="1">
              <a:buNone/>
            </a:pPr>
            <a:r>
              <a:rPr lang="zh-CN" altLang="en-US" sz="2400" b="1" dirty="0">
                <a:latin typeface="Times New Roman" panose="02020603050405020304" pitchFamily="18" charset="0"/>
              </a:rPr>
              <a:t>           对于图示电路，确定</a:t>
            </a:r>
            <a:r>
              <a:rPr lang="en-US" altLang="zh-CN" sz="2400" b="1" dirty="0">
                <a:latin typeface="Times New Roman" panose="02020603050405020304" pitchFamily="18" charset="0"/>
              </a:rPr>
              <a:t>:(a)</a:t>
            </a:r>
            <a:r>
              <a:rPr lang="zh-CN" altLang="en-US" sz="2400" b="1" dirty="0">
                <a:latin typeface="Times New Roman" panose="02020603050405020304" pitchFamily="18" charset="0"/>
              </a:rPr>
              <a:t>电压     ，</a:t>
            </a:r>
            <a:r>
              <a:rPr lang="en-US" altLang="zh-CN" sz="2400" b="1" dirty="0">
                <a:latin typeface="Times New Roman" panose="02020603050405020304" pitchFamily="18" charset="0"/>
              </a:rPr>
              <a:t>(b)</a:t>
            </a:r>
            <a:r>
              <a:rPr lang="zh-CN" altLang="en-US" sz="2400" b="1" dirty="0">
                <a:latin typeface="Times New Roman" panose="02020603050405020304" pitchFamily="18" charset="0"/>
              </a:rPr>
              <a:t>电流源提供的功率，</a:t>
            </a:r>
            <a:r>
              <a:rPr lang="en-US" altLang="zh-CN" sz="2400" b="1" dirty="0">
                <a:latin typeface="Times New Roman" panose="02020603050405020304" pitchFamily="18" charset="0"/>
              </a:rPr>
              <a:t>(c)</a:t>
            </a:r>
            <a:r>
              <a:rPr lang="zh-CN" altLang="en-US" sz="2400" b="1" dirty="0">
                <a:latin typeface="Times New Roman" panose="02020603050405020304" pitchFamily="18" charset="0"/>
              </a:rPr>
              <a:t>各电阻消耗的功率。</a:t>
            </a:r>
            <a:endParaRPr lang="en-US" altLang="zh-CN" sz="2400" b="1" dirty="0">
              <a:solidFill>
                <a:srgbClr val="FF0000"/>
              </a:solidFill>
              <a:latin typeface="Times New Roman" panose="02020603050405020304" pitchFamily="18" charset="0"/>
            </a:endParaRPr>
          </a:p>
        </p:txBody>
      </p:sp>
      <p:pic>
        <p:nvPicPr>
          <p:cNvPr id="55299" name="Picture 3"/>
          <p:cNvPicPr>
            <a:picLocks noChangeAspect="1"/>
          </p:cNvPicPr>
          <p:nvPr/>
        </p:nvPicPr>
        <p:blipFill>
          <a:blip r:embed="rId1"/>
          <a:stretch>
            <a:fillRect/>
          </a:stretch>
        </p:blipFill>
        <p:spPr>
          <a:xfrm>
            <a:off x="5076825" y="1157288"/>
            <a:ext cx="247650" cy="304800"/>
          </a:xfrm>
          <a:prstGeom prst="rect">
            <a:avLst/>
          </a:prstGeom>
          <a:noFill/>
          <a:ln w="9525">
            <a:noFill/>
          </a:ln>
        </p:spPr>
      </p:pic>
      <p:sp>
        <p:nvSpPr>
          <p:cNvPr id="55300" name="Text Box 5"/>
          <p:cNvSpPr txBox="1"/>
          <p:nvPr/>
        </p:nvSpPr>
        <p:spPr>
          <a:xfrm>
            <a:off x="609600" y="2574925"/>
            <a:ext cx="6048375" cy="1016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None/>
            </a:pPr>
            <a:r>
              <a:rPr lang="zh-CN" altLang="en-US" sz="2400" b="1" dirty="0">
                <a:solidFill>
                  <a:schemeClr val="bg2"/>
                </a:solidFill>
                <a:latin typeface="Times New Roman" panose="02020603050405020304" pitchFamily="18" charset="0"/>
                <a:cs typeface="Arial" panose="020B0604020202020204" pitchFamily="34" charset="0"/>
              </a:rPr>
              <a:t>解</a:t>
            </a:r>
            <a:r>
              <a:rPr lang="en-US" altLang="zh-CN" sz="2400" b="1" dirty="0">
                <a:solidFill>
                  <a:schemeClr val="bg2"/>
                </a:solidFill>
                <a:latin typeface="Times New Roman" panose="02020603050405020304" pitchFamily="18" charset="0"/>
                <a:cs typeface="Arial" panose="020B0604020202020204" pitchFamily="34" charset="0"/>
              </a:rPr>
              <a:t>:</a:t>
            </a:r>
            <a:endParaRPr lang="en-US" altLang="zh-CN" sz="2400" b="1" dirty="0">
              <a:solidFill>
                <a:schemeClr val="bg2"/>
              </a:solidFill>
              <a:latin typeface="Times New Roman" panose="02020603050405020304" pitchFamily="18" charset="0"/>
              <a:cs typeface="Arial" panose="020B0604020202020204" pitchFamily="34" charset="0"/>
            </a:endParaRPr>
          </a:p>
          <a:p>
            <a:pPr marL="342900" lvl="0" indent="-342900" eaLnBrk="1" hangingPunct="1">
              <a:spcBef>
                <a:spcPct val="50000"/>
              </a:spcBef>
              <a:buNone/>
            </a:pPr>
            <a:r>
              <a:rPr lang="en-US" altLang="zh-CN" sz="2400" b="1" dirty="0">
                <a:solidFill>
                  <a:srgbClr val="00B050"/>
                </a:solidFill>
                <a:latin typeface="Times New Roman" panose="02020603050405020304" pitchFamily="18" charset="0"/>
                <a:cs typeface="Arial" panose="020B0604020202020204" pitchFamily="34" charset="0"/>
              </a:rPr>
              <a:t>(a)</a:t>
            </a:r>
            <a:endParaRPr lang="en-US" altLang="zh-CN" sz="2400" b="1" dirty="0">
              <a:solidFill>
                <a:srgbClr val="00B050"/>
              </a:solidFill>
              <a:latin typeface="Times New Roman" panose="02020603050405020304" pitchFamily="18" charset="0"/>
              <a:ea typeface="Arial" panose="020B0604020202020204" pitchFamily="34" charset="0"/>
            </a:endParaRPr>
          </a:p>
        </p:txBody>
      </p:sp>
      <p:graphicFrame>
        <p:nvGraphicFramePr>
          <p:cNvPr id="55301" name="Object 10"/>
          <p:cNvGraphicFramePr>
            <a:graphicFrameLocks noChangeAspect="1"/>
          </p:cNvGraphicFramePr>
          <p:nvPr/>
        </p:nvGraphicFramePr>
        <p:xfrm>
          <a:off x="1417638" y="3238500"/>
          <a:ext cx="1657350" cy="315913"/>
        </p:xfrm>
        <a:graphic>
          <a:graphicData uri="http://schemas.openxmlformats.org/presentationml/2006/ole">
            <mc:AlternateContent xmlns:mc="http://schemas.openxmlformats.org/markup-compatibility/2006">
              <mc:Choice xmlns:v="urn:schemas-microsoft-com:vml" Requires="v">
                <p:oleObj spid="_x0000_s3126" name="" r:id="rId2" imgW="862965" imgH="177800" progId="Equation.3">
                  <p:embed/>
                </p:oleObj>
              </mc:Choice>
              <mc:Fallback>
                <p:oleObj name="" r:id="rId2" imgW="862965" imgH="177800" progId="Equation.3">
                  <p:embed/>
                  <p:pic>
                    <p:nvPicPr>
                      <p:cNvPr id="0" name="图片 3125"/>
                      <p:cNvPicPr/>
                      <p:nvPr/>
                    </p:nvPicPr>
                    <p:blipFill>
                      <a:blip r:embed="rId3"/>
                      <a:stretch>
                        <a:fillRect/>
                      </a:stretch>
                    </p:blipFill>
                    <p:spPr>
                      <a:xfrm>
                        <a:off x="1417638" y="3238500"/>
                        <a:ext cx="1657350" cy="315913"/>
                      </a:xfrm>
                      <a:prstGeom prst="rect">
                        <a:avLst/>
                      </a:prstGeom>
                      <a:noFill/>
                      <a:ln w="38100">
                        <a:noFill/>
                        <a:miter/>
                      </a:ln>
                    </p:spPr>
                  </p:pic>
                </p:oleObj>
              </mc:Fallback>
            </mc:AlternateContent>
          </a:graphicData>
        </a:graphic>
      </p:graphicFrame>
      <p:graphicFrame>
        <p:nvGraphicFramePr>
          <p:cNvPr id="55302" name="Object 11"/>
          <p:cNvGraphicFramePr>
            <a:graphicFrameLocks noChangeAspect="1"/>
          </p:cNvGraphicFramePr>
          <p:nvPr/>
        </p:nvGraphicFramePr>
        <p:xfrm>
          <a:off x="609600" y="3876675"/>
          <a:ext cx="5256213" cy="1555750"/>
        </p:xfrm>
        <a:graphic>
          <a:graphicData uri="http://schemas.openxmlformats.org/presentationml/2006/ole">
            <mc:AlternateContent xmlns:mc="http://schemas.openxmlformats.org/markup-compatibility/2006">
              <mc:Choice xmlns:v="urn:schemas-microsoft-com:vml" Requires="v">
                <p:oleObj spid="_x0000_s3127" name="" r:id="rId4" imgW="2120900" imgH="863600" progId="Equation.3">
                  <p:embed/>
                </p:oleObj>
              </mc:Choice>
              <mc:Fallback>
                <p:oleObj name="" r:id="rId4" imgW="2120900" imgH="863600" progId="Equation.3">
                  <p:embed/>
                  <p:pic>
                    <p:nvPicPr>
                      <p:cNvPr id="0" name="图片 3126"/>
                      <p:cNvPicPr/>
                      <p:nvPr/>
                    </p:nvPicPr>
                    <p:blipFill>
                      <a:blip r:embed="rId5"/>
                      <a:stretch>
                        <a:fillRect/>
                      </a:stretch>
                    </p:blipFill>
                    <p:spPr>
                      <a:xfrm>
                        <a:off x="609600" y="3876675"/>
                        <a:ext cx="5256213" cy="1555750"/>
                      </a:xfrm>
                      <a:prstGeom prst="rect">
                        <a:avLst/>
                      </a:prstGeom>
                      <a:noFill/>
                      <a:ln w="38100">
                        <a:noFill/>
                        <a:miter/>
                      </a:ln>
                    </p:spPr>
                  </p:pic>
                </p:oleObj>
              </mc:Fallback>
            </mc:AlternateContent>
          </a:graphicData>
        </a:graphic>
      </p:graphicFrame>
      <p:sp>
        <p:nvSpPr>
          <p:cNvPr id="55303" name="Text Box 12"/>
          <p:cNvSpPr txBox="1"/>
          <p:nvPr/>
        </p:nvSpPr>
        <p:spPr>
          <a:xfrm>
            <a:off x="609600" y="6175375"/>
            <a:ext cx="6624638"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None/>
            </a:pPr>
            <a:endParaRPr lang="zh-CN" altLang="zh-CN" sz="2000" dirty="0">
              <a:latin typeface="Times New Roman" panose="02020603050405020304" pitchFamily="18" charset="0"/>
              <a:ea typeface="Arial" panose="020B0604020202020204" pitchFamily="34" charset="0"/>
            </a:endParaRPr>
          </a:p>
        </p:txBody>
      </p:sp>
      <p:graphicFrame>
        <p:nvGraphicFramePr>
          <p:cNvPr id="55304" name="Object 17"/>
          <p:cNvGraphicFramePr>
            <a:graphicFrameLocks noChangeAspect="1"/>
          </p:cNvGraphicFramePr>
          <p:nvPr/>
        </p:nvGraphicFramePr>
        <p:xfrm>
          <a:off x="608013" y="5786438"/>
          <a:ext cx="4033837" cy="488950"/>
        </p:xfrm>
        <a:graphic>
          <a:graphicData uri="http://schemas.openxmlformats.org/presentationml/2006/ole">
            <mc:AlternateContent xmlns:mc="http://schemas.openxmlformats.org/markup-compatibility/2006">
              <mc:Choice xmlns:v="urn:schemas-microsoft-com:vml" Requires="v">
                <p:oleObj spid="_x0000_s3125" name="" r:id="rId6" imgW="1866900" imgH="228600" progId="Equation.DSMT4">
                  <p:embed/>
                </p:oleObj>
              </mc:Choice>
              <mc:Fallback>
                <p:oleObj name="" r:id="rId6" imgW="1866900" imgH="228600" progId="Equation.DSMT4">
                  <p:embed/>
                  <p:pic>
                    <p:nvPicPr>
                      <p:cNvPr id="0" name="图片 3124"/>
                      <p:cNvPicPr/>
                      <p:nvPr/>
                    </p:nvPicPr>
                    <p:blipFill>
                      <a:blip r:embed="rId7"/>
                      <a:stretch>
                        <a:fillRect/>
                      </a:stretch>
                    </p:blipFill>
                    <p:spPr>
                      <a:xfrm>
                        <a:off x="608013" y="5786438"/>
                        <a:ext cx="4033837" cy="488950"/>
                      </a:xfrm>
                      <a:prstGeom prst="rect">
                        <a:avLst/>
                      </a:prstGeom>
                      <a:noFill/>
                      <a:ln w="38100">
                        <a:noFill/>
                        <a:miter/>
                      </a:ln>
                    </p:spPr>
                  </p:pic>
                </p:oleObj>
              </mc:Fallback>
            </mc:AlternateContent>
          </a:graphicData>
        </a:graphic>
      </p:graphicFrame>
      <p:grpSp>
        <p:nvGrpSpPr>
          <p:cNvPr id="55305" name="Group 18"/>
          <p:cNvGrpSpPr/>
          <p:nvPr/>
        </p:nvGrpSpPr>
        <p:grpSpPr>
          <a:xfrm>
            <a:off x="5676900" y="1462088"/>
            <a:ext cx="2995613" cy="2060575"/>
            <a:chOff x="4062" y="1525"/>
            <a:chExt cx="1698" cy="1254"/>
          </a:xfrm>
        </p:grpSpPr>
        <p:sp>
          <p:nvSpPr>
            <p:cNvPr id="55309" name="Text Box 19"/>
            <p:cNvSpPr txBox="1"/>
            <p:nvPr/>
          </p:nvSpPr>
          <p:spPr>
            <a:xfrm>
              <a:off x="4830" y="2522"/>
              <a:ext cx="742" cy="25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None/>
              </a:pPr>
              <a:r>
                <a:rPr lang="zh-CN" altLang="en-US" sz="2000" dirty="0">
                  <a:latin typeface="Times New Roman" panose="02020603050405020304" pitchFamily="18" charset="0"/>
                  <a:cs typeface="Arial" panose="020B0604020202020204" pitchFamily="34" charset="0"/>
                </a:rPr>
                <a:t>题图</a:t>
              </a:r>
              <a:endParaRPr lang="en-US" altLang="zh-CN" sz="2000" dirty="0">
                <a:latin typeface="Times New Roman" panose="02020603050405020304" pitchFamily="18" charset="0"/>
                <a:ea typeface="Arial" panose="020B0604020202020204" pitchFamily="34" charset="0"/>
              </a:endParaRPr>
            </a:p>
          </p:txBody>
        </p:sp>
        <p:pic>
          <p:nvPicPr>
            <p:cNvPr id="55310" name="Picture 20"/>
            <p:cNvPicPr>
              <a:picLocks noChangeAspect="1"/>
            </p:cNvPicPr>
            <p:nvPr/>
          </p:nvPicPr>
          <p:blipFill>
            <a:blip r:embed="rId8"/>
            <a:stretch>
              <a:fillRect/>
            </a:stretch>
          </p:blipFill>
          <p:spPr>
            <a:xfrm>
              <a:off x="4062" y="1525"/>
              <a:ext cx="1698" cy="1026"/>
            </a:xfrm>
            <a:prstGeom prst="rect">
              <a:avLst/>
            </a:prstGeom>
            <a:noFill/>
            <a:ln w="9525">
              <a:noFill/>
            </a:ln>
          </p:spPr>
        </p:pic>
      </p:grpSp>
      <p:pic>
        <p:nvPicPr>
          <p:cNvPr id="55306" name="Picture 22"/>
          <p:cNvPicPr>
            <a:picLocks noChangeAspect="1"/>
          </p:cNvPicPr>
          <p:nvPr/>
        </p:nvPicPr>
        <p:blipFill>
          <a:blip r:embed="rId9"/>
          <a:stretch>
            <a:fillRect/>
          </a:stretch>
        </p:blipFill>
        <p:spPr>
          <a:xfrm>
            <a:off x="5795963" y="4318000"/>
            <a:ext cx="3128962" cy="1657350"/>
          </a:xfrm>
          <a:prstGeom prst="rect">
            <a:avLst/>
          </a:prstGeom>
          <a:noFill/>
          <a:ln w="9525">
            <a:noFill/>
          </a:ln>
        </p:spPr>
      </p:pic>
      <p:sp>
        <p:nvSpPr>
          <p:cNvPr id="55307"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55308" name="Text Box 23"/>
          <p:cNvSpPr txBox="1"/>
          <p:nvPr/>
        </p:nvSpPr>
        <p:spPr>
          <a:xfrm>
            <a:off x="6826250" y="6140450"/>
            <a:ext cx="2547938"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None/>
            </a:pPr>
            <a:r>
              <a:rPr lang="zh-CN" altLang="en-US" sz="2000" b="1" dirty="0">
                <a:latin typeface="Times New Roman" panose="02020603050405020304" pitchFamily="18" charset="0"/>
                <a:cs typeface="Arial" panose="020B0604020202020204" pitchFamily="34" charset="0"/>
              </a:rPr>
              <a:t>打</a:t>
            </a:r>
            <a:r>
              <a:rPr lang="zh-CN" altLang="en-US" sz="2000" b="1" dirty="0">
                <a:solidFill>
                  <a:srgbClr val="0000FF"/>
                </a:solidFill>
                <a:latin typeface="Times New Roman" panose="02020603050405020304" pitchFamily="18" charset="0"/>
                <a:cs typeface="Arial" panose="020B0604020202020204" pitchFamily="34" charset="0"/>
              </a:rPr>
              <a:t>标签</a:t>
            </a:r>
            <a:endParaRPr lang="en-US" altLang="zh-CN" sz="2000" b="1" dirty="0">
              <a:solidFill>
                <a:srgbClr val="0000FF"/>
              </a:solidFill>
              <a:latin typeface="Times New Roman" panose="02020603050405020304" pitchFamily="18" charset="0"/>
              <a:ea typeface="Arial" panose="020B060402020202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ext Box 2"/>
          <p:cNvSpPr txBox="1"/>
          <p:nvPr/>
        </p:nvSpPr>
        <p:spPr>
          <a:xfrm>
            <a:off x="468313" y="620713"/>
            <a:ext cx="4032250"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None/>
            </a:pPr>
            <a:r>
              <a:rPr lang="en-US" altLang="zh-CN" sz="2400" b="1" dirty="0">
                <a:solidFill>
                  <a:srgbClr val="00B050"/>
                </a:solidFill>
                <a:latin typeface="Times New Roman" panose="02020603050405020304" pitchFamily="18" charset="0"/>
                <a:cs typeface="Arial" panose="020B0604020202020204" pitchFamily="34" charset="0"/>
              </a:rPr>
              <a:t>(b)</a:t>
            </a:r>
            <a:r>
              <a:rPr lang="zh-CN" altLang="en-US" sz="2000" b="1" dirty="0">
                <a:latin typeface="Times New Roman" panose="02020603050405020304" pitchFamily="18" charset="0"/>
                <a:cs typeface="Arial" panose="020B0604020202020204" pitchFamily="34" charset="0"/>
              </a:rPr>
              <a:t>电流源提供的功率</a:t>
            </a:r>
            <a:endParaRPr lang="en-US" altLang="zh-CN" sz="2000" b="1" dirty="0">
              <a:latin typeface="Times New Roman" panose="02020603050405020304" pitchFamily="18" charset="0"/>
              <a:ea typeface="Arial" panose="020B0604020202020204" pitchFamily="34" charset="0"/>
            </a:endParaRPr>
          </a:p>
        </p:txBody>
      </p:sp>
      <p:sp>
        <p:nvSpPr>
          <p:cNvPr id="56323" name="Text Box 3"/>
          <p:cNvSpPr txBox="1"/>
          <p:nvPr/>
        </p:nvSpPr>
        <p:spPr>
          <a:xfrm>
            <a:off x="468313" y="1844675"/>
            <a:ext cx="5111750"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None/>
            </a:pPr>
            <a:r>
              <a:rPr lang="en-US" altLang="zh-CN" sz="2400" b="1" dirty="0">
                <a:solidFill>
                  <a:srgbClr val="00B050"/>
                </a:solidFill>
                <a:latin typeface="Times New Roman" panose="02020603050405020304" pitchFamily="18" charset="0"/>
                <a:cs typeface="Arial" panose="020B0604020202020204" pitchFamily="34" charset="0"/>
              </a:rPr>
              <a:t>(c) </a:t>
            </a:r>
            <a:r>
              <a:rPr lang="zh-CN" altLang="en-US" sz="2000" b="1" dirty="0">
                <a:latin typeface="Times New Roman" panose="02020603050405020304" pitchFamily="18" charset="0"/>
                <a:cs typeface="Arial" panose="020B0604020202020204" pitchFamily="34" charset="0"/>
              </a:rPr>
              <a:t>被</a:t>
            </a:r>
            <a:r>
              <a:rPr lang="en-US" altLang="zh-CN" sz="2000" b="1" dirty="0">
                <a:solidFill>
                  <a:schemeClr val="bg2"/>
                </a:solidFill>
                <a:latin typeface="Times New Roman" panose="02020603050405020304" pitchFamily="18" charset="0"/>
                <a:cs typeface="Arial" panose="020B0604020202020204" pitchFamily="34" charset="0"/>
              </a:rPr>
              <a:t>12-k </a:t>
            </a:r>
            <a:r>
              <a:rPr lang="zh-CN" altLang="en-US" sz="2000" b="1" dirty="0">
                <a:latin typeface="Times New Roman" panose="02020603050405020304" pitchFamily="18" charset="0"/>
                <a:cs typeface="Arial" panose="020B0604020202020204" pitchFamily="34" charset="0"/>
              </a:rPr>
              <a:t>电阻消耗掉的功率</a:t>
            </a:r>
            <a:endParaRPr lang="en-US" altLang="zh-CN" sz="2000" b="1" dirty="0">
              <a:latin typeface="Times New Roman" panose="02020603050405020304" pitchFamily="18" charset="0"/>
              <a:ea typeface="Arial" panose="020B0604020202020204" pitchFamily="34" charset="0"/>
            </a:endParaRPr>
          </a:p>
        </p:txBody>
      </p:sp>
      <p:sp>
        <p:nvSpPr>
          <p:cNvPr id="56324" name="Text Box 4"/>
          <p:cNvSpPr txBox="1"/>
          <p:nvPr/>
        </p:nvSpPr>
        <p:spPr>
          <a:xfrm>
            <a:off x="755650" y="2924175"/>
            <a:ext cx="453707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None/>
            </a:pPr>
            <a:r>
              <a:rPr lang="zh-CN" altLang="en-US" sz="2000" b="1" dirty="0">
                <a:latin typeface="Times New Roman" panose="02020603050405020304" pitchFamily="18" charset="0"/>
                <a:cs typeface="Arial" panose="020B0604020202020204" pitchFamily="34" charset="0"/>
              </a:rPr>
              <a:t>被</a:t>
            </a:r>
            <a:r>
              <a:rPr lang="en-US" altLang="zh-CN" sz="2000" b="1" dirty="0">
                <a:solidFill>
                  <a:schemeClr val="bg2"/>
                </a:solidFill>
                <a:latin typeface="Times New Roman" panose="02020603050405020304" pitchFamily="18" charset="0"/>
                <a:cs typeface="Arial" panose="020B0604020202020204" pitchFamily="34" charset="0"/>
              </a:rPr>
              <a:t>6-k </a:t>
            </a:r>
            <a:r>
              <a:rPr lang="zh-CN" altLang="en-US" sz="2000" b="1" dirty="0">
                <a:latin typeface="Times New Roman" panose="02020603050405020304" pitchFamily="18" charset="0"/>
                <a:cs typeface="Arial" panose="020B0604020202020204" pitchFamily="34" charset="0"/>
              </a:rPr>
              <a:t>电阻消耗掉的功率</a:t>
            </a:r>
            <a:endParaRPr lang="en-US" altLang="zh-CN" sz="2000" b="1" dirty="0">
              <a:latin typeface="Times New Roman" panose="02020603050405020304" pitchFamily="18" charset="0"/>
              <a:ea typeface="Arial" panose="020B0604020202020204" pitchFamily="34" charset="0"/>
            </a:endParaRPr>
          </a:p>
        </p:txBody>
      </p:sp>
      <p:sp>
        <p:nvSpPr>
          <p:cNvPr id="56325" name="Text Box 5"/>
          <p:cNvSpPr txBox="1"/>
          <p:nvPr/>
        </p:nvSpPr>
        <p:spPr>
          <a:xfrm>
            <a:off x="827088" y="4005263"/>
            <a:ext cx="467995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None/>
            </a:pPr>
            <a:r>
              <a:rPr lang="zh-CN" altLang="en-US" sz="2000" b="1" dirty="0">
                <a:latin typeface="Times New Roman" panose="02020603050405020304" pitchFamily="18" charset="0"/>
                <a:cs typeface="Arial" panose="020B0604020202020204" pitchFamily="34" charset="0"/>
              </a:rPr>
              <a:t>被</a:t>
            </a:r>
            <a:r>
              <a:rPr lang="en-US" altLang="zh-CN" sz="2000" b="1" dirty="0">
                <a:solidFill>
                  <a:schemeClr val="bg2"/>
                </a:solidFill>
                <a:latin typeface="Times New Roman" panose="02020603050405020304" pitchFamily="18" charset="0"/>
                <a:cs typeface="Arial" panose="020B0604020202020204" pitchFamily="34" charset="0"/>
              </a:rPr>
              <a:t>9-k </a:t>
            </a:r>
            <a:r>
              <a:rPr lang="zh-CN" altLang="en-US" sz="2000" b="1" dirty="0">
                <a:latin typeface="Times New Roman" panose="02020603050405020304" pitchFamily="18" charset="0"/>
                <a:cs typeface="Arial" panose="020B0604020202020204" pitchFamily="34" charset="0"/>
              </a:rPr>
              <a:t>电阻消耗掉的功率</a:t>
            </a:r>
            <a:endParaRPr lang="en-US" altLang="zh-CN" sz="2000" b="1" dirty="0">
              <a:latin typeface="Times New Roman" panose="02020603050405020304" pitchFamily="18" charset="0"/>
              <a:ea typeface="Arial" panose="020B0604020202020204" pitchFamily="34" charset="0"/>
            </a:endParaRPr>
          </a:p>
        </p:txBody>
      </p:sp>
      <p:sp>
        <p:nvSpPr>
          <p:cNvPr id="56326" name="Text Box 6"/>
          <p:cNvSpPr txBox="1"/>
          <p:nvPr/>
        </p:nvSpPr>
        <p:spPr>
          <a:xfrm>
            <a:off x="250825" y="5805488"/>
            <a:ext cx="7920038"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None/>
            </a:pPr>
            <a:r>
              <a:rPr lang="en-US" altLang="zh-CN" sz="2000" dirty="0">
                <a:latin typeface="Times New Roman" panose="02020603050405020304" pitchFamily="18" charset="0"/>
                <a:cs typeface="Arial" panose="020B0604020202020204" pitchFamily="34" charset="0"/>
              </a:rPr>
              <a:t>     </a:t>
            </a:r>
            <a:endParaRPr lang="en-US" altLang="zh-CN" sz="2000" dirty="0">
              <a:latin typeface="Times New Roman" panose="02020603050405020304" pitchFamily="18" charset="0"/>
              <a:ea typeface="Arial" panose="020B0604020202020204" pitchFamily="34" charset="0"/>
            </a:endParaRPr>
          </a:p>
        </p:txBody>
      </p:sp>
      <p:graphicFrame>
        <p:nvGraphicFramePr>
          <p:cNvPr id="56327" name="Object 7"/>
          <p:cNvGraphicFramePr>
            <a:graphicFrameLocks noGrp="1" noChangeAspect="1"/>
          </p:cNvGraphicFramePr>
          <p:nvPr>
            <p:ph sz="half" idx="1"/>
          </p:nvPr>
        </p:nvGraphicFramePr>
        <p:xfrm>
          <a:off x="1079500" y="1165225"/>
          <a:ext cx="3960813" cy="430213"/>
        </p:xfrm>
        <a:graphic>
          <a:graphicData uri="http://schemas.openxmlformats.org/presentationml/2006/ole">
            <mc:AlternateContent xmlns:mc="http://schemas.openxmlformats.org/markup-compatibility/2006">
              <mc:Choice xmlns:v="urn:schemas-microsoft-com:vml" Requires="v">
                <p:oleObj spid="_x0000_s3134" name="" r:id="rId1" imgW="2108200" imgH="228600" progId="Equation.3">
                  <p:embed/>
                </p:oleObj>
              </mc:Choice>
              <mc:Fallback>
                <p:oleObj name="" r:id="rId1" imgW="2108200" imgH="228600" progId="Equation.3">
                  <p:embed/>
                  <p:pic>
                    <p:nvPicPr>
                      <p:cNvPr id="0" name="图片 3133"/>
                      <p:cNvPicPr/>
                      <p:nvPr/>
                    </p:nvPicPr>
                    <p:blipFill>
                      <a:blip r:embed="rId2"/>
                      <a:srcRect/>
                      <a:stretch>
                        <a:fillRect/>
                      </a:stretch>
                    </p:blipFill>
                    <p:spPr>
                      <a:xfrm>
                        <a:off x="1079500" y="1165225"/>
                        <a:ext cx="3960813" cy="430213"/>
                      </a:xfrm>
                      <a:prstGeom prst="rect">
                        <a:avLst/>
                      </a:prstGeom>
                      <a:noFill/>
                      <a:ln w="38100">
                        <a:miter/>
                      </a:ln>
                    </p:spPr>
                  </p:pic>
                </p:oleObj>
              </mc:Fallback>
            </mc:AlternateContent>
          </a:graphicData>
        </a:graphic>
      </p:graphicFrame>
      <p:graphicFrame>
        <p:nvGraphicFramePr>
          <p:cNvPr id="56328" name="Object 8"/>
          <p:cNvGraphicFramePr>
            <a:graphicFrameLocks noChangeAspect="1"/>
          </p:cNvGraphicFramePr>
          <p:nvPr/>
        </p:nvGraphicFramePr>
        <p:xfrm>
          <a:off x="539750" y="2349500"/>
          <a:ext cx="5327650" cy="409575"/>
        </p:xfrm>
        <a:graphic>
          <a:graphicData uri="http://schemas.openxmlformats.org/presentationml/2006/ole">
            <mc:AlternateContent xmlns:mc="http://schemas.openxmlformats.org/markup-compatibility/2006">
              <mc:Choice xmlns:v="urn:schemas-microsoft-com:vml" Requires="v">
                <p:oleObj spid="_x0000_s3130" name="" r:id="rId3" imgW="3111500" imgH="228600" progId="Equation.3">
                  <p:embed/>
                </p:oleObj>
              </mc:Choice>
              <mc:Fallback>
                <p:oleObj name="" r:id="rId3" imgW="3111500" imgH="228600" progId="Equation.3">
                  <p:embed/>
                  <p:pic>
                    <p:nvPicPr>
                      <p:cNvPr id="0" name="图片 3129"/>
                      <p:cNvPicPr/>
                      <p:nvPr/>
                    </p:nvPicPr>
                    <p:blipFill>
                      <a:blip r:embed="rId4"/>
                      <a:stretch>
                        <a:fillRect/>
                      </a:stretch>
                    </p:blipFill>
                    <p:spPr>
                      <a:xfrm>
                        <a:off x="539750" y="2349500"/>
                        <a:ext cx="5327650" cy="409575"/>
                      </a:xfrm>
                      <a:prstGeom prst="rect">
                        <a:avLst/>
                      </a:prstGeom>
                      <a:noFill/>
                      <a:ln w="38100">
                        <a:noFill/>
                        <a:miter/>
                      </a:ln>
                    </p:spPr>
                  </p:pic>
                </p:oleObj>
              </mc:Fallback>
            </mc:AlternateContent>
          </a:graphicData>
        </a:graphic>
      </p:graphicFrame>
      <p:graphicFrame>
        <p:nvGraphicFramePr>
          <p:cNvPr id="56329" name="Object 9"/>
          <p:cNvGraphicFramePr>
            <a:graphicFrameLocks noChangeAspect="1"/>
          </p:cNvGraphicFramePr>
          <p:nvPr/>
        </p:nvGraphicFramePr>
        <p:xfrm>
          <a:off x="1258888" y="3429000"/>
          <a:ext cx="5834062" cy="514350"/>
        </p:xfrm>
        <a:graphic>
          <a:graphicData uri="http://schemas.openxmlformats.org/presentationml/2006/ole">
            <mc:AlternateContent xmlns:mc="http://schemas.openxmlformats.org/markup-compatibility/2006">
              <mc:Choice xmlns:v="urn:schemas-microsoft-com:vml" Requires="v">
                <p:oleObj spid="_x0000_s3131" name="" r:id="rId5" imgW="2222500" imgH="228600" progId="Equation.3">
                  <p:embed/>
                </p:oleObj>
              </mc:Choice>
              <mc:Fallback>
                <p:oleObj name="" r:id="rId5" imgW="2222500" imgH="228600" progId="Equation.3">
                  <p:embed/>
                  <p:pic>
                    <p:nvPicPr>
                      <p:cNvPr id="0" name="图片 3130"/>
                      <p:cNvPicPr/>
                      <p:nvPr/>
                    </p:nvPicPr>
                    <p:blipFill>
                      <a:blip r:embed="rId6"/>
                      <a:stretch>
                        <a:fillRect/>
                      </a:stretch>
                    </p:blipFill>
                    <p:spPr>
                      <a:xfrm>
                        <a:off x="1258888" y="3429000"/>
                        <a:ext cx="5834062" cy="514350"/>
                      </a:xfrm>
                      <a:prstGeom prst="rect">
                        <a:avLst/>
                      </a:prstGeom>
                      <a:noFill/>
                      <a:ln w="38100">
                        <a:noFill/>
                        <a:miter/>
                      </a:ln>
                    </p:spPr>
                  </p:pic>
                </p:oleObj>
              </mc:Fallback>
            </mc:AlternateContent>
          </a:graphicData>
        </a:graphic>
      </p:graphicFrame>
      <p:graphicFrame>
        <p:nvGraphicFramePr>
          <p:cNvPr id="56330" name="Object 11"/>
          <p:cNvGraphicFramePr>
            <a:graphicFrameLocks noChangeAspect="1"/>
          </p:cNvGraphicFramePr>
          <p:nvPr/>
        </p:nvGraphicFramePr>
        <p:xfrm>
          <a:off x="1116013" y="4437063"/>
          <a:ext cx="5543550" cy="835025"/>
        </p:xfrm>
        <a:graphic>
          <a:graphicData uri="http://schemas.openxmlformats.org/presentationml/2006/ole">
            <mc:AlternateContent xmlns:mc="http://schemas.openxmlformats.org/markup-compatibility/2006">
              <mc:Choice xmlns:v="urn:schemas-microsoft-com:vml" Requires="v">
                <p:oleObj spid="_x0000_s3133" name="" r:id="rId7" imgW="1497965" imgH="444500" progId="Equation.DSMT4">
                  <p:embed/>
                </p:oleObj>
              </mc:Choice>
              <mc:Fallback>
                <p:oleObj name="" r:id="rId7" imgW="1497965" imgH="444500" progId="Equation.DSMT4">
                  <p:embed/>
                  <p:pic>
                    <p:nvPicPr>
                      <p:cNvPr id="0" name="图片 3132"/>
                      <p:cNvPicPr/>
                      <p:nvPr/>
                    </p:nvPicPr>
                    <p:blipFill>
                      <a:blip r:embed="rId8"/>
                      <a:stretch>
                        <a:fillRect/>
                      </a:stretch>
                    </p:blipFill>
                    <p:spPr>
                      <a:xfrm>
                        <a:off x="1116013" y="4437063"/>
                        <a:ext cx="5543550" cy="835025"/>
                      </a:xfrm>
                      <a:prstGeom prst="rect">
                        <a:avLst/>
                      </a:prstGeom>
                      <a:noFill/>
                      <a:ln w="38100">
                        <a:noFill/>
                        <a:miter/>
                      </a:ln>
                    </p:spPr>
                  </p:pic>
                </p:oleObj>
              </mc:Fallback>
            </mc:AlternateContent>
          </a:graphicData>
        </a:graphic>
      </p:graphicFrame>
      <p:sp>
        <p:nvSpPr>
          <p:cNvPr id="56331" name="Text Box 12"/>
          <p:cNvSpPr txBox="1"/>
          <p:nvPr/>
        </p:nvSpPr>
        <p:spPr>
          <a:xfrm>
            <a:off x="3851275" y="5445125"/>
            <a:ext cx="6477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None/>
            </a:pPr>
            <a:r>
              <a:rPr lang="zh-CN" altLang="en-US" sz="1800" b="1" dirty="0">
                <a:latin typeface="Times New Roman" panose="02020603050405020304" pitchFamily="18" charset="0"/>
                <a:cs typeface="Arial" panose="020B0604020202020204" pitchFamily="34" charset="0"/>
              </a:rPr>
              <a:t>或者</a:t>
            </a:r>
            <a:endParaRPr lang="en-US" altLang="zh-CN" sz="1800" b="1" dirty="0">
              <a:latin typeface="Times New Roman" panose="02020603050405020304" pitchFamily="18" charset="0"/>
              <a:ea typeface="Arial" panose="020B0604020202020204" pitchFamily="34" charset="0"/>
            </a:endParaRPr>
          </a:p>
        </p:txBody>
      </p:sp>
      <p:pic>
        <p:nvPicPr>
          <p:cNvPr id="56332" name="Picture 14"/>
          <p:cNvPicPr>
            <a:picLocks noChangeAspect="1"/>
          </p:cNvPicPr>
          <p:nvPr/>
        </p:nvPicPr>
        <p:blipFill>
          <a:blip r:embed="rId9"/>
          <a:stretch>
            <a:fillRect/>
          </a:stretch>
        </p:blipFill>
        <p:spPr>
          <a:xfrm>
            <a:off x="5580063" y="692150"/>
            <a:ext cx="3398837" cy="1985963"/>
          </a:xfrm>
          <a:prstGeom prst="rect">
            <a:avLst/>
          </a:prstGeom>
          <a:noFill/>
          <a:ln w="9525">
            <a:noFill/>
          </a:ln>
        </p:spPr>
      </p:pic>
      <p:graphicFrame>
        <p:nvGraphicFramePr>
          <p:cNvPr id="56333" name="Object 19"/>
          <p:cNvGraphicFramePr>
            <a:graphicFrameLocks noGrp="1" noChangeAspect="1"/>
          </p:cNvGraphicFramePr>
          <p:nvPr>
            <p:ph sz="half" idx="2"/>
          </p:nvPr>
        </p:nvGraphicFramePr>
        <p:xfrm>
          <a:off x="4572000" y="5391150"/>
          <a:ext cx="3671888" cy="449263"/>
        </p:xfrm>
        <a:graphic>
          <a:graphicData uri="http://schemas.openxmlformats.org/presentationml/2006/ole">
            <mc:AlternateContent xmlns:mc="http://schemas.openxmlformats.org/markup-compatibility/2006">
              <mc:Choice xmlns:v="urn:schemas-microsoft-com:vml" Requires="v">
                <p:oleObj spid="_x0000_s3132" name="" r:id="rId10" imgW="1866900" imgH="228600" progId="Equation.3">
                  <p:embed/>
                </p:oleObj>
              </mc:Choice>
              <mc:Fallback>
                <p:oleObj name="" r:id="rId10" imgW="1866900" imgH="228600" progId="Equation.3">
                  <p:embed/>
                  <p:pic>
                    <p:nvPicPr>
                      <p:cNvPr id="0" name="图片 3131"/>
                      <p:cNvPicPr/>
                      <p:nvPr/>
                    </p:nvPicPr>
                    <p:blipFill>
                      <a:blip r:embed="rId11"/>
                      <a:srcRect/>
                      <a:stretch>
                        <a:fillRect/>
                      </a:stretch>
                    </p:blipFill>
                    <p:spPr>
                      <a:xfrm>
                        <a:off x="4572000" y="5391150"/>
                        <a:ext cx="3671888" cy="449263"/>
                      </a:xfrm>
                      <a:prstGeom prst="rect">
                        <a:avLst/>
                      </a:prstGeom>
                      <a:noFill/>
                      <a:ln w="38100">
                        <a:miter/>
                      </a:ln>
                    </p:spPr>
                  </p:pic>
                </p:oleObj>
              </mc:Fallback>
            </mc:AlternateContent>
          </a:graphicData>
        </a:graphic>
      </p:graphicFrame>
      <p:sp>
        <p:nvSpPr>
          <p:cNvPr id="56334" name="Text Box 22"/>
          <p:cNvSpPr txBox="1"/>
          <p:nvPr/>
        </p:nvSpPr>
        <p:spPr>
          <a:xfrm>
            <a:off x="693738" y="6069013"/>
            <a:ext cx="7993062"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pPr>
            <a:r>
              <a:rPr lang="zh-CN" altLang="en-US" sz="2000" dirty="0">
                <a:latin typeface="Times New Roman" panose="02020603050405020304" pitchFamily="18" charset="0"/>
                <a:cs typeface="Arial" panose="020B0604020202020204" pitchFamily="34" charset="0"/>
              </a:rPr>
              <a:t>提供的功率</a:t>
            </a:r>
            <a:r>
              <a:rPr lang="en-US" altLang="zh-CN" sz="2000" dirty="0">
                <a:latin typeface="Times New Roman" panose="02020603050405020304" pitchFamily="18" charset="0"/>
                <a:cs typeface="Arial" panose="020B0604020202020204" pitchFamily="34" charset="0"/>
              </a:rPr>
              <a:t>(5.4W)</a:t>
            </a:r>
            <a:r>
              <a:rPr lang="zh-CN" altLang="en-US" sz="2000" dirty="0">
                <a:latin typeface="Times New Roman" panose="02020603050405020304" pitchFamily="18" charset="0"/>
                <a:cs typeface="Arial" panose="020B0604020202020204" pitchFamily="34" charset="0"/>
              </a:rPr>
              <a:t> </a:t>
            </a:r>
            <a:r>
              <a:rPr lang="en-US" altLang="zh-CN" sz="2000" dirty="0">
                <a:latin typeface="Times New Roman" panose="02020603050405020304" pitchFamily="18" charset="0"/>
                <a:cs typeface="Arial" panose="020B0604020202020204" pitchFamily="34" charset="0"/>
              </a:rPr>
              <a:t>= </a:t>
            </a:r>
            <a:r>
              <a:rPr lang="zh-CN" altLang="en-US" sz="2000" dirty="0">
                <a:latin typeface="Times New Roman" panose="02020603050405020304" pitchFamily="18" charset="0"/>
                <a:cs typeface="Arial" panose="020B0604020202020204" pitchFamily="34" charset="0"/>
              </a:rPr>
              <a:t>吸收的功率供 </a:t>
            </a:r>
            <a:r>
              <a:rPr lang="en-US" altLang="zh-CN" sz="2000" b="1" dirty="0">
                <a:solidFill>
                  <a:schemeClr val="bg2"/>
                </a:solidFill>
                <a:latin typeface="Times New Roman" panose="02020603050405020304" pitchFamily="18" charset="0"/>
                <a:cs typeface="Arial" panose="020B0604020202020204" pitchFamily="34" charset="0"/>
              </a:rPr>
              <a:t>(1.2 + 0.6 + 3.6 =5.4W) </a:t>
            </a:r>
            <a:endParaRPr lang="en-US" altLang="zh-CN" sz="2000" b="1" dirty="0">
              <a:solidFill>
                <a:schemeClr val="bg2"/>
              </a:solidFill>
              <a:latin typeface="Times New Roman" panose="02020603050405020304" pitchFamily="18" charset="0"/>
              <a:ea typeface="Arial" panose="020B0604020202020204" pitchFamily="34" charset="0"/>
            </a:endParaRPr>
          </a:p>
        </p:txBody>
      </p:sp>
      <p:sp>
        <p:nvSpPr>
          <p:cNvPr id="56335"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4" name="任意多边形: 形状 3"/>
          <p:cNvSpPr/>
          <p:nvPr/>
        </p:nvSpPr>
        <p:spPr>
          <a:xfrm>
            <a:off x="8169275" y="1095375"/>
            <a:ext cx="328613" cy="95250"/>
          </a:xfrm>
          <a:custGeom>
            <a:avLst/>
            <a:gdLst>
              <a:gd name="connsiteX0" fmla="*/ 0 w 328843"/>
              <a:gd name="connsiteY0" fmla="*/ 51758 h 94890"/>
              <a:gd name="connsiteX1" fmla="*/ 0 w 328843"/>
              <a:gd name="connsiteY1" fmla="*/ 51758 h 94890"/>
              <a:gd name="connsiteX2" fmla="*/ 69011 w 328843"/>
              <a:gd name="connsiteY2" fmla="*/ 77637 h 94890"/>
              <a:gd name="connsiteX3" fmla="*/ 94891 w 328843"/>
              <a:gd name="connsiteY3" fmla="*/ 69011 h 94890"/>
              <a:gd name="connsiteX4" fmla="*/ 103517 w 328843"/>
              <a:gd name="connsiteY4" fmla="*/ 17253 h 94890"/>
              <a:gd name="connsiteX5" fmla="*/ 146649 w 328843"/>
              <a:gd name="connsiteY5" fmla="*/ 34505 h 94890"/>
              <a:gd name="connsiteX6" fmla="*/ 163902 w 328843"/>
              <a:gd name="connsiteY6" fmla="*/ 60385 h 94890"/>
              <a:gd name="connsiteX7" fmla="*/ 189781 w 328843"/>
              <a:gd name="connsiteY7" fmla="*/ 86264 h 94890"/>
              <a:gd name="connsiteX8" fmla="*/ 224287 w 328843"/>
              <a:gd name="connsiteY8" fmla="*/ 25879 h 94890"/>
              <a:gd name="connsiteX9" fmla="*/ 250166 w 328843"/>
              <a:gd name="connsiteY9" fmla="*/ 8626 h 94890"/>
              <a:gd name="connsiteX10" fmla="*/ 284672 w 328843"/>
              <a:gd name="connsiteY10" fmla="*/ 69011 h 94890"/>
              <a:gd name="connsiteX11" fmla="*/ 293298 w 328843"/>
              <a:gd name="connsiteY11" fmla="*/ 94890 h 94890"/>
              <a:gd name="connsiteX12" fmla="*/ 319177 w 328843"/>
              <a:gd name="connsiteY12" fmla="*/ 77637 h 94890"/>
              <a:gd name="connsiteX13" fmla="*/ 327804 w 328843"/>
              <a:gd name="connsiteY13" fmla="*/ 0 h 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8843" h="94890">
                <a:moveTo>
                  <a:pt x="0" y="51758"/>
                </a:moveTo>
                <a:lnTo>
                  <a:pt x="0" y="51758"/>
                </a:lnTo>
                <a:cubicBezTo>
                  <a:pt x="23004" y="60384"/>
                  <a:pt x="44839" y="73242"/>
                  <a:pt x="69011" y="77637"/>
                </a:cubicBezTo>
                <a:cubicBezTo>
                  <a:pt x="77958" y="79264"/>
                  <a:pt x="90379" y="76906"/>
                  <a:pt x="94891" y="69011"/>
                </a:cubicBezTo>
                <a:cubicBezTo>
                  <a:pt x="103569" y="53825"/>
                  <a:pt x="100642" y="34506"/>
                  <a:pt x="103517" y="17253"/>
                </a:cubicBezTo>
                <a:cubicBezTo>
                  <a:pt x="117894" y="23004"/>
                  <a:pt x="134049" y="25505"/>
                  <a:pt x="146649" y="34505"/>
                </a:cubicBezTo>
                <a:cubicBezTo>
                  <a:pt x="155086" y="40531"/>
                  <a:pt x="157265" y="52420"/>
                  <a:pt x="163902" y="60385"/>
                </a:cubicBezTo>
                <a:cubicBezTo>
                  <a:pt x="171712" y="69757"/>
                  <a:pt x="181155" y="77638"/>
                  <a:pt x="189781" y="86264"/>
                </a:cubicBezTo>
                <a:cubicBezTo>
                  <a:pt x="196547" y="72731"/>
                  <a:pt x="212093" y="38073"/>
                  <a:pt x="224287" y="25879"/>
                </a:cubicBezTo>
                <a:cubicBezTo>
                  <a:pt x="231618" y="18548"/>
                  <a:pt x="241540" y="14377"/>
                  <a:pt x="250166" y="8626"/>
                </a:cubicBezTo>
                <a:cubicBezTo>
                  <a:pt x="267493" y="34616"/>
                  <a:pt x="271538" y="38366"/>
                  <a:pt x="284672" y="69011"/>
                </a:cubicBezTo>
                <a:cubicBezTo>
                  <a:pt x="288254" y="77369"/>
                  <a:pt x="290423" y="86264"/>
                  <a:pt x="293298" y="94890"/>
                </a:cubicBezTo>
                <a:cubicBezTo>
                  <a:pt x="301924" y="89139"/>
                  <a:pt x="312700" y="85733"/>
                  <a:pt x="319177" y="77637"/>
                </a:cubicBezTo>
                <a:cubicBezTo>
                  <a:pt x="333260" y="60033"/>
                  <a:pt x="327804" y="14096"/>
                  <a:pt x="327804" y="0"/>
                </a:cubicBezTo>
              </a:path>
            </a:pathLst>
          </a:cu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6337" name="文本框 4"/>
          <p:cNvSpPr txBox="1"/>
          <p:nvPr/>
        </p:nvSpPr>
        <p:spPr>
          <a:xfrm>
            <a:off x="8405813" y="1162050"/>
            <a:ext cx="576262" cy="706438"/>
          </a:xfrm>
          <a:prstGeom prst="rect">
            <a:avLst/>
          </a:prstGeom>
          <a:noFill/>
          <a:ln w="9525">
            <a:noFill/>
          </a:ln>
        </p:spPr>
        <p:txBody>
          <a:bodyPr>
            <a:spAutoFit/>
          </a:bodyPr>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12</a:t>
            </a:r>
            <a:endParaRPr lang="zh-CN" altLang="en-US" sz="2000" dirty="0">
              <a:latin typeface="Times New Roman" panose="02020603050405020304" pitchFamily="18" charset="0"/>
              <a:ea typeface="Times New Roman" panose="02020603050405020304" pitchFamily="18" charset="0"/>
            </a:endParaRPr>
          </a:p>
        </p:txBody>
      </p:sp>
      <p:sp>
        <p:nvSpPr>
          <p:cNvPr id="56338" name="文本框 19"/>
          <p:cNvSpPr txBox="1"/>
          <p:nvPr/>
        </p:nvSpPr>
        <p:spPr>
          <a:xfrm>
            <a:off x="8105775" y="771525"/>
            <a:ext cx="784225" cy="400050"/>
          </a:xfrm>
          <a:prstGeom prst="rect">
            <a:avLst/>
          </a:prstGeom>
          <a:noFill/>
          <a:ln w="9525">
            <a:noFill/>
          </a:ln>
        </p:spPr>
        <p:txBody>
          <a:bodyPr>
            <a:spAutoFit/>
          </a:bodyPr>
          <a:p>
            <a:r>
              <a:rPr lang="en-US" altLang="zh-CN" sz="2000" dirty="0">
                <a:latin typeface="Times New Roman" panose="02020603050405020304" pitchFamily="18" charset="0"/>
                <a:cs typeface="Times New Roman" panose="02020603050405020304" pitchFamily="18" charset="0"/>
              </a:rPr>
              <a:t>6kΩ</a:t>
            </a:r>
            <a:endParaRPr lang="zh-CN" altLang="en-US" sz="2000" dirty="0">
              <a:latin typeface="Times New Roman" panose="02020603050405020304" pitchFamily="18" charset="0"/>
              <a:ea typeface="Times New Roman" panose="02020603050405020304" pitchFamily="18" charset="0"/>
            </a:endParaRPr>
          </a:p>
        </p:txBody>
      </p:sp>
      <p:cxnSp>
        <p:nvCxnSpPr>
          <p:cNvPr id="7" name="直接连接符 6"/>
          <p:cNvCxnSpPr/>
          <p:nvPr/>
        </p:nvCxnSpPr>
        <p:spPr>
          <a:xfrm>
            <a:off x="8169275" y="1789113"/>
            <a:ext cx="328613" cy="2587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3832860" y="2132965"/>
            <a:ext cx="5475605" cy="2527300"/>
          </a:xfrm>
          <a:prstGeom prst="rect">
            <a:avLst/>
          </a:prstGeom>
        </p:spPr>
      </p:pic>
      <p:sp>
        <p:nvSpPr>
          <p:cNvPr id="7" name="文本框 6"/>
          <p:cNvSpPr txBox="1"/>
          <p:nvPr/>
        </p:nvSpPr>
        <p:spPr>
          <a:xfrm>
            <a:off x="399415" y="2305050"/>
            <a:ext cx="2963545" cy="3969385"/>
          </a:xfrm>
          <a:prstGeom prst="rect">
            <a:avLst/>
          </a:prstGeom>
          <a:noFill/>
        </p:spPr>
        <p:txBody>
          <a:bodyPr wrap="square" rtlCol="0">
            <a:spAutoFit/>
          </a:bodyPr>
          <a:p>
            <a:r>
              <a:rPr lang="en-US" altLang="zh-CN"/>
              <a:t>9+3=12</a:t>
            </a:r>
            <a:r>
              <a:rPr lang="zh-CN" altLang="en-US"/>
              <a:t>（</a:t>
            </a:r>
            <a:r>
              <a:rPr lang="en-US" altLang="zh-CN"/>
              <a:t>K    </a:t>
            </a:r>
            <a:r>
              <a:rPr lang="zh-CN" altLang="en-US"/>
              <a:t>）</a:t>
            </a:r>
            <a:endParaRPr lang="zh-CN" altLang="en-US"/>
          </a:p>
          <a:p>
            <a:endParaRPr lang="zh-CN" altLang="en-US"/>
          </a:p>
          <a:p>
            <a:r>
              <a:rPr lang="en-US" altLang="zh-CN"/>
              <a:t>(15X60)/(15+60)=12</a:t>
            </a:r>
            <a:r>
              <a:rPr lang="zh-CN" altLang="en-US"/>
              <a:t>（</a:t>
            </a:r>
            <a:r>
              <a:rPr lang="en-US" altLang="zh-CN"/>
              <a:t>K</a:t>
            </a:r>
            <a:r>
              <a:rPr lang="zh-CN" altLang="en-US"/>
              <a:t>欧姆）</a:t>
            </a:r>
            <a:endParaRPr lang="zh-CN" altLang="en-US"/>
          </a:p>
          <a:p>
            <a:endParaRPr lang="zh-CN" altLang="en-US"/>
          </a:p>
          <a:p>
            <a:r>
              <a:rPr lang="en-US" altLang="zh-CN"/>
              <a:t>12||12=6</a:t>
            </a:r>
            <a:r>
              <a:rPr lang="zh-CN" altLang="en-US"/>
              <a:t>（</a:t>
            </a:r>
            <a:r>
              <a:rPr lang="en-US" altLang="zh-CN"/>
              <a:t> K</a:t>
            </a:r>
            <a:r>
              <a:rPr lang="zh-CN" altLang="en-US"/>
              <a:t>欧姆）</a:t>
            </a:r>
            <a:endParaRPr lang="zh-CN" altLang="en-US"/>
          </a:p>
          <a:p>
            <a:endParaRPr lang="zh-CN" altLang="en-US"/>
          </a:p>
          <a:p>
            <a:r>
              <a:rPr lang="en-US" altLang="zh-CN"/>
              <a:t>V2=30X6=180</a:t>
            </a:r>
            <a:r>
              <a:rPr lang="zh-CN" altLang="en-US"/>
              <a:t>（</a:t>
            </a:r>
            <a:r>
              <a:rPr lang="en-US" altLang="zh-CN"/>
              <a:t>V</a:t>
            </a:r>
            <a:r>
              <a:rPr lang="zh-CN" altLang="en-US"/>
              <a:t>）</a:t>
            </a:r>
            <a:endParaRPr lang="en-US" altLang="zh-CN"/>
          </a:p>
          <a:p>
            <a:endParaRPr lang="en-US" altLang="zh-CN"/>
          </a:p>
          <a:p>
            <a:r>
              <a:rPr lang="en-US" altLang="zh-CN"/>
              <a:t>V1=9X180/12=135(V)</a:t>
            </a:r>
            <a:endParaRPr lang="en-US" altLang="zh-CN"/>
          </a:p>
          <a:p>
            <a:endParaRPr lang="en-US" altLang="zh-CN"/>
          </a:p>
          <a:p>
            <a:r>
              <a:rPr lang="en-US" altLang="zh-CN"/>
              <a:t>P</a:t>
            </a:r>
            <a:r>
              <a:rPr lang="en-US" altLang="zh-CN" baseline="-25000">
                <a:solidFill>
                  <a:schemeClr val="tx1"/>
                </a:solidFill>
                <a:uFillTx/>
              </a:rPr>
              <a:t>3</a:t>
            </a:r>
            <a:r>
              <a:rPr lang="en-US" altLang="zh-CN"/>
              <a:t>=(180-135)</a:t>
            </a:r>
            <a:r>
              <a:rPr lang="en-US" altLang="zh-CN" baseline="30000">
                <a:solidFill>
                  <a:schemeClr val="tx1"/>
                </a:solidFill>
                <a:uFillTx/>
              </a:rPr>
              <a:t>2</a:t>
            </a:r>
            <a:r>
              <a:rPr lang="en-US" altLang="zh-CN"/>
              <a:t>/3=675(mw)</a:t>
            </a:r>
            <a:endParaRPr lang="en-US" altLang="zh-CN"/>
          </a:p>
          <a:p>
            <a:endParaRPr lang="en-US" altLang="zh-CN"/>
          </a:p>
          <a:p>
            <a:r>
              <a:rPr lang="en-US" altLang="zh-CN"/>
              <a:t>P</a:t>
            </a:r>
            <a:r>
              <a:rPr lang="en-US" altLang="zh-CN" baseline="-25000">
                <a:solidFill>
                  <a:schemeClr val="tx1"/>
                </a:solidFill>
                <a:uFillTx/>
              </a:rPr>
              <a:t>60</a:t>
            </a:r>
            <a:r>
              <a:rPr lang="en-US" altLang="zh-CN">
                <a:sym typeface="+mn-ea"/>
              </a:rPr>
              <a:t>=180X180/60=540(mw)</a:t>
            </a:r>
            <a:endParaRPr lang="en-US" altLang="zh-CN" baseline="-25000">
              <a:solidFill>
                <a:schemeClr val="tx1"/>
              </a:solidFill>
              <a:uFillTx/>
            </a:endParaRPr>
          </a:p>
        </p:txBody>
      </p:sp>
      <p:graphicFrame>
        <p:nvGraphicFramePr>
          <p:cNvPr id="8" name="对象 7">
            <a:hlinkClick r:id="" action="ppaction://ole?verb="/>
          </p:cNvPr>
          <p:cNvGraphicFramePr>
            <a:graphicFrameLocks noChangeAspect="1"/>
          </p:cNvGraphicFramePr>
          <p:nvPr/>
        </p:nvGraphicFramePr>
        <p:xfrm>
          <a:off x="1598295" y="2366010"/>
          <a:ext cx="165100" cy="165100"/>
        </p:xfrm>
        <a:graphic>
          <a:graphicData uri="http://schemas.openxmlformats.org/presentationml/2006/ole">
            <mc:AlternateContent xmlns:mc="http://schemas.openxmlformats.org/markup-compatibility/2006">
              <mc:Choice xmlns:v="urn:schemas-microsoft-com:vml" Requires="v">
                <p:oleObj spid="_x0000_s3073" name="" r:id="rId2" imgW="165100" imgH="165100" progId="Equation.KSEE3">
                  <p:embed/>
                </p:oleObj>
              </mc:Choice>
              <mc:Fallback>
                <p:oleObj name="" r:id="rId2" imgW="165100" imgH="165100" progId="Equation.KSEE3">
                  <p:embed/>
                  <p:pic>
                    <p:nvPicPr>
                      <p:cNvPr id="0" name="图片 3072"/>
                      <p:cNvPicPr/>
                      <p:nvPr/>
                    </p:nvPicPr>
                    <p:blipFill>
                      <a:blip r:embed="rId3"/>
                      <a:stretch>
                        <a:fillRect/>
                      </a:stretch>
                    </p:blipFill>
                    <p:spPr>
                      <a:xfrm>
                        <a:off x="1598295" y="2366010"/>
                        <a:ext cx="165100" cy="165100"/>
                      </a:xfrm>
                      <a:prstGeom prst="rect">
                        <a:avLst/>
                      </a:prstGeom>
                    </p:spPr>
                  </p:pic>
                </p:oleObj>
              </mc:Fallback>
            </mc:AlternateContent>
          </a:graphicData>
        </a:graphic>
      </p:graphicFrame>
      <p:graphicFrame>
        <p:nvGraphicFramePr>
          <p:cNvPr id="9" name="对象 8"/>
          <p:cNvGraphicFramePr/>
          <p:nvPr/>
        </p:nvGraphicFramePr>
        <p:xfrm>
          <a:off x="633730" y="539750"/>
          <a:ext cx="6257925" cy="1443990"/>
        </p:xfrm>
        <a:graphic>
          <a:graphicData uri="http://schemas.openxmlformats.org/presentationml/2006/ole">
            <mc:AlternateContent xmlns:mc="http://schemas.openxmlformats.org/markup-compatibility/2006">
              <mc:Choice xmlns:v="urn:schemas-microsoft-com:vml" Requires="v">
                <p:oleObj spid="_x0000_s10" name="" r:id="rId4" imgW="6253480" imgH="1442720" progId="Paint.Picture">
                  <p:embed/>
                </p:oleObj>
              </mc:Choice>
              <mc:Fallback>
                <p:oleObj name="" r:id="rId4" imgW="6253480" imgH="1442720" progId="Paint.Picture">
                  <p:embed/>
                  <p:pic>
                    <p:nvPicPr>
                      <p:cNvPr id="0" name="图片 9"/>
                      <p:cNvPicPr/>
                      <p:nvPr/>
                    </p:nvPicPr>
                    <p:blipFill>
                      <a:blip r:embed="rId5"/>
                      <a:stretch>
                        <a:fillRect/>
                      </a:stretch>
                    </p:blipFill>
                    <p:spPr>
                      <a:xfrm>
                        <a:off x="633730" y="539750"/>
                        <a:ext cx="6257925" cy="1443990"/>
                      </a:xfrm>
                      <a:prstGeom prst="rect">
                        <a:avLst/>
                      </a:prstGeom>
                    </p:spPr>
                  </p:pic>
                </p:oleObj>
              </mc:Fallback>
            </mc:AlternateContent>
          </a:graphicData>
        </a:graphic>
      </p:graphicFrame>
      <p:sp>
        <p:nvSpPr>
          <p:cNvPr id="11" name="文本框 10"/>
          <p:cNvSpPr txBox="1"/>
          <p:nvPr/>
        </p:nvSpPr>
        <p:spPr>
          <a:xfrm>
            <a:off x="3885565" y="5428615"/>
            <a:ext cx="5151120" cy="368300"/>
          </a:xfrm>
          <a:prstGeom prst="rect">
            <a:avLst/>
          </a:prstGeom>
          <a:noFill/>
        </p:spPr>
        <p:txBody>
          <a:bodyPr wrap="square" rtlCol="0">
            <a:spAutoFit/>
          </a:bodyPr>
          <a:p>
            <a:r>
              <a:rPr lang="zh-CN" altLang="en-US"/>
              <a:t>电流源提供的功率：</a:t>
            </a:r>
            <a:r>
              <a:rPr lang="en-US" altLang="zh-CN"/>
              <a:t>P=30X180=5400mw=5.4W</a:t>
            </a:r>
            <a:endParaRPr lang="en-US" altLang="zh-C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p:nvPr>
        </p:nvSpPr>
        <p:spPr>
          <a:xfrm>
            <a:off x="395288" y="549275"/>
            <a:ext cx="8748712" cy="739775"/>
          </a:xfrm>
        </p:spPr>
        <p:txBody>
          <a:bodyPr vert="horz" wrap="square" lIns="91440" tIns="45720" rIns="91440" bIns="45720" anchor="ctr"/>
          <a:p>
            <a:pPr eaLnBrk="1" hangingPunct="1"/>
            <a:r>
              <a:rPr lang="en-US" altLang="zh-CN" sz="4000" b="1" dirty="0">
                <a:solidFill>
                  <a:srgbClr val="0000FF"/>
                </a:solidFill>
                <a:latin typeface="Franklin Gothic Medium" panose="020B0603020102020204" pitchFamily="34" charset="0"/>
              </a:rPr>
              <a:t>2.7  WYE-DELTA  </a:t>
            </a:r>
            <a:br>
              <a:rPr lang="en-US" altLang="zh-CN" sz="4000" b="1" dirty="0">
                <a:solidFill>
                  <a:srgbClr val="0000FF"/>
                </a:solidFill>
                <a:latin typeface="Franklin Gothic Medium" panose="020B0603020102020204" pitchFamily="34" charset="0"/>
              </a:rPr>
            </a:br>
            <a:r>
              <a:rPr lang="en-US" altLang="zh-CN" sz="4000" b="1" dirty="0">
                <a:solidFill>
                  <a:srgbClr val="0000FF"/>
                </a:solidFill>
                <a:latin typeface="Franklin Gothic Medium" panose="020B0603020102020204" pitchFamily="34" charset="0"/>
              </a:rPr>
              <a:t>       TRANSFORMATIONS</a:t>
            </a:r>
            <a:r>
              <a:rPr lang="zh-CN" altLang="en-US" sz="4000" b="1" dirty="0">
                <a:solidFill>
                  <a:srgbClr val="0000FF"/>
                </a:solidFill>
                <a:latin typeface="Franklin Gothic Medium" panose="020B0603020102020204" pitchFamily="34" charset="0"/>
              </a:rPr>
              <a:t>（自学）</a:t>
            </a:r>
            <a:endParaRPr lang="en-US" altLang="zh-CN" sz="4000" b="1" dirty="0">
              <a:solidFill>
                <a:srgbClr val="0000FF"/>
              </a:solidFill>
              <a:latin typeface="Franklin Gothic Medium" panose="020B0603020102020204" pitchFamily="34" charset="0"/>
            </a:endParaRPr>
          </a:p>
        </p:txBody>
      </p:sp>
      <p:sp>
        <p:nvSpPr>
          <p:cNvPr id="57347" name="Text Box 11"/>
          <p:cNvSpPr txBox="1"/>
          <p:nvPr/>
        </p:nvSpPr>
        <p:spPr>
          <a:xfrm>
            <a:off x="5219700" y="5300663"/>
            <a:ext cx="3024188"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000" dirty="0"/>
              <a:t>2.46 The bridge network</a:t>
            </a:r>
            <a:endParaRPr lang="en-US" altLang="zh-CN" sz="2000" dirty="0"/>
          </a:p>
        </p:txBody>
      </p:sp>
      <p:pic>
        <p:nvPicPr>
          <p:cNvPr id="57348" name="Picture 19"/>
          <p:cNvPicPr>
            <a:picLocks noChangeAspect="1"/>
          </p:cNvPicPr>
          <p:nvPr/>
        </p:nvPicPr>
        <p:blipFill>
          <a:blip r:embed="rId1"/>
          <a:stretch>
            <a:fillRect/>
          </a:stretch>
        </p:blipFill>
        <p:spPr>
          <a:xfrm>
            <a:off x="4427538" y="1989138"/>
            <a:ext cx="3671887" cy="2808287"/>
          </a:xfrm>
          <a:prstGeom prst="rect">
            <a:avLst/>
          </a:prstGeom>
          <a:noFill/>
          <a:ln w="9525">
            <a:noFill/>
          </a:ln>
        </p:spPr>
      </p:pic>
      <p:sp>
        <p:nvSpPr>
          <p:cNvPr id="57349" name="Text Box 20"/>
          <p:cNvSpPr txBox="1"/>
          <p:nvPr/>
        </p:nvSpPr>
        <p:spPr>
          <a:xfrm>
            <a:off x="827088" y="2060575"/>
            <a:ext cx="3692525" cy="3378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     Situations often arise in circuit analysis when the resistors are </a:t>
            </a:r>
            <a:r>
              <a:rPr lang="en-US" altLang="zh-CN" sz="2400" b="1" dirty="0">
                <a:solidFill>
                  <a:srgbClr val="FF0000"/>
                </a:solidFill>
                <a:latin typeface="Times New Roman" panose="02020603050405020304" pitchFamily="18" charset="0"/>
              </a:rPr>
              <a:t>neither in parallel nor in series</a:t>
            </a:r>
            <a:r>
              <a:rPr lang="en-US" altLang="zh-CN" sz="2400" b="1" dirty="0">
                <a:latin typeface="Times New Roman" panose="02020603050405020304" pitchFamily="18" charset="0"/>
              </a:rPr>
              <a:t>.  </a:t>
            </a:r>
            <a:endParaRPr lang="en-US" altLang="zh-CN" sz="2400" b="1" dirty="0">
              <a:latin typeface="Times New Roman" panose="02020603050405020304" pitchFamily="18" charset="0"/>
            </a:endParaRPr>
          </a:p>
          <a:p>
            <a:pPr marL="0" lvl="0" indent="0" eaLnBrk="1" hangingPunct="1">
              <a:spcBef>
                <a:spcPct val="0"/>
              </a:spcBef>
              <a:buClrTx/>
              <a:buSzTx/>
              <a:buFontTx/>
              <a:buNone/>
            </a:pPr>
            <a:endParaRPr lang="en-US" altLang="zh-CN" sz="2400" b="1" dirty="0">
              <a:latin typeface="Times New Roman" panose="02020603050405020304" pitchFamily="18" charset="0"/>
            </a:endParaRPr>
          </a:p>
          <a:p>
            <a:pPr marL="0" lvl="0" indent="0" eaLnBrk="1" hangingPunct="1">
              <a:spcBef>
                <a:spcPct val="0"/>
              </a:spcBef>
              <a:buClrTx/>
              <a:buSzTx/>
              <a:buFontTx/>
              <a:buNone/>
            </a:pPr>
            <a:r>
              <a:rPr lang="en-US" altLang="zh-CN" sz="2400" b="1" dirty="0">
                <a:latin typeface="Times New Roman" panose="02020603050405020304" pitchFamily="18" charset="0"/>
              </a:rPr>
              <a:t>     These circuits can be simplified by using </a:t>
            </a:r>
            <a:r>
              <a:rPr lang="en-US" altLang="zh-CN" sz="2400" b="1" dirty="0">
                <a:solidFill>
                  <a:schemeClr val="bg2"/>
                </a:solidFill>
                <a:latin typeface="Times New Roman" panose="02020603050405020304" pitchFamily="18" charset="0"/>
              </a:rPr>
              <a:t>three-terminal equivalent networks</a:t>
            </a:r>
            <a:r>
              <a:rPr lang="en-US" altLang="zh-CN" sz="2400" b="1" dirty="0">
                <a:latin typeface="Times New Roman" panose="02020603050405020304" pitchFamily="18" charset="0"/>
              </a:rPr>
              <a:t>.  </a:t>
            </a:r>
            <a:endParaRPr lang="en-US" altLang="zh-CN" sz="2400" b="1" dirty="0">
              <a:latin typeface="Times New Roman" panose="02020603050405020304" pitchFamily="18" charset="0"/>
            </a:endParaRPr>
          </a:p>
        </p:txBody>
      </p:sp>
      <p:sp>
        <p:nvSpPr>
          <p:cNvPr id="57350"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57351" name="文本框 1"/>
          <p:cNvSpPr txBox="1"/>
          <p:nvPr/>
        </p:nvSpPr>
        <p:spPr>
          <a:xfrm>
            <a:off x="4729163" y="5800725"/>
            <a:ext cx="3648075"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1800" dirty="0"/>
              <a:t>难以用串并联方式判断其联接形式</a:t>
            </a:r>
            <a:endParaRPr lang="zh-CN" altLang="en-US" sz="1800" dirty="0"/>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9394" name="Picture 4"/>
          <p:cNvPicPr>
            <a:picLocks noChangeAspect="1"/>
          </p:cNvPicPr>
          <p:nvPr>
            <p:ph sz="half" idx="1"/>
          </p:nvPr>
        </p:nvPicPr>
        <p:blipFill>
          <a:blip r:embed="rId1"/>
          <a:srcRect/>
          <a:stretch>
            <a:fillRect/>
          </a:stretch>
        </p:blipFill>
        <p:spPr>
          <a:xfrm>
            <a:off x="4787900" y="484188"/>
            <a:ext cx="3887788" cy="2027237"/>
          </a:xfrm>
        </p:spPr>
      </p:pic>
      <p:pic>
        <p:nvPicPr>
          <p:cNvPr id="59395" name="Picture 6"/>
          <p:cNvPicPr>
            <a:picLocks noChangeAspect="1"/>
          </p:cNvPicPr>
          <p:nvPr>
            <p:ph sz="quarter" idx="2"/>
          </p:nvPr>
        </p:nvPicPr>
        <p:blipFill>
          <a:blip r:embed="rId2"/>
          <a:srcRect/>
          <a:stretch>
            <a:fillRect/>
          </a:stretch>
        </p:blipFill>
        <p:spPr>
          <a:xfrm>
            <a:off x="1547813" y="549275"/>
            <a:ext cx="2879725" cy="1968500"/>
          </a:xfrm>
        </p:spPr>
      </p:pic>
      <p:sp>
        <p:nvSpPr>
          <p:cNvPr id="59396" name="Text Box 9"/>
          <p:cNvSpPr txBox="1"/>
          <p:nvPr/>
        </p:nvSpPr>
        <p:spPr>
          <a:xfrm>
            <a:off x="1403350" y="2708275"/>
            <a:ext cx="669607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000" dirty="0"/>
              <a:t>Figure 2.47 Two forms of the same network; (a)Y (b)T</a:t>
            </a:r>
            <a:endParaRPr lang="en-US" altLang="zh-CN" sz="2000" dirty="0"/>
          </a:p>
        </p:txBody>
      </p:sp>
      <p:sp>
        <p:nvSpPr>
          <p:cNvPr id="59397" name="Text Box 10"/>
          <p:cNvSpPr txBox="1"/>
          <p:nvPr/>
        </p:nvSpPr>
        <p:spPr>
          <a:xfrm>
            <a:off x="2771775" y="2420938"/>
            <a:ext cx="4635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dirty="0"/>
              <a:t>(a)</a:t>
            </a:r>
            <a:endParaRPr lang="en-US" altLang="zh-CN" sz="1800" dirty="0"/>
          </a:p>
        </p:txBody>
      </p:sp>
      <p:sp>
        <p:nvSpPr>
          <p:cNvPr id="59398" name="Text Box 11"/>
          <p:cNvSpPr txBox="1"/>
          <p:nvPr/>
        </p:nvSpPr>
        <p:spPr>
          <a:xfrm>
            <a:off x="6588125" y="2420938"/>
            <a:ext cx="4635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dirty="0"/>
              <a:t>(b)</a:t>
            </a:r>
            <a:endParaRPr lang="en-US" altLang="zh-CN" sz="1800" dirty="0"/>
          </a:p>
        </p:txBody>
      </p:sp>
      <p:grpSp>
        <p:nvGrpSpPr>
          <p:cNvPr id="59399" name="Group 12"/>
          <p:cNvGrpSpPr/>
          <p:nvPr/>
        </p:nvGrpSpPr>
        <p:grpSpPr>
          <a:xfrm>
            <a:off x="1763713" y="3357563"/>
            <a:ext cx="6121400" cy="2808287"/>
            <a:chOff x="0" y="1380"/>
            <a:chExt cx="5691" cy="2172"/>
          </a:xfrm>
        </p:grpSpPr>
        <p:grpSp>
          <p:nvGrpSpPr>
            <p:cNvPr id="59403" name="Group 13"/>
            <p:cNvGrpSpPr/>
            <p:nvPr/>
          </p:nvGrpSpPr>
          <p:grpSpPr>
            <a:xfrm>
              <a:off x="0" y="1380"/>
              <a:ext cx="2544" cy="2172"/>
              <a:chOff x="1471" y="309"/>
              <a:chExt cx="2811" cy="1744"/>
            </a:xfrm>
          </p:grpSpPr>
          <p:sp>
            <p:nvSpPr>
              <p:cNvPr id="59477" name="Freeform 14"/>
              <p:cNvSpPr/>
              <p:nvPr/>
            </p:nvSpPr>
            <p:spPr>
              <a:xfrm>
                <a:off x="2105" y="584"/>
                <a:ext cx="1956" cy="1"/>
              </a:xfrm>
              <a:custGeom>
                <a:avLst/>
                <a:gdLst>
                  <a:gd name="txL" fmla="*/ 0 w 1956"/>
                  <a:gd name="txT" fmla="*/ 0 h 1"/>
                  <a:gd name="txR" fmla="*/ 1956 w 1956"/>
                  <a:gd name="txB" fmla="*/ 1 h 1"/>
                </a:gdLst>
                <a:ahLst/>
                <a:cxnLst>
                  <a:cxn ang="0">
                    <a:pos x="1956" y="0"/>
                  </a:cxn>
                  <a:cxn ang="0">
                    <a:pos x="0" y="0"/>
                  </a:cxn>
                  <a:cxn ang="0">
                    <a:pos x="1956" y="0"/>
                  </a:cxn>
                  <a:cxn ang="0">
                    <a:pos x="1956" y="0"/>
                  </a:cxn>
                </a:cxnLst>
                <a:rect l="txL" t="txT" r="txR" b="txB"/>
                <a:pathLst>
                  <a:path w="1956" h="1">
                    <a:moveTo>
                      <a:pt x="1956" y="0"/>
                    </a:moveTo>
                    <a:lnTo>
                      <a:pt x="0" y="0"/>
                    </a:lnTo>
                    <a:lnTo>
                      <a:pt x="195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78" name="Freeform 15"/>
              <p:cNvSpPr/>
              <p:nvPr/>
            </p:nvSpPr>
            <p:spPr>
              <a:xfrm>
                <a:off x="1680" y="584"/>
                <a:ext cx="521" cy="1"/>
              </a:xfrm>
              <a:custGeom>
                <a:avLst/>
                <a:gdLst>
                  <a:gd name="txL" fmla="*/ 0 w 521"/>
                  <a:gd name="txT" fmla="*/ 0 h 1"/>
                  <a:gd name="txR" fmla="*/ 521 w 521"/>
                  <a:gd name="txB" fmla="*/ 1 h 1"/>
                </a:gdLst>
                <a:ahLst/>
                <a:cxnLst>
                  <a:cxn ang="0">
                    <a:pos x="521" y="0"/>
                  </a:cxn>
                  <a:cxn ang="0">
                    <a:pos x="0" y="0"/>
                  </a:cxn>
                  <a:cxn ang="0">
                    <a:pos x="521" y="0"/>
                  </a:cxn>
                  <a:cxn ang="0">
                    <a:pos x="521" y="0"/>
                  </a:cxn>
                </a:cxnLst>
                <a:rect l="txL" t="txT" r="txR" b="txB"/>
                <a:pathLst>
                  <a:path w="521" h="1">
                    <a:moveTo>
                      <a:pt x="521" y="0"/>
                    </a:moveTo>
                    <a:lnTo>
                      <a:pt x="0" y="0"/>
                    </a:lnTo>
                    <a:lnTo>
                      <a:pt x="521"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79" name="Freeform 16"/>
              <p:cNvSpPr/>
              <p:nvPr/>
            </p:nvSpPr>
            <p:spPr>
              <a:xfrm>
                <a:off x="1680" y="1706"/>
                <a:ext cx="2381" cy="1"/>
              </a:xfrm>
              <a:custGeom>
                <a:avLst/>
                <a:gdLst>
                  <a:gd name="txL" fmla="*/ 0 w 2381"/>
                  <a:gd name="txT" fmla="*/ 0 h 1"/>
                  <a:gd name="txR" fmla="*/ 2381 w 2381"/>
                  <a:gd name="txB" fmla="*/ 1 h 1"/>
                </a:gdLst>
                <a:ahLst/>
                <a:cxnLst>
                  <a:cxn ang="0">
                    <a:pos x="0" y="0"/>
                  </a:cxn>
                  <a:cxn ang="0">
                    <a:pos x="2381" y="0"/>
                  </a:cxn>
                  <a:cxn ang="0">
                    <a:pos x="0" y="0"/>
                  </a:cxn>
                  <a:cxn ang="0">
                    <a:pos x="0" y="0"/>
                  </a:cxn>
                </a:cxnLst>
                <a:rect l="txL" t="txT" r="txR" b="txB"/>
                <a:pathLst>
                  <a:path w="2381" h="1">
                    <a:moveTo>
                      <a:pt x="0" y="0"/>
                    </a:moveTo>
                    <a:lnTo>
                      <a:pt x="2381"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80" name="Freeform 17"/>
              <p:cNvSpPr/>
              <p:nvPr/>
            </p:nvSpPr>
            <p:spPr>
              <a:xfrm>
                <a:off x="2153" y="589"/>
                <a:ext cx="718" cy="1117"/>
              </a:xfrm>
              <a:custGeom>
                <a:avLst/>
                <a:gdLst>
                  <a:gd name="txL" fmla="*/ 0 w 718"/>
                  <a:gd name="txT" fmla="*/ 0 h 1117"/>
                  <a:gd name="txR" fmla="*/ 718 w 718"/>
                  <a:gd name="txB" fmla="*/ 1117 h 1117"/>
                </a:gdLst>
                <a:ahLst/>
                <a:cxnLst>
                  <a:cxn ang="0">
                    <a:pos x="0" y="0"/>
                  </a:cxn>
                  <a:cxn ang="0">
                    <a:pos x="718" y="1117"/>
                  </a:cxn>
                  <a:cxn ang="0">
                    <a:pos x="0" y="0"/>
                  </a:cxn>
                  <a:cxn ang="0">
                    <a:pos x="0" y="0"/>
                  </a:cxn>
                </a:cxnLst>
                <a:rect l="txL" t="txT" r="txR" b="txB"/>
                <a:pathLst>
                  <a:path w="718" h="1117">
                    <a:moveTo>
                      <a:pt x="0" y="0"/>
                    </a:moveTo>
                    <a:lnTo>
                      <a:pt x="718" y="1117"/>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81" name="Freeform 18"/>
              <p:cNvSpPr>
                <a:spLocks noEditPoints="1"/>
              </p:cNvSpPr>
              <p:nvPr/>
            </p:nvSpPr>
            <p:spPr>
              <a:xfrm>
                <a:off x="2871" y="589"/>
                <a:ext cx="711" cy="1117"/>
              </a:xfrm>
              <a:custGeom>
                <a:avLst/>
                <a:gdLst>
                  <a:gd name="txL" fmla="*/ 0 w 711"/>
                  <a:gd name="txT" fmla="*/ 0 h 1117"/>
                  <a:gd name="txR" fmla="*/ 711 w 711"/>
                  <a:gd name="txB" fmla="*/ 1117 h 1117"/>
                </a:gdLst>
                <a:ahLst/>
                <a:cxnLst>
                  <a:cxn ang="0">
                    <a:pos x="0" y="1117"/>
                  </a:cxn>
                  <a:cxn ang="0">
                    <a:pos x="711" y="0"/>
                  </a:cxn>
                  <a:cxn ang="0">
                    <a:pos x="0" y="1117"/>
                  </a:cxn>
                  <a:cxn ang="0">
                    <a:pos x="0" y="1117"/>
                  </a:cxn>
                  <a:cxn ang="0">
                    <a:pos x="0" y="1117"/>
                  </a:cxn>
                  <a:cxn ang="0">
                    <a:pos x="0" y="1117"/>
                  </a:cxn>
                  <a:cxn ang="0">
                    <a:pos x="0" y="1117"/>
                  </a:cxn>
                </a:cxnLst>
                <a:rect l="txL" t="txT" r="txR" b="txB"/>
                <a:pathLst>
                  <a:path w="711" h="1117">
                    <a:moveTo>
                      <a:pt x="0" y="1117"/>
                    </a:moveTo>
                    <a:lnTo>
                      <a:pt x="711" y="0"/>
                    </a:lnTo>
                    <a:lnTo>
                      <a:pt x="0" y="1117"/>
                    </a:lnTo>
                    <a:close/>
                    <a:moveTo>
                      <a:pt x="0" y="1117"/>
                    </a:moveTo>
                    <a:lnTo>
                      <a:pt x="0" y="111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82" name="Freeform 19"/>
              <p:cNvSpPr/>
              <p:nvPr/>
            </p:nvSpPr>
            <p:spPr>
              <a:xfrm>
                <a:off x="2643" y="566"/>
                <a:ext cx="461" cy="41"/>
              </a:xfrm>
              <a:custGeom>
                <a:avLst/>
                <a:gdLst>
                  <a:gd name="txL" fmla="*/ 0 w 461"/>
                  <a:gd name="txT" fmla="*/ 0 h 41"/>
                  <a:gd name="txR" fmla="*/ 461 w 461"/>
                  <a:gd name="txB" fmla="*/ 41 h 41"/>
                </a:gdLst>
                <a:ahLst/>
                <a:cxnLst>
                  <a:cxn ang="0">
                    <a:pos x="0" y="41"/>
                  </a:cxn>
                  <a:cxn ang="0">
                    <a:pos x="0" y="0"/>
                  </a:cxn>
                  <a:cxn ang="0">
                    <a:pos x="461" y="0"/>
                  </a:cxn>
                  <a:cxn ang="0">
                    <a:pos x="461" y="41"/>
                  </a:cxn>
                  <a:cxn ang="0">
                    <a:pos x="0" y="41"/>
                  </a:cxn>
                  <a:cxn ang="0">
                    <a:pos x="0" y="41"/>
                  </a:cxn>
                </a:cxnLst>
                <a:rect l="txL" t="txT" r="txR" b="txB"/>
                <a:pathLst>
                  <a:path w="461" h="41">
                    <a:moveTo>
                      <a:pt x="0" y="41"/>
                    </a:moveTo>
                    <a:lnTo>
                      <a:pt x="0" y="0"/>
                    </a:lnTo>
                    <a:lnTo>
                      <a:pt x="461" y="0"/>
                    </a:lnTo>
                    <a:lnTo>
                      <a:pt x="461" y="41"/>
                    </a:lnTo>
                    <a:lnTo>
                      <a:pt x="0" y="41"/>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59483" name="Freeform 20"/>
              <p:cNvSpPr/>
              <p:nvPr/>
            </p:nvSpPr>
            <p:spPr>
              <a:xfrm>
                <a:off x="3080" y="584"/>
                <a:ext cx="30" cy="47"/>
              </a:xfrm>
              <a:custGeom>
                <a:avLst/>
                <a:gdLst>
                  <a:gd name="txL" fmla="*/ 0 w 30"/>
                  <a:gd name="txT" fmla="*/ 0 h 47"/>
                  <a:gd name="txR" fmla="*/ 30 w 30"/>
                  <a:gd name="txB" fmla="*/ 47 h 47"/>
                </a:gdLst>
                <a:ahLst/>
                <a:cxnLst>
                  <a:cxn ang="0">
                    <a:pos x="30" y="0"/>
                  </a:cxn>
                  <a:cxn ang="0">
                    <a:pos x="0" y="47"/>
                  </a:cxn>
                  <a:cxn ang="0">
                    <a:pos x="30" y="0"/>
                  </a:cxn>
                  <a:cxn ang="0">
                    <a:pos x="30" y="0"/>
                  </a:cxn>
                </a:cxnLst>
                <a:rect l="txL" t="txT" r="txR" b="txB"/>
                <a:pathLst>
                  <a:path w="30" h="47">
                    <a:moveTo>
                      <a:pt x="30" y="0"/>
                    </a:moveTo>
                    <a:lnTo>
                      <a:pt x="0" y="47"/>
                    </a:ln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84" name="Freeform 21"/>
              <p:cNvSpPr>
                <a:spLocks noEditPoints="1"/>
              </p:cNvSpPr>
              <p:nvPr/>
            </p:nvSpPr>
            <p:spPr>
              <a:xfrm>
                <a:off x="3050" y="584"/>
                <a:ext cx="30" cy="47"/>
              </a:xfrm>
              <a:custGeom>
                <a:avLst/>
                <a:gdLst>
                  <a:gd name="txL" fmla="*/ 0 w 30"/>
                  <a:gd name="txT" fmla="*/ 0 h 47"/>
                  <a:gd name="txR" fmla="*/ 30 w 30"/>
                  <a:gd name="txB" fmla="*/ 47 h 47"/>
                </a:gdLst>
                <a:ahLst/>
                <a:cxnLst>
                  <a:cxn ang="0">
                    <a:pos x="30" y="47"/>
                  </a:cxn>
                  <a:cxn ang="0">
                    <a:pos x="0" y="0"/>
                  </a:cxn>
                  <a:cxn ang="0">
                    <a:pos x="30" y="47"/>
                  </a:cxn>
                  <a:cxn ang="0">
                    <a:pos x="30" y="47"/>
                  </a:cxn>
                  <a:cxn ang="0">
                    <a:pos x="30" y="47"/>
                  </a:cxn>
                  <a:cxn ang="0">
                    <a:pos x="30" y="47"/>
                  </a:cxn>
                  <a:cxn ang="0">
                    <a:pos x="30" y="47"/>
                  </a:cxn>
                </a:cxnLst>
                <a:rect l="txL" t="txT" r="txR" b="txB"/>
                <a:pathLst>
                  <a:path w="30" h="47">
                    <a:moveTo>
                      <a:pt x="30" y="47"/>
                    </a:moveTo>
                    <a:lnTo>
                      <a:pt x="0" y="0"/>
                    </a:lnTo>
                    <a:lnTo>
                      <a:pt x="30" y="47"/>
                    </a:lnTo>
                    <a:close/>
                    <a:moveTo>
                      <a:pt x="30" y="47"/>
                    </a:moveTo>
                    <a:lnTo>
                      <a:pt x="30" y="47"/>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85" name="Freeform 22"/>
              <p:cNvSpPr>
                <a:spLocks noEditPoints="1"/>
              </p:cNvSpPr>
              <p:nvPr/>
            </p:nvSpPr>
            <p:spPr>
              <a:xfrm>
                <a:off x="3020" y="536"/>
                <a:ext cx="30" cy="48"/>
              </a:xfrm>
              <a:custGeom>
                <a:avLst/>
                <a:gdLst>
                  <a:gd name="txL" fmla="*/ 0 w 30"/>
                  <a:gd name="txT" fmla="*/ 0 h 48"/>
                  <a:gd name="txR" fmla="*/ 30 w 30"/>
                  <a:gd name="txB" fmla="*/ 48 h 48"/>
                </a:gdLst>
                <a:ahLst/>
                <a:cxnLst>
                  <a:cxn ang="0">
                    <a:pos x="30" y="48"/>
                  </a:cxn>
                  <a:cxn ang="0">
                    <a:pos x="0" y="0"/>
                  </a:cxn>
                  <a:cxn ang="0">
                    <a:pos x="30" y="48"/>
                  </a:cxn>
                  <a:cxn ang="0">
                    <a:pos x="30" y="48"/>
                  </a:cxn>
                  <a:cxn ang="0">
                    <a:pos x="30" y="48"/>
                  </a:cxn>
                  <a:cxn ang="0">
                    <a:pos x="30" y="48"/>
                  </a:cxn>
                  <a:cxn ang="0">
                    <a:pos x="30" y="48"/>
                  </a:cxn>
                </a:cxnLst>
                <a:rect l="txL" t="txT" r="txR" b="txB"/>
                <a:pathLst>
                  <a:path w="30" h="48">
                    <a:moveTo>
                      <a:pt x="30" y="48"/>
                    </a:moveTo>
                    <a:lnTo>
                      <a:pt x="0" y="0"/>
                    </a:lnTo>
                    <a:lnTo>
                      <a:pt x="30" y="48"/>
                    </a:lnTo>
                    <a:close/>
                    <a:moveTo>
                      <a:pt x="30" y="48"/>
                    </a:moveTo>
                    <a:lnTo>
                      <a:pt x="30" y="4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86" name="Freeform 23"/>
              <p:cNvSpPr>
                <a:spLocks noEditPoints="1"/>
              </p:cNvSpPr>
              <p:nvPr/>
            </p:nvSpPr>
            <p:spPr>
              <a:xfrm>
                <a:off x="2990" y="536"/>
                <a:ext cx="30" cy="48"/>
              </a:xfrm>
              <a:custGeom>
                <a:avLst/>
                <a:gdLst>
                  <a:gd name="txL" fmla="*/ 0 w 30"/>
                  <a:gd name="txT" fmla="*/ 0 h 48"/>
                  <a:gd name="txR" fmla="*/ 30 w 30"/>
                  <a:gd name="txB" fmla="*/ 48 h 48"/>
                </a:gdLst>
                <a:ahLst/>
                <a:cxnLst>
                  <a:cxn ang="0">
                    <a:pos x="30" y="0"/>
                  </a:cxn>
                  <a:cxn ang="0">
                    <a:pos x="0" y="48"/>
                  </a:cxn>
                  <a:cxn ang="0">
                    <a:pos x="30" y="0"/>
                  </a:cxn>
                  <a:cxn ang="0">
                    <a:pos x="30" y="0"/>
                  </a:cxn>
                  <a:cxn ang="0">
                    <a:pos x="30" y="0"/>
                  </a:cxn>
                  <a:cxn ang="0">
                    <a:pos x="30" y="0"/>
                  </a:cxn>
                  <a:cxn ang="0">
                    <a:pos x="30" y="0"/>
                  </a:cxn>
                </a:cxnLst>
                <a:rect l="txL" t="txT" r="txR" b="txB"/>
                <a:pathLst>
                  <a:path w="30" h="48">
                    <a:moveTo>
                      <a:pt x="30" y="0"/>
                    </a:moveTo>
                    <a:lnTo>
                      <a:pt x="0" y="48"/>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87" name="Freeform 24"/>
              <p:cNvSpPr>
                <a:spLocks noEditPoints="1"/>
              </p:cNvSpPr>
              <p:nvPr/>
            </p:nvSpPr>
            <p:spPr>
              <a:xfrm>
                <a:off x="2990" y="584"/>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88" name="Freeform 25"/>
              <p:cNvSpPr>
                <a:spLocks noEditPoints="1"/>
              </p:cNvSpPr>
              <p:nvPr/>
            </p:nvSpPr>
            <p:spPr>
              <a:xfrm>
                <a:off x="2960" y="584"/>
                <a:ext cx="30" cy="47"/>
              </a:xfrm>
              <a:custGeom>
                <a:avLst/>
                <a:gdLst>
                  <a:gd name="txL" fmla="*/ 0 w 30"/>
                  <a:gd name="txT" fmla="*/ 0 h 47"/>
                  <a:gd name="txR" fmla="*/ 30 w 30"/>
                  <a:gd name="txB" fmla="*/ 47 h 47"/>
                </a:gdLst>
                <a:ahLst/>
                <a:cxnLst>
                  <a:cxn ang="0">
                    <a:pos x="30" y="0"/>
                  </a:cxn>
                  <a:cxn ang="0">
                    <a:pos x="0" y="47"/>
                  </a:cxn>
                  <a:cxn ang="0">
                    <a:pos x="30" y="0"/>
                  </a:cxn>
                  <a:cxn ang="0">
                    <a:pos x="30" y="0"/>
                  </a:cxn>
                  <a:cxn ang="0">
                    <a:pos x="30" y="0"/>
                  </a:cxn>
                  <a:cxn ang="0">
                    <a:pos x="30" y="0"/>
                  </a:cxn>
                  <a:cxn ang="0">
                    <a:pos x="30" y="0"/>
                  </a:cxn>
                </a:cxnLst>
                <a:rect l="txL" t="txT" r="txR" b="txB"/>
                <a:pathLst>
                  <a:path w="30" h="47">
                    <a:moveTo>
                      <a:pt x="30" y="0"/>
                    </a:moveTo>
                    <a:lnTo>
                      <a:pt x="0" y="47"/>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89" name="Freeform 26"/>
              <p:cNvSpPr>
                <a:spLocks noEditPoints="1"/>
              </p:cNvSpPr>
              <p:nvPr/>
            </p:nvSpPr>
            <p:spPr>
              <a:xfrm>
                <a:off x="2930" y="584"/>
                <a:ext cx="30" cy="47"/>
              </a:xfrm>
              <a:custGeom>
                <a:avLst/>
                <a:gdLst>
                  <a:gd name="txL" fmla="*/ 0 w 30"/>
                  <a:gd name="txT" fmla="*/ 0 h 47"/>
                  <a:gd name="txR" fmla="*/ 30 w 30"/>
                  <a:gd name="txB" fmla="*/ 47 h 47"/>
                </a:gdLst>
                <a:ahLst/>
                <a:cxnLst>
                  <a:cxn ang="0">
                    <a:pos x="30" y="47"/>
                  </a:cxn>
                  <a:cxn ang="0">
                    <a:pos x="0" y="0"/>
                  </a:cxn>
                  <a:cxn ang="0">
                    <a:pos x="30" y="47"/>
                  </a:cxn>
                  <a:cxn ang="0">
                    <a:pos x="30" y="47"/>
                  </a:cxn>
                  <a:cxn ang="0">
                    <a:pos x="30" y="47"/>
                  </a:cxn>
                  <a:cxn ang="0">
                    <a:pos x="30" y="47"/>
                  </a:cxn>
                  <a:cxn ang="0">
                    <a:pos x="30" y="47"/>
                  </a:cxn>
                </a:cxnLst>
                <a:rect l="txL" t="txT" r="txR" b="txB"/>
                <a:pathLst>
                  <a:path w="30" h="47">
                    <a:moveTo>
                      <a:pt x="30" y="47"/>
                    </a:moveTo>
                    <a:lnTo>
                      <a:pt x="0" y="0"/>
                    </a:lnTo>
                    <a:lnTo>
                      <a:pt x="30" y="47"/>
                    </a:lnTo>
                    <a:close/>
                    <a:moveTo>
                      <a:pt x="30" y="47"/>
                    </a:moveTo>
                    <a:lnTo>
                      <a:pt x="30" y="47"/>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90" name="Freeform 27"/>
              <p:cNvSpPr>
                <a:spLocks noEditPoints="1"/>
              </p:cNvSpPr>
              <p:nvPr/>
            </p:nvSpPr>
            <p:spPr>
              <a:xfrm>
                <a:off x="2900" y="536"/>
                <a:ext cx="30" cy="48"/>
              </a:xfrm>
              <a:custGeom>
                <a:avLst/>
                <a:gdLst>
                  <a:gd name="txL" fmla="*/ 0 w 30"/>
                  <a:gd name="txT" fmla="*/ 0 h 48"/>
                  <a:gd name="txR" fmla="*/ 30 w 30"/>
                  <a:gd name="txB" fmla="*/ 48 h 48"/>
                </a:gdLst>
                <a:ahLst/>
                <a:cxnLst>
                  <a:cxn ang="0">
                    <a:pos x="30" y="48"/>
                  </a:cxn>
                  <a:cxn ang="0">
                    <a:pos x="0" y="0"/>
                  </a:cxn>
                  <a:cxn ang="0">
                    <a:pos x="30" y="48"/>
                  </a:cxn>
                  <a:cxn ang="0">
                    <a:pos x="30" y="48"/>
                  </a:cxn>
                  <a:cxn ang="0">
                    <a:pos x="30" y="48"/>
                  </a:cxn>
                  <a:cxn ang="0">
                    <a:pos x="30" y="48"/>
                  </a:cxn>
                  <a:cxn ang="0">
                    <a:pos x="30" y="48"/>
                  </a:cxn>
                </a:cxnLst>
                <a:rect l="txL" t="txT" r="txR" b="txB"/>
                <a:pathLst>
                  <a:path w="30" h="48">
                    <a:moveTo>
                      <a:pt x="30" y="48"/>
                    </a:moveTo>
                    <a:lnTo>
                      <a:pt x="0" y="0"/>
                    </a:lnTo>
                    <a:lnTo>
                      <a:pt x="30" y="48"/>
                    </a:lnTo>
                    <a:close/>
                    <a:moveTo>
                      <a:pt x="30" y="48"/>
                    </a:moveTo>
                    <a:lnTo>
                      <a:pt x="30" y="4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91" name="Freeform 28"/>
              <p:cNvSpPr>
                <a:spLocks noEditPoints="1"/>
              </p:cNvSpPr>
              <p:nvPr/>
            </p:nvSpPr>
            <p:spPr>
              <a:xfrm>
                <a:off x="2871" y="536"/>
                <a:ext cx="29" cy="48"/>
              </a:xfrm>
              <a:custGeom>
                <a:avLst/>
                <a:gdLst>
                  <a:gd name="txL" fmla="*/ 0 w 29"/>
                  <a:gd name="txT" fmla="*/ 0 h 48"/>
                  <a:gd name="txR" fmla="*/ 29 w 29"/>
                  <a:gd name="txB" fmla="*/ 48 h 48"/>
                </a:gdLst>
                <a:ahLst/>
                <a:cxnLst>
                  <a:cxn ang="0">
                    <a:pos x="29" y="0"/>
                  </a:cxn>
                  <a:cxn ang="0">
                    <a:pos x="0" y="48"/>
                  </a:cxn>
                  <a:cxn ang="0">
                    <a:pos x="29" y="0"/>
                  </a:cxn>
                  <a:cxn ang="0">
                    <a:pos x="29" y="0"/>
                  </a:cxn>
                  <a:cxn ang="0">
                    <a:pos x="29" y="0"/>
                  </a:cxn>
                  <a:cxn ang="0">
                    <a:pos x="29" y="0"/>
                  </a:cxn>
                  <a:cxn ang="0">
                    <a:pos x="29" y="0"/>
                  </a:cxn>
                </a:cxnLst>
                <a:rect l="txL" t="txT" r="txR" b="txB"/>
                <a:pathLst>
                  <a:path w="29" h="48">
                    <a:moveTo>
                      <a:pt x="29" y="0"/>
                    </a:moveTo>
                    <a:lnTo>
                      <a:pt x="0" y="48"/>
                    </a:lnTo>
                    <a:lnTo>
                      <a:pt x="29" y="0"/>
                    </a:lnTo>
                    <a:close/>
                    <a:moveTo>
                      <a:pt x="29" y="0"/>
                    </a:moveTo>
                    <a:lnTo>
                      <a:pt x="29"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92" name="Freeform 29"/>
              <p:cNvSpPr>
                <a:spLocks noEditPoints="1"/>
              </p:cNvSpPr>
              <p:nvPr/>
            </p:nvSpPr>
            <p:spPr>
              <a:xfrm>
                <a:off x="2841" y="584"/>
                <a:ext cx="30" cy="47"/>
              </a:xfrm>
              <a:custGeom>
                <a:avLst/>
                <a:gdLst>
                  <a:gd name="txL" fmla="*/ 0 w 30"/>
                  <a:gd name="txT" fmla="*/ 0 h 47"/>
                  <a:gd name="txR" fmla="*/ 30 w 30"/>
                  <a:gd name="txB" fmla="*/ 47 h 47"/>
                </a:gdLst>
                <a:ahLst/>
                <a:cxnLst>
                  <a:cxn ang="0">
                    <a:pos x="30" y="0"/>
                  </a:cxn>
                  <a:cxn ang="0">
                    <a:pos x="0" y="47"/>
                  </a:cxn>
                  <a:cxn ang="0">
                    <a:pos x="30" y="0"/>
                  </a:cxn>
                  <a:cxn ang="0">
                    <a:pos x="30" y="0"/>
                  </a:cxn>
                  <a:cxn ang="0">
                    <a:pos x="30" y="0"/>
                  </a:cxn>
                  <a:cxn ang="0">
                    <a:pos x="30" y="0"/>
                  </a:cxn>
                  <a:cxn ang="0">
                    <a:pos x="30" y="0"/>
                  </a:cxn>
                </a:cxnLst>
                <a:rect l="txL" t="txT" r="txR" b="txB"/>
                <a:pathLst>
                  <a:path w="30" h="47">
                    <a:moveTo>
                      <a:pt x="30" y="0"/>
                    </a:moveTo>
                    <a:lnTo>
                      <a:pt x="0" y="47"/>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93" name="Freeform 30"/>
              <p:cNvSpPr>
                <a:spLocks noEditPoints="1"/>
              </p:cNvSpPr>
              <p:nvPr/>
            </p:nvSpPr>
            <p:spPr>
              <a:xfrm>
                <a:off x="2811" y="584"/>
                <a:ext cx="30" cy="47"/>
              </a:xfrm>
              <a:custGeom>
                <a:avLst/>
                <a:gdLst>
                  <a:gd name="txL" fmla="*/ 0 w 30"/>
                  <a:gd name="txT" fmla="*/ 0 h 47"/>
                  <a:gd name="txR" fmla="*/ 30 w 30"/>
                  <a:gd name="txB" fmla="*/ 47 h 47"/>
                </a:gdLst>
                <a:ahLst/>
                <a:cxnLst>
                  <a:cxn ang="0">
                    <a:pos x="30" y="47"/>
                  </a:cxn>
                  <a:cxn ang="0">
                    <a:pos x="0" y="0"/>
                  </a:cxn>
                  <a:cxn ang="0">
                    <a:pos x="30" y="47"/>
                  </a:cxn>
                  <a:cxn ang="0">
                    <a:pos x="30" y="47"/>
                  </a:cxn>
                  <a:cxn ang="0">
                    <a:pos x="30" y="47"/>
                  </a:cxn>
                  <a:cxn ang="0">
                    <a:pos x="30" y="47"/>
                  </a:cxn>
                  <a:cxn ang="0">
                    <a:pos x="30" y="47"/>
                  </a:cxn>
                </a:cxnLst>
                <a:rect l="txL" t="txT" r="txR" b="txB"/>
                <a:pathLst>
                  <a:path w="30" h="47">
                    <a:moveTo>
                      <a:pt x="30" y="47"/>
                    </a:moveTo>
                    <a:lnTo>
                      <a:pt x="0" y="0"/>
                    </a:lnTo>
                    <a:lnTo>
                      <a:pt x="30" y="47"/>
                    </a:lnTo>
                    <a:close/>
                    <a:moveTo>
                      <a:pt x="30" y="47"/>
                    </a:moveTo>
                    <a:lnTo>
                      <a:pt x="30" y="47"/>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94" name="Freeform 31"/>
              <p:cNvSpPr>
                <a:spLocks noEditPoints="1"/>
              </p:cNvSpPr>
              <p:nvPr/>
            </p:nvSpPr>
            <p:spPr>
              <a:xfrm>
                <a:off x="2781" y="536"/>
                <a:ext cx="30" cy="48"/>
              </a:xfrm>
              <a:custGeom>
                <a:avLst/>
                <a:gdLst>
                  <a:gd name="txL" fmla="*/ 0 w 30"/>
                  <a:gd name="txT" fmla="*/ 0 h 48"/>
                  <a:gd name="txR" fmla="*/ 30 w 30"/>
                  <a:gd name="txB" fmla="*/ 48 h 48"/>
                </a:gdLst>
                <a:ahLst/>
                <a:cxnLst>
                  <a:cxn ang="0">
                    <a:pos x="30" y="48"/>
                  </a:cxn>
                  <a:cxn ang="0">
                    <a:pos x="0" y="0"/>
                  </a:cxn>
                  <a:cxn ang="0">
                    <a:pos x="30" y="48"/>
                  </a:cxn>
                  <a:cxn ang="0">
                    <a:pos x="30" y="48"/>
                  </a:cxn>
                  <a:cxn ang="0">
                    <a:pos x="30" y="48"/>
                  </a:cxn>
                  <a:cxn ang="0">
                    <a:pos x="30" y="48"/>
                  </a:cxn>
                  <a:cxn ang="0">
                    <a:pos x="30" y="48"/>
                  </a:cxn>
                </a:cxnLst>
                <a:rect l="txL" t="txT" r="txR" b="txB"/>
                <a:pathLst>
                  <a:path w="30" h="48">
                    <a:moveTo>
                      <a:pt x="30" y="48"/>
                    </a:moveTo>
                    <a:lnTo>
                      <a:pt x="0" y="0"/>
                    </a:lnTo>
                    <a:lnTo>
                      <a:pt x="30" y="48"/>
                    </a:lnTo>
                    <a:close/>
                    <a:moveTo>
                      <a:pt x="30" y="48"/>
                    </a:moveTo>
                    <a:lnTo>
                      <a:pt x="30" y="4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95" name="Freeform 32"/>
              <p:cNvSpPr>
                <a:spLocks noEditPoints="1"/>
              </p:cNvSpPr>
              <p:nvPr/>
            </p:nvSpPr>
            <p:spPr>
              <a:xfrm>
                <a:off x="2751" y="536"/>
                <a:ext cx="30" cy="48"/>
              </a:xfrm>
              <a:custGeom>
                <a:avLst/>
                <a:gdLst>
                  <a:gd name="txL" fmla="*/ 0 w 30"/>
                  <a:gd name="txT" fmla="*/ 0 h 48"/>
                  <a:gd name="txR" fmla="*/ 30 w 30"/>
                  <a:gd name="txB" fmla="*/ 48 h 48"/>
                </a:gdLst>
                <a:ahLst/>
                <a:cxnLst>
                  <a:cxn ang="0">
                    <a:pos x="30" y="0"/>
                  </a:cxn>
                  <a:cxn ang="0">
                    <a:pos x="0" y="48"/>
                  </a:cxn>
                  <a:cxn ang="0">
                    <a:pos x="30" y="0"/>
                  </a:cxn>
                  <a:cxn ang="0">
                    <a:pos x="30" y="0"/>
                  </a:cxn>
                  <a:cxn ang="0">
                    <a:pos x="30" y="0"/>
                  </a:cxn>
                  <a:cxn ang="0">
                    <a:pos x="30" y="0"/>
                  </a:cxn>
                  <a:cxn ang="0">
                    <a:pos x="30" y="0"/>
                  </a:cxn>
                </a:cxnLst>
                <a:rect l="txL" t="txT" r="txR" b="txB"/>
                <a:pathLst>
                  <a:path w="30" h="48">
                    <a:moveTo>
                      <a:pt x="30" y="0"/>
                    </a:moveTo>
                    <a:lnTo>
                      <a:pt x="0" y="48"/>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96" name="Freeform 33"/>
              <p:cNvSpPr>
                <a:spLocks noEditPoints="1"/>
              </p:cNvSpPr>
              <p:nvPr/>
            </p:nvSpPr>
            <p:spPr>
              <a:xfrm>
                <a:off x="2727" y="584"/>
                <a:ext cx="24" cy="47"/>
              </a:xfrm>
              <a:custGeom>
                <a:avLst/>
                <a:gdLst>
                  <a:gd name="txL" fmla="*/ 0 w 24"/>
                  <a:gd name="txT" fmla="*/ 0 h 47"/>
                  <a:gd name="txR" fmla="*/ 24 w 24"/>
                  <a:gd name="txB" fmla="*/ 47 h 47"/>
                </a:gdLst>
                <a:ahLst/>
                <a:cxnLst>
                  <a:cxn ang="0">
                    <a:pos x="24" y="0"/>
                  </a:cxn>
                  <a:cxn ang="0">
                    <a:pos x="0" y="47"/>
                  </a:cxn>
                  <a:cxn ang="0">
                    <a:pos x="24" y="0"/>
                  </a:cxn>
                  <a:cxn ang="0">
                    <a:pos x="24" y="0"/>
                  </a:cxn>
                  <a:cxn ang="0">
                    <a:pos x="24" y="0"/>
                  </a:cxn>
                  <a:cxn ang="0">
                    <a:pos x="24" y="0"/>
                  </a:cxn>
                  <a:cxn ang="0">
                    <a:pos x="24" y="0"/>
                  </a:cxn>
                </a:cxnLst>
                <a:rect l="txL" t="txT" r="txR" b="txB"/>
                <a:pathLst>
                  <a:path w="24" h="47">
                    <a:moveTo>
                      <a:pt x="24" y="0"/>
                    </a:moveTo>
                    <a:lnTo>
                      <a:pt x="0" y="47"/>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97" name="Freeform 34"/>
              <p:cNvSpPr>
                <a:spLocks noEditPoints="1"/>
              </p:cNvSpPr>
              <p:nvPr/>
            </p:nvSpPr>
            <p:spPr>
              <a:xfrm>
                <a:off x="2697" y="584"/>
                <a:ext cx="30" cy="47"/>
              </a:xfrm>
              <a:custGeom>
                <a:avLst/>
                <a:gdLst>
                  <a:gd name="txL" fmla="*/ 0 w 30"/>
                  <a:gd name="txT" fmla="*/ 0 h 47"/>
                  <a:gd name="txR" fmla="*/ 30 w 30"/>
                  <a:gd name="txB" fmla="*/ 47 h 47"/>
                </a:gdLst>
                <a:ahLst/>
                <a:cxnLst>
                  <a:cxn ang="0">
                    <a:pos x="30" y="47"/>
                  </a:cxn>
                  <a:cxn ang="0">
                    <a:pos x="0" y="0"/>
                  </a:cxn>
                  <a:cxn ang="0">
                    <a:pos x="30" y="47"/>
                  </a:cxn>
                  <a:cxn ang="0">
                    <a:pos x="30" y="47"/>
                  </a:cxn>
                  <a:cxn ang="0">
                    <a:pos x="30" y="47"/>
                  </a:cxn>
                  <a:cxn ang="0">
                    <a:pos x="30" y="47"/>
                  </a:cxn>
                  <a:cxn ang="0">
                    <a:pos x="30" y="47"/>
                  </a:cxn>
                </a:cxnLst>
                <a:rect l="txL" t="txT" r="txR" b="txB"/>
                <a:pathLst>
                  <a:path w="30" h="47">
                    <a:moveTo>
                      <a:pt x="30" y="47"/>
                    </a:moveTo>
                    <a:lnTo>
                      <a:pt x="0" y="0"/>
                    </a:lnTo>
                    <a:lnTo>
                      <a:pt x="30" y="47"/>
                    </a:lnTo>
                    <a:close/>
                    <a:moveTo>
                      <a:pt x="30" y="47"/>
                    </a:moveTo>
                    <a:lnTo>
                      <a:pt x="30" y="47"/>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98" name="Freeform 35"/>
              <p:cNvSpPr>
                <a:spLocks noEditPoints="1"/>
              </p:cNvSpPr>
              <p:nvPr/>
            </p:nvSpPr>
            <p:spPr>
              <a:xfrm>
                <a:off x="2667" y="536"/>
                <a:ext cx="30" cy="48"/>
              </a:xfrm>
              <a:custGeom>
                <a:avLst/>
                <a:gdLst>
                  <a:gd name="txL" fmla="*/ 0 w 30"/>
                  <a:gd name="txT" fmla="*/ 0 h 48"/>
                  <a:gd name="txR" fmla="*/ 30 w 30"/>
                  <a:gd name="txB" fmla="*/ 48 h 48"/>
                </a:gdLst>
                <a:ahLst/>
                <a:cxnLst>
                  <a:cxn ang="0">
                    <a:pos x="30" y="48"/>
                  </a:cxn>
                  <a:cxn ang="0">
                    <a:pos x="0" y="0"/>
                  </a:cxn>
                  <a:cxn ang="0">
                    <a:pos x="30" y="48"/>
                  </a:cxn>
                  <a:cxn ang="0">
                    <a:pos x="30" y="48"/>
                  </a:cxn>
                  <a:cxn ang="0">
                    <a:pos x="30" y="48"/>
                  </a:cxn>
                  <a:cxn ang="0">
                    <a:pos x="30" y="48"/>
                  </a:cxn>
                  <a:cxn ang="0">
                    <a:pos x="30" y="48"/>
                  </a:cxn>
                </a:cxnLst>
                <a:rect l="txL" t="txT" r="txR" b="txB"/>
                <a:pathLst>
                  <a:path w="30" h="48">
                    <a:moveTo>
                      <a:pt x="30" y="48"/>
                    </a:moveTo>
                    <a:lnTo>
                      <a:pt x="0" y="0"/>
                    </a:lnTo>
                    <a:lnTo>
                      <a:pt x="30" y="48"/>
                    </a:lnTo>
                    <a:close/>
                    <a:moveTo>
                      <a:pt x="30" y="48"/>
                    </a:moveTo>
                    <a:lnTo>
                      <a:pt x="30" y="4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99" name="Freeform 36"/>
              <p:cNvSpPr>
                <a:spLocks noEditPoints="1"/>
              </p:cNvSpPr>
              <p:nvPr/>
            </p:nvSpPr>
            <p:spPr>
              <a:xfrm>
                <a:off x="2631" y="536"/>
                <a:ext cx="36" cy="53"/>
              </a:xfrm>
              <a:custGeom>
                <a:avLst/>
                <a:gdLst>
                  <a:gd name="txL" fmla="*/ 0 w 36"/>
                  <a:gd name="txT" fmla="*/ 0 h 53"/>
                  <a:gd name="txR" fmla="*/ 36 w 36"/>
                  <a:gd name="txB" fmla="*/ 53 h 53"/>
                </a:gdLst>
                <a:ahLst/>
                <a:cxnLst>
                  <a:cxn ang="0">
                    <a:pos x="36" y="0"/>
                  </a:cxn>
                  <a:cxn ang="0">
                    <a:pos x="0" y="53"/>
                  </a:cxn>
                  <a:cxn ang="0">
                    <a:pos x="36" y="0"/>
                  </a:cxn>
                  <a:cxn ang="0">
                    <a:pos x="36" y="0"/>
                  </a:cxn>
                  <a:cxn ang="0">
                    <a:pos x="36" y="0"/>
                  </a:cxn>
                  <a:cxn ang="0">
                    <a:pos x="36" y="0"/>
                  </a:cxn>
                  <a:cxn ang="0">
                    <a:pos x="36" y="0"/>
                  </a:cxn>
                </a:cxnLst>
                <a:rect l="txL" t="txT" r="txR" b="txB"/>
                <a:pathLst>
                  <a:path w="36" h="53">
                    <a:moveTo>
                      <a:pt x="36" y="0"/>
                    </a:moveTo>
                    <a:lnTo>
                      <a:pt x="0" y="53"/>
                    </a:lnTo>
                    <a:lnTo>
                      <a:pt x="36" y="0"/>
                    </a:lnTo>
                    <a:close/>
                    <a:moveTo>
                      <a:pt x="36" y="0"/>
                    </a:move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00" name="Freeform 37"/>
              <p:cNvSpPr/>
              <p:nvPr/>
            </p:nvSpPr>
            <p:spPr>
              <a:xfrm>
                <a:off x="2320" y="882"/>
                <a:ext cx="245" cy="311"/>
              </a:xfrm>
              <a:custGeom>
                <a:avLst/>
                <a:gdLst>
                  <a:gd name="txL" fmla="*/ 0 w 245"/>
                  <a:gd name="txT" fmla="*/ 0 h 311"/>
                  <a:gd name="txR" fmla="*/ 245 w 245"/>
                  <a:gd name="txB" fmla="*/ 311 h 311"/>
                </a:gdLst>
                <a:ahLst/>
                <a:cxnLst>
                  <a:cxn ang="0">
                    <a:pos x="0" y="12"/>
                  </a:cxn>
                  <a:cxn ang="0">
                    <a:pos x="54" y="0"/>
                  </a:cxn>
                  <a:cxn ang="0">
                    <a:pos x="245" y="293"/>
                  </a:cxn>
                  <a:cxn ang="0">
                    <a:pos x="192" y="311"/>
                  </a:cxn>
                  <a:cxn ang="0">
                    <a:pos x="0" y="12"/>
                  </a:cxn>
                  <a:cxn ang="0">
                    <a:pos x="0" y="12"/>
                  </a:cxn>
                </a:cxnLst>
                <a:rect l="txL" t="txT" r="txR" b="txB"/>
                <a:pathLst>
                  <a:path w="245" h="311">
                    <a:moveTo>
                      <a:pt x="0" y="12"/>
                    </a:moveTo>
                    <a:lnTo>
                      <a:pt x="54" y="0"/>
                    </a:lnTo>
                    <a:lnTo>
                      <a:pt x="245" y="293"/>
                    </a:lnTo>
                    <a:lnTo>
                      <a:pt x="192" y="311"/>
                    </a:lnTo>
                    <a:lnTo>
                      <a:pt x="0" y="12"/>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59501" name="Freeform 38"/>
              <p:cNvSpPr/>
              <p:nvPr/>
            </p:nvSpPr>
            <p:spPr>
              <a:xfrm>
                <a:off x="2470" y="1187"/>
                <a:ext cx="72" cy="1"/>
              </a:xfrm>
              <a:custGeom>
                <a:avLst/>
                <a:gdLst>
                  <a:gd name="txL" fmla="*/ 0 w 72"/>
                  <a:gd name="txT" fmla="*/ 0 h 1"/>
                  <a:gd name="txR" fmla="*/ 72 w 72"/>
                  <a:gd name="txB" fmla="*/ 1 h 1"/>
                </a:gdLst>
                <a:ahLst/>
                <a:cxnLst>
                  <a:cxn ang="0">
                    <a:pos x="72" y="0"/>
                  </a:cxn>
                  <a:cxn ang="0">
                    <a:pos x="0" y="0"/>
                  </a:cxn>
                  <a:cxn ang="0">
                    <a:pos x="72" y="0"/>
                  </a:cxn>
                  <a:cxn ang="0">
                    <a:pos x="72" y="0"/>
                  </a:cxn>
                </a:cxnLst>
                <a:rect l="txL" t="txT" r="txR" b="txB"/>
                <a:pathLst>
                  <a:path w="72" h="1">
                    <a:moveTo>
                      <a:pt x="72" y="0"/>
                    </a:moveTo>
                    <a:lnTo>
                      <a:pt x="0" y="0"/>
                    </a:lnTo>
                    <a:lnTo>
                      <a:pt x="72"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02" name="Freeform 39"/>
              <p:cNvSpPr>
                <a:spLocks noEditPoints="1"/>
              </p:cNvSpPr>
              <p:nvPr/>
            </p:nvSpPr>
            <p:spPr>
              <a:xfrm>
                <a:off x="2470" y="1151"/>
                <a:ext cx="48" cy="36"/>
              </a:xfrm>
              <a:custGeom>
                <a:avLst/>
                <a:gdLst>
                  <a:gd name="txL" fmla="*/ 0 w 48"/>
                  <a:gd name="txT" fmla="*/ 0 h 36"/>
                  <a:gd name="txR" fmla="*/ 48 w 48"/>
                  <a:gd name="txB" fmla="*/ 36 h 36"/>
                </a:gdLst>
                <a:ahLst/>
                <a:cxnLst>
                  <a:cxn ang="0">
                    <a:pos x="0" y="36"/>
                  </a:cxn>
                  <a:cxn ang="0">
                    <a:pos x="48" y="0"/>
                  </a:cxn>
                  <a:cxn ang="0">
                    <a:pos x="0" y="36"/>
                  </a:cxn>
                  <a:cxn ang="0">
                    <a:pos x="0" y="36"/>
                  </a:cxn>
                  <a:cxn ang="0">
                    <a:pos x="0" y="36"/>
                  </a:cxn>
                  <a:cxn ang="0">
                    <a:pos x="0" y="36"/>
                  </a:cxn>
                  <a:cxn ang="0">
                    <a:pos x="0" y="36"/>
                  </a:cxn>
                </a:cxnLst>
                <a:rect l="txL" t="txT" r="txR" b="txB"/>
                <a:pathLst>
                  <a:path w="48" h="36">
                    <a:moveTo>
                      <a:pt x="0" y="36"/>
                    </a:moveTo>
                    <a:lnTo>
                      <a:pt x="48" y="0"/>
                    </a:lnTo>
                    <a:lnTo>
                      <a:pt x="0" y="36"/>
                    </a:lnTo>
                    <a:close/>
                    <a:moveTo>
                      <a:pt x="0" y="36"/>
                    </a:moveTo>
                    <a:lnTo>
                      <a:pt x="0"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03" name="Freeform 40"/>
              <p:cNvSpPr>
                <a:spLocks noEditPoints="1"/>
              </p:cNvSpPr>
              <p:nvPr/>
            </p:nvSpPr>
            <p:spPr>
              <a:xfrm>
                <a:off x="2518" y="1109"/>
                <a:ext cx="53" cy="42"/>
              </a:xfrm>
              <a:custGeom>
                <a:avLst/>
                <a:gdLst>
                  <a:gd name="txL" fmla="*/ 0 w 53"/>
                  <a:gd name="txT" fmla="*/ 0 h 42"/>
                  <a:gd name="txR" fmla="*/ 53 w 53"/>
                  <a:gd name="txB" fmla="*/ 42 h 42"/>
                </a:gdLst>
                <a:ahLst/>
                <a:cxnLst>
                  <a:cxn ang="0">
                    <a:pos x="0" y="42"/>
                  </a:cxn>
                  <a:cxn ang="0">
                    <a:pos x="53" y="0"/>
                  </a:cxn>
                  <a:cxn ang="0">
                    <a:pos x="0" y="42"/>
                  </a:cxn>
                  <a:cxn ang="0">
                    <a:pos x="0" y="42"/>
                  </a:cxn>
                  <a:cxn ang="0">
                    <a:pos x="0" y="42"/>
                  </a:cxn>
                  <a:cxn ang="0">
                    <a:pos x="0" y="42"/>
                  </a:cxn>
                  <a:cxn ang="0">
                    <a:pos x="0" y="42"/>
                  </a:cxn>
                </a:cxnLst>
                <a:rect l="txL" t="txT" r="txR" b="txB"/>
                <a:pathLst>
                  <a:path w="53" h="42">
                    <a:moveTo>
                      <a:pt x="0" y="42"/>
                    </a:moveTo>
                    <a:lnTo>
                      <a:pt x="53" y="0"/>
                    </a:lnTo>
                    <a:lnTo>
                      <a:pt x="0" y="42"/>
                    </a:lnTo>
                    <a:close/>
                    <a:moveTo>
                      <a:pt x="0" y="42"/>
                    </a:move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04" name="Freeform 41"/>
              <p:cNvSpPr>
                <a:spLocks noEditPoints="1"/>
              </p:cNvSpPr>
              <p:nvPr/>
            </p:nvSpPr>
            <p:spPr>
              <a:xfrm>
                <a:off x="2494" y="1109"/>
                <a:ext cx="77" cy="1"/>
              </a:xfrm>
              <a:custGeom>
                <a:avLst/>
                <a:gdLst>
                  <a:gd name="txL" fmla="*/ 0 w 77"/>
                  <a:gd name="txT" fmla="*/ 0 h 1"/>
                  <a:gd name="txR" fmla="*/ 77 w 77"/>
                  <a:gd name="txB" fmla="*/ 1 h 1"/>
                </a:gdLst>
                <a:ahLst/>
                <a:cxnLst>
                  <a:cxn ang="0">
                    <a:pos x="77" y="0"/>
                  </a:cxn>
                  <a:cxn ang="0">
                    <a:pos x="0" y="0"/>
                  </a:cxn>
                  <a:cxn ang="0">
                    <a:pos x="77" y="0"/>
                  </a:cxn>
                  <a:cxn ang="0">
                    <a:pos x="77" y="0"/>
                  </a:cxn>
                  <a:cxn ang="0">
                    <a:pos x="77" y="0"/>
                  </a:cxn>
                  <a:cxn ang="0">
                    <a:pos x="77" y="0"/>
                  </a:cxn>
                  <a:cxn ang="0">
                    <a:pos x="77" y="0"/>
                  </a:cxn>
                </a:cxnLst>
                <a:rect l="txL" t="txT" r="txR" b="txB"/>
                <a:pathLst>
                  <a:path w="77" h="1">
                    <a:moveTo>
                      <a:pt x="77" y="0"/>
                    </a:moveTo>
                    <a:lnTo>
                      <a:pt x="0" y="0"/>
                    </a:lnTo>
                    <a:lnTo>
                      <a:pt x="77" y="0"/>
                    </a:lnTo>
                    <a:close/>
                    <a:moveTo>
                      <a:pt x="77" y="0"/>
                    </a:moveTo>
                    <a:lnTo>
                      <a:pt x="77"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05" name="Freeform 42"/>
              <p:cNvSpPr>
                <a:spLocks noEditPoints="1"/>
              </p:cNvSpPr>
              <p:nvPr/>
            </p:nvSpPr>
            <p:spPr>
              <a:xfrm>
                <a:off x="2494" y="1109"/>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06" name="Freeform 43"/>
              <p:cNvSpPr>
                <a:spLocks noEditPoints="1"/>
              </p:cNvSpPr>
              <p:nvPr/>
            </p:nvSpPr>
            <p:spPr>
              <a:xfrm>
                <a:off x="2422" y="1109"/>
                <a:ext cx="72" cy="6"/>
              </a:xfrm>
              <a:custGeom>
                <a:avLst/>
                <a:gdLst>
                  <a:gd name="txL" fmla="*/ 0 w 72"/>
                  <a:gd name="txT" fmla="*/ 0 h 6"/>
                  <a:gd name="txR" fmla="*/ 72 w 72"/>
                  <a:gd name="txB" fmla="*/ 6 h 6"/>
                </a:gdLst>
                <a:ahLst/>
                <a:cxnLst>
                  <a:cxn ang="0">
                    <a:pos x="72" y="0"/>
                  </a:cxn>
                  <a:cxn ang="0">
                    <a:pos x="0" y="6"/>
                  </a:cxn>
                  <a:cxn ang="0">
                    <a:pos x="72" y="0"/>
                  </a:cxn>
                  <a:cxn ang="0">
                    <a:pos x="72" y="0"/>
                  </a:cxn>
                  <a:cxn ang="0">
                    <a:pos x="72" y="0"/>
                  </a:cxn>
                  <a:cxn ang="0">
                    <a:pos x="72" y="0"/>
                  </a:cxn>
                  <a:cxn ang="0">
                    <a:pos x="72" y="0"/>
                  </a:cxn>
                </a:cxnLst>
                <a:rect l="txL" t="txT" r="txR" b="txB"/>
                <a:pathLst>
                  <a:path w="72" h="6">
                    <a:moveTo>
                      <a:pt x="72" y="0"/>
                    </a:moveTo>
                    <a:lnTo>
                      <a:pt x="0" y="6"/>
                    </a:lnTo>
                    <a:lnTo>
                      <a:pt x="72" y="0"/>
                    </a:lnTo>
                    <a:close/>
                    <a:moveTo>
                      <a:pt x="72" y="0"/>
                    </a:moveTo>
                    <a:lnTo>
                      <a:pt x="72"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07" name="Freeform 44"/>
              <p:cNvSpPr>
                <a:spLocks noEditPoints="1"/>
              </p:cNvSpPr>
              <p:nvPr/>
            </p:nvSpPr>
            <p:spPr>
              <a:xfrm>
                <a:off x="2422" y="1073"/>
                <a:ext cx="48" cy="42"/>
              </a:xfrm>
              <a:custGeom>
                <a:avLst/>
                <a:gdLst>
                  <a:gd name="txL" fmla="*/ 0 w 48"/>
                  <a:gd name="txT" fmla="*/ 0 h 42"/>
                  <a:gd name="txR" fmla="*/ 48 w 48"/>
                  <a:gd name="txB" fmla="*/ 42 h 42"/>
                </a:gdLst>
                <a:ahLst/>
                <a:cxnLst>
                  <a:cxn ang="0">
                    <a:pos x="0" y="42"/>
                  </a:cxn>
                  <a:cxn ang="0">
                    <a:pos x="48" y="0"/>
                  </a:cxn>
                  <a:cxn ang="0">
                    <a:pos x="0" y="42"/>
                  </a:cxn>
                  <a:cxn ang="0">
                    <a:pos x="0" y="42"/>
                  </a:cxn>
                  <a:cxn ang="0">
                    <a:pos x="0" y="42"/>
                  </a:cxn>
                  <a:cxn ang="0">
                    <a:pos x="0" y="42"/>
                  </a:cxn>
                  <a:cxn ang="0">
                    <a:pos x="0" y="42"/>
                  </a:cxn>
                </a:cxnLst>
                <a:rect l="txL" t="txT" r="txR" b="txB"/>
                <a:pathLst>
                  <a:path w="48" h="42">
                    <a:moveTo>
                      <a:pt x="0" y="42"/>
                    </a:moveTo>
                    <a:lnTo>
                      <a:pt x="48" y="0"/>
                    </a:lnTo>
                    <a:lnTo>
                      <a:pt x="0" y="42"/>
                    </a:lnTo>
                    <a:close/>
                    <a:moveTo>
                      <a:pt x="0" y="42"/>
                    </a:move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08" name="Freeform 45"/>
              <p:cNvSpPr>
                <a:spLocks noEditPoints="1"/>
              </p:cNvSpPr>
              <p:nvPr/>
            </p:nvSpPr>
            <p:spPr>
              <a:xfrm>
                <a:off x="2470" y="1031"/>
                <a:ext cx="48" cy="42"/>
              </a:xfrm>
              <a:custGeom>
                <a:avLst/>
                <a:gdLst>
                  <a:gd name="txL" fmla="*/ 0 w 48"/>
                  <a:gd name="txT" fmla="*/ 0 h 42"/>
                  <a:gd name="txR" fmla="*/ 48 w 48"/>
                  <a:gd name="txB" fmla="*/ 42 h 42"/>
                </a:gdLst>
                <a:ahLst/>
                <a:cxnLst>
                  <a:cxn ang="0">
                    <a:pos x="0" y="42"/>
                  </a:cxn>
                  <a:cxn ang="0">
                    <a:pos x="48" y="0"/>
                  </a:cxn>
                  <a:cxn ang="0">
                    <a:pos x="0" y="42"/>
                  </a:cxn>
                  <a:cxn ang="0">
                    <a:pos x="0" y="42"/>
                  </a:cxn>
                  <a:cxn ang="0">
                    <a:pos x="0" y="42"/>
                  </a:cxn>
                  <a:cxn ang="0">
                    <a:pos x="0" y="42"/>
                  </a:cxn>
                  <a:cxn ang="0">
                    <a:pos x="0" y="42"/>
                  </a:cxn>
                </a:cxnLst>
                <a:rect l="txL" t="txT" r="txR" b="txB"/>
                <a:pathLst>
                  <a:path w="48" h="42">
                    <a:moveTo>
                      <a:pt x="0" y="42"/>
                    </a:moveTo>
                    <a:lnTo>
                      <a:pt x="48" y="0"/>
                    </a:lnTo>
                    <a:lnTo>
                      <a:pt x="0" y="42"/>
                    </a:lnTo>
                    <a:close/>
                    <a:moveTo>
                      <a:pt x="0" y="42"/>
                    </a:move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09" name="Freeform 46"/>
              <p:cNvSpPr>
                <a:spLocks noEditPoints="1"/>
              </p:cNvSpPr>
              <p:nvPr/>
            </p:nvSpPr>
            <p:spPr>
              <a:xfrm>
                <a:off x="2446" y="1031"/>
                <a:ext cx="72" cy="6"/>
              </a:xfrm>
              <a:custGeom>
                <a:avLst/>
                <a:gdLst>
                  <a:gd name="txL" fmla="*/ 0 w 72"/>
                  <a:gd name="txT" fmla="*/ 0 h 6"/>
                  <a:gd name="txR" fmla="*/ 72 w 72"/>
                  <a:gd name="txB" fmla="*/ 6 h 6"/>
                </a:gdLst>
                <a:ahLst/>
                <a:cxnLst>
                  <a:cxn ang="0">
                    <a:pos x="72" y="0"/>
                  </a:cxn>
                  <a:cxn ang="0">
                    <a:pos x="0" y="6"/>
                  </a:cxn>
                  <a:cxn ang="0">
                    <a:pos x="72" y="0"/>
                  </a:cxn>
                  <a:cxn ang="0">
                    <a:pos x="72" y="0"/>
                  </a:cxn>
                  <a:cxn ang="0">
                    <a:pos x="72" y="0"/>
                  </a:cxn>
                  <a:cxn ang="0">
                    <a:pos x="72" y="0"/>
                  </a:cxn>
                  <a:cxn ang="0">
                    <a:pos x="72" y="0"/>
                  </a:cxn>
                </a:cxnLst>
                <a:rect l="txL" t="txT" r="txR" b="txB"/>
                <a:pathLst>
                  <a:path w="72" h="6">
                    <a:moveTo>
                      <a:pt x="72" y="0"/>
                    </a:moveTo>
                    <a:lnTo>
                      <a:pt x="0" y="6"/>
                    </a:lnTo>
                    <a:lnTo>
                      <a:pt x="72" y="0"/>
                    </a:lnTo>
                    <a:close/>
                    <a:moveTo>
                      <a:pt x="72" y="0"/>
                    </a:moveTo>
                    <a:lnTo>
                      <a:pt x="72"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10" name="Freeform 47"/>
              <p:cNvSpPr>
                <a:spLocks noEditPoints="1"/>
              </p:cNvSpPr>
              <p:nvPr/>
            </p:nvSpPr>
            <p:spPr>
              <a:xfrm>
                <a:off x="2368" y="1037"/>
                <a:ext cx="78" cy="1"/>
              </a:xfrm>
              <a:custGeom>
                <a:avLst/>
                <a:gdLst>
                  <a:gd name="txL" fmla="*/ 0 w 78"/>
                  <a:gd name="txT" fmla="*/ 0 h 1"/>
                  <a:gd name="txR" fmla="*/ 78 w 78"/>
                  <a:gd name="txB" fmla="*/ 1 h 1"/>
                </a:gdLst>
                <a:ahLst/>
                <a:cxnLst>
                  <a:cxn ang="0">
                    <a:pos x="78" y="0"/>
                  </a:cxn>
                  <a:cxn ang="0">
                    <a:pos x="0" y="0"/>
                  </a:cxn>
                  <a:cxn ang="0">
                    <a:pos x="78" y="0"/>
                  </a:cxn>
                  <a:cxn ang="0">
                    <a:pos x="78" y="0"/>
                  </a:cxn>
                  <a:cxn ang="0">
                    <a:pos x="78" y="0"/>
                  </a:cxn>
                  <a:cxn ang="0">
                    <a:pos x="78" y="0"/>
                  </a:cxn>
                  <a:cxn ang="0">
                    <a:pos x="78" y="0"/>
                  </a:cxn>
                </a:cxnLst>
                <a:rect l="txL" t="txT" r="txR" b="txB"/>
                <a:pathLst>
                  <a:path w="78" h="1">
                    <a:moveTo>
                      <a:pt x="78" y="0"/>
                    </a:moveTo>
                    <a:lnTo>
                      <a:pt x="0" y="0"/>
                    </a:lnTo>
                    <a:lnTo>
                      <a:pt x="78" y="0"/>
                    </a:lnTo>
                    <a:close/>
                    <a:moveTo>
                      <a:pt x="78" y="0"/>
                    </a:moveTo>
                    <a:lnTo>
                      <a:pt x="7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11" name="Freeform 48"/>
              <p:cNvSpPr>
                <a:spLocks noEditPoints="1"/>
              </p:cNvSpPr>
              <p:nvPr/>
            </p:nvSpPr>
            <p:spPr>
              <a:xfrm>
                <a:off x="2368" y="996"/>
                <a:ext cx="54" cy="41"/>
              </a:xfrm>
              <a:custGeom>
                <a:avLst/>
                <a:gdLst>
                  <a:gd name="txL" fmla="*/ 0 w 54"/>
                  <a:gd name="txT" fmla="*/ 0 h 41"/>
                  <a:gd name="txR" fmla="*/ 54 w 54"/>
                  <a:gd name="txB" fmla="*/ 41 h 41"/>
                </a:gdLst>
                <a:ahLst/>
                <a:cxnLst>
                  <a:cxn ang="0">
                    <a:pos x="0" y="41"/>
                  </a:cxn>
                  <a:cxn ang="0">
                    <a:pos x="54" y="0"/>
                  </a:cxn>
                  <a:cxn ang="0">
                    <a:pos x="0" y="41"/>
                  </a:cxn>
                  <a:cxn ang="0">
                    <a:pos x="0" y="41"/>
                  </a:cxn>
                  <a:cxn ang="0">
                    <a:pos x="0" y="41"/>
                  </a:cxn>
                  <a:cxn ang="0">
                    <a:pos x="0" y="41"/>
                  </a:cxn>
                  <a:cxn ang="0">
                    <a:pos x="0" y="41"/>
                  </a:cxn>
                </a:cxnLst>
                <a:rect l="txL" t="txT" r="txR" b="txB"/>
                <a:pathLst>
                  <a:path w="54" h="41">
                    <a:moveTo>
                      <a:pt x="0" y="41"/>
                    </a:moveTo>
                    <a:lnTo>
                      <a:pt x="54" y="0"/>
                    </a:lnTo>
                    <a:lnTo>
                      <a:pt x="0" y="41"/>
                    </a:lnTo>
                    <a:close/>
                    <a:moveTo>
                      <a:pt x="0" y="41"/>
                    </a:moveTo>
                    <a:lnTo>
                      <a:pt x="0" y="41"/>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12" name="Freeform 49"/>
              <p:cNvSpPr>
                <a:spLocks noEditPoints="1"/>
              </p:cNvSpPr>
              <p:nvPr/>
            </p:nvSpPr>
            <p:spPr>
              <a:xfrm>
                <a:off x="2422" y="960"/>
                <a:ext cx="48" cy="36"/>
              </a:xfrm>
              <a:custGeom>
                <a:avLst/>
                <a:gdLst>
                  <a:gd name="txL" fmla="*/ 0 w 48"/>
                  <a:gd name="txT" fmla="*/ 0 h 36"/>
                  <a:gd name="txR" fmla="*/ 48 w 48"/>
                  <a:gd name="txB" fmla="*/ 36 h 36"/>
                </a:gdLst>
                <a:ahLst/>
                <a:cxnLst>
                  <a:cxn ang="0">
                    <a:pos x="0" y="36"/>
                  </a:cxn>
                  <a:cxn ang="0">
                    <a:pos x="48" y="0"/>
                  </a:cxn>
                  <a:cxn ang="0">
                    <a:pos x="0" y="36"/>
                  </a:cxn>
                  <a:cxn ang="0">
                    <a:pos x="0" y="36"/>
                  </a:cxn>
                  <a:cxn ang="0">
                    <a:pos x="0" y="36"/>
                  </a:cxn>
                  <a:cxn ang="0">
                    <a:pos x="0" y="36"/>
                  </a:cxn>
                  <a:cxn ang="0">
                    <a:pos x="0" y="36"/>
                  </a:cxn>
                </a:cxnLst>
                <a:rect l="txL" t="txT" r="txR" b="txB"/>
                <a:pathLst>
                  <a:path w="48" h="36">
                    <a:moveTo>
                      <a:pt x="0" y="36"/>
                    </a:moveTo>
                    <a:lnTo>
                      <a:pt x="48" y="0"/>
                    </a:lnTo>
                    <a:lnTo>
                      <a:pt x="0" y="36"/>
                    </a:lnTo>
                    <a:close/>
                    <a:moveTo>
                      <a:pt x="0" y="36"/>
                    </a:moveTo>
                    <a:lnTo>
                      <a:pt x="0"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13" name="Freeform 50"/>
              <p:cNvSpPr>
                <a:spLocks noEditPoints="1"/>
              </p:cNvSpPr>
              <p:nvPr/>
            </p:nvSpPr>
            <p:spPr>
              <a:xfrm>
                <a:off x="2398" y="960"/>
                <a:ext cx="72" cy="1"/>
              </a:xfrm>
              <a:custGeom>
                <a:avLst/>
                <a:gdLst>
                  <a:gd name="txL" fmla="*/ 0 w 72"/>
                  <a:gd name="txT" fmla="*/ 0 h 1"/>
                  <a:gd name="txR" fmla="*/ 72 w 72"/>
                  <a:gd name="txB" fmla="*/ 1 h 1"/>
                </a:gdLst>
                <a:ahLst/>
                <a:cxnLst>
                  <a:cxn ang="0">
                    <a:pos x="72" y="0"/>
                  </a:cxn>
                  <a:cxn ang="0">
                    <a:pos x="0" y="0"/>
                  </a:cxn>
                  <a:cxn ang="0">
                    <a:pos x="72" y="0"/>
                  </a:cxn>
                  <a:cxn ang="0">
                    <a:pos x="72" y="0"/>
                  </a:cxn>
                  <a:cxn ang="0">
                    <a:pos x="72" y="0"/>
                  </a:cxn>
                  <a:cxn ang="0">
                    <a:pos x="72" y="0"/>
                  </a:cxn>
                  <a:cxn ang="0">
                    <a:pos x="72" y="0"/>
                  </a:cxn>
                </a:cxnLst>
                <a:rect l="txL" t="txT" r="txR" b="txB"/>
                <a:pathLst>
                  <a:path w="72" h="1">
                    <a:moveTo>
                      <a:pt x="72" y="0"/>
                    </a:moveTo>
                    <a:lnTo>
                      <a:pt x="0" y="0"/>
                    </a:lnTo>
                    <a:lnTo>
                      <a:pt x="72" y="0"/>
                    </a:lnTo>
                    <a:close/>
                    <a:moveTo>
                      <a:pt x="72" y="0"/>
                    </a:moveTo>
                    <a:lnTo>
                      <a:pt x="72"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14" name="Freeform 51"/>
              <p:cNvSpPr>
                <a:spLocks noEditPoints="1"/>
              </p:cNvSpPr>
              <p:nvPr/>
            </p:nvSpPr>
            <p:spPr>
              <a:xfrm>
                <a:off x="2320" y="960"/>
                <a:ext cx="78" cy="1"/>
              </a:xfrm>
              <a:custGeom>
                <a:avLst/>
                <a:gdLst>
                  <a:gd name="txL" fmla="*/ 0 w 78"/>
                  <a:gd name="txT" fmla="*/ 0 h 1"/>
                  <a:gd name="txR" fmla="*/ 78 w 78"/>
                  <a:gd name="txB" fmla="*/ 1 h 1"/>
                </a:gdLst>
                <a:ahLst/>
                <a:cxnLst>
                  <a:cxn ang="0">
                    <a:pos x="78" y="0"/>
                  </a:cxn>
                  <a:cxn ang="0">
                    <a:pos x="0" y="0"/>
                  </a:cxn>
                  <a:cxn ang="0">
                    <a:pos x="78" y="0"/>
                  </a:cxn>
                  <a:cxn ang="0">
                    <a:pos x="78" y="0"/>
                  </a:cxn>
                  <a:cxn ang="0">
                    <a:pos x="78" y="0"/>
                  </a:cxn>
                  <a:cxn ang="0">
                    <a:pos x="78" y="0"/>
                  </a:cxn>
                  <a:cxn ang="0">
                    <a:pos x="78" y="0"/>
                  </a:cxn>
                </a:cxnLst>
                <a:rect l="txL" t="txT" r="txR" b="txB"/>
                <a:pathLst>
                  <a:path w="78" h="1">
                    <a:moveTo>
                      <a:pt x="78" y="0"/>
                    </a:moveTo>
                    <a:lnTo>
                      <a:pt x="0" y="0"/>
                    </a:lnTo>
                    <a:lnTo>
                      <a:pt x="78" y="0"/>
                    </a:lnTo>
                    <a:close/>
                    <a:moveTo>
                      <a:pt x="78" y="0"/>
                    </a:moveTo>
                    <a:lnTo>
                      <a:pt x="7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15" name="Freeform 52"/>
              <p:cNvSpPr>
                <a:spLocks noEditPoints="1"/>
              </p:cNvSpPr>
              <p:nvPr/>
            </p:nvSpPr>
            <p:spPr>
              <a:xfrm>
                <a:off x="2320" y="924"/>
                <a:ext cx="48" cy="36"/>
              </a:xfrm>
              <a:custGeom>
                <a:avLst/>
                <a:gdLst>
                  <a:gd name="txL" fmla="*/ 0 w 48"/>
                  <a:gd name="txT" fmla="*/ 0 h 36"/>
                  <a:gd name="txR" fmla="*/ 48 w 48"/>
                  <a:gd name="txB" fmla="*/ 36 h 36"/>
                </a:gdLst>
                <a:ahLst/>
                <a:cxnLst>
                  <a:cxn ang="0">
                    <a:pos x="0" y="36"/>
                  </a:cxn>
                  <a:cxn ang="0">
                    <a:pos x="48" y="0"/>
                  </a:cxn>
                  <a:cxn ang="0">
                    <a:pos x="0" y="36"/>
                  </a:cxn>
                  <a:cxn ang="0">
                    <a:pos x="0" y="36"/>
                  </a:cxn>
                  <a:cxn ang="0">
                    <a:pos x="0" y="36"/>
                  </a:cxn>
                  <a:cxn ang="0">
                    <a:pos x="0" y="36"/>
                  </a:cxn>
                  <a:cxn ang="0">
                    <a:pos x="0" y="36"/>
                  </a:cxn>
                </a:cxnLst>
                <a:rect l="txL" t="txT" r="txR" b="txB"/>
                <a:pathLst>
                  <a:path w="48" h="36">
                    <a:moveTo>
                      <a:pt x="0" y="36"/>
                    </a:moveTo>
                    <a:lnTo>
                      <a:pt x="48" y="0"/>
                    </a:lnTo>
                    <a:lnTo>
                      <a:pt x="0" y="36"/>
                    </a:lnTo>
                    <a:close/>
                    <a:moveTo>
                      <a:pt x="0" y="36"/>
                    </a:moveTo>
                    <a:lnTo>
                      <a:pt x="0"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16" name="Freeform 53"/>
              <p:cNvSpPr>
                <a:spLocks noEditPoints="1"/>
              </p:cNvSpPr>
              <p:nvPr/>
            </p:nvSpPr>
            <p:spPr>
              <a:xfrm>
                <a:off x="2368" y="882"/>
                <a:ext cx="54" cy="42"/>
              </a:xfrm>
              <a:custGeom>
                <a:avLst/>
                <a:gdLst>
                  <a:gd name="txL" fmla="*/ 0 w 54"/>
                  <a:gd name="txT" fmla="*/ 0 h 42"/>
                  <a:gd name="txR" fmla="*/ 54 w 54"/>
                  <a:gd name="txB" fmla="*/ 42 h 42"/>
                </a:gdLst>
                <a:ahLst/>
                <a:cxnLst>
                  <a:cxn ang="0">
                    <a:pos x="0" y="42"/>
                  </a:cxn>
                  <a:cxn ang="0">
                    <a:pos x="54" y="0"/>
                  </a:cxn>
                  <a:cxn ang="0">
                    <a:pos x="0" y="42"/>
                  </a:cxn>
                  <a:cxn ang="0">
                    <a:pos x="0" y="42"/>
                  </a:cxn>
                  <a:cxn ang="0">
                    <a:pos x="0" y="42"/>
                  </a:cxn>
                  <a:cxn ang="0">
                    <a:pos x="0" y="42"/>
                  </a:cxn>
                  <a:cxn ang="0">
                    <a:pos x="0" y="42"/>
                  </a:cxn>
                </a:cxnLst>
                <a:rect l="txL" t="txT" r="txR" b="txB"/>
                <a:pathLst>
                  <a:path w="54" h="42">
                    <a:moveTo>
                      <a:pt x="0" y="42"/>
                    </a:moveTo>
                    <a:lnTo>
                      <a:pt x="54" y="0"/>
                    </a:lnTo>
                    <a:lnTo>
                      <a:pt x="0" y="42"/>
                    </a:lnTo>
                    <a:close/>
                    <a:moveTo>
                      <a:pt x="0" y="42"/>
                    </a:move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17" name="Freeform 54"/>
              <p:cNvSpPr>
                <a:spLocks noEditPoints="1"/>
              </p:cNvSpPr>
              <p:nvPr/>
            </p:nvSpPr>
            <p:spPr>
              <a:xfrm>
                <a:off x="2338" y="882"/>
                <a:ext cx="84" cy="1"/>
              </a:xfrm>
              <a:custGeom>
                <a:avLst/>
                <a:gdLst>
                  <a:gd name="txL" fmla="*/ 0 w 84"/>
                  <a:gd name="txT" fmla="*/ 0 h 1"/>
                  <a:gd name="txR" fmla="*/ 84 w 84"/>
                  <a:gd name="txB" fmla="*/ 1 h 1"/>
                </a:gdLst>
                <a:ahLst/>
                <a:cxnLst>
                  <a:cxn ang="0">
                    <a:pos x="84" y="0"/>
                  </a:cxn>
                  <a:cxn ang="0">
                    <a:pos x="0" y="0"/>
                  </a:cxn>
                  <a:cxn ang="0">
                    <a:pos x="84" y="0"/>
                  </a:cxn>
                  <a:cxn ang="0">
                    <a:pos x="84" y="0"/>
                  </a:cxn>
                  <a:cxn ang="0">
                    <a:pos x="84" y="0"/>
                  </a:cxn>
                  <a:cxn ang="0">
                    <a:pos x="84" y="0"/>
                  </a:cxn>
                  <a:cxn ang="0">
                    <a:pos x="84" y="0"/>
                  </a:cxn>
                </a:cxnLst>
                <a:rect l="txL" t="txT" r="txR" b="txB"/>
                <a:pathLst>
                  <a:path w="84" h="1">
                    <a:moveTo>
                      <a:pt x="84" y="0"/>
                    </a:moveTo>
                    <a:lnTo>
                      <a:pt x="0" y="0"/>
                    </a:lnTo>
                    <a:lnTo>
                      <a:pt x="84" y="0"/>
                    </a:lnTo>
                    <a:close/>
                    <a:moveTo>
                      <a:pt x="84" y="0"/>
                    </a:moveTo>
                    <a:lnTo>
                      <a:pt x="8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18" name="Freeform 55"/>
              <p:cNvSpPr/>
              <p:nvPr/>
            </p:nvSpPr>
            <p:spPr>
              <a:xfrm>
                <a:off x="3170" y="882"/>
                <a:ext cx="245" cy="317"/>
              </a:xfrm>
              <a:custGeom>
                <a:avLst/>
                <a:gdLst>
                  <a:gd name="txL" fmla="*/ 0 w 245"/>
                  <a:gd name="txT" fmla="*/ 0 h 317"/>
                  <a:gd name="txR" fmla="*/ 245 w 245"/>
                  <a:gd name="txB" fmla="*/ 317 h 317"/>
                </a:gdLst>
                <a:ahLst/>
                <a:cxnLst>
                  <a:cxn ang="0">
                    <a:pos x="245" y="18"/>
                  </a:cxn>
                  <a:cxn ang="0">
                    <a:pos x="197" y="0"/>
                  </a:cxn>
                  <a:cxn ang="0">
                    <a:pos x="0" y="299"/>
                  </a:cxn>
                  <a:cxn ang="0">
                    <a:pos x="53" y="317"/>
                  </a:cxn>
                  <a:cxn ang="0">
                    <a:pos x="245" y="18"/>
                  </a:cxn>
                  <a:cxn ang="0">
                    <a:pos x="245" y="18"/>
                  </a:cxn>
                </a:cxnLst>
                <a:rect l="txL" t="txT" r="txR" b="txB"/>
                <a:pathLst>
                  <a:path w="245" h="317">
                    <a:moveTo>
                      <a:pt x="245" y="18"/>
                    </a:moveTo>
                    <a:lnTo>
                      <a:pt x="197" y="0"/>
                    </a:lnTo>
                    <a:lnTo>
                      <a:pt x="0" y="299"/>
                    </a:lnTo>
                    <a:lnTo>
                      <a:pt x="53" y="317"/>
                    </a:lnTo>
                    <a:lnTo>
                      <a:pt x="245" y="18"/>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59519" name="Freeform 56"/>
              <p:cNvSpPr/>
              <p:nvPr/>
            </p:nvSpPr>
            <p:spPr>
              <a:xfrm>
                <a:off x="3194" y="1193"/>
                <a:ext cx="77" cy="1"/>
              </a:xfrm>
              <a:custGeom>
                <a:avLst/>
                <a:gdLst>
                  <a:gd name="txL" fmla="*/ 0 w 77"/>
                  <a:gd name="txT" fmla="*/ 0 h 1"/>
                  <a:gd name="txR" fmla="*/ 77 w 77"/>
                  <a:gd name="txB" fmla="*/ 1 h 1"/>
                </a:gdLst>
                <a:ahLst/>
                <a:cxnLst>
                  <a:cxn ang="0">
                    <a:pos x="0" y="0"/>
                  </a:cxn>
                  <a:cxn ang="0">
                    <a:pos x="77" y="0"/>
                  </a:cxn>
                  <a:cxn ang="0">
                    <a:pos x="0" y="0"/>
                  </a:cxn>
                  <a:cxn ang="0">
                    <a:pos x="0" y="0"/>
                  </a:cxn>
                </a:cxnLst>
                <a:rect l="txL" t="txT" r="txR" b="txB"/>
                <a:pathLst>
                  <a:path w="77" h="1">
                    <a:moveTo>
                      <a:pt x="0" y="0"/>
                    </a:moveTo>
                    <a:lnTo>
                      <a:pt x="77"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20" name="Freeform 57"/>
              <p:cNvSpPr>
                <a:spLocks noEditPoints="1"/>
              </p:cNvSpPr>
              <p:nvPr/>
            </p:nvSpPr>
            <p:spPr>
              <a:xfrm>
                <a:off x="3217" y="1157"/>
                <a:ext cx="54" cy="36"/>
              </a:xfrm>
              <a:custGeom>
                <a:avLst/>
                <a:gdLst>
                  <a:gd name="txL" fmla="*/ 0 w 54"/>
                  <a:gd name="txT" fmla="*/ 0 h 36"/>
                  <a:gd name="txR" fmla="*/ 54 w 54"/>
                  <a:gd name="txB" fmla="*/ 36 h 36"/>
                </a:gdLst>
                <a:ahLst/>
                <a:cxnLst>
                  <a:cxn ang="0">
                    <a:pos x="54" y="36"/>
                  </a:cxn>
                  <a:cxn ang="0">
                    <a:pos x="0" y="0"/>
                  </a:cxn>
                  <a:cxn ang="0">
                    <a:pos x="54" y="36"/>
                  </a:cxn>
                  <a:cxn ang="0">
                    <a:pos x="54" y="36"/>
                  </a:cxn>
                  <a:cxn ang="0">
                    <a:pos x="54" y="36"/>
                  </a:cxn>
                  <a:cxn ang="0">
                    <a:pos x="54" y="36"/>
                  </a:cxn>
                  <a:cxn ang="0">
                    <a:pos x="54" y="36"/>
                  </a:cxn>
                </a:cxnLst>
                <a:rect l="txL" t="txT" r="txR" b="txB"/>
                <a:pathLst>
                  <a:path w="54" h="36">
                    <a:moveTo>
                      <a:pt x="54" y="36"/>
                    </a:moveTo>
                    <a:lnTo>
                      <a:pt x="0" y="0"/>
                    </a:lnTo>
                    <a:lnTo>
                      <a:pt x="54" y="36"/>
                    </a:lnTo>
                    <a:close/>
                    <a:moveTo>
                      <a:pt x="54" y="36"/>
                    </a:moveTo>
                    <a:lnTo>
                      <a:pt x="54"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21" name="Freeform 58"/>
              <p:cNvSpPr>
                <a:spLocks noEditPoints="1"/>
              </p:cNvSpPr>
              <p:nvPr/>
            </p:nvSpPr>
            <p:spPr>
              <a:xfrm>
                <a:off x="3170" y="1115"/>
                <a:ext cx="47" cy="42"/>
              </a:xfrm>
              <a:custGeom>
                <a:avLst/>
                <a:gdLst>
                  <a:gd name="txL" fmla="*/ 0 w 47"/>
                  <a:gd name="txT" fmla="*/ 0 h 42"/>
                  <a:gd name="txR" fmla="*/ 47 w 47"/>
                  <a:gd name="txB" fmla="*/ 42 h 42"/>
                </a:gdLst>
                <a:ahLst/>
                <a:cxnLst>
                  <a:cxn ang="0">
                    <a:pos x="47" y="42"/>
                  </a:cxn>
                  <a:cxn ang="0">
                    <a:pos x="0" y="0"/>
                  </a:cxn>
                  <a:cxn ang="0">
                    <a:pos x="47" y="42"/>
                  </a:cxn>
                  <a:cxn ang="0">
                    <a:pos x="47" y="42"/>
                  </a:cxn>
                  <a:cxn ang="0">
                    <a:pos x="47" y="42"/>
                  </a:cxn>
                  <a:cxn ang="0">
                    <a:pos x="47" y="42"/>
                  </a:cxn>
                  <a:cxn ang="0">
                    <a:pos x="47" y="42"/>
                  </a:cxn>
                </a:cxnLst>
                <a:rect l="txL" t="txT" r="txR" b="txB"/>
                <a:pathLst>
                  <a:path w="47" h="42">
                    <a:moveTo>
                      <a:pt x="47" y="42"/>
                    </a:moveTo>
                    <a:lnTo>
                      <a:pt x="0" y="0"/>
                    </a:lnTo>
                    <a:lnTo>
                      <a:pt x="47" y="42"/>
                    </a:lnTo>
                    <a:close/>
                    <a:moveTo>
                      <a:pt x="47" y="42"/>
                    </a:moveTo>
                    <a:lnTo>
                      <a:pt x="47"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22" name="Freeform 59"/>
              <p:cNvSpPr>
                <a:spLocks noEditPoints="1"/>
              </p:cNvSpPr>
              <p:nvPr/>
            </p:nvSpPr>
            <p:spPr>
              <a:xfrm>
                <a:off x="3170" y="1115"/>
                <a:ext cx="71" cy="1"/>
              </a:xfrm>
              <a:custGeom>
                <a:avLst/>
                <a:gdLst>
                  <a:gd name="txL" fmla="*/ 0 w 71"/>
                  <a:gd name="txT" fmla="*/ 0 h 1"/>
                  <a:gd name="txR" fmla="*/ 71 w 71"/>
                  <a:gd name="txB" fmla="*/ 1 h 1"/>
                </a:gdLst>
                <a:ahLst/>
                <a:cxnLst>
                  <a:cxn ang="0">
                    <a:pos x="0" y="0"/>
                  </a:cxn>
                  <a:cxn ang="0">
                    <a:pos x="71" y="0"/>
                  </a:cxn>
                  <a:cxn ang="0">
                    <a:pos x="0" y="0"/>
                  </a:cxn>
                  <a:cxn ang="0">
                    <a:pos x="0" y="0"/>
                  </a:cxn>
                  <a:cxn ang="0">
                    <a:pos x="0" y="0"/>
                  </a:cxn>
                  <a:cxn ang="0">
                    <a:pos x="0" y="0"/>
                  </a:cxn>
                  <a:cxn ang="0">
                    <a:pos x="0" y="0"/>
                  </a:cxn>
                </a:cxnLst>
                <a:rect l="txL" t="txT" r="txR" b="txB"/>
                <a:pathLst>
                  <a:path w="71" h="1">
                    <a:moveTo>
                      <a:pt x="0" y="0"/>
                    </a:moveTo>
                    <a:lnTo>
                      <a:pt x="71" y="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23" name="Freeform 60"/>
              <p:cNvSpPr>
                <a:spLocks noEditPoints="1"/>
              </p:cNvSpPr>
              <p:nvPr/>
            </p:nvSpPr>
            <p:spPr>
              <a:xfrm>
                <a:off x="3241" y="1115"/>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24" name="Freeform 61"/>
              <p:cNvSpPr>
                <a:spLocks noEditPoints="1"/>
              </p:cNvSpPr>
              <p:nvPr/>
            </p:nvSpPr>
            <p:spPr>
              <a:xfrm>
                <a:off x="3241" y="1115"/>
                <a:ext cx="78" cy="6"/>
              </a:xfrm>
              <a:custGeom>
                <a:avLst/>
                <a:gdLst>
                  <a:gd name="txL" fmla="*/ 0 w 78"/>
                  <a:gd name="txT" fmla="*/ 0 h 6"/>
                  <a:gd name="txR" fmla="*/ 78 w 78"/>
                  <a:gd name="txB" fmla="*/ 6 h 6"/>
                </a:gdLst>
                <a:ahLst/>
                <a:cxnLst>
                  <a:cxn ang="0">
                    <a:pos x="0" y="0"/>
                  </a:cxn>
                  <a:cxn ang="0">
                    <a:pos x="78" y="6"/>
                  </a:cxn>
                  <a:cxn ang="0">
                    <a:pos x="0" y="0"/>
                  </a:cxn>
                  <a:cxn ang="0">
                    <a:pos x="0" y="0"/>
                  </a:cxn>
                  <a:cxn ang="0">
                    <a:pos x="0" y="0"/>
                  </a:cxn>
                  <a:cxn ang="0">
                    <a:pos x="0" y="0"/>
                  </a:cxn>
                  <a:cxn ang="0">
                    <a:pos x="0" y="0"/>
                  </a:cxn>
                </a:cxnLst>
                <a:rect l="txL" t="txT" r="txR" b="txB"/>
                <a:pathLst>
                  <a:path w="78" h="6">
                    <a:moveTo>
                      <a:pt x="0" y="0"/>
                    </a:moveTo>
                    <a:lnTo>
                      <a:pt x="78"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25" name="Freeform 62"/>
              <p:cNvSpPr>
                <a:spLocks noEditPoints="1"/>
              </p:cNvSpPr>
              <p:nvPr/>
            </p:nvSpPr>
            <p:spPr>
              <a:xfrm>
                <a:off x="3271" y="1079"/>
                <a:ext cx="48" cy="42"/>
              </a:xfrm>
              <a:custGeom>
                <a:avLst/>
                <a:gdLst>
                  <a:gd name="txL" fmla="*/ 0 w 48"/>
                  <a:gd name="txT" fmla="*/ 0 h 42"/>
                  <a:gd name="txR" fmla="*/ 48 w 48"/>
                  <a:gd name="txB" fmla="*/ 42 h 42"/>
                </a:gdLst>
                <a:ahLst/>
                <a:cxnLst>
                  <a:cxn ang="0">
                    <a:pos x="48" y="42"/>
                  </a:cxn>
                  <a:cxn ang="0">
                    <a:pos x="0" y="0"/>
                  </a:cxn>
                  <a:cxn ang="0">
                    <a:pos x="48" y="42"/>
                  </a:cxn>
                  <a:cxn ang="0">
                    <a:pos x="48" y="42"/>
                  </a:cxn>
                  <a:cxn ang="0">
                    <a:pos x="48" y="42"/>
                  </a:cxn>
                  <a:cxn ang="0">
                    <a:pos x="48" y="42"/>
                  </a:cxn>
                  <a:cxn ang="0">
                    <a:pos x="48" y="42"/>
                  </a:cxn>
                </a:cxnLst>
                <a:rect l="txL" t="txT" r="txR" b="txB"/>
                <a:pathLst>
                  <a:path w="48" h="42">
                    <a:moveTo>
                      <a:pt x="48" y="42"/>
                    </a:moveTo>
                    <a:lnTo>
                      <a:pt x="0" y="0"/>
                    </a:lnTo>
                    <a:lnTo>
                      <a:pt x="48" y="42"/>
                    </a:lnTo>
                    <a:close/>
                    <a:moveTo>
                      <a:pt x="48" y="42"/>
                    </a:moveTo>
                    <a:lnTo>
                      <a:pt x="48"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26" name="Freeform 63"/>
              <p:cNvSpPr>
                <a:spLocks noEditPoints="1"/>
              </p:cNvSpPr>
              <p:nvPr/>
            </p:nvSpPr>
            <p:spPr>
              <a:xfrm>
                <a:off x="3217" y="1037"/>
                <a:ext cx="54" cy="42"/>
              </a:xfrm>
              <a:custGeom>
                <a:avLst/>
                <a:gdLst>
                  <a:gd name="txL" fmla="*/ 0 w 54"/>
                  <a:gd name="txT" fmla="*/ 0 h 42"/>
                  <a:gd name="txR" fmla="*/ 54 w 54"/>
                  <a:gd name="txB" fmla="*/ 42 h 42"/>
                </a:gdLst>
                <a:ahLst/>
                <a:cxnLst>
                  <a:cxn ang="0">
                    <a:pos x="54" y="42"/>
                  </a:cxn>
                  <a:cxn ang="0">
                    <a:pos x="0" y="0"/>
                  </a:cxn>
                  <a:cxn ang="0">
                    <a:pos x="54" y="42"/>
                  </a:cxn>
                  <a:cxn ang="0">
                    <a:pos x="54" y="42"/>
                  </a:cxn>
                  <a:cxn ang="0">
                    <a:pos x="54" y="42"/>
                  </a:cxn>
                  <a:cxn ang="0">
                    <a:pos x="54" y="42"/>
                  </a:cxn>
                  <a:cxn ang="0">
                    <a:pos x="54" y="42"/>
                  </a:cxn>
                </a:cxnLst>
                <a:rect l="txL" t="txT" r="txR" b="txB"/>
                <a:pathLst>
                  <a:path w="54" h="42">
                    <a:moveTo>
                      <a:pt x="54" y="42"/>
                    </a:moveTo>
                    <a:lnTo>
                      <a:pt x="0" y="0"/>
                    </a:lnTo>
                    <a:lnTo>
                      <a:pt x="54" y="42"/>
                    </a:lnTo>
                    <a:close/>
                    <a:moveTo>
                      <a:pt x="54" y="42"/>
                    </a:moveTo>
                    <a:lnTo>
                      <a:pt x="54"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27" name="Freeform 64"/>
              <p:cNvSpPr>
                <a:spLocks noEditPoints="1"/>
              </p:cNvSpPr>
              <p:nvPr/>
            </p:nvSpPr>
            <p:spPr>
              <a:xfrm>
                <a:off x="3217" y="1037"/>
                <a:ext cx="78" cy="6"/>
              </a:xfrm>
              <a:custGeom>
                <a:avLst/>
                <a:gdLst>
                  <a:gd name="txL" fmla="*/ 0 w 78"/>
                  <a:gd name="txT" fmla="*/ 0 h 6"/>
                  <a:gd name="txR" fmla="*/ 78 w 78"/>
                  <a:gd name="txB" fmla="*/ 6 h 6"/>
                </a:gdLst>
                <a:ahLst/>
                <a:cxnLst>
                  <a:cxn ang="0">
                    <a:pos x="0" y="0"/>
                  </a:cxn>
                  <a:cxn ang="0">
                    <a:pos x="78" y="6"/>
                  </a:cxn>
                  <a:cxn ang="0">
                    <a:pos x="0" y="0"/>
                  </a:cxn>
                  <a:cxn ang="0">
                    <a:pos x="0" y="0"/>
                  </a:cxn>
                  <a:cxn ang="0">
                    <a:pos x="0" y="0"/>
                  </a:cxn>
                  <a:cxn ang="0">
                    <a:pos x="0" y="0"/>
                  </a:cxn>
                  <a:cxn ang="0">
                    <a:pos x="0" y="0"/>
                  </a:cxn>
                </a:cxnLst>
                <a:rect l="txL" t="txT" r="txR" b="txB"/>
                <a:pathLst>
                  <a:path w="78" h="6">
                    <a:moveTo>
                      <a:pt x="0" y="0"/>
                    </a:moveTo>
                    <a:lnTo>
                      <a:pt x="78"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28" name="Freeform 65"/>
              <p:cNvSpPr>
                <a:spLocks noEditPoints="1"/>
              </p:cNvSpPr>
              <p:nvPr/>
            </p:nvSpPr>
            <p:spPr>
              <a:xfrm>
                <a:off x="3295" y="1043"/>
                <a:ext cx="72" cy="1"/>
              </a:xfrm>
              <a:custGeom>
                <a:avLst/>
                <a:gdLst>
                  <a:gd name="txL" fmla="*/ 0 w 72"/>
                  <a:gd name="txT" fmla="*/ 0 h 1"/>
                  <a:gd name="txR" fmla="*/ 72 w 72"/>
                  <a:gd name="txB" fmla="*/ 1 h 1"/>
                </a:gdLst>
                <a:ahLst/>
                <a:cxnLst>
                  <a:cxn ang="0">
                    <a:pos x="0" y="0"/>
                  </a:cxn>
                  <a:cxn ang="0">
                    <a:pos x="72" y="0"/>
                  </a:cxn>
                  <a:cxn ang="0">
                    <a:pos x="0" y="0"/>
                  </a:cxn>
                  <a:cxn ang="0">
                    <a:pos x="0" y="0"/>
                  </a:cxn>
                  <a:cxn ang="0">
                    <a:pos x="0" y="0"/>
                  </a:cxn>
                  <a:cxn ang="0">
                    <a:pos x="0" y="0"/>
                  </a:cxn>
                  <a:cxn ang="0">
                    <a:pos x="0" y="0"/>
                  </a:cxn>
                </a:cxnLst>
                <a:rect l="txL" t="txT" r="txR" b="txB"/>
                <a:pathLst>
                  <a:path w="72" h="1">
                    <a:moveTo>
                      <a:pt x="0" y="0"/>
                    </a:moveTo>
                    <a:lnTo>
                      <a:pt x="72" y="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29" name="Freeform 66"/>
              <p:cNvSpPr>
                <a:spLocks noEditPoints="1"/>
              </p:cNvSpPr>
              <p:nvPr/>
            </p:nvSpPr>
            <p:spPr>
              <a:xfrm>
                <a:off x="3319" y="1002"/>
                <a:ext cx="48" cy="41"/>
              </a:xfrm>
              <a:custGeom>
                <a:avLst/>
                <a:gdLst>
                  <a:gd name="txL" fmla="*/ 0 w 48"/>
                  <a:gd name="txT" fmla="*/ 0 h 41"/>
                  <a:gd name="txR" fmla="*/ 48 w 48"/>
                  <a:gd name="txB" fmla="*/ 41 h 41"/>
                </a:gdLst>
                <a:ahLst/>
                <a:cxnLst>
                  <a:cxn ang="0">
                    <a:pos x="48" y="41"/>
                  </a:cxn>
                  <a:cxn ang="0">
                    <a:pos x="0" y="0"/>
                  </a:cxn>
                  <a:cxn ang="0">
                    <a:pos x="48" y="41"/>
                  </a:cxn>
                  <a:cxn ang="0">
                    <a:pos x="48" y="41"/>
                  </a:cxn>
                  <a:cxn ang="0">
                    <a:pos x="48" y="41"/>
                  </a:cxn>
                  <a:cxn ang="0">
                    <a:pos x="48" y="41"/>
                  </a:cxn>
                  <a:cxn ang="0">
                    <a:pos x="48" y="41"/>
                  </a:cxn>
                </a:cxnLst>
                <a:rect l="txL" t="txT" r="txR" b="txB"/>
                <a:pathLst>
                  <a:path w="48" h="41">
                    <a:moveTo>
                      <a:pt x="48" y="41"/>
                    </a:moveTo>
                    <a:lnTo>
                      <a:pt x="0" y="0"/>
                    </a:lnTo>
                    <a:lnTo>
                      <a:pt x="48" y="41"/>
                    </a:lnTo>
                    <a:close/>
                    <a:moveTo>
                      <a:pt x="48" y="41"/>
                    </a:moveTo>
                    <a:lnTo>
                      <a:pt x="48" y="41"/>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30" name="Freeform 67"/>
              <p:cNvSpPr>
                <a:spLocks noEditPoints="1"/>
              </p:cNvSpPr>
              <p:nvPr/>
            </p:nvSpPr>
            <p:spPr>
              <a:xfrm>
                <a:off x="3265" y="966"/>
                <a:ext cx="54" cy="36"/>
              </a:xfrm>
              <a:custGeom>
                <a:avLst/>
                <a:gdLst>
                  <a:gd name="txL" fmla="*/ 0 w 54"/>
                  <a:gd name="txT" fmla="*/ 0 h 36"/>
                  <a:gd name="txR" fmla="*/ 54 w 54"/>
                  <a:gd name="txB" fmla="*/ 36 h 36"/>
                </a:gdLst>
                <a:ahLst/>
                <a:cxnLst>
                  <a:cxn ang="0">
                    <a:pos x="54" y="36"/>
                  </a:cxn>
                  <a:cxn ang="0">
                    <a:pos x="0" y="0"/>
                  </a:cxn>
                  <a:cxn ang="0">
                    <a:pos x="54" y="36"/>
                  </a:cxn>
                  <a:cxn ang="0">
                    <a:pos x="54" y="36"/>
                  </a:cxn>
                  <a:cxn ang="0">
                    <a:pos x="54" y="36"/>
                  </a:cxn>
                  <a:cxn ang="0">
                    <a:pos x="54" y="36"/>
                  </a:cxn>
                  <a:cxn ang="0">
                    <a:pos x="54" y="36"/>
                  </a:cxn>
                </a:cxnLst>
                <a:rect l="txL" t="txT" r="txR" b="txB"/>
                <a:pathLst>
                  <a:path w="54" h="36">
                    <a:moveTo>
                      <a:pt x="54" y="36"/>
                    </a:moveTo>
                    <a:lnTo>
                      <a:pt x="0" y="0"/>
                    </a:lnTo>
                    <a:lnTo>
                      <a:pt x="54" y="36"/>
                    </a:lnTo>
                    <a:close/>
                    <a:moveTo>
                      <a:pt x="54" y="36"/>
                    </a:moveTo>
                    <a:lnTo>
                      <a:pt x="54"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31" name="Freeform 68"/>
              <p:cNvSpPr>
                <a:spLocks noEditPoints="1"/>
              </p:cNvSpPr>
              <p:nvPr/>
            </p:nvSpPr>
            <p:spPr>
              <a:xfrm>
                <a:off x="3265" y="966"/>
                <a:ext cx="78" cy="1"/>
              </a:xfrm>
              <a:custGeom>
                <a:avLst/>
                <a:gdLst>
                  <a:gd name="txL" fmla="*/ 0 w 78"/>
                  <a:gd name="txT" fmla="*/ 0 h 1"/>
                  <a:gd name="txR" fmla="*/ 78 w 78"/>
                  <a:gd name="txB" fmla="*/ 1 h 1"/>
                </a:gdLst>
                <a:ahLst/>
                <a:cxnLst>
                  <a:cxn ang="0">
                    <a:pos x="0" y="0"/>
                  </a:cxn>
                  <a:cxn ang="0">
                    <a:pos x="78" y="0"/>
                  </a:cxn>
                  <a:cxn ang="0">
                    <a:pos x="0" y="0"/>
                  </a:cxn>
                  <a:cxn ang="0">
                    <a:pos x="0" y="0"/>
                  </a:cxn>
                  <a:cxn ang="0">
                    <a:pos x="0" y="0"/>
                  </a:cxn>
                  <a:cxn ang="0">
                    <a:pos x="0" y="0"/>
                  </a:cxn>
                  <a:cxn ang="0">
                    <a:pos x="0" y="0"/>
                  </a:cxn>
                </a:cxnLst>
                <a:rect l="txL" t="txT" r="txR" b="txB"/>
                <a:pathLst>
                  <a:path w="78" h="1">
                    <a:moveTo>
                      <a:pt x="0" y="0"/>
                    </a:moveTo>
                    <a:lnTo>
                      <a:pt x="78" y="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32" name="Freeform 69"/>
              <p:cNvSpPr>
                <a:spLocks noEditPoints="1"/>
              </p:cNvSpPr>
              <p:nvPr/>
            </p:nvSpPr>
            <p:spPr>
              <a:xfrm>
                <a:off x="3343" y="966"/>
                <a:ext cx="72" cy="1"/>
              </a:xfrm>
              <a:custGeom>
                <a:avLst/>
                <a:gdLst>
                  <a:gd name="txL" fmla="*/ 0 w 72"/>
                  <a:gd name="txT" fmla="*/ 0 h 1"/>
                  <a:gd name="txR" fmla="*/ 72 w 72"/>
                  <a:gd name="txB" fmla="*/ 1 h 1"/>
                </a:gdLst>
                <a:ahLst/>
                <a:cxnLst>
                  <a:cxn ang="0">
                    <a:pos x="0" y="0"/>
                  </a:cxn>
                  <a:cxn ang="0">
                    <a:pos x="72" y="0"/>
                  </a:cxn>
                  <a:cxn ang="0">
                    <a:pos x="0" y="0"/>
                  </a:cxn>
                  <a:cxn ang="0">
                    <a:pos x="0" y="0"/>
                  </a:cxn>
                  <a:cxn ang="0">
                    <a:pos x="0" y="0"/>
                  </a:cxn>
                  <a:cxn ang="0">
                    <a:pos x="0" y="0"/>
                  </a:cxn>
                  <a:cxn ang="0">
                    <a:pos x="0" y="0"/>
                  </a:cxn>
                </a:cxnLst>
                <a:rect l="txL" t="txT" r="txR" b="txB"/>
                <a:pathLst>
                  <a:path w="72" h="1">
                    <a:moveTo>
                      <a:pt x="0" y="0"/>
                    </a:moveTo>
                    <a:lnTo>
                      <a:pt x="72" y="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33" name="Freeform 70"/>
              <p:cNvSpPr>
                <a:spLocks noEditPoints="1"/>
              </p:cNvSpPr>
              <p:nvPr/>
            </p:nvSpPr>
            <p:spPr>
              <a:xfrm>
                <a:off x="3367" y="930"/>
                <a:ext cx="48" cy="36"/>
              </a:xfrm>
              <a:custGeom>
                <a:avLst/>
                <a:gdLst>
                  <a:gd name="txL" fmla="*/ 0 w 48"/>
                  <a:gd name="txT" fmla="*/ 0 h 36"/>
                  <a:gd name="txR" fmla="*/ 48 w 48"/>
                  <a:gd name="txB" fmla="*/ 36 h 36"/>
                </a:gdLst>
                <a:ahLst/>
                <a:cxnLst>
                  <a:cxn ang="0">
                    <a:pos x="48" y="36"/>
                  </a:cxn>
                  <a:cxn ang="0">
                    <a:pos x="0" y="0"/>
                  </a:cxn>
                  <a:cxn ang="0">
                    <a:pos x="48" y="36"/>
                  </a:cxn>
                  <a:cxn ang="0">
                    <a:pos x="48" y="36"/>
                  </a:cxn>
                  <a:cxn ang="0">
                    <a:pos x="48" y="36"/>
                  </a:cxn>
                  <a:cxn ang="0">
                    <a:pos x="48" y="36"/>
                  </a:cxn>
                  <a:cxn ang="0">
                    <a:pos x="48" y="36"/>
                  </a:cxn>
                </a:cxnLst>
                <a:rect l="txL" t="txT" r="txR" b="txB"/>
                <a:pathLst>
                  <a:path w="48" h="36">
                    <a:moveTo>
                      <a:pt x="48" y="36"/>
                    </a:moveTo>
                    <a:lnTo>
                      <a:pt x="0" y="0"/>
                    </a:lnTo>
                    <a:lnTo>
                      <a:pt x="48" y="36"/>
                    </a:lnTo>
                    <a:close/>
                    <a:moveTo>
                      <a:pt x="48" y="36"/>
                    </a:moveTo>
                    <a:lnTo>
                      <a:pt x="48"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34" name="Freeform 71"/>
              <p:cNvSpPr>
                <a:spLocks noEditPoints="1"/>
              </p:cNvSpPr>
              <p:nvPr/>
            </p:nvSpPr>
            <p:spPr>
              <a:xfrm>
                <a:off x="3319" y="888"/>
                <a:ext cx="48" cy="42"/>
              </a:xfrm>
              <a:custGeom>
                <a:avLst/>
                <a:gdLst>
                  <a:gd name="txL" fmla="*/ 0 w 48"/>
                  <a:gd name="txT" fmla="*/ 0 h 42"/>
                  <a:gd name="txR" fmla="*/ 48 w 48"/>
                  <a:gd name="txB" fmla="*/ 42 h 42"/>
                </a:gdLst>
                <a:ahLst/>
                <a:cxnLst>
                  <a:cxn ang="0">
                    <a:pos x="48" y="42"/>
                  </a:cxn>
                  <a:cxn ang="0">
                    <a:pos x="0" y="0"/>
                  </a:cxn>
                  <a:cxn ang="0">
                    <a:pos x="48" y="42"/>
                  </a:cxn>
                  <a:cxn ang="0">
                    <a:pos x="48" y="42"/>
                  </a:cxn>
                  <a:cxn ang="0">
                    <a:pos x="48" y="42"/>
                  </a:cxn>
                  <a:cxn ang="0">
                    <a:pos x="48" y="42"/>
                  </a:cxn>
                  <a:cxn ang="0">
                    <a:pos x="48" y="42"/>
                  </a:cxn>
                </a:cxnLst>
                <a:rect l="txL" t="txT" r="txR" b="txB"/>
                <a:pathLst>
                  <a:path w="48" h="42">
                    <a:moveTo>
                      <a:pt x="48" y="42"/>
                    </a:moveTo>
                    <a:lnTo>
                      <a:pt x="0" y="0"/>
                    </a:lnTo>
                    <a:lnTo>
                      <a:pt x="48" y="42"/>
                    </a:lnTo>
                    <a:close/>
                    <a:moveTo>
                      <a:pt x="48" y="42"/>
                    </a:moveTo>
                    <a:lnTo>
                      <a:pt x="48"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35" name="Freeform 72"/>
              <p:cNvSpPr>
                <a:spLocks noEditPoints="1"/>
              </p:cNvSpPr>
              <p:nvPr/>
            </p:nvSpPr>
            <p:spPr>
              <a:xfrm>
                <a:off x="3319" y="888"/>
                <a:ext cx="78" cy="1"/>
              </a:xfrm>
              <a:custGeom>
                <a:avLst/>
                <a:gdLst>
                  <a:gd name="txL" fmla="*/ 0 w 78"/>
                  <a:gd name="txT" fmla="*/ 0 h 1"/>
                  <a:gd name="txR" fmla="*/ 78 w 78"/>
                  <a:gd name="txB" fmla="*/ 1 h 1"/>
                </a:gdLst>
                <a:ahLst/>
                <a:cxnLst>
                  <a:cxn ang="0">
                    <a:pos x="0" y="0"/>
                  </a:cxn>
                  <a:cxn ang="0">
                    <a:pos x="78" y="0"/>
                  </a:cxn>
                  <a:cxn ang="0">
                    <a:pos x="0" y="0"/>
                  </a:cxn>
                  <a:cxn ang="0">
                    <a:pos x="0" y="0"/>
                  </a:cxn>
                  <a:cxn ang="0">
                    <a:pos x="0" y="0"/>
                  </a:cxn>
                  <a:cxn ang="0">
                    <a:pos x="0" y="0"/>
                  </a:cxn>
                  <a:cxn ang="0">
                    <a:pos x="0" y="0"/>
                  </a:cxn>
                </a:cxnLst>
                <a:rect l="txL" t="txT" r="txR" b="txB"/>
                <a:pathLst>
                  <a:path w="78" h="1">
                    <a:moveTo>
                      <a:pt x="0" y="0"/>
                    </a:moveTo>
                    <a:lnTo>
                      <a:pt x="78" y="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536" name="Freeform 73"/>
              <p:cNvSpPr/>
              <p:nvPr/>
            </p:nvSpPr>
            <p:spPr>
              <a:xfrm>
                <a:off x="1489" y="530"/>
                <a:ext cx="66" cy="107"/>
              </a:xfrm>
              <a:custGeom>
                <a:avLst/>
                <a:gdLst>
                  <a:gd name="txL" fmla="*/ 0 w 66"/>
                  <a:gd name="txT" fmla="*/ 0 h 107"/>
                  <a:gd name="txR" fmla="*/ 66 w 66"/>
                  <a:gd name="txB" fmla="*/ 107 h 107"/>
                </a:gdLst>
                <a:ahLst/>
                <a:cxnLst>
                  <a:cxn ang="0">
                    <a:pos x="0" y="107"/>
                  </a:cxn>
                  <a:cxn ang="0">
                    <a:pos x="66" y="107"/>
                  </a:cxn>
                  <a:cxn ang="0">
                    <a:pos x="66" y="107"/>
                  </a:cxn>
                  <a:cxn ang="0">
                    <a:pos x="48" y="101"/>
                  </a:cxn>
                  <a:cxn ang="0">
                    <a:pos x="42" y="95"/>
                  </a:cxn>
                  <a:cxn ang="0">
                    <a:pos x="42" y="0"/>
                  </a:cxn>
                  <a:cxn ang="0">
                    <a:pos x="42" y="0"/>
                  </a:cxn>
                  <a:cxn ang="0">
                    <a:pos x="0" y="12"/>
                  </a:cxn>
                  <a:cxn ang="0">
                    <a:pos x="0" y="12"/>
                  </a:cxn>
                  <a:cxn ang="0">
                    <a:pos x="12" y="12"/>
                  </a:cxn>
                  <a:cxn ang="0">
                    <a:pos x="18" y="12"/>
                  </a:cxn>
                  <a:cxn ang="0">
                    <a:pos x="24" y="18"/>
                  </a:cxn>
                  <a:cxn ang="0">
                    <a:pos x="24" y="18"/>
                  </a:cxn>
                  <a:cxn ang="0">
                    <a:pos x="24" y="89"/>
                  </a:cxn>
                  <a:cxn ang="0">
                    <a:pos x="18" y="101"/>
                  </a:cxn>
                  <a:cxn ang="0">
                    <a:pos x="0" y="107"/>
                  </a:cxn>
                  <a:cxn ang="0">
                    <a:pos x="0" y="107"/>
                  </a:cxn>
                </a:cxnLst>
                <a:rect l="txL" t="txT" r="txR" b="txB"/>
                <a:pathLst>
                  <a:path w="66" h="107">
                    <a:moveTo>
                      <a:pt x="0" y="107"/>
                    </a:moveTo>
                    <a:lnTo>
                      <a:pt x="66" y="107"/>
                    </a:lnTo>
                    <a:lnTo>
                      <a:pt x="48" y="101"/>
                    </a:lnTo>
                    <a:lnTo>
                      <a:pt x="42" y="95"/>
                    </a:lnTo>
                    <a:lnTo>
                      <a:pt x="42" y="0"/>
                    </a:lnTo>
                    <a:lnTo>
                      <a:pt x="0" y="12"/>
                    </a:lnTo>
                    <a:lnTo>
                      <a:pt x="12" y="12"/>
                    </a:lnTo>
                    <a:lnTo>
                      <a:pt x="18" y="12"/>
                    </a:lnTo>
                    <a:lnTo>
                      <a:pt x="24" y="18"/>
                    </a:lnTo>
                    <a:lnTo>
                      <a:pt x="24" y="89"/>
                    </a:lnTo>
                    <a:lnTo>
                      <a:pt x="18" y="101"/>
                    </a:lnTo>
                    <a:lnTo>
                      <a:pt x="0" y="10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537" name="Freeform 74"/>
              <p:cNvSpPr/>
              <p:nvPr/>
            </p:nvSpPr>
            <p:spPr>
              <a:xfrm>
                <a:off x="4180" y="524"/>
                <a:ext cx="84" cy="113"/>
              </a:xfrm>
              <a:custGeom>
                <a:avLst/>
                <a:gdLst>
                  <a:gd name="txL" fmla="*/ 0 w 84"/>
                  <a:gd name="txT" fmla="*/ 0 h 113"/>
                  <a:gd name="txR" fmla="*/ 84 w 84"/>
                  <a:gd name="txB" fmla="*/ 113 h 113"/>
                </a:gdLst>
                <a:ahLst/>
                <a:cxnLst>
                  <a:cxn ang="0">
                    <a:pos x="24" y="60"/>
                  </a:cxn>
                  <a:cxn ang="0">
                    <a:pos x="42" y="60"/>
                  </a:cxn>
                  <a:cxn ang="0">
                    <a:pos x="54" y="60"/>
                  </a:cxn>
                  <a:cxn ang="0">
                    <a:pos x="66" y="71"/>
                  </a:cxn>
                  <a:cxn ang="0">
                    <a:pos x="72" y="83"/>
                  </a:cxn>
                  <a:cxn ang="0">
                    <a:pos x="66" y="101"/>
                  </a:cxn>
                  <a:cxn ang="0">
                    <a:pos x="36" y="107"/>
                  </a:cxn>
                  <a:cxn ang="0">
                    <a:pos x="24" y="107"/>
                  </a:cxn>
                  <a:cxn ang="0">
                    <a:pos x="6" y="101"/>
                  </a:cxn>
                  <a:cxn ang="0">
                    <a:pos x="0" y="101"/>
                  </a:cxn>
                  <a:cxn ang="0">
                    <a:pos x="0" y="107"/>
                  </a:cxn>
                  <a:cxn ang="0">
                    <a:pos x="6" y="113"/>
                  </a:cxn>
                  <a:cxn ang="0">
                    <a:pos x="12" y="113"/>
                  </a:cxn>
                  <a:cxn ang="0">
                    <a:pos x="24" y="113"/>
                  </a:cxn>
                  <a:cxn ang="0">
                    <a:pos x="48" y="113"/>
                  </a:cxn>
                  <a:cxn ang="0">
                    <a:pos x="66" y="107"/>
                  </a:cxn>
                  <a:cxn ang="0">
                    <a:pos x="78" y="95"/>
                  </a:cxn>
                  <a:cxn ang="0">
                    <a:pos x="84" y="77"/>
                  </a:cxn>
                  <a:cxn ang="0">
                    <a:pos x="84" y="65"/>
                  </a:cxn>
                  <a:cxn ang="0">
                    <a:pos x="72" y="54"/>
                  </a:cxn>
                  <a:cxn ang="0">
                    <a:pos x="54" y="48"/>
                  </a:cxn>
                  <a:cxn ang="0">
                    <a:pos x="72" y="36"/>
                  </a:cxn>
                  <a:cxn ang="0">
                    <a:pos x="78" y="24"/>
                  </a:cxn>
                  <a:cxn ang="0">
                    <a:pos x="72" y="12"/>
                  </a:cxn>
                  <a:cxn ang="0">
                    <a:pos x="60" y="6"/>
                  </a:cxn>
                  <a:cxn ang="0">
                    <a:pos x="42" y="0"/>
                  </a:cxn>
                  <a:cxn ang="0">
                    <a:pos x="18" y="6"/>
                  </a:cxn>
                  <a:cxn ang="0">
                    <a:pos x="6" y="18"/>
                  </a:cxn>
                  <a:cxn ang="0">
                    <a:pos x="0" y="30"/>
                  </a:cxn>
                  <a:cxn ang="0">
                    <a:pos x="0" y="30"/>
                  </a:cxn>
                  <a:cxn ang="0">
                    <a:pos x="12" y="18"/>
                  </a:cxn>
                  <a:cxn ang="0">
                    <a:pos x="24" y="12"/>
                  </a:cxn>
                  <a:cxn ang="0">
                    <a:pos x="36" y="12"/>
                  </a:cxn>
                  <a:cxn ang="0">
                    <a:pos x="54" y="18"/>
                  </a:cxn>
                  <a:cxn ang="0">
                    <a:pos x="60" y="30"/>
                  </a:cxn>
                  <a:cxn ang="0">
                    <a:pos x="60" y="42"/>
                  </a:cxn>
                  <a:cxn ang="0">
                    <a:pos x="48" y="48"/>
                  </a:cxn>
                  <a:cxn ang="0">
                    <a:pos x="24" y="54"/>
                  </a:cxn>
                  <a:cxn ang="0">
                    <a:pos x="24" y="60"/>
                  </a:cxn>
                </a:cxnLst>
                <a:rect l="txL" t="txT" r="txR" b="txB"/>
                <a:pathLst>
                  <a:path w="84" h="113">
                    <a:moveTo>
                      <a:pt x="24" y="60"/>
                    </a:moveTo>
                    <a:lnTo>
                      <a:pt x="42" y="60"/>
                    </a:lnTo>
                    <a:lnTo>
                      <a:pt x="54" y="60"/>
                    </a:lnTo>
                    <a:lnTo>
                      <a:pt x="66" y="71"/>
                    </a:lnTo>
                    <a:lnTo>
                      <a:pt x="72" y="83"/>
                    </a:lnTo>
                    <a:lnTo>
                      <a:pt x="66" y="101"/>
                    </a:lnTo>
                    <a:lnTo>
                      <a:pt x="36" y="107"/>
                    </a:lnTo>
                    <a:lnTo>
                      <a:pt x="24" y="107"/>
                    </a:lnTo>
                    <a:lnTo>
                      <a:pt x="6" y="101"/>
                    </a:lnTo>
                    <a:lnTo>
                      <a:pt x="0" y="101"/>
                    </a:lnTo>
                    <a:lnTo>
                      <a:pt x="0" y="107"/>
                    </a:lnTo>
                    <a:lnTo>
                      <a:pt x="6" y="113"/>
                    </a:lnTo>
                    <a:lnTo>
                      <a:pt x="12" y="113"/>
                    </a:lnTo>
                    <a:lnTo>
                      <a:pt x="24" y="113"/>
                    </a:lnTo>
                    <a:lnTo>
                      <a:pt x="48" y="113"/>
                    </a:lnTo>
                    <a:lnTo>
                      <a:pt x="66" y="107"/>
                    </a:lnTo>
                    <a:lnTo>
                      <a:pt x="78" y="95"/>
                    </a:lnTo>
                    <a:lnTo>
                      <a:pt x="84" y="77"/>
                    </a:lnTo>
                    <a:lnTo>
                      <a:pt x="84" y="65"/>
                    </a:lnTo>
                    <a:lnTo>
                      <a:pt x="72" y="54"/>
                    </a:lnTo>
                    <a:lnTo>
                      <a:pt x="54" y="48"/>
                    </a:lnTo>
                    <a:lnTo>
                      <a:pt x="72" y="36"/>
                    </a:lnTo>
                    <a:lnTo>
                      <a:pt x="78" y="24"/>
                    </a:lnTo>
                    <a:lnTo>
                      <a:pt x="72" y="12"/>
                    </a:lnTo>
                    <a:lnTo>
                      <a:pt x="60" y="6"/>
                    </a:lnTo>
                    <a:lnTo>
                      <a:pt x="42" y="0"/>
                    </a:lnTo>
                    <a:lnTo>
                      <a:pt x="18" y="6"/>
                    </a:lnTo>
                    <a:lnTo>
                      <a:pt x="6" y="18"/>
                    </a:lnTo>
                    <a:lnTo>
                      <a:pt x="0" y="30"/>
                    </a:lnTo>
                    <a:lnTo>
                      <a:pt x="12" y="18"/>
                    </a:lnTo>
                    <a:lnTo>
                      <a:pt x="24" y="12"/>
                    </a:lnTo>
                    <a:lnTo>
                      <a:pt x="36" y="12"/>
                    </a:lnTo>
                    <a:lnTo>
                      <a:pt x="54" y="18"/>
                    </a:lnTo>
                    <a:lnTo>
                      <a:pt x="60" y="30"/>
                    </a:lnTo>
                    <a:lnTo>
                      <a:pt x="60" y="42"/>
                    </a:lnTo>
                    <a:lnTo>
                      <a:pt x="48" y="48"/>
                    </a:lnTo>
                    <a:lnTo>
                      <a:pt x="24" y="54"/>
                    </a:lnTo>
                    <a:lnTo>
                      <a:pt x="24" y="6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538" name="Freeform 75"/>
              <p:cNvSpPr/>
              <p:nvPr/>
            </p:nvSpPr>
            <p:spPr>
              <a:xfrm>
                <a:off x="1471" y="1646"/>
                <a:ext cx="102" cy="108"/>
              </a:xfrm>
              <a:custGeom>
                <a:avLst/>
                <a:gdLst>
                  <a:gd name="txL" fmla="*/ 0 w 102"/>
                  <a:gd name="txT" fmla="*/ 0 h 108"/>
                  <a:gd name="txR" fmla="*/ 102 w 102"/>
                  <a:gd name="txB" fmla="*/ 108 h 108"/>
                </a:gdLst>
                <a:ahLst/>
                <a:cxnLst>
                  <a:cxn ang="0">
                    <a:pos x="102" y="84"/>
                  </a:cxn>
                  <a:cxn ang="0">
                    <a:pos x="96" y="84"/>
                  </a:cxn>
                  <a:cxn ang="0">
                    <a:pos x="84" y="96"/>
                  </a:cxn>
                  <a:cxn ang="0">
                    <a:pos x="72" y="96"/>
                  </a:cxn>
                  <a:cxn ang="0">
                    <a:pos x="18" y="96"/>
                  </a:cxn>
                  <a:cxn ang="0">
                    <a:pos x="60" y="66"/>
                  </a:cxn>
                  <a:cxn ang="0">
                    <a:pos x="66" y="60"/>
                  </a:cxn>
                  <a:cxn ang="0">
                    <a:pos x="78" y="54"/>
                  </a:cxn>
                  <a:cxn ang="0">
                    <a:pos x="84" y="42"/>
                  </a:cxn>
                  <a:cxn ang="0">
                    <a:pos x="90" y="30"/>
                  </a:cxn>
                  <a:cxn ang="0">
                    <a:pos x="84" y="18"/>
                  </a:cxn>
                  <a:cxn ang="0">
                    <a:pos x="78" y="6"/>
                  </a:cxn>
                  <a:cxn ang="0">
                    <a:pos x="48" y="0"/>
                  </a:cxn>
                  <a:cxn ang="0">
                    <a:pos x="18" y="6"/>
                  </a:cxn>
                  <a:cxn ang="0">
                    <a:pos x="6" y="18"/>
                  </a:cxn>
                  <a:cxn ang="0">
                    <a:pos x="0" y="30"/>
                  </a:cxn>
                  <a:cxn ang="0">
                    <a:pos x="0" y="30"/>
                  </a:cxn>
                  <a:cxn ang="0">
                    <a:pos x="12" y="18"/>
                  </a:cxn>
                  <a:cxn ang="0">
                    <a:pos x="24" y="12"/>
                  </a:cxn>
                  <a:cxn ang="0">
                    <a:pos x="36" y="12"/>
                  </a:cxn>
                  <a:cxn ang="0">
                    <a:pos x="54" y="12"/>
                  </a:cxn>
                  <a:cxn ang="0">
                    <a:pos x="60" y="18"/>
                  </a:cxn>
                  <a:cxn ang="0">
                    <a:pos x="66" y="36"/>
                  </a:cxn>
                  <a:cxn ang="0">
                    <a:pos x="60" y="54"/>
                  </a:cxn>
                  <a:cxn ang="0">
                    <a:pos x="54" y="66"/>
                  </a:cxn>
                  <a:cxn ang="0">
                    <a:pos x="36" y="78"/>
                  </a:cxn>
                  <a:cxn ang="0">
                    <a:pos x="0" y="108"/>
                  </a:cxn>
                  <a:cxn ang="0">
                    <a:pos x="0" y="108"/>
                  </a:cxn>
                  <a:cxn ang="0">
                    <a:pos x="84" y="108"/>
                  </a:cxn>
                  <a:cxn ang="0">
                    <a:pos x="102" y="84"/>
                  </a:cxn>
                </a:cxnLst>
                <a:rect l="txL" t="txT" r="txR" b="txB"/>
                <a:pathLst>
                  <a:path w="102" h="108">
                    <a:moveTo>
                      <a:pt x="102" y="84"/>
                    </a:moveTo>
                    <a:lnTo>
                      <a:pt x="96" y="84"/>
                    </a:lnTo>
                    <a:lnTo>
                      <a:pt x="84" y="96"/>
                    </a:lnTo>
                    <a:lnTo>
                      <a:pt x="72" y="96"/>
                    </a:lnTo>
                    <a:lnTo>
                      <a:pt x="18" y="96"/>
                    </a:lnTo>
                    <a:lnTo>
                      <a:pt x="60" y="66"/>
                    </a:lnTo>
                    <a:lnTo>
                      <a:pt x="66" y="60"/>
                    </a:lnTo>
                    <a:lnTo>
                      <a:pt x="78" y="54"/>
                    </a:lnTo>
                    <a:lnTo>
                      <a:pt x="84" y="42"/>
                    </a:lnTo>
                    <a:lnTo>
                      <a:pt x="90" y="30"/>
                    </a:lnTo>
                    <a:lnTo>
                      <a:pt x="84" y="18"/>
                    </a:lnTo>
                    <a:lnTo>
                      <a:pt x="78" y="6"/>
                    </a:lnTo>
                    <a:lnTo>
                      <a:pt x="48" y="0"/>
                    </a:lnTo>
                    <a:lnTo>
                      <a:pt x="18" y="6"/>
                    </a:lnTo>
                    <a:lnTo>
                      <a:pt x="6" y="18"/>
                    </a:lnTo>
                    <a:lnTo>
                      <a:pt x="0" y="30"/>
                    </a:lnTo>
                    <a:lnTo>
                      <a:pt x="12" y="18"/>
                    </a:lnTo>
                    <a:lnTo>
                      <a:pt x="24" y="12"/>
                    </a:lnTo>
                    <a:lnTo>
                      <a:pt x="36" y="12"/>
                    </a:lnTo>
                    <a:lnTo>
                      <a:pt x="54" y="12"/>
                    </a:lnTo>
                    <a:lnTo>
                      <a:pt x="60" y="18"/>
                    </a:lnTo>
                    <a:lnTo>
                      <a:pt x="66" y="36"/>
                    </a:lnTo>
                    <a:lnTo>
                      <a:pt x="60" y="54"/>
                    </a:lnTo>
                    <a:lnTo>
                      <a:pt x="54" y="66"/>
                    </a:lnTo>
                    <a:lnTo>
                      <a:pt x="36" y="78"/>
                    </a:lnTo>
                    <a:lnTo>
                      <a:pt x="0" y="108"/>
                    </a:lnTo>
                    <a:lnTo>
                      <a:pt x="84" y="108"/>
                    </a:lnTo>
                    <a:lnTo>
                      <a:pt x="102" y="8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539" name="Freeform 76"/>
              <p:cNvSpPr>
                <a:spLocks noEditPoints="1"/>
              </p:cNvSpPr>
              <p:nvPr/>
            </p:nvSpPr>
            <p:spPr>
              <a:xfrm>
                <a:off x="4174" y="1646"/>
                <a:ext cx="108" cy="108"/>
              </a:xfrm>
              <a:custGeom>
                <a:avLst/>
                <a:gdLst>
                  <a:gd name="txL" fmla="*/ 0 w 108"/>
                  <a:gd name="txT" fmla="*/ 0 h 108"/>
                  <a:gd name="txR" fmla="*/ 108 w 108"/>
                  <a:gd name="txB" fmla="*/ 108 h 108"/>
                </a:gdLst>
                <a:ahLst/>
                <a:cxnLst>
                  <a:cxn ang="0">
                    <a:pos x="108" y="72"/>
                  </a:cxn>
                  <a:cxn ang="0">
                    <a:pos x="84" y="72"/>
                  </a:cxn>
                  <a:cxn ang="0">
                    <a:pos x="84" y="0"/>
                  </a:cxn>
                  <a:cxn ang="0">
                    <a:pos x="72" y="0"/>
                  </a:cxn>
                  <a:cxn ang="0">
                    <a:pos x="0" y="72"/>
                  </a:cxn>
                  <a:cxn ang="0">
                    <a:pos x="0" y="84"/>
                  </a:cxn>
                  <a:cxn ang="0">
                    <a:pos x="66" y="84"/>
                  </a:cxn>
                  <a:cxn ang="0">
                    <a:pos x="66" y="108"/>
                  </a:cxn>
                  <a:cxn ang="0">
                    <a:pos x="84" y="108"/>
                  </a:cxn>
                  <a:cxn ang="0">
                    <a:pos x="84" y="84"/>
                  </a:cxn>
                  <a:cxn ang="0">
                    <a:pos x="108" y="84"/>
                  </a:cxn>
                  <a:cxn ang="0">
                    <a:pos x="108" y="72"/>
                  </a:cxn>
                  <a:cxn ang="0">
                    <a:pos x="66" y="72"/>
                  </a:cxn>
                  <a:cxn ang="0">
                    <a:pos x="12" y="72"/>
                  </a:cxn>
                  <a:cxn ang="0">
                    <a:pos x="66" y="18"/>
                  </a:cxn>
                  <a:cxn ang="0">
                    <a:pos x="66" y="18"/>
                  </a:cxn>
                  <a:cxn ang="0">
                    <a:pos x="66" y="72"/>
                  </a:cxn>
                </a:cxnLst>
                <a:rect l="txL" t="txT" r="txR" b="txB"/>
                <a:pathLst>
                  <a:path w="108" h="108">
                    <a:moveTo>
                      <a:pt x="108" y="72"/>
                    </a:moveTo>
                    <a:lnTo>
                      <a:pt x="84" y="72"/>
                    </a:lnTo>
                    <a:lnTo>
                      <a:pt x="84" y="0"/>
                    </a:lnTo>
                    <a:lnTo>
                      <a:pt x="72" y="0"/>
                    </a:lnTo>
                    <a:lnTo>
                      <a:pt x="0" y="72"/>
                    </a:lnTo>
                    <a:lnTo>
                      <a:pt x="0" y="84"/>
                    </a:lnTo>
                    <a:lnTo>
                      <a:pt x="66" y="84"/>
                    </a:lnTo>
                    <a:lnTo>
                      <a:pt x="66" y="108"/>
                    </a:lnTo>
                    <a:lnTo>
                      <a:pt x="84" y="108"/>
                    </a:lnTo>
                    <a:lnTo>
                      <a:pt x="84" y="84"/>
                    </a:lnTo>
                    <a:lnTo>
                      <a:pt x="108" y="84"/>
                    </a:lnTo>
                    <a:lnTo>
                      <a:pt x="108" y="72"/>
                    </a:lnTo>
                    <a:close/>
                    <a:moveTo>
                      <a:pt x="66" y="72"/>
                    </a:moveTo>
                    <a:lnTo>
                      <a:pt x="12" y="72"/>
                    </a:lnTo>
                    <a:lnTo>
                      <a:pt x="66" y="18"/>
                    </a:lnTo>
                    <a:lnTo>
                      <a:pt x="66" y="7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540" name="Freeform 77"/>
              <p:cNvSpPr>
                <a:spLocks noEditPoints="1"/>
              </p:cNvSpPr>
              <p:nvPr/>
            </p:nvSpPr>
            <p:spPr>
              <a:xfrm>
                <a:off x="2769" y="309"/>
                <a:ext cx="131" cy="101"/>
              </a:xfrm>
              <a:custGeom>
                <a:avLst/>
                <a:gdLst>
                  <a:gd name="txL" fmla="*/ 0 w 131"/>
                  <a:gd name="txT" fmla="*/ 0 h 101"/>
                  <a:gd name="txR" fmla="*/ 131 w 131"/>
                  <a:gd name="txB" fmla="*/ 101 h 101"/>
                </a:gdLst>
                <a:ahLst/>
                <a:cxnLst>
                  <a:cxn ang="0">
                    <a:pos x="131" y="101"/>
                  </a:cxn>
                  <a:cxn ang="0">
                    <a:pos x="119" y="95"/>
                  </a:cxn>
                  <a:cxn ang="0">
                    <a:pos x="108" y="89"/>
                  </a:cxn>
                  <a:cxn ang="0">
                    <a:pos x="90" y="48"/>
                  </a:cxn>
                  <a:cxn ang="0">
                    <a:pos x="108" y="48"/>
                  </a:cxn>
                  <a:cxn ang="0">
                    <a:pos x="119" y="42"/>
                  </a:cxn>
                  <a:cxn ang="0">
                    <a:pos x="131" y="24"/>
                  </a:cxn>
                  <a:cxn ang="0">
                    <a:pos x="125" y="12"/>
                  </a:cxn>
                  <a:cxn ang="0">
                    <a:pos x="113" y="6"/>
                  </a:cxn>
                  <a:cxn ang="0">
                    <a:pos x="102" y="0"/>
                  </a:cxn>
                  <a:cxn ang="0">
                    <a:pos x="90" y="0"/>
                  </a:cxn>
                  <a:cxn ang="0">
                    <a:pos x="30" y="0"/>
                  </a:cxn>
                  <a:cxn ang="0">
                    <a:pos x="30" y="0"/>
                  </a:cxn>
                  <a:cxn ang="0">
                    <a:pos x="42" y="0"/>
                  </a:cxn>
                  <a:cxn ang="0">
                    <a:pos x="48" y="6"/>
                  </a:cxn>
                  <a:cxn ang="0">
                    <a:pos x="48" y="12"/>
                  </a:cxn>
                  <a:cxn ang="0">
                    <a:pos x="42" y="18"/>
                  </a:cxn>
                  <a:cxn ang="0">
                    <a:pos x="18" y="89"/>
                  </a:cxn>
                  <a:cxn ang="0">
                    <a:pos x="12" y="101"/>
                  </a:cxn>
                  <a:cxn ang="0">
                    <a:pos x="0" y="101"/>
                  </a:cxn>
                  <a:cxn ang="0">
                    <a:pos x="0" y="101"/>
                  </a:cxn>
                  <a:cxn ang="0">
                    <a:pos x="54" y="101"/>
                  </a:cxn>
                  <a:cxn ang="0">
                    <a:pos x="54" y="101"/>
                  </a:cxn>
                  <a:cxn ang="0">
                    <a:pos x="42" y="101"/>
                  </a:cxn>
                  <a:cxn ang="0">
                    <a:pos x="36" y="95"/>
                  </a:cxn>
                  <a:cxn ang="0">
                    <a:pos x="36" y="89"/>
                  </a:cxn>
                  <a:cxn ang="0">
                    <a:pos x="42" y="83"/>
                  </a:cxn>
                  <a:cxn ang="0">
                    <a:pos x="54" y="54"/>
                  </a:cxn>
                  <a:cxn ang="0">
                    <a:pos x="66" y="54"/>
                  </a:cxn>
                  <a:cxn ang="0">
                    <a:pos x="96" y="101"/>
                  </a:cxn>
                  <a:cxn ang="0">
                    <a:pos x="131" y="101"/>
                  </a:cxn>
                  <a:cxn ang="0">
                    <a:pos x="131" y="101"/>
                  </a:cxn>
                  <a:cxn ang="0">
                    <a:pos x="72" y="6"/>
                  </a:cxn>
                  <a:cxn ang="0">
                    <a:pos x="72" y="6"/>
                  </a:cxn>
                  <a:cxn ang="0">
                    <a:pos x="84" y="6"/>
                  </a:cxn>
                  <a:cxn ang="0">
                    <a:pos x="102" y="6"/>
                  </a:cxn>
                  <a:cxn ang="0">
                    <a:pos x="108" y="18"/>
                  </a:cxn>
                  <a:cxn ang="0">
                    <a:pos x="102" y="42"/>
                  </a:cxn>
                  <a:cxn ang="0">
                    <a:pos x="90" y="48"/>
                  </a:cxn>
                  <a:cxn ang="0">
                    <a:pos x="72" y="48"/>
                  </a:cxn>
                  <a:cxn ang="0">
                    <a:pos x="66" y="48"/>
                  </a:cxn>
                  <a:cxn ang="0">
                    <a:pos x="54" y="42"/>
                  </a:cxn>
                  <a:cxn ang="0">
                    <a:pos x="72" y="6"/>
                  </a:cxn>
                </a:cxnLst>
                <a:rect l="txL" t="txT" r="txR" b="txB"/>
                <a:pathLst>
                  <a:path w="131" h="101">
                    <a:moveTo>
                      <a:pt x="131" y="101"/>
                    </a:moveTo>
                    <a:lnTo>
                      <a:pt x="119" y="95"/>
                    </a:lnTo>
                    <a:lnTo>
                      <a:pt x="108" y="89"/>
                    </a:lnTo>
                    <a:lnTo>
                      <a:pt x="90" y="48"/>
                    </a:lnTo>
                    <a:lnTo>
                      <a:pt x="108" y="48"/>
                    </a:lnTo>
                    <a:lnTo>
                      <a:pt x="119" y="42"/>
                    </a:lnTo>
                    <a:lnTo>
                      <a:pt x="131" y="24"/>
                    </a:lnTo>
                    <a:lnTo>
                      <a:pt x="125" y="12"/>
                    </a:lnTo>
                    <a:lnTo>
                      <a:pt x="113" y="6"/>
                    </a:lnTo>
                    <a:lnTo>
                      <a:pt x="102" y="0"/>
                    </a:lnTo>
                    <a:lnTo>
                      <a:pt x="90" y="0"/>
                    </a:lnTo>
                    <a:lnTo>
                      <a:pt x="30" y="0"/>
                    </a:lnTo>
                    <a:lnTo>
                      <a:pt x="42" y="0"/>
                    </a:lnTo>
                    <a:lnTo>
                      <a:pt x="48" y="6"/>
                    </a:lnTo>
                    <a:lnTo>
                      <a:pt x="48" y="12"/>
                    </a:lnTo>
                    <a:lnTo>
                      <a:pt x="42" y="18"/>
                    </a:lnTo>
                    <a:lnTo>
                      <a:pt x="18" y="89"/>
                    </a:lnTo>
                    <a:lnTo>
                      <a:pt x="12" y="101"/>
                    </a:lnTo>
                    <a:lnTo>
                      <a:pt x="0" y="101"/>
                    </a:lnTo>
                    <a:lnTo>
                      <a:pt x="54" y="101"/>
                    </a:lnTo>
                    <a:lnTo>
                      <a:pt x="42" y="101"/>
                    </a:lnTo>
                    <a:lnTo>
                      <a:pt x="36" y="95"/>
                    </a:lnTo>
                    <a:lnTo>
                      <a:pt x="36" y="89"/>
                    </a:lnTo>
                    <a:lnTo>
                      <a:pt x="42" y="83"/>
                    </a:lnTo>
                    <a:lnTo>
                      <a:pt x="54" y="54"/>
                    </a:lnTo>
                    <a:lnTo>
                      <a:pt x="66" y="54"/>
                    </a:lnTo>
                    <a:lnTo>
                      <a:pt x="96" y="101"/>
                    </a:lnTo>
                    <a:lnTo>
                      <a:pt x="131" y="101"/>
                    </a:lnTo>
                    <a:close/>
                    <a:moveTo>
                      <a:pt x="72" y="6"/>
                    </a:moveTo>
                    <a:lnTo>
                      <a:pt x="72" y="6"/>
                    </a:lnTo>
                    <a:lnTo>
                      <a:pt x="84" y="6"/>
                    </a:lnTo>
                    <a:lnTo>
                      <a:pt x="102" y="6"/>
                    </a:lnTo>
                    <a:lnTo>
                      <a:pt x="108" y="18"/>
                    </a:lnTo>
                    <a:lnTo>
                      <a:pt x="102" y="42"/>
                    </a:lnTo>
                    <a:lnTo>
                      <a:pt x="90" y="48"/>
                    </a:lnTo>
                    <a:lnTo>
                      <a:pt x="72" y="48"/>
                    </a:lnTo>
                    <a:lnTo>
                      <a:pt x="66" y="48"/>
                    </a:lnTo>
                    <a:lnTo>
                      <a:pt x="54" y="42"/>
                    </a:lnTo>
                    <a:lnTo>
                      <a:pt x="72"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541" name="Freeform 78"/>
              <p:cNvSpPr/>
              <p:nvPr/>
            </p:nvSpPr>
            <p:spPr>
              <a:xfrm>
                <a:off x="2912" y="398"/>
                <a:ext cx="66" cy="54"/>
              </a:xfrm>
              <a:custGeom>
                <a:avLst/>
                <a:gdLst>
                  <a:gd name="txL" fmla="*/ 0 w 66"/>
                  <a:gd name="txT" fmla="*/ 0 h 54"/>
                  <a:gd name="txR" fmla="*/ 66 w 66"/>
                  <a:gd name="txB" fmla="*/ 54 h 54"/>
                </a:gdLst>
                <a:ahLst/>
                <a:cxnLst>
                  <a:cxn ang="0">
                    <a:pos x="54" y="42"/>
                  </a:cxn>
                  <a:cxn ang="0">
                    <a:pos x="42" y="48"/>
                  </a:cxn>
                  <a:cxn ang="0">
                    <a:pos x="30" y="54"/>
                  </a:cxn>
                  <a:cxn ang="0">
                    <a:pos x="24" y="48"/>
                  </a:cxn>
                  <a:cxn ang="0">
                    <a:pos x="18" y="36"/>
                  </a:cxn>
                  <a:cxn ang="0">
                    <a:pos x="24" y="18"/>
                  </a:cxn>
                  <a:cxn ang="0">
                    <a:pos x="36" y="12"/>
                  </a:cxn>
                  <a:cxn ang="0">
                    <a:pos x="48" y="6"/>
                  </a:cxn>
                  <a:cxn ang="0">
                    <a:pos x="54" y="6"/>
                  </a:cxn>
                  <a:cxn ang="0">
                    <a:pos x="54" y="6"/>
                  </a:cxn>
                  <a:cxn ang="0">
                    <a:pos x="54" y="12"/>
                  </a:cxn>
                  <a:cxn ang="0">
                    <a:pos x="54" y="12"/>
                  </a:cxn>
                  <a:cxn ang="0">
                    <a:pos x="54" y="18"/>
                  </a:cxn>
                  <a:cxn ang="0">
                    <a:pos x="60" y="18"/>
                  </a:cxn>
                  <a:cxn ang="0">
                    <a:pos x="66" y="18"/>
                  </a:cxn>
                  <a:cxn ang="0">
                    <a:pos x="66" y="12"/>
                  </a:cxn>
                  <a:cxn ang="0">
                    <a:pos x="66" y="6"/>
                  </a:cxn>
                  <a:cxn ang="0">
                    <a:pos x="60" y="0"/>
                  </a:cxn>
                  <a:cxn ang="0">
                    <a:pos x="48" y="0"/>
                  </a:cxn>
                  <a:cxn ang="0">
                    <a:pos x="30" y="6"/>
                  </a:cxn>
                  <a:cxn ang="0">
                    <a:pos x="18" y="12"/>
                  </a:cxn>
                  <a:cxn ang="0">
                    <a:pos x="6" y="24"/>
                  </a:cxn>
                  <a:cxn ang="0">
                    <a:pos x="0" y="36"/>
                  </a:cxn>
                  <a:cxn ang="0">
                    <a:pos x="6" y="48"/>
                  </a:cxn>
                  <a:cxn ang="0">
                    <a:pos x="12" y="54"/>
                  </a:cxn>
                  <a:cxn ang="0">
                    <a:pos x="24" y="54"/>
                  </a:cxn>
                  <a:cxn ang="0">
                    <a:pos x="48" y="48"/>
                  </a:cxn>
                  <a:cxn ang="0">
                    <a:pos x="60" y="42"/>
                  </a:cxn>
                  <a:cxn ang="0">
                    <a:pos x="54" y="42"/>
                  </a:cxn>
                </a:cxnLst>
                <a:rect l="txL" t="txT" r="txR" b="txB"/>
                <a:pathLst>
                  <a:path w="66" h="54">
                    <a:moveTo>
                      <a:pt x="54" y="42"/>
                    </a:moveTo>
                    <a:lnTo>
                      <a:pt x="42" y="48"/>
                    </a:lnTo>
                    <a:lnTo>
                      <a:pt x="30" y="54"/>
                    </a:lnTo>
                    <a:lnTo>
                      <a:pt x="24" y="48"/>
                    </a:lnTo>
                    <a:lnTo>
                      <a:pt x="18" y="36"/>
                    </a:lnTo>
                    <a:lnTo>
                      <a:pt x="24" y="18"/>
                    </a:lnTo>
                    <a:lnTo>
                      <a:pt x="36" y="12"/>
                    </a:lnTo>
                    <a:lnTo>
                      <a:pt x="48" y="6"/>
                    </a:lnTo>
                    <a:lnTo>
                      <a:pt x="54" y="6"/>
                    </a:lnTo>
                    <a:lnTo>
                      <a:pt x="54" y="12"/>
                    </a:lnTo>
                    <a:lnTo>
                      <a:pt x="54" y="18"/>
                    </a:lnTo>
                    <a:lnTo>
                      <a:pt x="60" y="18"/>
                    </a:lnTo>
                    <a:lnTo>
                      <a:pt x="66" y="18"/>
                    </a:lnTo>
                    <a:lnTo>
                      <a:pt x="66" y="12"/>
                    </a:lnTo>
                    <a:lnTo>
                      <a:pt x="66" y="6"/>
                    </a:lnTo>
                    <a:lnTo>
                      <a:pt x="60" y="0"/>
                    </a:lnTo>
                    <a:lnTo>
                      <a:pt x="48" y="0"/>
                    </a:lnTo>
                    <a:lnTo>
                      <a:pt x="30" y="6"/>
                    </a:lnTo>
                    <a:lnTo>
                      <a:pt x="18" y="12"/>
                    </a:lnTo>
                    <a:lnTo>
                      <a:pt x="6" y="24"/>
                    </a:lnTo>
                    <a:lnTo>
                      <a:pt x="0" y="36"/>
                    </a:lnTo>
                    <a:lnTo>
                      <a:pt x="6" y="48"/>
                    </a:lnTo>
                    <a:lnTo>
                      <a:pt x="12" y="54"/>
                    </a:lnTo>
                    <a:lnTo>
                      <a:pt x="24" y="54"/>
                    </a:lnTo>
                    <a:lnTo>
                      <a:pt x="48" y="48"/>
                    </a:lnTo>
                    <a:lnTo>
                      <a:pt x="60" y="42"/>
                    </a:lnTo>
                    <a:lnTo>
                      <a:pt x="54" y="4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542" name="Freeform 79"/>
              <p:cNvSpPr/>
              <p:nvPr/>
            </p:nvSpPr>
            <p:spPr>
              <a:xfrm>
                <a:off x="2751" y="1909"/>
                <a:ext cx="60" cy="144"/>
              </a:xfrm>
              <a:custGeom>
                <a:avLst/>
                <a:gdLst>
                  <a:gd name="txL" fmla="*/ 0 w 60"/>
                  <a:gd name="txT" fmla="*/ 0 h 144"/>
                  <a:gd name="txR" fmla="*/ 60 w 60"/>
                  <a:gd name="txB" fmla="*/ 144 h 144"/>
                </a:gdLst>
                <a:ahLst/>
                <a:cxnLst>
                  <a:cxn ang="0">
                    <a:pos x="60" y="0"/>
                  </a:cxn>
                  <a:cxn ang="0">
                    <a:pos x="36" y="12"/>
                  </a:cxn>
                  <a:cxn ang="0">
                    <a:pos x="18" y="30"/>
                  </a:cxn>
                  <a:cxn ang="0">
                    <a:pos x="6" y="48"/>
                  </a:cxn>
                  <a:cxn ang="0">
                    <a:pos x="0" y="72"/>
                  </a:cxn>
                  <a:cxn ang="0">
                    <a:pos x="6" y="96"/>
                  </a:cxn>
                  <a:cxn ang="0">
                    <a:pos x="18" y="114"/>
                  </a:cxn>
                  <a:cxn ang="0">
                    <a:pos x="36" y="132"/>
                  </a:cxn>
                  <a:cxn ang="0">
                    <a:pos x="60" y="144"/>
                  </a:cxn>
                  <a:cxn ang="0">
                    <a:pos x="60" y="138"/>
                  </a:cxn>
                  <a:cxn ang="0">
                    <a:pos x="42" y="120"/>
                  </a:cxn>
                  <a:cxn ang="0">
                    <a:pos x="30" y="102"/>
                  </a:cxn>
                  <a:cxn ang="0">
                    <a:pos x="24" y="84"/>
                  </a:cxn>
                  <a:cxn ang="0">
                    <a:pos x="24" y="66"/>
                  </a:cxn>
                  <a:cxn ang="0">
                    <a:pos x="30" y="42"/>
                  </a:cxn>
                  <a:cxn ang="0">
                    <a:pos x="36" y="30"/>
                  </a:cxn>
                  <a:cxn ang="0">
                    <a:pos x="60" y="6"/>
                  </a:cxn>
                  <a:cxn ang="0">
                    <a:pos x="60" y="0"/>
                  </a:cxn>
                </a:cxnLst>
                <a:rect l="txL" t="txT" r="txR" b="txB"/>
                <a:pathLst>
                  <a:path w="60" h="144">
                    <a:moveTo>
                      <a:pt x="60" y="0"/>
                    </a:moveTo>
                    <a:lnTo>
                      <a:pt x="36" y="12"/>
                    </a:lnTo>
                    <a:lnTo>
                      <a:pt x="18" y="30"/>
                    </a:lnTo>
                    <a:lnTo>
                      <a:pt x="6" y="48"/>
                    </a:lnTo>
                    <a:lnTo>
                      <a:pt x="0" y="72"/>
                    </a:lnTo>
                    <a:lnTo>
                      <a:pt x="6" y="96"/>
                    </a:lnTo>
                    <a:lnTo>
                      <a:pt x="18" y="114"/>
                    </a:lnTo>
                    <a:lnTo>
                      <a:pt x="36" y="132"/>
                    </a:lnTo>
                    <a:lnTo>
                      <a:pt x="60" y="144"/>
                    </a:lnTo>
                    <a:lnTo>
                      <a:pt x="60" y="138"/>
                    </a:lnTo>
                    <a:lnTo>
                      <a:pt x="42" y="120"/>
                    </a:lnTo>
                    <a:lnTo>
                      <a:pt x="30" y="102"/>
                    </a:lnTo>
                    <a:lnTo>
                      <a:pt x="24" y="84"/>
                    </a:lnTo>
                    <a:lnTo>
                      <a:pt x="24" y="66"/>
                    </a:lnTo>
                    <a:lnTo>
                      <a:pt x="30" y="42"/>
                    </a:lnTo>
                    <a:lnTo>
                      <a:pt x="36" y="30"/>
                    </a:lnTo>
                    <a:lnTo>
                      <a:pt x="60" y="6"/>
                    </a:lnTo>
                    <a:lnTo>
                      <a:pt x="6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543" name="Freeform 80"/>
              <p:cNvSpPr>
                <a:spLocks noEditPoints="1"/>
              </p:cNvSpPr>
              <p:nvPr/>
            </p:nvSpPr>
            <p:spPr>
              <a:xfrm>
                <a:off x="2829" y="1945"/>
                <a:ext cx="89" cy="78"/>
              </a:xfrm>
              <a:custGeom>
                <a:avLst/>
                <a:gdLst>
                  <a:gd name="txL" fmla="*/ 0 w 89"/>
                  <a:gd name="txT" fmla="*/ 0 h 78"/>
                  <a:gd name="txR" fmla="*/ 89 w 89"/>
                  <a:gd name="txB" fmla="*/ 78 h 78"/>
                </a:gdLst>
                <a:ahLst/>
                <a:cxnLst>
                  <a:cxn ang="0">
                    <a:pos x="53" y="54"/>
                  </a:cxn>
                  <a:cxn ang="0">
                    <a:pos x="53" y="60"/>
                  </a:cxn>
                  <a:cxn ang="0">
                    <a:pos x="48" y="66"/>
                  </a:cxn>
                  <a:cxn ang="0">
                    <a:pos x="30" y="66"/>
                  </a:cxn>
                  <a:cxn ang="0">
                    <a:pos x="24" y="66"/>
                  </a:cxn>
                  <a:cxn ang="0">
                    <a:pos x="18" y="54"/>
                  </a:cxn>
                  <a:cxn ang="0">
                    <a:pos x="18" y="54"/>
                  </a:cxn>
                  <a:cxn ang="0">
                    <a:pos x="18" y="48"/>
                  </a:cxn>
                  <a:cxn ang="0">
                    <a:pos x="24" y="48"/>
                  </a:cxn>
                  <a:cxn ang="0">
                    <a:pos x="36" y="42"/>
                  </a:cxn>
                  <a:cxn ang="0">
                    <a:pos x="53" y="36"/>
                  </a:cxn>
                  <a:cxn ang="0">
                    <a:pos x="53" y="54"/>
                  </a:cxn>
                  <a:cxn ang="0">
                    <a:pos x="89" y="66"/>
                  </a:cxn>
                  <a:cxn ang="0">
                    <a:pos x="83" y="72"/>
                  </a:cxn>
                  <a:cxn ang="0">
                    <a:pos x="77" y="72"/>
                  </a:cxn>
                  <a:cxn ang="0">
                    <a:pos x="71" y="66"/>
                  </a:cxn>
                  <a:cxn ang="0">
                    <a:pos x="71" y="60"/>
                  </a:cxn>
                  <a:cxn ang="0">
                    <a:pos x="71" y="30"/>
                  </a:cxn>
                  <a:cxn ang="0">
                    <a:pos x="71" y="18"/>
                  </a:cxn>
                  <a:cxn ang="0">
                    <a:pos x="65" y="12"/>
                  </a:cxn>
                  <a:cxn ang="0">
                    <a:pos x="59" y="6"/>
                  </a:cxn>
                  <a:cxn ang="0">
                    <a:pos x="36" y="0"/>
                  </a:cxn>
                  <a:cxn ang="0">
                    <a:pos x="12" y="6"/>
                  </a:cxn>
                  <a:cxn ang="0">
                    <a:pos x="0" y="18"/>
                  </a:cxn>
                  <a:cxn ang="0">
                    <a:pos x="6" y="24"/>
                  </a:cxn>
                  <a:cxn ang="0">
                    <a:pos x="12" y="30"/>
                  </a:cxn>
                  <a:cxn ang="0">
                    <a:pos x="18" y="24"/>
                  </a:cxn>
                  <a:cxn ang="0">
                    <a:pos x="24" y="18"/>
                  </a:cxn>
                  <a:cxn ang="0">
                    <a:pos x="24" y="18"/>
                  </a:cxn>
                  <a:cxn ang="0">
                    <a:pos x="18" y="12"/>
                  </a:cxn>
                  <a:cxn ang="0">
                    <a:pos x="24" y="6"/>
                  </a:cxn>
                  <a:cxn ang="0">
                    <a:pos x="36" y="6"/>
                  </a:cxn>
                  <a:cxn ang="0">
                    <a:pos x="48" y="6"/>
                  </a:cxn>
                  <a:cxn ang="0">
                    <a:pos x="53" y="18"/>
                  </a:cxn>
                  <a:cxn ang="0">
                    <a:pos x="53" y="30"/>
                  </a:cxn>
                  <a:cxn ang="0">
                    <a:pos x="30" y="36"/>
                  </a:cxn>
                  <a:cxn ang="0">
                    <a:pos x="12" y="48"/>
                  </a:cxn>
                  <a:cxn ang="0">
                    <a:pos x="6" y="54"/>
                  </a:cxn>
                  <a:cxn ang="0">
                    <a:pos x="0" y="60"/>
                  </a:cxn>
                  <a:cxn ang="0">
                    <a:pos x="6" y="72"/>
                  </a:cxn>
                  <a:cxn ang="0">
                    <a:pos x="24" y="78"/>
                  </a:cxn>
                  <a:cxn ang="0">
                    <a:pos x="42" y="72"/>
                  </a:cxn>
                  <a:cxn ang="0">
                    <a:pos x="53" y="66"/>
                  </a:cxn>
                  <a:cxn ang="0">
                    <a:pos x="59" y="78"/>
                  </a:cxn>
                  <a:cxn ang="0">
                    <a:pos x="71" y="78"/>
                  </a:cxn>
                  <a:cxn ang="0">
                    <a:pos x="77" y="78"/>
                  </a:cxn>
                  <a:cxn ang="0">
                    <a:pos x="89" y="72"/>
                  </a:cxn>
                  <a:cxn ang="0">
                    <a:pos x="89" y="66"/>
                  </a:cxn>
                </a:cxnLst>
                <a:rect l="txL" t="txT" r="txR" b="txB"/>
                <a:pathLst>
                  <a:path w="89" h="78">
                    <a:moveTo>
                      <a:pt x="53" y="54"/>
                    </a:moveTo>
                    <a:lnTo>
                      <a:pt x="53" y="60"/>
                    </a:lnTo>
                    <a:lnTo>
                      <a:pt x="48" y="66"/>
                    </a:lnTo>
                    <a:lnTo>
                      <a:pt x="30" y="66"/>
                    </a:lnTo>
                    <a:lnTo>
                      <a:pt x="24" y="66"/>
                    </a:lnTo>
                    <a:lnTo>
                      <a:pt x="18" y="54"/>
                    </a:lnTo>
                    <a:lnTo>
                      <a:pt x="18" y="48"/>
                    </a:lnTo>
                    <a:lnTo>
                      <a:pt x="24" y="48"/>
                    </a:lnTo>
                    <a:lnTo>
                      <a:pt x="36" y="42"/>
                    </a:lnTo>
                    <a:lnTo>
                      <a:pt x="53" y="36"/>
                    </a:lnTo>
                    <a:lnTo>
                      <a:pt x="53" y="54"/>
                    </a:lnTo>
                    <a:close/>
                    <a:moveTo>
                      <a:pt x="89" y="66"/>
                    </a:moveTo>
                    <a:lnTo>
                      <a:pt x="83" y="72"/>
                    </a:lnTo>
                    <a:lnTo>
                      <a:pt x="77" y="72"/>
                    </a:lnTo>
                    <a:lnTo>
                      <a:pt x="71" y="66"/>
                    </a:lnTo>
                    <a:lnTo>
                      <a:pt x="71" y="60"/>
                    </a:lnTo>
                    <a:lnTo>
                      <a:pt x="71" y="30"/>
                    </a:lnTo>
                    <a:lnTo>
                      <a:pt x="71" y="18"/>
                    </a:lnTo>
                    <a:lnTo>
                      <a:pt x="65" y="12"/>
                    </a:lnTo>
                    <a:lnTo>
                      <a:pt x="59" y="6"/>
                    </a:lnTo>
                    <a:lnTo>
                      <a:pt x="36" y="0"/>
                    </a:lnTo>
                    <a:lnTo>
                      <a:pt x="12" y="6"/>
                    </a:lnTo>
                    <a:lnTo>
                      <a:pt x="0" y="18"/>
                    </a:lnTo>
                    <a:lnTo>
                      <a:pt x="6" y="24"/>
                    </a:lnTo>
                    <a:lnTo>
                      <a:pt x="12" y="30"/>
                    </a:lnTo>
                    <a:lnTo>
                      <a:pt x="18" y="24"/>
                    </a:lnTo>
                    <a:lnTo>
                      <a:pt x="24" y="18"/>
                    </a:lnTo>
                    <a:lnTo>
                      <a:pt x="18" y="12"/>
                    </a:lnTo>
                    <a:lnTo>
                      <a:pt x="24" y="6"/>
                    </a:lnTo>
                    <a:lnTo>
                      <a:pt x="36" y="6"/>
                    </a:lnTo>
                    <a:lnTo>
                      <a:pt x="48" y="6"/>
                    </a:lnTo>
                    <a:lnTo>
                      <a:pt x="53" y="18"/>
                    </a:lnTo>
                    <a:lnTo>
                      <a:pt x="53" y="30"/>
                    </a:lnTo>
                    <a:lnTo>
                      <a:pt x="30" y="36"/>
                    </a:lnTo>
                    <a:lnTo>
                      <a:pt x="12" y="48"/>
                    </a:lnTo>
                    <a:lnTo>
                      <a:pt x="6" y="54"/>
                    </a:lnTo>
                    <a:lnTo>
                      <a:pt x="0" y="60"/>
                    </a:lnTo>
                    <a:lnTo>
                      <a:pt x="6" y="72"/>
                    </a:lnTo>
                    <a:lnTo>
                      <a:pt x="24" y="78"/>
                    </a:lnTo>
                    <a:lnTo>
                      <a:pt x="42" y="72"/>
                    </a:lnTo>
                    <a:lnTo>
                      <a:pt x="53" y="66"/>
                    </a:lnTo>
                    <a:lnTo>
                      <a:pt x="59" y="78"/>
                    </a:lnTo>
                    <a:lnTo>
                      <a:pt x="71" y="78"/>
                    </a:lnTo>
                    <a:lnTo>
                      <a:pt x="77" y="78"/>
                    </a:lnTo>
                    <a:lnTo>
                      <a:pt x="89" y="72"/>
                    </a:lnTo>
                    <a:lnTo>
                      <a:pt x="89" y="6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544" name="Freeform 81"/>
              <p:cNvSpPr/>
              <p:nvPr/>
            </p:nvSpPr>
            <p:spPr>
              <a:xfrm>
                <a:off x="2924" y="1909"/>
                <a:ext cx="60" cy="144"/>
              </a:xfrm>
              <a:custGeom>
                <a:avLst/>
                <a:gdLst>
                  <a:gd name="txL" fmla="*/ 0 w 60"/>
                  <a:gd name="txT" fmla="*/ 0 h 144"/>
                  <a:gd name="txR" fmla="*/ 60 w 60"/>
                  <a:gd name="txB" fmla="*/ 144 h 144"/>
                </a:gdLst>
                <a:ahLst/>
                <a:cxnLst>
                  <a:cxn ang="0">
                    <a:pos x="0" y="144"/>
                  </a:cxn>
                  <a:cxn ang="0">
                    <a:pos x="24" y="132"/>
                  </a:cxn>
                  <a:cxn ang="0">
                    <a:pos x="42" y="114"/>
                  </a:cxn>
                  <a:cxn ang="0">
                    <a:pos x="54" y="96"/>
                  </a:cxn>
                  <a:cxn ang="0">
                    <a:pos x="60" y="72"/>
                  </a:cxn>
                  <a:cxn ang="0">
                    <a:pos x="54" y="48"/>
                  </a:cxn>
                  <a:cxn ang="0">
                    <a:pos x="42" y="30"/>
                  </a:cxn>
                  <a:cxn ang="0">
                    <a:pos x="24" y="12"/>
                  </a:cxn>
                  <a:cxn ang="0">
                    <a:pos x="6" y="0"/>
                  </a:cxn>
                  <a:cxn ang="0">
                    <a:pos x="0" y="6"/>
                  </a:cxn>
                  <a:cxn ang="0">
                    <a:pos x="24" y="24"/>
                  </a:cxn>
                  <a:cxn ang="0">
                    <a:pos x="36" y="42"/>
                  </a:cxn>
                  <a:cxn ang="0">
                    <a:pos x="42" y="60"/>
                  </a:cxn>
                  <a:cxn ang="0">
                    <a:pos x="42" y="78"/>
                  </a:cxn>
                  <a:cxn ang="0">
                    <a:pos x="36" y="102"/>
                  </a:cxn>
                  <a:cxn ang="0">
                    <a:pos x="30" y="120"/>
                  </a:cxn>
                  <a:cxn ang="0">
                    <a:pos x="0" y="138"/>
                  </a:cxn>
                  <a:cxn ang="0">
                    <a:pos x="0" y="144"/>
                  </a:cxn>
                </a:cxnLst>
                <a:rect l="txL" t="txT" r="txR" b="txB"/>
                <a:pathLst>
                  <a:path w="60" h="144">
                    <a:moveTo>
                      <a:pt x="0" y="144"/>
                    </a:moveTo>
                    <a:lnTo>
                      <a:pt x="24" y="132"/>
                    </a:lnTo>
                    <a:lnTo>
                      <a:pt x="42" y="114"/>
                    </a:lnTo>
                    <a:lnTo>
                      <a:pt x="54" y="96"/>
                    </a:lnTo>
                    <a:lnTo>
                      <a:pt x="60" y="72"/>
                    </a:lnTo>
                    <a:lnTo>
                      <a:pt x="54" y="48"/>
                    </a:lnTo>
                    <a:lnTo>
                      <a:pt x="42" y="30"/>
                    </a:lnTo>
                    <a:lnTo>
                      <a:pt x="24" y="12"/>
                    </a:lnTo>
                    <a:lnTo>
                      <a:pt x="6" y="0"/>
                    </a:lnTo>
                    <a:lnTo>
                      <a:pt x="0" y="6"/>
                    </a:lnTo>
                    <a:lnTo>
                      <a:pt x="24" y="24"/>
                    </a:lnTo>
                    <a:lnTo>
                      <a:pt x="36" y="42"/>
                    </a:lnTo>
                    <a:lnTo>
                      <a:pt x="42" y="60"/>
                    </a:lnTo>
                    <a:lnTo>
                      <a:pt x="42" y="78"/>
                    </a:lnTo>
                    <a:lnTo>
                      <a:pt x="36" y="102"/>
                    </a:lnTo>
                    <a:lnTo>
                      <a:pt x="30" y="120"/>
                    </a:lnTo>
                    <a:lnTo>
                      <a:pt x="0" y="138"/>
                    </a:lnTo>
                    <a:lnTo>
                      <a:pt x="0" y="14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545" name="Freeform 82"/>
              <p:cNvSpPr>
                <a:spLocks noEditPoints="1"/>
              </p:cNvSpPr>
              <p:nvPr/>
            </p:nvSpPr>
            <p:spPr>
              <a:xfrm>
                <a:off x="3469" y="1002"/>
                <a:ext cx="137" cy="107"/>
              </a:xfrm>
              <a:custGeom>
                <a:avLst/>
                <a:gdLst>
                  <a:gd name="txL" fmla="*/ 0 w 137"/>
                  <a:gd name="txT" fmla="*/ 0 h 107"/>
                  <a:gd name="txR" fmla="*/ 137 w 137"/>
                  <a:gd name="txB" fmla="*/ 107 h 107"/>
                </a:gdLst>
                <a:ahLst/>
                <a:cxnLst>
                  <a:cxn ang="0">
                    <a:pos x="131" y="107"/>
                  </a:cxn>
                  <a:cxn ang="0">
                    <a:pos x="119" y="101"/>
                  </a:cxn>
                  <a:cxn ang="0">
                    <a:pos x="113" y="95"/>
                  </a:cxn>
                  <a:cxn ang="0">
                    <a:pos x="95" y="53"/>
                  </a:cxn>
                  <a:cxn ang="0">
                    <a:pos x="113" y="47"/>
                  </a:cxn>
                  <a:cxn ang="0">
                    <a:pos x="125" y="41"/>
                  </a:cxn>
                  <a:cxn ang="0">
                    <a:pos x="137" y="23"/>
                  </a:cxn>
                  <a:cxn ang="0">
                    <a:pos x="131" y="11"/>
                  </a:cxn>
                  <a:cxn ang="0">
                    <a:pos x="119" y="5"/>
                  </a:cxn>
                  <a:cxn ang="0">
                    <a:pos x="101" y="0"/>
                  </a:cxn>
                  <a:cxn ang="0">
                    <a:pos x="89" y="0"/>
                  </a:cxn>
                  <a:cxn ang="0">
                    <a:pos x="36" y="0"/>
                  </a:cxn>
                  <a:cxn ang="0">
                    <a:pos x="36" y="5"/>
                  </a:cxn>
                  <a:cxn ang="0">
                    <a:pos x="47" y="5"/>
                  </a:cxn>
                  <a:cxn ang="0">
                    <a:pos x="53" y="11"/>
                  </a:cxn>
                  <a:cxn ang="0">
                    <a:pos x="53" y="17"/>
                  </a:cxn>
                  <a:cxn ang="0">
                    <a:pos x="47" y="23"/>
                  </a:cxn>
                  <a:cxn ang="0">
                    <a:pos x="18" y="95"/>
                  </a:cxn>
                  <a:cxn ang="0">
                    <a:pos x="12" y="101"/>
                  </a:cxn>
                  <a:cxn ang="0">
                    <a:pos x="0" y="107"/>
                  </a:cxn>
                  <a:cxn ang="0">
                    <a:pos x="0" y="107"/>
                  </a:cxn>
                  <a:cxn ang="0">
                    <a:pos x="59" y="107"/>
                  </a:cxn>
                  <a:cxn ang="0">
                    <a:pos x="59" y="107"/>
                  </a:cxn>
                  <a:cxn ang="0">
                    <a:pos x="47" y="101"/>
                  </a:cxn>
                  <a:cxn ang="0">
                    <a:pos x="41" y="95"/>
                  </a:cxn>
                  <a:cxn ang="0">
                    <a:pos x="41" y="95"/>
                  </a:cxn>
                  <a:cxn ang="0">
                    <a:pos x="47" y="89"/>
                  </a:cxn>
                  <a:cxn ang="0">
                    <a:pos x="59" y="53"/>
                  </a:cxn>
                  <a:cxn ang="0">
                    <a:pos x="71" y="53"/>
                  </a:cxn>
                  <a:cxn ang="0">
                    <a:pos x="101" y="107"/>
                  </a:cxn>
                  <a:cxn ang="0">
                    <a:pos x="131" y="107"/>
                  </a:cxn>
                  <a:cxn ang="0">
                    <a:pos x="131" y="107"/>
                  </a:cxn>
                  <a:cxn ang="0">
                    <a:pos x="77" y="11"/>
                  </a:cxn>
                  <a:cxn ang="0">
                    <a:pos x="77" y="11"/>
                  </a:cxn>
                  <a:cxn ang="0">
                    <a:pos x="89" y="5"/>
                  </a:cxn>
                  <a:cxn ang="0">
                    <a:pos x="107" y="11"/>
                  </a:cxn>
                  <a:cxn ang="0">
                    <a:pos x="113" y="23"/>
                  </a:cxn>
                  <a:cxn ang="0">
                    <a:pos x="113" y="35"/>
                  </a:cxn>
                  <a:cxn ang="0">
                    <a:pos x="107" y="41"/>
                  </a:cxn>
                  <a:cxn ang="0">
                    <a:pos x="95" y="47"/>
                  </a:cxn>
                  <a:cxn ang="0">
                    <a:pos x="71" y="47"/>
                  </a:cxn>
                  <a:cxn ang="0">
                    <a:pos x="65" y="47"/>
                  </a:cxn>
                  <a:cxn ang="0">
                    <a:pos x="59" y="47"/>
                  </a:cxn>
                  <a:cxn ang="0">
                    <a:pos x="77" y="11"/>
                  </a:cxn>
                </a:cxnLst>
                <a:rect l="txL" t="txT" r="txR" b="txB"/>
                <a:pathLst>
                  <a:path w="137" h="107">
                    <a:moveTo>
                      <a:pt x="131" y="107"/>
                    </a:moveTo>
                    <a:lnTo>
                      <a:pt x="119" y="101"/>
                    </a:lnTo>
                    <a:lnTo>
                      <a:pt x="113" y="95"/>
                    </a:lnTo>
                    <a:lnTo>
                      <a:pt x="95" y="53"/>
                    </a:lnTo>
                    <a:lnTo>
                      <a:pt x="113" y="47"/>
                    </a:lnTo>
                    <a:lnTo>
                      <a:pt x="125" y="41"/>
                    </a:lnTo>
                    <a:lnTo>
                      <a:pt x="137" y="23"/>
                    </a:lnTo>
                    <a:lnTo>
                      <a:pt x="131" y="11"/>
                    </a:lnTo>
                    <a:lnTo>
                      <a:pt x="119" y="5"/>
                    </a:lnTo>
                    <a:lnTo>
                      <a:pt x="101" y="0"/>
                    </a:lnTo>
                    <a:lnTo>
                      <a:pt x="89" y="0"/>
                    </a:lnTo>
                    <a:lnTo>
                      <a:pt x="36" y="0"/>
                    </a:lnTo>
                    <a:lnTo>
                      <a:pt x="36" y="5"/>
                    </a:lnTo>
                    <a:lnTo>
                      <a:pt x="47" y="5"/>
                    </a:lnTo>
                    <a:lnTo>
                      <a:pt x="53" y="11"/>
                    </a:lnTo>
                    <a:lnTo>
                      <a:pt x="53" y="17"/>
                    </a:lnTo>
                    <a:lnTo>
                      <a:pt x="47" y="23"/>
                    </a:lnTo>
                    <a:lnTo>
                      <a:pt x="18" y="95"/>
                    </a:lnTo>
                    <a:lnTo>
                      <a:pt x="12" y="101"/>
                    </a:lnTo>
                    <a:lnTo>
                      <a:pt x="0" y="107"/>
                    </a:lnTo>
                    <a:lnTo>
                      <a:pt x="59" y="107"/>
                    </a:lnTo>
                    <a:lnTo>
                      <a:pt x="47" y="101"/>
                    </a:lnTo>
                    <a:lnTo>
                      <a:pt x="41" y="95"/>
                    </a:lnTo>
                    <a:lnTo>
                      <a:pt x="47" y="89"/>
                    </a:lnTo>
                    <a:lnTo>
                      <a:pt x="59" y="53"/>
                    </a:lnTo>
                    <a:lnTo>
                      <a:pt x="71" y="53"/>
                    </a:lnTo>
                    <a:lnTo>
                      <a:pt x="101" y="107"/>
                    </a:lnTo>
                    <a:lnTo>
                      <a:pt x="131" y="107"/>
                    </a:lnTo>
                    <a:close/>
                    <a:moveTo>
                      <a:pt x="77" y="11"/>
                    </a:moveTo>
                    <a:lnTo>
                      <a:pt x="77" y="11"/>
                    </a:lnTo>
                    <a:lnTo>
                      <a:pt x="89" y="5"/>
                    </a:lnTo>
                    <a:lnTo>
                      <a:pt x="107" y="11"/>
                    </a:lnTo>
                    <a:lnTo>
                      <a:pt x="113" y="23"/>
                    </a:lnTo>
                    <a:lnTo>
                      <a:pt x="113" y="35"/>
                    </a:lnTo>
                    <a:lnTo>
                      <a:pt x="107" y="41"/>
                    </a:lnTo>
                    <a:lnTo>
                      <a:pt x="95" y="47"/>
                    </a:lnTo>
                    <a:lnTo>
                      <a:pt x="71" y="47"/>
                    </a:lnTo>
                    <a:lnTo>
                      <a:pt x="65" y="47"/>
                    </a:lnTo>
                    <a:lnTo>
                      <a:pt x="59" y="47"/>
                    </a:lnTo>
                    <a:lnTo>
                      <a:pt x="77" y="1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546" name="Freeform 83"/>
              <p:cNvSpPr>
                <a:spLocks noEditPoints="1"/>
              </p:cNvSpPr>
              <p:nvPr/>
            </p:nvSpPr>
            <p:spPr>
              <a:xfrm>
                <a:off x="3618" y="1097"/>
                <a:ext cx="78" cy="54"/>
              </a:xfrm>
              <a:custGeom>
                <a:avLst/>
                <a:gdLst>
                  <a:gd name="txL" fmla="*/ 0 w 78"/>
                  <a:gd name="txT" fmla="*/ 0 h 54"/>
                  <a:gd name="txR" fmla="*/ 78 w 78"/>
                  <a:gd name="txB" fmla="*/ 54 h 54"/>
                </a:gdLst>
                <a:ahLst/>
                <a:cxnLst>
                  <a:cxn ang="0">
                    <a:pos x="72" y="42"/>
                  </a:cxn>
                  <a:cxn ang="0">
                    <a:pos x="66" y="48"/>
                  </a:cxn>
                  <a:cxn ang="0">
                    <a:pos x="60" y="48"/>
                  </a:cxn>
                  <a:cxn ang="0">
                    <a:pos x="60" y="48"/>
                  </a:cxn>
                  <a:cxn ang="0">
                    <a:pos x="60" y="36"/>
                  </a:cxn>
                  <a:cxn ang="0">
                    <a:pos x="66" y="24"/>
                  </a:cxn>
                  <a:cxn ang="0">
                    <a:pos x="72" y="6"/>
                  </a:cxn>
                  <a:cxn ang="0">
                    <a:pos x="72" y="0"/>
                  </a:cxn>
                  <a:cxn ang="0">
                    <a:pos x="72" y="0"/>
                  </a:cxn>
                  <a:cxn ang="0">
                    <a:pos x="60" y="0"/>
                  </a:cxn>
                  <a:cxn ang="0">
                    <a:pos x="60" y="0"/>
                  </a:cxn>
                  <a:cxn ang="0">
                    <a:pos x="60" y="6"/>
                  </a:cxn>
                  <a:cxn ang="0">
                    <a:pos x="60" y="6"/>
                  </a:cxn>
                  <a:cxn ang="0">
                    <a:pos x="54" y="6"/>
                  </a:cxn>
                  <a:cxn ang="0">
                    <a:pos x="48" y="0"/>
                  </a:cxn>
                  <a:cxn ang="0">
                    <a:pos x="30" y="6"/>
                  </a:cxn>
                  <a:cxn ang="0">
                    <a:pos x="18" y="12"/>
                  </a:cxn>
                  <a:cxn ang="0">
                    <a:pos x="6" y="30"/>
                  </a:cxn>
                  <a:cxn ang="0">
                    <a:pos x="0" y="42"/>
                  </a:cxn>
                  <a:cxn ang="0">
                    <a:pos x="0" y="48"/>
                  </a:cxn>
                  <a:cxn ang="0">
                    <a:pos x="6" y="54"/>
                  </a:cxn>
                  <a:cxn ang="0">
                    <a:pos x="18" y="54"/>
                  </a:cxn>
                  <a:cxn ang="0">
                    <a:pos x="30" y="54"/>
                  </a:cxn>
                  <a:cxn ang="0">
                    <a:pos x="42" y="48"/>
                  </a:cxn>
                  <a:cxn ang="0">
                    <a:pos x="48" y="36"/>
                  </a:cxn>
                  <a:cxn ang="0">
                    <a:pos x="48" y="36"/>
                  </a:cxn>
                  <a:cxn ang="0">
                    <a:pos x="48" y="42"/>
                  </a:cxn>
                  <a:cxn ang="0">
                    <a:pos x="48" y="48"/>
                  </a:cxn>
                  <a:cxn ang="0">
                    <a:pos x="48" y="54"/>
                  </a:cxn>
                  <a:cxn ang="0">
                    <a:pos x="54" y="54"/>
                  </a:cxn>
                  <a:cxn ang="0">
                    <a:pos x="66" y="48"/>
                  </a:cxn>
                  <a:cxn ang="0">
                    <a:pos x="78" y="42"/>
                  </a:cxn>
                  <a:cxn ang="0">
                    <a:pos x="72" y="42"/>
                  </a:cxn>
                  <a:cxn ang="0">
                    <a:pos x="12" y="42"/>
                  </a:cxn>
                  <a:cxn ang="0">
                    <a:pos x="18" y="30"/>
                  </a:cxn>
                  <a:cxn ang="0">
                    <a:pos x="24" y="18"/>
                  </a:cxn>
                  <a:cxn ang="0">
                    <a:pos x="36" y="6"/>
                  </a:cxn>
                  <a:cxn ang="0">
                    <a:pos x="48" y="0"/>
                  </a:cxn>
                  <a:cxn ang="0">
                    <a:pos x="54" y="6"/>
                  </a:cxn>
                  <a:cxn ang="0">
                    <a:pos x="60" y="12"/>
                  </a:cxn>
                  <a:cxn ang="0">
                    <a:pos x="60" y="24"/>
                  </a:cxn>
                  <a:cxn ang="0">
                    <a:pos x="48" y="36"/>
                  </a:cxn>
                  <a:cxn ang="0">
                    <a:pos x="36" y="42"/>
                  </a:cxn>
                  <a:cxn ang="0">
                    <a:pos x="24" y="48"/>
                  </a:cxn>
                  <a:cxn ang="0">
                    <a:pos x="18" y="48"/>
                  </a:cxn>
                  <a:cxn ang="0">
                    <a:pos x="12" y="42"/>
                  </a:cxn>
                  <a:cxn ang="0">
                    <a:pos x="12" y="42"/>
                  </a:cxn>
                </a:cxnLst>
                <a:rect l="txL" t="txT" r="txR" b="txB"/>
                <a:pathLst>
                  <a:path w="78" h="54">
                    <a:moveTo>
                      <a:pt x="72" y="42"/>
                    </a:moveTo>
                    <a:lnTo>
                      <a:pt x="66" y="48"/>
                    </a:lnTo>
                    <a:lnTo>
                      <a:pt x="60" y="48"/>
                    </a:lnTo>
                    <a:lnTo>
                      <a:pt x="60" y="36"/>
                    </a:lnTo>
                    <a:lnTo>
                      <a:pt x="66" y="24"/>
                    </a:lnTo>
                    <a:lnTo>
                      <a:pt x="72" y="6"/>
                    </a:lnTo>
                    <a:lnTo>
                      <a:pt x="72" y="0"/>
                    </a:lnTo>
                    <a:lnTo>
                      <a:pt x="60" y="0"/>
                    </a:lnTo>
                    <a:lnTo>
                      <a:pt x="60" y="6"/>
                    </a:lnTo>
                    <a:lnTo>
                      <a:pt x="54" y="6"/>
                    </a:lnTo>
                    <a:lnTo>
                      <a:pt x="48" y="0"/>
                    </a:lnTo>
                    <a:lnTo>
                      <a:pt x="30" y="6"/>
                    </a:lnTo>
                    <a:lnTo>
                      <a:pt x="18" y="12"/>
                    </a:lnTo>
                    <a:lnTo>
                      <a:pt x="6" y="30"/>
                    </a:lnTo>
                    <a:lnTo>
                      <a:pt x="0" y="42"/>
                    </a:lnTo>
                    <a:lnTo>
                      <a:pt x="0" y="48"/>
                    </a:lnTo>
                    <a:lnTo>
                      <a:pt x="6" y="54"/>
                    </a:lnTo>
                    <a:lnTo>
                      <a:pt x="18" y="54"/>
                    </a:lnTo>
                    <a:lnTo>
                      <a:pt x="30" y="54"/>
                    </a:lnTo>
                    <a:lnTo>
                      <a:pt x="42" y="48"/>
                    </a:lnTo>
                    <a:lnTo>
                      <a:pt x="48" y="36"/>
                    </a:lnTo>
                    <a:lnTo>
                      <a:pt x="48" y="42"/>
                    </a:lnTo>
                    <a:lnTo>
                      <a:pt x="48" y="48"/>
                    </a:lnTo>
                    <a:lnTo>
                      <a:pt x="48" y="54"/>
                    </a:lnTo>
                    <a:lnTo>
                      <a:pt x="54" y="54"/>
                    </a:lnTo>
                    <a:lnTo>
                      <a:pt x="66" y="48"/>
                    </a:lnTo>
                    <a:lnTo>
                      <a:pt x="78" y="42"/>
                    </a:lnTo>
                    <a:lnTo>
                      <a:pt x="72" y="42"/>
                    </a:lnTo>
                    <a:close/>
                    <a:moveTo>
                      <a:pt x="12" y="42"/>
                    </a:moveTo>
                    <a:lnTo>
                      <a:pt x="18" y="30"/>
                    </a:lnTo>
                    <a:lnTo>
                      <a:pt x="24" y="18"/>
                    </a:lnTo>
                    <a:lnTo>
                      <a:pt x="36" y="6"/>
                    </a:lnTo>
                    <a:lnTo>
                      <a:pt x="48" y="0"/>
                    </a:lnTo>
                    <a:lnTo>
                      <a:pt x="54" y="6"/>
                    </a:lnTo>
                    <a:lnTo>
                      <a:pt x="60" y="12"/>
                    </a:lnTo>
                    <a:lnTo>
                      <a:pt x="60" y="24"/>
                    </a:lnTo>
                    <a:lnTo>
                      <a:pt x="48" y="36"/>
                    </a:lnTo>
                    <a:lnTo>
                      <a:pt x="36" y="42"/>
                    </a:lnTo>
                    <a:lnTo>
                      <a:pt x="24" y="48"/>
                    </a:lnTo>
                    <a:lnTo>
                      <a:pt x="18" y="48"/>
                    </a:lnTo>
                    <a:lnTo>
                      <a:pt x="12" y="4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547" name="Freeform 84"/>
              <p:cNvSpPr>
                <a:spLocks noEditPoints="1"/>
              </p:cNvSpPr>
              <p:nvPr/>
            </p:nvSpPr>
            <p:spPr>
              <a:xfrm>
                <a:off x="2045" y="1002"/>
                <a:ext cx="138" cy="107"/>
              </a:xfrm>
              <a:custGeom>
                <a:avLst/>
                <a:gdLst>
                  <a:gd name="txL" fmla="*/ 0 w 138"/>
                  <a:gd name="txT" fmla="*/ 0 h 107"/>
                  <a:gd name="txR" fmla="*/ 138 w 138"/>
                  <a:gd name="txB" fmla="*/ 107 h 107"/>
                </a:gdLst>
                <a:ahLst/>
                <a:cxnLst>
                  <a:cxn ang="0">
                    <a:pos x="132" y="107"/>
                  </a:cxn>
                  <a:cxn ang="0">
                    <a:pos x="120" y="101"/>
                  </a:cxn>
                  <a:cxn ang="0">
                    <a:pos x="114" y="95"/>
                  </a:cxn>
                  <a:cxn ang="0">
                    <a:pos x="96" y="53"/>
                  </a:cxn>
                  <a:cxn ang="0">
                    <a:pos x="114" y="47"/>
                  </a:cxn>
                  <a:cxn ang="0">
                    <a:pos x="126" y="41"/>
                  </a:cxn>
                  <a:cxn ang="0">
                    <a:pos x="138" y="23"/>
                  </a:cxn>
                  <a:cxn ang="0">
                    <a:pos x="132" y="11"/>
                  </a:cxn>
                  <a:cxn ang="0">
                    <a:pos x="120" y="5"/>
                  </a:cxn>
                  <a:cxn ang="0">
                    <a:pos x="102" y="0"/>
                  </a:cxn>
                  <a:cxn ang="0">
                    <a:pos x="90" y="0"/>
                  </a:cxn>
                  <a:cxn ang="0">
                    <a:pos x="36" y="0"/>
                  </a:cxn>
                  <a:cxn ang="0">
                    <a:pos x="36" y="5"/>
                  </a:cxn>
                  <a:cxn ang="0">
                    <a:pos x="48" y="5"/>
                  </a:cxn>
                  <a:cxn ang="0">
                    <a:pos x="48" y="11"/>
                  </a:cxn>
                  <a:cxn ang="0">
                    <a:pos x="48" y="17"/>
                  </a:cxn>
                  <a:cxn ang="0">
                    <a:pos x="48" y="23"/>
                  </a:cxn>
                  <a:cxn ang="0">
                    <a:pos x="18" y="95"/>
                  </a:cxn>
                  <a:cxn ang="0">
                    <a:pos x="12" y="101"/>
                  </a:cxn>
                  <a:cxn ang="0">
                    <a:pos x="0" y="107"/>
                  </a:cxn>
                  <a:cxn ang="0">
                    <a:pos x="0" y="107"/>
                  </a:cxn>
                  <a:cxn ang="0">
                    <a:pos x="54" y="107"/>
                  </a:cxn>
                  <a:cxn ang="0">
                    <a:pos x="54" y="107"/>
                  </a:cxn>
                  <a:cxn ang="0">
                    <a:pos x="42" y="101"/>
                  </a:cxn>
                  <a:cxn ang="0">
                    <a:pos x="42" y="95"/>
                  </a:cxn>
                  <a:cxn ang="0">
                    <a:pos x="42" y="95"/>
                  </a:cxn>
                  <a:cxn ang="0">
                    <a:pos x="42" y="89"/>
                  </a:cxn>
                  <a:cxn ang="0">
                    <a:pos x="54" y="53"/>
                  </a:cxn>
                  <a:cxn ang="0">
                    <a:pos x="72" y="53"/>
                  </a:cxn>
                  <a:cxn ang="0">
                    <a:pos x="102" y="107"/>
                  </a:cxn>
                  <a:cxn ang="0">
                    <a:pos x="132" y="107"/>
                  </a:cxn>
                  <a:cxn ang="0">
                    <a:pos x="132" y="107"/>
                  </a:cxn>
                  <a:cxn ang="0">
                    <a:pos x="72" y="11"/>
                  </a:cxn>
                  <a:cxn ang="0">
                    <a:pos x="78" y="11"/>
                  </a:cxn>
                  <a:cxn ang="0">
                    <a:pos x="90" y="5"/>
                  </a:cxn>
                  <a:cxn ang="0">
                    <a:pos x="108" y="11"/>
                  </a:cxn>
                  <a:cxn ang="0">
                    <a:pos x="114" y="23"/>
                  </a:cxn>
                  <a:cxn ang="0">
                    <a:pos x="114" y="35"/>
                  </a:cxn>
                  <a:cxn ang="0">
                    <a:pos x="108" y="41"/>
                  </a:cxn>
                  <a:cxn ang="0">
                    <a:pos x="96" y="47"/>
                  </a:cxn>
                  <a:cxn ang="0">
                    <a:pos x="72" y="47"/>
                  </a:cxn>
                  <a:cxn ang="0">
                    <a:pos x="66" y="47"/>
                  </a:cxn>
                  <a:cxn ang="0">
                    <a:pos x="60" y="47"/>
                  </a:cxn>
                  <a:cxn ang="0">
                    <a:pos x="72" y="11"/>
                  </a:cxn>
                </a:cxnLst>
                <a:rect l="txL" t="txT" r="txR" b="txB"/>
                <a:pathLst>
                  <a:path w="138" h="107">
                    <a:moveTo>
                      <a:pt x="132" y="107"/>
                    </a:moveTo>
                    <a:lnTo>
                      <a:pt x="120" y="101"/>
                    </a:lnTo>
                    <a:lnTo>
                      <a:pt x="114" y="95"/>
                    </a:lnTo>
                    <a:lnTo>
                      <a:pt x="96" y="53"/>
                    </a:lnTo>
                    <a:lnTo>
                      <a:pt x="114" y="47"/>
                    </a:lnTo>
                    <a:lnTo>
                      <a:pt x="126" y="41"/>
                    </a:lnTo>
                    <a:lnTo>
                      <a:pt x="138" y="23"/>
                    </a:lnTo>
                    <a:lnTo>
                      <a:pt x="132" y="11"/>
                    </a:lnTo>
                    <a:lnTo>
                      <a:pt x="120" y="5"/>
                    </a:lnTo>
                    <a:lnTo>
                      <a:pt x="102" y="0"/>
                    </a:lnTo>
                    <a:lnTo>
                      <a:pt x="90" y="0"/>
                    </a:lnTo>
                    <a:lnTo>
                      <a:pt x="36" y="0"/>
                    </a:lnTo>
                    <a:lnTo>
                      <a:pt x="36" y="5"/>
                    </a:lnTo>
                    <a:lnTo>
                      <a:pt x="48" y="5"/>
                    </a:lnTo>
                    <a:lnTo>
                      <a:pt x="48" y="11"/>
                    </a:lnTo>
                    <a:lnTo>
                      <a:pt x="48" y="17"/>
                    </a:lnTo>
                    <a:lnTo>
                      <a:pt x="48" y="23"/>
                    </a:lnTo>
                    <a:lnTo>
                      <a:pt x="18" y="95"/>
                    </a:lnTo>
                    <a:lnTo>
                      <a:pt x="12" y="101"/>
                    </a:lnTo>
                    <a:lnTo>
                      <a:pt x="0" y="107"/>
                    </a:lnTo>
                    <a:lnTo>
                      <a:pt x="54" y="107"/>
                    </a:lnTo>
                    <a:lnTo>
                      <a:pt x="42" y="101"/>
                    </a:lnTo>
                    <a:lnTo>
                      <a:pt x="42" y="95"/>
                    </a:lnTo>
                    <a:lnTo>
                      <a:pt x="42" y="89"/>
                    </a:lnTo>
                    <a:lnTo>
                      <a:pt x="54" y="53"/>
                    </a:lnTo>
                    <a:lnTo>
                      <a:pt x="72" y="53"/>
                    </a:lnTo>
                    <a:lnTo>
                      <a:pt x="102" y="107"/>
                    </a:lnTo>
                    <a:lnTo>
                      <a:pt x="132" y="107"/>
                    </a:lnTo>
                    <a:close/>
                    <a:moveTo>
                      <a:pt x="72" y="11"/>
                    </a:moveTo>
                    <a:lnTo>
                      <a:pt x="78" y="11"/>
                    </a:lnTo>
                    <a:lnTo>
                      <a:pt x="90" y="5"/>
                    </a:lnTo>
                    <a:lnTo>
                      <a:pt x="108" y="11"/>
                    </a:lnTo>
                    <a:lnTo>
                      <a:pt x="114" y="23"/>
                    </a:lnTo>
                    <a:lnTo>
                      <a:pt x="114" y="35"/>
                    </a:lnTo>
                    <a:lnTo>
                      <a:pt x="108" y="41"/>
                    </a:lnTo>
                    <a:lnTo>
                      <a:pt x="96" y="47"/>
                    </a:lnTo>
                    <a:lnTo>
                      <a:pt x="72" y="47"/>
                    </a:lnTo>
                    <a:lnTo>
                      <a:pt x="66" y="47"/>
                    </a:lnTo>
                    <a:lnTo>
                      <a:pt x="60" y="47"/>
                    </a:lnTo>
                    <a:lnTo>
                      <a:pt x="72" y="1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548" name="Freeform 85"/>
              <p:cNvSpPr>
                <a:spLocks noEditPoints="1"/>
              </p:cNvSpPr>
              <p:nvPr/>
            </p:nvSpPr>
            <p:spPr>
              <a:xfrm>
                <a:off x="2195" y="1067"/>
                <a:ext cx="71" cy="84"/>
              </a:xfrm>
              <a:custGeom>
                <a:avLst/>
                <a:gdLst>
                  <a:gd name="txL" fmla="*/ 0 w 71"/>
                  <a:gd name="txT" fmla="*/ 0 h 84"/>
                  <a:gd name="txR" fmla="*/ 71 w 71"/>
                  <a:gd name="txB" fmla="*/ 84 h 84"/>
                </a:gdLst>
                <a:ahLst/>
                <a:cxnLst>
                  <a:cxn ang="0">
                    <a:pos x="59" y="48"/>
                  </a:cxn>
                  <a:cxn ang="0">
                    <a:pos x="59" y="54"/>
                  </a:cxn>
                  <a:cxn ang="0">
                    <a:pos x="48" y="66"/>
                  </a:cxn>
                  <a:cxn ang="0">
                    <a:pos x="36" y="78"/>
                  </a:cxn>
                  <a:cxn ang="0">
                    <a:pos x="18" y="84"/>
                  </a:cxn>
                  <a:cxn ang="0">
                    <a:pos x="12" y="84"/>
                  </a:cxn>
                  <a:cxn ang="0">
                    <a:pos x="12" y="78"/>
                  </a:cxn>
                  <a:cxn ang="0">
                    <a:pos x="18" y="66"/>
                  </a:cxn>
                  <a:cxn ang="0">
                    <a:pos x="24" y="54"/>
                  </a:cxn>
                  <a:cxn ang="0">
                    <a:pos x="36" y="42"/>
                  </a:cxn>
                  <a:cxn ang="0">
                    <a:pos x="48" y="36"/>
                  </a:cxn>
                  <a:cxn ang="0">
                    <a:pos x="59" y="42"/>
                  </a:cxn>
                  <a:cxn ang="0">
                    <a:pos x="59" y="48"/>
                  </a:cxn>
                  <a:cxn ang="0">
                    <a:pos x="59" y="48"/>
                  </a:cxn>
                  <a:cxn ang="0">
                    <a:pos x="12" y="6"/>
                  </a:cxn>
                  <a:cxn ang="0">
                    <a:pos x="24" y="6"/>
                  </a:cxn>
                  <a:cxn ang="0">
                    <a:pos x="24" y="6"/>
                  </a:cxn>
                  <a:cxn ang="0">
                    <a:pos x="24" y="12"/>
                  </a:cxn>
                  <a:cxn ang="0">
                    <a:pos x="24" y="18"/>
                  </a:cxn>
                  <a:cxn ang="0">
                    <a:pos x="0" y="78"/>
                  </a:cxn>
                  <a:cxn ang="0">
                    <a:pos x="0" y="78"/>
                  </a:cxn>
                  <a:cxn ang="0">
                    <a:pos x="6" y="84"/>
                  </a:cxn>
                  <a:cxn ang="0">
                    <a:pos x="18" y="84"/>
                  </a:cxn>
                  <a:cxn ang="0">
                    <a:pos x="42" y="84"/>
                  </a:cxn>
                  <a:cxn ang="0">
                    <a:pos x="54" y="72"/>
                  </a:cxn>
                  <a:cxn ang="0">
                    <a:pos x="65" y="60"/>
                  </a:cxn>
                  <a:cxn ang="0">
                    <a:pos x="71" y="42"/>
                  </a:cxn>
                  <a:cxn ang="0">
                    <a:pos x="65" y="36"/>
                  </a:cxn>
                  <a:cxn ang="0">
                    <a:pos x="54" y="30"/>
                  </a:cxn>
                  <a:cxn ang="0">
                    <a:pos x="36" y="36"/>
                  </a:cxn>
                  <a:cxn ang="0">
                    <a:pos x="24" y="48"/>
                  </a:cxn>
                  <a:cxn ang="0">
                    <a:pos x="24" y="48"/>
                  </a:cxn>
                  <a:cxn ang="0">
                    <a:pos x="36" y="24"/>
                  </a:cxn>
                  <a:cxn ang="0">
                    <a:pos x="42" y="0"/>
                  </a:cxn>
                  <a:cxn ang="0">
                    <a:pos x="36" y="0"/>
                  </a:cxn>
                  <a:cxn ang="0">
                    <a:pos x="24" y="0"/>
                  </a:cxn>
                  <a:cxn ang="0">
                    <a:pos x="12" y="6"/>
                  </a:cxn>
                  <a:cxn ang="0">
                    <a:pos x="12" y="6"/>
                  </a:cxn>
                </a:cxnLst>
                <a:rect l="txL" t="txT" r="txR" b="txB"/>
                <a:pathLst>
                  <a:path w="71" h="84">
                    <a:moveTo>
                      <a:pt x="59" y="48"/>
                    </a:moveTo>
                    <a:lnTo>
                      <a:pt x="59" y="54"/>
                    </a:lnTo>
                    <a:lnTo>
                      <a:pt x="48" y="66"/>
                    </a:lnTo>
                    <a:lnTo>
                      <a:pt x="36" y="78"/>
                    </a:lnTo>
                    <a:lnTo>
                      <a:pt x="18" y="84"/>
                    </a:lnTo>
                    <a:lnTo>
                      <a:pt x="12" y="84"/>
                    </a:lnTo>
                    <a:lnTo>
                      <a:pt x="12" y="78"/>
                    </a:lnTo>
                    <a:lnTo>
                      <a:pt x="18" y="66"/>
                    </a:lnTo>
                    <a:lnTo>
                      <a:pt x="24" y="54"/>
                    </a:lnTo>
                    <a:lnTo>
                      <a:pt x="36" y="42"/>
                    </a:lnTo>
                    <a:lnTo>
                      <a:pt x="48" y="36"/>
                    </a:lnTo>
                    <a:lnTo>
                      <a:pt x="59" y="42"/>
                    </a:lnTo>
                    <a:lnTo>
                      <a:pt x="59" y="48"/>
                    </a:lnTo>
                    <a:close/>
                    <a:moveTo>
                      <a:pt x="12" y="6"/>
                    </a:moveTo>
                    <a:lnTo>
                      <a:pt x="24" y="6"/>
                    </a:lnTo>
                    <a:lnTo>
                      <a:pt x="24" y="12"/>
                    </a:lnTo>
                    <a:lnTo>
                      <a:pt x="24" y="18"/>
                    </a:lnTo>
                    <a:lnTo>
                      <a:pt x="0" y="78"/>
                    </a:lnTo>
                    <a:lnTo>
                      <a:pt x="6" y="84"/>
                    </a:lnTo>
                    <a:lnTo>
                      <a:pt x="18" y="84"/>
                    </a:lnTo>
                    <a:lnTo>
                      <a:pt x="42" y="84"/>
                    </a:lnTo>
                    <a:lnTo>
                      <a:pt x="54" y="72"/>
                    </a:lnTo>
                    <a:lnTo>
                      <a:pt x="65" y="60"/>
                    </a:lnTo>
                    <a:lnTo>
                      <a:pt x="71" y="42"/>
                    </a:lnTo>
                    <a:lnTo>
                      <a:pt x="65" y="36"/>
                    </a:lnTo>
                    <a:lnTo>
                      <a:pt x="54" y="30"/>
                    </a:lnTo>
                    <a:lnTo>
                      <a:pt x="36" y="36"/>
                    </a:lnTo>
                    <a:lnTo>
                      <a:pt x="24" y="48"/>
                    </a:lnTo>
                    <a:lnTo>
                      <a:pt x="36" y="24"/>
                    </a:lnTo>
                    <a:lnTo>
                      <a:pt x="42" y="0"/>
                    </a:lnTo>
                    <a:lnTo>
                      <a:pt x="36" y="0"/>
                    </a:lnTo>
                    <a:lnTo>
                      <a:pt x="24" y="0"/>
                    </a:lnTo>
                    <a:lnTo>
                      <a:pt x="12"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grpSp>
        <p:grpSp>
          <p:nvGrpSpPr>
            <p:cNvPr id="59404" name="Group 86"/>
            <p:cNvGrpSpPr/>
            <p:nvPr/>
          </p:nvGrpSpPr>
          <p:grpSpPr>
            <a:xfrm>
              <a:off x="3072" y="1380"/>
              <a:ext cx="2619" cy="2172"/>
              <a:chOff x="1471" y="2291"/>
              <a:chExt cx="2811" cy="1744"/>
            </a:xfrm>
          </p:grpSpPr>
          <p:sp>
            <p:nvSpPr>
              <p:cNvPr id="59405" name="Freeform 87"/>
              <p:cNvSpPr/>
              <p:nvPr/>
            </p:nvSpPr>
            <p:spPr>
              <a:xfrm>
                <a:off x="3253" y="2572"/>
                <a:ext cx="808" cy="1"/>
              </a:xfrm>
              <a:custGeom>
                <a:avLst/>
                <a:gdLst>
                  <a:gd name="txL" fmla="*/ 0 w 808"/>
                  <a:gd name="txT" fmla="*/ 0 h 1"/>
                  <a:gd name="txR" fmla="*/ 808 w 808"/>
                  <a:gd name="txB" fmla="*/ 1 h 1"/>
                </a:gdLst>
                <a:ahLst/>
                <a:cxnLst>
                  <a:cxn ang="0">
                    <a:pos x="808" y="0"/>
                  </a:cxn>
                  <a:cxn ang="0">
                    <a:pos x="0" y="0"/>
                  </a:cxn>
                  <a:cxn ang="0">
                    <a:pos x="808" y="0"/>
                  </a:cxn>
                  <a:cxn ang="0">
                    <a:pos x="808" y="0"/>
                  </a:cxn>
                </a:cxnLst>
                <a:rect l="txL" t="txT" r="txR" b="txB"/>
                <a:pathLst>
                  <a:path w="808" h="1">
                    <a:moveTo>
                      <a:pt x="808" y="0"/>
                    </a:moveTo>
                    <a:lnTo>
                      <a:pt x="0" y="0"/>
                    </a:lnTo>
                    <a:lnTo>
                      <a:pt x="80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06" name="Freeform 88"/>
              <p:cNvSpPr/>
              <p:nvPr/>
            </p:nvSpPr>
            <p:spPr>
              <a:xfrm>
                <a:off x="1680" y="2572"/>
                <a:ext cx="1699" cy="1"/>
              </a:xfrm>
              <a:custGeom>
                <a:avLst/>
                <a:gdLst>
                  <a:gd name="txL" fmla="*/ 0 w 1699"/>
                  <a:gd name="txT" fmla="*/ 0 h 1"/>
                  <a:gd name="txR" fmla="*/ 1699 w 1699"/>
                  <a:gd name="txB" fmla="*/ 1 h 1"/>
                </a:gdLst>
                <a:ahLst/>
                <a:cxnLst>
                  <a:cxn ang="0">
                    <a:pos x="1699" y="0"/>
                  </a:cxn>
                  <a:cxn ang="0">
                    <a:pos x="0" y="0"/>
                  </a:cxn>
                  <a:cxn ang="0">
                    <a:pos x="1699" y="0"/>
                  </a:cxn>
                  <a:cxn ang="0">
                    <a:pos x="1699" y="0"/>
                  </a:cxn>
                </a:cxnLst>
                <a:rect l="txL" t="txT" r="txR" b="txB"/>
                <a:pathLst>
                  <a:path w="1699" h="1">
                    <a:moveTo>
                      <a:pt x="1699" y="0"/>
                    </a:moveTo>
                    <a:lnTo>
                      <a:pt x="0" y="0"/>
                    </a:lnTo>
                    <a:lnTo>
                      <a:pt x="1699"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07" name="Freeform 89"/>
              <p:cNvSpPr/>
              <p:nvPr/>
            </p:nvSpPr>
            <p:spPr>
              <a:xfrm>
                <a:off x="1680" y="3695"/>
                <a:ext cx="2381" cy="1"/>
              </a:xfrm>
              <a:custGeom>
                <a:avLst/>
                <a:gdLst>
                  <a:gd name="txL" fmla="*/ 0 w 2381"/>
                  <a:gd name="txT" fmla="*/ 0 h 1"/>
                  <a:gd name="txR" fmla="*/ 2381 w 2381"/>
                  <a:gd name="txB" fmla="*/ 1 h 1"/>
                </a:gdLst>
                <a:ahLst/>
                <a:cxnLst>
                  <a:cxn ang="0">
                    <a:pos x="0" y="0"/>
                  </a:cxn>
                  <a:cxn ang="0">
                    <a:pos x="2381" y="0"/>
                  </a:cxn>
                  <a:cxn ang="0">
                    <a:pos x="0" y="0"/>
                  </a:cxn>
                  <a:cxn ang="0">
                    <a:pos x="0" y="0"/>
                  </a:cxn>
                </a:cxnLst>
                <a:rect l="txL" t="txT" r="txR" b="txB"/>
                <a:pathLst>
                  <a:path w="2381" h="1">
                    <a:moveTo>
                      <a:pt x="0" y="0"/>
                    </a:moveTo>
                    <a:lnTo>
                      <a:pt x="2381"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08" name="Freeform 90"/>
              <p:cNvSpPr/>
              <p:nvPr/>
            </p:nvSpPr>
            <p:spPr>
              <a:xfrm>
                <a:off x="2254" y="2572"/>
                <a:ext cx="1" cy="1123"/>
              </a:xfrm>
              <a:custGeom>
                <a:avLst/>
                <a:gdLst>
                  <a:gd name="txL" fmla="*/ 0 w 1"/>
                  <a:gd name="txT" fmla="*/ 0 h 1123"/>
                  <a:gd name="txR" fmla="*/ 1 w 1"/>
                  <a:gd name="txB" fmla="*/ 1123 h 1123"/>
                </a:gdLst>
                <a:ahLst/>
                <a:cxnLst>
                  <a:cxn ang="0">
                    <a:pos x="0" y="0"/>
                  </a:cxn>
                  <a:cxn ang="0">
                    <a:pos x="0" y="1123"/>
                  </a:cxn>
                  <a:cxn ang="0">
                    <a:pos x="0" y="0"/>
                  </a:cxn>
                  <a:cxn ang="0">
                    <a:pos x="0" y="0"/>
                  </a:cxn>
                </a:cxnLst>
                <a:rect l="txL" t="txT" r="txR" b="txB"/>
                <a:pathLst>
                  <a:path w="1" h="1123">
                    <a:moveTo>
                      <a:pt x="0" y="0"/>
                    </a:moveTo>
                    <a:lnTo>
                      <a:pt x="0" y="1123"/>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09" name="Freeform 91"/>
              <p:cNvSpPr/>
              <p:nvPr/>
            </p:nvSpPr>
            <p:spPr>
              <a:xfrm>
                <a:off x="2225" y="2972"/>
                <a:ext cx="53" cy="323"/>
              </a:xfrm>
              <a:custGeom>
                <a:avLst/>
                <a:gdLst>
                  <a:gd name="txL" fmla="*/ 0 w 53"/>
                  <a:gd name="txT" fmla="*/ 0 h 323"/>
                  <a:gd name="txR" fmla="*/ 53 w 53"/>
                  <a:gd name="txB" fmla="*/ 323 h 323"/>
                </a:gdLst>
                <a:ahLst/>
                <a:cxnLst>
                  <a:cxn ang="0">
                    <a:pos x="0" y="0"/>
                  </a:cxn>
                  <a:cxn ang="0">
                    <a:pos x="53" y="0"/>
                  </a:cxn>
                  <a:cxn ang="0">
                    <a:pos x="53" y="323"/>
                  </a:cxn>
                  <a:cxn ang="0">
                    <a:pos x="0" y="323"/>
                  </a:cxn>
                  <a:cxn ang="0">
                    <a:pos x="0" y="0"/>
                  </a:cxn>
                  <a:cxn ang="0">
                    <a:pos x="0" y="0"/>
                  </a:cxn>
                </a:cxnLst>
                <a:rect l="txL" t="txT" r="txR" b="txB"/>
                <a:pathLst>
                  <a:path w="53" h="323">
                    <a:moveTo>
                      <a:pt x="0" y="0"/>
                    </a:moveTo>
                    <a:lnTo>
                      <a:pt x="53" y="0"/>
                    </a:lnTo>
                    <a:lnTo>
                      <a:pt x="53" y="323"/>
                    </a:lnTo>
                    <a:lnTo>
                      <a:pt x="0" y="323"/>
                    </a:lnTo>
                    <a:lnTo>
                      <a:pt x="0" y="0"/>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59410" name="Freeform 92"/>
              <p:cNvSpPr/>
              <p:nvPr/>
            </p:nvSpPr>
            <p:spPr>
              <a:xfrm>
                <a:off x="2183" y="3277"/>
                <a:ext cx="71" cy="24"/>
              </a:xfrm>
              <a:custGeom>
                <a:avLst/>
                <a:gdLst>
                  <a:gd name="txL" fmla="*/ 0 w 71"/>
                  <a:gd name="txT" fmla="*/ 0 h 24"/>
                  <a:gd name="txR" fmla="*/ 71 w 71"/>
                  <a:gd name="txB" fmla="*/ 24 h 24"/>
                </a:gdLst>
                <a:ahLst/>
                <a:cxnLst>
                  <a:cxn ang="0">
                    <a:pos x="71" y="24"/>
                  </a:cxn>
                  <a:cxn ang="0">
                    <a:pos x="0" y="0"/>
                  </a:cxn>
                  <a:cxn ang="0">
                    <a:pos x="71" y="24"/>
                  </a:cxn>
                  <a:cxn ang="0">
                    <a:pos x="71" y="24"/>
                  </a:cxn>
                </a:cxnLst>
                <a:rect l="txL" t="txT" r="txR" b="txB"/>
                <a:pathLst>
                  <a:path w="71" h="24">
                    <a:moveTo>
                      <a:pt x="71" y="24"/>
                    </a:moveTo>
                    <a:lnTo>
                      <a:pt x="0" y="0"/>
                    </a:lnTo>
                    <a:lnTo>
                      <a:pt x="71"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11" name="Freeform 93"/>
              <p:cNvSpPr>
                <a:spLocks noEditPoints="1"/>
              </p:cNvSpPr>
              <p:nvPr/>
            </p:nvSpPr>
            <p:spPr>
              <a:xfrm>
                <a:off x="2183" y="3259"/>
                <a:ext cx="71" cy="18"/>
              </a:xfrm>
              <a:custGeom>
                <a:avLst/>
                <a:gdLst>
                  <a:gd name="txL" fmla="*/ 0 w 71"/>
                  <a:gd name="txT" fmla="*/ 0 h 18"/>
                  <a:gd name="txR" fmla="*/ 71 w 71"/>
                  <a:gd name="txB" fmla="*/ 18 h 18"/>
                </a:gdLst>
                <a:ahLst/>
                <a:cxnLst>
                  <a:cxn ang="0">
                    <a:pos x="0" y="18"/>
                  </a:cxn>
                  <a:cxn ang="0">
                    <a:pos x="71" y="0"/>
                  </a:cxn>
                  <a:cxn ang="0">
                    <a:pos x="0" y="18"/>
                  </a:cxn>
                  <a:cxn ang="0">
                    <a:pos x="0" y="18"/>
                  </a:cxn>
                  <a:cxn ang="0">
                    <a:pos x="0" y="18"/>
                  </a:cxn>
                  <a:cxn ang="0">
                    <a:pos x="0" y="18"/>
                  </a:cxn>
                  <a:cxn ang="0">
                    <a:pos x="0" y="18"/>
                  </a:cxn>
                </a:cxnLst>
                <a:rect l="txL" t="txT" r="txR" b="txB"/>
                <a:pathLst>
                  <a:path w="71" h="18">
                    <a:moveTo>
                      <a:pt x="0" y="18"/>
                    </a:moveTo>
                    <a:lnTo>
                      <a:pt x="71" y="0"/>
                    </a:lnTo>
                    <a:lnTo>
                      <a:pt x="0" y="18"/>
                    </a:lnTo>
                    <a:close/>
                    <a:moveTo>
                      <a:pt x="0" y="18"/>
                    </a:moveTo>
                    <a:lnTo>
                      <a:pt x="0"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12" name="Freeform 94"/>
              <p:cNvSpPr>
                <a:spLocks noEditPoints="1"/>
              </p:cNvSpPr>
              <p:nvPr/>
            </p:nvSpPr>
            <p:spPr>
              <a:xfrm>
                <a:off x="2254" y="3235"/>
                <a:ext cx="66" cy="24"/>
              </a:xfrm>
              <a:custGeom>
                <a:avLst/>
                <a:gdLst>
                  <a:gd name="txL" fmla="*/ 0 w 66"/>
                  <a:gd name="txT" fmla="*/ 0 h 24"/>
                  <a:gd name="txR" fmla="*/ 66 w 66"/>
                  <a:gd name="txB" fmla="*/ 24 h 24"/>
                </a:gdLst>
                <a:ahLst/>
                <a:cxnLst>
                  <a:cxn ang="0">
                    <a:pos x="0" y="24"/>
                  </a:cxn>
                  <a:cxn ang="0">
                    <a:pos x="66" y="0"/>
                  </a:cxn>
                  <a:cxn ang="0">
                    <a:pos x="0" y="24"/>
                  </a:cxn>
                  <a:cxn ang="0">
                    <a:pos x="0" y="24"/>
                  </a:cxn>
                  <a:cxn ang="0">
                    <a:pos x="0" y="24"/>
                  </a:cxn>
                  <a:cxn ang="0">
                    <a:pos x="0" y="24"/>
                  </a:cxn>
                  <a:cxn ang="0">
                    <a:pos x="0" y="24"/>
                  </a:cxn>
                </a:cxnLst>
                <a:rect l="txL" t="txT" r="txR" b="txB"/>
                <a:pathLst>
                  <a:path w="66" h="24">
                    <a:moveTo>
                      <a:pt x="0" y="24"/>
                    </a:moveTo>
                    <a:lnTo>
                      <a:pt x="66"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13" name="Freeform 95"/>
              <p:cNvSpPr>
                <a:spLocks noEditPoints="1"/>
              </p:cNvSpPr>
              <p:nvPr/>
            </p:nvSpPr>
            <p:spPr>
              <a:xfrm>
                <a:off x="2254" y="3217"/>
                <a:ext cx="66" cy="18"/>
              </a:xfrm>
              <a:custGeom>
                <a:avLst/>
                <a:gdLst>
                  <a:gd name="txL" fmla="*/ 0 w 66"/>
                  <a:gd name="txT" fmla="*/ 0 h 18"/>
                  <a:gd name="txR" fmla="*/ 66 w 66"/>
                  <a:gd name="txB" fmla="*/ 18 h 18"/>
                </a:gdLst>
                <a:ahLst/>
                <a:cxnLst>
                  <a:cxn ang="0">
                    <a:pos x="66" y="18"/>
                  </a:cxn>
                  <a:cxn ang="0">
                    <a:pos x="0" y="0"/>
                  </a:cxn>
                  <a:cxn ang="0">
                    <a:pos x="66" y="18"/>
                  </a:cxn>
                  <a:cxn ang="0">
                    <a:pos x="66" y="18"/>
                  </a:cxn>
                  <a:cxn ang="0">
                    <a:pos x="66" y="18"/>
                  </a:cxn>
                  <a:cxn ang="0">
                    <a:pos x="66" y="18"/>
                  </a:cxn>
                  <a:cxn ang="0">
                    <a:pos x="66" y="18"/>
                  </a:cxn>
                </a:cxnLst>
                <a:rect l="txL" t="txT" r="txR" b="txB"/>
                <a:pathLst>
                  <a:path w="66" h="18">
                    <a:moveTo>
                      <a:pt x="66" y="18"/>
                    </a:moveTo>
                    <a:lnTo>
                      <a:pt x="0" y="0"/>
                    </a:lnTo>
                    <a:lnTo>
                      <a:pt x="66" y="18"/>
                    </a:lnTo>
                    <a:close/>
                    <a:moveTo>
                      <a:pt x="66" y="18"/>
                    </a:moveTo>
                    <a:lnTo>
                      <a:pt x="66"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14" name="Freeform 96"/>
              <p:cNvSpPr>
                <a:spLocks noEditPoints="1"/>
              </p:cNvSpPr>
              <p:nvPr/>
            </p:nvSpPr>
            <p:spPr>
              <a:xfrm>
                <a:off x="2254" y="3217"/>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15" name="Freeform 97"/>
              <p:cNvSpPr>
                <a:spLocks noEditPoints="1"/>
              </p:cNvSpPr>
              <p:nvPr/>
            </p:nvSpPr>
            <p:spPr>
              <a:xfrm>
                <a:off x="2183" y="3193"/>
                <a:ext cx="71" cy="24"/>
              </a:xfrm>
              <a:custGeom>
                <a:avLst/>
                <a:gdLst>
                  <a:gd name="txL" fmla="*/ 0 w 71"/>
                  <a:gd name="txT" fmla="*/ 0 h 24"/>
                  <a:gd name="txR" fmla="*/ 71 w 71"/>
                  <a:gd name="txB" fmla="*/ 24 h 24"/>
                </a:gdLst>
                <a:ahLst/>
                <a:cxnLst>
                  <a:cxn ang="0">
                    <a:pos x="71" y="24"/>
                  </a:cxn>
                  <a:cxn ang="0">
                    <a:pos x="0" y="0"/>
                  </a:cxn>
                  <a:cxn ang="0">
                    <a:pos x="71" y="24"/>
                  </a:cxn>
                  <a:cxn ang="0">
                    <a:pos x="71" y="24"/>
                  </a:cxn>
                  <a:cxn ang="0">
                    <a:pos x="71" y="24"/>
                  </a:cxn>
                  <a:cxn ang="0">
                    <a:pos x="71" y="24"/>
                  </a:cxn>
                  <a:cxn ang="0">
                    <a:pos x="71" y="24"/>
                  </a:cxn>
                </a:cxnLst>
                <a:rect l="txL" t="txT" r="txR" b="txB"/>
                <a:pathLst>
                  <a:path w="71" h="24">
                    <a:moveTo>
                      <a:pt x="71" y="24"/>
                    </a:moveTo>
                    <a:lnTo>
                      <a:pt x="0" y="0"/>
                    </a:lnTo>
                    <a:lnTo>
                      <a:pt x="71" y="24"/>
                    </a:lnTo>
                    <a:close/>
                    <a:moveTo>
                      <a:pt x="71" y="24"/>
                    </a:moveTo>
                    <a:lnTo>
                      <a:pt x="71"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16" name="Freeform 98"/>
              <p:cNvSpPr>
                <a:spLocks noEditPoints="1"/>
              </p:cNvSpPr>
              <p:nvPr/>
            </p:nvSpPr>
            <p:spPr>
              <a:xfrm>
                <a:off x="2183" y="3175"/>
                <a:ext cx="71" cy="18"/>
              </a:xfrm>
              <a:custGeom>
                <a:avLst/>
                <a:gdLst>
                  <a:gd name="txL" fmla="*/ 0 w 71"/>
                  <a:gd name="txT" fmla="*/ 0 h 18"/>
                  <a:gd name="txR" fmla="*/ 71 w 71"/>
                  <a:gd name="txB" fmla="*/ 18 h 18"/>
                </a:gdLst>
                <a:ahLst/>
                <a:cxnLst>
                  <a:cxn ang="0">
                    <a:pos x="0" y="18"/>
                  </a:cxn>
                  <a:cxn ang="0">
                    <a:pos x="71" y="0"/>
                  </a:cxn>
                  <a:cxn ang="0">
                    <a:pos x="0" y="18"/>
                  </a:cxn>
                  <a:cxn ang="0">
                    <a:pos x="0" y="18"/>
                  </a:cxn>
                  <a:cxn ang="0">
                    <a:pos x="0" y="18"/>
                  </a:cxn>
                  <a:cxn ang="0">
                    <a:pos x="0" y="18"/>
                  </a:cxn>
                  <a:cxn ang="0">
                    <a:pos x="0" y="18"/>
                  </a:cxn>
                </a:cxnLst>
                <a:rect l="txL" t="txT" r="txR" b="txB"/>
                <a:pathLst>
                  <a:path w="71" h="18">
                    <a:moveTo>
                      <a:pt x="0" y="18"/>
                    </a:moveTo>
                    <a:lnTo>
                      <a:pt x="71" y="0"/>
                    </a:lnTo>
                    <a:lnTo>
                      <a:pt x="0" y="18"/>
                    </a:lnTo>
                    <a:close/>
                    <a:moveTo>
                      <a:pt x="0" y="18"/>
                    </a:moveTo>
                    <a:lnTo>
                      <a:pt x="0"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17" name="Freeform 99"/>
              <p:cNvSpPr>
                <a:spLocks noEditPoints="1"/>
              </p:cNvSpPr>
              <p:nvPr/>
            </p:nvSpPr>
            <p:spPr>
              <a:xfrm>
                <a:off x="2254" y="3151"/>
                <a:ext cx="66" cy="24"/>
              </a:xfrm>
              <a:custGeom>
                <a:avLst/>
                <a:gdLst>
                  <a:gd name="txL" fmla="*/ 0 w 66"/>
                  <a:gd name="txT" fmla="*/ 0 h 24"/>
                  <a:gd name="txR" fmla="*/ 66 w 66"/>
                  <a:gd name="txB" fmla="*/ 24 h 24"/>
                </a:gdLst>
                <a:ahLst/>
                <a:cxnLst>
                  <a:cxn ang="0">
                    <a:pos x="0" y="24"/>
                  </a:cxn>
                  <a:cxn ang="0">
                    <a:pos x="66" y="0"/>
                  </a:cxn>
                  <a:cxn ang="0">
                    <a:pos x="0" y="24"/>
                  </a:cxn>
                  <a:cxn ang="0">
                    <a:pos x="0" y="24"/>
                  </a:cxn>
                  <a:cxn ang="0">
                    <a:pos x="0" y="24"/>
                  </a:cxn>
                  <a:cxn ang="0">
                    <a:pos x="0" y="24"/>
                  </a:cxn>
                  <a:cxn ang="0">
                    <a:pos x="0" y="24"/>
                  </a:cxn>
                </a:cxnLst>
                <a:rect l="txL" t="txT" r="txR" b="txB"/>
                <a:pathLst>
                  <a:path w="66" h="24">
                    <a:moveTo>
                      <a:pt x="0" y="24"/>
                    </a:moveTo>
                    <a:lnTo>
                      <a:pt x="66"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18" name="Freeform 100"/>
              <p:cNvSpPr>
                <a:spLocks noEditPoints="1"/>
              </p:cNvSpPr>
              <p:nvPr/>
            </p:nvSpPr>
            <p:spPr>
              <a:xfrm>
                <a:off x="2254" y="3133"/>
                <a:ext cx="66" cy="18"/>
              </a:xfrm>
              <a:custGeom>
                <a:avLst/>
                <a:gdLst>
                  <a:gd name="txL" fmla="*/ 0 w 66"/>
                  <a:gd name="txT" fmla="*/ 0 h 18"/>
                  <a:gd name="txR" fmla="*/ 66 w 66"/>
                  <a:gd name="txB" fmla="*/ 18 h 18"/>
                </a:gdLst>
                <a:ahLst/>
                <a:cxnLst>
                  <a:cxn ang="0">
                    <a:pos x="66" y="18"/>
                  </a:cxn>
                  <a:cxn ang="0">
                    <a:pos x="0" y="0"/>
                  </a:cxn>
                  <a:cxn ang="0">
                    <a:pos x="66" y="18"/>
                  </a:cxn>
                  <a:cxn ang="0">
                    <a:pos x="66" y="18"/>
                  </a:cxn>
                  <a:cxn ang="0">
                    <a:pos x="66" y="18"/>
                  </a:cxn>
                  <a:cxn ang="0">
                    <a:pos x="66" y="18"/>
                  </a:cxn>
                  <a:cxn ang="0">
                    <a:pos x="66" y="18"/>
                  </a:cxn>
                </a:cxnLst>
                <a:rect l="txL" t="txT" r="txR" b="txB"/>
                <a:pathLst>
                  <a:path w="66" h="18">
                    <a:moveTo>
                      <a:pt x="66" y="18"/>
                    </a:moveTo>
                    <a:lnTo>
                      <a:pt x="0" y="0"/>
                    </a:lnTo>
                    <a:lnTo>
                      <a:pt x="66" y="18"/>
                    </a:lnTo>
                    <a:close/>
                    <a:moveTo>
                      <a:pt x="66" y="18"/>
                    </a:moveTo>
                    <a:lnTo>
                      <a:pt x="66"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19" name="Freeform 101"/>
              <p:cNvSpPr>
                <a:spLocks noEditPoints="1"/>
              </p:cNvSpPr>
              <p:nvPr/>
            </p:nvSpPr>
            <p:spPr>
              <a:xfrm>
                <a:off x="2183" y="3109"/>
                <a:ext cx="71" cy="24"/>
              </a:xfrm>
              <a:custGeom>
                <a:avLst/>
                <a:gdLst>
                  <a:gd name="txL" fmla="*/ 0 w 71"/>
                  <a:gd name="txT" fmla="*/ 0 h 24"/>
                  <a:gd name="txR" fmla="*/ 71 w 71"/>
                  <a:gd name="txB" fmla="*/ 24 h 24"/>
                </a:gdLst>
                <a:ahLst/>
                <a:cxnLst>
                  <a:cxn ang="0">
                    <a:pos x="71" y="24"/>
                  </a:cxn>
                  <a:cxn ang="0">
                    <a:pos x="0" y="0"/>
                  </a:cxn>
                  <a:cxn ang="0">
                    <a:pos x="71" y="24"/>
                  </a:cxn>
                  <a:cxn ang="0">
                    <a:pos x="71" y="24"/>
                  </a:cxn>
                  <a:cxn ang="0">
                    <a:pos x="71" y="24"/>
                  </a:cxn>
                  <a:cxn ang="0">
                    <a:pos x="71" y="24"/>
                  </a:cxn>
                  <a:cxn ang="0">
                    <a:pos x="71" y="24"/>
                  </a:cxn>
                </a:cxnLst>
                <a:rect l="txL" t="txT" r="txR" b="txB"/>
                <a:pathLst>
                  <a:path w="71" h="24">
                    <a:moveTo>
                      <a:pt x="71" y="24"/>
                    </a:moveTo>
                    <a:lnTo>
                      <a:pt x="0" y="0"/>
                    </a:lnTo>
                    <a:lnTo>
                      <a:pt x="71" y="24"/>
                    </a:lnTo>
                    <a:close/>
                    <a:moveTo>
                      <a:pt x="71" y="24"/>
                    </a:moveTo>
                    <a:lnTo>
                      <a:pt x="71"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20" name="Freeform 102"/>
              <p:cNvSpPr>
                <a:spLocks noEditPoints="1"/>
              </p:cNvSpPr>
              <p:nvPr/>
            </p:nvSpPr>
            <p:spPr>
              <a:xfrm>
                <a:off x="2183" y="3092"/>
                <a:ext cx="71" cy="17"/>
              </a:xfrm>
              <a:custGeom>
                <a:avLst/>
                <a:gdLst>
                  <a:gd name="txL" fmla="*/ 0 w 71"/>
                  <a:gd name="txT" fmla="*/ 0 h 17"/>
                  <a:gd name="txR" fmla="*/ 71 w 71"/>
                  <a:gd name="txB" fmla="*/ 17 h 17"/>
                </a:gdLst>
                <a:ahLst/>
                <a:cxnLst>
                  <a:cxn ang="0">
                    <a:pos x="0" y="17"/>
                  </a:cxn>
                  <a:cxn ang="0">
                    <a:pos x="71" y="0"/>
                  </a:cxn>
                  <a:cxn ang="0">
                    <a:pos x="0" y="17"/>
                  </a:cxn>
                  <a:cxn ang="0">
                    <a:pos x="0" y="17"/>
                  </a:cxn>
                  <a:cxn ang="0">
                    <a:pos x="0" y="17"/>
                  </a:cxn>
                  <a:cxn ang="0">
                    <a:pos x="0" y="17"/>
                  </a:cxn>
                  <a:cxn ang="0">
                    <a:pos x="0" y="17"/>
                  </a:cxn>
                </a:cxnLst>
                <a:rect l="txL" t="txT" r="txR" b="txB"/>
                <a:pathLst>
                  <a:path w="71" h="17">
                    <a:moveTo>
                      <a:pt x="0" y="17"/>
                    </a:moveTo>
                    <a:lnTo>
                      <a:pt x="71" y="0"/>
                    </a:lnTo>
                    <a:lnTo>
                      <a:pt x="0" y="17"/>
                    </a:lnTo>
                    <a:close/>
                    <a:moveTo>
                      <a:pt x="0" y="17"/>
                    </a:moveTo>
                    <a:lnTo>
                      <a:pt x="0" y="17"/>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21" name="Freeform 103"/>
              <p:cNvSpPr>
                <a:spLocks noEditPoints="1"/>
              </p:cNvSpPr>
              <p:nvPr/>
            </p:nvSpPr>
            <p:spPr>
              <a:xfrm>
                <a:off x="2254" y="3068"/>
                <a:ext cx="66" cy="24"/>
              </a:xfrm>
              <a:custGeom>
                <a:avLst/>
                <a:gdLst>
                  <a:gd name="txL" fmla="*/ 0 w 66"/>
                  <a:gd name="txT" fmla="*/ 0 h 24"/>
                  <a:gd name="txR" fmla="*/ 66 w 66"/>
                  <a:gd name="txB" fmla="*/ 24 h 24"/>
                </a:gdLst>
                <a:ahLst/>
                <a:cxnLst>
                  <a:cxn ang="0">
                    <a:pos x="0" y="24"/>
                  </a:cxn>
                  <a:cxn ang="0">
                    <a:pos x="66" y="0"/>
                  </a:cxn>
                  <a:cxn ang="0">
                    <a:pos x="0" y="24"/>
                  </a:cxn>
                  <a:cxn ang="0">
                    <a:pos x="0" y="24"/>
                  </a:cxn>
                  <a:cxn ang="0">
                    <a:pos x="0" y="24"/>
                  </a:cxn>
                  <a:cxn ang="0">
                    <a:pos x="0" y="24"/>
                  </a:cxn>
                  <a:cxn ang="0">
                    <a:pos x="0" y="24"/>
                  </a:cxn>
                </a:cxnLst>
                <a:rect l="txL" t="txT" r="txR" b="txB"/>
                <a:pathLst>
                  <a:path w="66" h="24">
                    <a:moveTo>
                      <a:pt x="0" y="24"/>
                    </a:moveTo>
                    <a:lnTo>
                      <a:pt x="66"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22" name="Freeform 104"/>
              <p:cNvSpPr>
                <a:spLocks noEditPoints="1"/>
              </p:cNvSpPr>
              <p:nvPr/>
            </p:nvSpPr>
            <p:spPr>
              <a:xfrm>
                <a:off x="2254" y="3050"/>
                <a:ext cx="66" cy="18"/>
              </a:xfrm>
              <a:custGeom>
                <a:avLst/>
                <a:gdLst>
                  <a:gd name="txL" fmla="*/ 0 w 66"/>
                  <a:gd name="txT" fmla="*/ 0 h 18"/>
                  <a:gd name="txR" fmla="*/ 66 w 66"/>
                  <a:gd name="txB" fmla="*/ 18 h 18"/>
                </a:gdLst>
                <a:ahLst/>
                <a:cxnLst>
                  <a:cxn ang="0">
                    <a:pos x="66" y="18"/>
                  </a:cxn>
                  <a:cxn ang="0">
                    <a:pos x="0" y="0"/>
                  </a:cxn>
                  <a:cxn ang="0">
                    <a:pos x="66" y="18"/>
                  </a:cxn>
                  <a:cxn ang="0">
                    <a:pos x="66" y="18"/>
                  </a:cxn>
                  <a:cxn ang="0">
                    <a:pos x="66" y="18"/>
                  </a:cxn>
                  <a:cxn ang="0">
                    <a:pos x="66" y="18"/>
                  </a:cxn>
                  <a:cxn ang="0">
                    <a:pos x="66" y="18"/>
                  </a:cxn>
                </a:cxnLst>
                <a:rect l="txL" t="txT" r="txR" b="txB"/>
                <a:pathLst>
                  <a:path w="66" h="18">
                    <a:moveTo>
                      <a:pt x="66" y="18"/>
                    </a:moveTo>
                    <a:lnTo>
                      <a:pt x="0" y="0"/>
                    </a:lnTo>
                    <a:lnTo>
                      <a:pt x="66" y="18"/>
                    </a:lnTo>
                    <a:close/>
                    <a:moveTo>
                      <a:pt x="66" y="18"/>
                    </a:moveTo>
                    <a:lnTo>
                      <a:pt x="66"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23" name="Freeform 105"/>
              <p:cNvSpPr>
                <a:spLocks noEditPoints="1"/>
              </p:cNvSpPr>
              <p:nvPr/>
            </p:nvSpPr>
            <p:spPr>
              <a:xfrm>
                <a:off x="2183" y="3026"/>
                <a:ext cx="71" cy="24"/>
              </a:xfrm>
              <a:custGeom>
                <a:avLst/>
                <a:gdLst>
                  <a:gd name="txL" fmla="*/ 0 w 71"/>
                  <a:gd name="txT" fmla="*/ 0 h 24"/>
                  <a:gd name="txR" fmla="*/ 71 w 71"/>
                  <a:gd name="txB" fmla="*/ 24 h 24"/>
                </a:gdLst>
                <a:ahLst/>
                <a:cxnLst>
                  <a:cxn ang="0">
                    <a:pos x="71" y="24"/>
                  </a:cxn>
                  <a:cxn ang="0">
                    <a:pos x="0" y="0"/>
                  </a:cxn>
                  <a:cxn ang="0">
                    <a:pos x="71" y="24"/>
                  </a:cxn>
                  <a:cxn ang="0">
                    <a:pos x="71" y="24"/>
                  </a:cxn>
                  <a:cxn ang="0">
                    <a:pos x="71" y="24"/>
                  </a:cxn>
                  <a:cxn ang="0">
                    <a:pos x="71" y="24"/>
                  </a:cxn>
                  <a:cxn ang="0">
                    <a:pos x="71" y="24"/>
                  </a:cxn>
                </a:cxnLst>
                <a:rect l="txL" t="txT" r="txR" b="txB"/>
                <a:pathLst>
                  <a:path w="71" h="24">
                    <a:moveTo>
                      <a:pt x="71" y="24"/>
                    </a:moveTo>
                    <a:lnTo>
                      <a:pt x="0" y="0"/>
                    </a:lnTo>
                    <a:lnTo>
                      <a:pt x="71" y="24"/>
                    </a:lnTo>
                    <a:close/>
                    <a:moveTo>
                      <a:pt x="71" y="24"/>
                    </a:moveTo>
                    <a:lnTo>
                      <a:pt x="71"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24" name="Freeform 106"/>
              <p:cNvSpPr>
                <a:spLocks noEditPoints="1"/>
              </p:cNvSpPr>
              <p:nvPr/>
            </p:nvSpPr>
            <p:spPr>
              <a:xfrm>
                <a:off x="2183" y="3008"/>
                <a:ext cx="71" cy="18"/>
              </a:xfrm>
              <a:custGeom>
                <a:avLst/>
                <a:gdLst>
                  <a:gd name="txL" fmla="*/ 0 w 71"/>
                  <a:gd name="txT" fmla="*/ 0 h 18"/>
                  <a:gd name="txR" fmla="*/ 71 w 71"/>
                  <a:gd name="txB" fmla="*/ 18 h 18"/>
                </a:gdLst>
                <a:ahLst/>
                <a:cxnLst>
                  <a:cxn ang="0">
                    <a:pos x="0" y="18"/>
                  </a:cxn>
                  <a:cxn ang="0">
                    <a:pos x="71" y="0"/>
                  </a:cxn>
                  <a:cxn ang="0">
                    <a:pos x="0" y="18"/>
                  </a:cxn>
                  <a:cxn ang="0">
                    <a:pos x="0" y="18"/>
                  </a:cxn>
                  <a:cxn ang="0">
                    <a:pos x="0" y="18"/>
                  </a:cxn>
                  <a:cxn ang="0">
                    <a:pos x="0" y="18"/>
                  </a:cxn>
                  <a:cxn ang="0">
                    <a:pos x="0" y="18"/>
                  </a:cxn>
                </a:cxnLst>
                <a:rect l="txL" t="txT" r="txR" b="txB"/>
                <a:pathLst>
                  <a:path w="71" h="18">
                    <a:moveTo>
                      <a:pt x="0" y="18"/>
                    </a:moveTo>
                    <a:lnTo>
                      <a:pt x="71" y="0"/>
                    </a:lnTo>
                    <a:lnTo>
                      <a:pt x="0" y="18"/>
                    </a:lnTo>
                    <a:close/>
                    <a:moveTo>
                      <a:pt x="0" y="18"/>
                    </a:moveTo>
                    <a:lnTo>
                      <a:pt x="0"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25" name="Freeform 107"/>
              <p:cNvSpPr>
                <a:spLocks noEditPoints="1"/>
              </p:cNvSpPr>
              <p:nvPr/>
            </p:nvSpPr>
            <p:spPr>
              <a:xfrm>
                <a:off x="2254" y="2984"/>
                <a:ext cx="66" cy="24"/>
              </a:xfrm>
              <a:custGeom>
                <a:avLst/>
                <a:gdLst>
                  <a:gd name="txL" fmla="*/ 0 w 66"/>
                  <a:gd name="txT" fmla="*/ 0 h 24"/>
                  <a:gd name="txR" fmla="*/ 66 w 66"/>
                  <a:gd name="txB" fmla="*/ 24 h 24"/>
                </a:gdLst>
                <a:ahLst/>
                <a:cxnLst>
                  <a:cxn ang="0">
                    <a:pos x="0" y="24"/>
                  </a:cxn>
                  <a:cxn ang="0">
                    <a:pos x="66" y="0"/>
                  </a:cxn>
                  <a:cxn ang="0">
                    <a:pos x="0" y="24"/>
                  </a:cxn>
                  <a:cxn ang="0">
                    <a:pos x="0" y="24"/>
                  </a:cxn>
                  <a:cxn ang="0">
                    <a:pos x="0" y="24"/>
                  </a:cxn>
                  <a:cxn ang="0">
                    <a:pos x="0" y="24"/>
                  </a:cxn>
                  <a:cxn ang="0">
                    <a:pos x="0" y="24"/>
                  </a:cxn>
                </a:cxnLst>
                <a:rect l="txL" t="txT" r="txR" b="txB"/>
                <a:pathLst>
                  <a:path w="66" h="24">
                    <a:moveTo>
                      <a:pt x="0" y="24"/>
                    </a:moveTo>
                    <a:lnTo>
                      <a:pt x="66"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26" name="Freeform 108"/>
              <p:cNvSpPr>
                <a:spLocks noEditPoints="1"/>
              </p:cNvSpPr>
              <p:nvPr/>
            </p:nvSpPr>
            <p:spPr>
              <a:xfrm>
                <a:off x="2249" y="2966"/>
                <a:ext cx="71" cy="18"/>
              </a:xfrm>
              <a:custGeom>
                <a:avLst/>
                <a:gdLst>
                  <a:gd name="txL" fmla="*/ 0 w 71"/>
                  <a:gd name="txT" fmla="*/ 0 h 18"/>
                  <a:gd name="txR" fmla="*/ 71 w 71"/>
                  <a:gd name="txB" fmla="*/ 18 h 18"/>
                </a:gdLst>
                <a:ahLst/>
                <a:cxnLst>
                  <a:cxn ang="0">
                    <a:pos x="71" y="18"/>
                  </a:cxn>
                  <a:cxn ang="0">
                    <a:pos x="0" y="0"/>
                  </a:cxn>
                  <a:cxn ang="0">
                    <a:pos x="71" y="18"/>
                  </a:cxn>
                  <a:cxn ang="0">
                    <a:pos x="71" y="18"/>
                  </a:cxn>
                  <a:cxn ang="0">
                    <a:pos x="71" y="18"/>
                  </a:cxn>
                  <a:cxn ang="0">
                    <a:pos x="71" y="18"/>
                  </a:cxn>
                  <a:cxn ang="0">
                    <a:pos x="71" y="18"/>
                  </a:cxn>
                </a:cxnLst>
                <a:rect l="txL" t="txT" r="txR" b="txB"/>
                <a:pathLst>
                  <a:path w="71" h="18">
                    <a:moveTo>
                      <a:pt x="71" y="18"/>
                    </a:moveTo>
                    <a:lnTo>
                      <a:pt x="0" y="0"/>
                    </a:lnTo>
                    <a:lnTo>
                      <a:pt x="71" y="18"/>
                    </a:lnTo>
                    <a:close/>
                    <a:moveTo>
                      <a:pt x="71" y="18"/>
                    </a:moveTo>
                    <a:lnTo>
                      <a:pt x="71"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27" name="Freeform 109"/>
              <p:cNvSpPr/>
              <p:nvPr/>
            </p:nvSpPr>
            <p:spPr>
              <a:xfrm>
                <a:off x="3493" y="2572"/>
                <a:ext cx="1" cy="1123"/>
              </a:xfrm>
              <a:custGeom>
                <a:avLst/>
                <a:gdLst>
                  <a:gd name="txL" fmla="*/ 0 w 1"/>
                  <a:gd name="txT" fmla="*/ 0 h 1123"/>
                  <a:gd name="txR" fmla="*/ 1 w 1"/>
                  <a:gd name="txB" fmla="*/ 1123 h 1123"/>
                </a:gdLst>
                <a:ahLst/>
                <a:cxnLst>
                  <a:cxn ang="0">
                    <a:pos x="0" y="0"/>
                  </a:cxn>
                  <a:cxn ang="0">
                    <a:pos x="0" y="1123"/>
                  </a:cxn>
                  <a:cxn ang="0">
                    <a:pos x="0" y="0"/>
                  </a:cxn>
                  <a:cxn ang="0">
                    <a:pos x="0" y="0"/>
                  </a:cxn>
                </a:cxnLst>
                <a:rect l="txL" t="txT" r="txR" b="txB"/>
                <a:pathLst>
                  <a:path w="1" h="1123">
                    <a:moveTo>
                      <a:pt x="0" y="0"/>
                    </a:moveTo>
                    <a:lnTo>
                      <a:pt x="0" y="1123"/>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28" name="Freeform 110"/>
              <p:cNvSpPr/>
              <p:nvPr/>
            </p:nvSpPr>
            <p:spPr>
              <a:xfrm>
                <a:off x="3463" y="2972"/>
                <a:ext cx="53" cy="323"/>
              </a:xfrm>
              <a:custGeom>
                <a:avLst/>
                <a:gdLst>
                  <a:gd name="txL" fmla="*/ 0 w 53"/>
                  <a:gd name="txT" fmla="*/ 0 h 323"/>
                  <a:gd name="txR" fmla="*/ 53 w 53"/>
                  <a:gd name="txB" fmla="*/ 323 h 323"/>
                </a:gdLst>
                <a:ahLst/>
                <a:cxnLst>
                  <a:cxn ang="0">
                    <a:pos x="0" y="0"/>
                  </a:cxn>
                  <a:cxn ang="0">
                    <a:pos x="53" y="0"/>
                  </a:cxn>
                  <a:cxn ang="0">
                    <a:pos x="53" y="323"/>
                  </a:cxn>
                  <a:cxn ang="0">
                    <a:pos x="0" y="323"/>
                  </a:cxn>
                  <a:cxn ang="0">
                    <a:pos x="0" y="0"/>
                  </a:cxn>
                  <a:cxn ang="0">
                    <a:pos x="0" y="0"/>
                  </a:cxn>
                </a:cxnLst>
                <a:rect l="txL" t="txT" r="txR" b="txB"/>
                <a:pathLst>
                  <a:path w="53" h="323">
                    <a:moveTo>
                      <a:pt x="0" y="0"/>
                    </a:moveTo>
                    <a:lnTo>
                      <a:pt x="53" y="0"/>
                    </a:lnTo>
                    <a:lnTo>
                      <a:pt x="53" y="323"/>
                    </a:lnTo>
                    <a:lnTo>
                      <a:pt x="0" y="323"/>
                    </a:lnTo>
                    <a:lnTo>
                      <a:pt x="0" y="0"/>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59429" name="Freeform 111"/>
              <p:cNvSpPr/>
              <p:nvPr/>
            </p:nvSpPr>
            <p:spPr>
              <a:xfrm>
                <a:off x="3421" y="3277"/>
                <a:ext cx="72" cy="24"/>
              </a:xfrm>
              <a:custGeom>
                <a:avLst/>
                <a:gdLst>
                  <a:gd name="txL" fmla="*/ 0 w 72"/>
                  <a:gd name="txT" fmla="*/ 0 h 24"/>
                  <a:gd name="txR" fmla="*/ 72 w 72"/>
                  <a:gd name="txB" fmla="*/ 24 h 24"/>
                </a:gdLst>
                <a:ahLst/>
                <a:cxnLst>
                  <a:cxn ang="0">
                    <a:pos x="72" y="24"/>
                  </a:cxn>
                  <a:cxn ang="0">
                    <a:pos x="0" y="0"/>
                  </a:cxn>
                  <a:cxn ang="0">
                    <a:pos x="72" y="24"/>
                  </a:cxn>
                  <a:cxn ang="0">
                    <a:pos x="72" y="24"/>
                  </a:cxn>
                </a:cxnLst>
                <a:rect l="txL" t="txT" r="txR" b="txB"/>
                <a:pathLst>
                  <a:path w="72" h="24">
                    <a:moveTo>
                      <a:pt x="72" y="24"/>
                    </a:moveTo>
                    <a:lnTo>
                      <a:pt x="0" y="0"/>
                    </a:lnTo>
                    <a:lnTo>
                      <a:pt x="7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30" name="Freeform 112"/>
              <p:cNvSpPr>
                <a:spLocks noEditPoints="1"/>
              </p:cNvSpPr>
              <p:nvPr/>
            </p:nvSpPr>
            <p:spPr>
              <a:xfrm>
                <a:off x="3421" y="3259"/>
                <a:ext cx="72" cy="18"/>
              </a:xfrm>
              <a:custGeom>
                <a:avLst/>
                <a:gdLst>
                  <a:gd name="txL" fmla="*/ 0 w 72"/>
                  <a:gd name="txT" fmla="*/ 0 h 18"/>
                  <a:gd name="txR" fmla="*/ 72 w 72"/>
                  <a:gd name="txB" fmla="*/ 18 h 18"/>
                </a:gdLst>
                <a:ahLst/>
                <a:cxnLst>
                  <a:cxn ang="0">
                    <a:pos x="0" y="18"/>
                  </a:cxn>
                  <a:cxn ang="0">
                    <a:pos x="72" y="0"/>
                  </a:cxn>
                  <a:cxn ang="0">
                    <a:pos x="0" y="18"/>
                  </a:cxn>
                  <a:cxn ang="0">
                    <a:pos x="0" y="18"/>
                  </a:cxn>
                  <a:cxn ang="0">
                    <a:pos x="0" y="18"/>
                  </a:cxn>
                  <a:cxn ang="0">
                    <a:pos x="0" y="18"/>
                  </a:cxn>
                  <a:cxn ang="0">
                    <a:pos x="0" y="18"/>
                  </a:cxn>
                </a:cxnLst>
                <a:rect l="txL" t="txT" r="txR" b="txB"/>
                <a:pathLst>
                  <a:path w="72" h="18">
                    <a:moveTo>
                      <a:pt x="0" y="18"/>
                    </a:moveTo>
                    <a:lnTo>
                      <a:pt x="72" y="0"/>
                    </a:lnTo>
                    <a:lnTo>
                      <a:pt x="0" y="18"/>
                    </a:lnTo>
                    <a:close/>
                    <a:moveTo>
                      <a:pt x="0" y="18"/>
                    </a:moveTo>
                    <a:lnTo>
                      <a:pt x="0"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31" name="Freeform 113"/>
              <p:cNvSpPr>
                <a:spLocks noEditPoints="1"/>
              </p:cNvSpPr>
              <p:nvPr/>
            </p:nvSpPr>
            <p:spPr>
              <a:xfrm>
                <a:off x="3493" y="3235"/>
                <a:ext cx="65" cy="24"/>
              </a:xfrm>
              <a:custGeom>
                <a:avLst/>
                <a:gdLst>
                  <a:gd name="txL" fmla="*/ 0 w 65"/>
                  <a:gd name="txT" fmla="*/ 0 h 24"/>
                  <a:gd name="txR" fmla="*/ 65 w 65"/>
                  <a:gd name="txB" fmla="*/ 24 h 24"/>
                </a:gdLst>
                <a:ahLst/>
                <a:cxnLst>
                  <a:cxn ang="0">
                    <a:pos x="0" y="24"/>
                  </a:cxn>
                  <a:cxn ang="0">
                    <a:pos x="65" y="0"/>
                  </a:cxn>
                  <a:cxn ang="0">
                    <a:pos x="0" y="24"/>
                  </a:cxn>
                  <a:cxn ang="0">
                    <a:pos x="0" y="24"/>
                  </a:cxn>
                  <a:cxn ang="0">
                    <a:pos x="0" y="24"/>
                  </a:cxn>
                  <a:cxn ang="0">
                    <a:pos x="0" y="24"/>
                  </a:cxn>
                  <a:cxn ang="0">
                    <a:pos x="0" y="24"/>
                  </a:cxn>
                </a:cxnLst>
                <a:rect l="txL" t="txT" r="txR" b="txB"/>
                <a:pathLst>
                  <a:path w="65" h="24">
                    <a:moveTo>
                      <a:pt x="0" y="24"/>
                    </a:moveTo>
                    <a:lnTo>
                      <a:pt x="65"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32" name="Freeform 114"/>
              <p:cNvSpPr>
                <a:spLocks noEditPoints="1"/>
              </p:cNvSpPr>
              <p:nvPr/>
            </p:nvSpPr>
            <p:spPr>
              <a:xfrm>
                <a:off x="3493" y="3217"/>
                <a:ext cx="65" cy="18"/>
              </a:xfrm>
              <a:custGeom>
                <a:avLst/>
                <a:gdLst>
                  <a:gd name="txL" fmla="*/ 0 w 65"/>
                  <a:gd name="txT" fmla="*/ 0 h 18"/>
                  <a:gd name="txR" fmla="*/ 65 w 65"/>
                  <a:gd name="txB" fmla="*/ 18 h 18"/>
                </a:gdLst>
                <a:ahLst/>
                <a:cxnLst>
                  <a:cxn ang="0">
                    <a:pos x="65" y="18"/>
                  </a:cxn>
                  <a:cxn ang="0">
                    <a:pos x="0" y="0"/>
                  </a:cxn>
                  <a:cxn ang="0">
                    <a:pos x="65" y="18"/>
                  </a:cxn>
                  <a:cxn ang="0">
                    <a:pos x="65" y="18"/>
                  </a:cxn>
                  <a:cxn ang="0">
                    <a:pos x="65" y="18"/>
                  </a:cxn>
                  <a:cxn ang="0">
                    <a:pos x="65" y="18"/>
                  </a:cxn>
                  <a:cxn ang="0">
                    <a:pos x="65" y="18"/>
                  </a:cxn>
                </a:cxnLst>
                <a:rect l="txL" t="txT" r="txR" b="txB"/>
                <a:pathLst>
                  <a:path w="65" h="18">
                    <a:moveTo>
                      <a:pt x="65" y="18"/>
                    </a:moveTo>
                    <a:lnTo>
                      <a:pt x="0" y="0"/>
                    </a:lnTo>
                    <a:lnTo>
                      <a:pt x="65" y="18"/>
                    </a:lnTo>
                    <a:close/>
                    <a:moveTo>
                      <a:pt x="65" y="18"/>
                    </a:moveTo>
                    <a:lnTo>
                      <a:pt x="65"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33" name="Freeform 115"/>
              <p:cNvSpPr>
                <a:spLocks noEditPoints="1"/>
              </p:cNvSpPr>
              <p:nvPr/>
            </p:nvSpPr>
            <p:spPr>
              <a:xfrm>
                <a:off x="3493" y="3217"/>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34" name="Freeform 116"/>
              <p:cNvSpPr>
                <a:spLocks noEditPoints="1"/>
              </p:cNvSpPr>
              <p:nvPr/>
            </p:nvSpPr>
            <p:spPr>
              <a:xfrm>
                <a:off x="3421" y="3193"/>
                <a:ext cx="72" cy="24"/>
              </a:xfrm>
              <a:custGeom>
                <a:avLst/>
                <a:gdLst>
                  <a:gd name="txL" fmla="*/ 0 w 72"/>
                  <a:gd name="txT" fmla="*/ 0 h 24"/>
                  <a:gd name="txR" fmla="*/ 72 w 72"/>
                  <a:gd name="txB" fmla="*/ 24 h 24"/>
                </a:gdLst>
                <a:ahLst/>
                <a:cxnLst>
                  <a:cxn ang="0">
                    <a:pos x="72" y="24"/>
                  </a:cxn>
                  <a:cxn ang="0">
                    <a:pos x="0" y="0"/>
                  </a:cxn>
                  <a:cxn ang="0">
                    <a:pos x="72" y="24"/>
                  </a:cxn>
                  <a:cxn ang="0">
                    <a:pos x="72" y="24"/>
                  </a:cxn>
                  <a:cxn ang="0">
                    <a:pos x="72" y="24"/>
                  </a:cxn>
                  <a:cxn ang="0">
                    <a:pos x="72" y="24"/>
                  </a:cxn>
                  <a:cxn ang="0">
                    <a:pos x="72" y="24"/>
                  </a:cxn>
                </a:cxnLst>
                <a:rect l="txL" t="txT" r="txR" b="txB"/>
                <a:pathLst>
                  <a:path w="72" h="24">
                    <a:moveTo>
                      <a:pt x="72" y="24"/>
                    </a:moveTo>
                    <a:lnTo>
                      <a:pt x="0" y="0"/>
                    </a:lnTo>
                    <a:lnTo>
                      <a:pt x="72" y="24"/>
                    </a:lnTo>
                    <a:close/>
                    <a:moveTo>
                      <a:pt x="72" y="24"/>
                    </a:moveTo>
                    <a:lnTo>
                      <a:pt x="7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35" name="Freeform 117"/>
              <p:cNvSpPr>
                <a:spLocks noEditPoints="1"/>
              </p:cNvSpPr>
              <p:nvPr/>
            </p:nvSpPr>
            <p:spPr>
              <a:xfrm>
                <a:off x="3421" y="3175"/>
                <a:ext cx="72" cy="18"/>
              </a:xfrm>
              <a:custGeom>
                <a:avLst/>
                <a:gdLst>
                  <a:gd name="txL" fmla="*/ 0 w 72"/>
                  <a:gd name="txT" fmla="*/ 0 h 18"/>
                  <a:gd name="txR" fmla="*/ 72 w 72"/>
                  <a:gd name="txB" fmla="*/ 18 h 18"/>
                </a:gdLst>
                <a:ahLst/>
                <a:cxnLst>
                  <a:cxn ang="0">
                    <a:pos x="0" y="18"/>
                  </a:cxn>
                  <a:cxn ang="0">
                    <a:pos x="72" y="0"/>
                  </a:cxn>
                  <a:cxn ang="0">
                    <a:pos x="0" y="18"/>
                  </a:cxn>
                  <a:cxn ang="0">
                    <a:pos x="0" y="18"/>
                  </a:cxn>
                  <a:cxn ang="0">
                    <a:pos x="0" y="18"/>
                  </a:cxn>
                  <a:cxn ang="0">
                    <a:pos x="0" y="18"/>
                  </a:cxn>
                  <a:cxn ang="0">
                    <a:pos x="0" y="18"/>
                  </a:cxn>
                </a:cxnLst>
                <a:rect l="txL" t="txT" r="txR" b="txB"/>
                <a:pathLst>
                  <a:path w="72" h="18">
                    <a:moveTo>
                      <a:pt x="0" y="18"/>
                    </a:moveTo>
                    <a:lnTo>
                      <a:pt x="72" y="0"/>
                    </a:lnTo>
                    <a:lnTo>
                      <a:pt x="0" y="18"/>
                    </a:lnTo>
                    <a:close/>
                    <a:moveTo>
                      <a:pt x="0" y="18"/>
                    </a:moveTo>
                    <a:lnTo>
                      <a:pt x="0"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36" name="Freeform 118"/>
              <p:cNvSpPr>
                <a:spLocks noEditPoints="1"/>
              </p:cNvSpPr>
              <p:nvPr/>
            </p:nvSpPr>
            <p:spPr>
              <a:xfrm>
                <a:off x="3493" y="3151"/>
                <a:ext cx="65" cy="24"/>
              </a:xfrm>
              <a:custGeom>
                <a:avLst/>
                <a:gdLst>
                  <a:gd name="txL" fmla="*/ 0 w 65"/>
                  <a:gd name="txT" fmla="*/ 0 h 24"/>
                  <a:gd name="txR" fmla="*/ 65 w 65"/>
                  <a:gd name="txB" fmla="*/ 24 h 24"/>
                </a:gdLst>
                <a:ahLst/>
                <a:cxnLst>
                  <a:cxn ang="0">
                    <a:pos x="0" y="24"/>
                  </a:cxn>
                  <a:cxn ang="0">
                    <a:pos x="65" y="0"/>
                  </a:cxn>
                  <a:cxn ang="0">
                    <a:pos x="0" y="24"/>
                  </a:cxn>
                  <a:cxn ang="0">
                    <a:pos x="0" y="24"/>
                  </a:cxn>
                  <a:cxn ang="0">
                    <a:pos x="0" y="24"/>
                  </a:cxn>
                  <a:cxn ang="0">
                    <a:pos x="0" y="24"/>
                  </a:cxn>
                  <a:cxn ang="0">
                    <a:pos x="0" y="24"/>
                  </a:cxn>
                </a:cxnLst>
                <a:rect l="txL" t="txT" r="txR" b="txB"/>
                <a:pathLst>
                  <a:path w="65" h="24">
                    <a:moveTo>
                      <a:pt x="0" y="24"/>
                    </a:moveTo>
                    <a:lnTo>
                      <a:pt x="65"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37" name="Freeform 119"/>
              <p:cNvSpPr>
                <a:spLocks noEditPoints="1"/>
              </p:cNvSpPr>
              <p:nvPr/>
            </p:nvSpPr>
            <p:spPr>
              <a:xfrm>
                <a:off x="3493" y="3133"/>
                <a:ext cx="65" cy="18"/>
              </a:xfrm>
              <a:custGeom>
                <a:avLst/>
                <a:gdLst>
                  <a:gd name="txL" fmla="*/ 0 w 65"/>
                  <a:gd name="txT" fmla="*/ 0 h 18"/>
                  <a:gd name="txR" fmla="*/ 65 w 65"/>
                  <a:gd name="txB" fmla="*/ 18 h 18"/>
                </a:gdLst>
                <a:ahLst/>
                <a:cxnLst>
                  <a:cxn ang="0">
                    <a:pos x="65" y="18"/>
                  </a:cxn>
                  <a:cxn ang="0">
                    <a:pos x="0" y="0"/>
                  </a:cxn>
                  <a:cxn ang="0">
                    <a:pos x="65" y="18"/>
                  </a:cxn>
                  <a:cxn ang="0">
                    <a:pos x="65" y="18"/>
                  </a:cxn>
                  <a:cxn ang="0">
                    <a:pos x="65" y="18"/>
                  </a:cxn>
                  <a:cxn ang="0">
                    <a:pos x="65" y="18"/>
                  </a:cxn>
                  <a:cxn ang="0">
                    <a:pos x="65" y="18"/>
                  </a:cxn>
                </a:cxnLst>
                <a:rect l="txL" t="txT" r="txR" b="txB"/>
                <a:pathLst>
                  <a:path w="65" h="18">
                    <a:moveTo>
                      <a:pt x="65" y="18"/>
                    </a:moveTo>
                    <a:lnTo>
                      <a:pt x="0" y="0"/>
                    </a:lnTo>
                    <a:lnTo>
                      <a:pt x="65" y="18"/>
                    </a:lnTo>
                    <a:close/>
                    <a:moveTo>
                      <a:pt x="65" y="18"/>
                    </a:moveTo>
                    <a:lnTo>
                      <a:pt x="65"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38" name="Freeform 120"/>
              <p:cNvSpPr>
                <a:spLocks noEditPoints="1"/>
              </p:cNvSpPr>
              <p:nvPr/>
            </p:nvSpPr>
            <p:spPr>
              <a:xfrm>
                <a:off x="3421" y="3109"/>
                <a:ext cx="72" cy="24"/>
              </a:xfrm>
              <a:custGeom>
                <a:avLst/>
                <a:gdLst>
                  <a:gd name="txL" fmla="*/ 0 w 72"/>
                  <a:gd name="txT" fmla="*/ 0 h 24"/>
                  <a:gd name="txR" fmla="*/ 72 w 72"/>
                  <a:gd name="txB" fmla="*/ 24 h 24"/>
                </a:gdLst>
                <a:ahLst/>
                <a:cxnLst>
                  <a:cxn ang="0">
                    <a:pos x="72" y="24"/>
                  </a:cxn>
                  <a:cxn ang="0">
                    <a:pos x="0" y="0"/>
                  </a:cxn>
                  <a:cxn ang="0">
                    <a:pos x="72" y="24"/>
                  </a:cxn>
                  <a:cxn ang="0">
                    <a:pos x="72" y="24"/>
                  </a:cxn>
                  <a:cxn ang="0">
                    <a:pos x="72" y="24"/>
                  </a:cxn>
                  <a:cxn ang="0">
                    <a:pos x="72" y="24"/>
                  </a:cxn>
                  <a:cxn ang="0">
                    <a:pos x="72" y="24"/>
                  </a:cxn>
                </a:cxnLst>
                <a:rect l="txL" t="txT" r="txR" b="txB"/>
                <a:pathLst>
                  <a:path w="72" h="24">
                    <a:moveTo>
                      <a:pt x="72" y="24"/>
                    </a:moveTo>
                    <a:lnTo>
                      <a:pt x="0" y="0"/>
                    </a:lnTo>
                    <a:lnTo>
                      <a:pt x="72" y="24"/>
                    </a:lnTo>
                    <a:close/>
                    <a:moveTo>
                      <a:pt x="72" y="24"/>
                    </a:moveTo>
                    <a:lnTo>
                      <a:pt x="7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39" name="Freeform 121"/>
              <p:cNvSpPr>
                <a:spLocks noEditPoints="1"/>
              </p:cNvSpPr>
              <p:nvPr/>
            </p:nvSpPr>
            <p:spPr>
              <a:xfrm>
                <a:off x="3421" y="3092"/>
                <a:ext cx="72" cy="17"/>
              </a:xfrm>
              <a:custGeom>
                <a:avLst/>
                <a:gdLst>
                  <a:gd name="txL" fmla="*/ 0 w 72"/>
                  <a:gd name="txT" fmla="*/ 0 h 17"/>
                  <a:gd name="txR" fmla="*/ 72 w 72"/>
                  <a:gd name="txB" fmla="*/ 17 h 17"/>
                </a:gdLst>
                <a:ahLst/>
                <a:cxnLst>
                  <a:cxn ang="0">
                    <a:pos x="0" y="17"/>
                  </a:cxn>
                  <a:cxn ang="0">
                    <a:pos x="72" y="0"/>
                  </a:cxn>
                  <a:cxn ang="0">
                    <a:pos x="0" y="17"/>
                  </a:cxn>
                  <a:cxn ang="0">
                    <a:pos x="0" y="17"/>
                  </a:cxn>
                  <a:cxn ang="0">
                    <a:pos x="0" y="17"/>
                  </a:cxn>
                  <a:cxn ang="0">
                    <a:pos x="0" y="17"/>
                  </a:cxn>
                  <a:cxn ang="0">
                    <a:pos x="0" y="17"/>
                  </a:cxn>
                </a:cxnLst>
                <a:rect l="txL" t="txT" r="txR" b="txB"/>
                <a:pathLst>
                  <a:path w="72" h="17">
                    <a:moveTo>
                      <a:pt x="0" y="17"/>
                    </a:moveTo>
                    <a:lnTo>
                      <a:pt x="72" y="0"/>
                    </a:lnTo>
                    <a:lnTo>
                      <a:pt x="0" y="17"/>
                    </a:lnTo>
                    <a:close/>
                    <a:moveTo>
                      <a:pt x="0" y="17"/>
                    </a:moveTo>
                    <a:lnTo>
                      <a:pt x="0" y="17"/>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40" name="Freeform 122"/>
              <p:cNvSpPr>
                <a:spLocks noEditPoints="1"/>
              </p:cNvSpPr>
              <p:nvPr/>
            </p:nvSpPr>
            <p:spPr>
              <a:xfrm>
                <a:off x="3493" y="3068"/>
                <a:ext cx="65" cy="24"/>
              </a:xfrm>
              <a:custGeom>
                <a:avLst/>
                <a:gdLst>
                  <a:gd name="txL" fmla="*/ 0 w 65"/>
                  <a:gd name="txT" fmla="*/ 0 h 24"/>
                  <a:gd name="txR" fmla="*/ 65 w 65"/>
                  <a:gd name="txB" fmla="*/ 24 h 24"/>
                </a:gdLst>
                <a:ahLst/>
                <a:cxnLst>
                  <a:cxn ang="0">
                    <a:pos x="0" y="24"/>
                  </a:cxn>
                  <a:cxn ang="0">
                    <a:pos x="65" y="0"/>
                  </a:cxn>
                  <a:cxn ang="0">
                    <a:pos x="0" y="24"/>
                  </a:cxn>
                  <a:cxn ang="0">
                    <a:pos x="0" y="24"/>
                  </a:cxn>
                  <a:cxn ang="0">
                    <a:pos x="0" y="24"/>
                  </a:cxn>
                  <a:cxn ang="0">
                    <a:pos x="0" y="24"/>
                  </a:cxn>
                  <a:cxn ang="0">
                    <a:pos x="0" y="24"/>
                  </a:cxn>
                </a:cxnLst>
                <a:rect l="txL" t="txT" r="txR" b="txB"/>
                <a:pathLst>
                  <a:path w="65" h="24">
                    <a:moveTo>
                      <a:pt x="0" y="24"/>
                    </a:moveTo>
                    <a:lnTo>
                      <a:pt x="65"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41" name="Freeform 123"/>
              <p:cNvSpPr>
                <a:spLocks noEditPoints="1"/>
              </p:cNvSpPr>
              <p:nvPr/>
            </p:nvSpPr>
            <p:spPr>
              <a:xfrm>
                <a:off x="3493" y="3050"/>
                <a:ext cx="65" cy="18"/>
              </a:xfrm>
              <a:custGeom>
                <a:avLst/>
                <a:gdLst>
                  <a:gd name="txL" fmla="*/ 0 w 65"/>
                  <a:gd name="txT" fmla="*/ 0 h 18"/>
                  <a:gd name="txR" fmla="*/ 65 w 65"/>
                  <a:gd name="txB" fmla="*/ 18 h 18"/>
                </a:gdLst>
                <a:ahLst/>
                <a:cxnLst>
                  <a:cxn ang="0">
                    <a:pos x="65" y="18"/>
                  </a:cxn>
                  <a:cxn ang="0">
                    <a:pos x="0" y="0"/>
                  </a:cxn>
                  <a:cxn ang="0">
                    <a:pos x="65" y="18"/>
                  </a:cxn>
                  <a:cxn ang="0">
                    <a:pos x="65" y="18"/>
                  </a:cxn>
                  <a:cxn ang="0">
                    <a:pos x="65" y="18"/>
                  </a:cxn>
                  <a:cxn ang="0">
                    <a:pos x="65" y="18"/>
                  </a:cxn>
                  <a:cxn ang="0">
                    <a:pos x="65" y="18"/>
                  </a:cxn>
                </a:cxnLst>
                <a:rect l="txL" t="txT" r="txR" b="txB"/>
                <a:pathLst>
                  <a:path w="65" h="18">
                    <a:moveTo>
                      <a:pt x="65" y="18"/>
                    </a:moveTo>
                    <a:lnTo>
                      <a:pt x="0" y="0"/>
                    </a:lnTo>
                    <a:lnTo>
                      <a:pt x="65" y="18"/>
                    </a:lnTo>
                    <a:close/>
                    <a:moveTo>
                      <a:pt x="65" y="18"/>
                    </a:moveTo>
                    <a:lnTo>
                      <a:pt x="65"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42" name="Freeform 124"/>
              <p:cNvSpPr>
                <a:spLocks noEditPoints="1"/>
              </p:cNvSpPr>
              <p:nvPr/>
            </p:nvSpPr>
            <p:spPr>
              <a:xfrm>
                <a:off x="3421" y="3026"/>
                <a:ext cx="72" cy="24"/>
              </a:xfrm>
              <a:custGeom>
                <a:avLst/>
                <a:gdLst>
                  <a:gd name="txL" fmla="*/ 0 w 72"/>
                  <a:gd name="txT" fmla="*/ 0 h 24"/>
                  <a:gd name="txR" fmla="*/ 72 w 72"/>
                  <a:gd name="txB" fmla="*/ 24 h 24"/>
                </a:gdLst>
                <a:ahLst/>
                <a:cxnLst>
                  <a:cxn ang="0">
                    <a:pos x="72" y="24"/>
                  </a:cxn>
                  <a:cxn ang="0">
                    <a:pos x="0" y="0"/>
                  </a:cxn>
                  <a:cxn ang="0">
                    <a:pos x="72" y="24"/>
                  </a:cxn>
                  <a:cxn ang="0">
                    <a:pos x="72" y="24"/>
                  </a:cxn>
                  <a:cxn ang="0">
                    <a:pos x="72" y="24"/>
                  </a:cxn>
                  <a:cxn ang="0">
                    <a:pos x="72" y="24"/>
                  </a:cxn>
                  <a:cxn ang="0">
                    <a:pos x="72" y="24"/>
                  </a:cxn>
                </a:cxnLst>
                <a:rect l="txL" t="txT" r="txR" b="txB"/>
                <a:pathLst>
                  <a:path w="72" h="24">
                    <a:moveTo>
                      <a:pt x="72" y="24"/>
                    </a:moveTo>
                    <a:lnTo>
                      <a:pt x="0" y="0"/>
                    </a:lnTo>
                    <a:lnTo>
                      <a:pt x="72" y="24"/>
                    </a:lnTo>
                    <a:close/>
                    <a:moveTo>
                      <a:pt x="72" y="24"/>
                    </a:moveTo>
                    <a:lnTo>
                      <a:pt x="7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43" name="Freeform 125"/>
              <p:cNvSpPr>
                <a:spLocks noEditPoints="1"/>
              </p:cNvSpPr>
              <p:nvPr/>
            </p:nvSpPr>
            <p:spPr>
              <a:xfrm>
                <a:off x="3421" y="3008"/>
                <a:ext cx="72" cy="18"/>
              </a:xfrm>
              <a:custGeom>
                <a:avLst/>
                <a:gdLst>
                  <a:gd name="txL" fmla="*/ 0 w 72"/>
                  <a:gd name="txT" fmla="*/ 0 h 18"/>
                  <a:gd name="txR" fmla="*/ 72 w 72"/>
                  <a:gd name="txB" fmla="*/ 18 h 18"/>
                </a:gdLst>
                <a:ahLst/>
                <a:cxnLst>
                  <a:cxn ang="0">
                    <a:pos x="0" y="18"/>
                  </a:cxn>
                  <a:cxn ang="0">
                    <a:pos x="72" y="0"/>
                  </a:cxn>
                  <a:cxn ang="0">
                    <a:pos x="0" y="18"/>
                  </a:cxn>
                  <a:cxn ang="0">
                    <a:pos x="0" y="18"/>
                  </a:cxn>
                  <a:cxn ang="0">
                    <a:pos x="0" y="18"/>
                  </a:cxn>
                  <a:cxn ang="0">
                    <a:pos x="0" y="18"/>
                  </a:cxn>
                  <a:cxn ang="0">
                    <a:pos x="0" y="18"/>
                  </a:cxn>
                </a:cxnLst>
                <a:rect l="txL" t="txT" r="txR" b="txB"/>
                <a:pathLst>
                  <a:path w="72" h="18">
                    <a:moveTo>
                      <a:pt x="0" y="18"/>
                    </a:moveTo>
                    <a:lnTo>
                      <a:pt x="72" y="0"/>
                    </a:lnTo>
                    <a:lnTo>
                      <a:pt x="0" y="18"/>
                    </a:lnTo>
                    <a:close/>
                    <a:moveTo>
                      <a:pt x="0" y="18"/>
                    </a:moveTo>
                    <a:lnTo>
                      <a:pt x="0"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44" name="Freeform 126"/>
              <p:cNvSpPr>
                <a:spLocks noEditPoints="1"/>
              </p:cNvSpPr>
              <p:nvPr/>
            </p:nvSpPr>
            <p:spPr>
              <a:xfrm>
                <a:off x="3493" y="2984"/>
                <a:ext cx="65" cy="24"/>
              </a:xfrm>
              <a:custGeom>
                <a:avLst/>
                <a:gdLst>
                  <a:gd name="txL" fmla="*/ 0 w 65"/>
                  <a:gd name="txT" fmla="*/ 0 h 24"/>
                  <a:gd name="txR" fmla="*/ 65 w 65"/>
                  <a:gd name="txB" fmla="*/ 24 h 24"/>
                </a:gdLst>
                <a:ahLst/>
                <a:cxnLst>
                  <a:cxn ang="0">
                    <a:pos x="0" y="24"/>
                  </a:cxn>
                  <a:cxn ang="0">
                    <a:pos x="65" y="0"/>
                  </a:cxn>
                  <a:cxn ang="0">
                    <a:pos x="0" y="24"/>
                  </a:cxn>
                  <a:cxn ang="0">
                    <a:pos x="0" y="24"/>
                  </a:cxn>
                  <a:cxn ang="0">
                    <a:pos x="0" y="24"/>
                  </a:cxn>
                  <a:cxn ang="0">
                    <a:pos x="0" y="24"/>
                  </a:cxn>
                  <a:cxn ang="0">
                    <a:pos x="0" y="24"/>
                  </a:cxn>
                </a:cxnLst>
                <a:rect l="txL" t="txT" r="txR" b="txB"/>
                <a:pathLst>
                  <a:path w="65" h="24">
                    <a:moveTo>
                      <a:pt x="0" y="24"/>
                    </a:moveTo>
                    <a:lnTo>
                      <a:pt x="65"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45" name="Freeform 127"/>
              <p:cNvSpPr>
                <a:spLocks noEditPoints="1"/>
              </p:cNvSpPr>
              <p:nvPr/>
            </p:nvSpPr>
            <p:spPr>
              <a:xfrm>
                <a:off x="3487" y="2966"/>
                <a:ext cx="71" cy="18"/>
              </a:xfrm>
              <a:custGeom>
                <a:avLst/>
                <a:gdLst>
                  <a:gd name="txL" fmla="*/ 0 w 71"/>
                  <a:gd name="txT" fmla="*/ 0 h 18"/>
                  <a:gd name="txR" fmla="*/ 71 w 71"/>
                  <a:gd name="txB" fmla="*/ 18 h 18"/>
                </a:gdLst>
                <a:ahLst/>
                <a:cxnLst>
                  <a:cxn ang="0">
                    <a:pos x="71" y="18"/>
                  </a:cxn>
                  <a:cxn ang="0">
                    <a:pos x="0" y="0"/>
                  </a:cxn>
                  <a:cxn ang="0">
                    <a:pos x="71" y="18"/>
                  </a:cxn>
                  <a:cxn ang="0">
                    <a:pos x="71" y="18"/>
                  </a:cxn>
                  <a:cxn ang="0">
                    <a:pos x="71" y="18"/>
                  </a:cxn>
                  <a:cxn ang="0">
                    <a:pos x="71" y="18"/>
                  </a:cxn>
                  <a:cxn ang="0">
                    <a:pos x="71" y="18"/>
                  </a:cxn>
                </a:cxnLst>
                <a:rect l="txL" t="txT" r="txR" b="txB"/>
                <a:pathLst>
                  <a:path w="71" h="18">
                    <a:moveTo>
                      <a:pt x="71" y="18"/>
                    </a:moveTo>
                    <a:lnTo>
                      <a:pt x="0" y="0"/>
                    </a:lnTo>
                    <a:lnTo>
                      <a:pt x="71" y="18"/>
                    </a:lnTo>
                    <a:close/>
                    <a:moveTo>
                      <a:pt x="71" y="18"/>
                    </a:moveTo>
                    <a:lnTo>
                      <a:pt x="71"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46" name="Freeform 128"/>
              <p:cNvSpPr/>
              <p:nvPr/>
            </p:nvSpPr>
            <p:spPr>
              <a:xfrm>
                <a:off x="1489" y="2512"/>
                <a:ext cx="66" cy="108"/>
              </a:xfrm>
              <a:custGeom>
                <a:avLst/>
                <a:gdLst>
                  <a:gd name="txL" fmla="*/ 0 w 66"/>
                  <a:gd name="txT" fmla="*/ 0 h 108"/>
                  <a:gd name="txR" fmla="*/ 66 w 66"/>
                  <a:gd name="txB" fmla="*/ 108 h 108"/>
                </a:gdLst>
                <a:ahLst/>
                <a:cxnLst>
                  <a:cxn ang="0">
                    <a:pos x="6" y="108"/>
                  </a:cxn>
                  <a:cxn ang="0">
                    <a:pos x="66" y="108"/>
                  </a:cxn>
                  <a:cxn ang="0">
                    <a:pos x="66" y="108"/>
                  </a:cxn>
                  <a:cxn ang="0">
                    <a:pos x="48" y="102"/>
                  </a:cxn>
                  <a:cxn ang="0">
                    <a:pos x="42" y="96"/>
                  </a:cxn>
                  <a:cxn ang="0">
                    <a:pos x="42" y="0"/>
                  </a:cxn>
                  <a:cxn ang="0">
                    <a:pos x="42" y="0"/>
                  </a:cxn>
                  <a:cxn ang="0">
                    <a:pos x="0" y="12"/>
                  </a:cxn>
                  <a:cxn ang="0">
                    <a:pos x="0" y="18"/>
                  </a:cxn>
                  <a:cxn ang="0">
                    <a:pos x="12" y="12"/>
                  </a:cxn>
                  <a:cxn ang="0">
                    <a:pos x="18" y="12"/>
                  </a:cxn>
                  <a:cxn ang="0">
                    <a:pos x="24" y="18"/>
                  </a:cxn>
                  <a:cxn ang="0">
                    <a:pos x="24" y="18"/>
                  </a:cxn>
                  <a:cxn ang="0">
                    <a:pos x="24" y="96"/>
                  </a:cxn>
                  <a:cxn ang="0">
                    <a:pos x="18" y="108"/>
                  </a:cxn>
                  <a:cxn ang="0">
                    <a:pos x="6" y="108"/>
                  </a:cxn>
                  <a:cxn ang="0">
                    <a:pos x="6" y="108"/>
                  </a:cxn>
                </a:cxnLst>
                <a:rect l="txL" t="txT" r="txR" b="txB"/>
                <a:pathLst>
                  <a:path w="66" h="108">
                    <a:moveTo>
                      <a:pt x="6" y="108"/>
                    </a:moveTo>
                    <a:lnTo>
                      <a:pt x="66" y="108"/>
                    </a:lnTo>
                    <a:lnTo>
                      <a:pt x="48" y="102"/>
                    </a:lnTo>
                    <a:lnTo>
                      <a:pt x="42" y="96"/>
                    </a:lnTo>
                    <a:lnTo>
                      <a:pt x="42" y="0"/>
                    </a:lnTo>
                    <a:lnTo>
                      <a:pt x="0" y="12"/>
                    </a:lnTo>
                    <a:lnTo>
                      <a:pt x="0" y="18"/>
                    </a:lnTo>
                    <a:lnTo>
                      <a:pt x="12" y="12"/>
                    </a:lnTo>
                    <a:lnTo>
                      <a:pt x="18" y="12"/>
                    </a:lnTo>
                    <a:lnTo>
                      <a:pt x="24" y="18"/>
                    </a:lnTo>
                    <a:lnTo>
                      <a:pt x="24" y="96"/>
                    </a:lnTo>
                    <a:lnTo>
                      <a:pt x="18" y="108"/>
                    </a:lnTo>
                    <a:lnTo>
                      <a:pt x="6" y="10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47" name="Freeform 129"/>
              <p:cNvSpPr/>
              <p:nvPr/>
            </p:nvSpPr>
            <p:spPr>
              <a:xfrm>
                <a:off x="4180" y="2512"/>
                <a:ext cx="84" cy="108"/>
              </a:xfrm>
              <a:custGeom>
                <a:avLst/>
                <a:gdLst>
                  <a:gd name="txL" fmla="*/ 0 w 84"/>
                  <a:gd name="txT" fmla="*/ 0 h 108"/>
                  <a:gd name="txR" fmla="*/ 84 w 84"/>
                  <a:gd name="txB" fmla="*/ 108 h 108"/>
                </a:gdLst>
                <a:ahLst/>
                <a:cxnLst>
                  <a:cxn ang="0">
                    <a:pos x="24" y="54"/>
                  </a:cxn>
                  <a:cxn ang="0">
                    <a:pos x="42" y="54"/>
                  </a:cxn>
                  <a:cxn ang="0">
                    <a:pos x="54" y="60"/>
                  </a:cxn>
                  <a:cxn ang="0">
                    <a:pos x="66" y="72"/>
                  </a:cxn>
                  <a:cxn ang="0">
                    <a:pos x="72" y="78"/>
                  </a:cxn>
                  <a:cxn ang="0">
                    <a:pos x="66" y="96"/>
                  </a:cxn>
                  <a:cxn ang="0">
                    <a:pos x="36" y="102"/>
                  </a:cxn>
                  <a:cxn ang="0">
                    <a:pos x="24" y="102"/>
                  </a:cxn>
                  <a:cxn ang="0">
                    <a:pos x="6" y="96"/>
                  </a:cxn>
                  <a:cxn ang="0">
                    <a:pos x="0" y="96"/>
                  </a:cxn>
                  <a:cxn ang="0">
                    <a:pos x="0" y="102"/>
                  </a:cxn>
                  <a:cxn ang="0">
                    <a:pos x="6" y="108"/>
                  </a:cxn>
                  <a:cxn ang="0">
                    <a:pos x="12" y="108"/>
                  </a:cxn>
                  <a:cxn ang="0">
                    <a:pos x="24" y="108"/>
                  </a:cxn>
                  <a:cxn ang="0">
                    <a:pos x="48" y="108"/>
                  </a:cxn>
                  <a:cxn ang="0">
                    <a:pos x="66" y="102"/>
                  </a:cxn>
                  <a:cxn ang="0">
                    <a:pos x="78" y="90"/>
                  </a:cxn>
                  <a:cxn ang="0">
                    <a:pos x="84" y="72"/>
                  </a:cxn>
                  <a:cxn ang="0">
                    <a:pos x="84" y="60"/>
                  </a:cxn>
                  <a:cxn ang="0">
                    <a:pos x="72" y="54"/>
                  </a:cxn>
                  <a:cxn ang="0">
                    <a:pos x="54" y="42"/>
                  </a:cxn>
                  <a:cxn ang="0">
                    <a:pos x="72" y="30"/>
                  </a:cxn>
                  <a:cxn ang="0">
                    <a:pos x="78" y="18"/>
                  </a:cxn>
                  <a:cxn ang="0">
                    <a:pos x="72" y="6"/>
                  </a:cxn>
                  <a:cxn ang="0">
                    <a:pos x="60" y="0"/>
                  </a:cxn>
                  <a:cxn ang="0">
                    <a:pos x="42" y="0"/>
                  </a:cxn>
                  <a:cxn ang="0">
                    <a:pos x="18" y="6"/>
                  </a:cxn>
                  <a:cxn ang="0">
                    <a:pos x="6" y="12"/>
                  </a:cxn>
                  <a:cxn ang="0">
                    <a:pos x="0" y="24"/>
                  </a:cxn>
                  <a:cxn ang="0">
                    <a:pos x="0" y="24"/>
                  </a:cxn>
                  <a:cxn ang="0">
                    <a:pos x="12" y="12"/>
                  </a:cxn>
                  <a:cxn ang="0">
                    <a:pos x="24" y="6"/>
                  </a:cxn>
                  <a:cxn ang="0">
                    <a:pos x="36" y="6"/>
                  </a:cxn>
                  <a:cxn ang="0">
                    <a:pos x="54" y="12"/>
                  </a:cxn>
                  <a:cxn ang="0">
                    <a:pos x="60" y="24"/>
                  </a:cxn>
                  <a:cxn ang="0">
                    <a:pos x="60" y="36"/>
                  </a:cxn>
                  <a:cxn ang="0">
                    <a:pos x="48" y="42"/>
                  </a:cxn>
                  <a:cxn ang="0">
                    <a:pos x="24" y="54"/>
                  </a:cxn>
                  <a:cxn ang="0">
                    <a:pos x="24" y="54"/>
                  </a:cxn>
                </a:cxnLst>
                <a:rect l="txL" t="txT" r="txR" b="txB"/>
                <a:pathLst>
                  <a:path w="84" h="108">
                    <a:moveTo>
                      <a:pt x="24" y="54"/>
                    </a:moveTo>
                    <a:lnTo>
                      <a:pt x="42" y="54"/>
                    </a:lnTo>
                    <a:lnTo>
                      <a:pt x="54" y="60"/>
                    </a:lnTo>
                    <a:lnTo>
                      <a:pt x="66" y="72"/>
                    </a:lnTo>
                    <a:lnTo>
                      <a:pt x="72" y="78"/>
                    </a:lnTo>
                    <a:lnTo>
                      <a:pt x="66" y="96"/>
                    </a:lnTo>
                    <a:lnTo>
                      <a:pt x="36" y="102"/>
                    </a:lnTo>
                    <a:lnTo>
                      <a:pt x="24" y="102"/>
                    </a:lnTo>
                    <a:lnTo>
                      <a:pt x="6" y="96"/>
                    </a:lnTo>
                    <a:lnTo>
                      <a:pt x="0" y="96"/>
                    </a:lnTo>
                    <a:lnTo>
                      <a:pt x="0" y="102"/>
                    </a:lnTo>
                    <a:lnTo>
                      <a:pt x="6" y="108"/>
                    </a:lnTo>
                    <a:lnTo>
                      <a:pt x="12" y="108"/>
                    </a:lnTo>
                    <a:lnTo>
                      <a:pt x="24" y="108"/>
                    </a:lnTo>
                    <a:lnTo>
                      <a:pt x="48" y="108"/>
                    </a:lnTo>
                    <a:lnTo>
                      <a:pt x="66" y="102"/>
                    </a:lnTo>
                    <a:lnTo>
                      <a:pt x="78" y="90"/>
                    </a:lnTo>
                    <a:lnTo>
                      <a:pt x="84" y="72"/>
                    </a:lnTo>
                    <a:lnTo>
                      <a:pt x="84" y="60"/>
                    </a:lnTo>
                    <a:lnTo>
                      <a:pt x="72" y="54"/>
                    </a:lnTo>
                    <a:lnTo>
                      <a:pt x="54" y="42"/>
                    </a:lnTo>
                    <a:lnTo>
                      <a:pt x="72" y="30"/>
                    </a:lnTo>
                    <a:lnTo>
                      <a:pt x="78" y="18"/>
                    </a:lnTo>
                    <a:lnTo>
                      <a:pt x="72" y="6"/>
                    </a:lnTo>
                    <a:lnTo>
                      <a:pt x="60" y="0"/>
                    </a:lnTo>
                    <a:lnTo>
                      <a:pt x="42" y="0"/>
                    </a:lnTo>
                    <a:lnTo>
                      <a:pt x="18" y="6"/>
                    </a:lnTo>
                    <a:lnTo>
                      <a:pt x="6" y="12"/>
                    </a:lnTo>
                    <a:lnTo>
                      <a:pt x="0" y="24"/>
                    </a:lnTo>
                    <a:lnTo>
                      <a:pt x="12" y="12"/>
                    </a:lnTo>
                    <a:lnTo>
                      <a:pt x="24" y="6"/>
                    </a:lnTo>
                    <a:lnTo>
                      <a:pt x="36" y="6"/>
                    </a:lnTo>
                    <a:lnTo>
                      <a:pt x="54" y="12"/>
                    </a:lnTo>
                    <a:lnTo>
                      <a:pt x="60" y="24"/>
                    </a:lnTo>
                    <a:lnTo>
                      <a:pt x="60" y="36"/>
                    </a:lnTo>
                    <a:lnTo>
                      <a:pt x="48" y="42"/>
                    </a:lnTo>
                    <a:lnTo>
                      <a:pt x="24" y="5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48" name="Freeform 130"/>
              <p:cNvSpPr/>
              <p:nvPr/>
            </p:nvSpPr>
            <p:spPr>
              <a:xfrm>
                <a:off x="1471" y="3629"/>
                <a:ext cx="102" cy="107"/>
              </a:xfrm>
              <a:custGeom>
                <a:avLst/>
                <a:gdLst>
                  <a:gd name="txL" fmla="*/ 0 w 102"/>
                  <a:gd name="txT" fmla="*/ 0 h 107"/>
                  <a:gd name="txR" fmla="*/ 102 w 102"/>
                  <a:gd name="txB" fmla="*/ 107 h 107"/>
                </a:gdLst>
                <a:ahLst/>
                <a:cxnLst>
                  <a:cxn ang="0">
                    <a:pos x="102" y="90"/>
                  </a:cxn>
                  <a:cxn ang="0">
                    <a:pos x="96" y="90"/>
                  </a:cxn>
                  <a:cxn ang="0">
                    <a:pos x="84" y="96"/>
                  </a:cxn>
                  <a:cxn ang="0">
                    <a:pos x="72" y="96"/>
                  </a:cxn>
                  <a:cxn ang="0">
                    <a:pos x="18" y="96"/>
                  </a:cxn>
                  <a:cxn ang="0">
                    <a:pos x="60" y="72"/>
                  </a:cxn>
                  <a:cxn ang="0">
                    <a:pos x="66" y="66"/>
                  </a:cxn>
                  <a:cxn ang="0">
                    <a:pos x="78" y="54"/>
                  </a:cxn>
                  <a:cxn ang="0">
                    <a:pos x="84" y="42"/>
                  </a:cxn>
                  <a:cxn ang="0">
                    <a:pos x="90" y="30"/>
                  </a:cxn>
                  <a:cxn ang="0">
                    <a:pos x="84" y="18"/>
                  </a:cxn>
                  <a:cxn ang="0">
                    <a:pos x="78" y="6"/>
                  </a:cxn>
                  <a:cxn ang="0">
                    <a:pos x="48" y="0"/>
                  </a:cxn>
                  <a:cxn ang="0">
                    <a:pos x="18" y="6"/>
                  </a:cxn>
                  <a:cxn ang="0">
                    <a:pos x="6" y="18"/>
                  </a:cxn>
                  <a:cxn ang="0">
                    <a:pos x="0" y="36"/>
                  </a:cxn>
                  <a:cxn ang="0">
                    <a:pos x="0" y="36"/>
                  </a:cxn>
                  <a:cxn ang="0">
                    <a:pos x="12" y="18"/>
                  </a:cxn>
                  <a:cxn ang="0">
                    <a:pos x="24" y="12"/>
                  </a:cxn>
                  <a:cxn ang="0">
                    <a:pos x="36" y="12"/>
                  </a:cxn>
                  <a:cxn ang="0">
                    <a:pos x="54" y="18"/>
                  </a:cxn>
                  <a:cxn ang="0">
                    <a:pos x="60" y="24"/>
                  </a:cxn>
                  <a:cxn ang="0">
                    <a:pos x="66" y="36"/>
                  </a:cxn>
                  <a:cxn ang="0">
                    <a:pos x="60" y="54"/>
                  </a:cxn>
                  <a:cxn ang="0">
                    <a:pos x="54" y="66"/>
                  </a:cxn>
                  <a:cxn ang="0">
                    <a:pos x="36" y="78"/>
                  </a:cxn>
                  <a:cxn ang="0">
                    <a:pos x="0" y="107"/>
                  </a:cxn>
                  <a:cxn ang="0">
                    <a:pos x="0" y="107"/>
                  </a:cxn>
                  <a:cxn ang="0">
                    <a:pos x="84" y="107"/>
                  </a:cxn>
                  <a:cxn ang="0">
                    <a:pos x="102" y="90"/>
                  </a:cxn>
                </a:cxnLst>
                <a:rect l="txL" t="txT" r="txR" b="txB"/>
                <a:pathLst>
                  <a:path w="102" h="107">
                    <a:moveTo>
                      <a:pt x="102" y="90"/>
                    </a:moveTo>
                    <a:lnTo>
                      <a:pt x="96" y="90"/>
                    </a:lnTo>
                    <a:lnTo>
                      <a:pt x="84" y="96"/>
                    </a:lnTo>
                    <a:lnTo>
                      <a:pt x="72" y="96"/>
                    </a:lnTo>
                    <a:lnTo>
                      <a:pt x="18" y="96"/>
                    </a:lnTo>
                    <a:lnTo>
                      <a:pt x="60" y="72"/>
                    </a:lnTo>
                    <a:lnTo>
                      <a:pt x="66" y="66"/>
                    </a:lnTo>
                    <a:lnTo>
                      <a:pt x="78" y="54"/>
                    </a:lnTo>
                    <a:lnTo>
                      <a:pt x="84" y="42"/>
                    </a:lnTo>
                    <a:lnTo>
                      <a:pt x="90" y="30"/>
                    </a:lnTo>
                    <a:lnTo>
                      <a:pt x="84" y="18"/>
                    </a:lnTo>
                    <a:lnTo>
                      <a:pt x="78" y="6"/>
                    </a:lnTo>
                    <a:lnTo>
                      <a:pt x="48" y="0"/>
                    </a:lnTo>
                    <a:lnTo>
                      <a:pt x="18" y="6"/>
                    </a:lnTo>
                    <a:lnTo>
                      <a:pt x="6" y="18"/>
                    </a:lnTo>
                    <a:lnTo>
                      <a:pt x="0" y="36"/>
                    </a:lnTo>
                    <a:lnTo>
                      <a:pt x="12" y="18"/>
                    </a:lnTo>
                    <a:lnTo>
                      <a:pt x="24" y="12"/>
                    </a:lnTo>
                    <a:lnTo>
                      <a:pt x="36" y="12"/>
                    </a:lnTo>
                    <a:lnTo>
                      <a:pt x="54" y="18"/>
                    </a:lnTo>
                    <a:lnTo>
                      <a:pt x="60" y="24"/>
                    </a:lnTo>
                    <a:lnTo>
                      <a:pt x="66" y="36"/>
                    </a:lnTo>
                    <a:lnTo>
                      <a:pt x="60" y="54"/>
                    </a:lnTo>
                    <a:lnTo>
                      <a:pt x="54" y="66"/>
                    </a:lnTo>
                    <a:lnTo>
                      <a:pt x="36" y="78"/>
                    </a:lnTo>
                    <a:lnTo>
                      <a:pt x="0" y="107"/>
                    </a:lnTo>
                    <a:lnTo>
                      <a:pt x="84" y="107"/>
                    </a:lnTo>
                    <a:lnTo>
                      <a:pt x="102" y="9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49" name="Freeform 131"/>
              <p:cNvSpPr>
                <a:spLocks noEditPoints="1"/>
              </p:cNvSpPr>
              <p:nvPr/>
            </p:nvSpPr>
            <p:spPr>
              <a:xfrm>
                <a:off x="4174" y="3629"/>
                <a:ext cx="108" cy="113"/>
              </a:xfrm>
              <a:custGeom>
                <a:avLst/>
                <a:gdLst>
                  <a:gd name="txL" fmla="*/ 0 w 108"/>
                  <a:gd name="txT" fmla="*/ 0 h 113"/>
                  <a:gd name="txR" fmla="*/ 108 w 108"/>
                  <a:gd name="txB" fmla="*/ 113 h 113"/>
                </a:gdLst>
                <a:ahLst/>
                <a:cxnLst>
                  <a:cxn ang="0">
                    <a:pos x="108" y="72"/>
                  </a:cxn>
                  <a:cxn ang="0">
                    <a:pos x="84" y="72"/>
                  </a:cxn>
                  <a:cxn ang="0">
                    <a:pos x="84" y="0"/>
                  </a:cxn>
                  <a:cxn ang="0">
                    <a:pos x="72" y="0"/>
                  </a:cxn>
                  <a:cxn ang="0">
                    <a:pos x="0" y="72"/>
                  </a:cxn>
                  <a:cxn ang="0">
                    <a:pos x="0" y="84"/>
                  </a:cxn>
                  <a:cxn ang="0">
                    <a:pos x="66" y="84"/>
                  </a:cxn>
                  <a:cxn ang="0">
                    <a:pos x="66" y="113"/>
                  </a:cxn>
                  <a:cxn ang="0">
                    <a:pos x="84" y="113"/>
                  </a:cxn>
                  <a:cxn ang="0">
                    <a:pos x="84" y="84"/>
                  </a:cxn>
                  <a:cxn ang="0">
                    <a:pos x="108" y="84"/>
                  </a:cxn>
                  <a:cxn ang="0">
                    <a:pos x="108" y="72"/>
                  </a:cxn>
                  <a:cxn ang="0">
                    <a:pos x="66" y="72"/>
                  </a:cxn>
                  <a:cxn ang="0">
                    <a:pos x="12" y="72"/>
                  </a:cxn>
                  <a:cxn ang="0">
                    <a:pos x="66" y="18"/>
                  </a:cxn>
                  <a:cxn ang="0">
                    <a:pos x="66" y="18"/>
                  </a:cxn>
                  <a:cxn ang="0">
                    <a:pos x="66" y="72"/>
                  </a:cxn>
                </a:cxnLst>
                <a:rect l="txL" t="txT" r="txR" b="txB"/>
                <a:pathLst>
                  <a:path w="108" h="113">
                    <a:moveTo>
                      <a:pt x="108" y="72"/>
                    </a:moveTo>
                    <a:lnTo>
                      <a:pt x="84" y="72"/>
                    </a:lnTo>
                    <a:lnTo>
                      <a:pt x="84" y="0"/>
                    </a:lnTo>
                    <a:lnTo>
                      <a:pt x="72" y="0"/>
                    </a:lnTo>
                    <a:lnTo>
                      <a:pt x="0" y="72"/>
                    </a:lnTo>
                    <a:lnTo>
                      <a:pt x="0" y="84"/>
                    </a:lnTo>
                    <a:lnTo>
                      <a:pt x="66" y="84"/>
                    </a:lnTo>
                    <a:lnTo>
                      <a:pt x="66" y="113"/>
                    </a:lnTo>
                    <a:lnTo>
                      <a:pt x="84" y="113"/>
                    </a:lnTo>
                    <a:lnTo>
                      <a:pt x="84" y="84"/>
                    </a:lnTo>
                    <a:lnTo>
                      <a:pt x="108" y="84"/>
                    </a:lnTo>
                    <a:lnTo>
                      <a:pt x="108" y="72"/>
                    </a:lnTo>
                    <a:close/>
                    <a:moveTo>
                      <a:pt x="66" y="72"/>
                    </a:moveTo>
                    <a:lnTo>
                      <a:pt x="12" y="72"/>
                    </a:lnTo>
                    <a:lnTo>
                      <a:pt x="66" y="18"/>
                    </a:lnTo>
                    <a:lnTo>
                      <a:pt x="66" y="7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50" name="Freeform 132"/>
              <p:cNvSpPr/>
              <p:nvPr/>
            </p:nvSpPr>
            <p:spPr>
              <a:xfrm>
                <a:off x="2745" y="3898"/>
                <a:ext cx="60" cy="137"/>
              </a:xfrm>
              <a:custGeom>
                <a:avLst/>
                <a:gdLst>
                  <a:gd name="txL" fmla="*/ 0 w 60"/>
                  <a:gd name="txT" fmla="*/ 0 h 137"/>
                  <a:gd name="txR" fmla="*/ 60 w 60"/>
                  <a:gd name="txB" fmla="*/ 137 h 137"/>
                </a:gdLst>
                <a:ahLst/>
                <a:cxnLst>
                  <a:cxn ang="0">
                    <a:pos x="60" y="0"/>
                  </a:cxn>
                  <a:cxn ang="0">
                    <a:pos x="36" y="12"/>
                  </a:cxn>
                  <a:cxn ang="0">
                    <a:pos x="18" y="24"/>
                  </a:cxn>
                  <a:cxn ang="0">
                    <a:pos x="6" y="42"/>
                  </a:cxn>
                  <a:cxn ang="0">
                    <a:pos x="0" y="65"/>
                  </a:cxn>
                  <a:cxn ang="0">
                    <a:pos x="6" y="95"/>
                  </a:cxn>
                  <a:cxn ang="0">
                    <a:pos x="18" y="113"/>
                  </a:cxn>
                  <a:cxn ang="0">
                    <a:pos x="36" y="125"/>
                  </a:cxn>
                  <a:cxn ang="0">
                    <a:pos x="54" y="137"/>
                  </a:cxn>
                  <a:cxn ang="0">
                    <a:pos x="60" y="131"/>
                  </a:cxn>
                  <a:cxn ang="0">
                    <a:pos x="36" y="113"/>
                  </a:cxn>
                  <a:cxn ang="0">
                    <a:pos x="24" y="95"/>
                  </a:cxn>
                  <a:cxn ang="0">
                    <a:pos x="18" y="77"/>
                  </a:cxn>
                  <a:cxn ang="0">
                    <a:pos x="18" y="65"/>
                  </a:cxn>
                  <a:cxn ang="0">
                    <a:pos x="24" y="42"/>
                  </a:cxn>
                  <a:cxn ang="0">
                    <a:pos x="30" y="24"/>
                  </a:cxn>
                  <a:cxn ang="0">
                    <a:pos x="60" y="0"/>
                  </a:cxn>
                  <a:cxn ang="0">
                    <a:pos x="60" y="0"/>
                  </a:cxn>
                </a:cxnLst>
                <a:rect l="txL" t="txT" r="txR" b="txB"/>
                <a:pathLst>
                  <a:path w="60" h="137">
                    <a:moveTo>
                      <a:pt x="60" y="0"/>
                    </a:moveTo>
                    <a:lnTo>
                      <a:pt x="36" y="12"/>
                    </a:lnTo>
                    <a:lnTo>
                      <a:pt x="18" y="24"/>
                    </a:lnTo>
                    <a:lnTo>
                      <a:pt x="6" y="42"/>
                    </a:lnTo>
                    <a:lnTo>
                      <a:pt x="0" y="65"/>
                    </a:lnTo>
                    <a:lnTo>
                      <a:pt x="6" y="95"/>
                    </a:lnTo>
                    <a:lnTo>
                      <a:pt x="18" y="113"/>
                    </a:lnTo>
                    <a:lnTo>
                      <a:pt x="36" y="125"/>
                    </a:lnTo>
                    <a:lnTo>
                      <a:pt x="54" y="137"/>
                    </a:lnTo>
                    <a:lnTo>
                      <a:pt x="60" y="131"/>
                    </a:lnTo>
                    <a:lnTo>
                      <a:pt x="36" y="113"/>
                    </a:lnTo>
                    <a:lnTo>
                      <a:pt x="24" y="95"/>
                    </a:lnTo>
                    <a:lnTo>
                      <a:pt x="18" y="77"/>
                    </a:lnTo>
                    <a:lnTo>
                      <a:pt x="18" y="65"/>
                    </a:lnTo>
                    <a:lnTo>
                      <a:pt x="24" y="42"/>
                    </a:lnTo>
                    <a:lnTo>
                      <a:pt x="30" y="24"/>
                    </a:lnTo>
                    <a:lnTo>
                      <a:pt x="6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51" name="Freeform 133"/>
              <p:cNvSpPr>
                <a:spLocks noEditPoints="1"/>
              </p:cNvSpPr>
              <p:nvPr/>
            </p:nvSpPr>
            <p:spPr>
              <a:xfrm>
                <a:off x="2811" y="3898"/>
                <a:ext cx="107" cy="107"/>
              </a:xfrm>
              <a:custGeom>
                <a:avLst/>
                <a:gdLst>
                  <a:gd name="txL" fmla="*/ 0 w 107"/>
                  <a:gd name="txT" fmla="*/ 0 h 107"/>
                  <a:gd name="txR" fmla="*/ 107 w 107"/>
                  <a:gd name="txB" fmla="*/ 107 h 107"/>
                </a:gdLst>
                <a:ahLst/>
                <a:cxnLst>
                  <a:cxn ang="0">
                    <a:pos x="36" y="53"/>
                  </a:cxn>
                  <a:cxn ang="0">
                    <a:pos x="42" y="47"/>
                  </a:cxn>
                  <a:cxn ang="0">
                    <a:pos x="60" y="42"/>
                  </a:cxn>
                  <a:cxn ang="0">
                    <a:pos x="71" y="47"/>
                  </a:cxn>
                  <a:cxn ang="0">
                    <a:pos x="83" y="53"/>
                  </a:cxn>
                  <a:cxn ang="0">
                    <a:pos x="89" y="77"/>
                  </a:cxn>
                  <a:cxn ang="0">
                    <a:pos x="83" y="89"/>
                  </a:cxn>
                  <a:cxn ang="0">
                    <a:pos x="77" y="101"/>
                  </a:cxn>
                  <a:cxn ang="0">
                    <a:pos x="60" y="101"/>
                  </a:cxn>
                  <a:cxn ang="0">
                    <a:pos x="48" y="101"/>
                  </a:cxn>
                  <a:cxn ang="0">
                    <a:pos x="42" y="101"/>
                  </a:cxn>
                  <a:cxn ang="0">
                    <a:pos x="36" y="95"/>
                  </a:cxn>
                  <a:cxn ang="0">
                    <a:pos x="36" y="53"/>
                  </a:cxn>
                  <a:cxn ang="0">
                    <a:pos x="18" y="101"/>
                  </a:cxn>
                  <a:cxn ang="0">
                    <a:pos x="24" y="107"/>
                  </a:cxn>
                  <a:cxn ang="0">
                    <a:pos x="30" y="107"/>
                  </a:cxn>
                  <a:cxn ang="0">
                    <a:pos x="54" y="107"/>
                  </a:cxn>
                  <a:cxn ang="0">
                    <a:pos x="77" y="101"/>
                  </a:cxn>
                  <a:cxn ang="0">
                    <a:pos x="95" y="95"/>
                  </a:cxn>
                  <a:cxn ang="0">
                    <a:pos x="107" y="83"/>
                  </a:cxn>
                  <a:cxn ang="0">
                    <a:pos x="107" y="71"/>
                  </a:cxn>
                  <a:cxn ang="0">
                    <a:pos x="95" y="47"/>
                  </a:cxn>
                  <a:cxn ang="0">
                    <a:pos x="83" y="42"/>
                  </a:cxn>
                  <a:cxn ang="0">
                    <a:pos x="66" y="36"/>
                  </a:cxn>
                  <a:cxn ang="0">
                    <a:pos x="42" y="42"/>
                  </a:cxn>
                  <a:cxn ang="0">
                    <a:pos x="36" y="47"/>
                  </a:cxn>
                  <a:cxn ang="0">
                    <a:pos x="36" y="47"/>
                  </a:cxn>
                  <a:cxn ang="0">
                    <a:pos x="36" y="0"/>
                  </a:cxn>
                  <a:cxn ang="0">
                    <a:pos x="36" y="0"/>
                  </a:cxn>
                  <a:cxn ang="0">
                    <a:pos x="18" y="0"/>
                  </a:cxn>
                  <a:cxn ang="0">
                    <a:pos x="0" y="6"/>
                  </a:cxn>
                  <a:cxn ang="0">
                    <a:pos x="0" y="6"/>
                  </a:cxn>
                  <a:cxn ang="0">
                    <a:pos x="6" y="6"/>
                  </a:cxn>
                  <a:cxn ang="0">
                    <a:pos x="6" y="6"/>
                  </a:cxn>
                  <a:cxn ang="0">
                    <a:pos x="18" y="12"/>
                  </a:cxn>
                  <a:cxn ang="0">
                    <a:pos x="18" y="12"/>
                  </a:cxn>
                  <a:cxn ang="0">
                    <a:pos x="18" y="101"/>
                  </a:cxn>
                </a:cxnLst>
                <a:rect l="txL" t="txT" r="txR" b="txB"/>
                <a:pathLst>
                  <a:path w="107" h="107">
                    <a:moveTo>
                      <a:pt x="36" y="53"/>
                    </a:moveTo>
                    <a:lnTo>
                      <a:pt x="42" y="47"/>
                    </a:lnTo>
                    <a:lnTo>
                      <a:pt x="60" y="42"/>
                    </a:lnTo>
                    <a:lnTo>
                      <a:pt x="71" y="47"/>
                    </a:lnTo>
                    <a:lnTo>
                      <a:pt x="83" y="53"/>
                    </a:lnTo>
                    <a:lnTo>
                      <a:pt x="89" y="77"/>
                    </a:lnTo>
                    <a:lnTo>
                      <a:pt x="83" y="89"/>
                    </a:lnTo>
                    <a:lnTo>
                      <a:pt x="77" y="101"/>
                    </a:lnTo>
                    <a:lnTo>
                      <a:pt x="60" y="101"/>
                    </a:lnTo>
                    <a:lnTo>
                      <a:pt x="48" y="101"/>
                    </a:lnTo>
                    <a:lnTo>
                      <a:pt x="42" y="101"/>
                    </a:lnTo>
                    <a:lnTo>
                      <a:pt x="36" y="95"/>
                    </a:lnTo>
                    <a:lnTo>
                      <a:pt x="36" y="53"/>
                    </a:lnTo>
                    <a:close/>
                    <a:moveTo>
                      <a:pt x="18" y="101"/>
                    </a:moveTo>
                    <a:lnTo>
                      <a:pt x="24" y="107"/>
                    </a:lnTo>
                    <a:lnTo>
                      <a:pt x="30" y="107"/>
                    </a:lnTo>
                    <a:lnTo>
                      <a:pt x="54" y="107"/>
                    </a:lnTo>
                    <a:lnTo>
                      <a:pt x="77" y="101"/>
                    </a:lnTo>
                    <a:lnTo>
                      <a:pt x="95" y="95"/>
                    </a:lnTo>
                    <a:lnTo>
                      <a:pt x="107" y="83"/>
                    </a:lnTo>
                    <a:lnTo>
                      <a:pt x="107" y="71"/>
                    </a:lnTo>
                    <a:lnTo>
                      <a:pt x="95" y="47"/>
                    </a:lnTo>
                    <a:lnTo>
                      <a:pt x="83" y="42"/>
                    </a:lnTo>
                    <a:lnTo>
                      <a:pt x="66" y="36"/>
                    </a:lnTo>
                    <a:lnTo>
                      <a:pt x="42" y="42"/>
                    </a:lnTo>
                    <a:lnTo>
                      <a:pt x="36" y="47"/>
                    </a:lnTo>
                    <a:lnTo>
                      <a:pt x="36" y="0"/>
                    </a:lnTo>
                    <a:lnTo>
                      <a:pt x="18" y="0"/>
                    </a:lnTo>
                    <a:lnTo>
                      <a:pt x="0" y="6"/>
                    </a:lnTo>
                    <a:lnTo>
                      <a:pt x="6" y="6"/>
                    </a:lnTo>
                    <a:lnTo>
                      <a:pt x="18" y="12"/>
                    </a:lnTo>
                    <a:lnTo>
                      <a:pt x="18" y="10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52" name="Freeform 134"/>
              <p:cNvSpPr/>
              <p:nvPr/>
            </p:nvSpPr>
            <p:spPr>
              <a:xfrm>
                <a:off x="2930" y="3898"/>
                <a:ext cx="60" cy="137"/>
              </a:xfrm>
              <a:custGeom>
                <a:avLst/>
                <a:gdLst>
                  <a:gd name="txL" fmla="*/ 0 w 60"/>
                  <a:gd name="txT" fmla="*/ 0 h 137"/>
                  <a:gd name="txR" fmla="*/ 60 w 60"/>
                  <a:gd name="txB" fmla="*/ 137 h 137"/>
                </a:gdLst>
                <a:ahLst/>
                <a:cxnLst>
                  <a:cxn ang="0">
                    <a:pos x="6" y="137"/>
                  </a:cxn>
                  <a:cxn ang="0">
                    <a:pos x="42" y="107"/>
                  </a:cxn>
                  <a:cxn ang="0">
                    <a:pos x="54" y="89"/>
                  </a:cxn>
                  <a:cxn ang="0">
                    <a:pos x="60" y="71"/>
                  </a:cxn>
                  <a:cxn ang="0">
                    <a:pos x="54" y="42"/>
                  </a:cxn>
                  <a:cxn ang="0">
                    <a:pos x="42" y="24"/>
                  </a:cxn>
                  <a:cxn ang="0">
                    <a:pos x="24" y="12"/>
                  </a:cxn>
                  <a:cxn ang="0">
                    <a:pos x="6" y="0"/>
                  </a:cxn>
                  <a:cxn ang="0">
                    <a:pos x="0" y="0"/>
                  </a:cxn>
                  <a:cxn ang="0">
                    <a:pos x="24" y="18"/>
                  </a:cxn>
                  <a:cxn ang="0">
                    <a:pos x="36" y="36"/>
                  </a:cxn>
                  <a:cxn ang="0">
                    <a:pos x="42" y="53"/>
                  </a:cxn>
                  <a:cxn ang="0">
                    <a:pos x="42" y="71"/>
                  </a:cxn>
                  <a:cxn ang="0">
                    <a:pos x="36" y="95"/>
                  </a:cxn>
                  <a:cxn ang="0">
                    <a:pos x="30" y="113"/>
                  </a:cxn>
                  <a:cxn ang="0">
                    <a:pos x="12" y="125"/>
                  </a:cxn>
                  <a:cxn ang="0">
                    <a:pos x="0" y="131"/>
                  </a:cxn>
                  <a:cxn ang="0">
                    <a:pos x="6" y="137"/>
                  </a:cxn>
                </a:cxnLst>
                <a:rect l="txL" t="txT" r="txR" b="txB"/>
                <a:pathLst>
                  <a:path w="60" h="137">
                    <a:moveTo>
                      <a:pt x="6" y="137"/>
                    </a:moveTo>
                    <a:lnTo>
                      <a:pt x="42" y="107"/>
                    </a:lnTo>
                    <a:lnTo>
                      <a:pt x="54" y="89"/>
                    </a:lnTo>
                    <a:lnTo>
                      <a:pt x="60" y="71"/>
                    </a:lnTo>
                    <a:lnTo>
                      <a:pt x="54" y="42"/>
                    </a:lnTo>
                    <a:lnTo>
                      <a:pt x="42" y="24"/>
                    </a:lnTo>
                    <a:lnTo>
                      <a:pt x="24" y="12"/>
                    </a:lnTo>
                    <a:lnTo>
                      <a:pt x="6" y="0"/>
                    </a:lnTo>
                    <a:lnTo>
                      <a:pt x="0" y="0"/>
                    </a:lnTo>
                    <a:lnTo>
                      <a:pt x="24" y="18"/>
                    </a:lnTo>
                    <a:lnTo>
                      <a:pt x="36" y="36"/>
                    </a:lnTo>
                    <a:lnTo>
                      <a:pt x="42" y="53"/>
                    </a:lnTo>
                    <a:lnTo>
                      <a:pt x="42" y="71"/>
                    </a:lnTo>
                    <a:lnTo>
                      <a:pt x="36" y="95"/>
                    </a:lnTo>
                    <a:lnTo>
                      <a:pt x="30" y="113"/>
                    </a:lnTo>
                    <a:lnTo>
                      <a:pt x="12" y="125"/>
                    </a:lnTo>
                    <a:lnTo>
                      <a:pt x="0" y="131"/>
                    </a:lnTo>
                    <a:lnTo>
                      <a:pt x="6" y="13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53" name="Freeform 135"/>
              <p:cNvSpPr/>
              <p:nvPr/>
            </p:nvSpPr>
            <p:spPr>
              <a:xfrm>
                <a:off x="2643" y="2548"/>
                <a:ext cx="455" cy="42"/>
              </a:xfrm>
              <a:custGeom>
                <a:avLst/>
                <a:gdLst>
                  <a:gd name="txL" fmla="*/ 0 w 455"/>
                  <a:gd name="txT" fmla="*/ 0 h 42"/>
                  <a:gd name="txR" fmla="*/ 455 w 455"/>
                  <a:gd name="txB" fmla="*/ 42 h 42"/>
                </a:gdLst>
                <a:ahLst/>
                <a:cxnLst>
                  <a:cxn ang="0">
                    <a:pos x="0" y="42"/>
                  </a:cxn>
                  <a:cxn ang="0">
                    <a:pos x="0" y="0"/>
                  </a:cxn>
                  <a:cxn ang="0">
                    <a:pos x="455" y="0"/>
                  </a:cxn>
                  <a:cxn ang="0">
                    <a:pos x="455" y="42"/>
                  </a:cxn>
                  <a:cxn ang="0">
                    <a:pos x="0" y="42"/>
                  </a:cxn>
                  <a:cxn ang="0">
                    <a:pos x="0" y="42"/>
                  </a:cxn>
                </a:cxnLst>
                <a:rect l="txL" t="txT" r="txR" b="txB"/>
                <a:pathLst>
                  <a:path w="455" h="42">
                    <a:moveTo>
                      <a:pt x="0" y="42"/>
                    </a:moveTo>
                    <a:lnTo>
                      <a:pt x="0" y="0"/>
                    </a:lnTo>
                    <a:lnTo>
                      <a:pt x="455" y="0"/>
                    </a:lnTo>
                    <a:lnTo>
                      <a:pt x="455" y="42"/>
                    </a:lnTo>
                    <a:lnTo>
                      <a:pt x="0" y="42"/>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59454" name="Freeform 136"/>
              <p:cNvSpPr/>
              <p:nvPr/>
            </p:nvSpPr>
            <p:spPr>
              <a:xfrm>
                <a:off x="3080" y="2572"/>
                <a:ext cx="24" cy="48"/>
              </a:xfrm>
              <a:custGeom>
                <a:avLst/>
                <a:gdLst>
                  <a:gd name="txL" fmla="*/ 0 w 24"/>
                  <a:gd name="txT" fmla="*/ 0 h 48"/>
                  <a:gd name="txR" fmla="*/ 24 w 24"/>
                  <a:gd name="txB" fmla="*/ 48 h 48"/>
                </a:gdLst>
                <a:ahLst/>
                <a:cxnLst>
                  <a:cxn ang="0">
                    <a:pos x="24" y="0"/>
                  </a:cxn>
                  <a:cxn ang="0">
                    <a:pos x="0" y="48"/>
                  </a:cxn>
                  <a:cxn ang="0">
                    <a:pos x="24" y="0"/>
                  </a:cxn>
                  <a:cxn ang="0">
                    <a:pos x="24" y="0"/>
                  </a:cxn>
                </a:cxnLst>
                <a:rect l="txL" t="txT" r="txR" b="txB"/>
                <a:pathLst>
                  <a:path w="24" h="48">
                    <a:moveTo>
                      <a:pt x="24" y="0"/>
                    </a:moveTo>
                    <a:lnTo>
                      <a:pt x="0" y="48"/>
                    </a:ln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55" name="Freeform 137"/>
              <p:cNvSpPr>
                <a:spLocks noEditPoints="1"/>
              </p:cNvSpPr>
              <p:nvPr/>
            </p:nvSpPr>
            <p:spPr>
              <a:xfrm>
                <a:off x="3050" y="2572"/>
                <a:ext cx="30" cy="48"/>
              </a:xfrm>
              <a:custGeom>
                <a:avLst/>
                <a:gdLst>
                  <a:gd name="txL" fmla="*/ 0 w 30"/>
                  <a:gd name="txT" fmla="*/ 0 h 48"/>
                  <a:gd name="txR" fmla="*/ 30 w 30"/>
                  <a:gd name="txB" fmla="*/ 48 h 48"/>
                </a:gdLst>
                <a:ahLst/>
                <a:cxnLst>
                  <a:cxn ang="0">
                    <a:pos x="30" y="48"/>
                  </a:cxn>
                  <a:cxn ang="0">
                    <a:pos x="0" y="0"/>
                  </a:cxn>
                  <a:cxn ang="0">
                    <a:pos x="30" y="48"/>
                  </a:cxn>
                  <a:cxn ang="0">
                    <a:pos x="30" y="48"/>
                  </a:cxn>
                  <a:cxn ang="0">
                    <a:pos x="30" y="48"/>
                  </a:cxn>
                  <a:cxn ang="0">
                    <a:pos x="30" y="48"/>
                  </a:cxn>
                  <a:cxn ang="0">
                    <a:pos x="30" y="48"/>
                  </a:cxn>
                </a:cxnLst>
                <a:rect l="txL" t="txT" r="txR" b="txB"/>
                <a:pathLst>
                  <a:path w="30" h="48">
                    <a:moveTo>
                      <a:pt x="30" y="48"/>
                    </a:moveTo>
                    <a:lnTo>
                      <a:pt x="0" y="0"/>
                    </a:lnTo>
                    <a:lnTo>
                      <a:pt x="30" y="48"/>
                    </a:lnTo>
                    <a:close/>
                    <a:moveTo>
                      <a:pt x="30" y="48"/>
                    </a:moveTo>
                    <a:lnTo>
                      <a:pt x="30" y="4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56" name="Freeform 138"/>
              <p:cNvSpPr>
                <a:spLocks noEditPoints="1"/>
              </p:cNvSpPr>
              <p:nvPr/>
            </p:nvSpPr>
            <p:spPr>
              <a:xfrm>
                <a:off x="3020" y="2518"/>
                <a:ext cx="30" cy="54"/>
              </a:xfrm>
              <a:custGeom>
                <a:avLst/>
                <a:gdLst>
                  <a:gd name="txL" fmla="*/ 0 w 30"/>
                  <a:gd name="txT" fmla="*/ 0 h 54"/>
                  <a:gd name="txR" fmla="*/ 30 w 30"/>
                  <a:gd name="txB" fmla="*/ 54 h 54"/>
                </a:gdLst>
                <a:ahLst/>
                <a:cxnLst>
                  <a:cxn ang="0">
                    <a:pos x="30" y="54"/>
                  </a:cxn>
                  <a:cxn ang="0">
                    <a:pos x="0" y="0"/>
                  </a:cxn>
                  <a:cxn ang="0">
                    <a:pos x="30" y="54"/>
                  </a:cxn>
                  <a:cxn ang="0">
                    <a:pos x="30" y="54"/>
                  </a:cxn>
                  <a:cxn ang="0">
                    <a:pos x="30" y="54"/>
                  </a:cxn>
                  <a:cxn ang="0">
                    <a:pos x="30" y="54"/>
                  </a:cxn>
                  <a:cxn ang="0">
                    <a:pos x="30" y="54"/>
                  </a:cxn>
                </a:cxnLst>
                <a:rect l="txL" t="txT" r="txR" b="txB"/>
                <a:pathLst>
                  <a:path w="30" h="54">
                    <a:moveTo>
                      <a:pt x="30" y="54"/>
                    </a:moveTo>
                    <a:lnTo>
                      <a:pt x="0" y="0"/>
                    </a:lnTo>
                    <a:lnTo>
                      <a:pt x="30" y="54"/>
                    </a:lnTo>
                    <a:close/>
                    <a:moveTo>
                      <a:pt x="30" y="54"/>
                    </a:moveTo>
                    <a:lnTo>
                      <a:pt x="30" y="5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57" name="Freeform 139"/>
              <p:cNvSpPr>
                <a:spLocks noEditPoints="1"/>
              </p:cNvSpPr>
              <p:nvPr/>
            </p:nvSpPr>
            <p:spPr>
              <a:xfrm>
                <a:off x="2990" y="2518"/>
                <a:ext cx="30" cy="54"/>
              </a:xfrm>
              <a:custGeom>
                <a:avLst/>
                <a:gdLst>
                  <a:gd name="txL" fmla="*/ 0 w 30"/>
                  <a:gd name="txT" fmla="*/ 0 h 54"/>
                  <a:gd name="txR" fmla="*/ 30 w 30"/>
                  <a:gd name="txB" fmla="*/ 54 h 54"/>
                </a:gdLst>
                <a:ahLst/>
                <a:cxnLst>
                  <a:cxn ang="0">
                    <a:pos x="30" y="0"/>
                  </a:cxn>
                  <a:cxn ang="0">
                    <a:pos x="0" y="54"/>
                  </a:cxn>
                  <a:cxn ang="0">
                    <a:pos x="30" y="0"/>
                  </a:cxn>
                  <a:cxn ang="0">
                    <a:pos x="30" y="0"/>
                  </a:cxn>
                  <a:cxn ang="0">
                    <a:pos x="30" y="0"/>
                  </a:cxn>
                  <a:cxn ang="0">
                    <a:pos x="30" y="0"/>
                  </a:cxn>
                  <a:cxn ang="0">
                    <a:pos x="30" y="0"/>
                  </a:cxn>
                </a:cxnLst>
                <a:rect l="txL" t="txT" r="txR" b="txB"/>
                <a:pathLst>
                  <a:path w="30" h="54">
                    <a:moveTo>
                      <a:pt x="30" y="0"/>
                    </a:moveTo>
                    <a:lnTo>
                      <a:pt x="0" y="54"/>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58" name="Freeform 140"/>
              <p:cNvSpPr>
                <a:spLocks noEditPoints="1"/>
              </p:cNvSpPr>
              <p:nvPr/>
            </p:nvSpPr>
            <p:spPr>
              <a:xfrm>
                <a:off x="2990" y="2572"/>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59" name="Freeform 141"/>
              <p:cNvSpPr>
                <a:spLocks noEditPoints="1"/>
              </p:cNvSpPr>
              <p:nvPr/>
            </p:nvSpPr>
            <p:spPr>
              <a:xfrm>
                <a:off x="2960" y="2572"/>
                <a:ext cx="30" cy="48"/>
              </a:xfrm>
              <a:custGeom>
                <a:avLst/>
                <a:gdLst>
                  <a:gd name="txL" fmla="*/ 0 w 30"/>
                  <a:gd name="txT" fmla="*/ 0 h 48"/>
                  <a:gd name="txR" fmla="*/ 30 w 30"/>
                  <a:gd name="txB" fmla="*/ 48 h 48"/>
                </a:gdLst>
                <a:ahLst/>
                <a:cxnLst>
                  <a:cxn ang="0">
                    <a:pos x="30" y="0"/>
                  </a:cxn>
                  <a:cxn ang="0">
                    <a:pos x="0" y="48"/>
                  </a:cxn>
                  <a:cxn ang="0">
                    <a:pos x="30" y="0"/>
                  </a:cxn>
                  <a:cxn ang="0">
                    <a:pos x="30" y="0"/>
                  </a:cxn>
                  <a:cxn ang="0">
                    <a:pos x="30" y="0"/>
                  </a:cxn>
                  <a:cxn ang="0">
                    <a:pos x="30" y="0"/>
                  </a:cxn>
                  <a:cxn ang="0">
                    <a:pos x="30" y="0"/>
                  </a:cxn>
                </a:cxnLst>
                <a:rect l="txL" t="txT" r="txR" b="txB"/>
                <a:pathLst>
                  <a:path w="30" h="48">
                    <a:moveTo>
                      <a:pt x="30" y="0"/>
                    </a:moveTo>
                    <a:lnTo>
                      <a:pt x="0" y="48"/>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60" name="Freeform 142"/>
              <p:cNvSpPr>
                <a:spLocks noEditPoints="1"/>
              </p:cNvSpPr>
              <p:nvPr/>
            </p:nvSpPr>
            <p:spPr>
              <a:xfrm>
                <a:off x="2930" y="2572"/>
                <a:ext cx="30" cy="48"/>
              </a:xfrm>
              <a:custGeom>
                <a:avLst/>
                <a:gdLst>
                  <a:gd name="txL" fmla="*/ 0 w 30"/>
                  <a:gd name="txT" fmla="*/ 0 h 48"/>
                  <a:gd name="txR" fmla="*/ 30 w 30"/>
                  <a:gd name="txB" fmla="*/ 48 h 48"/>
                </a:gdLst>
                <a:ahLst/>
                <a:cxnLst>
                  <a:cxn ang="0">
                    <a:pos x="30" y="48"/>
                  </a:cxn>
                  <a:cxn ang="0">
                    <a:pos x="0" y="0"/>
                  </a:cxn>
                  <a:cxn ang="0">
                    <a:pos x="30" y="48"/>
                  </a:cxn>
                  <a:cxn ang="0">
                    <a:pos x="30" y="48"/>
                  </a:cxn>
                  <a:cxn ang="0">
                    <a:pos x="30" y="48"/>
                  </a:cxn>
                  <a:cxn ang="0">
                    <a:pos x="30" y="48"/>
                  </a:cxn>
                  <a:cxn ang="0">
                    <a:pos x="30" y="48"/>
                  </a:cxn>
                </a:cxnLst>
                <a:rect l="txL" t="txT" r="txR" b="txB"/>
                <a:pathLst>
                  <a:path w="30" h="48">
                    <a:moveTo>
                      <a:pt x="30" y="48"/>
                    </a:moveTo>
                    <a:lnTo>
                      <a:pt x="0" y="0"/>
                    </a:lnTo>
                    <a:lnTo>
                      <a:pt x="30" y="48"/>
                    </a:lnTo>
                    <a:close/>
                    <a:moveTo>
                      <a:pt x="30" y="48"/>
                    </a:moveTo>
                    <a:lnTo>
                      <a:pt x="30" y="4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61" name="Freeform 143"/>
              <p:cNvSpPr>
                <a:spLocks noEditPoints="1"/>
              </p:cNvSpPr>
              <p:nvPr/>
            </p:nvSpPr>
            <p:spPr>
              <a:xfrm>
                <a:off x="2900" y="2518"/>
                <a:ext cx="30" cy="54"/>
              </a:xfrm>
              <a:custGeom>
                <a:avLst/>
                <a:gdLst>
                  <a:gd name="txL" fmla="*/ 0 w 30"/>
                  <a:gd name="txT" fmla="*/ 0 h 54"/>
                  <a:gd name="txR" fmla="*/ 30 w 30"/>
                  <a:gd name="txB" fmla="*/ 54 h 54"/>
                </a:gdLst>
                <a:ahLst/>
                <a:cxnLst>
                  <a:cxn ang="0">
                    <a:pos x="30" y="54"/>
                  </a:cxn>
                  <a:cxn ang="0">
                    <a:pos x="0" y="0"/>
                  </a:cxn>
                  <a:cxn ang="0">
                    <a:pos x="30" y="54"/>
                  </a:cxn>
                  <a:cxn ang="0">
                    <a:pos x="30" y="54"/>
                  </a:cxn>
                  <a:cxn ang="0">
                    <a:pos x="30" y="54"/>
                  </a:cxn>
                  <a:cxn ang="0">
                    <a:pos x="30" y="54"/>
                  </a:cxn>
                  <a:cxn ang="0">
                    <a:pos x="30" y="54"/>
                  </a:cxn>
                </a:cxnLst>
                <a:rect l="txL" t="txT" r="txR" b="txB"/>
                <a:pathLst>
                  <a:path w="30" h="54">
                    <a:moveTo>
                      <a:pt x="30" y="54"/>
                    </a:moveTo>
                    <a:lnTo>
                      <a:pt x="0" y="0"/>
                    </a:lnTo>
                    <a:lnTo>
                      <a:pt x="30" y="54"/>
                    </a:lnTo>
                    <a:close/>
                    <a:moveTo>
                      <a:pt x="30" y="54"/>
                    </a:moveTo>
                    <a:lnTo>
                      <a:pt x="30" y="5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62" name="Freeform 144"/>
              <p:cNvSpPr>
                <a:spLocks noEditPoints="1"/>
              </p:cNvSpPr>
              <p:nvPr/>
            </p:nvSpPr>
            <p:spPr>
              <a:xfrm>
                <a:off x="2871" y="2518"/>
                <a:ext cx="29" cy="54"/>
              </a:xfrm>
              <a:custGeom>
                <a:avLst/>
                <a:gdLst>
                  <a:gd name="txL" fmla="*/ 0 w 29"/>
                  <a:gd name="txT" fmla="*/ 0 h 54"/>
                  <a:gd name="txR" fmla="*/ 29 w 29"/>
                  <a:gd name="txB" fmla="*/ 54 h 54"/>
                </a:gdLst>
                <a:ahLst/>
                <a:cxnLst>
                  <a:cxn ang="0">
                    <a:pos x="29" y="0"/>
                  </a:cxn>
                  <a:cxn ang="0">
                    <a:pos x="0" y="54"/>
                  </a:cxn>
                  <a:cxn ang="0">
                    <a:pos x="29" y="0"/>
                  </a:cxn>
                  <a:cxn ang="0">
                    <a:pos x="29" y="0"/>
                  </a:cxn>
                  <a:cxn ang="0">
                    <a:pos x="29" y="0"/>
                  </a:cxn>
                  <a:cxn ang="0">
                    <a:pos x="29" y="0"/>
                  </a:cxn>
                  <a:cxn ang="0">
                    <a:pos x="29" y="0"/>
                  </a:cxn>
                </a:cxnLst>
                <a:rect l="txL" t="txT" r="txR" b="txB"/>
                <a:pathLst>
                  <a:path w="29" h="54">
                    <a:moveTo>
                      <a:pt x="29" y="0"/>
                    </a:moveTo>
                    <a:lnTo>
                      <a:pt x="0" y="54"/>
                    </a:lnTo>
                    <a:lnTo>
                      <a:pt x="29" y="0"/>
                    </a:lnTo>
                    <a:close/>
                    <a:moveTo>
                      <a:pt x="29" y="0"/>
                    </a:moveTo>
                    <a:lnTo>
                      <a:pt x="29"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63" name="Freeform 145"/>
              <p:cNvSpPr>
                <a:spLocks noEditPoints="1"/>
              </p:cNvSpPr>
              <p:nvPr/>
            </p:nvSpPr>
            <p:spPr>
              <a:xfrm>
                <a:off x="2841" y="2572"/>
                <a:ext cx="30" cy="48"/>
              </a:xfrm>
              <a:custGeom>
                <a:avLst/>
                <a:gdLst>
                  <a:gd name="txL" fmla="*/ 0 w 30"/>
                  <a:gd name="txT" fmla="*/ 0 h 48"/>
                  <a:gd name="txR" fmla="*/ 30 w 30"/>
                  <a:gd name="txB" fmla="*/ 48 h 48"/>
                </a:gdLst>
                <a:ahLst/>
                <a:cxnLst>
                  <a:cxn ang="0">
                    <a:pos x="30" y="0"/>
                  </a:cxn>
                  <a:cxn ang="0">
                    <a:pos x="0" y="48"/>
                  </a:cxn>
                  <a:cxn ang="0">
                    <a:pos x="30" y="0"/>
                  </a:cxn>
                  <a:cxn ang="0">
                    <a:pos x="30" y="0"/>
                  </a:cxn>
                  <a:cxn ang="0">
                    <a:pos x="30" y="0"/>
                  </a:cxn>
                  <a:cxn ang="0">
                    <a:pos x="30" y="0"/>
                  </a:cxn>
                  <a:cxn ang="0">
                    <a:pos x="30" y="0"/>
                  </a:cxn>
                </a:cxnLst>
                <a:rect l="txL" t="txT" r="txR" b="txB"/>
                <a:pathLst>
                  <a:path w="30" h="48">
                    <a:moveTo>
                      <a:pt x="30" y="0"/>
                    </a:moveTo>
                    <a:lnTo>
                      <a:pt x="0" y="48"/>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64" name="Freeform 146"/>
              <p:cNvSpPr>
                <a:spLocks noEditPoints="1"/>
              </p:cNvSpPr>
              <p:nvPr/>
            </p:nvSpPr>
            <p:spPr>
              <a:xfrm>
                <a:off x="2811" y="2572"/>
                <a:ext cx="30" cy="48"/>
              </a:xfrm>
              <a:custGeom>
                <a:avLst/>
                <a:gdLst>
                  <a:gd name="txL" fmla="*/ 0 w 30"/>
                  <a:gd name="txT" fmla="*/ 0 h 48"/>
                  <a:gd name="txR" fmla="*/ 30 w 30"/>
                  <a:gd name="txB" fmla="*/ 48 h 48"/>
                </a:gdLst>
                <a:ahLst/>
                <a:cxnLst>
                  <a:cxn ang="0">
                    <a:pos x="30" y="48"/>
                  </a:cxn>
                  <a:cxn ang="0">
                    <a:pos x="0" y="0"/>
                  </a:cxn>
                  <a:cxn ang="0">
                    <a:pos x="30" y="48"/>
                  </a:cxn>
                  <a:cxn ang="0">
                    <a:pos x="30" y="48"/>
                  </a:cxn>
                  <a:cxn ang="0">
                    <a:pos x="30" y="48"/>
                  </a:cxn>
                  <a:cxn ang="0">
                    <a:pos x="30" y="48"/>
                  </a:cxn>
                  <a:cxn ang="0">
                    <a:pos x="30" y="48"/>
                  </a:cxn>
                </a:cxnLst>
                <a:rect l="txL" t="txT" r="txR" b="txB"/>
                <a:pathLst>
                  <a:path w="30" h="48">
                    <a:moveTo>
                      <a:pt x="30" y="48"/>
                    </a:moveTo>
                    <a:lnTo>
                      <a:pt x="0" y="0"/>
                    </a:lnTo>
                    <a:lnTo>
                      <a:pt x="30" y="48"/>
                    </a:lnTo>
                    <a:close/>
                    <a:moveTo>
                      <a:pt x="30" y="48"/>
                    </a:moveTo>
                    <a:lnTo>
                      <a:pt x="30" y="4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65" name="Freeform 147"/>
              <p:cNvSpPr>
                <a:spLocks noEditPoints="1"/>
              </p:cNvSpPr>
              <p:nvPr/>
            </p:nvSpPr>
            <p:spPr>
              <a:xfrm>
                <a:off x="2781" y="2518"/>
                <a:ext cx="30" cy="54"/>
              </a:xfrm>
              <a:custGeom>
                <a:avLst/>
                <a:gdLst>
                  <a:gd name="txL" fmla="*/ 0 w 30"/>
                  <a:gd name="txT" fmla="*/ 0 h 54"/>
                  <a:gd name="txR" fmla="*/ 30 w 30"/>
                  <a:gd name="txB" fmla="*/ 54 h 54"/>
                </a:gdLst>
                <a:ahLst/>
                <a:cxnLst>
                  <a:cxn ang="0">
                    <a:pos x="30" y="54"/>
                  </a:cxn>
                  <a:cxn ang="0">
                    <a:pos x="0" y="0"/>
                  </a:cxn>
                  <a:cxn ang="0">
                    <a:pos x="30" y="54"/>
                  </a:cxn>
                  <a:cxn ang="0">
                    <a:pos x="30" y="54"/>
                  </a:cxn>
                  <a:cxn ang="0">
                    <a:pos x="30" y="54"/>
                  </a:cxn>
                  <a:cxn ang="0">
                    <a:pos x="30" y="54"/>
                  </a:cxn>
                  <a:cxn ang="0">
                    <a:pos x="30" y="54"/>
                  </a:cxn>
                </a:cxnLst>
                <a:rect l="txL" t="txT" r="txR" b="txB"/>
                <a:pathLst>
                  <a:path w="30" h="54">
                    <a:moveTo>
                      <a:pt x="30" y="54"/>
                    </a:moveTo>
                    <a:lnTo>
                      <a:pt x="0" y="0"/>
                    </a:lnTo>
                    <a:lnTo>
                      <a:pt x="30" y="54"/>
                    </a:lnTo>
                    <a:close/>
                    <a:moveTo>
                      <a:pt x="30" y="54"/>
                    </a:moveTo>
                    <a:lnTo>
                      <a:pt x="30" y="5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66" name="Freeform 148"/>
              <p:cNvSpPr>
                <a:spLocks noEditPoints="1"/>
              </p:cNvSpPr>
              <p:nvPr/>
            </p:nvSpPr>
            <p:spPr>
              <a:xfrm>
                <a:off x="2751" y="2518"/>
                <a:ext cx="30" cy="54"/>
              </a:xfrm>
              <a:custGeom>
                <a:avLst/>
                <a:gdLst>
                  <a:gd name="txL" fmla="*/ 0 w 30"/>
                  <a:gd name="txT" fmla="*/ 0 h 54"/>
                  <a:gd name="txR" fmla="*/ 30 w 30"/>
                  <a:gd name="txB" fmla="*/ 54 h 54"/>
                </a:gdLst>
                <a:ahLst/>
                <a:cxnLst>
                  <a:cxn ang="0">
                    <a:pos x="30" y="0"/>
                  </a:cxn>
                  <a:cxn ang="0">
                    <a:pos x="0" y="54"/>
                  </a:cxn>
                  <a:cxn ang="0">
                    <a:pos x="30" y="0"/>
                  </a:cxn>
                  <a:cxn ang="0">
                    <a:pos x="30" y="0"/>
                  </a:cxn>
                  <a:cxn ang="0">
                    <a:pos x="30" y="0"/>
                  </a:cxn>
                  <a:cxn ang="0">
                    <a:pos x="30" y="0"/>
                  </a:cxn>
                  <a:cxn ang="0">
                    <a:pos x="30" y="0"/>
                  </a:cxn>
                </a:cxnLst>
                <a:rect l="txL" t="txT" r="txR" b="txB"/>
                <a:pathLst>
                  <a:path w="30" h="54">
                    <a:moveTo>
                      <a:pt x="30" y="0"/>
                    </a:moveTo>
                    <a:lnTo>
                      <a:pt x="0" y="54"/>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67" name="Freeform 149"/>
              <p:cNvSpPr>
                <a:spLocks noEditPoints="1"/>
              </p:cNvSpPr>
              <p:nvPr/>
            </p:nvSpPr>
            <p:spPr>
              <a:xfrm>
                <a:off x="2721" y="2572"/>
                <a:ext cx="30" cy="48"/>
              </a:xfrm>
              <a:custGeom>
                <a:avLst/>
                <a:gdLst>
                  <a:gd name="txL" fmla="*/ 0 w 30"/>
                  <a:gd name="txT" fmla="*/ 0 h 48"/>
                  <a:gd name="txR" fmla="*/ 30 w 30"/>
                  <a:gd name="txB" fmla="*/ 48 h 48"/>
                </a:gdLst>
                <a:ahLst/>
                <a:cxnLst>
                  <a:cxn ang="0">
                    <a:pos x="30" y="0"/>
                  </a:cxn>
                  <a:cxn ang="0">
                    <a:pos x="0" y="48"/>
                  </a:cxn>
                  <a:cxn ang="0">
                    <a:pos x="30" y="0"/>
                  </a:cxn>
                  <a:cxn ang="0">
                    <a:pos x="30" y="0"/>
                  </a:cxn>
                  <a:cxn ang="0">
                    <a:pos x="30" y="0"/>
                  </a:cxn>
                  <a:cxn ang="0">
                    <a:pos x="30" y="0"/>
                  </a:cxn>
                  <a:cxn ang="0">
                    <a:pos x="30" y="0"/>
                  </a:cxn>
                </a:cxnLst>
                <a:rect l="txL" t="txT" r="txR" b="txB"/>
                <a:pathLst>
                  <a:path w="30" h="48">
                    <a:moveTo>
                      <a:pt x="30" y="0"/>
                    </a:moveTo>
                    <a:lnTo>
                      <a:pt x="0" y="48"/>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68" name="Freeform 150"/>
              <p:cNvSpPr>
                <a:spLocks noEditPoints="1"/>
              </p:cNvSpPr>
              <p:nvPr/>
            </p:nvSpPr>
            <p:spPr>
              <a:xfrm>
                <a:off x="2691" y="2572"/>
                <a:ext cx="30" cy="48"/>
              </a:xfrm>
              <a:custGeom>
                <a:avLst/>
                <a:gdLst>
                  <a:gd name="txL" fmla="*/ 0 w 30"/>
                  <a:gd name="txT" fmla="*/ 0 h 48"/>
                  <a:gd name="txR" fmla="*/ 30 w 30"/>
                  <a:gd name="txB" fmla="*/ 48 h 48"/>
                </a:gdLst>
                <a:ahLst/>
                <a:cxnLst>
                  <a:cxn ang="0">
                    <a:pos x="30" y="48"/>
                  </a:cxn>
                  <a:cxn ang="0">
                    <a:pos x="0" y="0"/>
                  </a:cxn>
                  <a:cxn ang="0">
                    <a:pos x="30" y="48"/>
                  </a:cxn>
                  <a:cxn ang="0">
                    <a:pos x="30" y="48"/>
                  </a:cxn>
                  <a:cxn ang="0">
                    <a:pos x="30" y="48"/>
                  </a:cxn>
                  <a:cxn ang="0">
                    <a:pos x="30" y="48"/>
                  </a:cxn>
                  <a:cxn ang="0">
                    <a:pos x="30" y="48"/>
                  </a:cxn>
                </a:cxnLst>
                <a:rect l="txL" t="txT" r="txR" b="txB"/>
                <a:pathLst>
                  <a:path w="30" h="48">
                    <a:moveTo>
                      <a:pt x="30" y="48"/>
                    </a:moveTo>
                    <a:lnTo>
                      <a:pt x="0" y="0"/>
                    </a:lnTo>
                    <a:lnTo>
                      <a:pt x="30" y="48"/>
                    </a:lnTo>
                    <a:close/>
                    <a:moveTo>
                      <a:pt x="30" y="48"/>
                    </a:moveTo>
                    <a:lnTo>
                      <a:pt x="30" y="4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69" name="Freeform 151"/>
              <p:cNvSpPr>
                <a:spLocks noEditPoints="1"/>
              </p:cNvSpPr>
              <p:nvPr/>
            </p:nvSpPr>
            <p:spPr>
              <a:xfrm>
                <a:off x="2667" y="2518"/>
                <a:ext cx="24" cy="54"/>
              </a:xfrm>
              <a:custGeom>
                <a:avLst/>
                <a:gdLst>
                  <a:gd name="txL" fmla="*/ 0 w 24"/>
                  <a:gd name="txT" fmla="*/ 0 h 54"/>
                  <a:gd name="txR" fmla="*/ 24 w 24"/>
                  <a:gd name="txB" fmla="*/ 54 h 54"/>
                </a:gdLst>
                <a:ahLst/>
                <a:cxnLst>
                  <a:cxn ang="0">
                    <a:pos x="24" y="54"/>
                  </a:cxn>
                  <a:cxn ang="0">
                    <a:pos x="0" y="0"/>
                  </a:cxn>
                  <a:cxn ang="0">
                    <a:pos x="24" y="54"/>
                  </a:cxn>
                  <a:cxn ang="0">
                    <a:pos x="24" y="54"/>
                  </a:cxn>
                  <a:cxn ang="0">
                    <a:pos x="24" y="54"/>
                  </a:cxn>
                  <a:cxn ang="0">
                    <a:pos x="24" y="54"/>
                  </a:cxn>
                  <a:cxn ang="0">
                    <a:pos x="24" y="54"/>
                  </a:cxn>
                </a:cxnLst>
                <a:rect l="txL" t="txT" r="txR" b="txB"/>
                <a:pathLst>
                  <a:path w="24" h="54">
                    <a:moveTo>
                      <a:pt x="24" y="54"/>
                    </a:moveTo>
                    <a:lnTo>
                      <a:pt x="0" y="0"/>
                    </a:lnTo>
                    <a:lnTo>
                      <a:pt x="24" y="54"/>
                    </a:lnTo>
                    <a:close/>
                    <a:moveTo>
                      <a:pt x="24" y="54"/>
                    </a:moveTo>
                    <a:lnTo>
                      <a:pt x="24" y="5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70" name="Freeform 152"/>
              <p:cNvSpPr>
                <a:spLocks noEditPoints="1"/>
              </p:cNvSpPr>
              <p:nvPr/>
            </p:nvSpPr>
            <p:spPr>
              <a:xfrm>
                <a:off x="2631" y="2518"/>
                <a:ext cx="36" cy="54"/>
              </a:xfrm>
              <a:custGeom>
                <a:avLst/>
                <a:gdLst>
                  <a:gd name="txL" fmla="*/ 0 w 36"/>
                  <a:gd name="txT" fmla="*/ 0 h 54"/>
                  <a:gd name="txR" fmla="*/ 36 w 36"/>
                  <a:gd name="txB" fmla="*/ 54 h 54"/>
                </a:gdLst>
                <a:ahLst/>
                <a:cxnLst>
                  <a:cxn ang="0">
                    <a:pos x="36" y="0"/>
                  </a:cxn>
                  <a:cxn ang="0">
                    <a:pos x="0" y="54"/>
                  </a:cxn>
                  <a:cxn ang="0">
                    <a:pos x="36" y="0"/>
                  </a:cxn>
                  <a:cxn ang="0">
                    <a:pos x="36" y="0"/>
                  </a:cxn>
                  <a:cxn ang="0">
                    <a:pos x="36" y="0"/>
                  </a:cxn>
                  <a:cxn ang="0">
                    <a:pos x="36" y="0"/>
                  </a:cxn>
                  <a:cxn ang="0">
                    <a:pos x="36" y="0"/>
                  </a:cxn>
                </a:cxnLst>
                <a:rect l="txL" t="txT" r="txR" b="txB"/>
                <a:pathLst>
                  <a:path w="36" h="54">
                    <a:moveTo>
                      <a:pt x="36" y="0"/>
                    </a:moveTo>
                    <a:lnTo>
                      <a:pt x="0" y="54"/>
                    </a:lnTo>
                    <a:lnTo>
                      <a:pt x="36" y="0"/>
                    </a:lnTo>
                    <a:close/>
                    <a:moveTo>
                      <a:pt x="36" y="0"/>
                    </a:move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59471" name="Freeform 153"/>
              <p:cNvSpPr>
                <a:spLocks noEditPoints="1"/>
              </p:cNvSpPr>
              <p:nvPr/>
            </p:nvSpPr>
            <p:spPr>
              <a:xfrm>
                <a:off x="2763" y="2291"/>
                <a:ext cx="137" cy="108"/>
              </a:xfrm>
              <a:custGeom>
                <a:avLst/>
                <a:gdLst>
                  <a:gd name="txL" fmla="*/ 0 w 137"/>
                  <a:gd name="txT" fmla="*/ 0 h 108"/>
                  <a:gd name="txR" fmla="*/ 137 w 137"/>
                  <a:gd name="txB" fmla="*/ 108 h 108"/>
                </a:gdLst>
                <a:ahLst/>
                <a:cxnLst>
                  <a:cxn ang="0">
                    <a:pos x="131" y="102"/>
                  </a:cxn>
                  <a:cxn ang="0">
                    <a:pos x="119" y="96"/>
                  </a:cxn>
                  <a:cxn ang="0">
                    <a:pos x="114" y="90"/>
                  </a:cxn>
                  <a:cxn ang="0">
                    <a:pos x="96" y="54"/>
                  </a:cxn>
                  <a:cxn ang="0">
                    <a:pos x="114" y="48"/>
                  </a:cxn>
                  <a:cxn ang="0">
                    <a:pos x="125" y="42"/>
                  </a:cxn>
                  <a:cxn ang="0">
                    <a:pos x="137" y="24"/>
                  </a:cxn>
                  <a:cxn ang="0">
                    <a:pos x="131" y="12"/>
                  </a:cxn>
                  <a:cxn ang="0">
                    <a:pos x="114" y="6"/>
                  </a:cxn>
                  <a:cxn ang="0">
                    <a:pos x="102" y="0"/>
                  </a:cxn>
                  <a:cxn ang="0">
                    <a:pos x="90" y="0"/>
                  </a:cxn>
                  <a:cxn ang="0">
                    <a:pos x="36" y="0"/>
                  </a:cxn>
                  <a:cxn ang="0">
                    <a:pos x="36" y="0"/>
                  </a:cxn>
                  <a:cxn ang="0">
                    <a:pos x="42" y="6"/>
                  </a:cxn>
                  <a:cxn ang="0">
                    <a:pos x="48" y="12"/>
                  </a:cxn>
                  <a:cxn ang="0">
                    <a:pos x="48" y="18"/>
                  </a:cxn>
                  <a:cxn ang="0">
                    <a:pos x="48" y="18"/>
                  </a:cxn>
                  <a:cxn ang="0">
                    <a:pos x="18" y="90"/>
                  </a:cxn>
                  <a:cxn ang="0">
                    <a:pos x="12" y="102"/>
                  </a:cxn>
                  <a:cxn ang="0">
                    <a:pos x="0" y="102"/>
                  </a:cxn>
                  <a:cxn ang="0">
                    <a:pos x="0" y="108"/>
                  </a:cxn>
                  <a:cxn ang="0">
                    <a:pos x="54" y="108"/>
                  </a:cxn>
                  <a:cxn ang="0">
                    <a:pos x="54" y="102"/>
                  </a:cxn>
                  <a:cxn ang="0">
                    <a:pos x="42" y="102"/>
                  </a:cxn>
                  <a:cxn ang="0">
                    <a:pos x="42" y="96"/>
                  </a:cxn>
                  <a:cxn ang="0">
                    <a:pos x="42" y="96"/>
                  </a:cxn>
                  <a:cxn ang="0">
                    <a:pos x="42" y="84"/>
                  </a:cxn>
                  <a:cxn ang="0">
                    <a:pos x="54" y="54"/>
                  </a:cxn>
                  <a:cxn ang="0">
                    <a:pos x="72" y="54"/>
                  </a:cxn>
                  <a:cxn ang="0">
                    <a:pos x="102" y="108"/>
                  </a:cxn>
                  <a:cxn ang="0">
                    <a:pos x="131" y="108"/>
                  </a:cxn>
                  <a:cxn ang="0">
                    <a:pos x="131" y="102"/>
                  </a:cxn>
                  <a:cxn ang="0">
                    <a:pos x="72" y="12"/>
                  </a:cxn>
                  <a:cxn ang="0">
                    <a:pos x="78" y="6"/>
                  </a:cxn>
                  <a:cxn ang="0">
                    <a:pos x="90" y="6"/>
                  </a:cxn>
                  <a:cxn ang="0">
                    <a:pos x="108" y="6"/>
                  </a:cxn>
                  <a:cxn ang="0">
                    <a:pos x="114" y="12"/>
                  </a:cxn>
                  <a:cxn ang="0">
                    <a:pos x="114" y="24"/>
                  </a:cxn>
                  <a:cxn ang="0">
                    <a:pos x="114" y="36"/>
                  </a:cxn>
                  <a:cxn ang="0">
                    <a:pos x="108" y="42"/>
                  </a:cxn>
                  <a:cxn ang="0">
                    <a:pos x="96" y="48"/>
                  </a:cxn>
                  <a:cxn ang="0">
                    <a:pos x="72" y="48"/>
                  </a:cxn>
                  <a:cxn ang="0">
                    <a:pos x="66" y="48"/>
                  </a:cxn>
                  <a:cxn ang="0">
                    <a:pos x="60" y="48"/>
                  </a:cxn>
                  <a:cxn ang="0">
                    <a:pos x="72" y="12"/>
                  </a:cxn>
                </a:cxnLst>
                <a:rect l="txL" t="txT" r="txR" b="txB"/>
                <a:pathLst>
                  <a:path w="137" h="108">
                    <a:moveTo>
                      <a:pt x="131" y="102"/>
                    </a:moveTo>
                    <a:lnTo>
                      <a:pt x="119" y="96"/>
                    </a:lnTo>
                    <a:lnTo>
                      <a:pt x="114" y="90"/>
                    </a:lnTo>
                    <a:lnTo>
                      <a:pt x="96" y="54"/>
                    </a:lnTo>
                    <a:lnTo>
                      <a:pt x="114" y="48"/>
                    </a:lnTo>
                    <a:lnTo>
                      <a:pt x="125" y="42"/>
                    </a:lnTo>
                    <a:lnTo>
                      <a:pt x="137" y="24"/>
                    </a:lnTo>
                    <a:lnTo>
                      <a:pt x="131" y="12"/>
                    </a:lnTo>
                    <a:lnTo>
                      <a:pt x="114" y="6"/>
                    </a:lnTo>
                    <a:lnTo>
                      <a:pt x="102" y="0"/>
                    </a:lnTo>
                    <a:lnTo>
                      <a:pt x="90" y="0"/>
                    </a:lnTo>
                    <a:lnTo>
                      <a:pt x="36" y="0"/>
                    </a:lnTo>
                    <a:lnTo>
                      <a:pt x="42" y="6"/>
                    </a:lnTo>
                    <a:lnTo>
                      <a:pt x="48" y="12"/>
                    </a:lnTo>
                    <a:lnTo>
                      <a:pt x="48" y="18"/>
                    </a:lnTo>
                    <a:lnTo>
                      <a:pt x="18" y="90"/>
                    </a:lnTo>
                    <a:lnTo>
                      <a:pt x="12" y="102"/>
                    </a:lnTo>
                    <a:lnTo>
                      <a:pt x="0" y="102"/>
                    </a:lnTo>
                    <a:lnTo>
                      <a:pt x="0" y="108"/>
                    </a:lnTo>
                    <a:lnTo>
                      <a:pt x="54" y="108"/>
                    </a:lnTo>
                    <a:lnTo>
                      <a:pt x="54" y="102"/>
                    </a:lnTo>
                    <a:lnTo>
                      <a:pt x="42" y="102"/>
                    </a:lnTo>
                    <a:lnTo>
                      <a:pt x="42" y="96"/>
                    </a:lnTo>
                    <a:lnTo>
                      <a:pt x="42" y="84"/>
                    </a:lnTo>
                    <a:lnTo>
                      <a:pt x="54" y="54"/>
                    </a:lnTo>
                    <a:lnTo>
                      <a:pt x="72" y="54"/>
                    </a:lnTo>
                    <a:lnTo>
                      <a:pt x="102" y="108"/>
                    </a:lnTo>
                    <a:lnTo>
                      <a:pt x="131" y="108"/>
                    </a:lnTo>
                    <a:lnTo>
                      <a:pt x="131" y="102"/>
                    </a:lnTo>
                    <a:close/>
                    <a:moveTo>
                      <a:pt x="72" y="12"/>
                    </a:moveTo>
                    <a:lnTo>
                      <a:pt x="78" y="6"/>
                    </a:lnTo>
                    <a:lnTo>
                      <a:pt x="90" y="6"/>
                    </a:lnTo>
                    <a:lnTo>
                      <a:pt x="108" y="6"/>
                    </a:lnTo>
                    <a:lnTo>
                      <a:pt x="114" y="12"/>
                    </a:lnTo>
                    <a:lnTo>
                      <a:pt x="114" y="24"/>
                    </a:lnTo>
                    <a:lnTo>
                      <a:pt x="114" y="36"/>
                    </a:lnTo>
                    <a:lnTo>
                      <a:pt x="108" y="42"/>
                    </a:lnTo>
                    <a:lnTo>
                      <a:pt x="96" y="48"/>
                    </a:lnTo>
                    <a:lnTo>
                      <a:pt x="72" y="48"/>
                    </a:lnTo>
                    <a:lnTo>
                      <a:pt x="66" y="48"/>
                    </a:lnTo>
                    <a:lnTo>
                      <a:pt x="60" y="48"/>
                    </a:lnTo>
                    <a:lnTo>
                      <a:pt x="72"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72" name="Freeform 154"/>
              <p:cNvSpPr/>
              <p:nvPr/>
            </p:nvSpPr>
            <p:spPr>
              <a:xfrm>
                <a:off x="2912" y="2387"/>
                <a:ext cx="66" cy="54"/>
              </a:xfrm>
              <a:custGeom>
                <a:avLst/>
                <a:gdLst>
                  <a:gd name="txL" fmla="*/ 0 w 66"/>
                  <a:gd name="txT" fmla="*/ 0 h 54"/>
                  <a:gd name="txR" fmla="*/ 66 w 66"/>
                  <a:gd name="txB" fmla="*/ 54 h 54"/>
                </a:gdLst>
                <a:ahLst/>
                <a:cxnLst>
                  <a:cxn ang="0">
                    <a:pos x="54" y="36"/>
                  </a:cxn>
                  <a:cxn ang="0">
                    <a:pos x="42" y="42"/>
                  </a:cxn>
                  <a:cxn ang="0">
                    <a:pos x="30" y="48"/>
                  </a:cxn>
                  <a:cxn ang="0">
                    <a:pos x="18" y="42"/>
                  </a:cxn>
                  <a:cxn ang="0">
                    <a:pos x="12" y="36"/>
                  </a:cxn>
                  <a:cxn ang="0">
                    <a:pos x="24" y="12"/>
                  </a:cxn>
                  <a:cxn ang="0">
                    <a:pos x="30" y="6"/>
                  </a:cxn>
                  <a:cxn ang="0">
                    <a:pos x="48" y="0"/>
                  </a:cxn>
                  <a:cxn ang="0">
                    <a:pos x="54" y="0"/>
                  </a:cxn>
                  <a:cxn ang="0">
                    <a:pos x="54" y="0"/>
                  </a:cxn>
                  <a:cxn ang="0">
                    <a:pos x="54" y="6"/>
                  </a:cxn>
                  <a:cxn ang="0">
                    <a:pos x="54" y="6"/>
                  </a:cxn>
                  <a:cxn ang="0">
                    <a:pos x="54" y="12"/>
                  </a:cxn>
                  <a:cxn ang="0">
                    <a:pos x="60" y="12"/>
                  </a:cxn>
                  <a:cxn ang="0">
                    <a:pos x="66" y="12"/>
                  </a:cxn>
                  <a:cxn ang="0">
                    <a:pos x="66" y="6"/>
                  </a:cxn>
                  <a:cxn ang="0">
                    <a:pos x="60" y="6"/>
                  </a:cxn>
                  <a:cxn ang="0">
                    <a:pos x="48" y="0"/>
                  </a:cxn>
                  <a:cxn ang="0">
                    <a:pos x="30" y="6"/>
                  </a:cxn>
                  <a:cxn ang="0">
                    <a:pos x="18" y="12"/>
                  </a:cxn>
                  <a:cxn ang="0">
                    <a:pos x="6" y="24"/>
                  </a:cxn>
                  <a:cxn ang="0">
                    <a:pos x="0" y="36"/>
                  </a:cxn>
                  <a:cxn ang="0">
                    <a:pos x="6" y="48"/>
                  </a:cxn>
                  <a:cxn ang="0">
                    <a:pos x="24" y="54"/>
                  </a:cxn>
                  <a:cxn ang="0">
                    <a:pos x="48" y="48"/>
                  </a:cxn>
                  <a:cxn ang="0">
                    <a:pos x="54" y="42"/>
                  </a:cxn>
                  <a:cxn ang="0">
                    <a:pos x="54" y="36"/>
                  </a:cxn>
                </a:cxnLst>
                <a:rect l="txL" t="txT" r="txR" b="txB"/>
                <a:pathLst>
                  <a:path w="66" h="54">
                    <a:moveTo>
                      <a:pt x="54" y="36"/>
                    </a:moveTo>
                    <a:lnTo>
                      <a:pt x="42" y="42"/>
                    </a:lnTo>
                    <a:lnTo>
                      <a:pt x="30" y="48"/>
                    </a:lnTo>
                    <a:lnTo>
                      <a:pt x="18" y="42"/>
                    </a:lnTo>
                    <a:lnTo>
                      <a:pt x="12" y="36"/>
                    </a:lnTo>
                    <a:lnTo>
                      <a:pt x="24" y="12"/>
                    </a:lnTo>
                    <a:lnTo>
                      <a:pt x="30" y="6"/>
                    </a:lnTo>
                    <a:lnTo>
                      <a:pt x="48" y="0"/>
                    </a:lnTo>
                    <a:lnTo>
                      <a:pt x="54" y="0"/>
                    </a:lnTo>
                    <a:lnTo>
                      <a:pt x="54" y="6"/>
                    </a:lnTo>
                    <a:lnTo>
                      <a:pt x="54" y="12"/>
                    </a:lnTo>
                    <a:lnTo>
                      <a:pt x="60" y="12"/>
                    </a:lnTo>
                    <a:lnTo>
                      <a:pt x="66" y="12"/>
                    </a:lnTo>
                    <a:lnTo>
                      <a:pt x="66" y="6"/>
                    </a:lnTo>
                    <a:lnTo>
                      <a:pt x="60" y="6"/>
                    </a:lnTo>
                    <a:lnTo>
                      <a:pt x="48" y="0"/>
                    </a:lnTo>
                    <a:lnTo>
                      <a:pt x="30" y="6"/>
                    </a:lnTo>
                    <a:lnTo>
                      <a:pt x="18" y="12"/>
                    </a:lnTo>
                    <a:lnTo>
                      <a:pt x="6" y="24"/>
                    </a:lnTo>
                    <a:lnTo>
                      <a:pt x="0" y="36"/>
                    </a:lnTo>
                    <a:lnTo>
                      <a:pt x="6" y="48"/>
                    </a:lnTo>
                    <a:lnTo>
                      <a:pt x="24" y="54"/>
                    </a:lnTo>
                    <a:lnTo>
                      <a:pt x="48" y="48"/>
                    </a:lnTo>
                    <a:lnTo>
                      <a:pt x="54" y="42"/>
                    </a:lnTo>
                    <a:lnTo>
                      <a:pt x="54" y="3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73" name="Freeform 155"/>
              <p:cNvSpPr>
                <a:spLocks noEditPoints="1"/>
              </p:cNvSpPr>
              <p:nvPr/>
            </p:nvSpPr>
            <p:spPr>
              <a:xfrm>
                <a:off x="3678" y="3080"/>
                <a:ext cx="132" cy="107"/>
              </a:xfrm>
              <a:custGeom>
                <a:avLst/>
                <a:gdLst>
                  <a:gd name="txL" fmla="*/ 0 w 132"/>
                  <a:gd name="txT" fmla="*/ 0 h 107"/>
                  <a:gd name="txR" fmla="*/ 132 w 132"/>
                  <a:gd name="txB" fmla="*/ 107 h 107"/>
                </a:gdLst>
                <a:ahLst/>
                <a:cxnLst>
                  <a:cxn ang="0">
                    <a:pos x="132" y="107"/>
                  </a:cxn>
                  <a:cxn ang="0">
                    <a:pos x="120" y="101"/>
                  </a:cxn>
                  <a:cxn ang="0">
                    <a:pos x="114" y="95"/>
                  </a:cxn>
                  <a:cxn ang="0">
                    <a:pos x="90" y="53"/>
                  </a:cxn>
                  <a:cxn ang="0">
                    <a:pos x="108" y="47"/>
                  </a:cxn>
                  <a:cxn ang="0">
                    <a:pos x="120" y="41"/>
                  </a:cxn>
                  <a:cxn ang="0">
                    <a:pos x="132" y="24"/>
                  </a:cxn>
                  <a:cxn ang="0">
                    <a:pos x="126" y="12"/>
                  </a:cxn>
                  <a:cxn ang="0">
                    <a:pos x="114" y="6"/>
                  </a:cxn>
                  <a:cxn ang="0">
                    <a:pos x="102" y="0"/>
                  </a:cxn>
                  <a:cxn ang="0">
                    <a:pos x="90" y="0"/>
                  </a:cxn>
                  <a:cxn ang="0">
                    <a:pos x="30" y="0"/>
                  </a:cxn>
                  <a:cxn ang="0">
                    <a:pos x="30" y="6"/>
                  </a:cxn>
                  <a:cxn ang="0">
                    <a:pos x="42" y="6"/>
                  </a:cxn>
                  <a:cxn ang="0">
                    <a:pos x="48" y="12"/>
                  </a:cxn>
                  <a:cxn ang="0">
                    <a:pos x="48" y="18"/>
                  </a:cxn>
                  <a:cxn ang="0">
                    <a:pos x="42" y="24"/>
                  </a:cxn>
                  <a:cxn ang="0">
                    <a:pos x="18" y="95"/>
                  </a:cxn>
                  <a:cxn ang="0">
                    <a:pos x="12" y="101"/>
                  </a:cxn>
                  <a:cxn ang="0">
                    <a:pos x="0" y="107"/>
                  </a:cxn>
                  <a:cxn ang="0">
                    <a:pos x="0" y="107"/>
                  </a:cxn>
                  <a:cxn ang="0">
                    <a:pos x="54" y="107"/>
                  </a:cxn>
                  <a:cxn ang="0">
                    <a:pos x="54" y="107"/>
                  </a:cxn>
                  <a:cxn ang="0">
                    <a:pos x="42" y="101"/>
                  </a:cxn>
                  <a:cxn ang="0">
                    <a:pos x="36" y="95"/>
                  </a:cxn>
                  <a:cxn ang="0">
                    <a:pos x="36" y="95"/>
                  </a:cxn>
                  <a:cxn ang="0">
                    <a:pos x="42" y="89"/>
                  </a:cxn>
                  <a:cxn ang="0">
                    <a:pos x="54" y="53"/>
                  </a:cxn>
                  <a:cxn ang="0">
                    <a:pos x="66" y="53"/>
                  </a:cxn>
                  <a:cxn ang="0">
                    <a:pos x="96" y="107"/>
                  </a:cxn>
                  <a:cxn ang="0">
                    <a:pos x="132" y="107"/>
                  </a:cxn>
                  <a:cxn ang="0">
                    <a:pos x="132" y="107"/>
                  </a:cxn>
                  <a:cxn ang="0">
                    <a:pos x="72" y="12"/>
                  </a:cxn>
                  <a:cxn ang="0">
                    <a:pos x="72" y="12"/>
                  </a:cxn>
                  <a:cxn ang="0">
                    <a:pos x="84" y="6"/>
                  </a:cxn>
                  <a:cxn ang="0">
                    <a:pos x="102" y="12"/>
                  </a:cxn>
                  <a:cxn ang="0">
                    <a:pos x="108" y="24"/>
                  </a:cxn>
                  <a:cxn ang="0">
                    <a:pos x="102" y="41"/>
                  </a:cxn>
                  <a:cxn ang="0">
                    <a:pos x="90" y="47"/>
                  </a:cxn>
                  <a:cxn ang="0">
                    <a:pos x="72" y="47"/>
                  </a:cxn>
                  <a:cxn ang="0">
                    <a:pos x="54" y="47"/>
                  </a:cxn>
                  <a:cxn ang="0">
                    <a:pos x="72" y="12"/>
                  </a:cxn>
                </a:cxnLst>
                <a:rect l="txL" t="txT" r="txR" b="txB"/>
                <a:pathLst>
                  <a:path w="132" h="107">
                    <a:moveTo>
                      <a:pt x="132" y="107"/>
                    </a:moveTo>
                    <a:lnTo>
                      <a:pt x="120" y="101"/>
                    </a:lnTo>
                    <a:lnTo>
                      <a:pt x="114" y="95"/>
                    </a:lnTo>
                    <a:lnTo>
                      <a:pt x="90" y="53"/>
                    </a:lnTo>
                    <a:lnTo>
                      <a:pt x="108" y="47"/>
                    </a:lnTo>
                    <a:lnTo>
                      <a:pt x="120" y="41"/>
                    </a:lnTo>
                    <a:lnTo>
                      <a:pt x="132" y="24"/>
                    </a:lnTo>
                    <a:lnTo>
                      <a:pt x="126" y="12"/>
                    </a:lnTo>
                    <a:lnTo>
                      <a:pt x="114" y="6"/>
                    </a:lnTo>
                    <a:lnTo>
                      <a:pt x="102" y="0"/>
                    </a:lnTo>
                    <a:lnTo>
                      <a:pt x="90" y="0"/>
                    </a:lnTo>
                    <a:lnTo>
                      <a:pt x="30" y="0"/>
                    </a:lnTo>
                    <a:lnTo>
                      <a:pt x="30" y="6"/>
                    </a:lnTo>
                    <a:lnTo>
                      <a:pt x="42" y="6"/>
                    </a:lnTo>
                    <a:lnTo>
                      <a:pt x="48" y="12"/>
                    </a:lnTo>
                    <a:lnTo>
                      <a:pt x="48" y="18"/>
                    </a:lnTo>
                    <a:lnTo>
                      <a:pt x="42" y="24"/>
                    </a:lnTo>
                    <a:lnTo>
                      <a:pt x="18" y="95"/>
                    </a:lnTo>
                    <a:lnTo>
                      <a:pt x="12" y="101"/>
                    </a:lnTo>
                    <a:lnTo>
                      <a:pt x="0" y="107"/>
                    </a:lnTo>
                    <a:lnTo>
                      <a:pt x="54" y="107"/>
                    </a:lnTo>
                    <a:lnTo>
                      <a:pt x="42" y="101"/>
                    </a:lnTo>
                    <a:lnTo>
                      <a:pt x="36" y="95"/>
                    </a:lnTo>
                    <a:lnTo>
                      <a:pt x="42" y="89"/>
                    </a:lnTo>
                    <a:lnTo>
                      <a:pt x="54" y="53"/>
                    </a:lnTo>
                    <a:lnTo>
                      <a:pt x="66" y="53"/>
                    </a:lnTo>
                    <a:lnTo>
                      <a:pt x="96" y="107"/>
                    </a:lnTo>
                    <a:lnTo>
                      <a:pt x="132" y="107"/>
                    </a:lnTo>
                    <a:close/>
                    <a:moveTo>
                      <a:pt x="72" y="12"/>
                    </a:moveTo>
                    <a:lnTo>
                      <a:pt x="72" y="12"/>
                    </a:lnTo>
                    <a:lnTo>
                      <a:pt x="84" y="6"/>
                    </a:lnTo>
                    <a:lnTo>
                      <a:pt x="102" y="12"/>
                    </a:lnTo>
                    <a:lnTo>
                      <a:pt x="108" y="24"/>
                    </a:lnTo>
                    <a:lnTo>
                      <a:pt x="102" y="41"/>
                    </a:lnTo>
                    <a:lnTo>
                      <a:pt x="90" y="47"/>
                    </a:lnTo>
                    <a:lnTo>
                      <a:pt x="72" y="47"/>
                    </a:lnTo>
                    <a:lnTo>
                      <a:pt x="54" y="47"/>
                    </a:lnTo>
                    <a:lnTo>
                      <a:pt x="72"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74" name="Freeform 156"/>
              <p:cNvSpPr>
                <a:spLocks noEditPoints="1"/>
              </p:cNvSpPr>
              <p:nvPr/>
            </p:nvSpPr>
            <p:spPr>
              <a:xfrm>
                <a:off x="3822" y="3175"/>
                <a:ext cx="77" cy="54"/>
              </a:xfrm>
              <a:custGeom>
                <a:avLst/>
                <a:gdLst>
                  <a:gd name="txL" fmla="*/ 0 w 77"/>
                  <a:gd name="txT" fmla="*/ 0 h 54"/>
                  <a:gd name="txR" fmla="*/ 77 w 77"/>
                  <a:gd name="txB" fmla="*/ 54 h 54"/>
                </a:gdLst>
                <a:ahLst/>
                <a:cxnLst>
                  <a:cxn ang="0">
                    <a:pos x="77" y="42"/>
                  </a:cxn>
                  <a:cxn ang="0">
                    <a:pos x="65" y="48"/>
                  </a:cxn>
                  <a:cxn ang="0">
                    <a:pos x="59" y="48"/>
                  </a:cxn>
                  <a:cxn ang="0">
                    <a:pos x="59" y="48"/>
                  </a:cxn>
                  <a:cxn ang="0">
                    <a:pos x="65" y="36"/>
                  </a:cxn>
                  <a:cxn ang="0">
                    <a:pos x="71" y="24"/>
                  </a:cxn>
                  <a:cxn ang="0">
                    <a:pos x="77" y="6"/>
                  </a:cxn>
                  <a:cxn ang="0">
                    <a:pos x="77" y="0"/>
                  </a:cxn>
                  <a:cxn ang="0">
                    <a:pos x="71" y="0"/>
                  </a:cxn>
                  <a:cxn ang="0">
                    <a:pos x="65" y="0"/>
                  </a:cxn>
                  <a:cxn ang="0">
                    <a:pos x="65" y="0"/>
                  </a:cxn>
                  <a:cxn ang="0">
                    <a:pos x="59" y="6"/>
                  </a:cxn>
                  <a:cxn ang="0">
                    <a:pos x="59" y="6"/>
                  </a:cxn>
                  <a:cxn ang="0">
                    <a:pos x="53" y="0"/>
                  </a:cxn>
                  <a:cxn ang="0">
                    <a:pos x="47" y="0"/>
                  </a:cxn>
                  <a:cxn ang="0">
                    <a:pos x="29" y="6"/>
                  </a:cxn>
                  <a:cxn ang="0">
                    <a:pos x="17" y="12"/>
                  </a:cxn>
                  <a:cxn ang="0">
                    <a:pos x="5" y="30"/>
                  </a:cxn>
                  <a:cxn ang="0">
                    <a:pos x="0" y="42"/>
                  </a:cxn>
                  <a:cxn ang="0">
                    <a:pos x="0" y="48"/>
                  </a:cxn>
                  <a:cxn ang="0">
                    <a:pos x="5" y="54"/>
                  </a:cxn>
                  <a:cxn ang="0">
                    <a:pos x="17" y="54"/>
                  </a:cxn>
                  <a:cxn ang="0">
                    <a:pos x="35" y="54"/>
                  </a:cxn>
                  <a:cxn ang="0">
                    <a:pos x="41" y="48"/>
                  </a:cxn>
                  <a:cxn ang="0">
                    <a:pos x="47" y="36"/>
                  </a:cxn>
                  <a:cxn ang="0">
                    <a:pos x="47" y="36"/>
                  </a:cxn>
                  <a:cxn ang="0">
                    <a:pos x="47" y="42"/>
                  </a:cxn>
                  <a:cxn ang="0">
                    <a:pos x="47" y="48"/>
                  </a:cxn>
                  <a:cxn ang="0">
                    <a:pos x="47" y="54"/>
                  </a:cxn>
                  <a:cxn ang="0">
                    <a:pos x="53" y="54"/>
                  </a:cxn>
                  <a:cxn ang="0">
                    <a:pos x="65" y="48"/>
                  </a:cxn>
                  <a:cxn ang="0">
                    <a:pos x="77" y="42"/>
                  </a:cxn>
                  <a:cxn ang="0">
                    <a:pos x="77" y="42"/>
                  </a:cxn>
                  <a:cxn ang="0">
                    <a:pos x="11" y="42"/>
                  </a:cxn>
                  <a:cxn ang="0">
                    <a:pos x="17" y="30"/>
                  </a:cxn>
                  <a:cxn ang="0">
                    <a:pos x="23" y="18"/>
                  </a:cxn>
                  <a:cxn ang="0">
                    <a:pos x="35" y="6"/>
                  </a:cxn>
                  <a:cxn ang="0">
                    <a:pos x="47" y="0"/>
                  </a:cxn>
                  <a:cxn ang="0">
                    <a:pos x="53" y="6"/>
                  </a:cxn>
                  <a:cxn ang="0">
                    <a:pos x="59" y="12"/>
                  </a:cxn>
                  <a:cxn ang="0">
                    <a:pos x="59" y="24"/>
                  </a:cxn>
                  <a:cxn ang="0">
                    <a:pos x="47" y="36"/>
                  </a:cxn>
                  <a:cxn ang="0">
                    <a:pos x="35" y="42"/>
                  </a:cxn>
                  <a:cxn ang="0">
                    <a:pos x="23" y="48"/>
                  </a:cxn>
                  <a:cxn ang="0">
                    <a:pos x="17" y="48"/>
                  </a:cxn>
                  <a:cxn ang="0">
                    <a:pos x="11" y="42"/>
                  </a:cxn>
                  <a:cxn ang="0">
                    <a:pos x="11" y="42"/>
                  </a:cxn>
                </a:cxnLst>
                <a:rect l="txL" t="txT" r="txR" b="txB"/>
                <a:pathLst>
                  <a:path w="77" h="54">
                    <a:moveTo>
                      <a:pt x="77" y="42"/>
                    </a:moveTo>
                    <a:lnTo>
                      <a:pt x="65" y="48"/>
                    </a:lnTo>
                    <a:lnTo>
                      <a:pt x="59" y="48"/>
                    </a:lnTo>
                    <a:lnTo>
                      <a:pt x="65" y="36"/>
                    </a:lnTo>
                    <a:lnTo>
                      <a:pt x="71" y="24"/>
                    </a:lnTo>
                    <a:lnTo>
                      <a:pt x="77" y="6"/>
                    </a:lnTo>
                    <a:lnTo>
                      <a:pt x="77" y="0"/>
                    </a:lnTo>
                    <a:lnTo>
                      <a:pt x="71" y="0"/>
                    </a:lnTo>
                    <a:lnTo>
                      <a:pt x="65" y="0"/>
                    </a:lnTo>
                    <a:lnTo>
                      <a:pt x="59" y="6"/>
                    </a:lnTo>
                    <a:lnTo>
                      <a:pt x="53" y="0"/>
                    </a:lnTo>
                    <a:lnTo>
                      <a:pt x="47" y="0"/>
                    </a:lnTo>
                    <a:lnTo>
                      <a:pt x="29" y="6"/>
                    </a:lnTo>
                    <a:lnTo>
                      <a:pt x="17" y="12"/>
                    </a:lnTo>
                    <a:lnTo>
                      <a:pt x="5" y="30"/>
                    </a:lnTo>
                    <a:lnTo>
                      <a:pt x="0" y="42"/>
                    </a:lnTo>
                    <a:lnTo>
                      <a:pt x="0" y="48"/>
                    </a:lnTo>
                    <a:lnTo>
                      <a:pt x="5" y="54"/>
                    </a:lnTo>
                    <a:lnTo>
                      <a:pt x="17" y="54"/>
                    </a:lnTo>
                    <a:lnTo>
                      <a:pt x="35" y="54"/>
                    </a:lnTo>
                    <a:lnTo>
                      <a:pt x="41" y="48"/>
                    </a:lnTo>
                    <a:lnTo>
                      <a:pt x="47" y="36"/>
                    </a:lnTo>
                    <a:lnTo>
                      <a:pt x="47" y="42"/>
                    </a:lnTo>
                    <a:lnTo>
                      <a:pt x="47" y="48"/>
                    </a:lnTo>
                    <a:lnTo>
                      <a:pt x="47" y="54"/>
                    </a:lnTo>
                    <a:lnTo>
                      <a:pt x="53" y="54"/>
                    </a:lnTo>
                    <a:lnTo>
                      <a:pt x="65" y="48"/>
                    </a:lnTo>
                    <a:lnTo>
                      <a:pt x="77" y="42"/>
                    </a:lnTo>
                    <a:close/>
                    <a:moveTo>
                      <a:pt x="11" y="42"/>
                    </a:moveTo>
                    <a:lnTo>
                      <a:pt x="17" y="30"/>
                    </a:lnTo>
                    <a:lnTo>
                      <a:pt x="23" y="18"/>
                    </a:lnTo>
                    <a:lnTo>
                      <a:pt x="35" y="6"/>
                    </a:lnTo>
                    <a:lnTo>
                      <a:pt x="47" y="0"/>
                    </a:lnTo>
                    <a:lnTo>
                      <a:pt x="53" y="6"/>
                    </a:lnTo>
                    <a:lnTo>
                      <a:pt x="59" y="12"/>
                    </a:lnTo>
                    <a:lnTo>
                      <a:pt x="59" y="24"/>
                    </a:lnTo>
                    <a:lnTo>
                      <a:pt x="47" y="36"/>
                    </a:lnTo>
                    <a:lnTo>
                      <a:pt x="35" y="42"/>
                    </a:lnTo>
                    <a:lnTo>
                      <a:pt x="23" y="48"/>
                    </a:lnTo>
                    <a:lnTo>
                      <a:pt x="17" y="48"/>
                    </a:lnTo>
                    <a:lnTo>
                      <a:pt x="11" y="4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75" name="Freeform 157"/>
              <p:cNvSpPr>
                <a:spLocks noEditPoints="1"/>
              </p:cNvSpPr>
              <p:nvPr/>
            </p:nvSpPr>
            <p:spPr>
              <a:xfrm>
                <a:off x="1848" y="3062"/>
                <a:ext cx="137" cy="107"/>
              </a:xfrm>
              <a:custGeom>
                <a:avLst/>
                <a:gdLst>
                  <a:gd name="txL" fmla="*/ 0 w 137"/>
                  <a:gd name="txT" fmla="*/ 0 h 107"/>
                  <a:gd name="txR" fmla="*/ 137 w 137"/>
                  <a:gd name="txB" fmla="*/ 107 h 107"/>
                </a:gdLst>
                <a:ahLst/>
                <a:cxnLst>
                  <a:cxn ang="0">
                    <a:pos x="131" y="101"/>
                  </a:cxn>
                  <a:cxn ang="0">
                    <a:pos x="119" y="95"/>
                  </a:cxn>
                  <a:cxn ang="0">
                    <a:pos x="113" y="89"/>
                  </a:cxn>
                  <a:cxn ang="0">
                    <a:pos x="89" y="53"/>
                  </a:cxn>
                  <a:cxn ang="0">
                    <a:pos x="113" y="47"/>
                  </a:cxn>
                  <a:cxn ang="0">
                    <a:pos x="125" y="42"/>
                  </a:cxn>
                  <a:cxn ang="0">
                    <a:pos x="137" y="36"/>
                  </a:cxn>
                  <a:cxn ang="0">
                    <a:pos x="137" y="24"/>
                  </a:cxn>
                  <a:cxn ang="0">
                    <a:pos x="131" y="12"/>
                  </a:cxn>
                  <a:cxn ang="0">
                    <a:pos x="113" y="6"/>
                  </a:cxn>
                  <a:cxn ang="0">
                    <a:pos x="101" y="0"/>
                  </a:cxn>
                  <a:cxn ang="0">
                    <a:pos x="89" y="0"/>
                  </a:cxn>
                  <a:cxn ang="0">
                    <a:pos x="36" y="0"/>
                  </a:cxn>
                  <a:cxn ang="0">
                    <a:pos x="36" y="6"/>
                  </a:cxn>
                  <a:cxn ang="0">
                    <a:pos x="42" y="6"/>
                  </a:cxn>
                  <a:cxn ang="0">
                    <a:pos x="48" y="12"/>
                  </a:cxn>
                  <a:cxn ang="0">
                    <a:pos x="48" y="18"/>
                  </a:cxn>
                  <a:cxn ang="0">
                    <a:pos x="48" y="18"/>
                  </a:cxn>
                  <a:cxn ang="0">
                    <a:pos x="18" y="89"/>
                  </a:cxn>
                  <a:cxn ang="0">
                    <a:pos x="12" y="101"/>
                  </a:cxn>
                  <a:cxn ang="0">
                    <a:pos x="0" y="101"/>
                  </a:cxn>
                  <a:cxn ang="0">
                    <a:pos x="0" y="107"/>
                  </a:cxn>
                  <a:cxn ang="0">
                    <a:pos x="54" y="107"/>
                  </a:cxn>
                  <a:cxn ang="0">
                    <a:pos x="54" y="101"/>
                  </a:cxn>
                  <a:cxn ang="0">
                    <a:pos x="42" y="101"/>
                  </a:cxn>
                  <a:cxn ang="0">
                    <a:pos x="42" y="95"/>
                  </a:cxn>
                  <a:cxn ang="0">
                    <a:pos x="42" y="95"/>
                  </a:cxn>
                  <a:cxn ang="0">
                    <a:pos x="42" y="89"/>
                  </a:cxn>
                  <a:cxn ang="0">
                    <a:pos x="54" y="53"/>
                  </a:cxn>
                  <a:cxn ang="0">
                    <a:pos x="72" y="53"/>
                  </a:cxn>
                  <a:cxn ang="0">
                    <a:pos x="95" y="107"/>
                  </a:cxn>
                  <a:cxn ang="0">
                    <a:pos x="131" y="107"/>
                  </a:cxn>
                  <a:cxn ang="0">
                    <a:pos x="131" y="101"/>
                  </a:cxn>
                  <a:cxn ang="0">
                    <a:pos x="72" y="12"/>
                  </a:cxn>
                  <a:cxn ang="0">
                    <a:pos x="78" y="6"/>
                  </a:cxn>
                  <a:cxn ang="0">
                    <a:pos x="84" y="6"/>
                  </a:cxn>
                  <a:cxn ang="0">
                    <a:pos x="107" y="12"/>
                  </a:cxn>
                  <a:cxn ang="0">
                    <a:pos x="113" y="24"/>
                  </a:cxn>
                  <a:cxn ang="0">
                    <a:pos x="101" y="42"/>
                  </a:cxn>
                  <a:cxn ang="0">
                    <a:pos x="89" y="47"/>
                  </a:cxn>
                  <a:cxn ang="0">
                    <a:pos x="72" y="47"/>
                  </a:cxn>
                  <a:cxn ang="0">
                    <a:pos x="66" y="47"/>
                  </a:cxn>
                  <a:cxn ang="0">
                    <a:pos x="60" y="47"/>
                  </a:cxn>
                  <a:cxn ang="0">
                    <a:pos x="72" y="12"/>
                  </a:cxn>
                </a:cxnLst>
                <a:rect l="txL" t="txT" r="txR" b="txB"/>
                <a:pathLst>
                  <a:path w="137" h="107">
                    <a:moveTo>
                      <a:pt x="131" y="101"/>
                    </a:moveTo>
                    <a:lnTo>
                      <a:pt x="119" y="95"/>
                    </a:lnTo>
                    <a:lnTo>
                      <a:pt x="113" y="89"/>
                    </a:lnTo>
                    <a:lnTo>
                      <a:pt x="89" y="53"/>
                    </a:lnTo>
                    <a:lnTo>
                      <a:pt x="113" y="47"/>
                    </a:lnTo>
                    <a:lnTo>
                      <a:pt x="125" y="42"/>
                    </a:lnTo>
                    <a:lnTo>
                      <a:pt x="137" y="36"/>
                    </a:lnTo>
                    <a:lnTo>
                      <a:pt x="137" y="24"/>
                    </a:lnTo>
                    <a:lnTo>
                      <a:pt x="131" y="12"/>
                    </a:lnTo>
                    <a:lnTo>
                      <a:pt x="113" y="6"/>
                    </a:lnTo>
                    <a:lnTo>
                      <a:pt x="101" y="0"/>
                    </a:lnTo>
                    <a:lnTo>
                      <a:pt x="89" y="0"/>
                    </a:lnTo>
                    <a:lnTo>
                      <a:pt x="36" y="0"/>
                    </a:lnTo>
                    <a:lnTo>
                      <a:pt x="36" y="6"/>
                    </a:lnTo>
                    <a:lnTo>
                      <a:pt x="42" y="6"/>
                    </a:lnTo>
                    <a:lnTo>
                      <a:pt x="48" y="12"/>
                    </a:lnTo>
                    <a:lnTo>
                      <a:pt x="48" y="18"/>
                    </a:lnTo>
                    <a:lnTo>
                      <a:pt x="18" y="89"/>
                    </a:lnTo>
                    <a:lnTo>
                      <a:pt x="12" y="101"/>
                    </a:lnTo>
                    <a:lnTo>
                      <a:pt x="0" y="101"/>
                    </a:lnTo>
                    <a:lnTo>
                      <a:pt x="0" y="107"/>
                    </a:lnTo>
                    <a:lnTo>
                      <a:pt x="54" y="107"/>
                    </a:lnTo>
                    <a:lnTo>
                      <a:pt x="54" y="101"/>
                    </a:lnTo>
                    <a:lnTo>
                      <a:pt x="42" y="101"/>
                    </a:lnTo>
                    <a:lnTo>
                      <a:pt x="42" y="95"/>
                    </a:lnTo>
                    <a:lnTo>
                      <a:pt x="42" y="89"/>
                    </a:lnTo>
                    <a:lnTo>
                      <a:pt x="54" y="53"/>
                    </a:lnTo>
                    <a:lnTo>
                      <a:pt x="72" y="53"/>
                    </a:lnTo>
                    <a:lnTo>
                      <a:pt x="95" y="107"/>
                    </a:lnTo>
                    <a:lnTo>
                      <a:pt x="131" y="107"/>
                    </a:lnTo>
                    <a:lnTo>
                      <a:pt x="131" y="101"/>
                    </a:lnTo>
                    <a:close/>
                    <a:moveTo>
                      <a:pt x="72" y="12"/>
                    </a:moveTo>
                    <a:lnTo>
                      <a:pt x="78" y="6"/>
                    </a:lnTo>
                    <a:lnTo>
                      <a:pt x="84" y="6"/>
                    </a:lnTo>
                    <a:lnTo>
                      <a:pt x="107" y="12"/>
                    </a:lnTo>
                    <a:lnTo>
                      <a:pt x="113" y="24"/>
                    </a:lnTo>
                    <a:lnTo>
                      <a:pt x="101" y="42"/>
                    </a:lnTo>
                    <a:lnTo>
                      <a:pt x="89" y="47"/>
                    </a:lnTo>
                    <a:lnTo>
                      <a:pt x="72" y="47"/>
                    </a:lnTo>
                    <a:lnTo>
                      <a:pt x="66" y="47"/>
                    </a:lnTo>
                    <a:lnTo>
                      <a:pt x="60" y="47"/>
                    </a:lnTo>
                    <a:lnTo>
                      <a:pt x="72"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9476" name="Freeform 158"/>
              <p:cNvSpPr>
                <a:spLocks noEditPoints="1"/>
              </p:cNvSpPr>
              <p:nvPr/>
            </p:nvSpPr>
            <p:spPr>
              <a:xfrm>
                <a:off x="1991" y="3127"/>
                <a:ext cx="78" cy="84"/>
              </a:xfrm>
              <a:custGeom>
                <a:avLst/>
                <a:gdLst>
                  <a:gd name="txL" fmla="*/ 0 w 78"/>
                  <a:gd name="txT" fmla="*/ 0 h 84"/>
                  <a:gd name="txR" fmla="*/ 78 w 78"/>
                  <a:gd name="txB" fmla="*/ 84 h 84"/>
                </a:gdLst>
                <a:ahLst/>
                <a:cxnLst>
                  <a:cxn ang="0">
                    <a:pos x="66" y="42"/>
                  </a:cxn>
                  <a:cxn ang="0">
                    <a:pos x="66" y="54"/>
                  </a:cxn>
                  <a:cxn ang="0">
                    <a:pos x="54" y="66"/>
                  </a:cxn>
                  <a:cxn ang="0">
                    <a:pos x="42" y="72"/>
                  </a:cxn>
                  <a:cxn ang="0">
                    <a:pos x="24" y="78"/>
                  </a:cxn>
                  <a:cxn ang="0">
                    <a:pos x="18" y="78"/>
                  </a:cxn>
                  <a:cxn ang="0">
                    <a:pos x="18" y="78"/>
                  </a:cxn>
                  <a:cxn ang="0">
                    <a:pos x="24" y="66"/>
                  </a:cxn>
                  <a:cxn ang="0">
                    <a:pos x="30" y="54"/>
                  </a:cxn>
                  <a:cxn ang="0">
                    <a:pos x="42" y="42"/>
                  </a:cxn>
                  <a:cxn ang="0">
                    <a:pos x="54" y="36"/>
                  </a:cxn>
                  <a:cxn ang="0">
                    <a:pos x="66" y="42"/>
                  </a:cxn>
                  <a:cxn ang="0">
                    <a:pos x="66" y="42"/>
                  </a:cxn>
                  <a:cxn ang="0">
                    <a:pos x="66" y="42"/>
                  </a:cxn>
                  <a:cxn ang="0">
                    <a:pos x="18" y="6"/>
                  </a:cxn>
                  <a:cxn ang="0">
                    <a:pos x="30" y="6"/>
                  </a:cxn>
                  <a:cxn ang="0">
                    <a:pos x="30" y="6"/>
                  </a:cxn>
                  <a:cxn ang="0">
                    <a:pos x="30" y="12"/>
                  </a:cxn>
                  <a:cxn ang="0">
                    <a:pos x="24" y="12"/>
                  </a:cxn>
                  <a:cxn ang="0">
                    <a:pos x="0" y="78"/>
                  </a:cxn>
                  <a:cxn ang="0">
                    <a:pos x="0" y="78"/>
                  </a:cxn>
                  <a:cxn ang="0">
                    <a:pos x="6" y="78"/>
                  </a:cxn>
                  <a:cxn ang="0">
                    <a:pos x="12" y="84"/>
                  </a:cxn>
                  <a:cxn ang="0">
                    <a:pos x="24" y="84"/>
                  </a:cxn>
                  <a:cxn ang="0">
                    <a:pos x="48" y="78"/>
                  </a:cxn>
                  <a:cxn ang="0">
                    <a:pos x="60" y="72"/>
                  </a:cxn>
                  <a:cxn ang="0">
                    <a:pos x="72" y="54"/>
                  </a:cxn>
                  <a:cxn ang="0">
                    <a:pos x="78" y="42"/>
                  </a:cxn>
                  <a:cxn ang="0">
                    <a:pos x="72" y="36"/>
                  </a:cxn>
                  <a:cxn ang="0">
                    <a:pos x="60" y="30"/>
                  </a:cxn>
                  <a:cxn ang="0">
                    <a:pos x="42" y="36"/>
                  </a:cxn>
                  <a:cxn ang="0">
                    <a:pos x="30" y="48"/>
                  </a:cxn>
                  <a:cxn ang="0">
                    <a:pos x="30" y="48"/>
                  </a:cxn>
                  <a:cxn ang="0">
                    <a:pos x="36" y="18"/>
                  </a:cxn>
                  <a:cxn ang="0">
                    <a:pos x="42" y="6"/>
                  </a:cxn>
                  <a:cxn ang="0">
                    <a:pos x="42" y="0"/>
                  </a:cxn>
                  <a:cxn ang="0">
                    <a:pos x="42" y="0"/>
                  </a:cxn>
                  <a:cxn ang="0">
                    <a:pos x="30" y="0"/>
                  </a:cxn>
                  <a:cxn ang="0">
                    <a:pos x="18" y="0"/>
                  </a:cxn>
                  <a:cxn ang="0">
                    <a:pos x="18" y="6"/>
                  </a:cxn>
                </a:cxnLst>
                <a:rect l="txL" t="txT" r="txR" b="txB"/>
                <a:pathLst>
                  <a:path w="78" h="84">
                    <a:moveTo>
                      <a:pt x="66" y="42"/>
                    </a:moveTo>
                    <a:lnTo>
                      <a:pt x="66" y="54"/>
                    </a:lnTo>
                    <a:lnTo>
                      <a:pt x="54" y="66"/>
                    </a:lnTo>
                    <a:lnTo>
                      <a:pt x="42" y="72"/>
                    </a:lnTo>
                    <a:lnTo>
                      <a:pt x="24" y="78"/>
                    </a:lnTo>
                    <a:lnTo>
                      <a:pt x="18" y="78"/>
                    </a:lnTo>
                    <a:lnTo>
                      <a:pt x="24" y="66"/>
                    </a:lnTo>
                    <a:lnTo>
                      <a:pt x="30" y="54"/>
                    </a:lnTo>
                    <a:lnTo>
                      <a:pt x="42" y="42"/>
                    </a:lnTo>
                    <a:lnTo>
                      <a:pt x="54" y="36"/>
                    </a:lnTo>
                    <a:lnTo>
                      <a:pt x="66" y="42"/>
                    </a:lnTo>
                    <a:close/>
                    <a:moveTo>
                      <a:pt x="18" y="6"/>
                    </a:moveTo>
                    <a:lnTo>
                      <a:pt x="30" y="6"/>
                    </a:lnTo>
                    <a:lnTo>
                      <a:pt x="30" y="12"/>
                    </a:lnTo>
                    <a:lnTo>
                      <a:pt x="24" y="12"/>
                    </a:lnTo>
                    <a:lnTo>
                      <a:pt x="0" y="78"/>
                    </a:lnTo>
                    <a:lnTo>
                      <a:pt x="6" y="78"/>
                    </a:lnTo>
                    <a:lnTo>
                      <a:pt x="12" y="84"/>
                    </a:lnTo>
                    <a:lnTo>
                      <a:pt x="24" y="84"/>
                    </a:lnTo>
                    <a:lnTo>
                      <a:pt x="48" y="78"/>
                    </a:lnTo>
                    <a:lnTo>
                      <a:pt x="60" y="72"/>
                    </a:lnTo>
                    <a:lnTo>
                      <a:pt x="72" y="54"/>
                    </a:lnTo>
                    <a:lnTo>
                      <a:pt x="78" y="42"/>
                    </a:lnTo>
                    <a:lnTo>
                      <a:pt x="72" y="36"/>
                    </a:lnTo>
                    <a:lnTo>
                      <a:pt x="60" y="30"/>
                    </a:lnTo>
                    <a:lnTo>
                      <a:pt x="42" y="36"/>
                    </a:lnTo>
                    <a:lnTo>
                      <a:pt x="30" y="48"/>
                    </a:lnTo>
                    <a:lnTo>
                      <a:pt x="36" y="18"/>
                    </a:lnTo>
                    <a:lnTo>
                      <a:pt x="42" y="6"/>
                    </a:lnTo>
                    <a:lnTo>
                      <a:pt x="42" y="0"/>
                    </a:lnTo>
                    <a:lnTo>
                      <a:pt x="30" y="0"/>
                    </a:lnTo>
                    <a:lnTo>
                      <a:pt x="18" y="0"/>
                    </a:lnTo>
                    <a:lnTo>
                      <a:pt x="18"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grpSp>
      </p:grpSp>
      <p:sp>
        <p:nvSpPr>
          <p:cNvPr id="59400" name="Text Box 159"/>
          <p:cNvSpPr txBox="1"/>
          <p:nvPr/>
        </p:nvSpPr>
        <p:spPr>
          <a:xfrm>
            <a:off x="1476375" y="6216650"/>
            <a:ext cx="6840538"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000" dirty="0"/>
              <a:t>Figure 2.48 Two forms of the same network; (a)      ,(b)</a:t>
            </a:r>
            <a:r>
              <a:rPr lang="en-US" altLang="zh-CN" sz="2000" dirty="0">
                <a:latin typeface="宋体" panose="02010600030101010101" pitchFamily="2" charset="-122"/>
              </a:rPr>
              <a:t>∏</a:t>
            </a:r>
            <a:endParaRPr lang="en-US" altLang="zh-CN" sz="2000" dirty="0">
              <a:latin typeface="宋体" panose="02010600030101010101" pitchFamily="2" charset="-122"/>
            </a:endParaRPr>
          </a:p>
        </p:txBody>
      </p:sp>
      <p:graphicFrame>
        <p:nvGraphicFramePr>
          <p:cNvPr id="59401" name="Object 160"/>
          <p:cNvGraphicFramePr>
            <a:graphicFrameLocks noChangeAspect="1"/>
          </p:cNvGraphicFramePr>
          <p:nvPr>
            <p:ph sz="quarter" idx="3"/>
          </p:nvPr>
        </p:nvGraphicFramePr>
        <p:xfrm>
          <a:off x="6948488" y="6237288"/>
          <a:ext cx="242887" cy="287337"/>
        </p:xfrm>
        <a:graphic>
          <a:graphicData uri="http://schemas.openxmlformats.org/presentationml/2006/ole">
            <mc:AlternateContent xmlns:mc="http://schemas.openxmlformats.org/markup-compatibility/2006">
              <mc:Choice xmlns:v="urn:schemas-microsoft-com:vml" Requires="v">
                <p:oleObj spid="_x0000_s3137" name="" r:id="rId3" imgW="139700" imgH="165100" progId="Equation.3">
                  <p:embed/>
                </p:oleObj>
              </mc:Choice>
              <mc:Fallback>
                <p:oleObj name="" r:id="rId3" imgW="139700" imgH="165100" progId="Equation.3">
                  <p:embed/>
                  <p:pic>
                    <p:nvPicPr>
                      <p:cNvPr id="0" name="图片 3136"/>
                      <p:cNvPicPr/>
                      <p:nvPr/>
                    </p:nvPicPr>
                    <p:blipFill>
                      <a:blip r:embed="rId4"/>
                      <a:srcRect/>
                      <a:stretch>
                        <a:fillRect/>
                      </a:stretch>
                    </p:blipFill>
                    <p:spPr>
                      <a:xfrm>
                        <a:off x="6948488" y="6237288"/>
                        <a:ext cx="242887" cy="287337"/>
                      </a:xfrm>
                      <a:prstGeom prst="rect">
                        <a:avLst/>
                      </a:prstGeom>
                      <a:noFill/>
                      <a:ln w="38100">
                        <a:miter/>
                      </a:ln>
                    </p:spPr>
                  </p:pic>
                </p:oleObj>
              </mc:Fallback>
            </mc:AlternateContent>
          </a:graphicData>
        </a:graphic>
      </p:graphicFrame>
      <p:sp>
        <p:nvSpPr>
          <p:cNvPr id="59402"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3"/>
          <p:cNvSpPr>
            <a:spLocks noGrp="1"/>
          </p:cNvSpPr>
          <p:nvPr>
            <p:ph type="body" sz="half" idx="1"/>
          </p:nvPr>
        </p:nvSpPr>
        <p:spPr>
          <a:xfrm>
            <a:off x="260350" y="3213100"/>
            <a:ext cx="4859338" cy="4056063"/>
          </a:xfrm>
        </p:spPr>
        <p:txBody>
          <a:bodyPr vert="horz" wrap="square" lIns="91440" tIns="45720" rIns="91440" bIns="45720" anchor="t"/>
          <a:p>
            <a:pPr eaLnBrk="1" hangingPunct="1">
              <a:buClr>
                <a:schemeClr val="bg2"/>
              </a:buClr>
              <a:buSzPct val="75000"/>
              <a:buFont typeface="Wingdings" panose="05000000000000000000" pitchFamily="2" charset="2"/>
              <a:buNone/>
            </a:pPr>
            <a:r>
              <a:rPr lang="en-US" altLang="zh-CN" sz="2400" dirty="0">
                <a:latin typeface="Times New Roman" panose="02020603050405020304" pitchFamily="18" charset="0"/>
              </a:rPr>
              <a:t>        </a:t>
            </a:r>
            <a:r>
              <a:rPr lang="en-US" altLang="zh-CN" sz="2400" b="1" dirty="0">
                <a:latin typeface="Times New Roman" panose="02020603050405020304" pitchFamily="18" charset="0"/>
              </a:rPr>
              <a:t>To obtain the </a:t>
            </a:r>
            <a:r>
              <a:rPr lang="en-US" altLang="zh-CN" sz="2400" b="1" dirty="0">
                <a:solidFill>
                  <a:srgbClr val="0000FF"/>
                </a:solidFill>
                <a:latin typeface="Times New Roman" panose="02020603050405020304" pitchFamily="18" charset="0"/>
              </a:rPr>
              <a:t>equivalent    resistances</a:t>
            </a:r>
            <a:r>
              <a:rPr lang="en-US" altLang="zh-CN" sz="2400" b="1" dirty="0">
                <a:latin typeface="Times New Roman" panose="02020603050405020304" pitchFamily="18" charset="0"/>
              </a:rPr>
              <a:t> in the the </a:t>
            </a:r>
            <a:endParaRPr lang="en-US" altLang="zh-CN" sz="2400" b="1" dirty="0">
              <a:latin typeface="Times New Roman" panose="02020603050405020304" pitchFamily="18" charset="0"/>
            </a:endParaRPr>
          </a:p>
          <a:p>
            <a:pPr eaLnBrk="1" hangingPunct="1">
              <a:buClr>
                <a:schemeClr val="bg2"/>
              </a:buClr>
              <a:buSzPct val="75000"/>
              <a:buFont typeface="Wingdings" panose="05000000000000000000" pitchFamily="2" charset="2"/>
              <a:buNone/>
            </a:pPr>
            <a:r>
              <a:rPr lang="en-US" altLang="zh-CN" sz="2400" b="1" dirty="0">
                <a:latin typeface="Times New Roman" panose="02020603050405020304" pitchFamily="18" charset="0"/>
              </a:rPr>
              <a:t>    network, we compare the two networks and make sure that the resistance between </a:t>
            </a:r>
            <a:r>
              <a:rPr lang="en-US" altLang="zh-CN" sz="2400" b="1" dirty="0">
                <a:solidFill>
                  <a:srgbClr val="0000FF"/>
                </a:solidFill>
                <a:latin typeface="Times New Roman" panose="02020603050405020304" pitchFamily="18" charset="0"/>
              </a:rPr>
              <a:t>each pair</a:t>
            </a:r>
            <a:r>
              <a:rPr lang="en-US" altLang="zh-CN" sz="2400" b="1" dirty="0">
                <a:latin typeface="Times New Roman" panose="02020603050405020304" pitchFamily="18" charset="0"/>
              </a:rPr>
              <a:t> of nodes in the    network is the same as the resistance between the same pair of nodes in the Y network.  </a:t>
            </a:r>
            <a:endParaRPr lang="en-US" altLang="zh-CN" sz="2400" b="1" dirty="0">
              <a:latin typeface="Times New Roman" panose="02020603050405020304" pitchFamily="18" charset="0"/>
            </a:endParaRPr>
          </a:p>
        </p:txBody>
      </p:sp>
      <p:graphicFrame>
        <p:nvGraphicFramePr>
          <p:cNvPr id="60419" name="Object 4"/>
          <p:cNvGraphicFramePr>
            <a:graphicFrameLocks noChangeAspect="1"/>
          </p:cNvGraphicFramePr>
          <p:nvPr>
            <p:ph sz="quarter" idx="2"/>
          </p:nvPr>
        </p:nvGraphicFramePr>
        <p:xfrm>
          <a:off x="7054850" y="4625975"/>
          <a:ext cx="322263" cy="381000"/>
        </p:xfrm>
        <a:graphic>
          <a:graphicData uri="http://schemas.openxmlformats.org/presentationml/2006/ole">
            <mc:AlternateContent xmlns:mc="http://schemas.openxmlformats.org/markup-compatibility/2006">
              <mc:Choice xmlns:v="urn:schemas-microsoft-com:vml" Requires="v">
                <p:oleObj spid="_x0000_s3138" name="" r:id="rId1" imgW="139700" imgH="165100" progId="Equation.3">
                  <p:embed/>
                </p:oleObj>
              </mc:Choice>
              <mc:Fallback>
                <p:oleObj name="" r:id="rId1" imgW="139700" imgH="165100" progId="Equation.3">
                  <p:embed/>
                  <p:pic>
                    <p:nvPicPr>
                      <p:cNvPr id="0" name="图片 3137"/>
                      <p:cNvPicPr/>
                      <p:nvPr/>
                    </p:nvPicPr>
                    <p:blipFill>
                      <a:blip r:embed="rId2"/>
                      <a:srcRect/>
                      <a:stretch>
                        <a:fillRect/>
                      </a:stretch>
                    </p:blipFill>
                    <p:spPr>
                      <a:xfrm>
                        <a:off x="7054850" y="4625975"/>
                        <a:ext cx="322263" cy="381000"/>
                      </a:xfrm>
                      <a:prstGeom prst="rect">
                        <a:avLst/>
                      </a:prstGeom>
                      <a:noFill/>
                      <a:ln w="38100">
                        <a:miter/>
                      </a:ln>
                    </p:spPr>
                  </p:pic>
                </p:oleObj>
              </mc:Fallback>
            </mc:AlternateContent>
          </a:graphicData>
        </a:graphic>
      </p:graphicFrame>
      <p:sp>
        <p:nvSpPr>
          <p:cNvPr id="60420" name="Text Box 7"/>
          <p:cNvSpPr txBox="1"/>
          <p:nvPr/>
        </p:nvSpPr>
        <p:spPr>
          <a:xfrm>
            <a:off x="5614988" y="3690938"/>
            <a:ext cx="20256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rPr>
              <a:t>R</a:t>
            </a:r>
            <a:r>
              <a:rPr lang="en-US" altLang="zh-CN" sz="2400" b="1" baseline="-25000" dirty="0">
                <a:latin typeface="Times New Roman" panose="02020603050405020304" pitchFamily="18" charset="0"/>
              </a:rPr>
              <a:t>12</a:t>
            </a:r>
            <a:r>
              <a:rPr lang="en-US" altLang="zh-CN" sz="2400" b="1" dirty="0">
                <a:latin typeface="Times New Roman" panose="02020603050405020304" pitchFamily="18" charset="0"/>
              </a:rPr>
              <a:t>(Y)=</a:t>
            </a:r>
            <a:r>
              <a:rPr lang="en-US" altLang="zh-CN" sz="2400" b="1" i="1" dirty="0">
                <a:latin typeface="Times New Roman" panose="02020603050405020304" pitchFamily="18" charset="0"/>
              </a:rPr>
              <a:t>R</a:t>
            </a:r>
            <a:r>
              <a:rPr lang="en-US" altLang="zh-CN" sz="2400" b="1" baseline="-25000" dirty="0">
                <a:latin typeface="Times New Roman" panose="02020603050405020304" pitchFamily="18" charset="0"/>
              </a:rPr>
              <a:t>12</a:t>
            </a:r>
            <a:r>
              <a:rPr lang="en-US" altLang="zh-CN" sz="2400" b="1" dirty="0">
                <a:latin typeface="Times New Roman" panose="02020603050405020304" pitchFamily="18" charset="0"/>
              </a:rPr>
              <a:t>(   )</a:t>
            </a:r>
            <a:endParaRPr lang="en-US" altLang="zh-CN" sz="2400" b="1" dirty="0">
              <a:latin typeface="Times New Roman" panose="02020603050405020304" pitchFamily="18" charset="0"/>
            </a:endParaRPr>
          </a:p>
        </p:txBody>
      </p:sp>
      <p:graphicFrame>
        <p:nvGraphicFramePr>
          <p:cNvPr id="60421" name="Object 8"/>
          <p:cNvGraphicFramePr>
            <a:graphicFrameLocks noChangeAspect="1"/>
          </p:cNvGraphicFramePr>
          <p:nvPr>
            <p:ph sz="quarter" idx="3"/>
          </p:nvPr>
        </p:nvGraphicFramePr>
        <p:xfrm>
          <a:off x="7199313" y="3762375"/>
          <a:ext cx="258762" cy="306388"/>
        </p:xfrm>
        <a:graphic>
          <a:graphicData uri="http://schemas.openxmlformats.org/presentationml/2006/ole">
            <mc:AlternateContent xmlns:mc="http://schemas.openxmlformats.org/markup-compatibility/2006">
              <mc:Choice xmlns:v="urn:schemas-microsoft-com:vml" Requires="v">
                <p:oleObj spid="_x0000_s3139" name="" r:id="rId3" imgW="139700" imgH="165100" progId="Equation.3">
                  <p:embed/>
                </p:oleObj>
              </mc:Choice>
              <mc:Fallback>
                <p:oleObj name="" r:id="rId3" imgW="139700" imgH="165100" progId="Equation.3">
                  <p:embed/>
                  <p:pic>
                    <p:nvPicPr>
                      <p:cNvPr id="0" name="图片 3138"/>
                      <p:cNvPicPr/>
                      <p:nvPr/>
                    </p:nvPicPr>
                    <p:blipFill>
                      <a:blip r:embed="rId2"/>
                      <a:srcRect/>
                      <a:stretch>
                        <a:fillRect/>
                      </a:stretch>
                    </p:blipFill>
                    <p:spPr>
                      <a:xfrm>
                        <a:off x="7199313" y="3762375"/>
                        <a:ext cx="258762" cy="306388"/>
                      </a:xfrm>
                      <a:prstGeom prst="rect">
                        <a:avLst/>
                      </a:prstGeom>
                      <a:noFill/>
                      <a:ln w="38100">
                        <a:miter/>
                      </a:ln>
                    </p:spPr>
                  </p:pic>
                </p:oleObj>
              </mc:Fallback>
            </mc:AlternateContent>
          </a:graphicData>
        </a:graphic>
      </p:graphicFrame>
      <p:sp>
        <p:nvSpPr>
          <p:cNvPr id="60422" name="Text Box 11"/>
          <p:cNvSpPr txBox="1"/>
          <p:nvPr/>
        </p:nvSpPr>
        <p:spPr>
          <a:xfrm>
            <a:off x="5543550" y="4625975"/>
            <a:ext cx="20256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rPr>
              <a:t>R</a:t>
            </a:r>
            <a:r>
              <a:rPr lang="en-US" altLang="zh-CN" sz="2400" b="1" baseline="-25000" dirty="0">
                <a:latin typeface="Times New Roman" panose="02020603050405020304" pitchFamily="18" charset="0"/>
              </a:rPr>
              <a:t>13</a:t>
            </a:r>
            <a:r>
              <a:rPr lang="en-US" altLang="zh-CN" sz="2400" b="1" dirty="0">
                <a:latin typeface="Times New Roman" panose="02020603050405020304" pitchFamily="18" charset="0"/>
              </a:rPr>
              <a:t>(Y)=</a:t>
            </a:r>
            <a:r>
              <a:rPr lang="en-US" altLang="zh-CN" sz="2400" b="1" i="1" dirty="0">
                <a:latin typeface="Times New Roman" panose="02020603050405020304" pitchFamily="18" charset="0"/>
              </a:rPr>
              <a:t>R</a:t>
            </a:r>
            <a:r>
              <a:rPr lang="en-US" altLang="zh-CN" sz="2400" b="1" baseline="-25000" dirty="0">
                <a:latin typeface="Times New Roman" panose="02020603050405020304" pitchFamily="18" charset="0"/>
              </a:rPr>
              <a:t>13</a:t>
            </a:r>
            <a:r>
              <a:rPr lang="en-US" altLang="zh-CN" sz="2400" b="1" dirty="0">
                <a:latin typeface="Times New Roman" panose="02020603050405020304" pitchFamily="18" charset="0"/>
              </a:rPr>
              <a:t>(   )</a:t>
            </a:r>
            <a:endParaRPr lang="en-US" altLang="zh-CN" sz="2400" b="1" dirty="0">
              <a:latin typeface="Times New Roman" panose="02020603050405020304" pitchFamily="18" charset="0"/>
            </a:endParaRPr>
          </a:p>
        </p:txBody>
      </p:sp>
      <p:sp>
        <p:nvSpPr>
          <p:cNvPr id="60423" name="Text Box 12"/>
          <p:cNvSpPr txBox="1"/>
          <p:nvPr/>
        </p:nvSpPr>
        <p:spPr>
          <a:xfrm>
            <a:off x="5614988" y="5634038"/>
            <a:ext cx="20256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rPr>
              <a:t>R</a:t>
            </a:r>
            <a:r>
              <a:rPr lang="en-US" altLang="zh-CN" sz="2400" b="1" baseline="-25000" dirty="0">
                <a:latin typeface="Times New Roman" panose="02020603050405020304" pitchFamily="18" charset="0"/>
              </a:rPr>
              <a:t>23</a:t>
            </a:r>
            <a:r>
              <a:rPr lang="en-US" altLang="zh-CN" sz="2400" b="1" dirty="0">
                <a:latin typeface="Times New Roman" panose="02020603050405020304" pitchFamily="18" charset="0"/>
              </a:rPr>
              <a:t>(Y)=</a:t>
            </a:r>
            <a:r>
              <a:rPr lang="en-US" altLang="zh-CN" sz="2400" b="1" i="1" dirty="0">
                <a:latin typeface="Times New Roman" panose="02020603050405020304" pitchFamily="18" charset="0"/>
              </a:rPr>
              <a:t>R</a:t>
            </a:r>
            <a:r>
              <a:rPr lang="en-US" altLang="zh-CN" sz="2400" b="1" baseline="-25000" dirty="0">
                <a:latin typeface="Times New Roman" panose="02020603050405020304" pitchFamily="18" charset="0"/>
              </a:rPr>
              <a:t>23</a:t>
            </a:r>
            <a:r>
              <a:rPr lang="en-US" altLang="zh-CN" sz="2400" b="1" dirty="0">
                <a:latin typeface="Times New Roman" panose="02020603050405020304" pitchFamily="18" charset="0"/>
              </a:rPr>
              <a:t>(   )</a:t>
            </a:r>
            <a:endParaRPr lang="en-US" altLang="zh-CN" sz="2400" b="1" dirty="0">
              <a:latin typeface="Times New Roman" panose="02020603050405020304" pitchFamily="18" charset="0"/>
            </a:endParaRPr>
          </a:p>
        </p:txBody>
      </p:sp>
      <p:graphicFrame>
        <p:nvGraphicFramePr>
          <p:cNvPr id="60424" name="Object 13"/>
          <p:cNvGraphicFramePr>
            <a:graphicFrameLocks noChangeAspect="1"/>
          </p:cNvGraphicFramePr>
          <p:nvPr/>
        </p:nvGraphicFramePr>
        <p:xfrm>
          <a:off x="2308225" y="5240338"/>
          <a:ext cx="258763" cy="306387"/>
        </p:xfrm>
        <a:graphic>
          <a:graphicData uri="http://schemas.openxmlformats.org/presentationml/2006/ole">
            <mc:AlternateContent xmlns:mc="http://schemas.openxmlformats.org/markup-compatibility/2006">
              <mc:Choice xmlns:v="urn:schemas-microsoft-com:vml" Requires="v">
                <p:oleObj spid="_x0000_s3135" name="" r:id="rId4" imgW="139700" imgH="165100" progId="Equation.3">
                  <p:embed/>
                </p:oleObj>
              </mc:Choice>
              <mc:Fallback>
                <p:oleObj name="" r:id="rId4" imgW="139700" imgH="165100" progId="Equation.3">
                  <p:embed/>
                  <p:pic>
                    <p:nvPicPr>
                      <p:cNvPr id="0" name="图片 3134"/>
                      <p:cNvPicPr/>
                      <p:nvPr/>
                    </p:nvPicPr>
                    <p:blipFill>
                      <a:blip r:embed="rId5"/>
                      <a:stretch>
                        <a:fillRect/>
                      </a:stretch>
                    </p:blipFill>
                    <p:spPr>
                      <a:xfrm>
                        <a:off x="2308225" y="5240338"/>
                        <a:ext cx="258763" cy="306387"/>
                      </a:xfrm>
                      <a:prstGeom prst="rect">
                        <a:avLst/>
                      </a:prstGeom>
                      <a:noFill/>
                      <a:ln w="38100">
                        <a:noFill/>
                        <a:miter/>
                      </a:ln>
                    </p:spPr>
                  </p:pic>
                </p:oleObj>
              </mc:Fallback>
            </mc:AlternateContent>
          </a:graphicData>
        </a:graphic>
      </p:graphicFrame>
      <p:graphicFrame>
        <p:nvGraphicFramePr>
          <p:cNvPr id="60425" name="Object 14"/>
          <p:cNvGraphicFramePr>
            <a:graphicFrameLocks noChangeAspect="1"/>
          </p:cNvGraphicFramePr>
          <p:nvPr/>
        </p:nvGraphicFramePr>
        <p:xfrm>
          <a:off x="7199313" y="5707063"/>
          <a:ext cx="258762" cy="306387"/>
        </p:xfrm>
        <a:graphic>
          <a:graphicData uri="http://schemas.openxmlformats.org/presentationml/2006/ole">
            <mc:AlternateContent xmlns:mc="http://schemas.openxmlformats.org/markup-compatibility/2006">
              <mc:Choice xmlns:v="urn:schemas-microsoft-com:vml" Requires="v">
                <p:oleObj spid="_x0000_s3136" name="" r:id="rId6" imgW="139700" imgH="165100" progId="Equation.3">
                  <p:embed/>
                </p:oleObj>
              </mc:Choice>
              <mc:Fallback>
                <p:oleObj name="" r:id="rId6" imgW="139700" imgH="165100" progId="Equation.3">
                  <p:embed/>
                  <p:pic>
                    <p:nvPicPr>
                      <p:cNvPr id="0" name="图片 3135"/>
                      <p:cNvPicPr/>
                      <p:nvPr/>
                    </p:nvPicPr>
                    <p:blipFill>
                      <a:blip r:embed="rId2"/>
                      <a:stretch>
                        <a:fillRect/>
                      </a:stretch>
                    </p:blipFill>
                    <p:spPr>
                      <a:xfrm>
                        <a:off x="7199313" y="5707063"/>
                        <a:ext cx="258762" cy="306387"/>
                      </a:xfrm>
                      <a:prstGeom prst="rect">
                        <a:avLst/>
                      </a:prstGeom>
                      <a:noFill/>
                      <a:ln w="38100">
                        <a:noFill/>
                        <a:miter/>
                      </a:ln>
                    </p:spPr>
                  </p:pic>
                </p:oleObj>
              </mc:Fallback>
            </mc:AlternateContent>
          </a:graphicData>
        </a:graphic>
      </p:graphicFrame>
      <p:sp>
        <p:nvSpPr>
          <p:cNvPr id="60426" name="灯片编号占位符 2"/>
          <p:cNvSpPr txBox="1">
            <a:spLocks noGrp="1"/>
          </p:cNvSpPr>
          <p:nvPr>
            <p:ph type="sldNum" sz="quarter" idx="11"/>
          </p:nvPr>
        </p:nvSpPr>
        <p:spPr>
          <a:xfrm>
            <a:off x="6757988" y="6292850"/>
            <a:ext cx="2133600" cy="457200"/>
          </a:xfrm>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pic>
        <p:nvPicPr>
          <p:cNvPr id="60427" name="Picture 6"/>
          <p:cNvPicPr>
            <a:picLocks noChangeAspect="1"/>
          </p:cNvPicPr>
          <p:nvPr/>
        </p:nvPicPr>
        <p:blipFill>
          <a:blip r:embed="rId7"/>
          <a:stretch>
            <a:fillRect/>
          </a:stretch>
        </p:blipFill>
        <p:spPr>
          <a:xfrm>
            <a:off x="377825" y="560070"/>
            <a:ext cx="2879725" cy="1968500"/>
          </a:xfrm>
          <a:prstGeom prst="rect">
            <a:avLst/>
          </a:prstGeom>
          <a:noFill/>
          <a:ln w="9525">
            <a:noFill/>
          </a:ln>
        </p:spPr>
      </p:pic>
      <p:grpSp>
        <p:nvGrpSpPr>
          <p:cNvPr id="60428" name="Group 12"/>
          <p:cNvGrpSpPr/>
          <p:nvPr/>
        </p:nvGrpSpPr>
        <p:grpSpPr>
          <a:xfrm>
            <a:off x="3416300" y="559435"/>
            <a:ext cx="5209540" cy="2218055"/>
            <a:chOff x="0" y="1380"/>
            <a:chExt cx="5691" cy="2172"/>
          </a:xfrm>
        </p:grpSpPr>
        <p:grpSp>
          <p:nvGrpSpPr>
            <p:cNvPr id="60429" name="Group 13"/>
            <p:cNvGrpSpPr/>
            <p:nvPr/>
          </p:nvGrpSpPr>
          <p:grpSpPr>
            <a:xfrm>
              <a:off x="0" y="1380"/>
              <a:ext cx="2544" cy="2172"/>
              <a:chOff x="1471" y="309"/>
              <a:chExt cx="2811" cy="1744"/>
            </a:xfrm>
          </p:grpSpPr>
          <p:sp>
            <p:nvSpPr>
              <p:cNvPr id="60503" name="Freeform 14"/>
              <p:cNvSpPr/>
              <p:nvPr/>
            </p:nvSpPr>
            <p:spPr>
              <a:xfrm>
                <a:off x="2105" y="584"/>
                <a:ext cx="1956" cy="1"/>
              </a:xfrm>
              <a:custGeom>
                <a:avLst/>
                <a:gdLst>
                  <a:gd name="txL" fmla="*/ 0 w 1956"/>
                  <a:gd name="txT" fmla="*/ 0 h 1"/>
                  <a:gd name="txR" fmla="*/ 1956 w 1956"/>
                  <a:gd name="txB" fmla="*/ 1 h 1"/>
                </a:gdLst>
                <a:ahLst/>
                <a:cxnLst>
                  <a:cxn ang="0">
                    <a:pos x="1956" y="0"/>
                  </a:cxn>
                  <a:cxn ang="0">
                    <a:pos x="0" y="0"/>
                  </a:cxn>
                  <a:cxn ang="0">
                    <a:pos x="1956" y="0"/>
                  </a:cxn>
                  <a:cxn ang="0">
                    <a:pos x="1956" y="0"/>
                  </a:cxn>
                </a:cxnLst>
                <a:rect l="txL" t="txT" r="txR" b="txB"/>
                <a:pathLst>
                  <a:path w="1956" h="1">
                    <a:moveTo>
                      <a:pt x="1956" y="0"/>
                    </a:moveTo>
                    <a:lnTo>
                      <a:pt x="0" y="0"/>
                    </a:lnTo>
                    <a:lnTo>
                      <a:pt x="195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04" name="Freeform 15"/>
              <p:cNvSpPr/>
              <p:nvPr/>
            </p:nvSpPr>
            <p:spPr>
              <a:xfrm>
                <a:off x="1680" y="584"/>
                <a:ext cx="521" cy="1"/>
              </a:xfrm>
              <a:custGeom>
                <a:avLst/>
                <a:gdLst>
                  <a:gd name="txL" fmla="*/ 0 w 521"/>
                  <a:gd name="txT" fmla="*/ 0 h 1"/>
                  <a:gd name="txR" fmla="*/ 521 w 521"/>
                  <a:gd name="txB" fmla="*/ 1 h 1"/>
                </a:gdLst>
                <a:ahLst/>
                <a:cxnLst>
                  <a:cxn ang="0">
                    <a:pos x="521" y="0"/>
                  </a:cxn>
                  <a:cxn ang="0">
                    <a:pos x="0" y="0"/>
                  </a:cxn>
                  <a:cxn ang="0">
                    <a:pos x="521" y="0"/>
                  </a:cxn>
                  <a:cxn ang="0">
                    <a:pos x="521" y="0"/>
                  </a:cxn>
                </a:cxnLst>
                <a:rect l="txL" t="txT" r="txR" b="txB"/>
                <a:pathLst>
                  <a:path w="521" h="1">
                    <a:moveTo>
                      <a:pt x="521" y="0"/>
                    </a:moveTo>
                    <a:lnTo>
                      <a:pt x="0" y="0"/>
                    </a:lnTo>
                    <a:lnTo>
                      <a:pt x="521"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05" name="Freeform 16"/>
              <p:cNvSpPr/>
              <p:nvPr/>
            </p:nvSpPr>
            <p:spPr>
              <a:xfrm>
                <a:off x="1680" y="1706"/>
                <a:ext cx="2381" cy="1"/>
              </a:xfrm>
              <a:custGeom>
                <a:avLst/>
                <a:gdLst>
                  <a:gd name="txL" fmla="*/ 0 w 2381"/>
                  <a:gd name="txT" fmla="*/ 0 h 1"/>
                  <a:gd name="txR" fmla="*/ 2381 w 2381"/>
                  <a:gd name="txB" fmla="*/ 1 h 1"/>
                </a:gdLst>
                <a:ahLst/>
                <a:cxnLst>
                  <a:cxn ang="0">
                    <a:pos x="0" y="0"/>
                  </a:cxn>
                  <a:cxn ang="0">
                    <a:pos x="2381" y="0"/>
                  </a:cxn>
                  <a:cxn ang="0">
                    <a:pos x="0" y="0"/>
                  </a:cxn>
                  <a:cxn ang="0">
                    <a:pos x="0" y="0"/>
                  </a:cxn>
                </a:cxnLst>
                <a:rect l="txL" t="txT" r="txR" b="txB"/>
                <a:pathLst>
                  <a:path w="2381" h="1">
                    <a:moveTo>
                      <a:pt x="0" y="0"/>
                    </a:moveTo>
                    <a:lnTo>
                      <a:pt x="2381"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06" name="Freeform 17"/>
              <p:cNvSpPr/>
              <p:nvPr/>
            </p:nvSpPr>
            <p:spPr>
              <a:xfrm>
                <a:off x="2153" y="589"/>
                <a:ext cx="718" cy="1117"/>
              </a:xfrm>
              <a:custGeom>
                <a:avLst/>
                <a:gdLst>
                  <a:gd name="txL" fmla="*/ 0 w 718"/>
                  <a:gd name="txT" fmla="*/ 0 h 1117"/>
                  <a:gd name="txR" fmla="*/ 718 w 718"/>
                  <a:gd name="txB" fmla="*/ 1117 h 1117"/>
                </a:gdLst>
                <a:ahLst/>
                <a:cxnLst>
                  <a:cxn ang="0">
                    <a:pos x="0" y="0"/>
                  </a:cxn>
                  <a:cxn ang="0">
                    <a:pos x="718" y="1117"/>
                  </a:cxn>
                  <a:cxn ang="0">
                    <a:pos x="0" y="0"/>
                  </a:cxn>
                  <a:cxn ang="0">
                    <a:pos x="0" y="0"/>
                  </a:cxn>
                </a:cxnLst>
                <a:rect l="txL" t="txT" r="txR" b="txB"/>
                <a:pathLst>
                  <a:path w="718" h="1117">
                    <a:moveTo>
                      <a:pt x="0" y="0"/>
                    </a:moveTo>
                    <a:lnTo>
                      <a:pt x="718" y="1117"/>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07" name="Freeform 18"/>
              <p:cNvSpPr>
                <a:spLocks noEditPoints="1"/>
              </p:cNvSpPr>
              <p:nvPr/>
            </p:nvSpPr>
            <p:spPr>
              <a:xfrm>
                <a:off x="2871" y="589"/>
                <a:ext cx="711" cy="1117"/>
              </a:xfrm>
              <a:custGeom>
                <a:avLst/>
                <a:gdLst>
                  <a:gd name="txL" fmla="*/ 0 w 711"/>
                  <a:gd name="txT" fmla="*/ 0 h 1117"/>
                  <a:gd name="txR" fmla="*/ 711 w 711"/>
                  <a:gd name="txB" fmla="*/ 1117 h 1117"/>
                </a:gdLst>
                <a:ahLst/>
                <a:cxnLst>
                  <a:cxn ang="0">
                    <a:pos x="0" y="1117"/>
                  </a:cxn>
                  <a:cxn ang="0">
                    <a:pos x="711" y="0"/>
                  </a:cxn>
                  <a:cxn ang="0">
                    <a:pos x="0" y="1117"/>
                  </a:cxn>
                  <a:cxn ang="0">
                    <a:pos x="0" y="1117"/>
                  </a:cxn>
                  <a:cxn ang="0">
                    <a:pos x="0" y="1117"/>
                  </a:cxn>
                  <a:cxn ang="0">
                    <a:pos x="0" y="1117"/>
                  </a:cxn>
                  <a:cxn ang="0">
                    <a:pos x="0" y="1117"/>
                  </a:cxn>
                </a:cxnLst>
                <a:rect l="txL" t="txT" r="txR" b="txB"/>
                <a:pathLst>
                  <a:path w="711" h="1117">
                    <a:moveTo>
                      <a:pt x="0" y="1117"/>
                    </a:moveTo>
                    <a:lnTo>
                      <a:pt x="711" y="0"/>
                    </a:lnTo>
                    <a:lnTo>
                      <a:pt x="0" y="1117"/>
                    </a:lnTo>
                    <a:close/>
                    <a:moveTo>
                      <a:pt x="0" y="1117"/>
                    </a:moveTo>
                    <a:lnTo>
                      <a:pt x="0" y="111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08" name="Freeform 19"/>
              <p:cNvSpPr/>
              <p:nvPr/>
            </p:nvSpPr>
            <p:spPr>
              <a:xfrm>
                <a:off x="2643" y="566"/>
                <a:ext cx="461" cy="41"/>
              </a:xfrm>
              <a:custGeom>
                <a:avLst/>
                <a:gdLst>
                  <a:gd name="txL" fmla="*/ 0 w 461"/>
                  <a:gd name="txT" fmla="*/ 0 h 41"/>
                  <a:gd name="txR" fmla="*/ 461 w 461"/>
                  <a:gd name="txB" fmla="*/ 41 h 41"/>
                </a:gdLst>
                <a:ahLst/>
                <a:cxnLst>
                  <a:cxn ang="0">
                    <a:pos x="0" y="41"/>
                  </a:cxn>
                  <a:cxn ang="0">
                    <a:pos x="0" y="0"/>
                  </a:cxn>
                  <a:cxn ang="0">
                    <a:pos x="461" y="0"/>
                  </a:cxn>
                  <a:cxn ang="0">
                    <a:pos x="461" y="41"/>
                  </a:cxn>
                  <a:cxn ang="0">
                    <a:pos x="0" y="41"/>
                  </a:cxn>
                  <a:cxn ang="0">
                    <a:pos x="0" y="41"/>
                  </a:cxn>
                </a:cxnLst>
                <a:rect l="txL" t="txT" r="txR" b="txB"/>
                <a:pathLst>
                  <a:path w="461" h="41">
                    <a:moveTo>
                      <a:pt x="0" y="41"/>
                    </a:moveTo>
                    <a:lnTo>
                      <a:pt x="0" y="0"/>
                    </a:lnTo>
                    <a:lnTo>
                      <a:pt x="461" y="0"/>
                    </a:lnTo>
                    <a:lnTo>
                      <a:pt x="461" y="41"/>
                    </a:lnTo>
                    <a:lnTo>
                      <a:pt x="0" y="41"/>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0509" name="Freeform 20"/>
              <p:cNvSpPr/>
              <p:nvPr/>
            </p:nvSpPr>
            <p:spPr>
              <a:xfrm>
                <a:off x="3080" y="584"/>
                <a:ext cx="30" cy="47"/>
              </a:xfrm>
              <a:custGeom>
                <a:avLst/>
                <a:gdLst>
                  <a:gd name="txL" fmla="*/ 0 w 30"/>
                  <a:gd name="txT" fmla="*/ 0 h 47"/>
                  <a:gd name="txR" fmla="*/ 30 w 30"/>
                  <a:gd name="txB" fmla="*/ 47 h 47"/>
                </a:gdLst>
                <a:ahLst/>
                <a:cxnLst>
                  <a:cxn ang="0">
                    <a:pos x="30" y="0"/>
                  </a:cxn>
                  <a:cxn ang="0">
                    <a:pos x="0" y="47"/>
                  </a:cxn>
                  <a:cxn ang="0">
                    <a:pos x="30" y="0"/>
                  </a:cxn>
                  <a:cxn ang="0">
                    <a:pos x="30" y="0"/>
                  </a:cxn>
                </a:cxnLst>
                <a:rect l="txL" t="txT" r="txR" b="txB"/>
                <a:pathLst>
                  <a:path w="30" h="47">
                    <a:moveTo>
                      <a:pt x="30" y="0"/>
                    </a:moveTo>
                    <a:lnTo>
                      <a:pt x="0" y="47"/>
                    </a:ln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10" name="Freeform 21"/>
              <p:cNvSpPr>
                <a:spLocks noEditPoints="1"/>
              </p:cNvSpPr>
              <p:nvPr/>
            </p:nvSpPr>
            <p:spPr>
              <a:xfrm>
                <a:off x="3050" y="584"/>
                <a:ext cx="30" cy="47"/>
              </a:xfrm>
              <a:custGeom>
                <a:avLst/>
                <a:gdLst>
                  <a:gd name="txL" fmla="*/ 0 w 30"/>
                  <a:gd name="txT" fmla="*/ 0 h 47"/>
                  <a:gd name="txR" fmla="*/ 30 w 30"/>
                  <a:gd name="txB" fmla="*/ 47 h 47"/>
                </a:gdLst>
                <a:ahLst/>
                <a:cxnLst>
                  <a:cxn ang="0">
                    <a:pos x="30" y="47"/>
                  </a:cxn>
                  <a:cxn ang="0">
                    <a:pos x="0" y="0"/>
                  </a:cxn>
                  <a:cxn ang="0">
                    <a:pos x="30" y="47"/>
                  </a:cxn>
                  <a:cxn ang="0">
                    <a:pos x="30" y="47"/>
                  </a:cxn>
                  <a:cxn ang="0">
                    <a:pos x="30" y="47"/>
                  </a:cxn>
                  <a:cxn ang="0">
                    <a:pos x="30" y="47"/>
                  </a:cxn>
                  <a:cxn ang="0">
                    <a:pos x="30" y="47"/>
                  </a:cxn>
                </a:cxnLst>
                <a:rect l="txL" t="txT" r="txR" b="txB"/>
                <a:pathLst>
                  <a:path w="30" h="47">
                    <a:moveTo>
                      <a:pt x="30" y="47"/>
                    </a:moveTo>
                    <a:lnTo>
                      <a:pt x="0" y="0"/>
                    </a:lnTo>
                    <a:lnTo>
                      <a:pt x="30" y="47"/>
                    </a:lnTo>
                    <a:close/>
                    <a:moveTo>
                      <a:pt x="30" y="47"/>
                    </a:moveTo>
                    <a:lnTo>
                      <a:pt x="30" y="47"/>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11" name="Freeform 22"/>
              <p:cNvSpPr>
                <a:spLocks noEditPoints="1"/>
              </p:cNvSpPr>
              <p:nvPr/>
            </p:nvSpPr>
            <p:spPr>
              <a:xfrm>
                <a:off x="3020" y="536"/>
                <a:ext cx="30" cy="48"/>
              </a:xfrm>
              <a:custGeom>
                <a:avLst/>
                <a:gdLst>
                  <a:gd name="txL" fmla="*/ 0 w 30"/>
                  <a:gd name="txT" fmla="*/ 0 h 48"/>
                  <a:gd name="txR" fmla="*/ 30 w 30"/>
                  <a:gd name="txB" fmla="*/ 48 h 48"/>
                </a:gdLst>
                <a:ahLst/>
                <a:cxnLst>
                  <a:cxn ang="0">
                    <a:pos x="30" y="48"/>
                  </a:cxn>
                  <a:cxn ang="0">
                    <a:pos x="0" y="0"/>
                  </a:cxn>
                  <a:cxn ang="0">
                    <a:pos x="30" y="48"/>
                  </a:cxn>
                  <a:cxn ang="0">
                    <a:pos x="30" y="48"/>
                  </a:cxn>
                  <a:cxn ang="0">
                    <a:pos x="30" y="48"/>
                  </a:cxn>
                  <a:cxn ang="0">
                    <a:pos x="30" y="48"/>
                  </a:cxn>
                  <a:cxn ang="0">
                    <a:pos x="30" y="48"/>
                  </a:cxn>
                </a:cxnLst>
                <a:rect l="txL" t="txT" r="txR" b="txB"/>
                <a:pathLst>
                  <a:path w="30" h="48">
                    <a:moveTo>
                      <a:pt x="30" y="48"/>
                    </a:moveTo>
                    <a:lnTo>
                      <a:pt x="0" y="0"/>
                    </a:lnTo>
                    <a:lnTo>
                      <a:pt x="30" y="48"/>
                    </a:lnTo>
                    <a:close/>
                    <a:moveTo>
                      <a:pt x="30" y="48"/>
                    </a:moveTo>
                    <a:lnTo>
                      <a:pt x="30" y="4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12" name="Freeform 23"/>
              <p:cNvSpPr>
                <a:spLocks noEditPoints="1"/>
              </p:cNvSpPr>
              <p:nvPr/>
            </p:nvSpPr>
            <p:spPr>
              <a:xfrm>
                <a:off x="2990" y="536"/>
                <a:ext cx="30" cy="48"/>
              </a:xfrm>
              <a:custGeom>
                <a:avLst/>
                <a:gdLst>
                  <a:gd name="txL" fmla="*/ 0 w 30"/>
                  <a:gd name="txT" fmla="*/ 0 h 48"/>
                  <a:gd name="txR" fmla="*/ 30 w 30"/>
                  <a:gd name="txB" fmla="*/ 48 h 48"/>
                </a:gdLst>
                <a:ahLst/>
                <a:cxnLst>
                  <a:cxn ang="0">
                    <a:pos x="30" y="0"/>
                  </a:cxn>
                  <a:cxn ang="0">
                    <a:pos x="0" y="48"/>
                  </a:cxn>
                  <a:cxn ang="0">
                    <a:pos x="30" y="0"/>
                  </a:cxn>
                  <a:cxn ang="0">
                    <a:pos x="30" y="0"/>
                  </a:cxn>
                  <a:cxn ang="0">
                    <a:pos x="30" y="0"/>
                  </a:cxn>
                  <a:cxn ang="0">
                    <a:pos x="30" y="0"/>
                  </a:cxn>
                  <a:cxn ang="0">
                    <a:pos x="30" y="0"/>
                  </a:cxn>
                </a:cxnLst>
                <a:rect l="txL" t="txT" r="txR" b="txB"/>
                <a:pathLst>
                  <a:path w="30" h="48">
                    <a:moveTo>
                      <a:pt x="30" y="0"/>
                    </a:moveTo>
                    <a:lnTo>
                      <a:pt x="0" y="48"/>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13" name="Freeform 24"/>
              <p:cNvSpPr>
                <a:spLocks noEditPoints="1"/>
              </p:cNvSpPr>
              <p:nvPr/>
            </p:nvSpPr>
            <p:spPr>
              <a:xfrm>
                <a:off x="2990" y="584"/>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14" name="Freeform 25"/>
              <p:cNvSpPr>
                <a:spLocks noEditPoints="1"/>
              </p:cNvSpPr>
              <p:nvPr/>
            </p:nvSpPr>
            <p:spPr>
              <a:xfrm>
                <a:off x="2960" y="584"/>
                <a:ext cx="30" cy="47"/>
              </a:xfrm>
              <a:custGeom>
                <a:avLst/>
                <a:gdLst>
                  <a:gd name="txL" fmla="*/ 0 w 30"/>
                  <a:gd name="txT" fmla="*/ 0 h 47"/>
                  <a:gd name="txR" fmla="*/ 30 w 30"/>
                  <a:gd name="txB" fmla="*/ 47 h 47"/>
                </a:gdLst>
                <a:ahLst/>
                <a:cxnLst>
                  <a:cxn ang="0">
                    <a:pos x="30" y="0"/>
                  </a:cxn>
                  <a:cxn ang="0">
                    <a:pos x="0" y="47"/>
                  </a:cxn>
                  <a:cxn ang="0">
                    <a:pos x="30" y="0"/>
                  </a:cxn>
                  <a:cxn ang="0">
                    <a:pos x="30" y="0"/>
                  </a:cxn>
                  <a:cxn ang="0">
                    <a:pos x="30" y="0"/>
                  </a:cxn>
                  <a:cxn ang="0">
                    <a:pos x="30" y="0"/>
                  </a:cxn>
                  <a:cxn ang="0">
                    <a:pos x="30" y="0"/>
                  </a:cxn>
                </a:cxnLst>
                <a:rect l="txL" t="txT" r="txR" b="txB"/>
                <a:pathLst>
                  <a:path w="30" h="47">
                    <a:moveTo>
                      <a:pt x="30" y="0"/>
                    </a:moveTo>
                    <a:lnTo>
                      <a:pt x="0" y="47"/>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15" name="Freeform 26"/>
              <p:cNvSpPr>
                <a:spLocks noEditPoints="1"/>
              </p:cNvSpPr>
              <p:nvPr/>
            </p:nvSpPr>
            <p:spPr>
              <a:xfrm>
                <a:off x="2930" y="584"/>
                <a:ext cx="30" cy="47"/>
              </a:xfrm>
              <a:custGeom>
                <a:avLst/>
                <a:gdLst>
                  <a:gd name="txL" fmla="*/ 0 w 30"/>
                  <a:gd name="txT" fmla="*/ 0 h 47"/>
                  <a:gd name="txR" fmla="*/ 30 w 30"/>
                  <a:gd name="txB" fmla="*/ 47 h 47"/>
                </a:gdLst>
                <a:ahLst/>
                <a:cxnLst>
                  <a:cxn ang="0">
                    <a:pos x="30" y="47"/>
                  </a:cxn>
                  <a:cxn ang="0">
                    <a:pos x="0" y="0"/>
                  </a:cxn>
                  <a:cxn ang="0">
                    <a:pos x="30" y="47"/>
                  </a:cxn>
                  <a:cxn ang="0">
                    <a:pos x="30" y="47"/>
                  </a:cxn>
                  <a:cxn ang="0">
                    <a:pos x="30" y="47"/>
                  </a:cxn>
                  <a:cxn ang="0">
                    <a:pos x="30" y="47"/>
                  </a:cxn>
                  <a:cxn ang="0">
                    <a:pos x="30" y="47"/>
                  </a:cxn>
                </a:cxnLst>
                <a:rect l="txL" t="txT" r="txR" b="txB"/>
                <a:pathLst>
                  <a:path w="30" h="47">
                    <a:moveTo>
                      <a:pt x="30" y="47"/>
                    </a:moveTo>
                    <a:lnTo>
                      <a:pt x="0" y="0"/>
                    </a:lnTo>
                    <a:lnTo>
                      <a:pt x="30" y="47"/>
                    </a:lnTo>
                    <a:close/>
                    <a:moveTo>
                      <a:pt x="30" y="47"/>
                    </a:moveTo>
                    <a:lnTo>
                      <a:pt x="30" y="47"/>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16" name="Freeform 27"/>
              <p:cNvSpPr>
                <a:spLocks noEditPoints="1"/>
              </p:cNvSpPr>
              <p:nvPr/>
            </p:nvSpPr>
            <p:spPr>
              <a:xfrm>
                <a:off x="2900" y="536"/>
                <a:ext cx="30" cy="48"/>
              </a:xfrm>
              <a:custGeom>
                <a:avLst/>
                <a:gdLst>
                  <a:gd name="txL" fmla="*/ 0 w 30"/>
                  <a:gd name="txT" fmla="*/ 0 h 48"/>
                  <a:gd name="txR" fmla="*/ 30 w 30"/>
                  <a:gd name="txB" fmla="*/ 48 h 48"/>
                </a:gdLst>
                <a:ahLst/>
                <a:cxnLst>
                  <a:cxn ang="0">
                    <a:pos x="30" y="48"/>
                  </a:cxn>
                  <a:cxn ang="0">
                    <a:pos x="0" y="0"/>
                  </a:cxn>
                  <a:cxn ang="0">
                    <a:pos x="30" y="48"/>
                  </a:cxn>
                  <a:cxn ang="0">
                    <a:pos x="30" y="48"/>
                  </a:cxn>
                  <a:cxn ang="0">
                    <a:pos x="30" y="48"/>
                  </a:cxn>
                  <a:cxn ang="0">
                    <a:pos x="30" y="48"/>
                  </a:cxn>
                  <a:cxn ang="0">
                    <a:pos x="30" y="48"/>
                  </a:cxn>
                </a:cxnLst>
                <a:rect l="txL" t="txT" r="txR" b="txB"/>
                <a:pathLst>
                  <a:path w="30" h="48">
                    <a:moveTo>
                      <a:pt x="30" y="48"/>
                    </a:moveTo>
                    <a:lnTo>
                      <a:pt x="0" y="0"/>
                    </a:lnTo>
                    <a:lnTo>
                      <a:pt x="30" y="48"/>
                    </a:lnTo>
                    <a:close/>
                    <a:moveTo>
                      <a:pt x="30" y="48"/>
                    </a:moveTo>
                    <a:lnTo>
                      <a:pt x="30" y="4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17" name="Freeform 28"/>
              <p:cNvSpPr>
                <a:spLocks noEditPoints="1"/>
              </p:cNvSpPr>
              <p:nvPr/>
            </p:nvSpPr>
            <p:spPr>
              <a:xfrm>
                <a:off x="2871" y="536"/>
                <a:ext cx="29" cy="48"/>
              </a:xfrm>
              <a:custGeom>
                <a:avLst/>
                <a:gdLst>
                  <a:gd name="txL" fmla="*/ 0 w 29"/>
                  <a:gd name="txT" fmla="*/ 0 h 48"/>
                  <a:gd name="txR" fmla="*/ 29 w 29"/>
                  <a:gd name="txB" fmla="*/ 48 h 48"/>
                </a:gdLst>
                <a:ahLst/>
                <a:cxnLst>
                  <a:cxn ang="0">
                    <a:pos x="29" y="0"/>
                  </a:cxn>
                  <a:cxn ang="0">
                    <a:pos x="0" y="48"/>
                  </a:cxn>
                  <a:cxn ang="0">
                    <a:pos x="29" y="0"/>
                  </a:cxn>
                  <a:cxn ang="0">
                    <a:pos x="29" y="0"/>
                  </a:cxn>
                  <a:cxn ang="0">
                    <a:pos x="29" y="0"/>
                  </a:cxn>
                  <a:cxn ang="0">
                    <a:pos x="29" y="0"/>
                  </a:cxn>
                  <a:cxn ang="0">
                    <a:pos x="29" y="0"/>
                  </a:cxn>
                </a:cxnLst>
                <a:rect l="txL" t="txT" r="txR" b="txB"/>
                <a:pathLst>
                  <a:path w="29" h="48">
                    <a:moveTo>
                      <a:pt x="29" y="0"/>
                    </a:moveTo>
                    <a:lnTo>
                      <a:pt x="0" y="48"/>
                    </a:lnTo>
                    <a:lnTo>
                      <a:pt x="29" y="0"/>
                    </a:lnTo>
                    <a:close/>
                    <a:moveTo>
                      <a:pt x="29" y="0"/>
                    </a:moveTo>
                    <a:lnTo>
                      <a:pt x="29"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18" name="Freeform 29"/>
              <p:cNvSpPr>
                <a:spLocks noEditPoints="1"/>
              </p:cNvSpPr>
              <p:nvPr/>
            </p:nvSpPr>
            <p:spPr>
              <a:xfrm>
                <a:off x="2841" y="584"/>
                <a:ext cx="30" cy="47"/>
              </a:xfrm>
              <a:custGeom>
                <a:avLst/>
                <a:gdLst>
                  <a:gd name="txL" fmla="*/ 0 w 30"/>
                  <a:gd name="txT" fmla="*/ 0 h 47"/>
                  <a:gd name="txR" fmla="*/ 30 w 30"/>
                  <a:gd name="txB" fmla="*/ 47 h 47"/>
                </a:gdLst>
                <a:ahLst/>
                <a:cxnLst>
                  <a:cxn ang="0">
                    <a:pos x="30" y="0"/>
                  </a:cxn>
                  <a:cxn ang="0">
                    <a:pos x="0" y="47"/>
                  </a:cxn>
                  <a:cxn ang="0">
                    <a:pos x="30" y="0"/>
                  </a:cxn>
                  <a:cxn ang="0">
                    <a:pos x="30" y="0"/>
                  </a:cxn>
                  <a:cxn ang="0">
                    <a:pos x="30" y="0"/>
                  </a:cxn>
                  <a:cxn ang="0">
                    <a:pos x="30" y="0"/>
                  </a:cxn>
                  <a:cxn ang="0">
                    <a:pos x="30" y="0"/>
                  </a:cxn>
                </a:cxnLst>
                <a:rect l="txL" t="txT" r="txR" b="txB"/>
                <a:pathLst>
                  <a:path w="30" h="47">
                    <a:moveTo>
                      <a:pt x="30" y="0"/>
                    </a:moveTo>
                    <a:lnTo>
                      <a:pt x="0" y="47"/>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19" name="Freeform 30"/>
              <p:cNvSpPr>
                <a:spLocks noEditPoints="1"/>
              </p:cNvSpPr>
              <p:nvPr/>
            </p:nvSpPr>
            <p:spPr>
              <a:xfrm>
                <a:off x="2811" y="584"/>
                <a:ext cx="30" cy="47"/>
              </a:xfrm>
              <a:custGeom>
                <a:avLst/>
                <a:gdLst>
                  <a:gd name="txL" fmla="*/ 0 w 30"/>
                  <a:gd name="txT" fmla="*/ 0 h 47"/>
                  <a:gd name="txR" fmla="*/ 30 w 30"/>
                  <a:gd name="txB" fmla="*/ 47 h 47"/>
                </a:gdLst>
                <a:ahLst/>
                <a:cxnLst>
                  <a:cxn ang="0">
                    <a:pos x="30" y="47"/>
                  </a:cxn>
                  <a:cxn ang="0">
                    <a:pos x="0" y="0"/>
                  </a:cxn>
                  <a:cxn ang="0">
                    <a:pos x="30" y="47"/>
                  </a:cxn>
                  <a:cxn ang="0">
                    <a:pos x="30" y="47"/>
                  </a:cxn>
                  <a:cxn ang="0">
                    <a:pos x="30" y="47"/>
                  </a:cxn>
                  <a:cxn ang="0">
                    <a:pos x="30" y="47"/>
                  </a:cxn>
                  <a:cxn ang="0">
                    <a:pos x="30" y="47"/>
                  </a:cxn>
                </a:cxnLst>
                <a:rect l="txL" t="txT" r="txR" b="txB"/>
                <a:pathLst>
                  <a:path w="30" h="47">
                    <a:moveTo>
                      <a:pt x="30" y="47"/>
                    </a:moveTo>
                    <a:lnTo>
                      <a:pt x="0" y="0"/>
                    </a:lnTo>
                    <a:lnTo>
                      <a:pt x="30" y="47"/>
                    </a:lnTo>
                    <a:close/>
                    <a:moveTo>
                      <a:pt x="30" y="47"/>
                    </a:moveTo>
                    <a:lnTo>
                      <a:pt x="30" y="47"/>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20" name="Freeform 31"/>
              <p:cNvSpPr>
                <a:spLocks noEditPoints="1"/>
              </p:cNvSpPr>
              <p:nvPr/>
            </p:nvSpPr>
            <p:spPr>
              <a:xfrm>
                <a:off x="2781" y="536"/>
                <a:ext cx="30" cy="48"/>
              </a:xfrm>
              <a:custGeom>
                <a:avLst/>
                <a:gdLst>
                  <a:gd name="txL" fmla="*/ 0 w 30"/>
                  <a:gd name="txT" fmla="*/ 0 h 48"/>
                  <a:gd name="txR" fmla="*/ 30 w 30"/>
                  <a:gd name="txB" fmla="*/ 48 h 48"/>
                </a:gdLst>
                <a:ahLst/>
                <a:cxnLst>
                  <a:cxn ang="0">
                    <a:pos x="30" y="48"/>
                  </a:cxn>
                  <a:cxn ang="0">
                    <a:pos x="0" y="0"/>
                  </a:cxn>
                  <a:cxn ang="0">
                    <a:pos x="30" y="48"/>
                  </a:cxn>
                  <a:cxn ang="0">
                    <a:pos x="30" y="48"/>
                  </a:cxn>
                  <a:cxn ang="0">
                    <a:pos x="30" y="48"/>
                  </a:cxn>
                  <a:cxn ang="0">
                    <a:pos x="30" y="48"/>
                  </a:cxn>
                  <a:cxn ang="0">
                    <a:pos x="30" y="48"/>
                  </a:cxn>
                </a:cxnLst>
                <a:rect l="txL" t="txT" r="txR" b="txB"/>
                <a:pathLst>
                  <a:path w="30" h="48">
                    <a:moveTo>
                      <a:pt x="30" y="48"/>
                    </a:moveTo>
                    <a:lnTo>
                      <a:pt x="0" y="0"/>
                    </a:lnTo>
                    <a:lnTo>
                      <a:pt x="30" y="48"/>
                    </a:lnTo>
                    <a:close/>
                    <a:moveTo>
                      <a:pt x="30" y="48"/>
                    </a:moveTo>
                    <a:lnTo>
                      <a:pt x="30" y="4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21" name="Freeform 32"/>
              <p:cNvSpPr>
                <a:spLocks noEditPoints="1"/>
              </p:cNvSpPr>
              <p:nvPr/>
            </p:nvSpPr>
            <p:spPr>
              <a:xfrm>
                <a:off x="2751" y="536"/>
                <a:ext cx="30" cy="48"/>
              </a:xfrm>
              <a:custGeom>
                <a:avLst/>
                <a:gdLst>
                  <a:gd name="txL" fmla="*/ 0 w 30"/>
                  <a:gd name="txT" fmla="*/ 0 h 48"/>
                  <a:gd name="txR" fmla="*/ 30 w 30"/>
                  <a:gd name="txB" fmla="*/ 48 h 48"/>
                </a:gdLst>
                <a:ahLst/>
                <a:cxnLst>
                  <a:cxn ang="0">
                    <a:pos x="30" y="0"/>
                  </a:cxn>
                  <a:cxn ang="0">
                    <a:pos x="0" y="48"/>
                  </a:cxn>
                  <a:cxn ang="0">
                    <a:pos x="30" y="0"/>
                  </a:cxn>
                  <a:cxn ang="0">
                    <a:pos x="30" y="0"/>
                  </a:cxn>
                  <a:cxn ang="0">
                    <a:pos x="30" y="0"/>
                  </a:cxn>
                  <a:cxn ang="0">
                    <a:pos x="30" y="0"/>
                  </a:cxn>
                  <a:cxn ang="0">
                    <a:pos x="30" y="0"/>
                  </a:cxn>
                </a:cxnLst>
                <a:rect l="txL" t="txT" r="txR" b="txB"/>
                <a:pathLst>
                  <a:path w="30" h="48">
                    <a:moveTo>
                      <a:pt x="30" y="0"/>
                    </a:moveTo>
                    <a:lnTo>
                      <a:pt x="0" y="48"/>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22" name="Freeform 33"/>
              <p:cNvSpPr>
                <a:spLocks noEditPoints="1"/>
              </p:cNvSpPr>
              <p:nvPr/>
            </p:nvSpPr>
            <p:spPr>
              <a:xfrm>
                <a:off x="2727" y="584"/>
                <a:ext cx="24" cy="47"/>
              </a:xfrm>
              <a:custGeom>
                <a:avLst/>
                <a:gdLst>
                  <a:gd name="txL" fmla="*/ 0 w 24"/>
                  <a:gd name="txT" fmla="*/ 0 h 47"/>
                  <a:gd name="txR" fmla="*/ 24 w 24"/>
                  <a:gd name="txB" fmla="*/ 47 h 47"/>
                </a:gdLst>
                <a:ahLst/>
                <a:cxnLst>
                  <a:cxn ang="0">
                    <a:pos x="24" y="0"/>
                  </a:cxn>
                  <a:cxn ang="0">
                    <a:pos x="0" y="47"/>
                  </a:cxn>
                  <a:cxn ang="0">
                    <a:pos x="24" y="0"/>
                  </a:cxn>
                  <a:cxn ang="0">
                    <a:pos x="24" y="0"/>
                  </a:cxn>
                  <a:cxn ang="0">
                    <a:pos x="24" y="0"/>
                  </a:cxn>
                  <a:cxn ang="0">
                    <a:pos x="24" y="0"/>
                  </a:cxn>
                  <a:cxn ang="0">
                    <a:pos x="24" y="0"/>
                  </a:cxn>
                </a:cxnLst>
                <a:rect l="txL" t="txT" r="txR" b="txB"/>
                <a:pathLst>
                  <a:path w="24" h="47">
                    <a:moveTo>
                      <a:pt x="24" y="0"/>
                    </a:moveTo>
                    <a:lnTo>
                      <a:pt x="0" y="47"/>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23" name="Freeform 34"/>
              <p:cNvSpPr>
                <a:spLocks noEditPoints="1"/>
              </p:cNvSpPr>
              <p:nvPr/>
            </p:nvSpPr>
            <p:spPr>
              <a:xfrm>
                <a:off x="2697" y="584"/>
                <a:ext cx="30" cy="47"/>
              </a:xfrm>
              <a:custGeom>
                <a:avLst/>
                <a:gdLst>
                  <a:gd name="txL" fmla="*/ 0 w 30"/>
                  <a:gd name="txT" fmla="*/ 0 h 47"/>
                  <a:gd name="txR" fmla="*/ 30 w 30"/>
                  <a:gd name="txB" fmla="*/ 47 h 47"/>
                </a:gdLst>
                <a:ahLst/>
                <a:cxnLst>
                  <a:cxn ang="0">
                    <a:pos x="30" y="47"/>
                  </a:cxn>
                  <a:cxn ang="0">
                    <a:pos x="0" y="0"/>
                  </a:cxn>
                  <a:cxn ang="0">
                    <a:pos x="30" y="47"/>
                  </a:cxn>
                  <a:cxn ang="0">
                    <a:pos x="30" y="47"/>
                  </a:cxn>
                  <a:cxn ang="0">
                    <a:pos x="30" y="47"/>
                  </a:cxn>
                  <a:cxn ang="0">
                    <a:pos x="30" y="47"/>
                  </a:cxn>
                  <a:cxn ang="0">
                    <a:pos x="30" y="47"/>
                  </a:cxn>
                </a:cxnLst>
                <a:rect l="txL" t="txT" r="txR" b="txB"/>
                <a:pathLst>
                  <a:path w="30" h="47">
                    <a:moveTo>
                      <a:pt x="30" y="47"/>
                    </a:moveTo>
                    <a:lnTo>
                      <a:pt x="0" y="0"/>
                    </a:lnTo>
                    <a:lnTo>
                      <a:pt x="30" y="47"/>
                    </a:lnTo>
                    <a:close/>
                    <a:moveTo>
                      <a:pt x="30" y="47"/>
                    </a:moveTo>
                    <a:lnTo>
                      <a:pt x="30" y="47"/>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24" name="Freeform 35"/>
              <p:cNvSpPr>
                <a:spLocks noEditPoints="1"/>
              </p:cNvSpPr>
              <p:nvPr/>
            </p:nvSpPr>
            <p:spPr>
              <a:xfrm>
                <a:off x="2667" y="536"/>
                <a:ext cx="30" cy="48"/>
              </a:xfrm>
              <a:custGeom>
                <a:avLst/>
                <a:gdLst>
                  <a:gd name="txL" fmla="*/ 0 w 30"/>
                  <a:gd name="txT" fmla="*/ 0 h 48"/>
                  <a:gd name="txR" fmla="*/ 30 w 30"/>
                  <a:gd name="txB" fmla="*/ 48 h 48"/>
                </a:gdLst>
                <a:ahLst/>
                <a:cxnLst>
                  <a:cxn ang="0">
                    <a:pos x="30" y="48"/>
                  </a:cxn>
                  <a:cxn ang="0">
                    <a:pos x="0" y="0"/>
                  </a:cxn>
                  <a:cxn ang="0">
                    <a:pos x="30" y="48"/>
                  </a:cxn>
                  <a:cxn ang="0">
                    <a:pos x="30" y="48"/>
                  </a:cxn>
                  <a:cxn ang="0">
                    <a:pos x="30" y="48"/>
                  </a:cxn>
                  <a:cxn ang="0">
                    <a:pos x="30" y="48"/>
                  </a:cxn>
                  <a:cxn ang="0">
                    <a:pos x="30" y="48"/>
                  </a:cxn>
                </a:cxnLst>
                <a:rect l="txL" t="txT" r="txR" b="txB"/>
                <a:pathLst>
                  <a:path w="30" h="48">
                    <a:moveTo>
                      <a:pt x="30" y="48"/>
                    </a:moveTo>
                    <a:lnTo>
                      <a:pt x="0" y="0"/>
                    </a:lnTo>
                    <a:lnTo>
                      <a:pt x="30" y="48"/>
                    </a:lnTo>
                    <a:close/>
                    <a:moveTo>
                      <a:pt x="30" y="48"/>
                    </a:moveTo>
                    <a:lnTo>
                      <a:pt x="30" y="4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25" name="Freeform 36"/>
              <p:cNvSpPr>
                <a:spLocks noEditPoints="1"/>
              </p:cNvSpPr>
              <p:nvPr/>
            </p:nvSpPr>
            <p:spPr>
              <a:xfrm>
                <a:off x="2631" y="536"/>
                <a:ext cx="36" cy="53"/>
              </a:xfrm>
              <a:custGeom>
                <a:avLst/>
                <a:gdLst>
                  <a:gd name="txL" fmla="*/ 0 w 36"/>
                  <a:gd name="txT" fmla="*/ 0 h 53"/>
                  <a:gd name="txR" fmla="*/ 36 w 36"/>
                  <a:gd name="txB" fmla="*/ 53 h 53"/>
                </a:gdLst>
                <a:ahLst/>
                <a:cxnLst>
                  <a:cxn ang="0">
                    <a:pos x="36" y="0"/>
                  </a:cxn>
                  <a:cxn ang="0">
                    <a:pos x="0" y="53"/>
                  </a:cxn>
                  <a:cxn ang="0">
                    <a:pos x="36" y="0"/>
                  </a:cxn>
                  <a:cxn ang="0">
                    <a:pos x="36" y="0"/>
                  </a:cxn>
                  <a:cxn ang="0">
                    <a:pos x="36" y="0"/>
                  </a:cxn>
                  <a:cxn ang="0">
                    <a:pos x="36" y="0"/>
                  </a:cxn>
                  <a:cxn ang="0">
                    <a:pos x="36" y="0"/>
                  </a:cxn>
                </a:cxnLst>
                <a:rect l="txL" t="txT" r="txR" b="txB"/>
                <a:pathLst>
                  <a:path w="36" h="53">
                    <a:moveTo>
                      <a:pt x="36" y="0"/>
                    </a:moveTo>
                    <a:lnTo>
                      <a:pt x="0" y="53"/>
                    </a:lnTo>
                    <a:lnTo>
                      <a:pt x="36" y="0"/>
                    </a:lnTo>
                    <a:close/>
                    <a:moveTo>
                      <a:pt x="36" y="0"/>
                    </a:move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26" name="Freeform 37"/>
              <p:cNvSpPr/>
              <p:nvPr/>
            </p:nvSpPr>
            <p:spPr>
              <a:xfrm>
                <a:off x="2320" y="882"/>
                <a:ext cx="245" cy="311"/>
              </a:xfrm>
              <a:custGeom>
                <a:avLst/>
                <a:gdLst>
                  <a:gd name="txL" fmla="*/ 0 w 245"/>
                  <a:gd name="txT" fmla="*/ 0 h 311"/>
                  <a:gd name="txR" fmla="*/ 245 w 245"/>
                  <a:gd name="txB" fmla="*/ 311 h 311"/>
                </a:gdLst>
                <a:ahLst/>
                <a:cxnLst>
                  <a:cxn ang="0">
                    <a:pos x="0" y="12"/>
                  </a:cxn>
                  <a:cxn ang="0">
                    <a:pos x="54" y="0"/>
                  </a:cxn>
                  <a:cxn ang="0">
                    <a:pos x="245" y="293"/>
                  </a:cxn>
                  <a:cxn ang="0">
                    <a:pos x="192" y="311"/>
                  </a:cxn>
                  <a:cxn ang="0">
                    <a:pos x="0" y="12"/>
                  </a:cxn>
                  <a:cxn ang="0">
                    <a:pos x="0" y="12"/>
                  </a:cxn>
                </a:cxnLst>
                <a:rect l="txL" t="txT" r="txR" b="txB"/>
                <a:pathLst>
                  <a:path w="245" h="311">
                    <a:moveTo>
                      <a:pt x="0" y="12"/>
                    </a:moveTo>
                    <a:lnTo>
                      <a:pt x="54" y="0"/>
                    </a:lnTo>
                    <a:lnTo>
                      <a:pt x="245" y="293"/>
                    </a:lnTo>
                    <a:lnTo>
                      <a:pt x="192" y="311"/>
                    </a:lnTo>
                    <a:lnTo>
                      <a:pt x="0" y="12"/>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0527" name="Freeform 38"/>
              <p:cNvSpPr/>
              <p:nvPr/>
            </p:nvSpPr>
            <p:spPr>
              <a:xfrm>
                <a:off x="2470" y="1187"/>
                <a:ext cx="72" cy="1"/>
              </a:xfrm>
              <a:custGeom>
                <a:avLst/>
                <a:gdLst>
                  <a:gd name="txL" fmla="*/ 0 w 72"/>
                  <a:gd name="txT" fmla="*/ 0 h 1"/>
                  <a:gd name="txR" fmla="*/ 72 w 72"/>
                  <a:gd name="txB" fmla="*/ 1 h 1"/>
                </a:gdLst>
                <a:ahLst/>
                <a:cxnLst>
                  <a:cxn ang="0">
                    <a:pos x="72" y="0"/>
                  </a:cxn>
                  <a:cxn ang="0">
                    <a:pos x="0" y="0"/>
                  </a:cxn>
                  <a:cxn ang="0">
                    <a:pos x="72" y="0"/>
                  </a:cxn>
                  <a:cxn ang="0">
                    <a:pos x="72" y="0"/>
                  </a:cxn>
                </a:cxnLst>
                <a:rect l="txL" t="txT" r="txR" b="txB"/>
                <a:pathLst>
                  <a:path w="72" h="1">
                    <a:moveTo>
                      <a:pt x="72" y="0"/>
                    </a:moveTo>
                    <a:lnTo>
                      <a:pt x="0" y="0"/>
                    </a:lnTo>
                    <a:lnTo>
                      <a:pt x="72"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28" name="Freeform 39"/>
              <p:cNvSpPr>
                <a:spLocks noEditPoints="1"/>
              </p:cNvSpPr>
              <p:nvPr/>
            </p:nvSpPr>
            <p:spPr>
              <a:xfrm>
                <a:off x="2470" y="1151"/>
                <a:ext cx="48" cy="36"/>
              </a:xfrm>
              <a:custGeom>
                <a:avLst/>
                <a:gdLst>
                  <a:gd name="txL" fmla="*/ 0 w 48"/>
                  <a:gd name="txT" fmla="*/ 0 h 36"/>
                  <a:gd name="txR" fmla="*/ 48 w 48"/>
                  <a:gd name="txB" fmla="*/ 36 h 36"/>
                </a:gdLst>
                <a:ahLst/>
                <a:cxnLst>
                  <a:cxn ang="0">
                    <a:pos x="0" y="36"/>
                  </a:cxn>
                  <a:cxn ang="0">
                    <a:pos x="48" y="0"/>
                  </a:cxn>
                  <a:cxn ang="0">
                    <a:pos x="0" y="36"/>
                  </a:cxn>
                  <a:cxn ang="0">
                    <a:pos x="0" y="36"/>
                  </a:cxn>
                  <a:cxn ang="0">
                    <a:pos x="0" y="36"/>
                  </a:cxn>
                  <a:cxn ang="0">
                    <a:pos x="0" y="36"/>
                  </a:cxn>
                  <a:cxn ang="0">
                    <a:pos x="0" y="36"/>
                  </a:cxn>
                </a:cxnLst>
                <a:rect l="txL" t="txT" r="txR" b="txB"/>
                <a:pathLst>
                  <a:path w="48" h="36">
                    <a:moveTo>
                      <a:pt x="0" y="36"/>
                    </a:moveTo>
                    <a:lnTo>
                      <a:pt x="48" y="0"/>
                    </a:lnTo>
                    <a:lnTo>
                      <a:pt x="0" y="36"/>
                    </a:lnTo>
                    <a:close/>
                    <a:moveTo>
                      <a:pt x="0" y="36"/>
                    </a:moveTo>
                    <a:lnTo>
                      <a:pt x="0"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29" name="Freeform 40"/>
              <p:cNvSpPr>
                <a:spLocks noEditPoints="1"/>
              </p:cNvSpPr>
              <p:nvPr/>
            </p:nvSpPr>
            <p:spPr>
              <a:xfrm>
                <a:off x="2518" y="1109"/>
                <a:ext cx="53" cy="42"/>
              </a:xfrm>
              <a:custGeom>
                <a:avLst/>
                <a:gdLst>
                  <a:gd name="txL" fmla="*/ 0 w 53"/>
                  <a:gd name="txT" fmla="*/ 0 h 42"/>
                  <a:gd name="txR" fmla="*/ 53 w 53"/>
                  <a:gd name="txB" fmla="*/ 42 h 42"/>
                </a:gdLst>
                <a:ahLst/>
                <a:cxnLst>
                  <a:cxn ang="0">
                    <a:pos x="0" y="42"/>
                  </a:cxn>
                  <a:cxn ang="0">
                    <a:pos x="53" y="0"/>
                  </a:cxn>
                  <a:cxn ang="0">
                    <a:pos x="0" y="42"/>
                  </a:cxn>
                  <a:cxn ang="0">
                    <a:pos x="0" y="42"/>
                  </a:cxn>
                  <a:cxn ang="0">
                    <a:pos x="0" y="42"/>
                  </a:cxn>
                  <a:cxn ang="0">
                    <a:pos x="0" y="42"/>
                  </a:cxn>
                  <a:cxn ang="0">
                    <a:pos x="0" y="42"/>
                  </a:cxn>
                </a:cxnLst>
                <a:rect l="txL" t="txT" r="txR" b="txB"/>
                <a:pathLst>
                  <a:path w="53" h="42">
                    <a:moveTo>
                      <a:pt x="0" y="42"/>
                    </a:moveTo>
                    <a:lnTo>
                      <a:pt x="53" y="0"/>
                    </a:lnTo>
                    <a:lnTo>
                      <a:pt x="0" y="42"/>
                    </a:lnTo>
                    <a:close/>
                    <a:moveTo>
                      <a:pt x="0" y="42"/>
                    </a:move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30" name="Freeform 41"/>
              <p:cNvSpPr>
                <a:spLocks noEditPoints="1"/>
              </p:cNvSpPr>
              <p:nvPr/>
            </p:nvSpPr>
            <p:spPr>
              <a:xfrm>
                <a:off x="2494" y="1109"/>
                <a:ext cx="77" cy="1"/>
              </a:xfrm>
              <a:custGeom>
                <a:avLst/>
                <a:gdLst>
                  <a:gd name="txL" fmla="*/ 0 w 77"/>
                  <a:gd name="txT" fmla="*/ 0 h 1"/>
                  <a:gd name="txR" fmla="*/ 77 w 77"/>
                  <a:gd name="txB" fmla="*/ 1 h 1"/>
                </a:gdLst>
                <a:ahLst/>
                <a:cxnLst>
                  <a:cxn ang="0">
                    <a:pos x="77" y="0"/>
                  </a:cxn>
                  <a:cxn ang="0">
                    <a:pos x="0" y="0"/>
                  </a:cxn>
                  <a:cxn ang="0">
                    <a:pos x="77" y="0"/>
                  </a:cxn>
                  <a:cxn ang="0">
                    <a:pos x="77" y="0"/>
                  </a:cxn>
                  <a:cxn ang="0">
                    <a:pos x="77" y="0"/>
                  </a:cxn>
                  <a:cxn ang="0">
                    <a:pos x="77" y="0"/>
                  </a:cxn>
                  <a:cxn ang="0">
                    <a:pos x="77" y="0"/>
                  </a:cxn>
                </a:cxnLst>
                <a:rect l="txL" t="txT" r="txR" b="txB"/>
                <a:pathLst>
                  <a:path w="77" h="1">
                    <a:moveTo>
                      <a:pt x="77" y="0"/>
                    </a:moveTo>
                    <a:lnTo>
                      <a:pt x="0" y="0"/>
                    </a:lnTo>
                    <a:lnTo>
                      <a:pt x="77" y="0"/>
                    </a:lnTo>
                    <a:close/>
                    <a:moveTo>
                      <a:pt x="77" y="0"/>
                    </a:moveTo>
                    <a:lnTo>
                      <a:pt x="77"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31" name="Freeform 42"/>
              <p:cNvSpPr>
                <a:spLocks noEditPoints="1"/>
              </p:cNvSpPr>
              <p:nvPr/>
            </p:nvSpPr>
            <p:spPr>
              <a:xfrm>
                <a:off x="2494" y="1109"/>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32" name="Freeform 43"/>
              <p:cNvSpPr>
                <a:spLocks noEditPoints="1"/>
              </p:cNvSpPr>
              <p:nvPr/>
            </p:nvSpPr>
            <p:spPr>
              <a:xfrm>
                <a:off x="2422" y="1109"/>
                <a:ext cx="72" cy="6"/>
              </a:xfrm>
              <a:custGeom>
                <a:avLst/>
                <a:gdLst>
                  <a:gd name="txL" fmla="*/ 0 w 72"/>
                  <a:gd name="txT" fmla="*/ 0 h 6"/>
                  <a:gd name="txR" fmla="*/ 72 w 72"/>
                  <a:gd name="txB" fmla="*/ 6 h 6"/>
                </a:gdLst>
                <a:ahLst/>
                <a:cxnLst>
                  <a:cxn ang="0">
                    <a:pos x="72" y="0"/>
                  </a:cxn>
                  <a:cxn ang="0">
                    <a:pos x="0" y="6"/>
                  </a:cxn>
                  <a:cxn ang="0">
                    <a:pos x="72" y="0"/>
                  </a:cxn>
                  <a:cxn ang="0">
                    <a:pos x="72" y="0"/>
                  </a:cxn>
                  <a:cxn ang="0">
                    <a:pos x="72" y="0"/>
                  </a:cxn>
                  <a:cxn ang="0">
                    <a:pos x="72" y="0"/>
                  </a:cxn>
                  <a:cxn ang="0">
                    <a:pos x="72" y="0"/>
                  </a:cxn>
                </a:cxnLst>
                <a:rect l="txL" t="txT" r="txR" b="txB"/>
                <a:pathLst>
                  <a:path w="72" h="6">
                    <a:moveTo>
                      <a:pt x="72" y="0"/>
                    </a:moveTo>
                    <a:lnTo>
                      <a:pt x="0" y="6"/>
                    </a:lnTo>
                    <a:lnTo>
                      <a:pt x="72" y="0"/>
                    </a:lnTo>
                    <a:close/>
                    <a:moveTo>
                      <a:pt x="72" y="0"/>
                    </a:moveTo>
                    <a:lnTo>
                      <a:pt x="72"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33" name="Freeform 44"/>
              <p:cNvSpPr>
                <a:spLocks noEditPoints="1"/>
              </p:cNvSpPr>
              <p:nvPr/>
            </p:nvSpPr>
            <p:spPr>
              <a:xfrm>
                <a:off x="2422" y="1073"/>
                <a:ext cx="48" cy="42"/>
              </a:xfrm>
              <a:custGeom>
                <a:avLst/>
                <a:gdLst>
                  <a:gd name="txL" fmla="*/ 0 w 48"/>
                  <a:gd name="txT" fmla="*/ 0 h 42"/>
                  <a:gd name="txR" fmla="*/ 48 w 48"/>
                  <a:gd name="txB" fmla="*/ 42 h 42"/>
                </a:gdLst>
                <a:ahLst/>
                <a:cxnLst>
                  <a:cxn ang="0">
                    <a:pos x="0" y="42"/>
                  </a:cxn>
                  <a:cxn ang="0">
                    <a:pos x="48" y="0"/>
                  </a:cxn>
                  <a:cxn ang="0">
                    <a:pos x="0" y="42"/>
                  </a:cxn>
                  <a:cxn ang="0">
                    <a:pos x="0" y="42"/>
                  </a:cxn>
                  <a:cxn ang="0">
                    <a:pos x="0" y="42"/>
                  </a:cxn>
                  <a:cxn ang="0">
                    <a:pos x="0" y="42"/>
                  </a:cxn>
                  <a:cxn ang="0">
                    <a:pos x="0" y="42"/>
                  </a:cxn>
                </a:cxnLst>
                <a:rect l="txL" t="txT" r="txR" b="txB"/>
                <a:pathLst>
                  <a:path w="48" h="42">
                    <a:moveTo>
                      <a:pt x="0" y="42"/>
                    </a:moveTo>
                    <a:lnTo>
                      <a:pt x="48" y="0"/>
                    </a:lnTo>
                    <a:lnTo>
                      <a:pt x="0" y="42"/>
                    </a:lnTo>
                    <a:close/>
                    <a:moveTo>
                      <a:pt x="0" y="42"/>
                    </a:move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34" name="Freeform 45"/>
              <p:cNvSpPr>
                <a:spLocks noEditPoints="1"/>
              </p:cNvSpPr>
              <p:nvPr/>
            </p:nvSpPr>
            <p:spPr>
              <a:xfrm>
                <a:off x="2470" y="1031"/>
                <a:ext cx="48" cy="42"/>
              </a:xfrm>
              <a:custGeom>
                <a:avLst/>
                <a:gdLst>
                  <a:gd name="txL" fmla="*/ 0 w 48"/>
                  <a:gd name="txT" fmla="*/ 0 h 42"/>
                  <a:gd name="txR" fmla="*/ 48 w 48"/>
                  <a:gd name="txB" fmla="*/ 42 h 42"/>
                </a:gdLst>
                <a:ahLst/>
                <a:cxnLst>
                  <a:cxn ang="0">
                    <a:pos x="0" y="42"/>
                  </a:cxn>
                  <a:cxn ang="0">
                    <a:pos x="48" y="0"/>
                  </a:cxn>
                  <a:cxn ang="0">
                    <a:pos x="0" y="42"/>
                  </a:cxn>
                  <a:cxn ang="0">
                    <a:pos x="0" y="42"/>
                  </a:cxn>
                  <a:cxn ang="0">
                    <a:pos x="0" y="42"/>
                  </a:cxn>
                  <a:cxn ang="0">
                    <a:pos x="0" y="42"/>
                  </a:cxn>
                  <a:cxn ang="0">
                    <a:pos x="0" y="42"/>
                  </a:cxn>
                </a:cxnLst>
                <a:rect l="txL" t="txT" r="txR" b="txB"/>
                <a:pathLst>
                  <a:path w="48" h="42">
                    <a:moveTo>
                      <a:pt x="0" y="42"/>
                    </a:moveTo>
                    <a:lnTo>
                      <a:pt x="48" y="0"/>
                    </a:lnTo>
                    <a:lnTo>
                      <a:pt x="0" y="42"/>
                    </a:lnTo>
                    <a:close/>
                    <a:moveTo>
                      <a:pt x="0" y="42"/>
                    </a:move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35" name="Freeform 46"/>
              <p:cNvSpPr>
                <a:spLocks noEditPoints="1"/>
              </p:cNvSpPr>
              <p:nvPr/>
            </p:nvSpPr>
            <p:spPr>
              <a:xfrm>
                <a:off x="2446" y="1031"/>
                <a:ext cx="72" cy="6"/>
              </a:xfrm>
              <a:custGeom>
                <a:avLst/>
                <a:gdLst>
                  <a:gd name="txL" fmla="*/ 0 w 72"/>
                  <a:gd name="txT" fmla="*/ 0 h 6"/>
                  <a:gd name="txR" fmla="*/ 72 w 72"/>
                  <a:gd name="txB" fmla="*/ 6 h 6"/>
                </a:gdLst>
                <a:ahLst/>
                <a:cxnLst>
                  <a:cxn ang="0">
                    <a:pos x="72" y="0"/>
                  </a:cxn>
                  <a:cxn ang="0">
                    <a:pos x="0" y="6"/>
                  </a:cxn>
                  <a:cxn ang="0">
                    <a:pos x="72" y="0"/>
                  </a:cxn>
                  <a:cxn ang="0">
                    <a:pos x="72" y="0"/>
                  </a:cxn>
                  <a:cxn ang="0">
                    <a:pos x="72" y="0"/>
                  </a:cxn>
                  <a:cxn ang="0">
                    <a:pos x="72" y="0"/>
                  </a:cxn>
                  <a:cxn ang="0">
                    <a:pos x="72" y="0"/>
                  </a:cxn>
                </a:cxnLst>
                <a:rect l="txL" t="txT" r="txR" b="txB"/>
                <a:pathLst>
                  <a:path w="72" h="6">
                    <a:moveTo>
                      <a:pt x="72" y="0"/>
                    </a:moveTo>
                    <a:lnTo>
                      <a:pt x="0" y="6"/>
                    </a:lnTo>
                    <a:lnTo>
                      <a:pt x="72" y="0"/>
                    </a:lnTo>
                    <a:close/>
                    <a:moveTo>
                      <a:pt x="72" y="0"/>
                    </a:moveTo>
                    <a:lnTo>
                      <a:pt x="72"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36" name="Freeform 47"/>
              <p:cNvSpPr>
                <a:spLocks noEditPoints="1"/>
              </p:cNvSpPr>
              <p:nvPr/>
            </p:nvSpPr>
            <p:spPr>
              <a:xfrm>
                <a:off x="2368" y="1037"/>
                <a:ext cx="78" cy="1"/>
              </a:xfrm>
              <a:custGeom>
                <a:avLst/>
                <a:gdLst>
                  <a:gd name="txL" fmla="*/ 0 w 78"/>
                  <a:gd name="txT" fmla="*/ 0 h 1"/>
                  <a:gd name="txR" fmla="*/ 78 w 78"/>
                  <a:gd name="txB" fmla="*/ 1 h 1"/>
                </a:gdLst>
                <a:ahLst/>
                <a:cxnLst>
                  <a:cxn ang="0">
                    <a:pos x="78" y="0"/>
                  </a:cxn>
                  <a:cxn ang="0">
                    <a:pos x="0" y="0"/>
                  </a:cxn>
                  <a:cxn ang="0">
                    <a:pos x="78" y="0"/>
                  </a:cxn>
                  <a:cxn ang="0">
                    <a:pos x="78" y="0"/>
                  </a:cxn>
                  <a:cxn ang="0">
                    <a:pos x="78" y="0"/>
                  </a:cxn>
                  <a:cxn ang="0">
                    <a:pos x="78" y="0"/>
                  </a:cxn>
                  <a:cxn ang="0">
                    <a:pos x="78" y="0"/>
                  </a:cxn>
                </a:cxnLst>
                <a:rect l="txL" t="txT" r="txR" b="txB"/>
                <a:pathLst>
                  <a:path w="78" h="1">
                    <a:moveTo>
                      <a:pt x="78" y="0"/>
                    </a:moveTo>
                    <a:lnTo>
                      <a:pt x="0" y="0"/>
                    </a:lnTo>
                    <a:lnTo>
                      <a:pt x="78" y="0"/>
                    </a:lnTo>
                    <a:close/>
                    <a:moveTo>
                      <a:pt x="78" y="0"/>
                    </a:moveTo>
                    <a:lnTo>
                      <a:pt x="7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37" name="Freeform 48"/>
              <p:cNvSpPr>
                <a:spLocks noEditPoints="1"/>
              </p:cNvSpPr>
              <p:nvPr/>
            </p:nvSpPr>
            <p:spPr>
              <a:xfrm>
                <a:off x="2368" y="996"/>
                <a:ext cx="54" cy="41"/>
              </a:xfrm>
              <a:custGeom>
                <a:avLst/>
                <a:gdLst>
                  <a:gd name="txL" fmla="*/ 0 w 54"/>
                  <a:gd name="txT" fmla="*/ 0 h 41"/>
                  <a:gd name="txR" fmla="*/ 54 w 54"/>
                  <a:gd name="txB" fmla="*/ 41 h 41"/>
                </a:gdLst>
                <a:ahLst/>
                <a:cxnLst>
                  <a:cxn ang="0">
                    <a:pos x="0" y="41"/>
                  </a:cxn>
                  <a:cxn ang="0">
                    <a:pos x="54" y="0"/>
                  </a:cxn>
                  <a:cxn ang="0">
                    <a:pos x="0" y="41"/>
                  </a:cxn>
                  <a:cxn ang="0">
                    <a:pos x="0" y="41"/>
                  </a:cxn>
                  <a:cxn ang="0">
                    <a:pos x="0" y="41"/>
                  </a:cxn>
                  <a:cxn ang="0">
                    <a:pos x="0" y="41"/>
                  </a:cxn>
                  <a:cxn ang="0">
                    <a:pos x="0" y="41"/>
                  </a:cxn>
                </a:cxnLst>
                <a:rect l="txL" t="txT" r="txR" b="txB"/>
                <a:pathLst>
                  <a:path w="54" h="41">
                    <a:moveTo>
                      <a:pt x="0" y="41"/>
                    </a:moveTo>
                    <a:lnTo>
                      <a:pt x="54" y="0"/>
                    </a:lnTo>
                    <a:lnTo>
                      <a:pt x="0" y="41"/>
                    </a:lnTo>
                    <a:close/>
                    <a:moveTo>
                      <a:pt x="0" y="41"/>
                    </a:moveTo>
                    <a:lnTo>
                      <a:pt x="0" y="41"/>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38" name="Freeform 49"/>
              <p:cNvSpPr>
                <a:spLocks noEditPoints="1"/>
              </p:cNvSpPr>
              <p:nvPr/>
            </p:nvSpPr>
            <p:spPr>
              <a:xfrm>
                <a:off x="2422" y="960"/>
                <a:ext cx="48" cy="36"/>
              </a:xfrm>
              <a:custGeom>
                <a:avLst/>
                <a:gdLst>
                  <a:gd name="txL" fmla="*/ 0 w 48"/>
                  <a:gd name="txT" fmla="*/ 0 h 36"/>
                  <a:gd name="txR" fmla="*/ 48 w 48"/>
                  <a:gd name="txB" fmla="*/ 36 h 36"/>
                </a:gdLst>
                <a:ahLst/>
                <a:cxnLst>
                  <a:cxn ang="0">
                    <a:pos x="0" y="36"/>
                  </a:cxn>
                  <a:cxn ang="0">
                    <a:pos x="48" y="0"/>
                  </a:cxn>
                  <a:cxn ang="0">
                    <a:pos x="0" y="36"/>
                  </a:cxn>
                  <a:cxn ang="0">
                    <a:pos x="0" y="36"/>
                  </a:cxn>
                  <a:cxn ang="0">
                    <a:pos x="0" y="36"/>
                  </a:cxn>
                  <a:cxn ang="0">
                    <a:pos x="0" y="36"/>
                  </a:cxn>
                  <a:cxn ang="0">
                    <a:pos x="0" y="36"/>
                  </a:cxn>
                </a:cxnLst>
                <a:rect l="txL" t="txT" r="txR" b="txB"/>
                <a:pathLst>
                  <a:path w="48" h="36">
                    <a:moveTo>
                      <a:pt x="0" y="36"/>
                    </a:moveTo>
                    <a:lnTo>
                      <a:pt x="48" y="0"/>
                    </a:lnTo>
                    <a:lnTo>
                      <a:pt x="0" y="36"/>
                    </a:lnTo>
                    <a:close/>
                    <a:moveTo>
                      <a:pt x="0" y="36"/>
                    </a:moveTo>
                    <a:lnTo>
                      <a:pt x="0"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39" name="Freeform 50"/>
              <p:cNvSpPr>
                <a:spLocks noEditPoints="1"/>
              </p:cNvSpPr>
              <p:nvPr/>
            </p:nvSpPr>
            <p:spPr>
              <a:xfrm>
                <a:off x="2398" y="960"/>
                <a:ext cx="72" cy="1"/>
              </a:xfrm>
              <a:custGeom>
                <a:avLst/>
                <a:gdLst>
                  <a:gd name="txL" fmla="*/ 0 w 72"/>
                  <a:gd name="txT" fmla="*/ 0 h 1"/>
                  <a:gd name="txR" fmla="*/ 72 w 72"/>
                  <a:gd name="txB" fmla="*/ 1 h 1"/>
                </a:gdLst>
                <a:ahLst/>
                <a:cxnLst>
                  <a:cxn ang="0">
                    <a:pos x="72" y="0"/>
                  </a:cxn>
                  <a:cxn ang="0">
                    <a:pos x="0" y="0"/>
                  </a:cxn>
                  <a:cxn ang="0">
                    <a:pos x="72" y="0"/>
                  </a:cxn>
                  <a:cxn ang="0">
                    <a:pos x="72" y="0"/>
                  </a:cxn>
                  <a:cxn ang="0">
                    <a:pos x="72" y="0"/>
                  </a:cxn>
                  <a:cxn ang="0">
                    <a:pos x="72" y="0"/>
                  </a:cxn>
                  <a:cxn ang="0">
                    <a:pos x="72" y="0"/>
                  </a:cxn>
                </a:cxnLst>
                <a:rect l="txL" t="txT" r="txR" b="txB"/>
                <a:pathLst>
                  <a:path w="72" h="1">
                    <a:moveTo>
                      <a:pt x="72" y="0"/>
                    </a:moveTo>
                    <a:lnTo>
                      <a:pt x="0" y="0"/>
                    </a:lnTo>
                    <a:lnTo>
                      <a:pt x="72" y="0"/>
                    </a:lnTo>
                    <a:close/>
                    <a:moveTo>
                      <a:pt x="72" y="0"/>
                    </a:moveTo>
                    <a:lnTo>
                      <a:pt x="72"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40" name="Freeform 51"/>
              <p:cNvSpPr>
                <a:spLocks noEditPoints="1"/>
              </p:cNvSpPr>
              <p:nvPr/>
            </p:nvSpPr>
            <p:spPr>
              <a:xfrm>
                <a:off x="2320" y="960"/>
                <a:ext cx="78" cy="1"/>
              </a:xfrm>
              <a:custGeom>
                <a:avLst/>
                <a:gdLst>
                  <a:gd name="txL" fmla="*/ 0 w 78"/>
                  <a:gd name="txT" fmla="*/ 0 h 1"/>
                  <a:gd name="txR" fmla="*/ 78 w 78"/>
                  <a:gd name="txB" fmla="*/ 1 h 1"/>
                </a:gdLst>
                <a:ahLst/>
                <a:cxnLst>
                  <a:cxn ang="0">
                    <a:pos x="78" y="0"/>
                  </a:cxn>
                  <a:cxn ang="0">
                    <a:pos x="0" y="0"/>
                  </a:cxn>
                  <a:cxn ang="0">
                    <a:pos x="78" y="0"/>
                  </a:cxn>
                  <a:cxn ang="0">
                    <a:pos x="78" y="0"/>
                  </a:cxn>
                  <a:cxn ang="0">
                    <a:pos x="78" y="0"/>
                  </a:cxn>
                  <a:cxn ang="0">
                    <a:pos x="78" y="0"/>
                  </a:cxn>
                  <a:cxn ang="0">
                    <a:pos x="78" y="0"/>
                  </a:cxn>
                </a:cxnLst>
                <a:rect l="txL" t="txT" r="txR" b="txB"/>
                <a:pathLst>
                  <a:path w="78" h="1">
                    <a:moveTo>
                      <a:pt x="78" y="0"/>
                    </a:moveTo>
                    <a:lnTo>
                      <a:pt x="0" y="0"/>
                    </a:lnTo>
                    <a:lnTo>
                      <a:pt x="78" y="0"/>
                    </a:lnTo>
                    <a:close/>
                    <a:moveTo>
                      <a:pt x="78" y="0"/>
                    </a:moveTo>
                    <a:lnTo>
                      <a:pt x="7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41" name="Freeform 52"/>
              <p:cNvSpPr>
                <a:spLocks noEditPoints="1"/>
              </p:cNvSpPr>
              <p:nvPr/>
            </p:nvSpPr>
            <p:spPr>
              <a:xfrm>
                <a:off x="2320" y="924"/>
                <a:ext cx="48" cy="36"/>
              </a:xfrm>
              <a:custGeom>
                <a:avLst/>
                <a:gdLst>
                  <a:gd name="txL" fmla="*/ 0 w 48"/>
                  <a:gd name="txT" fmla="*/ 0 h 36"/>
                  <a:gd name="txR" fmla="*/ 48 w 48"/>
                  <a:gd name="txB" fmla="*/ 36 h 36"/>
                </a:gdLst>
                <a:ahLst/>
                <a:cxnLst>
                  <a:cxn ang="0">
                    <a:pos x="0" y="36"/>
                  </a:cxn>
                  <a:cxn ang="0">
                    <a:pos x="48" y="0"/>
                  </a:cxn>
                  <a:cxn ang="0">
                    <a:pos x="0" y="36"/>
                  </a:cxn>
                  <a:cxn ang="0">
                    <a:pos x="0" y="36"/>
                  </a:cxn>
                  <a:cxn ang="0">
                    <a:pos x="0" y="36"/>
                  </a:cxn>
                  <a:cxn ang="0">
                    <a:pos x="0" y="36"/>
                  </a:cxn>
                  <a:cxn ang="0">
                    <a:pos x="0" y="36"/>
                  </a:cxn>
                </a:cxnLst>
                <a:rect l="txL" t="txT" r="txR" b="txB"/>
                <a:pathLst>
                  <a:path w="48" h="36">
                    <a:moveTo>
                      <a:pt x="0" y="36"/>
                    </a:moveTo>
                    <a:lnTo>
                      <a:pt x="48" y="0"/>
                    </a:lnTo>
                    <a:lnTo>
                      <a:pt x="0" y="36"/>
                    </a:lnTo>
                    <a:close/>
                    <a:moveTo>
                      <a:pt x="0" y="36"/>
                    </a:moveTo>
                    <a:lnTo>
                      <a:pt x="0"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42" name="Freeform 53"/>
              <p:cNvSpPr>
                <a:spLocks noEditPoints="1"/>
              </p:cNvSpPr>
              <p:nvPr/>
            </p:nvSpPr>
            <p:spPr>
              <a:xfrm>
                <a:off x="2368" y="882"/>
                <a:ext cx="54" cy="42"/>
              </a:xfrm>
              <a:custGeom>
                <a:avLst/>
                <a:gdLst>
                  <a:gd name="txL" fmla="*/ 0 w 54"/>
                  <a:gd name="txT" fmla="*/ 0 h 42"/>
                  <a:gd name="txR" fmla="*/ 54 w 54"/>
                  <a:gd name="txB" fmla="*/ 42 h 42"/>
                </a:gdLst>
                <a:ahLst/>
                <a:cxnLst>
                  <a:cxn ang="0">
                    <a:pos x="0" y="42"/>
                  </a:cxn>
                  <a:cxn ang="0">
                    <a:pos x="54" y="0"/>
                  </a:cxn>
                  <a:cxn ang="0">
                    <a:pos x="0" y="42"/>
                  </a:cxn>
                  <a:cxn ang="0">
                    <a:pos x="0" y="42"/>
                  </a:cxn>
                  <a:cxn ang="0">
                    <a:pos x="0" y="42"/>
                  </a:cxn>
                  <a:cxn ang="0">
                    <a:pos x="0" y="42"/>
                  </a:cxn>
                  <a:cxn ang="0">
                    <a:pos x="0" y="42"/>
                  </a:cxn>
                </a:cxnLst>
                <a:rect l="txL" t="txT" r="txR" b="txB"/>
                <a:pathLst>
                  <a:path w="54" h="42">
                    <a:moveTo>
                      <a:pt x="0" y="42"/>
                    </a:moveTo>
                    <a:lnTo>
                      <a:pt x="54" y="0"/>
                    </a:lnTo>
                    <a:lnTo>
                      <a:pt x="0" y="42"/>
                    </a:lnTo>
                    <a:close/>
                    <a:moveTo>
                      <a:pt x="0" y="42"/>
                    </a:move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43" name="Freeform 54"/>
              <p:cNvSpPr>
                <a:spLocks noEditPoints="1"/>
              </p:cNvSpPr>
              <p:nvPr/>
            </p:nvSpPr>
            <p:spPr>
              <a:xfrm>
                <a:off x="2338" y="882"/>
                <a:ext cx="84" cy="1"/>
              </a:xfrm>
              <a:custGeom>
                <a:avLst/>
                <a:gdLst>
                  <a:gd name="txL" fmla="*/ 0 w 84"/>
                  <a:gd name="txT" fmla="*/ 0 h 1"/>
                  <a:gd name="txR" fmla="*/ 84 w 84"/>
                  <a:gd name="txB" fmla="*/ 1 h 1"/>
                </a:gdLst>
                <a:ahLst/>
                <a:cxnLst>
                  <a:cxn ang="0">
                    <a:pos x="84" y="0"/>
                  </a:cxn>
                  <a:cxn ang="0">
                    <a:pos x="0" y="0"/>
                  </a:cxn>
                  <a:cxn ang="0">
                    <a:pos x="84" y="0"/>
                  </a:cxn>
                  <a:cxn ang="0">
                    <a:pos x="84" y="0"/>
                  </a:cxn>
                  <a:cxn ang="0">
                    <a:pos x="84" y="0"/>
                  </a:cxn>
                  <a:cxn ang="0">
                    <a:pos x="84" y="0"/>
                  </a:cxn>
                  <a:cxn ang="0">
                    <a:pos x="84" y="0"/>
                  </a:cxn>
                </a:cxnLst>
                <a:rect l="txL" t="txT" r="txR" b="txB"/>
                <a:pathLst>
                  <a:path w="84" h="1">
                    <a:moveTo>
                      <a:pt x="84" y="0"/>
                    </a:moveTo>
                    <a:lnTo>
                      <a:pt x="0" y="0"/>
                    </a:lnTo>
                    <a:lnTo>
                      <a:pt x="84" y="0"/>
                    </a:lnTo>
                    <a:close/>
                    <a:moveTo>
                      <a:pt x="84" y="0"/>
                    </a:moveTo>
                    <a:lnTo>
                      <a:pt x="8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44" name="Freeform 55"/>
              <p:cNvSpPr/>
              <p:nvPr/>
            </p:nvSpPr>
            <p:spPr>
              <a:xfrm>
                <a:off x="3170" y="882"/>
                <a:ext cx="245" cy="317"/>
              </a:xfrm>
              <a:custGeom>
                <a:avLst/>
                <a:gdLst>
                  <a:gd name="txL" fmla="*/ 0 w 245"/>
                  <a:gd name="txT" fmla="*/ 0 h 317"/>
                  <a:gd name="txR" fmla="*/ 245 w 245"/>
                  <a:gd name="txB" fmla="*/ 317 h 317"/>
                </a:gdLst>
                <a:ahLst/>
                <a:cxnLst>
                  <a:cxn ang="0">
                    <a:pos x="245" y="18"/>
                  </a:cxn>
                  <a:cxn ang="0">
                    <a:pos x="197" y="0"/>
                  </a:cxn>
                  <a:cxn ang="0">
                    <a:pos x="0" y="299"/>
                  </a:cxn>
                  <a:cxn ang="0">
                    <a:pos x="53" y="317"/>
                  </a:cxn>
                  <a:cxn ang="0">
                    <a:pos x="245" y="18"/>
                  </a:cxn>
                  <a:cxn ang="0">
                    <a:pos x="245" y="18"/>
                  </a:cxn>
                </a:cxnLst>
                <a:rect l="txL" t="txT" r="txR" b="txB"/>
                <a:pathLst>
                  <a:path w="245" h="317">
                    <a:moveTo>
                      <a:pt x="245" y="18"/>
                    </a:moveTo>
                    <a:lnTo>
                      <a:pt x="197" y="0"/>
                    </a:lnTo>
                    <a:lnTo>
                      <a:pt x="0" y="299"/>
                    </a:lnTo>
                    <a:lnTo>
                      <a:pt x="53" y="317"/>
                    </a:lnTo>
                    <a:lnTo>
                      <a:pt x="245" y="18"/>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0545" name="Freeform 56"/>
              <p:cNvSpPr/>
              <p:nvPr/>
            </p:nvSpPr>
            <p:spPr>
              <a:xfrm>
                <a:off x="3194" y="1193"/>
                <a:ext cx="77" cy="1"/>
              </a:xfrm>
              <a:custGeom>
                <a:avLst/>
                <a:gdLst>
                  <a:gd name="txL" fmla="*/ 0 w 77"/>
                  <a:gd name="txT" fmla="*/ 0 h 1"/>
                  <a:gd name="txR" fmla="*/ 77 w 77"/>
                  <a:gd name="txB" fmla="*/ 1 h 1"/>
                </a:gdLst>
                <a:ahLst/>
                <a:cxnLst>
                  <a:cxn ang="0">
                    <a:pos x="0" y="0"/>
                  </a:cxn>
                  <a:cxn ang="0">
                    <a:pos x="77" y="0"/>
                  </a:cxn>
                  <a:cxn ang="0">
                    <a:pos x="0" y="0"/>
                  </a:cxn>
                  <a:cxn ang="0">
                    <a:pos x="0" y="0"/>
                  </a:cxn>
                </a:cxnLst>
                <a:rect l="txL" t="txT" r="txR" b="txB"/>
                <a:pathLst>
                  <a:path w="77" h="1">
                    <a:moveTo>
                      <a:pt x="0" y="0"/>
                    </a:moveTo>
                    <a:lnTo>
                      <a:pt x="77"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46" name="Freeform 57"/>
              <p:cNvSpPr>
                <a:spLocks noEditPoints="1"/>
              </p:cNvSpPr>
              <p:nvPr/>
            </p:nvSpPr>
            <p:spPr>
              <a:xfrm>
                <a:off x="3217" y="1157"/>
                <a:ext cx="54" cy="36"/>
              </a:xfrm>
              <a:custGeom>
                <a:avLst/>
                <a:gdLst>
                  <a:gd name="txL" fmla="*/ 0 w 54"/>
                  <a:gd name="txT" fmla="*/ 0 h 36"/>
                  <a:gd name="txR" fmla="*/ 54 w 54"/>
                  <a:gd name="txB" fmla="*/ 36 h 36"/>
                </a:gdLst>
                <a:ahLst/>
                <a:cxnLst>
                  <a:cxn ang="0">
                    <a:pos x="54" y="36"/>
                  </a:cxn>
                  <a:cxn ang="0">
                    <a:pos x="0" y="0"/>
                  </a:cxn>
                  <a:cxn ang="0">
                    <a:pos x="54" y="36"/>
                  </a:cxn>
                  <a:cxn ang="0">
                    <a:pos x="54" y="36"/>
                  </a:cxn>
                  <a:cxn ang="0">
                    <a:pos x="54" y="36"/>
                  </a:cxn>
                  <a:cxn ang="0">
                    <a:pos x="54" y="36"/>
                  </a:cxn>
                  <a:cxn ang="0">
                    <a:pos x="54" y="36"/>
                  </a:cxn>
                </a:cxnLst>
                <a:rect l="txL" t="txT" r="txR" b="txB"/>
                <a:pathLst>
                  <a:path w="54" h="36">
                    <a:moveTo>
                      <a:pt x="54" y="36"/>
                    </a:moveTo>
                    <a:lnTo>
                      <a:pt x="0" y="0"/>
                    </a:lnTo>
                    <a:lnTo>
                      <a:pt x="54" y="36"/>
                    </a:lnTo>
                    <a:close/>
                    <a:moveTo>
                      <a:pt x="54" y="36"/>
                    </a:moveTo>
                    <a:lnTo>
                      <a:pt x="54"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47" name="Freeform 58"/>
              <p:cNvSpPr>
                <a:spLocks noEditPoints="1"/>
              </p:cNvSpPr>
              <p:nvPr/>
            </p:nvSpPr>
            <p:spPr>
              <a:xfrm>
                <a:off x="3170" y="1115"/>
                <a:ext cx="47" cy="42"/>
              </a:xfrm>
              <a:custGeom>
                <a:avLst/>
                <a:gdLst>
                  <a:gd name="txL" fmla="*/ 0 w 47"/>
                  <a:gd name="txT" fmla="*/ 0 h 42"/>
                  <a:gd name="txR" fmla="*/ 47 w 47"/>
                  <a:gd name="txB" fmla="*/ 42 h 42"/>
                </a:gdLst>
                <a:ahLst/>
                <a:cxnLst>
                  <a:cxn ang="0">
                    <a:pos x="47" y="42"/>
                  </a:cxn>
                  <a:cxn ang="0">
                    <a:pos x="0" y="0"/>
                  </a:cxn>
                  <a:cxn ang="0">
                    <a:pos x="47" y="42"/>
                  </a:cxn>
                  <a:cxn ang="0">
                    <a:pos x="47" y="42"/>
                  </a:cxn>
                  <a:cxn ang="0">
                    <a:pos x="47" y="42"/>
                  </a:cxn>
                  <a:cxn ang="0">
                    <a:pos x="47" y="42"/>
                  </a:cxn>
                  <a:cxn ang="0">
                    <a:pos x="47" y="42"/>
                  </a:cxn>
                </a:cxnLst>
                <a:rect l="txL" t="txT" r="txR" b="txB"/>
                <a:pathLst>
                  <a:path w="47" h="42">
                    <a:moveTo>
                      <a:pt x="47" y="42"/>
                    </a:moveTo>
                    <a:lnTo>
                      <a:pt x="0" y="0"/>
                    </a:lnTo>
                    <a:lnTo>
                      <a:pt x="47" y="42"/>
                    </a:lnTo>
                    <a:close/>
                    <a:moveTo>
                      <a:pt x="47" y="42"/>
                    </a:moveTo>
                    <a:lnTo>
                      <a:pt x="47"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48" name="Freeform 59"/>
              <p:cNvSpPr>
                <a:spLocks noEditPoints="1"/>
              </p:cNvSpPr>
              <p:nvPr/>
            </p:nvSpPr>
            <p:spPr>
              <a:xfrm>
                <a:off x="3170" y="1115"/>
                <a:ext cx="71" cy="1"/>
              </a:xfrm>
              <a:custGeom>
                <a:avLst/>
                <a:gdLst>
                  <a:gd name="txL" fmla="*/ 0 w 71"/>
                  <a:gd name="txT" fmla="*/ 0 h 1"/>
                  <a:gd name="txR" fmla="*/ 71 w 71"/>
                  <a:gd name="txB" fmla="*/ 1 h 1"/>
                </a:gdLst>
                <a:ahLst/>
                <a:cxnLst>
                  <a:cxn ang="0">
                    <a:pos x="0" y="0"/>
                  </a:cxn>
                  <a:cxn ang="0">
                    <a:pos x="71" y="0"/>
                  </a:cxn>
                  <a:cxn ang="0">
                    <a:pos x="0" y="0"/>
                  </a:cxn>
                  <a:cxn ang="0">
                    <a:pos x="0" y="0"/>
                  </a:cxn>
                  <a:cxn ang="0">
                    <a:pos x="0" y="0"/>
                  </a:cxn>
                  <a:cxn ang="0">
                    <a:pos x="0" y="0"/>
                  </a:cxn>
                  <a:cxn ang="0">
                    <a:pos x="0" y="0"/>
                  </a:cxn>
                </a:cxnLst>
                <a:rect l="txL" t="txT" r="txR" b="txB"/>
                <a:pathLst>
                  <a:path w="71" h="1">
                    <a:moveTo>
                      <a:pt x="0" y="0"/>
                    </a:moveTo>
                    <a:lnTo>
                      <a:pt x="71" y="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49" name="Freeform 60"/>
              <p:cNvSpPr>
                <a:spLocks noEditPoints="1"/>
              </p:cNvSpPr>
              <p:nvPr/>
            </p:nvSpPr>
            <p:spPr>
              <a:xfrm>
                <a:off x="3241" y="1115"/>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50" name="Freeform 61"/>
              <p:cNvSpPr>
                <a:spLocks noEditPoints="1"/>
              </p:cNvSpPr>
              <p:nvPr/>
            </p:nvSpPr>
            <p:spPr>
              <a:xfrm>
                <a:off x="3241" y="1115"/>
                <a:ext cx="78" cy="6"/>
              </a:xfrm>
              <a:custGeom>
                <a:avLst/>
                <a:gdLst>
                  <a:gd name="txL" fmla="*/ 0 w 78"/>
                  <a:gd name="txT" fmla="*/ 0 h 6"/>
                  <a:gd name="txR" fmla="*/ 78 w 78"/>
                  <a:gd name="txB" fmla="*/ 6 h 6"/>
                </a:gdLst>
                <a:ahLst/>
                <a:cxnLst>
                  <a:cxn ang="0">
                    <a:pos x="0" y="0"/>
                  </a:cxn>
                  <a:cxn ang="0">
                    <a:pos x="78" y="6"/>
                  </a:cxn>
                  <a:cxn ang="0">
                    <a:pos x="0" y="0"/>
                  </a:cxn>
                  <a:cxn ang="0">
                    <a:pos x="0" y="0"/>
                  </a:cxn>
                  <a:cxn ang="0">
                    <a:pos x="0" y="0"/>
                  </a:cxn>
                  <a:cxn ang="0">
                    <a:pos x="0" y="0"/>
                  </a:cxn>
                  <a:cxn ang="0">
                    <a:pos x="0" y="0"/>
                  </a:cxn>
                </a:cxnLst>
                <a:rect l="txL" t="txT" r="txR" b="txB"/>
                <a:pathLst>
                  <a:path w="78" h="6">
                    <a:moveTo>
                      <a:pt x="0" y="0"/>
                    </a:moveTo>
                    <a:lnTo>
                      <a:pt x="78"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51" name="Freeform 62"/>
              <p:cNvSpPr>
                <a:spLocks noEditPoints="1"/>
              </p:cNvSpPr>
              <p:nvPr/>
            </p:nvSpPr>
            <p:spPr>
              <a:xfrm>
                <a:off x="3271" y="1079"/>
                <a:ext cx="48" cy="42"/>
              </a:xfrm>
              <a:custGeom>
                <a:avLst/>
                <a:gdLst>
                  <a:gd name="txL" fmla="*/ 0 w 48"/>
                  <a:gd name="txT" fmla="*/ 0 h 42"/>
                  <a:gd name="txR" fmla="*/ 48 w 48"/>
                  <a:gd name="txB" fmla="*/ 42 h 42"/>
                </a:gdLst>
                <a:ahLst/>
                <a:cxnLst>
                  <a:cxn ang="0">
                    <a:pos x="48" y="42"/>
                  </a:cxn>
                  <a:cxn ang="0">
                    <a:pos x="0" y="0"/>
                  </a:cxn>
                  <a:cxn ang="0">
                    <a:pos x="48" y="42"/>
                  </a:cxn>
                  <a:cxn ang="0">
                    <a:pos x="48" y="42"/>
                  </a:cxn>
                  <a:cxn ang="0">
                    <a:pos x="48" y="42"/>
                  </a:cxn>
                  <a:cxn ang="0">
                    <a:pos x="48" y="42"/>
                  </a:cxn>
                  <a:cxn ang="0">
                    <a:pos x="48" y="42"/>
                  </a:cxn>
                </a:cxnLst>
                <a:rect l="txL" t="txT" r="txR" b="txB"/>
                <a:pathLst>
                  <a:path w="48" h="42">
                    <a:moveTo>
                      <a:pt x="48" y="42"/>
                    </a:moveTo>
                    <a:lnTo>
                      <a:pt x="0" y="0"/>
                    </a:lnTo>
                    <a:lnTo>
                      <a:pt x="48" y="42"/>
                    </a:lnTo>
                    <a:close/>
                    <a:moveTo>
                      <a:pt x="48" y="42"/>
                    </a:moveTo>
                    <a:lnTo>
                      <a:pt x="48"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52" name="Freeform 63"/>
              <p:cNvSpPr>
                <a:spLocks noEditPoints="1"/>
              </p:cNvSpPr>
              <p:nvPr/>
            </p:nvSpPr>
            <p:spPr>
              <a:xfrm>
                <a:off x="3217" y="1037"/>
                <a:ext cx="54" cy="42"/>
              </a:xfrm>
              <a:custGeom>
                <a:avLst/>
                <a:gdLst>
                  <a:gd name="txL" fmla="*/ 0 w 54"/>
                  <a:gd name="txT" fmla="*/ 0 h 42"/>
                  <a:gd name="txR" fmla="*/ 54 w 54"/>
                  <a:gd name="txB" fmla="*/ 42 h 42"/>
                </a:gdLst>
                <a:ahLst/>
                <a:cxnLst>
                  <a:cxn ang="0">
                    <a:pos x="54" y="42"/>
                  </a:cxn>
                  <a:cxn ang="0">
                    <a:pos x="0" y="0"/>
                  </a:cxn>
                  <a:cxn ang="0">
                    <a:pos x="54" y="42"/>
                  </a:cxn>
                  <a:cxn ang="0">
                    <a:pos x="54" y="42"/>
                  </a:cxn>
                  <a:cxn ang="0">
                    <a:pos x="54" y="42"/>
                  </a:cxn>
                  <a:cxn ang="0">
                    <a:pos x="54" y="42"/>
                  </a:cxn>
                  <a:cxn ang="0">
                    <a:pos x="54" y="42"/>
                  </a:cxn>
                </a:cxnLst>
                <a:rect l="txL" t="txT" r="txR" b="txB"/>
                <a:pathLst>
                  <a:path w="54" h="42">
                    <a:moveTo>
                      <a:pt x="54" y="42"/>
                    </a:moveTo>
                    <a:lnTo>
                      <a:pt x="0" y="0"/>
                    </a:lnTo>
                    <a:lnTo>
                      <a:pt x="54" y="42"/>
                    </a:lnTo>
                    <a:close/>
                    <a:moveTo>
                      <a:pt x="54" y="42"/>
                    </a:moveTo>
                    <a:lnTo>
                      <a:pt x="54"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53" name="Freeform 64"/>
              <p:cNvSpPr>
                <a:spLocks noEditPoints="1"/>
              </p:cNvSpPr>
              <p:nvPr/>
            </p:nvSpPr>
            <p:spPr>
              <a:xfrm>
                <a:off x="3217" y="1037"/>
                <a:ext cx="78" cy="6"/>
              </a:xfrm>
              <a:custGeom>
                <a:avLst/>
                <a:gdLst>
                  <a:gd name="txL" fmla="*/ 0 w 78"/>
                  <a:gd name="txT" fmla="*/ 0 h 6"/>
                  <a:gd name="txR" fmla="*/ 78 w 78"/>
                  <a:gd name="txB" fmla="*/ 6 h 6"/>
                </a:gdLst>
                <a:ahLst/>
                <a:cxnLst>
                  <a:cxn ang="0">
                    <a:pos x="0" y="0"/>
                  </a:cxn>
                  <a:cxn ang="0">
                    <a:pos x="78" y="6"/>
                  </a:cxn>
                  <a:cxn ang="0">
                    <a:pos x="0" y="0"/>
                  </a:cxn>
                  <a:cxn ang="0">
                    <a:pos x="0" y="0"/>
                  </a:cxn>
                  <a:cxn ang="0">
                    <a:pos x="0" y="0"/>
                  </a:cxn>
                  <a:cxn ang="0">
                    <a:pos x="0" y="0"/>
                  </a:cxn>
                  <a:cxn ang="0">
                    <a:pos x="0" y="0"/>
                  </a:cxn>
                </a:cxnLst>
                <a:rect l="txL" t="txT" r="txR" b="txB"/>
                <a:pathLst>
                  <a:path w="78" h="6">
                    <a:moveTo>
                      <a:pt x="0" y="0"/>
                    </a:moveTo>
                    <a:lnTo>
                      <a:pt x="78"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54" name="Freeform 65"/>
              <p:cNvSpPr>
                <a:spLocks noEditPoints="1"/>
              </p:cNvSpPr>
              <p:nvPr/>
            </p:nvSpPr>
            <p:spPr>
              <a:xfrm>
                <a:off x="3295" y="1043"/>
                <a:ext cx="72" cy="1"/>
              </a:xfrm>
              <a:custGeom>
                <a:avLst/>
                <a:gdLst>
                  <a:gd name="txL" fmla="*/ 0 w 72"/>
                  <a:gd name="txT" fmla="*/ 0 h 1"/>
                  <a:gd name="txR" fmla="*/ 72 w 72"/>
                  <a:gd name="txB" fmla="*/ 1 h 1"/>
                </a:gdLst>
                <a:ahLst/>
                <a:cxnLst>
                  <a:cxn ang="0">
                    <a:pos x="0" y="0"/>
                  </a:cxn>
                  <a:cxn ang="0">
                    <a:pos x="72" y="0"/>
                  </a:cxn>
                  <a:cxn ang="0">
                    <a:pos x="0" y="0"/>
                  </a:cxn>
                  <a:cxn ang="0">
                    <a:pos x="0" y="0"/>
                  </a:cxn>
                  <a:cxn ang="0">
                    <a:pos x="0" y="0"/>
                  </a:cxn>
                  <a:cxn ang="0">
                    <a:pos x="0" y="0"/>
                  </a:cxn>
                  <a:cxn ang="0">
                    <a:pos x="0" y="0"/>
                  </a:cxn>
                </a:cxnLst>
                <a:rect l="txL" t="txT" r="txR" b="txB"/>
                <a:pathLst>
                  <a:path w="72" h="1">
                    <a:moveTo>
                      <a:pt x="0" y="0"/>
                    </a:moveTo>
                    <a:lnTo>
                      <a:pt x="72" y="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55" name="Freeform 66"/>
              <p:cNvSpPr>
                <a:spLocks noEditPoints="1"/>
              </p:cNvSpPr>
              <p:nvPr/>
            </p:nvSpPr>
            <p:spPr>
              <a:xfrm>
                <a:off x="3319" y="1002"/>
                <a:ext cx="48" cy="41"/>
              </a:xfrm>
              <a:custGeom>
                <a:avLst/>
                <a:gdLst>
                  <a:gd name="txL" fmla="*/ 0 w 48"/>
                  <a:gd name="txT" fmla="*/ 0 h 41"/>
                  <a:gd name="txR" fmla="*/ 48 w 48"/>
                  <a:gd name="txB" fmla="*/ 41 h 41"/>
                </a:gdLst>
                <a:ahLst/>
                <a:cxnLst>
                  <a:cxn ang="0">
                    <a:pos x="48" y="41"/>
                  </a:cxn>
                  <a:cxn ang="0">
                    <a:pos x="0" y="0"/>
                  </a:cxn>
                  <a:cxn ang="0">
                    <a:pos x="48" y="41"/>
                  </a:cxn>
                  <a:cxn ang="0">
                    <a:pos x="48" y="41"/>
                  </a:cxn>
                  <a:cxn ang="0">
                    <a:pos x="48" y="41"/>
                  </a:cxn>
                  <a:cxn ang="0">
                    <a:pos x="48" y="41"/>
                  </a:cxn>
                  <a:cxn ang="0">
                    <a:pos x="48" y="41"/>
                  </a:cxn>
                </a:cxnLst>
                <a:rect l="txL" t="txT" r="txR" b="txB"/>
                <a:pathLst>
                  <a:path w="48" h="41">
                    <a:moveTo>
                      <a:pt x="48" y="41"/>
                    </a:moveTo>
                    <a:lnTo>
                      <a:pt x="0" y="0"/>
                    </a:lnTo>
                    <a:lnTo>
                      <a:pt x="48" y="41"/>
                    </a:lnTo>
                    <a:close/>
                    <a:moveTo>
                      <a:pt x="48" y="41"/>
                    </a:moveTo>
                    <a:lnTo>
                      <a:pt x="48" y="41"/>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56" name="Freeform 67"/>
              <p:cNvSpPr>
                <a:spLocks noEditPoints="1"/>
              </p:cNvSpPr>
              <p:nvPr/>
            </p:nvSpPr>
            <p:spPr>
              <a:xfrm>
                <a:off x="3265" y="966"/>
                <a:ext cx="54" cy="36"/>
              </a:xfrm>
              <a:custGeom>
                <a:avLst/>
                <a:gdLst>
                  <a:gd name="txL" fmla="*/ 0 w 54"/>
                  <a:gd name="txT" fmla="*/ 0 h 36"/>
                  <a:gd name="txR" fmla="*/ 54 w 54"/>
                  <a:gd name="txB" fmla="*/ 36 h 36"/>
                </a:gdLst>
                <a:ahLst/>
                <a:cxnLst>
                  <a:cxn ang="0">
                    <a:pos x="54" y="36"/>
                  </a:cxn>
                  <a:cxn ang="0">
                    <a:pos x="0" y="0"/>
                  </a:cxn>
                  <a:cxn ang="0">
                    <a:pos x="54" y="36"/>
                  </a:cxn>
                  <a:cxn ang="0">
                    <a:pos x="54" y="36"/>
                  </a:cxn>
                  <a:cxn ang="0">
                    <a:pos x="54" y="36"/>
                  </a:cxn>
                  <a:cxn ang="0">
                    <a:pos x="54" y="36"/>
                  </a:cxn>
                  <a:cxn ang="0">
                    <a:pos x="54" y="36"/>
                  </a:cxn>
                </a:cxnLst>
                <a:rect l="txL" t="txT" r="txR" b="txB"/>
                <a:pathLst>
                  <a:path w="54" h="36">
                    <a:moveTo>
                      <a:pt x="54" y="36"/>
                    </a:moveTo>
                    <a:lnTo>
                      <a:pt x="0" y="0"/>
                    </a:lnTo>
                    <a:lnTo>
                      <a:pt x="54" y="36"/>
                    </a:lnTo>
                    <a:close/>
                    <a:moveTo>
                      <a:pt x="54" y="36"/>
                    </a:moveTo>
                    <a:lnTo>
                      <a:pt x="54"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57" name="Freeform 68"/>
              <p:cNvSpPr>
                <a:spLocks noEditPoints="1"/>
              </p:cNvSpPr>
              <p:nvPr/>
            </p:nvSpPr>
            <p:spPr>
              <a:xfrm>
                <a:off x="3265" y="966"/>
                <a:ext cx="78" cy="1"/>
              </a:xfrm>
              <a:custGeom>
                <a:avLst/>
                <a:gdLst>
                  <a:gd name="txL" fmla="*/ 0 w 78"/>
                  <a:gd name="txT" fmla="*/ 0 h 1"/>
                  <a:gd name="txR" fmla="*/ 78 w 78"/>
                  <a:gd name="txB" fmla="*/ 1 h 1"/>
                </a:gdLst>
                <a:ahLst/>
                <a:cxnLst>
                  <a:cxn ang="0">
                    <a:pos x="0" y="0"/>
                  </a:cxn>
                  <a:cxn ang="0">
                    <a:pos x="78" y="0"/>
                  </a:cxn>
                  <a:cxn ang="0">
                    <a:pos x="0" y="0"/>
                  </a:cxn>
                  <a:cxn ang="0">
                    <a:pos x="0" y="0"/>
                  </a:cxn>
                  <a:cxn ang="0">
                    <a:pos x="0" y="0"/>
                  </a:cxn>
                  <a:cxn ang="0">
                    <a:pos x="0" y="0"/>
                  </a:cxn>
                  <a:cxn ang="0">
                    <a:pos x="0" y="0"/>
                  </a:cxn>
                </a:cxnLst>
                <a:rect l="txL" t="txT" r="txR" b="txB"/>
                <a:pathLst>
                  <a:path w="78" h="1">
                    <a:moveTo>
                      <a:pt x="0" y="0"/>
                    </a:moveTo>
                    <a:lnTo>
                      <a:pt x="78" y="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58" name="Freeform 69"/>
              <p:cNvSpPr>
                <a:spLocks noEditPoints="1"/>
              </p:cNvSpPr>
              <p:nvPr/>
            </p:nvSpPr>
            <p:spPr>
              <a:xfrm>
                <a:off x="3343" y="966"/>
                <a:ext cx="72" cy="1"/>
              </a:xfrm>
              <a:custGeom>
                <a:avLst/>
                <a:gdLst>
                  <a:gd name="txL" fmla="*/ 0 w 72"/>
                  <a:gd name="txT" fmla="*/ 0 h 1"/>
                  <a:gd name="txR" fmla="*/ 72 w 72"/>
                  <a:gd name="txB" fmla="*/ 1 h 1"/>
                </a:gdLst>
                <a:ahLst/>
                <a:cxnLst>
                  <a:cxn ang="0">
                    <a:pos x="0" y="0"/>
                  </a:cxn>
                  <a:cxn ang="0">
                    <a:pos x="72" y="0"/>
                  </a:cxn>
                  <a:cxn ang="0">
                    <a:pos x="0" y="0"/>
                  </a:cxn>
                  <a:cxn ang="0">
                    <a:pos x="0" y="0"/>
                  </a:cxn>
                  <a:cxn ang="0">
                    <a:pos x="0" y="0"/>
                  </a:cxn>
                  <a:cxn ang="0">
                    <a:pos x="0" y="0"/>
                  </a:cxn>
                  <a:cxn ang="0">
                    <a:pos x="0" y="0"/>
                  </a:cxn>
                </a:cxnLst>
                <a:rect l="txL" t="txT" r="txR" b="txB"/>
                <a:pathLst>
                  <a:path w="72" h="1">
                    <a:moveTo>
                      <a:pt x="0" y="0"/>
                    </a:moveTo>
                    <a:lnTo>
                      <a:pt x="72" y="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59" name="Freeform 70"/>
              <p:cNvSpPr>
                <a:spLocks noEditPoints="1"/>
              </p:cNvSpPr>
              <p:nvPr/>
            </p:nvSpPr>
            <p:spPr>
              <a:xfrm>
                <a:off x="3367" y="930"/>
                <a:ext cx="48" cy="36"/>
              </a:xfrm>
              <a:custGeom>
                <a:avLst/>
                <a:gdLst>
                  <a:gd name="txL" fmla="*/ 0 w 48"/>
                  <a:gd name="txT" fmla="*/ 0 h 36"/>
                  <a:gd name="txR" fmla="*/ 48 w 48"/>
                  <a:gd name="txB" fmla="*/ 36 h 36"/>
                </a:gdLst>
                <a:ahLst/>
                <a:cxnLst>
                  <a:cxn ang="0">
                    <a:pos x="48" y="36"/>
                  </a:cxn>
                  <a:cxn ang="0">
                    <a:pos x="0" y="0"/>
                  </a:cxn>
                  <a:cxn ang="0">
                    <a:pos x="48" y="36"/>
                  </a:cxn>
                  <a:cxn ang="0">
                    <a:pos x="48" y="36"/>
                  </a:cxn>
                  <a:cxn ang="0">
                    <a:pos x="48" y="36"/>
                  </a:cxn>
                  <a:cxn ang="0">
                    <a:pos x="48" y="36"/>
                  </a:cxn>
                  <a:cxn ang="0">
                    <a:pos x="48" y="36"/>
                  </a:cxn>
                </a:cxnLst>
                <a:rect l="txL" t="txT" r="txR" b="txB"/>
                <a:pathLst>
                  <a:path w="48" h="36">
                    <a:moveTo>
                      <a:pt x="48" y="36"/>
                    </a:moveTo>
                    <a:lnTo>
                      <a:pt x="0" y="0"/>
                    </a:lnTo>
                    <a:lnTo>
                      <a:pt x="48" y="36"/>
                    </a:lnTo>
                    <a:close/>
                    <a:moveTo>
                      <a:pt x="48" y="36"/>
                    </a:moveTo>
                    <a:lnTo>
                      <a:pt x="48"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60" name="Freeform 71"/>
              <p:cNvSpPr>
                <a:spLocks noEditPoints="1"/>
              </p:cNvSpPr>
              <p:nvPr/>
            </p:nvSpPr>
            <p:spPr>
              <a:xfrm>
                <a:off x="3319" y="888"/>
                <a:ext cx="48" cy="42"/>
              </a:xfrm>
              <a:custGeom>
                <a:avLst/>
                <a:gdLst>
                  <a:gd name="txL" fmla="*/ 0 w 48"/>
                  <a:gd name="txT" fmla="*/ 0 h 42"/>
                  <a:gd name="txR" fmla="*/ 48 w 48"/>
                  <a:gd name="txB" fmla="*/ 42 h 42"/>
                </a:gdLst>
                <a:ahLst/>
                <a:cxnLst>
                  <a:cxn ang="0">
                    <a:pos x="48" y="42"/>
                  </a:cxn>
                  <a:cxn ang="0">
                    <a:pos x="0" y="0"/>
                  </a:cxn>
                  <a:cxn ang="0">
                    <a:pos x="48" y="42"/>
                  </a:cxn>
                  <a:cxn ang="0">
                    <a:pos x="48" y="42"/>
                  </a:cxn>
                  <a:cxn ang="0">
                    <a:pos x="48" y="42"/>
                  </a:cxn>
                  <a:cxn ang="0">
                    <a:pos x="48" y="42"/>
                  </a:cxn>
                  <a:cxn ang="0">
                    <a:pos x="48" y="42"/>
                  </a:cxn>
                </a:cxnLst>
                <a:rect l="txL" t="txT" r="txR" b="txB"/>
                <a:pathLst>
                  <a:path w="48" h="42">
                    <a:moveTo>
                      <a:pt x="48" y="42"/>
                    </a:moveTo>
                    <a:lnTo>
                      <a:pt x="0" y="0"/>
                    </a:lnTo>
                    <a:lnTo>
                      <a:pt x="48" y="42"/>
                    </a:lnTo>
                    <a:close/>
                    <a:moveTo>
                      <a:pt x="48" y="42"/>
                    </a:moveTo>
                    <a:lnTo>
                      <a:pt x="48"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61" name="Freeform 72"/>
              <p:cNvSpPr>
                <a:spLocks noEditPoints="1"/>
              </p:cNvSpPr>
              <p:nvPr/>
            </p:nvSpPr>
            <p:spPr>
              <a:xfrm>
                <a:off x="3319" y="888"/>
                <a:ext cx="78" cy="1"/>
              </a:xfrm>
              <a:custGeom>
                <a:avLst/>
                <a:gdLst>
                  <a:gd name="txL" fmla="*/ 0 w 78"/>
                  <a:gd name="txT" fmla="*/ 0 h 1"/>
                  <a:gd name="txR" fmla="*/ 78 w 78"/>
                  <a:gd name="txB" fmla="*/ 1 h 1"/>
                </a:gdLst>
                <a:ahLst/>
                <a:cxnLst>
                  <a:cxn ang="0">
                    <a:pos x="0" y="0"/>
                  </a:cxn>
                  <a:cxn ang="0">
                    <a:pos x="78" y="0"/>
                  </a:cxn>
                  <a:cxn ang="0">
                    <a:pos x="0" y="0"/>
                  </a:cxn>
                  <a:cxn ang="0">
                    <a:pos x="0" y="0"/>
                  </a:cxn>
                  <a:cxn ang="0">
                    <a:pos x="0" y="0"/>
                  </a:cxn>
                  <a:cxn ang="0">
                    <a:pos x="0" y="0"/>
                  </a:cxn>
                  <a:cxn ang="0">
                    <a:pos x="0" y="0"/>
                  </a:cxn>
                </a:cxnLst>
                <a:rect l="txL" t="txT" r="txR" b="txB"/>
                <a:pathLst>
                  <a:path w="78" h="1">
                    <a:moveTo>
                      <a:pt x="0" y="0"/>
                    </a:moveTo>
                    <a:lnTo>
                      <a:pt x="78" y="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562" name="Freeform 73"/>
              <p:cNvSpPr/>
              <p:nvPr/>
            </p:nvSpPr>
            <p:spPr>
              <a:xfrm>
                <a:off x="1489" y="530"/>
                <a:ext cx="66" cy="107"/>
              </a:xfrm>
              <a:custGeom>
                <a:avLst/>
                <a:gdLst>
                  <a:gd name="txL" fmla="*/ 0 w 66"/>
                  <a:gd name="txT" fmla="*/ 0 h 107"/>
                  <a:gd name="txR" fmla="*/ 66 w 66"/>
                  <a:gd name="txB" fmla="*/ 107 h 107"/>
                </a:gdLst>
                <a:ahLst/>
                <a:cxnLst>
                  <a:cxn ang="0">
                    <a:pos x="0" y="107"/>
                  </a:cxn>
                  <a:cxn ang="0">
                    <a:pos x="66" y="107"/>
                  </a:cxn>
                  <a:cxn ang="0">
                    <a:pos x="66" y="107"/>
                  </a:cxn>
                  <a:cxn ang="0">
                    <a:pos x="48" y="101"/>
                  </a:cxn>
                  <a:cxn ang="0">
                    <a:pos x="42" y="95"/>
                  </a:cxn>
                  <a:cxn ang="0">
                    <a:pos x="42" y="0"/>
                  </a:cxn>
                  <a:cxn ang="0">
                    <a:pos x="42" y="0"/>
                  </a:cxn>
                  <a:cxn ang="0">
                    <a:pos x="0" y="12"/>
                  </a:cxn>
                  <a:cxn ang="0">
                    <a:pos x="0" y="12"/>
                  </a:cxn>
                  <a:cxn ang="0">
                    <a:pos x="12" y="12"/>
                  </a:cxn>
                  <a:cxn ang="0">
                    <a:pos x="18" y="12"/>
                  </a:cxn>
                  <a:cxn ang="0">
                    <a:pos x="24" y="18"/>
                  </a:cxn>
                  <a:cxn ang="0">
                    <a:pos x="24" y="18"/>
                  </a:cxn>
                  <a:cxn ang="0">
                    <a:pos x="24" y="89"/>
                  </a:cxn>
                  <a:cxn ang="0">
                    <a:pos x="18" y="101"/>
                  </a:cxn>
                  <a:cxn ang="0">
                    <a:pos x="0" y="107"/>
                  </a:cxn>
                  <a:cxn ang="0">
                    <a:pos x="0" y="107"/>
                  </a:cxn>
                </a:cxnLst>
                <a:rect l="txL" t="txT" r="txR" b="txB"/>
                <a:pathLst>
                  <a:path w="66" h="107">
                    <a:moveTo>
                      <a:pt x="0" y="107"/>
                    </a:moveTo>
                    <a:lnTo>
                      <a:pt x="66" y="107"/>
                    </a:lnTo>
                    <a:lnTo>
                      <a:pt x="48" y="101"/>
                    </a:lnTo>
                    <a:lnTo>
                      <a:pt x="42" y="95"/>
                    </a:lnTo>
                    <a:lnTo>
                      <a:pt x="42" y="0"/>
                    </a:lnTo>
                    <a:lnTo>
                      <a:pt x="0" y="12"/>
                    </a:lnTo>
                    <a:lnTo>
                      <a:pt x="12" y="12"/>
                    </a:lnTo>
                    <a:lnTo>
                      <a:pt x="18" y="12"/>
                    </a:lnTo>
                    <a:lnTo>
                      <a:pt x="24" y="18"/>
                    </a:lnTo>
                    <a:lnTo>
                      <a:pt x="24" y="89"/>
                    </a:lnTo>
                    <a:lnTo>
                      <a:pt x="18" y="101"/>
                    </a:lnTo>
                    <a:lnTo>
                      <a:pt x="0" y="10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63" name="Freeform 74"/>
              <p:cNvSpPr/>
              <p:nvPr/>
            </p:nvSpPr>
            <p:spPr>
              <a:xfrm>
                <a:off x="4180" y="524"/>
                <a:ext cx="84" cy="113"/>
              </a:xfrm>
              <a:custGeom>
                <a:avLst/>
                <a:gdLst>
                  <a:gd name="txL" fmla="*/ 0 w 84"/>
                  <a:gd name="txT" fmla="*/ 0 h 113"/>
                  <a:gd name="txR" fmla="*/ 84 w 84"/>
                  <a:gd name="txB" fmla="*/ 113 h 113"/>
                </a:gdLst>
                <a:ahLst/>
                <a:cxnLst>
                  <a:cxn ang="0">
                    <a:pos x="24" y="60"/>
                  </a:cxn>
                  <a:cxn ang="0">
                    <a:pos x="42" y="60"/>
                  </a:cxn>
                  <a:cxn ang="0">
                    <a:pos x="54" y="60"/>
                  </a:cxn>
                  <a:cxn ang="0">
                    <a:pos x="66" y="71"/>
                  </a:cxn>
                  <a:cxn ang="0">
                    <a:pos x="72" y="83"/>
                  </a:cxn>
                  <a:cxn ang="0">
                    <a:pos x="66" y="101"/>
                  </a:cxn>
                  <a:cxn ang="0">
                    <a:pos x="36" y="107"/>
                  </a:cxn>
                  <a:cxn ang="0">
                    <a:pos x="24" y="107"/>
                  </a:cxn>
                  <a:cxn ang="0">
                    <a:pos x="6" y="101"/>
                  </a:cxn>
                  <a:cxn ang="0">
                    <a:pos x="0" y="101"/>
                  </a:cxn>
                  <a:cxn ang="0">
                    <a:pos x="0" y="107"/>
                  </a:cxn>
                  <a:cxn ang="0">
                    <a:pos x="6" y="113"/>
                  </a:cxn>
                  <a:cxn ang="0">
                    <a:pos x="12" y="113"/>
                  </a:cxn>
                  <a:cxn ang="0">
                    <a:pos x="24" y="113"/>
                  </a:cxn>
                  <a:cxn ang="0">
                    <a:pos x="48" y="113"/>
                  </a:cxn>
                  <a:cxn ang="0">
                    <a:pos x="66" y="107"/>
                  </a:cxn>
                  <a:cxn ang="0">
                    <a:pos x="78" y="95"/>
                  </a:cxn>
                  <a:cxn ang="0">
                    <a:pos x="84" y="77"/>
                  </a:cxn>
                  <a:cxn ang="0">
                    <a:pos x="84" y="65"/>
                  </a:cxn>
                  <a:cxn ang="0">
                    <a:pos x="72" y="54"/>
                  </a:cxn>
                  <a:cxn ang="0">
                    <a:pos x="54" y="48"/>
                  </a:cxn>
                  <a:cxn ang="0">
                    <a:pos x="72" y="36"/>
                  </a:cxn>
                  <a:cxn ang="0">
                    <a:pos x="78" y="24"/>
                  </a:cxn>
                  <a:cxn ang="0">
                    <a:pos x="72" y="12"/>
                  </a:cxn>
                  <a:cxn ang="0">
                    <a:pos x="60" y="6"/>
                  </a:cxn>
                  <a:cxn ang="0">
                    <a:pos x="42" y="0"/>
                  </a:cxn>
                  <a:cxn ang="0">
                    <a:pos x="18" y="6"/>
                  </a:cxn>
                  <a:cxn ang="0">
                    <a:pos x="6" y="18"/>
                  </a:cxn>
                  <a:cxn ang="0">
                    <a:pos x="0" y="30"/>
                  </a:cxn>
                  <a:cxn ang="0">
                    <a:pos x="0" y="30"/>
                  </a:cxn>
                  <a:cxn ang="0">
                    <a:pos x="12" y="18"/>
                  </a:cxn>
                  <a:cxn ang="0">
                    <a:pos x="24" y="12"/>
                  </a:cxn>
                  <a:cxn ang="0">
                    <a:pos x="36" y="12"/>
                  </a:cxn>
                  <a:cxn ang="0">
                    <a:pos x="54" y="18"/>
                  </a:cxn>
                  <a:cxn ang="0">
                    <a:pos x="60" y="30"/>
                  </a:cxn>
                  <a:cxn ang="0">
                    <a:pos x="60" y="42"/>
                  </a:cxn>
                  <a:cxn ang="0">
                    <a:pos x="48" y="48"/>
                  </a:cxn>
                  <a:cxn ang="0">
                    <a:pos x="24" y="54"/>
                  </a:cxn>
                  <a:cxn ang="0">
                    <a:pos x="24" y="60"/>
                  </a:cxn>
                </a:cxnLst>
                <a:rect l="txL" t="txT" r="txR" b="txB"/>
                <a:pathLst>
                  <a:path w="84" h="113">
                    <a:moveTo>
                      <a:pt x="24" y="60"/>
                    </a:moveTo>
                    <a:lnTo>
                      <a:pt x="42" y="60"/>
                    </a:lnTo>
                    <a:lnTo>
                      <a:pt x="54" y="60"/>
                    </a:lnTo>
                    <a:lnTo>
                      <a:pt x="66" y="71"/>
                    </a:lnTo>
                    <a:lnTo>
                      <a:pt x="72" y="83"/>
                    </a:lnTo>
                    <a:lnTo>
                      <a:pt x="66" y="101"/>
                    </a:lnTo>
                    <a:lnTo>
                      <a:pt x="36" y="107"/>
                    </a:lnTo>
                    <a:lnTo>
                      <a:pt x="24" y="107"/>
                    </a:lnTo>
                    <a:lnTo>
                      <a:pt x="6" y="101"/>
                    </a:lnTo>
                    <a:lnTo>
                      <a:pt x="0" y="101"/>
                    </a:lnTo>
                    <a:lnTo>
                      <a:pt x="0" y="107"/>
                    </a:lnTo>
                    <a:lnTo>
                      <a:pt x="6" y="113"/>
                    </a:lnTo>
                    <a:lnTo>
                      <a:pt x="12" y="113"/>
                    </a:lnTo>
                    <a:lnTo>
                      <a:pt x="24" y="113"/>
                    </a:lnTo>
                    <a:lnTo>
                      <a:pt x="48" y="113"/>
                    </a:lnTo>
                    <a:lnTo>
                      <a:pt x="66" y="107"/>
                    </a:lnTo>
                    <a:lnTo>
                      <a:pt x="78" y="95"/>
                    </a:lnTo>
                    <a:lnTo>
                      <a:pt x="84" y="77"/>
                    </a:lnTo>
                    <a:lnTo>
                      <a:pt x="84" y="65"/>
                    </a:lnTo>
                    <a:lnTo>
                      <a:pt x="72" y="54"/>
                    </a:lnTo>
                    <a:lnTo>
                      <a:pt x="54" y="48"/>
                    </a:lnTo>
                    <a:lnTo>
                      <a:pt x="72" y="36"/>
                    </a:lnTo>
                    <a:lnTo>
                      <a:pt x="78" y="24"/>
                    </a:lnTo>
                    <a:lnTo>
                      <a:pt x="72" y="12"/>
                    </a:lnTo>
                    <a:lnTo>
                      <a:pt x="60" y="6"/>
                    </a:lnTo>
                    <a:lnTo>
                      <a:pt x="42" y="0"/>
                    </a:lnTo>
                    <a:lnTo>
                      <a:pt x="18" y="6"/>
                    </a:lnTo>
                    <a:lnTo>
                      <a:pt x="6" y="18"/>
                    </a:lnTo>
                    <a:lnTo>
                      <a:pt x="0" y="30"/>
                    </a:lnTo>
                    <a:lnTo>
                      <a:pt x="12" y="18"/>
                    </a:lnTo>
                    <a:lnTo>
                      <a:pt x="24" y="12"/>
                    </a:lnTo>
                    <a:lnTo>
                      <a:pt x="36" y="12"/>
                    </a:lnTo>
                    <a:lnTo>
                      <a:pt x="54" y="18"/>
                    </a:lnTo>
                    <a:lnTo>
                      <a:pt x="60" y="30"/>
                    </a:lnTo>
                    <a:lnTo>
                      <a:pt x="60" y="42"/>
                    </a:lnTo>
                    <a:lnTo>
                      <a:pt x="48" y="48"/>
                    </a:lnTo>
                    <a:lnTo>
                      <a:pt x="24" y="54"/>
                    </a:lnTo>
                    <a:lnTo>
                      <a:pt x="24" y="6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64" name="Freeform 75"/>
              <p:cNvSpPr/>
              <p:nvPr/>
            </p:nvSpPr>
            <p:spPr>
              <a:xfrm>
                <a:off x="1471" y="1646"/>
                <a:ext cx="102" cy="108"/>
              </a:xfrm>
              <a:custGeom>
                <a:avLst/>
                <a:gdLst>
                  <a:gd name="txL" fmla="*/ 0 w 102"/>
                  <a:gd name="txT" fmla="*/ 0 h 108"/>
                  <a:gd name="txR" fmla="*/ 102 w 102"/>
                  <a:gd name="txB" fmla="*/ 108 h 108"/>
                </a:gdLst>
                <a:ahLst/>
                <a:cxnLst>
                  <a:cxn ang="0">
                    <a:pos x="102" y="84"/>
                  </a:cxn>
                  <a:cxn ang="0">
                    <a:pos x="96" y="84"/>
                  </a:cxn>
                  <a:cxn ang="0">
                    <a:pos x="84" y="96"/>
                  </a:cxn>
                  <a:cxn ang="0">
                    <a:pos x="72" y="96"/>
                  </a:cxn>
                  <a:cxn ang="0">
                    <a:pos x="18" y="96"/>
                  </a:cxn>
                  <a:cxn ang="0">
                    <a:pos x="60" y="66"/>
                  </a:cxn>
                  <a:cxn ang="0">
                    <a:pos x="66" y="60"/>
                  </a:cxn>
                  <a:cxn ang="0">
                    <a:pos x="78" y="54"/>
                  </a:cxn>
                  <a:cxn ang="0">
                    <a:pos x="84" y="42"/>
                  </a:cxn>
                  <a:cxn ang="0">
                    <a:pos x="90" y="30"/>
                  </a:cxn>
                  <a:cxn ang="0">
                    <a:pos x="84" y="18"/>
                  </a:cxn>
                  <a:cxn ang="0">
                    <a:pos x="78" y="6"/>
                  </a:cxn>
                  <a:cxn ang="0">
                    <a:pos x="48" y="0"/>
                  </a:cxn>
                  <a:cxn ang="0">
                    <a:pos x="18" y="6"/>
                  </a:cxn>
                  <a:cxn ang="0">
                    <a:pos x="6" y="18"/>
                  </a:cxn>
                  <a:cxn ang="0">
                    <a:pos x="0" y="30"/>
                  </a:cxn>
                  <a:cxn ang="0">
                    <a:pos x="0" y="30"/>
                  </a:cxn>
                  <a:cxn ang="0">
                    <a:pos x="12" y="18"/>
                  </a:cxn>
                  <a:cxn ang="0">
                    <a:pos x="24" y="12"/>
                  </a:cxn>
                  <a:cxn ang="0">
                    <a:pos x="36" y="12"/>
                  </a:cxn>
                  <a:cxn ang="0">
                    <a:pos x="54" y="12"/>
                  </a:cxn>
                  <a:cxn ang="0">
                    <a:pos x="60" y="18"/>
                  </a:cxn>
                  <a:cxn ang="0">
                    <a:pos x="66" y="36"/>
                  </a:cxn>
                  <a:cxn ang="0">
                    <a:pos x="60" y="54"/>
                  </a:cxn>
                  <a:cxn ang="0">
                    <a:pos x="54" y="66"/>
                  </a:cxn>
                  <a:cxn ang="0">
                    <a:pos x="36" y="78"/>
                  </a:cxn>
                  <a:cxn ang="0">
                    <a:pos x="0" y="108"/>
                  </a:cxn>
                  <a:cxn ang="0">
                    <a:pos x="0" y="108"/>
                  </a:cxn>
                  <a:cxn ang="0">
                    <a:pos x="84" y="108"/>
                  </a:cxn>
                  <a:cxn ang="0">
                    <a:pos x="102" y="84"/>
                  </a:cxn>
                </a:cxnLst>
                <a:rect l="txL" t="txT" r="txR" b="txB"/>
                <a:pathLst>
                  <a:path w="102" h="108">
                    <a:moveTo>
                      <a:pt x="102" y="84"/>
                    </a:moveTo>
                    <a:lnTo>
                      <a:pt x="96" y="84"/>
                    </a:lnTo>
                    <a:lnTo>
                      <a:pt x="84" y="96"/>
                    </a:lnTo>
                    <a:lnTo>
                      <a:pt x="72" y="96"/>
                    </a:lnTo>
                    <a:lnTo>
                      <a:pt x="18" y="96"/>
                    </a:lnTo>
                    <a:lnTo>
                      <a:pt x="60" y="66"/>
                    </a:lnTo>
                    <a:lnTo>
                      <a:pt x="66" y="60"/>
                    </a:lnTo>
                    <a:lnTo>
                      <a:pt x="78" y="54"/>
                    </a:lnTo>
                    <a:lnTo>
                      <a:pt x="84" y="42"/>
                    </a:lnTo>
                    <a:lnTo>
                      <a:pt x="90" y="30"/>
                    </a:lnTo>
                    <a:lnTo>
                      <a:pt x="84" y="18"/>
                    </a:lnTo>
                    <a:lnTo>
                      <a:pt x="78" y="6"/>
                    </a:lnTo>
                    <a:lnTo>
                      <a:pt x="48" y="0"/>
                    </a:lnTo>
                    <a:lnTo>
                      <a:pt x="18" y="6"/>
                    </a:lnTo>
                    <a:lnTo>
                      <a:pt x="6" y="18"/>
                    </a:lnTo>
                    <a:lnTo>
                      <a:pt x="0" y="30"/>
                    </a:lnTo>
                    <a:lnTo>
                      <a:pt x="12" y="18"/>
                    </a:lnTo>
                    <a:lnTo>
                      <a:pt x="24" y="12"/>
                    </a:lnTo>
                    <a:lnTo>
                      <a:pt x="36" y="12"/>
                    </a:lnTo>
                    <a:lnTo>
                      <a:pt x="54" y="12"/>
                    </a:lnTo>
                    <a:lnTo>
                      <a:pt x="60" y="18"/>
                    </a:lnTo>
                    <a:lnTo>
                      <a:pt x="66" y="36"/>
                    </a:lnTo>
                    <a:lnTo>
                      <a:pt x="60" y="54"/>
                    </a:lnTo>
                    <a:lnTo>
                      <a:pt x="54" y="66"/>
                    </a:lnTo>
                    <a:lnTo>
                      <a:pt x="36" y="78"/>
                    </a:lnTo>
                    <a:lnTo>
                      <a:pt x="0" y="108"/>
                    </a:lnTo>
                    <a:lnTo>
                      <a:pt x="84" y="108"/>
                    </a:lnTo>
                    <a:lnTo>
                      <a:pt x="102" y="8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65" name="Freeform 76"/>
              <p:cNvSpPr>
                <a:spLocks noEditPoints="1"/>
              </p:cNvSpPr>
              <p:nvPr/>
            </p:nvSpPr>
            <p:spPr>
              <a:xfrm>
                <a:off x="4174" y="1646"/>
                <a:ext cx="108" cy="108"/>
              </a:xfrm>
              <a:custGeom>
                <a:avLst/>
                <a:gdLst>
                  <a:gd name="txL" fmla="*/ 0 w 108"/>
                  <a:gd name="txT" fmla="*/ 0 h 108"/>
                  <a:gd name="txR" fmla="*/ 108 w 108"/>
                  <a:gd name="txB" fmla="*/ 108 h 108"/>
                </a:gdLst>
                <a:ahLst/>
                <a:cxnLst>
                  <a:cxn ang="0">
                    <a:pos x="108" y="72"/>
                  </a:cxn>
                  <a:cxn ang="0">
                    <a:pos x="84" y="72"/>
                  </a:cxn>
                  <a:cxn ang="0">
                    <a:pos x="84" y="0"/>
                  </a:cxn>
                  <a:cxn ang="0">
                    <a:pos x="72" y="0"/>
                  </a:cxn>
                  <a:cxn ang="0">
                    <a:pos x="0" y="72"/>
                  </a:cxn>
                  <a:cxn ang="0">
                    <a:pos x="0" y="84"/>
                  </a:cxn>
                  <a:cxn ang="0">
                    <a:pos x="66" y="84"/>
                  </a:cxn>
                  <a:cxn ang="0">
                    <a:pos x="66" y="108"/>
                  </a:cxn>
                  <a:cxn ang="0">
                    <a:pos x="84" y="108"/>
                  </a:cxn>
                  <a:cxn ang="0">
                    <a:pos x="84" y="84"/>
                  </a:cxn>
                  <a:cxn ang="0">
                    <a:pos x="108" y="84"/>
                  </a:cxn>
                  <a:cxn ang="0">
                    <a:pos x="108" y="72"/>
                  </a:cxn>
                  <a:cxn ang="0">
                    <a:pos x="66" y="72"/>
                  </a:cxn>
                  <a:cxn ang="0">
                    <a:pos x="12" y="72"/>
                  </a:cxn>
                  <a:cxn ang="0">
                    <a:pos x="66" y="18"/>
                  </a:cxn>
                  <a:cxn ang="0">
                    <a:pos x="66" y="18"/>
                  </a:cxn>
                  <a:cxn ang="0">
                    <a:pos x="66" y="72"/>
                  </a:cxn>
                </a:cxnLst>
                <a:rect l="txL" t="txT" r="txR" b="txB"/>
                <a:pathLst>
                  <a:path w="108" h="108">
                    <a:moveTo>
                      <a:pt x="108" y="72"/>
                    </a:moveTo>
                    <a:lnTo>
                      <a:pt x="84" y="72"/>
                    </a:lnTo>
                    <a:lnTo>
                      <a:pt x="84" y="0"/>
                    </a:lnTo>
                    <a:lnTo>
                      <a:pt x="72" y="0"/>
                    </a:lnTo>
                    <a:lnTo>
                      <a:pt x="0" y="72"/>
                    </a:lnTo>
                    <a:lnTo>
                      <a:pt x="0" y="84"/>
                    </a:lnTo>
                    <a:lnTo>
                      <a:pt x="66" y="84"/>
                    </a:lnTo>
                    <a:lnTo>
                      <a:pt x="66" y="108"/>
                    </a:lnTo>
                    <a:lnTo>
                      <a:pt x="84" y="108"/>
                    </a:lnTo>
                    <a:lnTo>
                      <a:pt x="84" y="84"/>
                    </a:lnTo>
                    <a:lnTo>
                      <a:pt x="108" y="84"/>
                    </a:lnTo>
                    <a:lnTo>
                      <a:pt x="108" y="72"/>
                    </a:lnTo>
                    <a:close/>
                    <a:moveTo>
                      <a:pt x="66" y="72"/>
                    </a:moveTo>
                    <a:lnTo>
                      <a:pt x="12" y="72"/>
                    </a:lnTo>
                    <a:lnTo>
                      <a:pt x="66" y="18"/>
                    </a:lnTo>
                    <a:lnTo>
                      <a:pt x="66" y="7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66" name="Freeform 77"/>
              <p:cNvSpPr>
                <a:spLocks noEditPoints="1"/>
              </p:cNvSpPr>
              <p:nvPr/>
            </p:nvSpPr>
            <p:spPr>
              <a:xfrm>
                <a:off x="2769" y="309"/>
                <a:ext cx="131" cy="101"/>
              </a:xfrm>
              <a:custGeom>
                <a:avLst/>
                <a:gdLst>
                  <a:gd name="txL" fmla="*/ 0 w 131"/>
                  <a:gd name="txT" fmla="*/ 0 h 101"/>
                  <a:gd name="txR" fmla="*/ 131 w 131"/>
                  <a:gd name="txB" fmla="*/ 101 h 101"/>
                </a:gdLst>
                <a:ahLst/>
                <a:cxnLst>
                  <a:cxn ang="0">
                    <a:pos x="131" y="101"/>
                  </a:cxn>
                  <a:cxn ang="0">
                    <a:pos x="119" y="95"/>
                  </a:cxn>
                  <a:cxn ang="0">
                    <a:pos x="108" y="89"/>
                  </a:cxn>
                  <a:cxn ang="0">
                    <a:pos x="90" y="48"/>
                  </a:cxn>
                  <a:cxn ang="0">
                    <a:pos x="108" y="48"/>
                  </a:cxn>
                  <a:cxn ang="0">
                    <a:pos x="119" y="42"/>
                  </a:cxn>
                  <a:cxn ang="0">
                    <a:pos x="131" y="24"/>
                  </a:cxn>
                  <a:cxn ang="0">
                    <a:pos x="125" y="12"/>
                  </a:cxn>
                  <a:cxn ang="0">
                    <a:pos x="113" y="6"/>
                  </a:cxn>
                  <a:cxn ang="0">
                    <a:pos x="102" y="0"/>
                  </a:cxn>
                  <a:cxn ang="0">
                    <a:pos x="90" y="0"/>
                  </a:cxn>
                  <a:cxn ang="0">
                    <a:pos x="30" y="0"/>
                  </a:cxn>
                  <a:cxn ang="0">
                    <a:pos x="30" y="0"/>
                  </a:cxn>
                  <a:cxn ang="0">
                    <a:pos x="42" y="0"/>
                  </a:cxn>
                  <a:cxn ang="0">
                    <a:pos x="48" y="6"/>
                  </a:cxn>
                  <a:cxn ang="0">
                    <a:pos x="48" y="12"/>
                  </a:cxn>
                  <a:cxn ang="0">
                    <a:pos x="42" y="18"/>
                  </a:cxn>
                  <a:cxn ang="0">
                    <a:pos x="18" y="89"/>
                  </a:cxn>
                  <a:cxn ang="0">
                    <a:pos x="12" y="101"/>
                  </a:cxn>
                  <a:cxn ang="0">
                    <a:pos x="0" y="101"/>
                  </a:cxn>
                  <a:cxn ang="0">
                    <a:pos x="0" y="101"/>
                  </a:cxn>
                  <a:cxn ang="0">
                    <a:pos x="54" y="101"/>
                  </a:cxn>
                  <a:cxn ang="0">
                    <a:pos x="54" y="101"/>
                  </a:cxn>
                  <a:cxn ang="0">
                    <a:pos x="42" y="101"/>
                  </a:cxn>
                  <a:cxn ang="0">
                    <a:pos x="36" y="95"/>
                  </a:cxn>
                  <a:cxn ang="0">
                    <a:pos x="36" y="89"/>
                  </a:cxn>
                  <a:cxn ang="0">
                    <a:pos x="42" y="83"/>
                  </a:cxn>
                  <a:cxn ang="0">
                    <a:pos x="54" y="54"/>
                  </a:cxn>
                  <a:cxn ang="0">
                    <a:pos x="66" y="54"/>
                  </a:cxn>
                  <a:cxn ang="0">
                    <a:pos x="96" y="101"/>
                  </a:cxn>
                  <a:cxn ang="0">
                    <a:pos x="131" y="101"/>
                  </a:cxn>
                  <a:cxn ang="0">
                    <a:pos x="131" y="101"/>
                  </a:cxn>
                  <a:cxn ang="0">
                    <a:pos x="72" y="6"/>
                  </a:cxn>
                  <a:cxn ang="0">
                    <a:pos x="72" y="6"/>
                  </a:cxn>
                  <a:cxn ang="0">
                    <a:pos x="84" y="6"/>
                  </a:cxn>
                  <a:cxn ang="0">
                    <a:pos x="102" y="6"/>
                  </a:cxn>
                  <a:cxn ang="0">
                    <a:pos x="108" y="18"/>
                  </a:cxn>
                  <a:cxn ang="0">
                    <a:pos x="102" y="42"/>
                  </a:cxn>
                  <a:cxn ang="0">
                    <a:pos x="90" y="48"/>
                  </a:cxn>
                  <a:cxn ang="0">
                    <a:pos x="72" y="48"/>
                  </a:cxn>
                  <a:cxn ang="0">
                    <a:pos x="66" y="48"/>
                  </a:cxn>
                  <a:cxn ang="0">
                    <a:pos x="54" y="42"/>
                  </a:cxn>
                  <a:cxn ang="0">
                    <a:pos x="72" y="6"/>
                  </a:cxn>
                </a:cxnLst>
                <a:rect l="txL" t="txT" r="txR" b="txB"/>
                <a:pathLst>
                  <a:path w="131" h="101">
                    <a:moveTo>
                      <a:pt x="131" y="101"/>
                    </a:moveTo>
                    <a:lnTo>
                      <a:pt x="119" y="95"/>
                    </a:lnTo>
                    <a:lnTo>
                      <a:pt x="108" y="89"/>
                    </a:lnTo>
                    <a:lnTo>
                      <a:pt x="90" y="48"/>
                    </a:lnTo>
                    <a:lnTo>
                      <a:pt x="108" y="48"/>
                    </a:lnTo>
                    <a:lnTo>
                      <a:pt x="119" y="42"/>
                    </a:lnTo>
                    <a:lnTo>
                      <a:pt x="131" y="24"/>
                    </a:lnTo>
                    <a:lnTo>
                      <a:pt x="125" y="12"/>
                    </a:lnTo>
                    <a:lnTo>
                      <a:pt x="113" y="6"/>
                    </a:lnTo>
                    <a:lnTo>
                      <a:pt x="102" y="0"/>
                    </a:lnTo>
                    <a:lnTo>
                      <a:pt x="90" y="0"/>
                    </a:lnTo>
                    <a:lnTo>
                      <a:pt x="30" y="0"/>
                    </a:lnTo>
                    <a:lnTo>
                      <a:pt x="42" y="0"/>
                    </a:lnTo>
                    <a:lnTo>
                      <a:pt x="48" y="6"/>
                    </a:lnTo>
                    <a:lnTo>
                      <a:pt x="48" y="12"/>
                    </a:lnTo>
                    <a:lnTo>
                      <a:pt x="42" y="18"/>
                    </a:lnTo>
                    <a:lnTo>
                      <a:pt x="18" y="89"/>
                    </a:lnTo>
                    <a:lnTo>
                      <a:pt x="12" y="101"/>
                    </a:lnTo>
                    <a:lnTo>
                      <a:pt x="0" y="101"/>
                    </a:lnTo>
                    <a:lnTo>
                      <a:pt x="54" y="101"/>
                    </a:lnTo>
                    <a:lnTo>
                      <a:pt x="42" y="101"/>
                    </a:lnTo>
                    <a:lnTo>
                      <a:pt x="36" y="95"/>
                    </a:lnTo>
                    <a:lnTo>
                      <a:pt x="36" y="89"/>
                    </a:lnTo>
                    <a:lnTo>
                      <a:pt x="42" y="83"/>
                    </a:lnTo>
                    <a:lnTo>
                      <a:pt x="54" y="54"/>
                    </a:lnTo>
                    <a:lnTo>
                      <a:pt x="66" y="54"/>
                    </a:lnTo>
                    <a:lnTo>
                      <a:pt x="96" y="101"/>
                    </a:lnTo>
                    <a:lnTo>
                      <a:pt x="131" y="101"/>
                    </a:lnTo>
                    <a:close/>
                    <a:moveTo>
                      <a:pt x="72" y="6"/>
                    </a:moveTo>
                    <a:lnTo>
                      <a:pt x="72" y="6"/>
                    </a:lnTo>
                    <a:lnTo>
                      <a:pt x="84" y="6"/>
                    </a:lnTo>
                    <a:lnTo>
                      <a:pt x="102" y="6"/>
                    </a:lnTo>
                    <a:lnTo>
                      <a:pt x="108" y="18"/>
                    </a:lnTo>
                    <a:lnTo>
                      <a:pt x="102" y="42"/>
                    </a:lnTo>
                    <a:lnTo>
                      <a:pt x="90" y="48"/>
                    </a:lnTo>
                    <a:lnTo>
                      <a:pt x="72" y="48"/>
                    </a:lnTo>
                    <a:lnTo>
                      <a:pt x="66" y="48"/>
                    </a:lnTo>
                    <a:lnTo>
                      <a:pt x="54" y="42"/>
                    </a:lnTo>
                    <a:lnTo>
                      <a:pt x="72"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67" name="Freeform 78"/>
              <p:cNvSpPr/>
              <p:nvPr/>
            </p:nvSpPr>
            <p:spPr>
              <a:xfrm>
                <a:off x="2912" y="398"/>
                <a:ext cx="66" cy="54"/>
              </a:xfrm>
              <a:custGeom>
                <a:avLst/>
                <a:gdLst>
                  <a:gd name="txL" fmla="*/ 0 w 66"/>
                  <a:gd name="txT" fmla="*/ 0 h 54"/>
                  <a:gd name="txR" fmla="*/ 66 w 66"/>
                  <a:gd name="txB" fmla="*/ 54 h 54"/>
                </a:gdLst>
                <a:ahLst/>
                <a:cxnLst>
                  <a:cxn ang="0">
                    <a:pos x="54" y="42"/>
                  </a:cxn>
                  <a:cxn ang="0">
                    <a:pos x="42" y="48"/>
                  </a:cxn>
                  <a:cxn ang="0">
                    <a:pos x="30" y="54"/>
                  </a:cxn>
                  <a:cxn ang="0">
                    <a:pos x="24" y="48"/>
                  </a:cxn>
                  <a:cxn ang="0">
                    <a:pos x="18" y="36"/>
                  </a:cxn>
                  <a:cxn ang="0">
                    <a:pos x="24" y="18"/>
                  </a:cxn>
                  <a:cxn ang="0">
                    <a:pos x="36" y="12"/>
                  </a:cxn>
                  <a:cxn ang="0">
                    <a:pos x="48" y="6"/>
                  </a:cxn>
                  <a:cxn ang="0">
                    <a:pos x="54" y="6"/>
                  </a:cxn>
                  <a:cxn ang="0">
                    <a:pos x="54" y="6"/>
                  </a:cxn>
                  <a:cxn ang="0">
                    <a:pos x="54" y="12"/>
                  </a:cxn>
                  <a:cxn ang="0">
                    <a:pos x="54" y="12"/>
                  </a:cxn>
                  <a:cxn ang="0">
                    <a:pos x="54" y="18"/>
                  </a:cxn>
                  <a:cxn ang="0">
                    <a:pos x="60" y="18"/>
                  </a:cxn>
                  <a:cxn ang="0">
                    <a:pos x="66" y="18"/>
                  </a:cxn>
                  <a:cxn ang="0">
                    <a:pos x="66" y="12"/>
                  </a:cxn>
                  <a:cxn ang="0">
                    <a:pos x="66" y="6"/>
                  </a:cxn>
                  <a:cxn ang="0">
                    <a:pos x="60" y="0"/>
                  </a:cxn>
                  <a:cxn ang="0">
                    <a:pos x="48" y="0"/>
                  </a:cxn>
                  <a:cxn ang="0">
                    <a:pos x="30" y="6"/>
                  </a:cxn>
                  <a:cxn ang="0">
                    <a:pos x="18" y="12"/>
                  </a:cxn>
                  <a:cxn ang="0">
                    <a:pos x="6" y="24"/>
                  </a:cxn>
                  <a:cxn ang="0">
                    <a:pos x="0" y="36"/>
                  </a:cxn>
                  <a:cxn ang="0">
                    <a:pos x="6" y="48"/>
                  </a:cxn>
                  <a:cxn ang="0">
                    <a:pos x="12" y="54"/>
                  </a:cxn>
                  <a:cxn ang="0">
                    <a:pos x="24" y="54"/>
                  </a:cxn>
                  <a:cxn ang="0">
                    <a:pos x="48" y="48"/>
                  </a:cxn>
                  <a:cxn ang="0">
                    <a:pos x="60" y="42"/>
                  </a:cxn>
                  <a:cxn ang="0">
                    <a:pos x="54" y="42"/>
                  </a:cxn>
                </a:cxnLst>
                <a:rect l="txL" t="txT" r="txR" b="txB"/>
                <a:pathLst>
                  <a:path w="66" h="54">
                    <a:moveTo>
                      <a:pt x="54" y="42"/>
                    </a:moveTo>
                    <a:lnTo>
                      <a:pt x="42" y="48"/>
                    </a:lnTo>
                    <a:lnTo>
                      <a:pt x="30" y="54"/>
                    </a:lnTo>
                    <a:lnTo>
                      <a:pt x="24" y="48"/>
                    </a:lnTo>
                    <a:lnTo>
                      <a:pt x="18" y="36"/>
                    </a:lnTo>
                    <a:lnTo>
                      <a:pt x="24" y="18"/>
                    </a:lnTo>
                    <a:lnTo>
                      <a:pt x="36" y="12"/>
                    </a:lnTo>
                    <a:lnTo>
                      <a:pt x="48" y="6"/>
                    </a:lnTo>
                    <a:lnTo>
                      <a:pt x="54" y="6"/>
                    </a:lnTo>
                    <a:lnTo>
                      <a:pt x="54" y="12"/>
                    </a:lnTo>
                    <a:lnTo>
                      <a:pt x="54" y="18"/>
                    </a:lnTo>
                    <a:lnTo>
                      <a:pt x="60" y="18"/>
                    </a:lnTo>
                    <a:lnTo>
                      <a:pt x="66" y="18"/>
                    </a:lnTo>
                    <a:lnTo>
                      <a:pt x="66" y="12"/>
                    </a:lnTo>
                    <a:lnTo>
                      <a:pt x="66" y="6"/>
                    </a:lnTo>
                    <a:lnTo>
                      <a:pt x="60" y="0"/>
                    </a:lnTo>
                    <a:lnTo>
                      <a:pt x="48" y="0"/>
                    </a:lnTo>
                    <a:lnTo>
                      <a:pt x="30" y="6"/>
                    </a:lnTo>
                    <a:lnTo>
                      <a:pt x="18" y="12"/>
                    </a:lnTo>
                    <a:lnTo>
                      <a:pt x="6" y="24"/>
                    </a:lnTo>
                    <a:lnTo>
                      <a:pt x="0" y="36"/>
                    </a:lnTo>
                    <a:lnTo>
                      <a:pt x="6" y="48"/>
                    </a:lnTo>
                    <a:lnTo>
                      <a:pt x="12" y="54"/>
                    </a:lnTo>
                    <a:lnTo>
                      <a:pt x="24" y="54"/>
                    </a:lnTo>
                    <a:lnTo>
                      <a:pt x="48" y="48"/>
                    </a:lnTo>
                    <a:lnTo>
                      <a:pt x="60" y="42"/>
                    </a:lnTo>
                    <a:lnTo>
                      <a:pt x="54" y="4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68" name="Freeform 79"/>
              <p:cNvSpPr/>
              <p:nvPr/>
            </p:nvSpPr>
            <p:spPr>
              <a:xfrm>
                <a:off x="2751" y="1909"/>
                <a:ext cx="60" cy="144"/>
              </a:xfrm>
              <a:custGeom>
                <a:avLst/>
                <a:gdLst>
                  <a:gd name="txL" fmla="*/ 0 w 60"/>
                  <a:gd name="txT" fmla="*/ 0 h 144"/>
                  <a:gd name="txR" fmla="*/ 60 w 60"/>
                  <a:gd name="txB" fmla="*/ 144 h 144"/>
                </a:gdLst>
                <a:ahLst/>
                <a:cxnLst>
                  <a:cxn ang="0">
                    <a:pos x="60" y="0"/>
                  </a:cxn>
                  <a:cxn ang="0">
                    <a:pos x="36" y="12"/>
                  </a:cxn>
                  <a:cxn ang="0">
                    <a:pos x="18" y="30"/>
                  </a:cxn>
                  <a:cxn ang="0">
                    <a:pos x="6" y="48"/>
                  </a:cxn>
                  <a:cxn ang="0">
                    <a:pos x="0" y="72"/>
                  </a:cxn>
                  <a:cxn ang="0">
                    <a:pos x="6" y="96"/>
                  </a:cxn>
                  <a:cxn ang="0">
                    <a:pos x="18" y="114"/>
                  </a:cxn>
                  <a:cxn ang="0">
                    <a:pos x="36" y="132"/>
                  </a:cxn>
                  <a:cxn ang="0">
                    <a:pos x="60" y="144"/>
                  </a:cxn>
                  <a:cxn ang="0">
                    <a:pos x="60" y="138"/>
                  </a:cxn>
                  <a:cxn ang="0">
                    <a:pos x="42" y="120"/>
                  </a:cxn>
                  <a:cxn ang="0">
                    <a:pos x="30" y="102"/>
                  </a:cxn>
                  <a:cxn ang="0">
                    <a:pos x="24" y="84"/>
                  </a:cxn>
                  <a:cxn ang="0">
                    <a:pos x="24" y="66"/>
                  </a:cxn>
                  <a:cxn ang="0">
                    <a:pos x="30" y="42"/>
                  </a:cxn>
                  <a:cxn ang="0">
                    <a:pos x="36" y="30"/>
                  </a:cxn>
                  <a:cxn ang="0">
                    <a:pos x="60" y="6"/>
                  </a:cxn>
                  <a:cxn ang="0">
                    <a:pos x="60" y="0"/>
                  </a:cxn>
                </a:cxnLst>
                <a:rect l="txL" t="txT" r="txR" b="txB"/>
                <a:pathLst>
                  <a:path w="60" h="144">
                    <a:moveTo>
                      <a:pt x="60" y="0"/>
                    </a:moveTo>
                    <a:lnTo>
                      <a:pt x="36" y="12"/>
                    </a:lnTo>
                    <a:lnTo>
                      <a:pt x="18" y="30"/>
                    </a:lnTo>
                    <a:lnTo>
                      <a:pt x="6" y="48"/>
                    </a:lnTo>
                    <a:lnTo>
                      <a:pt x="0" y="72"/>
                    </a:lnTo>
                    <a:lnTo>
                      <a:pt x="6" y="96"/>
                    </a:lnTo>
                    <a:lnTo>
                      <a:pt x="18" y="114"/>
                    </a:lnTo>
                    <a:lnTo>
                      <a:pt x="36" y="132"/>
                    </a:lnTo>
                    <a:lnTo>
                      <a:pt x="60" y="144"/>
                    </a:lnTo>
                    <a:lnTo>
                      <a:pt x="60" y="138"/>
                    </a:lnTo>
                    <a:lnTo>
                      <a:pt x="42" y="120"/>
                    </a:lnTo>
                    <a:lnTo>
                      <a:pt x="30" y="102"/>
                    </a:lnTo>
                    <a:lnTo>
                      <a:pt x="24" y="84"/>
                    </a:lnTo>
                    <a:lnTo>
                      <a:pt x="24" y="66"/>
                    </a:lnTo>
                    <a:lnTo>
                      <a:pt x="30" y="42"/>
                    </a:lnTo>
                    <a:lnTo>
                      <a:pt x="36" y="30"/>
                    </a:lnTo>
                    <a:lnTo>
                      <a:pt x="60" y="6"/>
                    </a:lnTo>
                    <a:lnTo>
                      <a:pt x="6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69" name="Freeform 80"/>
              <p:cNvSpPr>
                <a:spLocks noEditPoints="1"/>
              </p:cNvSpPr>
              <p:nvPr/>
            </p:nvSpPr>
            <p:spPr>
              <a:xfrm>
                <a:off x="2829" y="1945"/>
                <a:ext cx="89" cy="78"/>
              </a:xfrm>
              <a:custGeom>
                <a:avLst/>
                <a:gdLst>
                  <a:gd name="txL" fmla="*/ 0 w 89"/>
                  <a:gd name="txT" fmla="*/ 0 h 78"/>
                  <a:gd name="txR" fmla="*/ 89 w 89"/>
                  <a:gd name="txB" fmla="*/ 78 h 78"/>
                </a:gdLst>
                <a:ahLst/>
                <a:cxnLst>
                  <a:cxn ang="0">
                    <a:pos x="53" y="54"/>
                  </a:cxn>
                  <a:cxn ang="0">
                    <a:pos x="53" y="60"/>
                  </a:cxn>
                  <a:cxn ang="0">
                    <a:pos x="48" y="66"/>
                  </a:cxn>
                  <a:cxn ang="0">
                    <a:pos x="30" y="66"/>
                  </a:cxn>
                  <a:cxn ang="0">
                    <a:pos x="24" y="66"/>
                  </a:cxn>
                  <a:cxn ang="0">
                    <a:pos x="18" y="54"/>
                  </a:cxn>
                  <a:cxn ang="0">
                    <a:pos x="18" y="54"/>
                  </a:cxn>
                  <a:cxn ang="0">
                    <a:pos x="18" y="48"/>
                  </a:cxn>
                  <a:cxn ang="0">
                    <a:pos x="24" y="48"/>
                  </a:cxn>
                  <a:cxn ang="0">
                    <a:pos x="36" y="42"/>
                  </a:cxn>
                  <a:cxn ang="0">
                    <a:pos x="53" y="36"/>
                  </a:cxn>
                  <a:cxn ang="0">
                    <a:pos x="53" y="54"/>
                  </a:cxn>
                  <a:cxn ang="0">
                    <a:pos x="89" y="66"/>
                  </a:cxn>
                  <a:cxn ang="0">
                    <a:pos x="83" y="72"/>
                  </a:cxn>
                  <a:cxn ang="0">
                    <a:pos x="77" y="72"/>
                  </a:cxn>
                  <a:cxn ang="0">
                    <a:pos x="71" y="66"/>
                  </a:cxn>
                  <a:cxn ang="0">
                    <a:pos x="71" y="60"/>
                  </a:cxn>
                  <a:cxn ang="0">
                    <a:pos x="71" y="30"/>
                  </a:cxn>
                  <a:cxn ang="0">
                    <a:pos x="71" y="18"/>
                  </a:cxn>
                  <a:cxn ang="0">
                    <a:pos x="65" y="12"/>
                  </a:cxn>
                  <a:cxn ang="0">
                    <a:pos x="59" y="6"/>
                  </a:cxn>
                  <a:cxn ang="0">
                    <a:pos x="36" y="0"/>
                  </a:cxn>
                  <a:cxn ang="0">
                    <a:pos x="12" y="6"/>
                  </a:cxn>
                  <a:cxn ang="0">
                    <a:pos x="0" y="18"/>
                  </a:cxn>
                  <a:cxn ang="0">
                    <a:pos x="6" y="24"/>
                  </a:cxn>
                  <a:cxn ang="0">
                    <a:pos x="12" y="30"/>
                  </a:cxn>
                  <a:cxn ang="0">
                    <a:pos x="18" y="24"/>
                  </a:cxn>
                  <a:cxn ang="0">
                    <a:pos x="24" y="18"/>
                  </a:cxn>
                  <a:cxn ang="0">
                    <a:pos x="24" y="18"/>
                  </a:cxn>
                  <a:cxn ang="0">
                    <a:pos x="18" y="12"/>
                  </a:cxn>
                  <a:cxn ang="0">
                    <a:pos x="24" y="6"/>
                  </a:cxn>
                  <a:cxn ang="0">
                    <a:pos x="36" y="6"/>
                  </a:cxn>
                  <a:cxn ang="0">
                    <a:pos x="48" y="6"/>
                  </a:cxn>
                  <a:cxn ang="0">
                    <a:pos x="53" y="18"/>
                  </a:cxn>
                  <a:cxn ang="0">
                    <a:pos x="53" y="30"/>
                  </a:cxn>
                  <a:cxn ang="0">
                    <a:pos x="30" y="36"/>
                  </a:cxn>
                  <a:cxn ang="0">
                    <a:pos x="12" y="48"/>
                  </a:cxn>
                  <a:cxn ang="0">
                    <a:pos x="6" y="54"/>
                  </a:cxn>
                  <a:cxn ang="0">
                    <a:pos x="0" y="60"/>
                  </a:cxn>
                  <a:cxn ang="0">
                    <a:pos x="6" y="72"/>
                  </a:cxn>
                  <a:cxn ang="0">
                    <a:pos x="24" y="78"/>
                  </a:cxn>
                  <a:cxn ang="0">
                    <a:pos x="42" y="72"/>
                  </a:cxn>
                  <a:cxn ang="0">
                    <a:pos x="53" y="66"/>
                  </a:cxn>
                  <a:cxn ang="0">
                    <a:pos x="59" y="78"/>
                  </a:cxn>
                  <a:cxn ang="0">
                    <a:pos x="71" y="78"/>
                  </a:cxn>
                  <a:cxn ang="0">
                    <a:pos x="77" y="78"/>
                  </a:cxn>
                  <a:cxn ang="0">
                    <a:pos x="89" y="72"/>
                  </a:cxn>
                  <a:cxn ang="0">
                    <a:pos x="89" y="66"/>
                  </a:cxn>
                </a:cxnLst>
                <a:rect l="txL" t="txT" r="txR" b="txB"/>
                <a:pathLst>
                  <a:path w="89" h="78">
                    <a:moveTo>
                      <a:pt x="53" y="54"/>
                    </a:moveTo>
                    <a:lnTo>
                      <a:pt x="53" y="60"/>
                    </a:lnTo>
                    <a:lnTo>
                      <a:pt x="48" y="66"/>
                    </a:lnTo>
                    <a:lnTo>
                      <a:pt x="30" y="66"/>
                    </a:lnTo>
                    <a:lnTo>
                      <a:pt x="24" y="66"/>
                    </a:lnTo>
                    <a:lnTo>
                      <a:pt x="18" y="54"/>
                    </a:lnTo>
                    <a:lnTo>
                      <a:pt x="18" y="48"/>
                    </a:lnTo>
                    <a:lnTo>
                      <a:pt x="24" y="48"/>
                    </a:lnTo>
                    <a:lnTo>
                      <a:pt x="36" y="42"/>
                    </a:lnTo>
                    <a:lnTo>
                      <a:pt x="53" y="36"/>
                    </a:lnTo>
                    <a:lnTo>
                      <a:pt x="53" y="54"/>
                    </a:lnTo>
                    <a:close/>
                    <a:moveTo>
                      <a:pt x="89" y="66"/>
                    </a:moveTo>
                    <a:lnTo>
                      <a:pt x="83" y="72"/>
                    </a:lnTo>
                    <a:lnTo>
                      <a:pt x="77" y="72"/>
                    </a:lnTo>
                    <a:lnTo>
                      <a:pt x="71" y="66"/>
                    </a:lnTo>
                    <a:lnTo>
                      <a:pt x="71" y="60"/>
                    </a:lnTo>
                    <a:lnTo>
                      <a:pt x="71" y="30"/>
                    </a:lnTo>
                    <a:lnTo>
                      <a:pt x="71" y="18"/>
                    </a:lnTo>
                    <a:lnTo>
                      <a:pt x="65" y="12"/>
                    </a:lnTo>
                    <a:lnTo>
                      <a:pt x="59" y="6"/>
                    </a:lnTo>
                    <a:lnTo>
                      <a:pt x="36" y="0"/>
                    </a:lnTo>
                    <a:lnTo>
                      <a:pt x="12" y="6"/>
                    </a:lnTo>
                    <a:lnTo>
                      <a:pt x="0" y="18"/>
                    </a:lnTo>
                    <a:lnTo>
                      <a:pt x="6" y="24"/>
                    </a:lnTo>
                    <a:lnTo>
                      <a:pt x="12" y="30"/>
                    </a:lnTo>
                    <a:lnTo>
                      <a:pt x="18" y="24"/>
                    </a:lnTo>
                    <a:lnTo>
                      <a:pt x="24" y="18"/>
                    </a:lnTo>
                    <a:lnTo>
                      <a:pt x="18" y="12"/>
                    </a:lnTo>
                    <a:lnTo>
                      <a:pt x="24" y="6"/>
                    </a:lnTo>
                    <a:lnTo>
                      <a:pt x="36" y="6"/>
                    </a:lnTo>
                    <a:lnTo>
                      <a:pt x="48" y="6"/>
                    </a:lnTo>
                    <a:lnTo>
                      <a:pt x="53" y="18"/>
                    </a:lnTo>
                    <a:lnTo>
                      <a:pt x="53" y="30"/>
                    </a:lnTo>
                    <a:lnTo>
                      <a:pt x="30" y="36"/>
                    </a:lnTo>
                    <a:lnTo>
                      <a:pt x="12" y="48"/>
                    </a:lnTo>
                    <a:lnTo>
                      <a:pt x="6" y="54"/>
                    </a:lnTo>
                    <a:lnTo>
                      <a:pt x="0" y="60"/>
                    </a:lnTo>
                    <a:lnTo>
                      <a:pt x="6" y="72"/>
                    </a:lnTo>
                    <a:lnTo>
                      <a:pt x="24" y="78"/>
                    </a:lnTo>
                    <a:lnTo>
                      <a:pt x="42" y="72"/>
                    </a:lnTo>
                    <a:lnTo>
                      <a:pt x="53" y="66"/>
                    </a:lnTo>
                    <a:lnTo>
                      <a:pt x="59" y="78"/>
                    </a:lnTo>
                    <a:lnTo>
                      <a:pt x="71" y="78"/>
                    </a:lnTo>
                    <a:lnTo>
                      <a:pt x="77" y="78"/>
                    </a:lnTo>
                    <a:lnTo>
                      <a:pt x="89" y="72"/>
                    </a:lnTo>
                    <a:lnTo>
                      <a:pt x="89" y="6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70" name="Freeform 81"/>
              <p:cNvSpPr/>
              <p:nvPr/>
            </p:nvSpPr>
            <p:spPr>
              <a:xfrm>
                <a:off x="2924" y="1909"/>
                <a:ext cx="60" cy="144"/>
              </a:xfrm>
              <a:custGeom>
                <a:avLst/>
                <a:gdLst>
                  <a:gd name="txL" fmla="*/ 0 w 60"/>
                  <a:gd name="txT" fmla="*/ 0 h 144"/>
                  <a:gd name="txR" fmla="*/ 60 w 60"/>
                  <a:gd name="txB" fmla="*/ 144 h 144"/>
                </a:gdLst>
                <a:ahLst/>
                <a:cxnLst>
                  <a:cxn ang="0">
                    <a:pos x="0" y="144"/>
                  </a:cxn>
                  <a:cxn ang="0">
                    <a:pos x="24" y="132"/>
                  </a:cxn>
                  <a:cxn ang="0">
                    <a:pos x="42" y="114"/>
                  </a:cxn>
                  <a:cxn ang="0">
                    <a:pos x="54" y="96"/>
                  </a:cxn>
                  <a:cxn ang="0">
                    <a:pos x="60" y="72"/>
                  </a:cxn>
                  <a:cxn ang="0">
                    <a:pos x="54" y="48"/>
                  </a:cxn>
                  <a:cxn ang="0">
                    <a:pos x="42" y="30"/>
                  </a:cxn>
                  <a:cxn ang="0">
                    <a:pos x="24" y="12"/>
                  </a:cxn>
                  <a:cxn ang="0">
                    <a:pos x="6" y="0"/>
                  </a:cxn>
                  <a:cxn ang="0">
                    <a:pos x="0" y="6"/>
                  </a:cxn>
                  <a:cxn ang="0">
                    <a:pos x="24" y="24"/>
                  </a:cxn>
                  <a:cxn ang="0">
                    <a:pos x="36" y="42"/>
                  </a:cxn>
                  <a:cxn ang="0">
                    <a:pos x="42" y="60"/>
                  </a:cxn>
                  <a:cxn ang="0">
                    <a:pos x="42" y="78"/>
                  </a:cxn>
                  <a:cxn ang="0">
                    <a:pos x="36" y="102"/>
                  </a:cxn>
                  <a:cxn ang="0">
                    <a:pos x="30" y="120"/>
                  </a:cxn>
                  <a:cxn ang="0">
                    <a:pos x="0" y="138"/>
                  </a:cxn>
                  <a:cxn ang="0">
                    <a:pos x="0" y="144"/>
                  </a:cxn>
                </a:cxnLst>
                <a:rect l="txL" t="txT" r="txR" b="txB"/>
                <a:pathLst>
                  <a:path w="60" h="144">
                    <a:moveTo>
                      <a:pt x="0" y="144"/>
                    </a:moveTo>
                    <a:lnTo>
                      <a:pt x="24" y="132"/>
                    </a:lnTo>
                    <a:lnTo>
                      <a:pt x="42" y="114"/>
                    </a:lnTo>
                    <a:lnTo>
                      <a:pt x="54" y="96"/>
                    </a:lnTo>
                    <a:lnTo>
                      <a:pt x="60" y="72"/>
                    </a:lnTo>
                    <a:lnTo>
                      <a:pt x="54" y="48"/>
                    </a:lnTo>
                    <a:lnTo>
                      <a:pt x="42" y="30"/>
                    </a:lnTo>
                    <a:lnTo>
                      <a:pt x="24" y="12"/>
                    </a:lnTo>
                    <a:lnTo>
                      <a:pt x="6" y="0"/>
                    </a:lnTo>
                    <a:lnTo>
                      <a:pt x="0" y="6"/>
                    </a:lnTo>
                    <a:lnTo>
                      <a:pt x="24" y="24"/>
                    </a:lnTo>
                    <a:lnTo>
                      <a:pt x="36" y="42"/>
                    </a:lnTo>
                    <a:lnTo>
                      <a:pt x="42" y="60"/>
                    </a:lnTo>
                    <a:lnTo>
                      <a:pt x="42" y="78"/>
                    </a:lnTo>
                    <a:lnTo>
                      <a:pt x="36" y="102"/>
                    </a:lnTo>
                    <a:lnTo>
                      <a:pt x="30" y="120"/>
                    </a:lnTo>
                    <a:lnTo>
                      <a:pt x="0" y="138"/>
                    </a:lnTo>
                    <a:lnTo>
                      <a:pt x="0" y="14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71" name="Freeform 82"/>
              <p:cNvSpPr>
                <a:spLocks noEditPoints="1"/>
              </p:cNvSpPr>
              <p:nvPr/>
            </p:nvSpPr>
            <p:spPr>
              <a:xfrm>
                <a:off x="3469" y="1002"/>
                <a:ext cx="137" cy="107"/>
              </a:xfrm>
              <a:custGeom>
                <a:avLst/>
                <a:gdLst>
                  <a:gd name="txL" fmla="*/ 0 w 137"/>
                  <a:gd name="txT" fmla="*/ 0 h 107"/>
                  <a:gd name="txR" fmla="*/ 137 w 137"/>
                  <a:gd name="txB" fmla="*/ 107 h 107"/>
                </a:gdLst>
                <a:ahLst/>
                <a:cxnLst>
                  <a:cxn ang="0">
                    <a:pos x="131" y="107"/>
                  </a:cxn>
                  <a:cxn ang="0">
                    <a:pos x="119" y="101"/>
                  </a:cxn>
                  <a:cxn ang="0">
                    <a:pos x="113" y="95"/>
                  </a:cxn>
                  <a:cxn ang="0">
                    <a:pos x="95" y="53"/>
                  </a:cxn>
                  <a:cxn ang="0">
                    <a:pos x="113" y="47"/>
                  </a:cxn>
                  <a:cxn ang="0">
                    <a:pos x="125" y="41"/>
                  </a:cxn>
                  <a:cxn ang="0">
                    <a:pos x="137" y="23"/>
                  </a:cxn>
                  <a:cxn ang="0">
                    <a:pos x="131" y="11"/>
                  </a:cxn>
                  <a:cxn ang="0">
                    <a:pos x="119" y="5"/>
                  </a:cxn>
                  <a:cxn ang="0">
                    <a:pos x="101" y="0"/>
                  </a:cxn>
                  <a:cxn ang="0">
                    <a:pos x="89" y="0"/>
                  </a:cxn>
                  <a:cxn ang="0">
                    <a:pos x="36" y="0"/>
                  </a:cxn>
                  <a:cxn ang="0">
                    <a:pos x="36" y="5"/>
                  </a:cxn>
                  <a:cxn ang="0">
                    <a:pos x="47" y="5"/>
                  </a:cxn>
                  <a:cxn ang="0">
                    <a:pos x="53" y="11"/>
                  </a:cxn>
                  <a:cxn ang="0">
                    <a:pos x="53" y="17"/>
                  </a:cxn>
                  <a:cxn ang="0">
                    <a:pos x="47" y="23"/>
                  </a:cxn>
                  <a:cxn ang="0">
                    <a:pos x="18" y="95"/>
                  </a:cxn>
                  <a:cxn ang="0">
                    <a:pos x="12" y="101"/>
                  </a:cxn>
                  <a:cxn ang="0">
                    <a:pos x="0" y="107"/>
                  </a:cxn>
                  <a:cxn ang="0">
                    <a:pos x="0" y="107"/>
                  </a:cxn>
                  <a:cxn ang="0">
                    <a:pos x="59" y="107"/>
                  </a:cxn>
                  <a:cxn ang="0">
                    <a:pos x="59" y="107"/>
                  </a:cxn>
                  <a:cxn ang="0">
                    <a:pos x="47" y="101"/>
                  </a:cxn>
                  <a:cxn ang="0">
                    <a:pos x="41" y="95"/>
                  </a:cxn>
                  <a:cxn ang="0">
                    <a:pos x="41" y="95"/>
                  </a:cxn>
                  <a:cxn ang="0">
                    <a:pos x="47" y="89"/>
                  </a:cxn>
                  <a:cxn ang="0">
                    <a:pos x="59" y="53"/>
                  </a:cxn>
                  <a:cxn ang="0">
                    <a:pos x="71" y="53"/>
                  </a:cxn>
                  <a:cxn ang="0">
                    <a:pos x="101" y="107"/>
                  </a:cxn>
                  <a:cxn ang="0">
                    <a:pos x="131" y="107"/>
                  </a:cxn>
                  <a:cxn ang="0">
                    <a:pos x="131" y="107"/>
                  </a:cxn>
                  <a:cxn ang="0">
                    <a:pos x="77" y="11"/>
                  </a:cxn>
                  <a:cxn ang="0">
                    <a:pos x="77" y="11"/>
                  </a:cxn>
                  <a:cxn ang="0">
                    <a:pos x="89" y="5"/>
                  </a:cxn>
                  <a:cxn ang="0">
                    <a:pos x="107" y="11"/>
                  </a:cxn>
                  <a:cxn ang="0">
                    <a:pos x="113" y="23"/>
                  </a:cxn>
                  <a:cxn ang="0">
                    <a:pos x="113" y="35"/>
                  </a:cxn>
                  <a:cxn ang="0">
                    <a:pos x="107" y="41"/>
                  </a:cxn>
                  <a:cxn ang="0">
                    <a:pos x="95" y="47"/>
                  </a:cxn>
                  <a:cxn ang="0">
                    <a:pos x="71" y="47"/>
                  </a:cxn>
                  <a:cxn ang="0">
                    <a:pos x="65" y="47"/>
                  </a:cxn>
                  <a:cxn ang="0">
                    <a:pos x="59" y="47"/>
                  </a:cxn>
                  <a:cxn ang="0">
                    <a:pos x="77" y="11"/>
                  </a:cxn>
                </a:cxnLst>
                <a:rect l="txL" t="txT" r="txR" b="txB"/>
                <a:pathLst>
                  <a:path w="137" h="107">
                    <a:moveTo>
                      <a:pt x="131" y="107"/>
                    </a:moveTo>
                    <a:lnTo>
                      <a:pt x="119" y="101"/>
                    </a:lnTo>
                    <a:lnTo>
                      <a:pt x="113" y="95"/>
                    </a:lnTo>
                    <a:lnTo>
                      <a:pt x="95" y="53"/>
                    </a:lnTo>
                    <a:lnTo>
                      <a:pt x="113" y="47"/>
                    </a:lnTo>
                    <a:lnTo>
                      <a:pt x="125" y="41"/>
                    </a:lnTo>
                    <a:lnTo>
                      <a:pt x="137" y="23"/>
                    </a:lnTo>
                    <a:lnTo>
                      <a:pt x="131" y="11"/>
                    </a:lnTo>
                    <a:lnTo>
                      <a:pt x="119" y="5"/>
                    </a:lnTo>
                    <a:lnTo>
                      <a:pt x="101" y="0"/>
                    </a:lnTo>
                    <a:lnTo>
                      <a:pt x="89" y="0"/>
                    </a:lnTo>
                    <a:lnTo>
                      <a:pt x="36" y="0"/>
                    </a:lnTo>
                    <a:lnTo>
                      <a:pt x="36" y="5"/>
                    </a:lnTo>
                    <a:lnTo>
                      <a:pt x="47" y="5"/>
                    </a:lnTo>
                    <a:lnTo>
                      <a:pt x="53" y="11"/>
                    </a:lnTo>
                    <a:lnTo>
                      <a:pt x="53" y="17"/>
                    </a:lnTo>
                    <a:lnTo>
                      <a:pt x="47" y="23"/>
                    </a:lnTo>
                    <a:lnTo>
                      <a:pt x="18" y="95"/>
                    </a:lnTo>
                    <a:lnTo>
                      <a:pt x="12" y="101"/>
                    </a:lnTo>
                    <a:lnTo>
                      <a:pt x="0" y="107"/>
                    </a:lnTo>
                    <a:lnTo>
                      <a:pt x="59" y="107"/>
                    </a:lnTo>
                    <a:lnTo>
                      <a:pt x="47" y="101"/>
                    </a:lnTo>
                    <a:lnTo>
                      <a:pt x="41" y="95"/>
                    </a:lnTo>
                    <a:lnTo>
                      <a:pt x="47" y="89"/>
                    </a:lnTo>
                    <a:lnTo>
                      <a:pt x="59" y="53"/>
                    </a:lnTo>
                    <a:lnTo>
                      <a:pt x="71" y="53"/>
                    </a:lnTo>
                    <a:lnTo>
                      <a:pt x="101" y="107"/>
                    </a:lnTo>
                    <a:lnTo>
                      <a:pt x="131" y="107"/>
                    </a:lnTo>
                    <a:close/>
                    <a:moveTo>
                      <a:pt x="77" y="11"/>
                    </a:moveTo>
                    <a:lnTo>
                      <a:pt x="77" y="11"/>
                    </a:lnTo>
                    <a:lnTo>
                      <a:pt x="89" y="5"/>
                    </a:lnTo>
                    <a:lnTo>
                      <a:pt x="107" y="11"/>
                    </a:lnTo>
                    <a:lnTo>
                      <a:pt x="113" y="23"/>
                    </a:lnTo>
                    <a:lnTo>
                      <a:pt x="113" y="35"/>
                    </a:lnTo>
                    <a:lnTo>
                      <a:pt x="107" y="41"/>
                    </a:lnTo>
                    <a:lnTo>
                      <a:pt x="95" y="47"/>
                    </a:lnTo>
                    <a:lnTo>
                      <a:pt x="71" y="47"/>
                    </a:lnTo>
                    <a:lnTo>
                      <a:pt x="65" y="47"/>
                    </a:lnTo>
                    <a:lnTo>
                      <a:pt x="59" y="47"/>
                    </a:lnTo>
                    <a:lnTo>
                      <a:pt x="77" y="1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72" name="Freeform 83"/>
              <p:cNvSpPr>
                <a:spLocks noEditPoints="1"/>
              </p:cNvSpPr>
              <p:nvPr/>
            </p:nvSpPr>
            <p:spPr>
              <a:xfrm>
                <a:off x="3618" y="1097"/>
                <a:ext cx="78" cy="54"/>
              </a:xfrm>
              <a:custGeom>
                <a:avLst/>
                <a:gdLst>
                  <a:gd name="txL" fmla="*/ 0 w 78"/>
                  <a:gd name="txT" fmla="*/ 0 h 54"/>
                  <a:gd name="txR" fmla="*/ 78 w 78"/>
                  <a:gd name="txB" fmla="*/ 54 h 54"/>
                </a:gdLst>
                <a:ahLst/>
                <a:cxnLst>
                  <a:cxn ang="0">
                    <a:pos x="72" y="42"/>
                  </a:cxn>
                  <a:cxn ang="0">
                    <a:pos x="66" y="48"/>
                  </a:cxn>
                  <a:cxn ang="0">
                    <a:pos x="60" y="48"/>
                  </a:cxn>
                  <a:cxn ang="0">
                    <a:pos x="60" y="48"/>
                  </a:cxn>
                  <a:cxn ang="0">
                    <a:pos x="60" y="36"/>
                  </a:cxn>
                  <a:cxn ang="0">
                    <a:pos x="66" y="24"/>
                  </a:cxn>
                  <a:cxn ang="0">
                    <a:pos x="72" y="6"/>
                  </a:cxn>
                  <a:cxn ang="0">
                    <a:pos x="72" y="0"/>
                  </a:cxn>
                  <a:cxn ang="0">
                    <a:pos x="72" y="0"/>
                  </a:cxn>
                  <a:cxn ang="0">
                    <a:pos x="60" y="0"/>
                  </a:cxn>
                  <a:cxn ang="0">
                    <a:pos x="60" y="0"/>
                  </a:cxn>
                  <a:cxn ang="0">
                    <a:pos x="60" y="6"/>
                  </a:cxn>
                  <a:cxn ang="0">
                    <a:pos x="60" y="6"/>
                  </a:cxn>
                  <a:cxn ang="0">
                    <a:pos x="54" y="6"/>
                  </a:cxn>
                  <a:cxn ang="0">
                    <a:pos x="48" y="0"/>
                  </a:cxn>
                  <a:cxn ang="0">
                    <a:pos x="30" y="6"/>
                  </a:cxn>
                  <a:cxn ang="0">
                    <a:pos x="18" y="12"/>
                  </a:cxn>
                  <a:cxn ang="0">
                    <a:pos x="6" y="30"/>
                  </a:cxn>
                  <a:cxn ang="0">
                    <a:pos x="0" y="42"/>
                  </a:cxn>
                  <a:cxn ang="0">
                    <a:pos x="0" y="48"/>
                  </a:cxn>
                  <a:cxn ang="0">
                    <a:pos x="6" y="54"/>
                  </a:cxn>
                  <a:cxn ang="0">
                    <a:pos x="18" y="54"/>
                  </a:cxn>
                  <a:cxn ang="0">
                    <a:pos x="30" y="54"/>
                  </a:cxn>
                  <a:cxn ang="0">
                    <a:pos x="42" y="48"/>
                  </a:cxn>
                  <a:cxn ang="0">
                    <a:pos x="48" y="36"/>
                  </a:cxn>
                  <a:cxn ang="0">
                    <a:pos x="48" y="36"/>
                  </a:cxn>
                  <a:cxn ang="0">
                    <a:pos x="48" y="42"/>
                  </a:cxn>
                  <a:cxn ang="0">
                    <a:pos x="48" y="48"/>
                  </a:cxn>
                  <a:cxn ang="0">
                    <a:pos x="48" y="54"/>
                  </a:cxn>
                  <a:cxn ang="0">
                    <a:pos x="54" y="54"/>
                  </a:cxn>
                  <a:cxn ang="0">
                    <a:pos x="66" y="48"/>
                  </a:cxn>
                  <a:cxn ang="0">
                    <a:pos x="78" y="42"/>
                  </a:cxn>
                  <a:cxn ang="0">
                    <a:pos x="72" y="42"/>
                  </a:cxn>
                  <a:cxn ang="0">
                    <a:pos x="12" y="42"/>
                  </a:cxn>
                  <a:cxn ang="0">
                    <a:pos x="18" y="30"/>
                  </a:cxn>
                  <a:cxn ang="0">
                    <a:pos x="24" y="18"/>
                  </a:cxn>
                  <a:cxn ang="0">
                    <a:pos x="36" y="6"/>
                  </a:cxn>
                  <a:cxn ang="0">
                    <a:pos x="48" y="0"/>
                  </a:cxn>
                  <a:cxn ang="0">
                    <a:pos x="54" y="6"/>
                  </a:cxn>
                  <a:cxn ang="0">
                    <a:pos x="60" y="12"/>
                  </a:cxn>
                  <a:cxn ang="0">
                    <a:pos x="60" y="24"/>
                  </a:cxn>
                  <a:cxn ang="0">
                    <a:pos x="48" y="36"/>
                  </a:cxn>
                  <a:cxn ang="0">
                    <a:pos x="36" y="42"/>
                  </a:cxn>
                  <a:cxn ang="0">
                    <a:pos x="24" y="48"/>
                  </a:cxn>
                  <a:cxn ang="0">
                    <a:pos x="18" y="48"/>
                  </a:cxn>
                  <a:cxn ang="0">
                    <a:pos x="12" y="42"/>
                  </a:cxn>
                  <a:cxn ang="0">
                    <a:pos x="12" y="42"/>
                  </a:cxn>
                </a:cxnLst>
                <a:rect l="txL" t="txT" r="txR" b="txB"/>
                <a:pathLst>
                  <a:path w="78" h="54">
                    <a:moveTo>
                      <a:pt x="72" y="42"/>
                    </a:moveTo>
                    <a:lnTo>
                      <a:pt x="66" y="48"/>
                    </a:lnTo>
                    <a:lnTo>
                      <a:pt x="60" y="48"/>
                    </a:lnTo>
                    <a:lnTo>
                      <a:pt x="60" y="36"/>
                    </a:lnTo>
                    <a:lnTo>
                      <a:pt x="66" y="24"/>
                    </a:lnTo>
                    <a:lnTo>
                      <a:pt x="72" y="6"/>
                    </a:lnTo>
                    <a:lnTo>
                      <a:pt x="72" y="0"/>
                    </a:lnTo>
                    <a:lnTo>
                      <a:pt x="60" y="0"/>
                    </a:lnTo>
                    <a:lnTo>
                      <a:pt x="60" y="6"/>
                    </a:lnTo>
                    <a:lnTo>
                      <a:pt x="54" y="6"/>
                    </a:lnTo>
                    <a:lnTo>
                      <a:pt x="48" y="0"/>
                    </a:lnTo>
                    <a:lnTo>
                      <a:pt x="30" y="6"/>
                    </a:lnTo>
                    <a:lnTo>
                      <a:pt x="18" y="12"/>
                    </a:lnTo>
                    <a:lnTo>
                      <a:pt x="6" y="30"/>
                    </a:lnTo>
                    <a:lnTo>
                      <a:pt x="0" y="42"/>
                    </a:lnTo>
                    <a:lnTo>
                      <a:pt x="0" y="48"/>
                    </a:lnTo>
                    <a:lnTo>
                      <a:pt x="6" y="54"/>
                    </a:lnTo>
                    <a:lnTo>
                      <a:pt x="18" y="54"/>
                    </a:lnTo>
                    <a:lnTo>
                      <a:pt x="30" y="54"/>
                    </a:lnTo>
                    <a:lnTo>
                      <a:pt x="42" y="48"/>
                    </a:lnTo>
                    <a:lnTo>
                      <a:pt x="48" y="36"/>
                    </a:lnTo>
                    <a:lnTo>
                      <a:pt x="48" y="42"/>
                    </a:lnTo>
                    <a:lnTo>
                      <a:pt x="48" y="48"/>
                    </a:lnTo>
                    <a:lnTo>
                      <a:pt x="48" y="54"/>
                    </a:lnTo>
                    <a:lnTo>
                      <a:pt x="54" y="54"/>
                    </a:lnTo>
                    <a:lnTo>
                      <a:pt x="66" y="48"/>
                    </a:lnTo>
                    <a:lnTo>
                      <a:pt x="78" y="42"/>
                    </a:lnTo>
                    <a:lnTo>
                      <a:pt x="72" y="42"/>
                    </a:lnTo>
                    <a:close/>
                    <a:moveTo>
                      <a:pt x="12" y="42"/>
                    </a:moveTo>
                    <a:lnTo>
                      <a:pt x="18" y="30"/>
                    </a:lnTo>
                    <a:lnTo>
                      <a:pt x="24" y="18"/>
                    </a:lnTo>
                    <a:lnTo>
                      <a:pt x="36" y="6"/>
                    </a:lnTo>
                    <a:lnTo>
                      <a:pt x="48" y="0"/>
                    </a:lnTo>
                    <a:lnTo>
                      <a:pt x="54" y="6"/>
                    </a:lnTo>
                    <a:lnTo>
                      <a:pt x="60" y="12"/>
                    </a:lnTo>
                    <a:lnTo>
                      <a:pt x="60" y="24"/>
                    </a:lnTo>
                    <a:lnTo>
                      <a:pt x="48" y="36"/>
                    </a:lnTo>
                    <a:lnTo>
                      <a:pt x="36" y="42"/>
                    </a:lnTo>
                    <a:lnTo>
                      <a:pt x="24" y="48"/>
                    </a:lnTo>
                    <a:lnTo>
                      <a:pt x="18" y="48"/>
                    </a:lnTo>
                    <a:lnTo>
                      <a:pt x="12" y="4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73" name="Freeform 84"/>
              <p:cNvSpPr>
                <a:spLocks noEditPoints="1"/>
              </p:cNvSpPr>
              <p:nvPr/>
            </p:nvSpPr>
            <p:spPr>
              <a:xfrm>
                <a:off x="2045" y="1002"/>
                <a:ext cx="138" cy="107"/>
              </a:xfrm>
              <a:custGeom>
                <a:avLst/>
                <a:gdLst>
                  <a:gd name="txL" fmla="*/ 0 w 138"/>
                  <a:gd name="txT" fmla="*/ 0 h 107"/>
                  <a:gd name="txR" fmla="*/ 138 w 138"/>
                  <a:gd name="txB" fmla="*/ 107 h 107"/>
                </a:gdLst>
                <a:ahLst/>
                <a:cxnLst>
                  <a:cxn ang="0">
                    <a:pos x="132" y="107"/>
                  </a:cxn>
                  <a:cxn ang="0">
                    <a:pos x="120" y="101"/>
                  </a:cxn>
                  <a:cxn ang="0">
                    <a:pos x="114" y="95"/>
                  </a:cxn>
                  <a:cxn ang="0">
                    <a:pos x="96" y="53"/>
                  </a:cxn>
                  <a:cxn ang="0">
                    <a:pos x="114" y="47"/>
                  </a:cxn>
                  <a:cxn ang="0">
                    <a:pos x="126" y="41"/>
                  </a:cxn>
                  <a:cxn ang="0">
                    <a:pos x="138" y="23"/>
                  </a:cxn>
                  <a:cxn ang="0">
                    <a:pos x="132" y="11"/>
                  </a:cxn>
                  <a:cxn ang="0">
                    <a:pos x="120" y="5"/>
                  </a:cxn>
                  <a:cxn ang="0">
                    <a:pos x="102" y="0"/>
                  </a:cxn>
                  <a:cxn ang="0">
                    <a:pos x="90" y="0"/>
                  </a:cxn>
                  <a:cxn ang="0">
                    <a:pos x="36" y="0"/>
                  </a:cxn>
                  <a:cxn ang="0">
                    <a:pos x="36" y="5"/>
                  </a:cxn>
                  <a:cxn ang="0">
                    <a:pos x="48" y="5"/>
                  </a:cxn>
                  <a:cxn ang="0">
                    <a:pos x="48" y="11"/>
                  </a:cxn>
                  <a:cxn ang="0">
                    <a:pos x="48" y="17"/>
                  </a:cxn>
                  <a:cxn ang="0">
                    <a:pos x="48" y="23"/>
                  </a:cxn>
                  <a:cxn ang="0">
                    <a:pos x="18" y="95"/>
                  </a:cxn>
                  <a:cxn ang="0">
                    <a:pos x="12" y="101"/>
                  </a:cxn>
                  <a:cxn ang="0">
                    <a:pos x="0" y="107"/>
                  </a:cxn>
                  <a:cxn ang="0">
                    <a:pos x="0" y="107"/>
                  </a:cxn>
                  <a:cxn ang="0">
                    <a:pos x="54" y="107"/>
                  </a:cxn>
                  <a:cxn ang="0">
                    <a:pos x="54" y="107"/>
                  </a:cxn>
                  <a:cxn ang="0">
                    <a:pos x="42" y="101"/>
                  </a:cxn>
                  <a:cxn ang="0">
                    <a:pos x="42" y="95"/>
                  </a:cxn>
                  <a:cxn ang="0">
                    <a:pos x="42" y="95"/>
                  </a:cxn>
                  <a:cxn ang="0">
                    <a:pos x="42" y="89"/>
                  </a:cxn>
                  <a:cxn ang="0">
                    <a:pos x="54" y="53"/>
                  </a:cxn>
                  <a:cxn ang="0">
                    <a:pos x="72" y="53"/>
                  </a:cxn>
                  <a:cxn ang="0">
                    <a:pos x="102" y="107"/>
                  </a:cxn>
                  <a:cxn ang="0">
                    <a:pos x="132" y="107"/>
                  </a:cxn>
                  <a:cxn ang="0">
                    <a:pos x="132" y="107"/>
                  </a:cxn>
                  <a:cxn ang="0">
                    <a:pos x="72" y="11"/>
                  </a:cxn>
                  <a:cxn ang="0">
                    <a:pos x="78" y="11"/>
                  </a:cxn>
                  <a:cxn ang="0">
                    <a:pos x="90" y="5"/>
                  </a:cxn>
                  <a:cxn ang="0">
                    <a:pos x="108" y="11"/>
                  </a:cxn>
                  <a:cxn ang="0">
                    <a:pos x="114" y="23"/>
                  </a:cxn>
                  <a:cxn ang="0">
                    <a:pos x="114" y="35"/>
                  </a:cxn>
                  <a:cxn ang="0">
                    <a:pos x="108" y="41"/>
                  </a:cxn>
                  <a:cxn ang="0">
                    <a:pos x="96" y="47"/>
                  </a:cxn>
                  <a:cxn ang="0">
                    <a:pos x="72" y="47"/>
                  </a:cxn>
                  <a:cxn ang="0">
                    <a:pos x="66" y="47"/>
                  </a:cxn>
                  <a:cxn ang="0">
                    <a:pos x="60" y="47"/>
                  </a:cxn>
                  <a:cxn ang="0">
                    <a:pos x="72" y="11"/>
                  </a:cxn>
                </a:cxnLst>
                <a:rect l="txL" t="txT" r="txR" b="txB"/>
                <a:pathLst>
                  <a:path w="138" h="107">
                    <a:moveTo>
                      <a:pt x="132" y="107"/>
                    </a:moveTo>
                    <a:lnTo>
                      <a:pt x="120" y="101"/>
                    </a:lnTo>
                    <a:lnTo>
                      <a:pt x="114" y="95"/>
                    </a:lnTo>
                    <a:lnTo>
                      <a:pt x="96" y="53"/>
                    </a:lnTo>
                    <a:lnTo>
                      <a:pt x="114" y="47"/>
                    </a:lnTo>
                    <a:lnTo>
                      <a:pt x="126" y="41"/>
                    </a:lnTo>
                    <a:lnTo>
                      <a:pt x="138" y="23"/>
                    </a:lnTo>
                    <a:lnTo>
                      <a:pt x="132" y="11"/>
                    </a:lnTo>
                    <a:lnTo>
                      <a:pt x="120" y="5"/>
                    </a:lnTo>
                    <a:lnTo>
                      <a:pt x="102" y="0"/>
                    </a:lnTo>
                    <a:lnTo>
                      <a:pt x="90" y="0"/>
                    </a:lnTo>
                    <a:lnTo>
                      <a:pt x="36" y="0"/>
                    </a:lnTo>
                    <a:lnTo>
                      <a:pt x="36" y="5"/>
                    </a:lnTo>
                    <a:lnTo>
                      <a:pt x="48" y="5"/>
                    </a:lnTo>
                    <a:lnTo>
                      <a:pt x="48" y="11"/>
                    </a:lnTo>
                    <a:lnTo>
                      <a:pt x="48" y="17"/>
                    </a:lnTo>
                    <a:lnTo>
                      <a:pt x="48" y="23"/>
                    </a:lnTo>
                    <a:lnTo>
                      <a:pt x="18" y="95"/>
                    </a:lnTo>
                    <a:lnTo>
                      <a:pt x="12" y="101"/>
                    </a:lnTo>
                    <a:lnTo>
                      <a:pt x="0" y="107"/>
                    </a:lnTo>
                    <a:lnTo>
                      <a:pt x="54" y="107"/>
                    </a:lnTo>
                    <a:lnTo>
                      <a:pt x="42" y="101"/>
                    </a:lnTo>
                    <a:lnTo>
                      <a:pt x="42" y="95"/>
                    </a:lnTo>
                    <a:lnTo>
                      <a:pt x="42" y="89"/>
                    </a:lnTo>
                    <a:lnTo>
                      <a:pt x="54" y="53"/>
                    </a:lnTo>
                    <a:lnTo>
                      <a:pt x="72" y="53"/>
                    </a:lnTo>
                    <a:lnTo>
                      <a:pt x="102" y="107"/>
                    </a:lnTo>
                    <a:lnTo>
                      <a:pt x="132" y="107"/>
                    </a:lnTo>
                    <a:close/>
                    <a:moveTo>
                      <a:pt x="72" y="11"/>
                    </a:moveTo>
                    <a:lnTo>
                      <a:pt x="78" y="11"/>
                    </a:lnTo>
                    <a:lnTo>
                      <a:pt x="90" y="5"/>
                    </a:lnTo>
                    <a:lnTo>
                      <a:pt x="108" y="11"/>
                    </a:lnTo>
                    <a:lnTo>
                      <a:pt x="114" y="23"/>
                    </a:lnTo>
                    <a:lnTo>
                      <a:pt x="114" y="35"/>
                    </a:lnTo>
                    <a:lnTo>
                      <a:pt x="108" y="41"/>
                    </a:lnTo>
                    <a:lnTo>
                      <a:pt x="96" y="47"/>
                    </a:lnTo>
                    <a:lnTo>
                      <a:pt x="72" y="47"/>
                    </a:lnTo>
                    <a:lnTo>
                      <a:pt x="66" y="47"/>
                    </a:lnTo>
                    <a:lnTo>
                      <a:pt x="60" y="47"/>
                    </a:lnTo>
                    <a:lnTo>
                      <a:pt x="72" y="1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74" name="Freeform 85"/>
              <p:cNvSpPr>
                <a:spLocks noEditPoints="1"/>
              </p:cNvSpPr>
              <p:nvPr/>
            </p:nvSpPr>
            <p:spPr>
              <a:xfrm>
                <a:off x="2195" y="1067"/>
                <a:ext cx="71" cy="84"/>
              </a:xfrm>
              <a:custGeom>
                <a:avLst/>
                <a:gdLst>
                  <a:gd name="txL" fmla="*/ 0 w 71"/>
                  <a:gd name="txT" fmla="*/ 0 h 84"/>
                  <a:gd name="txR" fmla="*/ 71 w 71"/>
                  <a:gd name="txB" fmla="*/ 84 h 84"/>
                </a:gdLst>
                <a:ahLst/>
                <a:cxnLst>
                  <a:cxn ang="0">
                    <a:pos x="59" y="48"/>
                  </a:cxn>
                  <a:cxn ang="0">
                    <a:pos x="59" y="54"/>
                  </a:cxn>
                  <a:cxn ang="0">
                    <a:pos x="48" y="66"/>
                  </a:cxn>
                  <a:cxn ang="0">
                    <a:pos x="36" y="78"/>
                  </a:cxn>
                  <a:cxn ang="0">
                    <a:pos x="18" y="84"/>
                  </a:cxn>
                  <a:cxn ang="0">
                    <a:pos x="12" y="84"/>
                  </a:cxn>
                  <a:cxn ang="0">
                    <a:pos x="12" y="78"/>
                  </a:cxn>
                  <a:cxn ang="0">
                    <a:pos x="18" y="66"/>
                  </a:cxn>
                  <a:cxn ang="0">
                    <a:pos x="24" y="54"/>
                  </a:cxn>
                  <a:cxn ang="0">
                    <a:pos x="36" y="42"/>
                  </a:cxn>
                  <a:cxn ang="0">
                    <a:pos x="48" y="36"/>
                  </a:cxn>
                  <a:cxn ang="0">
                    <a:pos x="59" y="42"/>
                  </a:cxn>
                  <a:cxn ang="0">
                    <a:pos x="59" y="48"/>
                  </a:cxn>
                  <a:cxn ang="0">
                    <a:pos x="59" y="48"/>
                  </a:cxn>
                  <a:cxn ang="0">
                    <a:pos x="12" y="6"/>
                  </a:cxn>
                  <a:cxn ang="0">
                    <a:pos x="24" y="6"/>
                  </a:cxn>
                  <a:cxn ang="0">
                    <a:pos x="24" y="6"/>
                  </a:cxn>
                  <a:cxn ang="0">
                    <a:pos x="24" y="12"/>
                  </a:cxn>
                  <a:cxn ang="0">
                    <a:pos x="24" y="18"/>
                  </a:cxn>
                  <a:cxn ang="0">
                    <a:pos x="0" y="78"/>
                  </a:cxn>
                  <a:cxn ang="0">
                    <a:pos x="0" y="78"/>
                  </a:cxn>
                  <a:cxn ang="0">
                    <a:pos x="6" y="84"/>
                  </a:cxn>
                  <a:cxn ang="0">
                    <a:pos x="18" y="84"/>
                  </a:cxn>
                  <a:cxn ang="0">
                    <a:pos x="42" y="84"/>
                  </a:cxn>
                  <a:cxn ang="0">
                    <a:pos x="54" y="72"/>
                  </a:cxn>
                  <a:cxn ang="0">
                    <a:pos x="65" y="60"/>
                  </a:cxn>
                  <a:cxn ang="0">
                    <a:pos x="71" y="42"/>
                  </a:cxn>
                  <a:cxn ang="0">
                    <a:pos x="65" y="36"/>
                  </a:cxn>
                  <a:cxn ang="0">
                    <a:pos x="54" y="30"/>
                  </a:cxn>
                  <a:cxn ang="0">
                    <a:pos x="36" y="36"/>
                  </a:cxn>
                  <a:cxn ang="0">
                    <a:pos x="24" y="48"/>
                  </a:cxn>
                  <a:cxn ang="0">
                    <a:pos x="24" y="48"/>
                  </a:cxn>
                  <a:cxn ang="0">
                    <a:pos x="36" y="24"/>
                  </a:cxn>
                  <a:cxn ang="0">
                    <a:pos x="42" y="0"/>
                  </a:cxn>
                  <a:cxn ang="0">
                    <a:pos x="36" y="0"/>
                  </a:cxn>
                  <a:cxn ang="0">
                    <a:pos x="24" y="0"/>
                  </a:cxn>
                  <a:cxn ang="0">
                    <a:pos x="12" y="6"/>
                  </a:cxn>
                  <a:cxn ang="0">
                    <a:pos x="12" y="6"/>
                  </a:cxn>
                </a:cxnLst>
                <a:rect l="txL" t="txT" r="txR" b="txB"/>
                <a:pathLst>
                  <a:path w="71" h="84">
                    <a:moveTo>
                      <a:pt x="59" y="48"/>
                    </a:moveTo>
                    <a:lnTo>
                      <a:pt x="59" y="54"/>
                    </a:lnTo>
                    <a:lnTo>
                      <a:pt x="48" y="66"/>
                    </a:lnTo>
                    <a:lnTo>
                      <a:pt x="36" y="78"/>
                    </a:lnTo>
                    <a:lnTo>
                      <a:pt x="18" y="84"/>
                    </a:lnTo>
                    <a:lnTo>
                      <a:pt x="12" y="84"/>
                    </a:lnTo>
                    <a:lnTo>
                      <a:pt x="12" y="78"/>
                    </a:lnTo>
                    <a:lnTo>
                      <a:pt x="18" y="66"/>
                    </a:lnTo>
                    <a:lnTo>
                      <a:pt x="24" y="54"/>
                    </a:lnTo>
                    <a:lnTo>
                      <a:pt x="36" y="42"/>
                    </a:lnTo>
                    <a:lnTo>
                      <a:pt x="48" y="36"/>
                    </a:lnTo>
                    <a:lnTo>
                      <a:pt x="59" y="42"/>
                    </a:lnTo>
                    <a:lnTo>
                      <a:pt x="59" y="48"/>
                    </a:lnTo>
                    <a:close/>
                    <a:moveTo>
                      <a:pt x="12" y="6"/>
                    </a:moveTo>
                    <a:lnTo>
                      <a:pt x="24" y="6"/>
                    </a:lnTo>
                    <a:lnTo>
                      <a:pt x="24" y="12"/>
                    </a:lnTo>
                    <a:lnTo>
                      <a:pt x="24" y="18"/>
                    </a:lnTo>
                    <a:lnTo>
                      <a:pt x="0" y="78"/>
                    </a:lnTo>
                    <a:lnTo>
                      <a:pt x="6" y="84"/>
                    </a:lnTo>
                    <a:lnTo>
                      <a:pt x="18" y="84"/>
                    </a:lnTo>
                    <a:lnTo>
                      <a:pt x="42" y="84"/>
                    </a:lnTo>
                    <a:lnTo>
                      <a:pt x="54" y="72"/>
                    </a:lnTo>
                    <a:lnTo>
                      <a:pt x="65" y="60"/>
                    </a:lnTo>
                    <a:lnTo>
                      <a:pt x="71" y="42"/>
                    </a:lnTo>
                    <a:lnTo>
                      <a:pt x="65" y="36"/>
                    </a:lnTo>
                    <a:lnTo>
                      <a:pt x="54" y="30"/>
                    </a:lnTo>
                    <a:lnTo>
                      <a:pt x="36" y="36"/>
                    </a:lnTo>
                    <a:lnTo>
                      <a:pt x="24" y="48"/>
                    </a:lnTo>
                    <a:lnTo>
                      <a:pt x="36" y="24"/>
                    </a:lnTo>
                    <a:lnTo>
                      <a:pt x="42" y="0"/>
                    </a:lnTo>
                    <a:lnTo>
                      <a:pt x="36" y="0"/>
                    </a:lnTo>
                    <a:lnTo>
                      <a:pt x="24" y="0"/>
                    </a:lnTo>
                    <a:lnTo>
                      <a:pt x="12"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grpSp>
        <p:grpSp>
          <p:nvGrpSpPr>
            <p:cNvPr id="60430" name="Group 86"/>
            <p:cNvGrpSpPr/>
            <p:nvPr/>
          </p:nvGrpSpPr>
          <p:grpSpPr>
            <a:xfrm>
              <a:off x="3072" y="1380"/>
              <a:ext cx="2619" cy="2172"/>
              <a:chOff x="1471" y="2291"/>
              <a:chExt cx="2811" cy="1744"/>
            </a:xfrm>
          </p:grpSpPr>
          <p:sp>
            <p:nvSpPr>
              <p:cNvPr id="60431" name="Freeform 87"/>
              <p:cNvSpPr/>
              <p:nvPr/>
            </p:nvSpPr>
            <p:spPr>
              <a:xfrm>
                <a:off x="3253" y="2572"/>
                <a:ext cx="808" cy="1"/>
              </a:xfrm>
              <a:custGeom>
                <a:avLst/>
                <a:gdLst>
                  <a:gd name="txL" fmla="*/ 0 w 808"/>
                  <a:gd name="txT" fmla="*/ 0 h 1"/>
                  <a:gd name="txR" fmla="*/ 808 w 808"/>
                  <a:gd name="txB" fmla="*/ 1 h 1"/>
                </a:gdLst>
                <a:ahLst/>
                <a:cxnLst>
                  <a:cxn ang="0">
                    <a:pos x="808" y="0"/>
                  </a:cxn>
                  <a:cxn ang="0">
                    <a:pos x="0" y="0"/>
                  </a:cxn>
                  <a:cxn ang="0">
                    <a:pos x="808" y="0"/>
                  </a:cxn>
                  <a:cxn ang="0">
                    <a:pos x="808" y="0"/>
                  </a:cxn>
                </a:cxnLst>
                <a:rect l="txL" t="txT" r="txR" b="txB"/>
                <a:pathLst>
                  <a:path w="808" h="1">
                    <a:moveTo>
                      <a:pt x="808" y="0"/>
                    </a:moveTo>
                    <a:lnTo>
                      <a:pt x="0" y="0"/>
                    </a:lnTo>
                    <a:lnTo>
                      <a:pt x="80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432" name="Freeform 88"/>
              <p:cNvSpPr/>
              <p:nvPr/>
            </p:nvSpPr>
            <p:spPr>
              <a:xfrm>
                <a:off x="1680" y="2572"/>
                <a:ext cx="1699" cy="1"/>
              </a:xfrm>
              <a:custGeom>
                <a:avLst/>
                <a:gdLst>
                  <a:gd name="txL" fmla="*/ 0 w 1699"/>
                  <a:gd name="txT" fmla="*/ 0 h 1"/>
                  <a:gd name="txR" fmla="*/ 1699 w 1699"/>
                  <a:gd name="txB" fmla="*/ 1 h 1"/>
                </a:gdLst>
                <a:ahLst/>
                <a:cxnLst>
                  <a:cxn ang="0">
                    <a:pos x="1699" y="0"/>
                  </a:cxn>
                  <a:cxn ang="0">
                    <a:pos x="0" y="0"/>
                  </a:cxn>
                  <a:cxn ang="0">
                    <a:pos x="1699" y="0"/>
                  </a:cxn>
                  <a:cxn ang="0">
                    <a:pos x="1699" y="0"/>
                  </a:cxn>
                </a:cxnLst>
                <a:rect l="txL" t="txT" r="txR" b="txB"/>
                <a:pathLst>
                  <a:path w="1699" h="1">
                    <a:moveTo>
                      <a:pt x="1699" y="0"/>
                    </a:moveTo>
                    <a:lnTo>
                      <a:pt x="0" y="0"/>
                    </a:lnTo>
                    <a:lnTo>
                      <a:pt x="1699"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433" name="Freeform 89"/>
              <p:cNvSpPr/>
              <p:nvPr/>
            </p:nvSpPr>
            <p:spPr>
              <a:xfrm>
                <a:off x="1680" y="3695"/>
                <a:ext cx="2381" cy="1"/>
              </a:xfrm>
              <a:custGeom>
                <a:avLst/>
                <a:gdLst>
                  <a:gd name="txL" fmla="*/ 0 w 2381"/>
                  <a:gd name="txT" fmla="*/ 0 h 1"/>
                  <a:gd name="txR" fmla="*/ 2381 w 2381"/>
                  <a:gd name="txB" fmla="*/ 1 h 1"/>
                </a:gdLst>
                <a:ahLst/>
                <a:cxnLst>
                  <a:cxn ang="0">
                    <a:pos x="0" y="0"/>
                  </a:cxn>
                  <a:cxn ang="0">
                    <a:pos x="2381" y="0"/>
                  </a:cxn>
                  <a:cxn ang="0">
                    <a:pos x="0" y="0"/>
                  </a:cxn>
                  <a:cxn ang="0">
                    <a:pos x="0" y="0"/>
                  </a:cxn>
                </a:cxnLst>
                <a:rect l="txL" t="txT" r="txR" b="txB"/>
                <a:pathLst>
                  <a:path w="2381" h="1">
                    <a:moveTo>
                      <a:pt x="0" y="0"/>
                    </a:moveTo>
                    <a:lnTo>
                      <a:pt x="2381"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434" name="Freeform 90"/>
              <p:cNvSpPr/>
              <p:nvPr/>
            </p:nvSpPr>
            <p:spPr>
              <a:xfrm>
                <a:off x="2254" y="2572"/>
                <a:ext cx="1" cy="1123"/>
              </a:xfrm>
              <a:custGeom>
                <a:avLst/>
                <a:gdLst>
                  <a:gd name="txL" fmla="*/ 0 w 1"/>
                  <a:gd name="txT" fmla="*/ 0 h 1123"/>
                  <a:gd name="txR" fmla="*/ 1 w 1"/>
                  <a:gd name="txB" fmla="*/ 1123 h 1123"/>
                </a:gdLst>
                <a:ahLst/>
                <a:cxnLst>
                  <a:cxn ang="0">
                    <a:pos x="0" y="0"/>
                  </a:cxn>
                  <a:cxn ang="0">
                    <a:pos x="0" y="1123"/>
                  </a:cxn>
                  <a:cxn ang="0">
                    <a:pos x="0" y="0"/>
                  </a:cxn>
                  <a:cxn ang="0">
                    <a:pos x="0" y="0"/>
                  </a:cxn>
                </a:cxnLst>
                <a:rect l="txL" t="txT" r="txR" b="txB"/>
                <a:pathLst>
                  <a:path w="1" h="1123">
                    <a:moveTo>
                      <a:pt x="0" y="0"/>
                    </a:moveTo>
                    <a:lnTo>
                      <a:pt x="0" y="1123"/>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435" name="Freeform 91"/>
              <p:cNvSpPr/>
              <p:nvPr/>
            </p:nvSpPr>
            <p:spPr>
              <a:xfrm>
                <a:off x="2225" y="2972"/>
                <a:ext cx="53" cy="323"/>
              </a:xfrm>
              <a:custGeom>
                <a:avLst/>
                <a:gdLst>
                  <a:gd name="txL" fmla="*/ 0 w 53"/>
                  <a:gd name="txT" fmla="*/ 0 h 323"/>
                  <a:gd name="txR" fmla="*/ 53 w 53"/>
                  <a:gd name="txB" fmla="*/ 323 h 323"/>
                </a:gdLst>
                <a:ahLst/>
                <a:cxnLst>
                  <a:cxn ang="0">
                    <a:pos x="0" y="0"/>
                  </a:cxn>
                  <a:cxn ang="0">
                    <a:pos x="53" y="0"/>
                  </a:cxn>
                  <a:cxn ang="0">
                    <a:pos x="53" y="323"/>
                  </a:cxn>
                  <a:cxn ang="0">
                    <a:pos x="0" y="323"/>
                  </a:cxn>
                  <a:cxn ang="0">
                    <a:pos x="0" y="0"/>
                  </a:cxn>
                  <a:cxn ang="0">
                    <a:pos x="0" y="0"/>
                  </a:cxn>
                </a:cxnLst>
                <a:rect l="txL" t="txT" r="txR" b="txB"/>
                <a:pathLst>
                  <a:path w="53" h="323">
                    <a:moveTo>
                      <a:pt x="0" y="0"/>
                    </a:moveTo>
                    <a:lnTo>
                      <a:pt x="53" y="0"/>
                    </a:lnTo>
                    <a:lnTo>
                      <a:pt x="53" y="323"/>
                    </a:lnTo>
                    <a:lnTo>
                      <a:pt x="0" y="323"/>
                    </a:lnTo>
                    <a:lnTo>
                      <a:pt x="0" y="0"/>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0436" name="Freeform 92"/>
              <p:cNvSpPr/>
              <p:nvPr/>
            </p:nvSpPr>
            <p:spPr>
              <a:xfrm>
                <a:off x="2183" y="3277"/>
                <a:ext cx="71" cy="24"/>
              </a:xfrm>
              <a:custGeom>
                <a:avLst/>
                <a:gdLst>
                  <a:gd name="txL" fmla="*/ 0 w 71"/>
                  <a:gd name="txT" fmla="*/ 0 h 24"/>
                  <a:gd name="txR" fmla="*/ 71 w 71"/>
                  <a:gd name="txB" fmla="*/ 24 h 24"/>
                </a:gdLst>
                <a:ahLst/>
                <a:cxnLst>
                  <a:cxn ang="0">
                    <a:pos x="71" y="24"/>
                  </a:cxn>
                  <a:cxn ang="0">
                    <a:pos x="0" y="0"/>
                  </a:cxn>
                  <a:cxn ang="0">
                    <a:pos x="71" y="24"/>
                  </a:cxn>
                  <a:cxn ang="0">
                    <a:pos x="71" y="24"/>
                  </a:cxn>
                </a:cxnLst>
                <a:rect l="txL" t="txT" r="txR" b="txB"/>
                <a:pathLst>
                  <a:path w="71" h="24">
                    <a:moveTo>
                      <a:pt x="71" y="24"/>
                    </a:moveTo>
                    <a:lnTo>
                      <a:pt x="0" y="0"/>
                    </a:lnTo>
                    <a:lnTo>
                      <a:pt x="71"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37" name="Freeform 93"/>
              <p:cNvSpPr>
                <a:spLocks noEditPoints="1"/>
              </p:cNvSpPr>
              <p:nvPr/>
            </p:nvSpPr>
            <p:spPr>
              <a:xfrm>
                <a:off x="2183" y="3259"/>
                <a:ext cx="71" cy="18"/>
              </a:xfrm>
              <a:custGeom>
                <a:avLst/>
                <a:gdLst>
                  <a:gd name="txL" fmla="*/ 0 w 71"/>
                  <a:gd name="txT" fmla="*/ 0 h 18"/>
                  <a:gd name="txR" fmla="*/ 71 w 71"/>
                  <a:gd name="txB" fmla="*/ 18 h 18"/>
                </a:gdLst>
                <a:ahLst/>
                <a:cxnLst>
                  <a:cxn ang="0">
                    <a:pos x="0" y="18"/>
                  </a:cxn>
                  <a:cxn ang="0">
                    <a:pos x="71" y="0"/>
                  </a:cxn>
                  <a:cxn ang="0">
                    <a:pos x="0" y="18"/>
                  </a:cxn>
                  <a:cxn ang="0">
                    <a:pos x="0" y="18"/>
                  </a:cxn>
                  <a:cxn ang="0">
                    <a:pos x="0" y="18"/>
                  </a:cxn>
                  <a:cxn ang="0">
                    <a:pos x="0" y="18"/>
                  </a:cxn>
                  <a:cxn ang="0">
                    <a:pos x="0" y="18"/>
                  </a:cxn>
                </a:cxnLst>
                <a:rect l="txL" t="txT" r="txR" b="txB"/>
                <a:pathLst>
                  <a:path w="71" h="18">
                    <a:moveTo>
                      <a:pt x="0" y="18"/>
                    </a:moveTo>
                    <a:lnTo>
                      <a:pt x="71" y="0"/>
                    </a:lnTo>
                    <a:lnTo>
                      <a:pt x="0" y="18"/>
                    </a:lnTo>
                    <a:close/>
                    <a:moveTo>
                      <a:pt x="0" y="18"/>
                    </a:moveTo>
                    <a:lnTo>
                      <a:pt x="0"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38" name="Freeform 94"/>
              <p:cNvSpPr>
                <a:spLocks noEditPoints="1"/>
              </p:cNvSpPr>
              <p:nvPr/>
            </p:nvSpPr>
            <p:spPr>
              <a:xfrm>
                <a:off x="2254" y="3235"/>
                <a:ext cx="66" cy="24"/>
              </a:xfrm>
              <a:custGeom>
                <a:avLst/>
                <a:gdLst>
                  <a:gd name="txL" fmla="*/ 0 w 66"/>
                  <a:gd name="txT" fmla="*/ 0 h 24"/>
                  <a:gd name="txR" fmla="*/ 66 w 66"/>
                  <a:gd name="txB" fmla="*/ 24 h 24"/>
                </a:gdLst>
                <a:ahLst/>
                <a:cxnLst>
                  <a:cxn ang="0">
                    <a:pos x="0" y="24"/>
                  </a:cxn>
                  <a:cxn ang="0">
                    <a:pos x="66" y="0"/>
                  </a:cxn>
                  <a:cxn ang="0">
                    <a:pos x="0" y="24"/>
                  </a:cxn>
                  <a:cxn ang="0">
                    <a:pos x="0" y="24"/>
                  </a:cxn>
                  <a:cxn ang="0">
                    <a:pos x="0" y="24"/>
                  </a:cxn>
                  <a:cxn ang="0">
                    <a:pos x="0" y="24"/>
                  </a:cxn>
                  <a:cxn ang="0">
                    <a:pos x="0" y="24"/>
                  </a:cxn>
                </a:cxnLst>
                <a:rect l="txL" t="txT" r="txR" b="txB"/>
                <a:pathLst>
                  <a:path w="66" h="24">
                    <a:moveTo>
                      <a:pt x="0" y="24"/>
                    </a:moveTo>
                    <a:lnTo>
                      <a:pt x="66"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39" name="Freeform 95"/>
              <p:cNvSpPr>
                <a:spLocks noEditPoints="1"/>
              </p:cNvSpPr>
              <p:nvPr/>
            </p:nvSpPr>
            <p:spPr>
              <a:xfrm>
                <a:off x="2254" y="3217"/>
                <a:ext cx="66" cy="18"/>
              </a:xfrm>
              <a:custGeom>
                <a:avLst/>
                <a:gdLst>
                  <a:gd name="txL" fmla="*/ 0 w 66"/>
                  <a:gd name="txT" fmla="*/ 0 h 18"/>
                  <a:gd name="txR" fmla="*/ 66 w 66"/>
                  <a:gd name="txB" fmla="*/ 18 h 18"/>
                </a:gdLst>
                <a:ahLst/>
                <a:cxnLst>
                  <a:cxn ang="0">
                    <a:pos x="66" y="18"/>
                  </a:cxn>
                  <a:cxn ang="0">
                    <a:pos x="0" y="0"/>
                  </a:cxn>
                  <a:cxn ang="0">
                    <a:pos x="66" y="18"/>
                  </a:cxn>
                  <a:cxn ang="0">
                    <a:pos x="66" y="18"/>
                  </a:cxn>
                  <a:cxn ang="0">
                    <a:pos x="66" y="18"/>
                  </a:cxn>
                  <a:cxn ang="0">
                    <a:pos x="66" y="18"/>
                  </a:cxn>
                  <a:cxn ang="0">
                    <a:pos x="66" y="18"/>
                  </a:cxn>
                </a:cxnLst>
                <a:rect l="txL" t="txT" r="txR" b="txB"/>
                <a:pathLst>
                  <a:path w="66" h="18">
                    <a:moveTo>
                      <a:pt x="66" y="18"/>
                    </a:moveTo>
                    <a:lnTo>
                      <a:pt x="0" y="0"/>
                    </a:lnTo>
                    <a:lnTo>
                      <a:pt x="66" y="18"/>
                    </a:lnTo>
                    <a:close/>
                    <a:moveTo>
                      <a:pt x="66" y="18"/>
                    </a:moveTo>
                    <a:lnTo>
                      <a:pt x="66"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40" name="Freeform 96"/>
              <p:cNvSpPr>
                <a:spLocks noEditPoints="1"/>
              </p:cNvSpPr>
              <p:nvPr/>
            </p:nvSpPr>
            <p:spPr>
              <a:xfrm>
                <a:off x="2254" y="3217"/>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41" name="Freeform 97"/>
              <p:cNvSpPr>
                <a:spLocks noEditPoints="1"/>
              </p:cNvSpPr>
              <p:nvPr/>
            </p:nvSpPr>
            <p:spPr>
              <a:xfrm>
                <a:off x="2183" y="3193"/>
                <a:ext cx="71" cy="24"/>
              </a:xfrm>
              <a:custGeom>
                <a:avLst/>
                <a:gdLst>
                  <a:gd name="txL" fmla="*/ 0 w 71"/>
                  <a:gd name="txT" fmla="*/ 0 h 24"/>
                  <a:gd name="txR" fmla="*/ 71 w 71"/>
                  <a:gd name="txB" fmla="*/ 24 h 24"/>
                </a:gdLst>
                <a:ahLst/>
                <a:cxnLst>
                  <a:cxn ang="0">
                    <a:pos x="71" y="24"/>
                  </a:cxn>
                  <a:cxn ang="0">
                    <a:pos x="0" y="0"/>
                  </a:cxn>
                  <a:cxn ang="0">
                    <a:pos x="71" y="24"/>
                  </a:cxn>
                  <a:cxn ang="0">
                    <a:pos x="71" y="24"/>
                  </a:cxn>
                  <a:cxn ang="0">
                    <a:pos x="71" y="24"/>
                  </a:cxn>
                  <a:cxn ang="0">
                    <a:pos x="71" y="24"/>
                  </a:cxn>
                  <a:cxn ang="0">
                    <a:pos x="71" y="24"/>
                  </a:cxn>
                </a:cxnLst>
                <a:rect l="txL" t="txT" r="txR" b="txB"/>
                <a:pathLst>
                  <a:path w="71" h="24">
                    <a:moveTo>
                      <a:pt x="71" y="24"/>
                    </a:moveTo>
                    <a:lnTo>
                      <a:pt x="0" y="0"/>
                    </a:lnTo>
                    <a:lnTo>
                      <a:pt x="71" y="24"/>
                    </a:lnTo>
                    <a:close/>
                    <a:moveTo>
                      <a:pt x="71" y="24"/>
                    </a:moveTo>
                    <a:lnTo>
                      <a:pt x="71"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42" name="Freeform 98"/>
              <p:cNvSpPr>
                <a:spLocks noEditPoints="1"/>
              </p:cNvSpPr>
              <p:nvPr/>
            </p:nvSpPr>
            <p:spPr>
              <a:xfrm>
                <a:off x="2183" y="3175"/>
                <a:ext cx="71" cy="18"/>
              </a:xfrm>
              <a:custGeom>
                <a:avLst/>
                <a:gdLst>
                  <a:gd name="txL" fmla="*/ 0 w 71"/>
                  <a:gd name="txT" fmla="*/ 0 h 18"/>
                  <a:gd name="txR" fmla="*/ 71 w 71"/>
                  <a:gd name="txB" fmla="*/ 18 h 18"/>
                </a:gdLst>
                <a:ahLst/>
                <a:cxnLst>
                  <a:cxn ang="0">
                    <a:pos x="0" y="18"/>
                  </a:cxn>
                  <a:cxn ang="0">
                    <a:pos x="71" y="0"/>
                  </a:cxn>
                  <a:cxn ang="0">
                    <a:pos x="0" y="18"/>
                  </a:cxn>
                  <a:cxn ang="0">
                    <a:pos x="0" y="18"/>
                  </a:cxn>
                  <a:cxn ang="0">
                    <a:pos x="0" y="18"/>
                  </a:cxn>
                  <a:cxn ang="0">
                    <a:pos x="0" y="18"/>
                  </a:cxn>
                  <a:cxn ang="0">
                    <a:pos x="0" y="18"/>
                  </a:cxn>
                </a:cxnLst>
                <a:rect l="txL" t="txT" r="txR" b="txB"/>
                <a:pathLst>
                  <a:path w="71" h="18">
                    <a:moveTo>
                      <a:pt x="0" y="18"/>
                    </a:moveTo>
                    <a:lnTo>
                      <a:pt x="71" y="0"/>
                    </a:lnTo>
                    <a:lnTo>
                      <a:pt x="0" y="18"/>
                    </a:lnTo>
                    <a:close/>
                    <a:moveTo>
                      <a:pt x="0" y="18"/>
                    </a:moveTo>
                    <a:lnTo>
                      <a:pt x="0"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43" name="Freeform 99"/>
              <p:cNvSpPr>
                <a:spLocks noEditPoints="1"/>
              </p:cNvSpPr>
              <p:nvPr/>
            </p:nvSpPr>
            <p:spPr>
              <a:xfrm>
                <a:off x="2254" y="3151"/>
                <a:ext cx="66" cy="24"/>
              </a:xfrm>
              <a:custGeom>
                <a:avLst/>
                <a:gdLst>
                  <a:gd name="txL" fmla="*/ 0 w 66"/>
                  <a:gd name="txT" fmla="*/ 0 h 24"/>
                  <a:gd name="txR" fmla="*/ 66 w 66"/>
                  <a:gd name="txB" fmla="*/ 24 h 24"/>
                </a:gdLst>
                <a:ahLst/>
                <a:cxnLst>
                  <a:cxn ang="0">
                    <a:pos x="0" y="24"/>
                  </a:cxn>
                  <a:cxn ang="0">
                    <a:pos x="66" y="0"/>
                  </a:cxn>
                  <a:cxn ang="0">
                    <a:pos x="0" y="24"/>
                  </a:cxn>
                  <a:cxn ang="0">
                    <a:pos x="0" y="24"/>
                  </a:cxn>
                  <a:cxn ang="0">
                    <a:pos x="0" y="24"/>
                  </a:cxn>
                  <a:cxn ang="0">
                    <a:pos x="0" y="24"/>
                  </a:cxn>
                  <a:cxn ang="0">
                    <a:pos x="0" y="24"/>
                  </a:cxn>
                </a:cxnLst>
                <a:rect l="txL" t="txT" r="txR" b="txB"/>
                <a:pathLst>
                  <a:path w="66" h="24">
                    <a:moveTo>
                      <a:pt x="0" y="24"/>
                    </a:moveTo>
                    <a:lnTo>
                      <a:pt x="66"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44" name="Freeform 100"/>
              <p:cNvSpPr>
                <a:spLocks noEditPoints="1"/>
              </p:cNvSpPr>
              <p:nvPr/>
            </p:nvSpPr>
            <p:spPr>
              <a:xfrm>
                <a:off x="2254" y="3133"/>
                <a:ext cx="66" cy="18"/>
              </a:xfrm>
              <a:custGeom>
                <a:avLst/>
                <a:gdLst>
                  <a:gd name="txL" fmla="*/ 0 w 66"/>
                  <a:gd name="txT" fmla="*/ 0 h 18"/>
                  <a:gd name="txR" fmla="*/ 66 w 66"/>
                  <a:gd name="txB" fmla="*/ 18 h 18"/>
                </a:gdLst>
                <a:ahLst/>
                <a:cxnLst>
                  <a:cxn ang="0">
                    <a:pos x="66" y="18"/>
                  </a:cxn>
                  <a:cxn ang="0">
                    <a:pos x="0" y="0"/>
                  </a:cxn>
                  <a:cxn ang="0">
                    <a:pos x="66" y="18"/>
                  </a:cxn>
                  <a:cxn ang="0">
                    <a:pos x="66" y="18"/>
                  </a:cxn>
                  <a:cxn ang="0">
                    <a:pos x="66" y="18"/>
                  </a:cxn>
                  <a:cxn ang="0">
                    <a:pos x="66" y="18"/>
                  </a:cxn>
                  <a:cxn ang="0">
                    <a:pos x="66" y="18"/>
                  </a:cxn>
                </a:cxnLst>
                <a:rect l="txL" t="txT" r="txR" b="txB"/>
                <a:pathLst>
                  <a:path w="66" h="18">
                    <a:moveTo>
                      <a:pt x="66" y="18"/>
                    </a:moveTo>
                    <a:lnTo>
                      <a:pt x="0" y="0"/>
                    </a:lnTo>
                    <a:lnTo>
                      <a:pt x="66" y="18"/>
                    </a:lnTo>
                    <a:close/>
                    <a:moveTo>
                      <a:pt x="66" y="18"/>
                    </a:moveTo>
                    <a:lnTo>
                      <a:pt x="66"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45" name="Freeform 101"/>
              <p:cNvSpPr>
                <a:spLocks noEditPoints="1"/>
              </p:cNvSpPr>
              <p:nvPr/>
            </p:nvSpPr>
            <p:spPr>
              <a:xfrm>
                <a:off x="2183" y="3109"/>
                <a:ext cx="71" cy="24"/>
              </a:xfrm>
              <a:custGeom>
                <a:avLst/>
                <a:gdLst>
                  <a:gd name="txL" fmla="*/ 0 w 71"/>
                  <a:gd name="txT" fmla="*/ 0 h 24"/>
                  <a:gd name="txR" fmla="*/ 71 w 71"/>
                  <a:gd name="txB" fmla="*/ 24 h 24"/>
                </a:gdLst>
                <a:ahLst/>
                <a:cxnLst>
                  <a:cxn ang="0">
                    <a:pos x="71" y="24"/>
                  </a:cxn>
                  <a:cxn ang="0">
                    <a:pos x="0" y="0"/>
                  </a:cxn>
                  <a:cxn ang="0">
                    <a:pos x="71" y="24"/>
                  </a:cxn>
                  <a:cxn ang="0">
                    <a:pos x="71" y="24"/>
                  </a:cxn>
                  <a:cxn ang="0">
                    <a:pos x="71" y="24"/>
                  </a:cxn>
                  <a:cxn ang="0">
                    <a:pos x="71" y="24"/>
                  </a:cxn>
                  <a:cxn ang="0">
                    <a:pos x="71" y="24"/>
                  </a:cxn>
                </a:cxnLst>
                <a:rect l="txL" t="txT" r="txR" b="txB"/>
                <a:pathLst>
                  <a:path w="71" h="24">
                    <a:moveTo>
                      <a:pt x="71" y="24"/>
                    </a:moveTo>
                    <a:lnTo>
                      <a:pt x="0" y="0"/>
                    </a:lnTo>
                    <a:lnTo>
                      <a:pt x="71" y="24"/>
                    </a:lnTo>
                    <a:close/>
                    <a:moveTo>
                      <a:pt x="71" y="24"/>
                    </a:moveTo>
                    <a:lnTo>
                      <a:pt x="71"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46" name="Freeform 102"/>
              <p:cNvSpPr>
                <a:spLocks noEditPoints="1"/>
              </p:cNvSpPr>
              <p:nvPr/>
            </p:nvSpPr>
            <p:spPr>
              <a:xfrm>
                <a:off x="2183" y="3092"/>
                <a:ext cx="71" cy="17"/>
              </a:xfrm>
              <a:custGeom>
                <a:avLst/>
                <a:gdLst>
                  <a:gd name="txL" fmla="*/ 0 w 71"/>
                  <a:gd name="txT" fmla="*/ 0 h 17"/>
                  <a:gd name="txR" fmla="*/ 71 w 71"/>
                  <a:gd name="txB" fmla="*/ 17 h 17"/>
                </a:gdLst>
                <a:ahLst/>
                <a:cxnLst>
                  <a:cxn ang="0">
                    <a:pos x="0" y="17"/>
                  </a:cxn>
                  <a:cxn ang="0">
                    <a:pos x="71" y="0"/>
                  </a:cxn>
                  <a:cxn ang="0">
                    <a:pos x="0" y="17"/>
                  </a:cxn>
                  <a:cxn ang="0">
                    <a:pos x="0" y="17"/>
                  </a:cxn>
                  <a:cxn ang="0">
                    <a:pos x="0" y="17"/>
                  </a:cxn>
                  <a:cxn ang="0">
                    <a:pos x="0" y="17"/>
                  </a:cxn>
                  <a:cxn ang="0">
                    <a:pos x="0" y="17"/>
                  </a:cxn>
                </a:cxnLst>
                <a:rect l="txL" t="txT" r="txR" b="txB"/>
                <a:pathLst>
                  <a:path w="71" h="17">
                    <a:moveTo>
                      <a:pt x="0" y="17"/>
                    </a:moveTo>
                    <a:lnTo>
                      <a:pt x="71" y="0"/>
                    </a:lnTo>
                    <a:lnTo>
                      <a:pt x="0" y="17"/>
                    </a:lnTo>
                    <a:close/>
                    <a:moveTo>
                      <a:pt x="0" y="17"/>
                    </a:moveTo>
                    <a:lnTo>
                      <a:pt x="0" y="17"/>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47" name="Freeform 103"/>
              <p:cNvSpPr>
                <a:spLocks noEditPoints="1"/>
              </p:cNvSpPr>
              <p:nvPr/>
            </p:nvSpPr>
            <p:spPr>
              <a:xfrm>
                <a:off x="2254" y="3068"/>
                <a:ext cx="66" cy="24"/>
              </a:xfrm>
              <a:custGeom>
                <a:avLst/>
                <a:gdLst>
                  <a:gd name="txL" fmla="*/ 0 w 66"/>
                  <a:gd name="txT" fmla="*/ 0 h 24"/>
                  <a:gd name="txR" fmla="*/ 66 w 66"/>
                  <a:gd name="txB" fmla="*/ 24 h 24"/>
                </a:gdLst>
                <a:ahLst/>
                <a:cxnLst>
                  <a:cxn ang="0">
                    <a:pos x="0" y="24"/>
                  </a:cxn>
                  <a:cxn ang="0">
                    <a:pos x="66" y="0"/>
                  </a:cxn>
                  <a:cxn ang="0">
                    <a:pos x="0" y="24"/>
                  </a:cxn>
                  <a:cxn ang="0">
                    <a:pos x="0" y="24"/>
                  </a:cxn>
                  <a:cxn ang="0">
                    <a:pos x="0" y="24"/>
                  </a:cxn>
                  <a:cxn ang="0">
                    <a:pos x="0" y="24"/>
                  </a:cxn>
                  <a:cxn ang="0">
                    <a:pos x="0" y="24"/>
                  </a:cxn>
                </a:cxnLst>
                <a:rect l="txL" t="txT" r="txR" b="txB"/>
                <a:pathLst>
                  <a:path w="66" h="24">
                    <a:moveTo>
                      <a:pt x="0" y="24"/>
                    </a:moveTo>
                    <a:lnTo>
                      <a:pt x="66"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48" name="Freeform 104"/>
              <p:cNvSpPr>
                <a:spLocks noEditPoints="1"/>
              </p:cNvSpPr>
              <p:nvPr/>
            </p:nvSpPr>
            <p:spPr>
              <a:xfrm>
                <a:off x="2254" y="3050"/>
                <a:ext cx="66" cy="18"/>
              </a:xfrm>
              <a:custGeom>
                <a:avLst/>
                <a:gdLst>
                  <a:gd name="txL" fmla="*/ 0 w 66"/>
                  <a:gd name="txT" fmla="*/ 0 h 18"/>
                  <a:gd name="txR" fmla="*/ 66 w 66"/>
                  <a:gd name="txB" fmla="*/ 18 h 18"/>
                </a:gdLst>
                <a:ahLst/>
                <a:cxnLst>
                  <a:cxn ang="0">
                    <a:pos x="66" y="18"/>
                  </a:cxn>
                  <a:cxn ang="0">
                    <a:pos x="0" y="0"/>
                  </a:cxn>
                  <a:cxn ang="0">
                    <a:pos x="66" y="18"/>
                  </a:cxn>
                  <a:cxn ang="0">
                    <a:pos x="66" y="18"/>
                  </a:cxn>
                  <a:cxn ang="0">
                    <a:pos x="66" y="18"/>
                  </a:cxn>
                  <a:cxn ang="0">
                    <a:pos x="66" y="18"/>
                  </a:cxn>
                  <a:cxn ang="0">
                    <a:pos x="66" y="18"/>
                  </a:cxn>
                </a:cxnLst>
                <a:rect l="txL" t="txT" r="txR" b="txB"/>
                <a:pathLst>
                  <a:path w="66" h="18">
                    <a:moveTo>
                      <a:pt x="66" y="18"/>
                    </a:moveTo>
                    <a:lnTo>
                      <a:pt x="0" y="0"/>
                    </a:lnTo>
                    <a:lnTo>
                      <a:pt x="66" y="18"/>
                    </a:lnTo>
                    <a:close/>
                    <a:moveTo>
                      <a:pt x="66" y="18"/>
                    </a:moveTo>
                    <a:lnTo>
                      <a:pt x="66"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49" name="Freeform 105"/>
              <p:cNvSpPr>
                <a:spLocks noEditPoints="1"/>
              </p:cNvSpPr>
              <p:nvPr/>
            </p:nvSpPr>
            <p:spPr>
              <a:xfrm>
                <a:off x="2183" y="3026"/>
                <a:ext cx="71" cy="24"/>
              </a:xfrm>
              <a:custGeom>
                <a:avLst/>
                <a:gdLst>
                  <a:gd name="txL" fmla="*/ 0 w 71"/>
                  <a:gd name="txT" fmla="*/ 0 h 24"/>
                  <a:gd name="txR" fmla="*/ 71 w 71"/>
                  <a:gd name="txB" fmla="*/ 24 h 24"/>
                </a:gdLst>
                <a:ahLst/>
                <a:cxnLst>
                  <a:cxn ang="0">
                    <a:pos x="71" y="24"/>
                  </a:cxn>
                  <a:cxn ang="0">
                    <a:pos x="0" y="0"/>
                  </a:cxn>
                  <a:cxn ang="0">
                    <a:pos x="71" y="24"/>
                  </a:cxn>
                  <a:cxn ang="0">
                    <a:pos x="71" y="24"/>
                  </a:cxn>
                  <a:cxn ang="0">
                    <a:pos x="71" y="24"/>
                  </a:cxn>
                  <a:cxn ang="0">
                    <a:pos x="71" y="24"/>
                  </a:cxn>
                  <a:cxn ang="0">
                    <a:pos x="71" y="24"/>
                  </a:cxn>
                </a:cxnLst>
                <a:rect l="txL" t="txT" r="txR" b="txB"/>
                <a:pathLst>
                  <a:path w="71" h="24">
                    <a:moveTo>
                      <a:pt x="71" y="24"/>
                    </a:moveTo>
                    <a:lnTo>
                      <a:pt x="0" y="0"/>
                    </a:lnTo>
                    <a:lnTo>
                      <a:pt x="71" y="24"/>
                    </a:lnTo>
                    <a:close/>
                    <a:moveTo>
                      <a:pt x="71" y="24"/>
                    </a:moveTo>
                    <a:lnTo>
                      <a:pt x="71"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50" name="Freeform 106"/>
              <p:cNvSpPr>
                <a:spLocks noEditPoints="1"/>
              </p:cNvSpPr>
              <p:nvPr/>
            </p:nvSpPr>
            <p:spPr>
              <a:xfrm>
                <a:off x="2183" y="3008"/>
                <a:ext cx="71" cy="18"/>
              </a:xfrm>
              <a:custGeom>
                <a:avLst/>
                <a:gdLst>
                  <a:gd name="txL" fmla="*/ 0 w 71"/>
                  <a:gd name="txT" fmla="*/ 0 h 18"/>
                  <a:gd name="txR" fmla="*/ 71 w 71"/>
                  <a:gd name="txB" fmla="*/ 18 h 18"/>
                </a:gdLst>
                <a:ahLst/>
                <a:cxnLst>
                  <a:cxn ang="0">
                    <a:pos x="0" y="18"/>
                  </a:cxn>
                  <a:cxn ang="0">
                    <a:pos x="71" y="0"/>
                  </a:cxn>
                  <a:cxn ang="0">
                    <a:pos x="0" y="18"/>
                  </a:cxn>
                  <a:cxn ang="0">
                    <a:pos x="0" y="18"/>
                  </a:cxn>
                  <a:cxn ang="0">
                    <a:pos x="0" y="18"/>
                  </a:cxn>
                  <a:cxn ang="0">
                    <a:pos x="0" y="18"/>
                  </a:cxn>
                  <a:cxn ang="0">
                    <a:pos x="0" y="18"/>
                  </a:cxn>
                </a:cxnLst>
                <a:rect l="txL" t="txT" r="txR" b="txB"/>
                <a:pathLst>
                  <a:path w="71" h="18">
                    <a:moveTo>
                      <a:pt x="0" y="18"/>
                    </a:moveTo>
                    <a:lnTo>
                      <a:pt x="71" y="0"/>
                    </a:lnTo>
                    <a:lnTo>
                      <a:pt x="0" y="18"/>
                    </a:lnTo>
                    <a:close/>
                    <a:moveTo>
                      <a:pt x="0" y="18"/>
                    </a:moveTo>
                    <a:lnTo>
                      <a:pt x="0"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51" name="Freeform 107"/>
              <p:cNvSpPr>
                <a:spLocks noEditPoints="1"/>
              </p:cNvSpPr>
              <p:nvPr/>
            </p:nvSpPr>
            <p:spPr>
              <a:xfrm>
                <a:off x="2254" y="2984"/>
                <a:ext cx="66" cy="24"/>
              </a:xfrm>
              <a:custGeom>
                <a:avLst/>
                <a:gdLst>
                  <a:gd name="txL" fmla="*/ 0 w 66"/>
                  <a:gd name="txT" fmla="*/ 0 h 24"/>
                  <a:gd name="txR" fmla="*/ 66 w 66"/>
                  <a:gd name="txB" fmla="*/ 24 h 24"/>
                </a:gdLst>
                <a:ahLst/>
                <a:cxnLst>
                  <a:cxn ang="0">
                    <a:pos x="0" y="24"/>
                  </a:cxn>
                  <a:cxn ang="0">
                    <a:pos x="66" y="0"/>
                  </a:cxn>
                  <a:cxn ang="0">
                    <a:pos x="0" y="24"/>
                  </a:cxn>
                  <a:cxn ang="0">
                    <a:pos x="0" y="24"/>
                  </a:cxn>
                  <a:cxn ang="0">
                    <a:pos x="0" y="24"/>
                  </a:cxn>
                  <a:cxn ang="0">
                    <a:pos x="0" y="24"/>
                  </a:cxn>
                  <a:cxn ang="0">
                    <a:pos x="0" y="24"/>
                  </a:cxn>
                </a:cxnLst>
                <a:rect l="txL" t="txT" r="txR" b="txB"/>
                <a:pathLst>
                  <a:path w="66" h="24">
                    <a:moveTo>
                      <a:pt x="0" y="24"/>
                    </a:moveTo>
                    <a:lnTo>
                      <a:pt x="66"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52" name="Freeform 108"/>
              <p:cNvSpPr>
                <a:spLocks noEditPoints="1"/>
              </p:cNvSpPr>
              <p:nvPr/>
            </p:nvSpPr>
            <p:spPr>
              <a:xfrm>
                <a:off x="2249" y="2966"/>
                <a:ext cx="71" cy="18"/>
              </a:xfrm>
              <a:custGeom>
                <a:avLst/>
                <a:gdLst>
                  <a:gd name="txL" fmla="*/ 0 w 71"/>
                  <a:gd name="txT" fmla="*/ 0 h 18"/>
                  <a:gd name="txR" fmla="*/ 71 w 71"/>
                  <a:gd name="txB" fmla="*/ 18 h 18"/>
                </a:gdLst>
                <a:ahLst/>
                <a:cxnLst>
                  <a:cxn ang="0">
                    <a:pos x="71" y="18"/>
                  </a:cxn>
                  <a:cxn ang="0">
                    <a:pos x="0" y="0"/>
                  </a:cxn>
                  <a:cxn ang="0">
                    <a:pos x="71" y="18"/>
                  </a:cxn>
                  <a:cxn ang="0">
                    <a:pos x="71" y="18"/>
                  </a:cxn>
                  <a:cxn ang="0">
                    <a:pos x="71" y="18"/>
                  </a:cxn>
                  <a:cxn ang="0">
                    <a:pos x="71" y="18"/>
                  </a:cxn>
                  <a:cxn ang="0">
                    <a:pos x="71" y="18"/>
                  </a:cxn>
                </a:cxnLst>
                <a:rect l="txL" t="txT" r="txR" b="txB"/>
                <a:pathLst>
                  <a:path w="71" h="18">
                    <a:moveTo>
                      <a:pt x="71" y="18"/>
                    </a:moveTo>
                    <a:lnTo>
                      <a:pt x="0" y="0"/>
                    </a:lnTo>
                    <a:lnTo>
                      <a:pt x="71" y="18"/>
                    </a:lnTo>
                    <a:close/>
                    <a:moveTo>
                      <a:pt x="71" y="18"/>
                    </a:moveTo>
                    <a:lnTo>
                      <a:pt x="71"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53" name="Freeform 109"/>
              <p:cNvSpPr/>
              <p:nvPr/>
            </p:nvSpPr>
            <p:spPr>
              <a:xfrm>
                <a:off x="3493" y="2572"/>
                <a:ext cx="1" cy="1123"/>
              </a:xfrm>
              <a:custGeom>
                <a:avLst/>
                <a:gdLst>
                  <a:gd name="txL" fmla="*/ 0 w 1"/>
                  <a:gd name="txT" fmla="*/ 0 h 1123"/>
                  <a:gd name="txR" fmla="*/ 1 w 1"/>
                  <a:gd name="txB" fmla="*/ 1123 h 1123"/>
                </a:gdLst>
                <a:ahLst/>
                <a:cxnLst>
                  <a:cxn ang="0">
                    <a:pos x="0" y="0"/>
                  </a:cxn>
                  <a:cxn ang="0">
                    <a:pos x="0" y="1123"/>
                  </a:cxn>
                  <a:cxn ang="0">
                    <a:pos x="0" y="0"/>
                  </a:cxn>
                  <a:cxn ang="0">
                    <a:pos x="0" y="0"/>
                  </a:cxn>
                </a:cxnLst>
                <a:rect l="txL" t="txT" r="txR" b="txB"/>
                <a:pathLst>
                  <a:path w="1" h="1123">
                    <a:moveTo>
                      <a:pt x="0" y="0"/>
                    </a:moveTo>
                    <a:lnTo>
                      <a:pt x="0" y="1123"/>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454" name="Freeform 110"/>
              <p:cNvSpPr/>
              <p:nvPr/>
            </p:nvSpPr>
            <p:spPr>
              <a:xfrm>
                <a:off x="3463" y="2972"/>
                <a:ext cx="53" cy="323"/>
              </a:xfrm>
              <a:custGeom>
                <a:avLst/>
                <a:gdLst>
                  <a:gd name="txL" fmla="*/ 0 w 53"/>
                  <a:gd name="txT" fmla="*/ 0 h 323"/>
                  <a:gd name="txR" fmla="*/ 53 w 53"/>
                  <a:gd name="txB" fmla="*/ 323 h 323"/>
                </a:gdLst>
                <a:ahLst/>
                <a:cxnLst>
                  <a:cxn ang="0">
                    <a:pos x="0" y="0"/>
                  </a:cxn>
                  <a:cxn ang="0">
                    <a:pos x="53" y="0"/>
                  </a:cxn>
                  <a:cxn ang="0">
                    <a:pos x="53" y="323"/>
                  </a:cxn>
                  <a:cxn ang="0">
                    <a:pos x="0" y="323"/>
                  </a:cxn>
                  <a:cxn ang="0">
                    <a:pos x="0" y="0"/>
                  </a:cxn>
                  <a:cxn ang="0">
                    <a:pos x="0" y="0"/>
                  </a:cxn>
                </a:cxnLst>
                <a:rect l="txL" t="txT" r="txR" b="txB"/>
                <a:pathLst>
                  <a:path w="53" h="323">
                    <a:moveTo>
                      <a:pt x="0" y="0"/>
                    </a:moveTo>
                    <a:lnTo>
                      <a:pt x="53" y="0"/>
                    </a:lnTo>
                    <a:lnTo>
                      <a:pt x="53" y="323"/>
                    </a:lnTo>
                    <a:lnTo>
                      <a:pt x="0" y="323"/>
                    </a:lnTo>
                    <a:lnTo>
                      <a:pt x="0" y="0"/>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0455" name="Freeform 111"/>
              <p:cNvSpPr/>
              <p:nvPr/>
            </p:nvSpPr>
            <p:spPr>
              <a:xfrm>
                <a:off x="3421" y="3277"/>
                <a:ext cx="72" cy="24"/>
              </a:xfrm>
              <a:custGeom>
                <a:avLst/>
                <a:gdLst>
                  <a:gd name="txL" fmla="*/ 0 w 72"/>
                  <a:gd name="txT" fmla="*/ 0 h 24"/>
                  <a:gd name="txR" fmla="*/ 72 w 72"/>
                  <a:gd name="txB" fmla="*/ 24 h 24"/>
                </a:gdLst>
                <a:ahLst/>
                <a:cxnLst>
                  <a:cxn ang="0">
                    <a:pos x="72" y="24"/>
                  </a:cxn>
                  <a:cxn ang="0">
                    <a:pos x="0" y="0"/>
                  </a:cxn>
                  <a:cxn ang="0">
                    <a:pos x="72" y="24"/>
                  </a:cxn>
                  <a:cxn ang="0">
                    <a:pos x="72" y="24"/>
                  </a:cxn>
                </a:cxnLst>
                <a:rect l="txL" t="txT" r="txR" b="txB"/>
                <a:pathLst>
                  <a:path w="72" h="24">
                    <a:moveTo>
                      <a:pt x="72" y="24"/>
                    </a:moveTo>
                    <a:lnTo>
                      <a:pt x="0" y="0"/>
                    </a:lnTo>
                    <a:lnTo>
                      <a:pt x="7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56" name="Freeform 112"/>
              <p:cNvSpPr>
                <a:spLocks noEditPoints="1"/>
              </p:cNvSpPr>
              <p:nvPr/>
            </p:nvSpPr>
            <p:spPr>
              <a:xfrm>
                <a:off x="3421" y="3259"/>
                <a:ext cx="72" cy="18"/>
              </a:xfrm>
              <a:custGeom>
                <a:avLst/>
                <a:gdLst>
                  <a:gd name="txL" fmla="*/ 0 w 72"/>
                  <a:gd name="txT" fmla="*/ 0 h 18"/>
                  <a:gd name="txR" fmla="*/ 72 w 72"/>
                  <a:gd name="txB" fmla="*/ 18 h 18"/>
                </a:gdLst>
                <a:ahLst/>
                <a:cxnLst>
                  <a:cxn ang="0">
                    <a:pos x="0" y="18"/>
                  </a:cxn>
                  <a:cxn ang="0">
                    <a:pos x="72" y="0"/>
                  </a:cxn>
                  <a:cxn ang="0">
                    <a:pos x="0" y="18"/>
                  </a:cxn>
                  <a:cxn ang="0">
                    <a:pos x="0" y="18"/>
                  </a:cxn>
                  <a:cxn ang="0">
                    <a:pos x="0" y="18"/>
                  </a:cxn>
                  <a:cxn ang="0">
                    <a:pos x="0" y="18"/>
                  </a:cxn>
                  <a:cxn ang="0">
                    <a:pos x="0" y="18"/>
                  </a:cxn>
                </a:cxnLst>
                <a:rect l="txL" t="txT" r="txR" b="txB"/>
                <a:pathLst>
                  <a:path w="72" h="18">
                    <a:moveTo>
                      <a:pt x="0" y="18"/>
                    </a:moveTo>
                    <a:lnTo>
                      <a:pt x="72" y="0"/>
                    </a:lnTo>
                    <a:lnTo>
                      <a:pt x="0" y="18"/>
                    </a:lnTo>
                    <a:close/>
                    <a:moveTo>
                      <a:pt x="0" y="18"/>
                    </a:moveTo>
                    <a:lnTo>
                      <a:pt x="0"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57" name="Freeform 113"/>
              <p:cNvSpPr>
                <a:spLocks noEditPoints="1"/>
              </p:cNvSpPr>
              <p:nvPr/>
            </p:nvSpPr>
            <p:spPr>
              <a:xfrm>
                <a:off x="3493" y="3235"/>
                <a:ext cx="65" cy="24"/>
              </a:xfrm>
              <a:custGeom>
                <a:avLst/>
                <a:gdLst>
                  <a:gd name="txL" fmla="*/ 0 w 65"/>
                  <a:gd name="txT" fmla="*/ 0 h 24"/>
                  <a:gd name="txR" fmla="*/ 65 w 65"/>
                  <a:gd name="txB" fmla="*/ 24 h 24"/>
                </a:gdLst>
                <a:ahLst/>
                <a:cxnLst>
                  <a:cxn ang="0">
                    <a:pos x="0" y="24"/>
                  </a:cxn>
                  <a:cxn ang="0">
                    <a:pos x="65" y="0"/>
                  </a:cxn>
                  <a:cxn ang="0">
                    <a:pos x="0" y="24"/>
                  </a:cxn>
                  <a:cxn ang="0">
                    <a:pos x="0" y="24"/>
                  </a:cxn>
                  <a:cxn ang="0">
                    <a:pos x="0" y="24"/>
                  </a:cxn>
                  <a:cxn ang="0">
                    <a:pos x="0" y="24"/>
                  </a:cxn>
                  <a:cxn ang="0">
                    <a:pos x="0" y="24"/>
                  </a:cxn>
                </a:cxnLst>
                <a:rect l="txL" t="txT" r="txR" b="txB"/>
                <a:pathLst>
                  <a:path w="65" h="24">
                    <a:moveTo>
                      <a:pt x="0" y="24"/>
                    </a:moveTo>
                    <a:lnTo>
                      <a:pt x="65"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58" name="Freeform 114"/>
              <p:cNvSpPr>
                <a:spLocks noEditPoints="1"/>
              </p:cNvSpPr>
              <p:nvPr/>
            </p:nvSpPr>
            <p:spPr>
              <a:xfrm>
                <a:off x="3493" y="3217"/>
                <a:ext cx="65" cy="18"/>
              </a:xfrm>
              <a:custGeom>
                <a:avLst/>
                <a:gdLst>
                  <a:gd name="txL" fmla="*/ 0 w 65"/>
                  <a:gd name="txT" fmla="*/ 0 h 18"/>
                  <a:gd name="txR" fmla="*/ 65 w 65"/>
                  <a:gd name="txB" fmla="*/ 18 h 18"/>
                </a:gdLst>
                <a:ahLst/>
                <a:cxnLst>
                  <a:cxn ang="0">
                    <a:pos x="65" y="18"/>
                  </a:cxn>
                  <a:cxn ang="0">
                    <a:pos x="0" y="0"/>
                  </a:cxn>
                  <a:cxn ang="0">
                    <a:pos x="65" y="18"/>
                  </a:cxn>
                  <a:cxn ang="0">
                    <a:pos x="65" y="18"/>
                  </a:cxn>
                  <a:cxn ang="0">
                    <a:pos x="65" y="18"/>
                  </a:cxn>
                  <a:cxn ang="0">
                    <a:pos x="65" y="18"/>
                  </a:cxn>
                  <a:cxn ang="0">
                    <a:pos x="65" y="18"/>
                  </a:cxn>
                </a:cxnLst>
                <a:rect l="txL" t="txT" r="txR" b="txB"/>
                <a:pathLst>
                  <a:path w="65" h="18">
                    <a:moveTo>
                      <a:pt x="65" y="18"/>
                    </a:moveTo>
                    <a:lnTo>
                      <a:pt x="0" y="0"/>
                    </a:lnTo>
                    <a:lnTo>
                      <a:pt x="65" y="18"/>
                    </a:lnTo>
                    <a:close/>
                    <a:moveTo>
                      <a:pt x="65" y="18"/>
                    </a:moveTo>
                    <a:lnTo>
                      <a:pt x="65"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59" name="Freeform 115"/>
              <p:cNvSpPr>
                <a:spLocks noEditPoints="1"/>
              </p:cNvSpPr>
              <p:nvPr/>
            </p:nvSpPr>
            <p:spPr>
              <a:xfrm>
                <a:off x="3493" y="3217"/>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60" name="Freeform 116"/>
              <p:cNvSpPr>
                <a:spLocks noEditPoints="1"/>
              </p:cNvSpPr>
              <p:nvPr/>
            </p:nvSpPr>
            <p:spPr>
              <a:xfrm>
                <a:off x="3421" y="3193"/>
                <a:ext cx="72" cy="24"/>
              </a:xfrm>
              <a:custGeom>
                <a:avLst/>
                <a:gdLst>
                  <a:gd name="txL" fmla="*/ 0 w 72"/>
                  <a:gd name="txT" fmla="*/ 0 h 24"/>
                  <a:gd name="txR" fmla="*/ 72 w 72"/>
                  <a:gd name="txB" fmla="*/ 24 h 24"/>
                </a:gdLst>
                <a:ahLst/>
                <a:cxnLst>
                  <a:cxn ang="0">
                    <a:pos x="72" y="24"/>
                  </a:cxn>
                  <a:cxn ang="0">
                    <a:pos x="0" y="0"/>
                  </a:cxn>
                  <a:cxn ang="0">
                    <a:pos x="72" y="24"/>
                  </a:cxn>
                  <a:cxn ang="0">
                    <a:pos x="72" y="24"/>
                  </a:cxn>
                  <a:cxn ang="0">
                    <a:pos x="72" y="24"/>
                  </a:cxn>
                  <a:cxn ang="0">
                    <a:pos x="72" y="24"/>
                  </a:cxn>
                  <a:cxn ang="0">
                    <a:pos x="72" y="24"/>
                  </a:cxn>
                </a:cxnLst>
                <a:rect l="txL" t="txT" r="txR" b="txB"/>
                <a:pathLst>
                  <a:path w="72" h="24">
                    <a:moveTo>
                      <a:pt x="72" y="24"/>
                    </a:moveTo>
                    <a:lnTo>
                      <a:pt x="0" y="0"/>
                    </a:lnTo>
                    <a:lnTo>
                      <a:pt x="72" y="24"/>
                    </a:lnTo>
                    <a:close/>
                    <a:moveTo>
                      <a:pt x="72" y="24"/>
                    </a:moveTo>
                    <a:lnTo>
                      <a:pt x="7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61" name="Freeform 117"/>
              <p:cNvSpPr>
                <a:spLocks noEditPoints="1"/>
              </p:cNvSpPr>
              <p:nvPr/>
            </p:nvSpPr>
            <p:spPr>
              <a:xfrm>
                <a:off x="3421" y="3175"/>
                <a:ext cx="72" cy="18"/>
              </a:xfrm>
              <a:custGeom>
                <a:avLst/>
                <a:gdLst>
                  <a:gd name="txL" fmla="*/ 0 w 72"/>
                  <a:gd name="txT" fmla="*/ 0 h 18"/>
                  <a:gd name="txR" fmla="*/ 72 w 72"/>
                  <a:gd name="txB" fmla="*/ 18 h 18"/>
                </a:gdLst>
                <a:ahLst/>
                <a:cxnLst>
                  <a:cxn ang="0">
                    <a:pos x="0" y="18"/>
                  </a:cxn>
                  <a:cxn ang="0">
                    <a:pos x="72" y="0"/>
                  </a:cxn>
                  <a:cxn ang="0">
                    <a:pos x="0" y="18"/>
                  </a:cxn>
                  <a:cxn ang="0">
                    <a:pos x="0" y="18"/>
                  </a:cxn>
                  <a:cxn ang="0">
                    <a:pos x="0" y="18"/>
                  </a:cxn>
                  <a:cxn ang="0">
                    <a:pos x="0" y="18"/>
                  </a:cxn>
                  <a:cxn ang="0">
                    <a:pos x="0" y="18"/>
                  </a:cxn>
                </a:cxnLst>
                <a:rect l="txL" t="txT" r="txR" b="txB"/>
                <a:pathLst>
                  <a:path w="72" h="18">
                    <a:moveTo>
                      <a:pt x="0" y="18"/>
                    </a:moveTo>
                    <a:lnTo>
                      <a:pt x="72" y="0"/>
                    </a:lnTo>
                    <a:lnTo>
                      <a:pt x="0" y="18"/>
                    </a:lnTo>
                    <a:close/>
                    <a:moveTo>
                      <a:pt x="0" y="18"/>
                    </a:moveTo>
                    <a:lnTo>
                      <a:pt x="0"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62" name="Freeform 118"/>
              <p:cNvSpPr>
                <a:spLocks noEditPoints="1"/>
              </p:cNvSpPr>
              <p:nvPr/>
            </p:nvSpPr>
            <p:spPr>
              <a:xfrm>
                <a:off x="3493" y="3151"/>
                <a:ext cx="65" cy="24"/>
              </a:xfrm>
              <a:custGeom>
                <a:avLst/>
                <a:gdLst>
                  <a:gd name="txL" fmla="*/ 0 w 65"/>
                  <a:gd name="txT" fmla="*/ 0 h 24"/>
                  <a:gd name="txR" fmla="*/ 65 w 65"/>
                  <a:gd name="txB" fmla="*/ 24 h 24"/>
                </a:gdLst>
                <a:ahLst/>
                <a:cxnLst>
                  <a:cxn ang="0">
                    <a:pos x="0" y="24"/>
                  </a:cxn>
                  <a:cxn ang="0">
                    <a:pos x="65" y="0"/>
                  </a:cxn>
                  <a:cxn ang="0">
                    <a:pos x="0" y="24"/>
                  </a:cxn>
                  <a:cxn ang="0">
                    <a:pos x="0" y="24"/>
                  </a:cxn>
                  <a:cxn ang="0">
                    <a:pos x="0" y="24"/>
                  </a:cxn>
                  <a:cxn ang="0">
                    <a:pos x="0" y="24"/>
                  </a:cxn>
                  <a:cxn ang="0">
                    <a:pos x="0" y="24"/>
                  </a:cxn>
                </a:cxnLst>
                <a:rect l="txL" t="txT" r="txR" b="txB"/>
                <a:pathLst>
                  <a:path w="65" h="24">
                    <a:moveTo>
                      <a:pt x="0" y="24"/>
                    </a:moveTo>
                    <a:lnTo>
                      <a:pt x="65"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63" name="Freeform 119"/>
              <p:cNvSpPr>
                <a:spLocks noEditPoints="1"/>
              </p:cNvSpPr>
              <p:nvPr/>
            </p:nvSpPr>
            <p:spPr>
              <a:xfrm>
                <a:off x="3493" y="3133"/>
                <a:ext cx="65" cy="18"/>
              </a:xfrm>
              <a:custGeom>
                <a:avLst/>
                <a:gdLst>
                  <a:gd name="txL" fmla="*/ 0 w 65"/>
                  <a:gd name="txT" fmla="*/ 0 h 18"/>
                  <a:gd name="txR" fmla="*/ 65 w 65"/>
                  <a:gd name="txB" fmla="*/ 18 h 18"/>
                </a:gdLst>
                <a:ahLst/>
                <a:cxnLst>
                  <a:cxn ang="0">
                    <a:pos x="65" y="18"/>
                  </a:cxn>
                  <a:cxn ang="0">
                    <a:pos x="0" y="0"/>
                  </a:cxn>
                  <a:cxn ang="0">
                    <a:pos x="65" y="18"/>
                  </a:cxn>
                  <a:cxn ang="0">
                    <a:pos x="65" y="18"/>
                  </a:cxn>
                  <a:cxn ang="0">
                    <a:pos x="65" y="18"/>
                  </a:cxn>
                  <a:cxn ang="0">
                    <a:pos x="65" y="18"/>
                  </a:cxn>
                  <a:cxn ang="0">
                    <a:pos x="65" y="18"/>
                  </a:cxn>
                </a:cxnLst>
                <a:rect l="txL" t="txT" r="txR" b="txB"/>
                <a:pathLst>
                  <a:path w="65" h="18">
                    <a:moveTo>
                      <a:pt x="65" y="18"/>
                    </a:moveTo>
                    <a:lnTo>
                      <a:pt x="0" y="0"/>
                    </a:lnTo>
                    <a:lnTo>
                      <a:pt x="65" y="18"/>
                    </a:lnTo>
                    <a:close/>
                    <a:moveTo>
                      <a:pt x="65" y="18"/>
                    </a:moveTo>
                    <a:lnTo>
                      <a:pt x="65"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64" name="Freeform 120"/>
              <p:cNvSpPr>
                <a:spLocks noEditPoints="1"/>
              </p:cNvSpPr>
              <p:nvPr/>
            </p:nvSpPr>
            <p:spPr>
              <a:xfrm>
                <a:off x="3421" y="3109"/>
                <a:ext cx="72" cy="24"/>
              </a:xfrm>
              <a:custGeom>
                <a:avLst/>
                <a:gdLst>
                  <a:gd name="txL" fmla="*/ 0 w 72"/>
                  <a:gd name="txT" fmla="*/ 0 h 24"/>
                  <a:gd name="txR" fmla="*/ 72 w 72"/>
                  <a:gd name="txB" fmla="*/ 24 h 24"/>
                </a:gdLst>
                <a:ahLst/>
                <a:cxnLst>
                  <a:cxn ang="0">
                    <a:pos x="72" y="24"/>
                  </a:cxn>
                  <a:cxn ang="0">
                    <a:pos x="0" y="0"/>
                  </a:cxn>
                  <a:cxn ang="0">
                    <a:pos x="72" y="24"/>
                  </a:cxn>
                  <a:cxn ang="0">
                    <a:pos x="72" y="24"/>
                  </a:cxn>
                  <a:cxn ang="0">
                    <a:pos x="72" y="24"/>
                  </a:cxn>
                  <a:cxn ang="0">
                    <a:pos x="72" y="24"/>
                  </a:cxn>
                  <a:cxn ang="0">
                    <a:pos x="72" y="24"/>
                  </a:cxn>
                </a:cxnLst>
                <a:rect l="txL" t="txT" r="txR" b="txB"/>
                <a:pathLst>
                  <a:path w="72" h="24">
                    <a:moveTo>
                      <a:pt x="72" y="24"/>
                    </a:moveTo>
                    <a:lnTo>
                      <a:pt x="0" y="0"/>
                    </a:lnTo>
                    <a:lnTo>
                      <a:pt x="72" y="24"/>
                    </a:lnTo>
                    <a:close/>
                    <a:moveTo>
                      <a:pt x="72" y="24"/>
                    </a:moveTo>
                    <a:lnTo>
                      <a:pt x="7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65" name="Freeform 121"/>
              <p:cNvSpPr>
                <a:spLocks noEditPoints="1"/>
              </p:cNvSpPr>
              <p:nvPr/>
            </p:nvSpPr>
            <p:spPr>
              <a:xfrm>
                <a:off x="3421" y="3092"/>
                <a:ext cx="72" cy="17"/>
              </a:xfrm>
              <a:custGeom>
                <a:avLst/>
                <a:gdLst>
                  <a:gd name="txL" fmla="*/ 0 w 72"/>
                  <a:gd name="txT" fmla="*/ 0 h 17"/>
                  <a:gd name="txR" fmla="*/ 72 w 72"/>
                  <a:gd name="txB" fmla="*/ 17 h 17"/>
                </a:gdLst>
                <a:ahLst/>
                <a:cxnLst>
                  <a:cxn ang="0">
                    <a:pos x="0" y="17"/>
                  </a:cxn>
                  <a:cxn ang="0">
                    <a:pos x="72" y="0"/>
                  </a:cxn>
                  <a:cxn ang="0">
                    <a:pos x="0" y="17"/>
                  </a:cxn>
                  <a:cxn ang="0">
                    <a:pos x="0" y="17"/>
                  </a:cxn>
                  <a:cxn ang="0">
                    <a:pos x="0" y="17"/>
                  </a:cxn>
                  <a:cxn ang="0">
                    <a:pos x="0" y="17"/>
                  </a:cxn>
                  <a:cxn ang="0">
                    <a:pos x="0" y="17"/>
                  </a:cxn>
                </a:cxnLst>
                <a:rect l="txL" t="txT" r="txR" b="txB"/>
                <a:pathLst>
                  <a:path w="72" h="17">
                    <a:moveTo>
                      <a:pt x="0" y="17"/>
                    </a:moveTo>
                    <a:lnTo>
                      <a:pt x="72" y="0"/>
                    </a:lnTo>
                    <a:lnTo>
                      <a:pt x="0" y="17"/>
                    </a:lnTo>
                    <a:close/>
                    <a:moveTo>
                      <a:pt x="0" y="17"/>
                    </a:moveTo>
                    <a:lnTo>
                      <a:pt x="0" y="17"/>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66" name="Freeform 122"/>
              <p:cNvSpPr>
                <a:spLocks noEditPoints="1"/>
              </p:cNvSpPr>
              <p:nvPr/>
            </p:nvSpPr>
            <p:spPr>
              <a:xfrm>
                <a:off x="3493" y="3068"/>
                <a:ext cx="65" cy="24"/>
              </a:xfrm>
              <a:custGeom>
                <a:avLst/>
                <a:gdLst>
                  <a:gd name="txL" fmla="*/ 0 w 65"/>
                  <a:gd name="txT" fmla="*/ 0 h 24"/>
                  <a:gd name="txR" fmla="*/ 65 w 65"/>
                  <a:gd name="txB" fmla="*/ 24 h 24"/>
                </a:gdLst>
                <a:ahLst/>
                <a:cxnLst>
                  <a:cxn ang="0">
                    <a:pos x="0" y="24"/>
                  </a:cxn>
                  <a:cxn ang="0">
                    <a:pos x="65" y="0"/>
                  </a:cxn>
                  <a:cxn ang="0">
                    <a:pos x="0" y="24"/>
                  </a:cxn>
                  <a:cxn ang="0">
                    <a:pos x="0" y="24"/>
                  </a:cxn>
                  <a:cxn ang="0">
                    <a:pos x="0" y="24"/>
                  </a:cxn>
                  <a:cxn ang="0">
                    <a:pos x="0" y="24"/>
                  </a:cxn>
                  <a:cxn ang="0">
                    <a:pos x="0" y="24"/>
                  </a:cxn>
                </a:cxnLst>
                <a:rect l="txL" t="txT" r="txR" b="txB"/>
                <a:pathLst>
                  <a:path w="65" h="24">
                    <a:moveTo>
                      <a:pt x="0" y="24"/>
                    </a:moveTo>
                    <a:lnTo>
                      <a:pt x="65"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67" name="Freeform 123"/>
              <p:cNvSpPr>
                <a:spLocks noEditPoints="1"/>
              </p:cNvSpPr>
              <p:nvPr/>
            </p:nvSpPr>
            <p:spPr>
              <a:xfrm>
                <a:off x="3493" y="3050"/>
                <a:ext cx="65" cy="18"/>
              </a:xfrm>
              <a:custGeom>
                <a:avLst/>
                <a:gdLst>
                  <a:gd name="txL" fmla="*/ 0 w 65"/>
                  <a:gd name="txT" fmla="*/ 0 h 18"/>
                  <a:gd name="txR" fmla="*/ 65 w 65"/>
                  <a:gd name="txB" fmla="*/ 18 h 18"/>
                </a:gdLst>
                <a:ahLst/>
                <a:cxnLst>
                  <a:cxn ang="0">
                    <a:pos x="65" y="18"/>
                  </a:cxn>
                  <a:cxn ang="0">
                    <a:pos x="0" y="0"/>
                  </a:cxn>
                  <a:cxn ang="0">
                    <a:pos x="65" y="18"/>
                  </a:cxn>
                  <a:cxn ang="0">
                    <a:pos x="65" y="18"/>
                  </a:cxn>
                  <a:cxn ang="0">
                    <a:pos x="65" y="18"/>
                  </a:cxn>
                  <a:cxn ang="0">
                    <a:pos x="65" y="18"/>
                  </a:cxn>
                  <a:cxn ang="0">
                    <a:pos x="65" y="18"/>
                  </a:cxn>
                </a:cxnLst>
                <a:rect l="txL" t="txT" r="txR" b="txB"/>
                <a:pathLst>
                  <a:path w="65" h="18">
                    <a:moveTo>
                      <a:pt x="65" y="18"/>
                    </a:moveTo>
                    <a:lnTo>
                      <a:pt x="0" y="0"/>
                    </a:lnTo>
                    <a:lnTo>
                      <a:pt x="65" y="18"/>
                    </a:lnTo>
                    <a:close/>
                    <a:moveTo>
                      <a:pt x="65" y="18"/>
                    </a:moveTo>
                    <a:lnTo>
                      <a:pt x="65"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68" name="Freeform 124"/>
              <p:cNvSpPr>
                <a:spLocks noEditPoints="1"/>
              </p:cNvSpPr>
              <p:nvPr/>
            </p:nvSpPr>
            <p:spPr>
              <a:xfrm>
                <a:off x="3421" y="3026"/>
                <a:ext cx="72" cy="24"/>
              </a:xfrm>
              <a:custGeom>
                <a:avLst/>
                <a:gdLst>
                  <a:gd name="txL" fmla="*/ 0 w 72"/>
                  <a:gd name="txT" fmla="*/ 0 h 24"/>
                  <a:gd name="txR" fmla="*/ 72 w 72"/>
                  <a:gd name="txB" fmla="*/ 24 h 24"/>
                </a:gdLst>
                <a:ahLst/>
                <a:cxnLst>
                  <a:cxn ang="0">
                    <a:pos x="72" y="24"/>
                  </a:cxn>
                  <a:cxn ang="0">
                    <a:pos x="0" y="0"/>
                  </a:cxn>
                  <a:cxn ang="0">
                    <a:pos x="72" y="24"/>
                  </a:cxn>
                  <a:cxn ang="0">
                    <a:pos x="72" y="24"/>
                  </a:cxn>
                  <a:cxn ang="0">
                    <a:pos x="72" y="24"/>
                  </a:cxn>
                  <a:cxn ang="0">
                    <a:pos x="72" y="24"/>
                  </a:cxn>
                  <a:cxn ang="0">
                    <a:pos x="72" y="24"/>
                  </a:cxn>
                </a:cxnLst>
                <a:rect l="txL" t="txT" r="txR" b="txB"/>
                <a:pathLst>
                  <a:path w="72" h="24">
                    <a:moveTo>
                      <a:pt x="72" y="24"/>
                    </a:moveTo>
                    <a:lnTo>
                      <a:pt x="0" y="0"/>
                    </a:lnTo>
                    <a:lnTo>
                      <a:pt x="72" y="24"/>
                    </a:lnTo>
                    <a:close/>
                    <a:moveTo>
                      <a:pt x="72" y="24"/>
                    </a:moveTo>
                    <a:lnTo>
                      <a:pt x="72"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69" name="Freeform 125"/>
              <p:cNvSpPr>
                <a:spLocks noEditPoints="1"/>
              </p:cNvSpPr>
              <p:nvPr/>
            </p:nvSpPr>
            <p:spPr>
              <a:xfrm>
                <a:off x="3421" y="3008"/>
                <a:ext cx="72" cy="18"/>
              </a:xfrm>
              <a:custGeom>
                <a:avLst/>
                <a:gdLst>
                  <a:gd name="txL" fmla="*/ 0 w 72"/>
                  <a:gd name="txT" fmla="*/ 0 h 18"/>
                  <a:gd name="txR" fmla="*/ 72 w 72"/>
                  <a:gd name="txB" fmla="*/ 18 h 18"/>
                </a:gdLst>
                <a:ahLst/>
                <a:cxnLst>
                  <a:cxn ang="0">
                    <a:pos x="0" y="18"/>
                  </a:cxn>
                  <a:cxn ang="0">
                    <a:pos x="72" y="0"/>
                  </a:cxn>
                  <a:cxn ang="0">
                    <a:pos x="0" y="18"/>
                  </a:cxn>
                  <a:cxn ang="0">
                    <a:pos x="0" y="18"/>
                  </a:cxn>
                  <a:cxn ang="0">
                    <a:pos x="0" y="18"/>
                  </a:cxn>
                  <a:cxn ang="0">
                    <a:pos x="0" y="18"/>
                  </a:cxn>
                  <a:cxn ang="0">
                    <a:pos x="0" y="18"/>
                  </a:cxn>
                </a:cxnLst>
                <a:rect l="txL" t="txT" r="txR" b="txB"/>
                <a:pathLst>
                  <a:path w="72" h="18">
                    <a:moveTo>
                      <a:pt x="0" y="18"/>
                    </a:moveTo>
                    <a:lnTo>
                      <a:pt x="72" y="0"/>
                    </a:lnTo>
                    <a:lnTo>
                      <a:pt x="0" y="18"/>
                    </a:lnTo>
                    <a:close/>
                    <a:moveTo>
                      <a:pt x="0" y="18"/>
                    </a:moveTo>
                    <a:lnTo>
                      <a:pt x="0"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70" name="Freeform 126"/>
              <p:cNvSpPr>
                <a:spLocks noEditPoints="1"/>
              </p:cNvSpPr>
              <p:nvPr/>
            </p:nvSpPr>
            <p:spPr>
              <a:xfrm>
                <a:off x="3493" y="2984"/>
                <a:ext cx="65" cy="24"/>
              </a:xfrm>
              <a:custGeom>
                <a:avLst/>
                <a:gdLst>
                  <a:gd name="txL" fmla="*/ 0 w 65"/>
                  <a:gd name="txT" fmla="*/ 0 h 24"/>
                  <a:gd name="txR" fmla="*/ 65 w 65"/>
                  <a:gd name="txB" fmla="*/ 24 h 24"/>
                </a:gdLst>
                <a:ahLst/>
                <a:cxnLst>
                  <a:cxn ang="0">
                    <a:pos x="0" y="24"/>
                  </a:cxn>
                  <a:cxn ang="0">
                    <a:pos x="65" y="0"/>
                  </a:cxn>
                  <a:cxn ang="0">
                    <a:pos x="0" y="24"/>
                  </a:cxn>
                  <a:cxn ang="0">
                    <a:pos x="0" y="24"/>
                  </a:cxn>
                  <a:cxn ang="0">
                    <a:pos x="0" y="24"/>
                  </a:cxn>
                  <a:cxn ang="0">
                    <a:pos x="0" y="24"/>
                  </a:cxn>
                  <a:cxn ang="0">
                    <a:pos x="0" y="24"/>
                  </a:cxn>
                </a:cxnLst>
                <a:rect l="txL" t="txT" r="txR" b="txB"/>
                <a:pathLst>
                  <a:path w="65" h="24">
                    <a:moveTo>
                      <a:pt x="0" y="24"/>
                    </a:moveTo>
                    <a:lnTo>
                      <a:pt x="65"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71" name="Freeform 127"/>
              <p:cNvSpPr>
                <a:spLocks noEditPoints="1"/>
              </p:cNvSpPr>
              <p:nvPr/>
            </p:nvSpPr>
            <p:spPr>
              <a:xfrm>
                <a:off x="3487" y="2966"/>
                <a:ext cx="71" cy="18"/>
              </a:xfrm>
              <a:custGeom>
                <a:avLst/>
                <a:gdLst>
                  <a:gd name="txL" fmla="*/ 0 w 71"/>
                  <a:gd name="txT" fmla="*/ 0 h 18"/>
                  <a:gd name="txR" fmla="*/ 71 w 71"/>
                  <a:gd name="txB" fmla="*/ 18 h 18"/>
                </a:gdLst>
                <a:ahLst/>
                <a:cxnLst>
                  <a:cxn ang="0">
                    <a:pos x="71" y="18"/>
                  </a:cxn>
                  <a:cxn ang="0">
                    <a:pos x="0" y="0"/>
                  </a:cxn>
                  <a:cxn ang="0">
                    <a:pos x="71" y="18"/>
                  </a:cxn>
                  <a:cxn ang="0">
                    <a:pos x="71" y="18"/>
                  </a:cxn>
                  <a:cxn ang="0">
                    <a:pos x="71" y="18"/>
                  </a:cxn>
                  <a:cxn ang="0">
                    <a:pos x="71" y="18"/>
                  </a:cxn>
                  <a:cxn ang="0">
                    <a:pos x="71" y="18"/>
                  </a:cxn>
                </a:cxnLst>
                <a:rect l="txL" t="txT" r="txR" b="txB"/>
                <a:pathLst>
                  <a:path w="71" h="18">
                    <a:moveTo>
                      <a:pt x="71" y="18"/>
                    </a:moveTo>
                    <a:lnTo>
                      <a:pt x="0" y="0"/>
                    </a:lnTo>
                    <a:lnTo>
                      <a:pt x="71" y="18"/>
                    </a:lnTo>
                    <a:close/>
                    <a:moveTo>
                      <a:pt x="71" y="18"/>
                    </a:moveTo>
                    <a:lnTo>
                      <a:pt x="71"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72" name="Freeform 128"/>
              <p:cNvSpPr/>
              <p:nvPr/>
            </p:nvSpPr>
            <p:spPr>
              <a:xfrm>
                <a:off x="1489" y="2512"/>
                <a:ext cx="66" cy="108"/>
              </a:xfrm>
              <a:custGeom>
                <a:avLst/>
                <a:gdLst>
                  <a:gd name="txL" fmla="*/ 0 w 66"/>
                  <a:gd name="txT" fmla="*/ 0 h 108"/>
                  <a:gd name="txR" fmla="*/ 66 w 66"/>
                  <a:gd name="txB" fmla="*/ 108 h 108"/>
                </a:gdLst>
                <a:ahLst/>
                <a:cxnLst>
                  <a:cxn ang="0">
                    <a:pos x="6" y="108"/>
                  </a:cxn>
                  <a:cxn ang="0">
                    <a:pos x="66" y="108"/>
                  </a:cxn>
                  <a:cxn ang="0">
                    <a:pos x="66" y="108"/>
                  </a:cxn>
                  <a:cxn ang="0">
                    <a:pos x="48" y="102"/>
                  </a:cxn>
                  <a:cxn ang="0">
                    <a:pos x="42" y="96"/>
                  </a:cxn>
                  <a:cxn ang="0">
                    <a:pos x="42" y="0"/>
                  </a:cxn>
                  <a:cxn ang="0">
                    <a:pos x="42" y="0"/>
                  </a:cxn>
                  <a:cxn ang="0">
                    <a:pos x="0" y="12"/>
                  </a:cxn>
                  <a:cxn ang="0">
                    <a:pos x="0" y="18"/>
                  </a:cxn>
                  <a:cxn ang="0">
                    <a:pos x="12" y="12"/>
                  </a:cxn>
                  <a:cxn ang="0">
                    <a:pos x="18" y="12"/>
                  </a:cxn>
                  <a:cxn ang="0">
                    <a:pos x="24" y="18"/>
                  </a:cxn>
                  <a:cxn ang="0">
                    <a:pos x="24" y="18"/>
                  </a:cxn>
                  <a:cxn ang="0">
                    <a:pos x="24" y="96"/>
                  </a:cxn>
                  <a:cxn ang="0">
                    <a:pos x="18" y="108"/>
                  </a:cxn>
                  <a:cxn ang="0">
                    <a:pos x="6" y="108"/>
                  </a:cxn>
                  <a:cxn ang="0">
                    <a:pos x="6" y="108"/>
                  </a:cxn>
                </a:cxnLst>
                <a:rect l="txL" t="txT" r="txR" b="txB"/>
                <a:pathLst>
                  <a:path w="66" h="108">
                    <a:moveTo>
                      <a:pt x="6" y="108"/>
                    </a:moveTo>
                    <a:lnTo>
                      <a:pt x="66" y="108"/>
                    </a:lnTo>
                    <a:lnTo>
                      <a:pt x="48" y="102"/>
                    </a:lnTo>
                    <a:lnTo>
                      <a:pt x="42" y="96"/>
                    </a:lnTo>
                    <a:lnTo>
                      <a:pt x="42" y="0"/>
                    </a:lnTo>
                    <a:lnTo>
                      <a:pt x="0" y="12"/>
                    </a:lnTo>
                    <a:lnTo>
                      <a:pt x="0" y="18"/>
                    </a:lnTo>
                    <a:lnTo>
                      <a:pt x="12" y="12"/>
                    </a:lnTo>
                    <a:lnTo>
                      <a:pt x="18" y="12"/>
                    </a:lnTo>
                    <a:lnTo>
                      <a:pt x="24" y="18"/>
                    </a:lnTo>
                    <a:lnTo>
                      <a:pt x="24" y="96"/>
                    </a:lnTo>
                    <a:lnTo>
                      <a:pt x="18" y="108"/>
                    </a:lnTo>
                    <a:lnTo>
                      <a:pt x="6" y="10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473" name="Freeform 129"/>
              <p:cNvSpPr/>
              <p:nvPr/>
            </p:nvSpPr>
            <p:spPr>
              <a:xfrm>
                <a:off x="4180" y="2512"/>
                <a:ext cx="84" cy="108"/>
              </a:xfrm>
              <a:custGeom>
                <a:avLst/>
                <a:gdLst>
                  <a:gd name="txL" fmla="*/ 0 w 84"/>
                  <a:gd name="txT" fmla="*/ 0 h 108"/>
                  <a:gd name="txR" fmla="*/ 84 w 84"/>
                  <a:gd name="txB" fmla="*/ 108 h 108"/>
                </a:gdLst>
                <a:ahLst/>
                <a:cxnLst>
                  <a:cxn ang="0">
                    <a:pos x="24" y="54"/>
                  </a:cxn>
                  <a:cxn ang="0">
                    <a:pos x="42" y="54"/>
                  </a:cxn>
                  <a:cxn ang="0">
                    <a:pos x="54" y="60"/>
                  </a:cxn>
                  <a:cxn ang="0">
                    <a:pos x="66" y="72"/>
                  </a:cxn>
                  <a:cxn ang="0">
                    <a:pos x="72" y="78"/>
                  </a:cxn>
                  <a:cxn ang="0">
                    <a:pos x="66" y="96"/>
                  </a:cxn>
                  <a:cxn ang="0">
                    <a:pos x="36" y="102"/>
                  </a:cxn>
                  <a:cxn ang="0">
                    <a:pos x="24" y="102"/>
                  </a:cxn>
                  <a:cxn ang="0">
                    <a:pos x="6" y="96"/>
                  </a:cxn>
                  <a:cxn ang="0">
                    <a:pos x="0" y="96"/>
                  </a:cxn>
                  <a:cxn ang="0">
                    <a:pos x="0" y="102"/>
                  </a:cxn>
                  <a:cxn ang="0">
                    <a:pos x="6" y="108"/>
                  </a:cxn>
                  <a:cxn ang="0">
                    <a:pos x="12" y="108"/>
                  </a:cxn>
                  <a:cxn ang="0">
                    <a:pos x="24" y="108"/>
                  </a:cxn>
                  <a:cxn ang="0">
                    <a:pos x="48" y="108"/>
                  </a:cxn>
                  <a:cxn ang="0">
                    <a:pos x="66" y="102"/>
                  </a:cxn>
                  <a:cxn ang="0">
                    <a:pos x="78" y="90"/>
                  </a:cxn>
                  <a:cxn ang="0">
                    <a:pos x="84" y="72"/>
                  </a:cxn>
                  <a:cxn ang="0">
                    <a:pos x="84" y="60"/>
                  </a:cxn>
                  <a:cxn ang="0">
                    <a:pos x="72" y="54"/>
                  </a:cxn>
                  <a:cxn ang="0">
                    <a:pos x="54" y="42"/>
                  </a:cxn>
                  <a:cxn ang="0">
                    <a:pos x="72" y="30"/>
                  </a:cxn>
                  <a:cxn ang="0">
                    <a:pos x="78" y="18"/>
                  </a:cxn>
                  <a:cxn ang="0">
                    <a:pos x="72" y="6"/>
                  </a:cxn>
                  <a:cxn ang="0">
                    <a:pos x="60" y="0"/>
                  </a:cxn>
                  <a:cxn ang="0">
                    <a:pos x="42" y="0"/>
                  </a:cxn>
                  <a:cxn ang="0">
                    <a:pos x="18" y="6"/>
                  </a:cxn>
                  <a:cxn ang="0">
                    <a:pos x="6" y="12"/>
                  </a:cxn>
                  <a:cxn ang="0">
                    <a:pos x="0" y="24"/>
                  </a:cxn>
                  <a:cxn ang="0">
                    <a:pos x="0" y="24"/>
                  </a:cxn>
                  <a:cxn ang="0">
                    <a:pos x="12" y="12"/>
                  </a:cxn>
                  <a:cxn ang="0">
                    <a:pos x="24" y="6"/>
                  </a:cxn>
                  <a:cxn ang="0">
                    <a:pos x="36" y="6"/>
                  </a:cxn>
                  <a:cxn ang="0">
                    <a:pos x="54" y="12"/>
                  </a:cxn>
                  <a:cxn ang="0">
                    <a:pos x="60" y="24"/>
                  </a:cxn>
                  <a:cxn ang="0">
                    <a:pos x="60" y="36"/>
                  </a:cxn>
                  <a:cxn ang="0">
                    <a:pos x="48" y="42"/>
                  </a:cxn>
                  <a:cxn ang="0">
                    <a:pos x="24" y="54"/>
                  </a:cxn>
                  <a:cxn ang="0">
                    <a:pos x="24" y="54"/>
                  </a:cxn>
                </a:cxnLst>
                <a:rect l="txL" t="txT" r="txR" b="txB"/>
                <a:pathLst>
                  <a:path w="84" h="108">
                    <a:moveTo>
                      <a:pt x="24" y="54"/>
                    </a:moveTo>
                    <a:lnTo>
                      <a:pt x="42" y="54"/>
                    </a:lnTo>
                    <a:lnTo>
                      <a:pt x="54" y="60"/>
                    </a:lnTo>
                    <a:lnTo>
                      <a:pt x="66" y="72"/>
                    </a:lnTo>
                    <a:lnTo>
                      <a:pt x="72" y="78"/>
                    </a:lnTo>
                    <a:lnTo>
                      <a:pt x="66" y="96"/>
                    </a:lnTo>
                    <a:lnTo>
                      <a:pt x="36" y="102"/>
                    </a:lnTo>
                    <a:lnTo>
                      <a:pt x="24" y="102"/>
                    </a:lnTo>
                    <a:lnTo>
                      <a:pt x="6" y="96"/>
                    </a:lnTo>
                    <a:lnTo>
                      <a:pt x="0" y="96"/>
                    </a:lnTo>
                    <a:lnTo>
                      <a:pt x="0" y="102"/>
                    </a:lnTo>
                    <a:lnTo>
                      <a:pt x="6" y="108"/>
                    </a:lnTo>
                    <a:lnTo>
                      <a:pt x="12" y="108"/>
                    </a:lnTo>
                    <a:lnTo>
                      <a:pt x="24" y="108"/>
                    </a:lnTo>
                    <a:lnTo>
                      <a:pt x="48" y="108"/>
                    </a:lnTo>
                    <a:lnTo>
                      <a:pt x="66" y="102"/>
                    </a:lnTo>
                    <a:lnTo>
                      <a:pt x="78" y="90"/>
                    </a:lnTo>
                    <a:lnTo>
                      <a:pt x="84" y="72"/>
                    </a:lnTo>
                    <a:lnTo>
                      <a:pt x="84" y="60"/>
                    </a:lnTo>
                    <a:lnTo>
                      <a:pt x="72" y="54"/>
                    </a:lnTo>
                    <a:lnTo>
                      <a:pt x="54" y="42"/>
                    </a:lnTo>
                    <a:lnTo>
                      <a:pt x="72" y="30"/>
                    </a:lnTo>
                    <a:lnTo>
                      <a:pt x="78" y="18"/>
                    </a:lnTo>
                    <a:lnTo>
                      <a:pt x="72" y="6"/>
                    </a:lnTo>
                    <a:lnTo>
                      <a:pt x="60" y="0"/>
                    </a:lnTo>
                    <a:lnTo>
                      <a:pt x="42" y="0"/>
                    </a:lnTo>
                    <a:lnTo>
                      <a:pt x="18" y="6"/>
                    </a:lnTo>
                    <a:lnTo>
                      <a:pt x="6" y="12"/>
                    </a:lnTo>
                    <a:lnTo>
                      <a:pt x="0" y="24"/>
                    </a:lnTo>
                    <a:lnTo>
                      <a:pt x="12" y="12"/>
                    </a:lnTo>
                    <a:lnTo>
                      <a:pt x="24" y="6"/>
                    </a:lnTo>
                    <a:lnTo>
                      <a:pt x="36" y="6"/>
                    </a:lnTo>
                    <a:lnTo>
                      <a:pt x="54" y="12"/>
                    </a:lnTo>
                    <a:lnTo>
                      <a:pt x="60" y="24"/>
                    </a:lnTo>
                    <a:lnTo>
                      <a:pt x="60" y="36"/>
                    </a:lnTo>
                    <a:lnTo>
                      <a:pt x="48" y="42"/>
                    </a:lnTo>
                    <a:lnTo>
                      <a:pt x="24" y="5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474" name="Freeform 130"/>
              <p:cNvSpPr/>
              <p:nvPr/>
            </p:nvSpPr>
            <p:spPr>
              <a:xfrm>
                <a:off x="1471" y="3629"/>
                <a:ext cx="102" cy="107"/>
              </a:xfrm>
              <a:custGeom>
                <a:avLst/>
                <a:gdLst>
                  <a:gd name="txL" fmla="*/ 0 w 102"/>
                  <a:gd name="txT" fmla="*/ 0 h 107"/>
                  <a:gd name="txR" fmla="*/ 102 w 102"/>
                  <a:gd name="txB" fmla="*/ 107 h 107"/>
                </a:gdLst>
                <a:ahLst/>
                <a:cxnLst>
                  <a:cxn ang="0">
                    <a:pos x="102" y="90"/>
                  </a:cxn>
                  <a:cxn ang="0">
                    <a:pos x="96" y="90"/>
                  </a:cxn>
                  <a:cxn ang="0">
                    <a:pos x="84" y="96"/>
                  </a:cxn>
                  <a:cxn ang="0">
                    <a:pos x="72" y="96"/>
                  </a:cxn>
                  <a:cxn ang="0">
                    <a:pos x="18" y="96"/>
                  </a:cxn>
                  <a:cxn ang="0">
                    <a:pos x="60" y="72"/>
                  </a:cxn>
                  <a:cxn ang="0">
                    <a:pos x="66" y="66"/>
                  </a:cxn>
                  <a:cxn ang="0">
                    <a:pos x="78" y="54"/>
                  </a:cxn>
                  <a:cxn ang="0">
                    <a:pos x="84" y="42"/>
                  </a:cxn>
                  <a:cxn ang="0">
                    <a:pos x="90" y="30"/>
                  </a:cxn>
                  <a:cxn ang="0">
                    <a:pos x="84" y="18"/>
                  </a:cxn>
                  <a:cxn ang="0">
                    <a:pos x="78" y="6"/>
                  </a:cxn>
                  <a:cxn ang="0">
                    <a:pos x="48" y="0"/>
                  </a:cxn>
                  <a:cxn ang="0">
                    <a:pos x="18" y="6"/>
                  </a:cxn>
                  <a:cxn ang="0">
                    <a:pos x="6" y="18"/>
                  </a:cxn>
                  <a:cxn ang="0">
                    <a:pos x="0" y="36"/>
                  </a:cxn>
                  <a:cxn ang="0">
                    <a:pos x="0" y="36"/>
                  </a:cxn>
                  <a:cxn ang="0">
                    <a:pos x="12" y="18"/>
                  </a:cxn>
                  <a:cxn ang="0">
                    <a:pos x="24" y="12"/>
                  </a:cxn>
                  <a:cxn ang="0">
                    <a:pos x="36" y="12"/>
                  </a:cxn>
                  <a:cxn ang="0">
                    <a:pos x="54" y="18"/>
                  </a:cxn>
                  <a:cxn ang="0">
                    <a:pos x="60" y="24"/>
                  </a:cxn>
                  <a:cxn ang="0">
                    <a:pos x="66" y="36"/>
                  </a:cxn>
                  <a:cxn ang="0">
                    <a:pos x="60" y="54"/>
                  </a:cxn>
                  <a:cxn ang="0">
                    <a:pos x="54" y="66"/>
                  </a:cxn>
                  <a:cxn ang="0">
                    <a:pos x="36" y="78"/>
                  </a:cxn>
                  <a:cxn ang="0">
                    <a:pos x="0" y="107"/>
                  </a:cxn>
                  <a:cxn ang="0">
                    <a:pos x="0" y="107"/>
                  </a:cxn>
                  <a:cxn ang="0">
                    <a:pos x="84" y="107"/>
                  </a:cxn>
                  <a:cxn ang="0">
                    <a:pos x="102" y="90"/>
                  </a:cxn>
                </a:cxnLst>
                <a:rect l="txL" t="txT" r="txR" b="txB"/>
                <a:pathLst>
                  <a:path w="102" h="107">
                    <a:moveTo>
                      <a:pt x="102" y="90"/>
                    </a:moveTo>
                    <a:lnTo>
                      <a:pt x="96" y="90"/>
                    </a:lnTo>
                    <a:lnTo>
                      <a:pt x="84" y="96"/>
                    </a:lnTo>
                    <a:lnTo>
                      <a:pt x="72" y="96"/>
                    </a:lnTo>
                    <a:lnTo>
                      <a:pt x="18" y="96"/>
                    </a:lnTo>
                    <a:lnTo>
                      <a:pt x="60" y="72"/>
                    </a:lnTo>
                    <a:lnTo>
                      <a:pt x="66" y="66"/>
                    </a:lnTo>
                    <a:lnTo>
                      <a:pt x="78" y="54"/>
                    </a:lnTo>
                    <a:lnTo>
                      <a:pt x="84" y="42"/>
                    </a:lnTo>
                    <a:lnTo>
                      <a:pt x="90" y="30"/>
                    </a:lnTo>
                    <a:lnTo>
                      <a:pt x="84" y="18"/>
                    </a:lnTo>
                    <a:lnTo>
                      <a:pt x="78" y="6"/>
                    </a:lnTo>
                    <a:lnTo>
                      <a:pt x="48" y="0"/>
                    </a:lnTo>
                    <a:lnTo>
                      <a:pt x="18" y="6"/>
                    </a:lnTo>
                    <a:lnTo>
                      <a:pt x="6" y="18"/>
                    </a:lnTo>
                    <a:lnTo>
                      <a:pt x="0" y="36"/>
                    </a:lnTo>
                    <a:lnTo>
                      <a:pt x="12" y="18"/>
                    </a:lnTo>
                    <a:lnTo>
                      <a:pt x="24" y="12"/>
                    </a:lnTo>
                    <a:lnTo>
                      <a:pt x="36" y="12"/>
                    </a:lnTo>
                    <a:lnTo>
                      <a:pt x="54" y="18"/>
                    </a:lnTo>
                    <a:lnTo>
                      <a:pt x="60" y="24"/>
                    </a:lnTo>
                    <a:lnTo>
                      <a:pt x="66" y="36"/>
                    </a:lnTo>
                    <a:lnTo>
                      <a:pt x="60" y="54"/>
                    </a:lnTo>
                    <a:lnTo>
                      <a:pt x="54" y="66"/>
                    </a:lnTo>
                    <a:lnTo>
                      <a:pt x="36" y="78"/>
                    </a:lnTo>
                    <a:lnTo>
                      <a:pt x="0" y="107"/>
                    </a:lnTo>
                    <a:lnTo>
                      <a:pt x="84" y="107"/>
                    </a:lnTo>
                    <a:lnTo>
                      <a:pt x="102" y="9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475" name="Freeform 131"/>
              <p:cNvSpPr>
                <a:spLocks noEditPoints="1"/>
              </p:cNvSpPr>
              <p:nvPr/>
            </p:nvSpPr>
            <p:spPr>
              <a:xfrm>
                <a:off x="4174" y="3629"/>
                <a:ext cx="108" cy="113"/>
              </a:xfrm>
              <a:custGeom>
                <a:avLst/>
                <a:gdLst>
                  <a:gd name="txL" fmla="*/ 0 w 108"/>
                  <a:gd name="txT" fmla="*/ 0 h 113"/>
                  <a:gd name="txR" fmla="*/ 108 w 108"/>
                  <a:gd name="txB" fmla="*/ 113 h 113"/>
                </a:gdLst>
                <a:ahLst/>
                <a:cxnLst>
                  <a:cxn ang="0">
                    <a:pos x="108" y="72"/>
                  </a:cxn>
                  <a:cxn ang="0">
                    <a:pos x="84" y="72"/>
                  </a:cxn>
                  <a:cxn ang="0">
                    <a:pos x="84" y="0"/>
                  </a:cxn>
                  <a:cxn ang="0">
                    <a:pos x="72" y="0"/>
                  </a:cxn>
                  <a:cxn ang="0">
                    <a:pos x="0" y="72"/>
                  </a:cxn>
                  <a:cxn ang="0">
                    <a:pos x="0" y="84"/>
                  </a:cxn>
                  <a:cxn ang="0">
                    <a:pos x="66" y="84"/>
                  </a:cxn>
                  <a:cxn ang="0">
                    <a:pos x="66" y="113"/>
                  </a:cxn>
                  <a:cxn ang="0">
                    <a:pos x="84" y="113"/>
                  </a:cxn>
                  <a:cxn ang="0">
                    <a:pos x="84" y="84"/>
                  </a:cxn>
                  <a:cxn ang="0">
                    <a:pos x="108" y="84"/>
                  </a:cxn>
                  <a:cxn ang="0">
                    <a:pos x="108" y="72"/>
                  </a:cxn>
                  <a:cxn ang="0">
                    <a:pos x="66" y="72"/>
                  </a:cxn>
                  <a:cxn ang="0">
                    <a:pos x="12" y="72"/>
                  </a:cxn>
                  <a:cxn ang="0">
                    <a:pos x="66" y="18"/>
                  </a:cxn>
                  <a:cxn ang="0">
                    <a:pos x="66" y="18"/>
                  </a:cxn>
                  <a:cxn ang="0">
                    <a:pos x="66" y="72"/>
                  </a:cxn>
                </a:cxnLst>
                <a:rect l="txL" t="txT" r="txR" b="txB"/>
                <a:pathLst>
                  <a:path w="108" h="113">
                    <a:moveTo>
                      <a:pt x="108" y="72"/>
                    </a:moveTo>
                    <a:lnTo>
                      <a:pt x="84" y="72"/>
                    </a:lnTo>
                    <a:lnTo>
                      <a:pt x="84" y="0"/>
                    </a:lnTo>
                    <a:lnTo>
                      <a:pt x="72" y="0"/>
                    </a:lnTo>
                    <a:lnTo>
                      <a:pt x="0" y="72"/>
                    </a:lnTo>
                    <a:lnTo>
                      <a:pt x="0" y="84"/>
                    </a:lnTo>
                    <a:lnTo>
                      <a:pt x="66" y="84"/>
                    </a:lnTo>
                    <a:lnTo>
                      <a:pt x="66" y="113"/>
                    </a:lnTo>
                    <a:lnTo>
                      <a:pt x="84" y="113"/>
                    </a:lnTo>
                    <a:lnTo>
                      <a:pt x="84" y="84"/>
                    </a:lnTo>
                    <a:lnTo>
                      <a:pt x="108" y="84"/>
                    </a:lnTo>
                    <a:lnTo>
                      <a:pt x="108" y="72"/>
                    </a:lnTo>
                    <a:close/>
                    <a:moveTo>
                      <a:pt x="66" y="72"/>
                    </a:moveTo>
                    <a:lnTo>
                      <a:pt x="12" y="72"/>
                    </a:lnTo>
                    <a:lnTo>
                      <a:pt x="66" y="18"/>
                    </a:lnTo>
                    <a:lnTo>
                      <a:pt x="66" y="7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476" name="Freeform 132"/>
              <p:cNvSpPr/>
              <p:nvPr/>
            </p:nvSpPr>
            <p:spPr>
              <a:xfrm>
                <a:off x="2745" y="3898"/>
                <a:ext cx="60" cy="137"/>
              </a:xfrm>
              <a:custGeom>
                <a:avLst/>
                <a:gdLst>
                  <a:gd name="txL" fmla="*/ 0 w 60"/>
                  <a:gd name="txT" fmla="*/ 0 h 137"/>
                  <a:gd name="txR" fmla="*/ 60 w 60"/>
                  <a:gd name="txB" fmla="*/ 137 h 137"/>
                </a:gdLst>
                <a:ahLst/>
                <a:cxnLst>
                  <a:cxn ang="0">
                    <a:pos x="60" y="0"/>
                  </a:cxn>
                  <a:cxn ang="0">
                    <a:pos x="36" y="12"/>
                  </a:cxn>
                  <a:cxn ang="0">
                    <a:pos x="18" y="24"/>
                  </a:cxn>
                  <a:cxn ang="0">
                    <a:pos x="6" y="42"/>
                  </a:cxn>
                  <a:cxn ang="0">
                    <a:pos x="0" y="65"/>
                  </a:cxn>
                  <a:cxn ang="0">
                    <a:pos x="6" y="95"/>
                  </a:cxn>
                  <a:cxn ang="0">
                    <a:pos x="18" y="113"/>
                  </a:cxn>
                  <a:cxn ang="0">
                    <a:pos x="36" y="125"/>
                  </a:cxn>
                  <a:cxn ang="0">
                    <a:pos x="54" y="137"/>
                  </a:cxn>
                  <a:cxn ang="0">
                    <a:pos x="60" y="131"/>
                  </a:cxn>
                  <a:cxn ang="0">
                    <a:pos x="36" y="113"/>
                  </a:cxn>
                  <a:cxn ang="0">
                    <a:pos x="24" y="95"/>
                  </a:cxn>
                  <a:cxn ang="0">
                    <a:pos x="18" y="77"/>
                  </a:cxn>
                  <a:cxn ang="0">
                    <a:pos x="18" y="65"/>
                  </a:cxn>
                  <a:cxn ang="0">
                    <a:pos x="24" y="42"/>
                  </a:cxn>
                  <a:cxn ang="0">
                    <a:pos x="30" y="24"/>
                  </a:cxn>
                  <a:cxn ang="0">
                    <a:pos x="60" y="0"/>
                  </a:cxn>
                  <a:cxn ang="0">
                    <a:pos x="60" y="0"/>
                  </a:cxn>
                </a:cxnLst>
                <a:rect l="txL" t="txT" r="txR" b="txB"/>
                <a:pathLst>
                  <a:path w="60" h="137">
                    <a:moveTo>
                      <a:pt x="60" y="0"/>
                    </a:moveTo>
                    <a:lnTo>
                      <a:pt x="36" y="12"/>
                    </a:lnTo>
                    <a:lnTo>
                      <a:pt x="18" y="24"/>
                    </a:lnTo>
                    <a:lnTo>
                      <a:pt x="6" y="42"/>
                    </a:lnTo>
                    <a:lnTo>
                      <a:pt x="0" y="65"/>
                    </a:lnTo>
                    <a:lnTo>
                      <a:pt x="6" y="95"/>
                    </a:lnTo>
                    <a:lnTo>
                      <a:pt x="18" y="113"/>
                    </a:lnTo>
                    <a:lnTo>
                      <a:pt x="36" y="125"/>
                    </a:lnTo>
                    <a:lnTo>
                      <a:pt x="54" y="137"/>
                    </a:lnTo>
                    <a:lnTo>
                      <a:pt x="60" y="131"/>
                    </a:lnTo>
                    <a:lnTo>
                      <a:pt x="36" y="113"/>
                    </a:lnTo>
                    <a:lnTo>
                      <a:pt x="24" y="95"/>
                    </a:lnTo>
                    <a:lnTo>
                      <a:pt x="18" y="77"/>
                    </a:lnTo>
                    <a:lnTo>
                      <a:pt x="18" y="65"/>
                    </a:lnTo>
                    <a:lnTo>
                      <a:pt x="24" y="42"/>
                    </a:lnTo>
                    <a:lnTo>
                      <a:pt x="30" y="24"/>
                    </a:lnTo>
                    <a:lnTo>
                      <a:pt x="6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477" name="Freeform 133"/>
              <p:cNvSpPr>
                <a:spLocks noEditPoints="1"/>
              </p:cNvSpPr>
              <p:nvPr/>
            </p:nvSpPr>
            <p:spPr>
              <a:xfrm>
                <a:off x="2811" y="3898"/>
                <a:ext cx="107" cy="107"/>
              </a:xfrm>
              <a:custGeom>
                <a:avLst/>
                <a:gdLst>
                  <a:gd name="txL" fmla="*/ 0 w 107"/>
                  <a:gd name="txT" fmla="*/ 0 h 107"/>
                  <a:gd name="txR" fmla="*/ 107 w 107"/>
                  <a:gd name="txB" fmla="*/ 107 h 107"/>
                </a:gdLst>
                <a:ahLst/>
                <a:cxnLst>
                  <a:cxn ang="0">
                    <a:pos x="36" y="53"/>
                  </a:cxn>
                  <a:cxn ang="0">
                    <a:pos x="42" y="47"/>
                  </a:cxn>
                  <a:cxn ang="0">
                    <a:pos x="60" y="42"/>
                  </a:cxn>
                  <a:cxn ang="0">
                    <a:pos x="71" y="47"/>
                  </a:cxn>
                  <a:cxn ang="0">
                    <a:pos x="83" y="53"/>
                  </a:cxn>
                  <a:cxn ang="0">
                    <a:pos x="89" y="77"/>
                  </a:cxn>
                  <a:cxn ang="0">
                    <a:pos x="83" y="89"/>
                  </a:cxn>
                  <a:cxn ang="0">
                    <a:pos x="77" y="101"/>
                  </a:cxn>
                  <a:cxn ang="0">
                    <a:pos x="60" y="101"/>
                  </a:cxn>
                  <a:cxn ang="0">
                    <a:pos x="48" y="101"/>
                  </a:cxn>
                  <a:cxn ang="0">
                    <a:pos x="42" y="101"/>
                  </a:cxn>
                  <a:cxn ang="0">
                    <a:pos x="36" y="95"/>
                  </a:cxn>
                  <a:cxn ang="0">
                    <a:pos x="36" y="53"/>
                  </a:cxn>
                  <a:cxn ang="0">
                    <a:pos x="18" y="101"/>
                  </a:cxn>
                  <a:cxn ang="0">
                    <a:pos x="24" y="107"/>
                  </a:cxn>
                  <a:cxn ang="0">
                    <a:pos x="30" y="107"/>
                  </a:cxn>
                  <a:cxn ang="0">
                    <a:pos x="54" y="107"/>
                  </a:cxn>
                  <a:cxn ang="0">
                    <a:pos x="77" y="101"/>
                  </a:cxn>
                  <a:cxn ang="0">
                    <a:pos x="95" y="95"/>
                  </a:cxn>
                  <a:cxn ang="0">
                    <a:pos x="107" y="83"/>
                  </a:cxn>
                  <a:cxn ang="0">
                    <a:pos x="107" y="71"/>
                  </a:cxn>
                  <a:cxn ang="0">
                    <a:pos x="95" y="47"/>
                  </a:cxn>
                  <a:cxn ang="0">
                    <a:pos x="83" y="42"/>
                  </a:cxn>
                  <a:cxn ang="0">
                    <a:pos x="66" y="36"/>
                  </a:cxn>
                  <a:cxn ang="0">
                    <a:pos x="42" y="42"/>
                  </a:cxn>
                  <a:cxn ang="0">
                    <a:pos x="36" y="47"/>
                  </a:cxn>
                  <a:cxn ang="0">
                    <a:pos x="36" y="47"/>
                  </a:cxn>
                  <a:cxn ang="0">
                    <a:pos x="36" y="0"/>
                  </a:cxn>
                  <a:cxn ang="0">
                    <a:pos x="36" y="0"/>
                  </a:cxn>
                  <a:cxn ang="0">
                    <a:pos x="18" y="0"/>
                  </a:cxn>
                  <a:cxn ang="0">
                    <a:pos x="0" y="6"/>
                  </a:cxn>
                  <a:cxn ang="0">
                    <a:pos x="0" y="6"/>
                  </a:cxn>
                  <a:cxn ang="0">
                    <a:pos x="6" y="6"/>
                  </a:cxn>
                  <a:cxn ang="0">
                    <a:pos x="6" y="6"/>
                  </a:cxn>
                  <a:cxn ang="0">
                    <a:pos x="18" y="12"/>
                  </a:cxn>
                  <a:cxn ang="0">
                    <a:pos x="18" y="12"/>
                  </a:cxn>
                  <a:cxn ang="0">
                    <a:pos x="18" y="101"/>
                  </a:cxn>
                </a:cxnLst>
                <a:rect l="txL" t="txT" r="txR" b="txB"/>
                <a:pathLst>
                  <a:path w="107" h="107">
                    <a:moveTo>
                      <a:pt x="36" y="53"/>
                    </a:moveTo>
                    <a:lnTo>
                      <a:pt x="42" y="47"/>
                    </a:lnTo>
                    <a:lnTo>
                      <a:pt x="60" y="42"/>
                    </a:lnTo>
                    <a:lnTo>
                      <a:pt x="71" y="47"/>
                    </a:lnTo>
                    <a:lnTo>
                      <a:pt x="83" y="53"/>
                    </a:lnTo>
                    <a:lnTo>
                      <a:pt x="89" y="77"/>
                    </a:lnTo>
                    <a:lnTo>
                      <a:pt x="83" y="89"/>
                    </a:lnTo>
                    <a:lnTo>
                      <a:pt x="77" y="101"/>
                    </a:lnTo>
                    <a:lnTo>
                      <a:pt x="60" y="101"/>
                    </a:lnTo>
                    <a:lnTo>
                      <a:pt x="48" y="101"/>
                    </a:lnTo>
                    <a:lnTo>
                      <a:pt x="42" y="101"/>
                    </a:lnTo>
                    <a:lnTo>
                      <a:pt x="36" y="95"/>
                    </a:lnTo>
                    <a:lnTo>
                      <a:pt x="36" y="53"/>
                    </a:lnTo>
                    <a:close/>
                    <a:moveTo>
                      <a:pt x="18" y="101"/>
                    </a:moveTo>
                    <a:lnTo>
                      <a:pt x="24" y="107"/>
                    </a:lnTo>
                    <a:lnTo>
                      <a:pt x="30" y="107"/>
                    </a:lnTo>
                    <a:lnTo>
                      <a:pt x="54" y="107"/>
                    </a:lnTo>
                    <a:lnTo>
                      <a:pt x="77" y="101"/>
                    </a:lnTo>
                    <a:lnTo>
                      <a:pt x="95" y="95"/>
                    </a:lnTo>
                    <a:lnTo>
                      <a:pt x="107" y="83"/>
                    </a:lnTo>
                    <a:lnTo>
                      <a:pt x="107" y="71"/>
                    </a:lnTo>
                    <a:lnTo>
                      <a:pt x="95" y="47"/>
                    </a:lnTo>
                    <a:lnTo>
                      <a:pt x="83" y="42"/>
                    </a:lnTo>
                    <a:lnTo>
                      <a:pt x="66" y="36"/>
                    </a:lnTo>
                    <a:lnTo>
                      <a:pt x="42" y="42"/>
                    </a:lnTo>
                    <a:lnTo>
                      <a:pt x="36" y="47"/>
                    </a:lnTo>
                    <a:lnTo>
                      <a:pt x="36" y="0"/>
                    </a:lnTo>
                    <a:lnTo>
                      <a:pt x="18" y="0"/>
                    </a:lnTo>
                    <a:lnTo>
                      <a:pt x="0" y="6"/>
                    </a:lnTo>
                    <a:lnTo>
                      <a:pt x="6" y="6"/>
                    </a:lnTo>
                    <a:lnTo>
                      <a:pt x="18" y="12"/>
                    </a:lnTo>
                    <a:lnTo>
                      <a:pt x="18" y="10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478" name="Freeform 134"/>
              <p:cNvSpPr/>
              <p:nvPr/>
            </p:nvSpPr>
            <p:spPr>
              <a:xfrm>
                <a:off x="2930" y="3898"/>
                <a:ext cx="60" cy="137"/>
              </a:xfrm>
              <a:custGeom>
                <a:avLst/>
                <a:gdLst>
                  <a:gd name="txL" fmla="*/ 0 w 60"/>
                  <a:gd name="txT" fmla="*/ 0 h 137"/>
                  <a:gd name="txR" fmla="*/ 60 w 60"/>
                  <a:gd name="txB" fmla="*/ 137 h 137"/>
                </a:gdLst>
                <a:ahLst/>
                <a:cxnLst>
                  <a:cxn ang="0">
                    <a:pos x="6" y="137"/>
                  </a:cxn>
                  <a:cxn ang="0">
                    <a:pos x="42" y="107"/>
                  </a:cxn>
                  <a:cxn ang="0">
                    <a:pos x="54" y="89"/>
                  </a:cxn>
                  <a:cxn ang="0">
                    <a:pos x="60" y="71"/>
                  </a:cxn>
                  <a:cxn ang="0">
                    <a:pos x="54" y="42"/>
                  </a:cxn>
                  <a:cxn ang="0">
                    <a:pos x="42" y="24"/>
                  </a:cxn>
                  <a:cxn ang="0">
                    <a:pos x="24" y="12"/>
                  </a:cxn>
                  <a:cxn ang="0">
                    <a:pos x="6" y="0"/>
                  </a:cxn>
                  <a:cxn ang="0">
                    <a:pos x="0" y="0"/>
                  </a:cxn>
                  <a:cxn ang="0">
                    <a:pos x="24" y="18"/>
                  </a:cxn>
                  <a:cxn ang="0">
                    <a:pos x="36" y="36"/>
                  </a:cxn>
                  <a:cxn ang="0">
                    <a:pos x="42" y="53"/>
                  </a:cxn>
                  <a:cxn ang="0">
                    <a:pos x="42" y="71"/>
                  </a:cxn>
                  <a:cxn ang="0">
                    <a:pos x="36" y="95"/>
                  </a:cxn>
                  <a:cxn ang="0">
                    <a:pos x="30" y="113"/>
                  </a:cxn>
                  <a:cxn ang="0">
                    <a:pos x="12" y="125"/>
                  </a:cxn>
                  <a:cxn ang="0">
                    <a:pos x="0" y="131"/>
                  </a:cxn>
                  <a:cxn ang="0">
                    <a:pos x="6" y="137"/>
                  </a:cxn>
                </a:cxnLst>
                <a:rect l="txL" t="txT" r="txR" b="txB"/>
                <a:pathLst>
                  <a:path w="60" h="137">
                    <a:moveTo>
                      <a:pt x="6" y="137"/>
                    </a:moveTo>
                    <a:lnTo>
                      <a:pt x="42" y="107"/>
                    </a:lnTo>
                    <a:lnTo>
                      <a:pt x="54" y="89"/>
                    </a:lnTo>
                    <a:lnTo>
                      <a:pt x="60" y="71"/>
                    </a:lnTo>
                    <a:lnTo>
                      <a:pt x="54" y="42"/>
                    </a:lnTo>
                    <a:lnTo>
                      <a:pt x="42" y="24"/>
                    </a:lnTo>
                    <a:lnTo>
                      <a:pt x="24" y="12"/>
                    </a:lnTo>
                    <a:lnTo>
                      <a:pt x="6" y="0"/>
                    </a:lnTo>
                    <a:lnTo>
                      <a:pt x="0" y="0"/>
                    </a:lnTo>
                    <a:lnTo>
                      <a:pt x="24" y="18"/>
                    </a:lnTo>
                    <a:lnTo>
                      <a:pt x="36" y="36"/>
                    </a:lnTo>
                    <a:lnTo>
                      <a:pt x="42" y="53"/>
                    </a:lnTo>
                    <a:lnTo>
                      <a:pt x="42" y="71"/>
                    </a:lnTo>
                    <a:lnTo>
                      <a:pt x="36" y="95"/>
                    </a:lnTo>
                    <a:lnTo>
                      <a:pt x="30" y="113"/>
                    </a:lnTo>
                    <a:lnTo>
                      <a:pt x="12" y="125"/>
                    </a:lnTo>
                    <a:lnTo>
                      <a:pt x="0" y="131"/>
                    </a:lnTo>
                    <a:lnTo>
                      <a:pt x="6" y="13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479" name="Freeform 135"/>
              <p:cNvSpPr/>
              <p:nvPr/>
            </p:nvSpPr>
            <p:spPr>
              <a:xfrm>
                <a:off x="2643" y="2548"/>
                <a:ext cx="455" cy="42"/>
              </a:xfrm>
              <a:custGeom>
                <a:avLst/>
                <a:gdLst>
                  <a:gd name="txL" fmla="*/ 0 w 455"/>
                  <a:gd name="txT" fmla="*/ 0 h 42"/>
                  <a:gd name="txR" fmla="*/ 455 w 455"/>
                  <a:gd name="txB" fmla="*/ 42 h 42"/>
                </a:gdLst>
                <a:ahLst/>
                <a:cxnLst>
                  <a:cxn ang="0">
                    <a:pos x="0" y="42"/>
                  </a:cxn>
                  <a:cxn ang="0">
                    <a:pos x="0" y="0"/>
                  </a:cxn>
                  <a:cxn ang="0">
                    <a:pos x="455" y="0"/>
                  </a:cxn>
                  <a:cxn ang="0">
                    <a:pos x="455" y="42"/>
                  </a:cxn>
                  <a:cxn ang="0">
                    <a:pos x="0" y="42"/>
                  </a:cxn>
                  <a:cxn ang="0">
                    <a:pos x="0" y="42"/>
                  </a:cxn>
                </a:cxnLst>
                <a:rect l="txL" t="txT" r="txR" b="txB"/>
                <a:pathLst>
                  <a:path w="455" h="42">
                    <a:moveTo>
                      <a:pt x="0" y="42"/>
                    </a:moveTo>
                    <a:lnTo>
                      <a:pt x="0" y="0"/>
                    </a:lnTo>
                    <a:lnTo>
                      <a:pt x="455" y="0"/>
                    </a:lnTo>
                    <a:lnTo>
                      <a:pt x="455" y="42"/>
                    </a:lnTo>
                    <a:lnTo>
                      <a:pt x="0" y="42"/>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0480" name="Freeform 136"/>
              <p:cNvSpPr/>
              <p:nvPr/>
            </p:nvSpPr>
            <p:spPr>
              <a:xfrm>
                <a:off x="3080" y="2572"/>
                <a:ext cx="24" cy="48"/>
              </a:xfrm>
              <a:custGeom>
                <a:avLst/>
                <a:gdLst>
                  <a:gd name="txL" fmla="*/ 0 w 24"/>
                  <a:gd name="txT" fmla="*/ 0 h 48"/>
                  <a:gd name="txR" fmla="*/ 24 w 24"/>
                  <a:gd name="txB" fmla="*/ 48 h 48"/>
                </a:gdLst>
                <a:ahLst/>
                <a:cxnLst>
                  <a:cxn ang="0">
                    <a:pos x="24" y="0"/>
                  </a:cxn>
                  <a:cxn ang="0">
                    <a:pos x="0" y="48"/>
                  </a:cxn>
                  <a:cxn ang="0">
                    <a:pos x="24" y="0"/>
                  </a:cxn>
                  <a:cxn ang="0">
                    <a:pos x="24" y="0"/>
                  </a:cxn>
                </a:cxnLst>
                <a:rect l="txL" t="txT" r="txR" b="txB"/>
                <a:pathLst>
                  <a:path w="24" h="48">
                    <a:moveTo>
                      <a:pt x="24" y="0"/>
                    </a:moveTo>
                    <a:lnTo>
                      <a:pt x="0" y="48"/>
                    </a:ln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81" name="Freeform 137"/>
              <p:cNvSpPr>
                <a:spLocks noEditPoints="1"/>
              </p:cNvSpPr>
              <p:nvPr/>
            </p:nvSpPr>
            <p:spPr>
              <a:xfrm>
                <a:off x="3050" y="2572"/>
                <a:ext cx="30" cy="48"/>
              </a:xfrm>
              <a:custGeom>
                <a:avLst/>
                <a:gdLst>
                  <a:gd name="txL" fmla="*/ 0 w 30"/>
                  <a:gd name="txT" fmla="*/ 0 h 48"/>
                  <a:gd name="txR" fmla="*/ 30 w 30"/>
                  <a:gd name="txB" fmla="*/ 48 h 48"/>
                </a:gdLst>
                <a:ahLst/>
                <a:cxnLst>
                  <a:cxn ang="0">
                    <a:pos x="30" y="48"/>
                  </a:cxn>
                  <a:cxn ang="0">
                    <a:pos x="0" y="0"/>
                  </a:cxn>
                  <a:cxn ang="0">
                    <a:pos x="30" y="48"/>
                  </a:cxn>
                  <a:cxn ang="0">
                    <a:pos x="30" y="48"/>
                  </a:cxn>
                  <a:cxn ang="0">
                    <a:pos x="30" y="48"/>
                  </a:cxn>
                  <a:cxn ang="0">
                    <a:pos x="30" y="48"/>
                  </a:cxn>
                  <a:cxn ang="0">
                    <a:pos x="30" y="48"/>
                  </a:cxn>
                </a:cxnLst>
                <a:rect l="txL" t="txT" r="txR" b="txB"/>
                <a:pathLst>
                  <a:path w="30" h="48">
                    <a:moveTo>
                      <a:pt x="30" y="48"/>
                    </a:moveTo>
                    <a:lnTo>
                      <a:pt x="0" y="0"/>
                    </a:lnTo>
                    <a:lnTo>
                      <a:pt x="30" y="48"/>
                    </a:lnTo>
                    <a:close/>
                    <a:moveTo>
                      <a:pt x="30" y="48"/>
                    </a:moveTo>
                    <a:lnTo>
                      <a:pt x="30" y="4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82" name="Freeform 138"/>
              <p:cNvSpPr>
                <a:spLocks noEditPoints="1"/>
              </p:cNvSpPr>
              <p:nvPr/>
            </p:nvSpPr>
            <p:spPr>
              <a:xfrm>
                <a:off x="3020" y="2518"/>
                <a:ext cx="30" cy="54"/>
              </a:xfrm>
              <a:custGeom>
                <a:avLst/>
                <a:gdLst>
                  <a:gd name="txL" fmla="*/ 0 w 30"/>
                  <a:gd name="txT" fmla="*/ 0 h 54"/>
                  <a:gd name="txR" fmla="*/ 30 w 30"/>
                  <a:gd name="txB" fmla="*/ 54 h 54"/>
                </a:gdLst>
                <a:ahLst/>
                <a:cxnLst>
                  <a:cxn ang="0">
                    <a:pos x="30" y="54"/>
                  </a:cxn>
                  <a:cxn ang="0">
                    <a:pos x="0" y="0"/>
                  </a:cxn>
                  <a:cxn ang="0">
                    <a:pos x="30" y="54"/>
                  </a:cxn>
                  <a:cxn ang="0">
                    <a:pos x="30" y="54"/>
                  </a:cxn>
                  <a:cxn ang="0">
                    <a:pos x="30" y="54"/>
                  </a:cxn>
                  <a:cxn ang="0">
                    <a:pos x="30" y="54"/>
                  </a:cxn>
                  <a:cxn ang="0">
                    <a:pos x="30" y="54"/>
                  </a:cxn>
                </a:cxnLst>
                <a:rect l="txL" t="txT" r="txR" b="txB"/>
                <a:pathLst>
                  <a:path w="30" h="54">
                    <a:moveTo>
                      <a:pt x="30" y="54"/>
                    </a:moveTo>
                    <a:lnTo>
                      <a:pt x="0" y="0"/>
                    </a:lnTo>
                    <a:lnTo>
                      <a:pt x="30" y="54"/>
                    </a:lnTo>
                    <a:close/>
                    <a:moveTo>
                      <a:pt x="30" y="54"/>
                    </a:moveTo>
                    <a:lnTo>
                      <a:pt x="30" y="5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83" name="Freeform 139"/>
              <p:cNvSpPr>
                <a:spLocks noEditPoints="1"/>
              </p:cNvSpPr>
              <p:nvPr/>
            </p:nvSpPr>
            <p:spPr>
              <a:xfrm>
                <a:off x="2990" y="2518"/>
                <a:ext cx="30" cy="54"/>
              </a:xfrm>
              <a:custGeom>
                <a:avLst/>
                <a:gdLst>
                  <a:gd name="txL" fmla="*/ 0 w 30"/>
                  <a:gd name="txT" fmla="*/ 0 h 54"/>
                  <a:gd name="txR" fmla="*/ 30 w 30"/>
                  <a:gd name="txB" fmla="*/ 54 h 54"/>
                </a:gdLst>
                <a:ahLst/>
                <a:cxnLst>
                  <a:cxn ang="0">
                    <a:pos x="30" y="0"/>
                  </a:cxn>
                  <a:cxn ang="0">
                    <a:pos x="0" y="54"/>
                  </a:cxn>
                  <a:cxn ang="0">
                    <a:pos x="30" y="0"/>
                  </a:cxn>
                  <a:cxn ang="0">
                    <a:pos x="30" y="0"/>
                  </a:cxn>
                  <a:cxn ang="0">
                    <a:pos x="30" y="0"/>
                  </a:cxn>
                  <a:cxn ang="0">
                    <a:pos x="30" y="0"/>
                  </a:cxn>
                  <a:cxn ang="0">
                    <a:pos x="30" y="0"/>
                  </a:cxn>
                </a:cxnLst>
                <a:rect l="txL" t="txT" r="txR" b="txB"/>
                <a:pathLst>
                  <a:path w="30" h="54">
                    <a:moveTo>
                      <a:pt x="30" y="0"/>
                    </a:moveTo>
                    <a:lnTo>
                      <a:pt x="0" y="54"/>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84" name="Freeform 140"/>
              <p:cNvSpPr>
                <a:spLocks noEditPoints="1"/>
              </p:cNvSpPr>
              <p:nvPr/>
            </p:nvSpPr>
            <p:spPr>
              <a:xfrm>
                <a:off x="2990" y="2572"/>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85" name="Freeform 141"/>
              <p:cNvSpPr>
                <a:spLocks noEditPoints="1"/>
              </p:cNvSpPr>
              <p:nvPr/>
            </p:nvSpPr>
            <p:spPr>
              <a:xfrm>
                <a:off x="2960" y="2572"/>
                <a:ext cx="30" cy="48"/>
              </a:xfrm>
              <a:custGeom>
                <a:avLst/>
                <a:gdLst>
                  <a:gd name="txL" fmla="*/ 0 w 30"/>
                  <a:gd name="txT" fmla="*/ 0 h 48"/>
                  <a:gd name="txR" fmla="*/ 30 w 30"/>
                  <a:gd name="txB" fmla="*/ 48 h 48"/>
                </a:gdLst>
                <a:ahLst/>
                <a:cxnLst>
                  <a:cxn ang="0">
                    <a:pos x="30" y="0"/>
                  </a:cxn>
                  <a:cxn ang="0">
                    <a:pos x="0" y="48"/>
                  </a:cxn>
                  <a:cxn ang="0">
                    <a:pos x="30" y="0"/>
                  </a:cxn>
                  <a:cxn ang="0">
                    <a:pos x="30" y="0"/>
                  </a:cxn>
                  <a:cxn ang="0">
                    <a:pos x="30" y="0"/>
                  </a:cxn>
                  <a:cxn ang="0">
                    <a:pos x="30" y="0"/>
                  </a:cxn>
                  <a:cxn ang="0">
                    <a:pos x="30" y="0"/>
                  </a:cxn>
                </a:cxnLst>
                <a:rect l="txL" t="txT" r="txR" b="txB"/>
                <a:pathLst>
                  <a:path w="30" h="48">
                    <a:moveTo>
                      <a:pt x="30" y="0"/>
                    </a:moveTo>
                    <a:lnTo>
                      <a:pt x="0" y="48"/>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86" name="Freeform 142"/>
              <p:cNvSpPr>
                <a:spLocks noEditPoints="1"/>
              </p:cNvSpPr>
              <p:nvPr/>
            </p:nvSpPr>
            <p:spPr>
              <a:xfrm>
                <a:off x="2930" y="2572"/>
                <a:ext cx="30" cy="48"/>
              </a:xfrm>
              <a:custGeom>
                <a:avLst/>
                <a:gdLst>
                  <a:gd name="txL" fmla="*/ 0 w 30"/>
                  <a:gd name="txT" fmla="*/ 0 h 48"/>
                  <a:gd name="txR" fmla="*/ 30 w 30"/>
                  <a:gd name="txB" fmla="*/ 48 h 48"/>
                </a:gdLst>
                <a:ahLst/>
                <a:cxnLst>
                  <a:cxn ang="0">
                    <a:pos x="30" y="48"/>
                  </a:cxn>
                  <a:cxn ang="0">
                    <a:pos x="0" y="0"/>
                  </a:cxn>
                  <a:cxn ang="0">
                    <a:pos x="30" y="48"/>
                  </a:cxn>
                  <a:cxn ang="0">
                    <a:pos x="30" y="48"/>
                  </a:cxn>
                  <a:cxn ang="0">
                    <a:pos x="30" y="48"/>
                  </a:cxn>
                  <a:cxn ang="0">
                    <a:pos x="30" y="48"/>
                  </a:cxn>
                  <a:cxn ang="0">
                    <a:pos x="30" y="48"/>
                  </a:cxn>
                </a:cxnLst>
                <a:rect l="txL" t="txT" r="txR" b="txB"/>
                <a:pathLst>
                  <a:path w="30" h="48">
                    <a:moveTo>
                      <a:pt x="30" y="48"/>
                    </a:moveTo>
                    <a:lnTo>
                      <a:pt x="0" y="0"/>
                    </a:lnTo>
                    <a:lnTo>
                      <a:pt x="30" y="48"/>
                    </a:lnTo>
                    <a:close/>
                    <a:moveTo>
                      <a:pt x="30" y="48"/>
                    </a:moveTo>
                    <a:lnTo>
                      <a:pt x="30" y="4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87" name="Freeform 143"/>
              <p:cNvSpPr>
                <a:spLocks noEditPoints="1"/>
              </p:cNvSpPr>
              <p:nvPr/>
            </p:nvSpPr>
            <p:spPr>
              <a:xfrm>
                <a:off x="2900" y="2518"/>
                <a:ext cx="30" cy="54"/>
              </a:xfrm>
              <a:custGeom>
                <a:avLst/>
                <a:gdLst>
                  <a:gd name="txL" fmla="*/ 0 w 30"/>
                  <a:gd name="txT" fmla="*/ 0 h 54"/>
                  <a:gd name="txR" fmla="*/ 30 w 30"/>
                  <a:gd name="txB" fmla="*/ 54 h 54"/>
                </a:gdLst>
                <a:ahLst/>
                <a:cxnLst>
                  <a:cxn ang="0">
                    <a:pos x="30" y="54"/>
                  </a:cxn>
                  <a:cxn ang="0">
                    <a:pos x="0" y="0"/>
                  </a:cxn>
                  <a:cxn ang="0">
                    <a:pos x="30" y="54"/>
                  </a:cxn>
                  <a:cxn ang="0">
                    <a:pos x="30" y="54"/>
                  </a:cxn>
                  <a:cxn ang="0">
                    <a:pos x="30" y="54"/>
                  </a:cxn>
                  <a:cxn ang="0">
                    <a:pos x="30" y="54"/>
                  </a:cxn>
                  <a:cxn ang="0">
                    <a:pos x="30" y="54"/>
                  </a:cxn>
                </a:cxnLst>
                <a:rect l="txL" t="txT" r="txR" b="txB"/>
                <a:pathLst>
                  <a:path w="30" h="54">
                    <a:moveTo>
                      <a:pt x="30" y="54"/>
                    </a:moveTo>
                    <a:lnTo>
                      <a:pt x="0" y="0"/>
                    </a:lnTo>
                    <a:lnTo>
                      <a:pt x="30" y="54"/>
                    </a:lnTo>
                    <a:close/>
                    <a:moveTo>
                      <a:pt x="30" y="54"/>
                    </a:moveTo>
                    <a:lnTo>
                      <a:pt x="30" y="5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88" name="Freeform 144"/>
              <p:cNvSpPr>
                <a:spLocks noEditPoints="1"/>
              </p:cNvSpPr>
              <p:nvPr/>
            </p:nvSpPr>
            <p:spPr>
              <a:xfrm>
                <a:off x="2871" y="2518"/>
                <a:ext cx="29" cy="54"/>
              </a:xfrm>
              <a:custGeom>
                <a:avLst/>
                <a:gdLst>
                  <a:gd name="txL" fmla="*/ 0 w 29"/>
                  <a:gd name="txT" fmla="*/ 0 h 54"/>
                  <a:gd name="txR" fmla="*/ 29 w 29"/>
                  <a:gd name="txB" fmla="*/ 54 h 54"/>
                </a:gdLst>
                <a:ahLst/>
                <a:cxnLst>
                  <a:cxn ang="0">
                    <a:pos x="29" y="0"/>
                  </a:cxn>
                  <a:cxn ang="0">
                    <a:pos x="0" y="54"/>
                  </a:cxn>
                  <a:cxn ang="0">
                    <a:pos x="29" y="0"/>
                  </a:cxn>
                  <a:cxn ang="0">
                    <a:pos x="29" y="0"/>
                  </a:cxn>
                  <a:cxn ang="0">
                    <a:pos x="29" y="0"/>
                  </a:cxn>
                  <a:cxn ang="0">
                    <a:pos x="29" y="0"/>
                  </a:cxn>
                  <a:cxn ang="0">
                    <a:pos x="29" y="0"/>
                  </a:cxn>
                </a:cxnLst>
                <a:rect l="txL" t="txT" r="txR" b="txB"/>
                <a:pathLst>
                  <a:path w="29" h="54">
                    <a:moveTo>
                      <a:pt x="29" y="0"/>
                    </a:moveTo>
                    <a:lnTo>
                      <a:pt x="0" y="54"/>
                    </a:lnTo>
                    <a:lnTo>
                      <a:pt x="29" y="0"/>
                    </a:lnTo>
                    <a:close/>
                    <a:moveTo>
                      <a:pt x="29" y="0"/>
                    </a:moveTo>
                    <a:lnTo>
                      <a:pt x="29"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89" name="Freeform 145"/>
              <p:cNvSpPr>
                <a:spLocks noEditPoints="1"/>
              </p:cNvSpPr>
              <p:nvPr/>
            </p:nvSpPr>
            <p:spPr>
              <a:xfrm>
                <a:off x="2841" y="2572"/>
                <a:ext cx="30" cy="48"/>
              </a:xfrm>
              <a:custGeom>
                <a:avLst/>
                <a:gdLst>
                  <a:gd name="txL" fmla="*/ 0 w 30"/>
                  <a:gd name="txT" fmla="*/ 0 h 48"/>
                  <a:gd name="txR" fmla="*/ 30 w 30"/>
                  <a:gd name="txB" fmla="*/ 48 h 48"/>
                </a:gdLst>
                <a:ahLst/>
                <a:cxnLst>
                  <a:cxn ang="0">
                    <a:pos x="30" y="0"/>
                  </a:cxn>
                  <a:cxn ang="0">
                    <a:pos x="0" y="48"/>
                  </a:cxn>
                  <a:cxn ang="0">
                    <a:pos x="30" y="0"/>
                  </a:cxn>
                  <a:cxn ang="0">
                    <a:pos x="30" y="0"/>
                  </a:cxn>
                  <a:cxn ang="0">
                    <a:pos x="30" y="0"/>
                  </a:cxn>
                  <a:cxn ang="0">
                    <a:pos x="30" y="0"/>
                  </a:cxn>
                  <a:cxn ang="0">
                    <a:pos x="30" y="0"/>
                  </a:cxn>
                </a:cxnLst>
                <a:rect l="txL" t="txT" r="txR" b="txB"/>
                <a:pathLst>
                  <a:path w="30" h="48">
                    <a:moveTo>
                      <a:pt x="30" y="0"/>
                    </a:moveTo>
                    <a:lnTo>
                      <a:pt x="0" y="48"/>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90" name="Freeform 146"/>
              <p:cNvSpPr>
                <a:spLocks noEditPoints="1"/>
              </p:cNvSpPr>
              <p:nvPr/>
            </p:nvSpPr>
            <p:spPr>
              <a:xfrm>
                <a:off x="2811" y="2572"/>
                <a:ext cx="30" cy="48"/>
              </a:xfrm>
              <a:custGeom>
                <a:avLst/>
                <a:gdLst>
                  <a:gd name="txL" fmla="*/ 0 w 30"/>
                  <a:gd name="txT" fmla="*/ 0 h 48"/>
                  <a:gd name="txR" fmla="*/ 30 w 30"/>
                  <a:gd name="txB" fmla="*/ 48 h 48"/>
                </a:gdLst>
                <a:ahLst/>
                <a:cxnLst>
                  <a:cxn ang="0">
                    <a:pos x="30" y="48"/>
                  </a:cxn>
                  <a:cxn ang="0">
                    <a:pos x="0" y="0"/>
                  </a:cxn>
                  <a:cxn ang="0">
                    <a:pos x="30" y="48"/>
                  </a:cxn>
                  <a:cxn ang="0">
                    <a:pos x="30" y="48"/>
                  </a:cxn>
                  <a:cxn ang="0">
                    <a:pos x="30" y="48"/>
                  </a:cxn>
                  <a:cxn ang="0">
                    <a:pos x="30" y="48"/>
                  </a:cxn>
                  <a:cxn ang="0">
                    <a:pos x="30" y="48"/>
                  </a:cxn>
                </a:cxnLst>
                <a:rect l="txL" t="txT" r="txR" b="txB"/>
                <a:pathLst>
                  <a:path w="30" h="48">
                    <a:moveTo>
                      <a:pt x="30" y="48"/>
                    </a:moveTo>
                    <a:lnTo>
                      <a:pt x="0" y="0"/>
                    </a:lnTo>
                    <a:lnTo>
                      <a:pt x="30" y="48"/>
                    </a:lnTo>
                    <a:close/>
                    <a:moveTo>
                      <a:pt x="30" y="48"/>
                    </a:moveTo>
                    <a:lnTo>
                      <a:pt x="30" y="4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91" name="Freeform 147"/>
              <p:cNvSpPr>
                <a:spLocks noEditPoints="1"/>
              </p:cNvSpPr>
              <p:nvPr/>
            </p:nvSpPr>
            <p:spPr>
              <a:xfrm>
                <a:off x="2781" y="2518"/>
                <a:ext cx="30" cy="54"/>
              </a:xfrm>
              <a:custGeom>
                <a:avLst/>
                <a:gdLst>
                  <a:gd name="txL" fmla="*/ 0 w 30"/>
                  <a:gd name="txT" fmla="*/ 0 h 54"/>
                  <a:gd name="txR" fmla="*/ 30 w 30"/>
                  <a:gd name="txB" fmla="*/ 54 h 54"/>
                </a:gdLst>
                <a:ahLst/>
                <a:cxnLst>
                  <a:cxn ang="0">
                    <a:pos x="30" y="54"/>
                  </a:cxn>
                  <a:cxn ang="0">
                    <a:pos x="0" y="0"/>
                  </a:cxn>
                  <a:cxn ang="0">
                    <a:pos x="30" y="54"/>
                  </a:cxn>
                  <a:cxn ang="0">
                    <a:pos x="30" y="54"/>
                  </a:cxn>
                  <a:cxn ang="0">
                    <a:pos x="30" y="54"/>
                  </a:cxn>
                  <a:cxn ang="0">
                    <a:pos x="30" y="54"/>
                  </a:cxn>
                  <a:cxn ang="0">
                    <a:pos x="30" y="54"/>
                  </a:cxn>
                </a:cxnLst>
                <a:rect l="txL" t="txT" r="txR" b="txB"/>
                <a:pathLst>
                  <a:path w="30" h="54">
                    <a:moveTo>
                      <a:pt x="30" y="54"/>
                    </a:moveTo>
                    <a:lnTo>
                      <a:pt x="0" y="0"/>
                    </a:lnTo>
                    <a:lnTo>
                      <a:pt x="30" y="54"/>
                    </a:lnTo>
                    <a:close/>
                    <a:moveTo>
                      <a:pt x="30" y="54"/>
                    </a:moveTo>
                    <a:lnTo>
                      <a:pt x="30" y="5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92" name="Freeform 148"/>
              <p:cNvSpPr>
                <a:spLocks noEditPoints="1"/>
              </p:cNvSpPr>
              <p:nvPr/>
            </p:nvSpPr>
            <p:spPr>
              <a:xfrm>
                <a:off x="2751" y="2518"/>
                <a:ext cx="30" cy="54"/>
              </a:xfrm>
              <a:custGeom>
                <a:avLst/>
                <a:gdLst>
                  <a:gd name="txL" fmla="*/ 0 w 30"/>
                  <a:gd name="txT" fmla="*/ 0 h 54"/>
                  <a:gd name="txR" fmla="*/ 30 w 30"/>
                  <a:gd name="txB" fmla="*/ 54 h 54"/>
                </a:gdLst>
                <a:ahLst/>
                <a:cxnLst>
                  <a:cxn ang="0">
                    <a:pos x="30" y="0"/>
                  </a:cxn>
                  <a:cxn ang="0">
                    <a:pos x="0" y="54"/>
                  </a:cxn>
                  <a:cxn ang="0">
                    <a:pos x="30" y="0"/>
                  </a:cxn>
                  <a:cxn ang="0">
                    <a:pos x="30" y="0"/>
                  </a:cxn>
                  <a:cxn ang="0">
                    <a:pos x="30" y="0"/>
                  </a:cxn>
                  <a:cxn ang="0">
                    <a:pos x="30" y="0"/>
                  </a:cxn>
                  <a:cxn ang="0">
                    <a:pos x="30" y="0"/>
                  </a:cxn>
                </a:cxnLst>
                <a:rect l="txL" t="txT" r="txR" b="txB"/>
                <a:pathLst>
                  <a:path w="30" h="54">
                    <a:moveTo>
                      <a:pt x="30" y="0"/>
                    </a:moveTo>
                    <a:lnTo>
                      <a:pt x="0" y="54"/>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93" name="Freeform 149"/>
              <p:cNvSpPr>
                <a:spLocks noEditPoints="1"/>
              </p:cNvSpPr>
              <p:nvPr/>
            </p:nvSpPr>
            <p:spPr>
              <a:xfrm>
                <a:off x="2721" y="2572"/>
                <a:ext cx="30" cy="48"/>
              </a:xfrm>
              <a:custGeom>
                <a:avLst/>
                <a:gdLst>
                  <a:gd name="txL" fmla="*/ 0 w 30"/>
                  <a:gd name="txT" fmla="*/ 0 h 48"/>
                  <a:gd name="txR" fmla="*/ 30 w 30"/>
                  <a:gd name="txB" fmla="*/ 48 h 48"/>
                </a:gdLst>
                <a:ahLst/>
                <a:cxnLst>
                  <a:cxn ang="0">
                    <a:pos x="30" y="0"/>
                  </a:cxn>
                  <a:cxn ang="0">
                    <a:pos x="0" y="48"/>
                  </a:cxn>
                  <a:cxn ang="0">
                    <a:pos x="30" y="0"/>
                  </a:cxn>
                  <a:cxn ang="0">
                    <a:pos x="30" y="0"/>
                  </a:cxn>
                  <a:cxn ang="0">
                    <a:pos x="30" y="0"/>
                  </a:cxn>
                  <a:cxn ang="0">
                    <a:pos x="30" y="0"/>
                  </a:cxn>
                  <a:cxn ang="0">
                    <a:pos x="30" y="0"/>
                  </a:cxn>
                </a:cxnLst>
                <a:rect l="txL" t="txT" r="txR" b="txB"/>
                <a:pathLst>
                  <a:path w="30" h="48">
                    <a:moveTo>
                      <a:pt x="30" y="0"/>
                    </a:moveTo>
                    <a:lnTo>
                      <a:pt x="0" y="48"/>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94" name="Freeform 150"/>
              <p:cNvSpPr>
                <a:spLocks noEditPoints="1"/>
              </p:cNvSpPr>
              <p:nvPr/>
            </p:nvSpPr>
            <p:spPr>
              <a:xfrm>
                <a:off x="2691" y="2572"/>
                <a:ext cx="30" cy="48"/>
              </a:xfrm>
              <a:custGeom>
                <a:avLst/>
                <a:gdLst>
                  <a:gd name="txL" fmla="*/ 0 w 30"/>
                  <a:gd name="txT" fmla="*/ 0 h 48"/>
                  <a:gd name="txR" fmla="*/ 30 w 30"/>
                  <a:gd name="txB" fmla="*/ 48 h 48"/>
                </a:gdLst>
                <a:ahLst/>
                <a:cxnLst>
                  <a:cxn ang="0">
                    <a:pos x="30" y="48"/>
                  </a:cxn>
                  <a:cxn ang="0">
                    <a:pos x="0" y="0"/>
                  </a:cxn>
                  <a:cxn ang="0">
                    <a:pos x="30" y="48"/>
                  </a:cxn>
                  <a:cxn ang="0">
                    <a:pos x="30" y="48"/>
                  </a:cxn>
                  <a:cxn ang="0">
                    <a:pos x="30" y="48"/>
                  </a:cxn>
                  <a:cxn ang="0">
                    <a:pos x="30" y="48"/>
                  </a:cxn>
                  <a:cxn ang="0">
                    <a:pos x="30" y="48"/>
                  </a:cxn>
                </a:cxnLst>
                <a:rect l="txL" t="txT" r="txR" b="txB"/>
                <a:pathLst>
                  <a:path w="30" h="48">
                    <a:moveTo>
                      <a:pt x="30" y="48"/>
                    </a:moveTo>
                    <a:lnTo>
                      <a:pt x="0" y="0"/>
                    </a:lnTo>
                    <a:lnTo>
                      <a:pt x="30" y="48"/>
                    </a:lnTo>
                    <a:close/>
                    <a:moveTo>
                      <a:pt x="30" y="48"/>
                    </a:moveTo>
                    <a:lnTo>
                      <a:pt x="30" y="4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95" name="Freeform 151"/>
              <p:cNvSpPr>
                <a:spLocks noEditPoints="1"/>
              </p:cNvSpPr>
              <p:nvPr/>
            </p:nvSpPr>
            <p:spPr>
              <a:xfrm>
                <a:off x="2667" y="2518"/>
                <a:ext cx="24" cy="54"/>
              </a:xfrm>
              <a:custGeom>
                <a:avLst/>
                <a:gdLst>
                  <a:gd name="txL" fmla="*/ 0 w 24"/>
                  <a:gd name="txT" fmla="*/ 0 h 54"/>
                  <a:gd name="txR" fmla="*/ 24 w 24"/>
                  <a:gd name="txB" fmla="*/ 54 h 54"/>
                </a:gdLst>
                <a:ahLst/>
                <a:cxnLst>
                  <a:cxn ang="0">
                    <a:pos x="24" y="54"/>
                  </a:cxn>
                  <a:cxn ang="0">
                    <a:pos x="0" y="0"/>
                  </a:cxn>
                  <a:cxn ang="0">
                    <a:pos x="24" y="54"/>
                  </a:cxn>
                  <a:cxn ang="0">
                    <a:pos x="24" y="54"/>
                  </a:cxn>
                  <a:cxn ang="0">
                    <a:pos x="24" y="54"/>
                  </a:cxn>
                  <a:cxn ang="0">
                    <a:pos x="24" y="54"/>
                  </a:cxn>
                  <a:cxn ang="0">
                    <a:pos x="24" y="54"/>
                  </a:cxn>
                </a:cxnLst>
                <a:rect l="txL" t="txT" r="txR" b="txB"/>
                <a:pathLst>
                  <a:path w="24" h="54">
                    <a:moveTo>
                      <a:pt x="24" y="54"/>
                    </a:moveTo>
                    <a:lnTo>
                      <a:pt x="0" y="0"/>
                    </a:lnTo>
                    <a:lnTo>
                      <a:pt x="24" y="54"/>
                    </a:lnTo>
                    <a:close/>
                    <a:moveTo>
                      <a:pt x="24" y="54"/>
                    </a:moveTo>
                    <a:lnTo>
                      <a:pt x="24" y="5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96" name="Freeform 152"/>
              <p:cNvSpPr>
                <a:spLocks noEditPoints="1"/>
              </p:cNvSpPr>
              <p:nvPr/>
            </p:nvSpPr>
            <p:spPr>
              <a:xfrm>
                <a:off x="2631" y="2518"/>
                <a:ext cx="36" cy="54"/>
              </a:xfrm>
              <a:custGeom>
                <a:avLst/>
                <a:gdLst>
                  <a:gd name="txL" fmla="*/ 0 w 36"/>
                  <a:gd name="txT" fmla="*/ 0 h 54"/>
                  <a:gd name="txR" fmla="*/ 36 w 36"/>
                  <a:gd name="txB" fmla="*/ 54 h 54"/>
                </a:gdLst>
                <a:ahLst/>
                <a:cxnLst>
                  <a:cxn ang="0">
                    <a:pos x="36" y="0"/>
                  </a:cxn>
                  <a:cxn ang="0">
                    <a:pos x="0" y="54"/>
                  </a:cxn>
                  <a:cxn ang="0">
                    <a:pos x="36" y="0"/>
                  </a:cxn>
                  <a:cxn ang="0">
                    <a:pos x="36" y="0"/>
                  </a:cxn>
                  <a:cxn ang="0">
                    <a:pos x="36" y="0"/>
                  </a:cxn>
                  <a:cxn ang="0">
                    <a:pos x="36" y="0"/>
                  </a:cxn>
                  <a:cxn ang="0">
                    <a:pos x="36" y="0"/>
                  </a:cxn>
                </a:cxnLst>
                <a:rect l="txL" t="txT" r="txR" b="txB"/>
                <a:pathLst>
                  <a:path w="36" h="54">
                    <a:moveTo>
                      <a:pt x="36" y="0"/>
                    </a:moveTo>
                    <a:lnTo>
                      <a:pt x="0" y="54"/>
                    </a:lnTo>
                    <a:lnTo>
                      <a:pt x="36" y="0"/>
                    </a:lnTo>
                    <a:close/>
                    <a:moveTo>
                      <a:pt x="36" y="0"/>
                    </a:move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0497" name="Freeform 153"/>
              <p:cNvSpPr>
                <a:spLocks noEditPoints="1"/>
              </p:cNvSpPr>
              <p:nvPr/>
            </p:nvSpPr>
            <p:spPr>
              <a:xfrm>
                <a:off x="2763" y="2291"/>
                <a:ext cx="137" cy="108"/>
              </a:xfrm>
              <a:custGeom>
                <a:avLst/>
                <a:gdLst>
                  <a:gd name="txL" fmla="*/ 0 w 137"/>
                  <a:gd name="txT" fmla="*/ 0 h 108"/>
                  <a:gd name="txR" fmla="*/ 137 w 137"/>
                  <a:gd name="txB" fmla="*/ 108 h 108"/>
                </a:gdLst>
                <a:ahLst/>
                <a:cxnLst>
                  <a:cxn ang="0">
                    <a:pos x="131" y="102"/>
                  </a:cxn>
                  <a:cxn ang="0">
                    <a:pos x="119" y="96"/>
                  </a:cxn>
                  <a:cxn ang="0">
                    <a:pos x="114" y="90"/>
                  </a:cxn>
                  <a:cxn ang="0">
                    <a:pos x="96" y="54"/>
                  </a:cxn>
                  <a:cxn ang="0">
                    <a:pos x="114" y="48"/>
                  </a:cxn>
                  <a:cxn ang="0">
                    <a:pos x="125" y="42"/>
                  </a:cxn>
                  <a:cxn ang="0">
                    <a:pos x="137" y="24"/>
                  </a:cxn>
                  <a:cxn ang="0">
                    <a:pos x="131" y="12"/>
                  </a:cxn>
                  <a:cxn ang="0">
                    <a:pos x="114" y="6"/>
                  </a:cxn>
                  <a:cxn ang="0">
                    <a:pos x="102" y="0"/>
                  </a:cxn>
                  <a:cxn ang="0">
                    <a:pos x="90" y="0"/>
                  </a:cxn>
                  <a:cxn ang="0">
                    <a:pos x="36" y="0"/>
                  </a:cxn>
                  <a:cxn ang="0">
                    <a:pos x="36" y="0"/>
                  </a:cxn>
                  <a:cxn ang="0">
                    <a:pos x="42" y="6"/>
                  </a:cxn>
                  <a:cxn ang="0">
                    <a:pos x="48" y="12"/>
                  </a:cxn>
                  <a:cxn ang="0">
                    <a:pos x="48" y="18"/>
                  </a:cxn>
                  <a:cxn ang="0">
                    <a:pos x="48" y="18"/>
                  </a:cxn>
                  <a:cxn ang="0">
                    <a:pos x="18" y="90"/>
                  </a:cxn>
                  <a:cxn ang="0">
                    <a:pos x="12" y="102"/>
                  </a:cxn>
                  <a:cxn ang="0">
                    <a:pos x="0" y="102"/>
                  </a:cxn>
                  <a:cxn ang="0">
                    <a:pos x="0" y="108"/>
                  </a:cxn>
                  <a:cxn ang="0">
                    <a:pos x="54" y="108"/>
                  </a:cxn>
                  <a:cxn ang="0">
                    <a:pos x="54" y="102"/>
                  </a:cxn>
                  <a:cxn ang="0">
                    <a:pos x="42" y="102"/>
                  </a:cxn>
                  <a:cxn ang="0">
                    <a:pos x="42" y="96"/>
                  </a:cxn>
                  <a:cxn ang="0">
                    <a:pos x="42" y="96"/>
                  </a:cxn>
                  <a:cxn ang="0">
                    <a:pos x="42" y="84"/>
                  </a:cxn>
                  <a:cxn ang="0">
                    <a:pos x="54" y="54"/>
                  </a:cxn>
                  <a:cxn ang="0">
                    <a:pos x="72" y="54"/>
                  </a:cxn>
                  <a:cxn ang="0">
                    <a:pos x="102" y="108"/>
                  </a:cxn>
                  <a:cxn ang="0">
                    <a:pos x="131" y="108"/>
                  </a:cxn>
                  <a:cxn ang="0">
                    <a:pos x="131" y="102"/>
                  </a:cxn>
                  <a:cxn ang="0">
                    <a:pos x="72" y="12"/>
                  </a:cxn>
                  <a:cxn ang="0">
                    <a:pos x="78" y="6"/>
                  </a:cxn>
                  <a:cxn ang="0">
                    <a:pos x="90" y="6"/>
                  </a:cxn>
                  <a:cxn ang="0">
                    <a:pos x="108" y="6"/>
                  </a:cxn>
                  <a:cxn ang="0">
                    <a:pos x="114" y="12"/>
                  </a:cxn>
                  <a:cxn ang="0">
                    <a:pos x="114" y="24"/>
                  </a:cxn>
                  <a:cxn ang="0">
                    <a:pos x="114" y="36"/>
                  </a:cxn>
                  <a:cxn ang="0">
                    <a:pos x="108" y="42"/>
                  </a:cxn>
                  <a:cxn ang="0">
                    <a:pos x="96" y="48"/>
                  </a:cxn>
                  <a:cxn ang="0">
                    <a:pos x="72" y="48"/>
                  </a:cxn>
                  <a:cxn ang="0">
                    <a:pos x="66" y="48"/>
                  </a:cxn>
                  <a:cxn ang="0">
                    <a:pos x="60" y="48"/>
                  </a:cxn>
                  <a:cxn ang="0">
                    <a:pos x="72" y="12"/>
                  </a:cxn>
                </a:cxnLst>
                <a:rect l="txL" t="txT" r="txR" b="txB"/>
                <a:pathLst>
                  <a:path w="137" h="108">
                    <a:moveTo>
                      <a:pt x="131" y="102"/>
                    </a:moveTo>
                    <a:lnTo>
                      <a:pt x="119" y="96"/>
                    </a:lnTo>
                    <a:lnTo>
                      <a:pt x="114" y="90"/>
                    </a:lnTo>
                    <a:lnTo>
                      <a:pt x="96" y="54"/>
                    </a:lnTo>
                    <a:lnTo>
                      <a:pt x="114" y="48"/>
                    </a:lnTo>
                    <a:lnTo>
                      <a:pt x="125" y="42"/>
                    </a:lnTo>
                    <a:lnTo>
                      <a:pt x="137" y="24"/>
                    </a:lnTo>
                    <a:lnTo>
                      <a:pt x="131" y="12"/>
                    </a:lnTo>
                    <a:lnTo>
                      <a:pt x="114" y="6"/>
                    </a:lnTo>
                    <a:lnTo>
                      <a:pt x="102" y="0"/>
                    </a:lnTo>
                    <a:lnTo>
                      <a:pt x="90" y="0"/>
                    </a:lnTo>
                    <a:lnTo>
                      <a:pt x="36" y="0"/>
                    </a:lnTo>
                    <a:lnTo>
                      <a:pt x="42" y="6"/>
                    </a:lnTo>
                    <a:lnTo>
                      <a:pt x="48" y="12"/>
                    </a:lnTo>
                    <a:lnTo>
                      <a:pt x="48" y="18"/>
                    </a:lnTo>
                    <a:lnTo>
                      <a:pt x="18" y="90"/>
                    </a:lnTo>
                    <a:lnTo>
                      <a:pt x="12" y="102"/>
                    </a:lnTo>
                    <a:lnTo>
                      <a:pt x="0" y="102"/>
                    </a:lnTo>
                    <a:lnTo>
                      <a:pt x="0" y="108"/>
                    </a:lnTo>
                    <a:lnTo>
                      <a:pt x="54" y="108"/>
                    </a:lnTo>
                    <a:lnTo>
                      <a:pt x="54" y="102"/>
                    </a:lnTo>
                    <a:lnTo>
                      <a:pt x="42" y="102"/>
                    </a:lnTo>
                    <a:lnTo>
                      <a:pt x="42" y="96"/>
                    </a:lnTo>
                    <a:lnTo>
                      <a:pt x="42" y="84"/>
                    </a:lnTo>
                    <a:lnTo>
                      <a:pt x="54" y="54"/>
                    </a:lnTo>
                    <a:lnTo>
                      <a:pt x="72" y="54"/>
                    </a:lnTo>
                    <a:lnTo>
                      <a:pt x="102" y="108"/>
                    </a:lnTo>
                    <a:lnTo>
                      <a:pt x="131" y="108"/>
                    </a:lnTo>
                    <a:lnTo>
                      <a:pt x="131" y="102"/>
                    </a:lnTo>
                    <a:close/>
                    <a:moveTo>
                      <a:pt x="72" y="12"/>
                    </a:moveTo>
                    <a:lnTo>
                      <a:pt x="78" y="6"/>
                    </a:lnTo>
                    <a:lnTo>
                      <a:pt x="90" y="6"/>
                    </a:lnTo>
                    <a:lnTo>
                      <a:pt x="108" y="6"/>
                    </a:lnTo>
                    <a:lnTo>
                      <a:pt x="114" y="12"/>
                    </a:lnTo>
                    <a:lnTo>
                      <a:pt x="114" y="24"/>
                    </a:lnTo>
                    <a:lnTo>
                      <a:pt x="114" y="36"/>
                    </a:lnTo>
                    <a:lnTo>
                      <a:pt x="108" y="42"/>
                    </a:lnTo>
                    <a:lnTo>
                      <a:pt x="96" y="48"/>
                    </a:lnTo>
                    <a:lnTo>
                      <a:pt x="72" y="48"/>
                    </a:lnTo>
                    <a:lnTo>
                      <a:pt x="66" y="48"/>
                    </a:lnTo>
                    <a:lnTo>
                      <a:pt x="60" y="48"/>
                    </a:lnTo>
                    <a:lnTo>
                      <a:pt x="72"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498" name="Freeform 154"/>
              <p:cNvSpPr/>
              <p:nvPr/>
            </p:nvSpPr>
            <p:spPr>
              <a:xfrm>
                <a:off x="2912" y="2387"/>
                <a:ext cx="66" cy="54"/>
              </a:xfrm>
              <a:custGeom>
                <a:avLst/>
                <a:gdLst>
                  <a:gd name="txL" fmla="*/ 0 w 66"/>
                  <a:gd name="txT" fmla="*/ 0 h 54"/>
                  <a:gd name="txR" fmla="*/ 66 w 66"/>
                  <a:gd name="txB" fmla="*/ 54 h 54"/>
                </a:gdLst>
                <a:ahLst/>
                <a:cxnLst>
                  <a:cxn ang="0">
                    <a:pos x="54" y="36"/>
                  </a:cxn>
                  <a:cxn ang="0">
                    <a:pos x="42" y="42"/>
                  </a:cxn>
                  <a:cxn ang="0">
                    <a:pos x="30" y="48"/>
                  </a:cxn>
                  <a:cxn ang="0">
                    <a:pos x="18" y="42"/>
                  </a:cxn>
                  <a:cxn ang="0">
                    <a:pos x="12" y="36"/>
                  </a:cxn>
                  <a:cxn ang="0">
                    <a:pos x="24" y="12"/>
                  </a:cxn>
                  <a:cxn ang="0">
                    <a:pos x="30" y="6"/>
                  </a:cxn>
                  <a:cxn ang="0">
                    <a:pos x="48" y="0"/>
                  </a:cxn>
                  <a:cxn ang="0">
                    <a:pos x="54" y="0"/>
                  </a:cxn>
                  <a:cxn ang="0">
                    <a:pos x="54" y="0"/>
                  </a:cxn>
                  <a:cxn ang="0">
                    <a:pos x="54" y="6"/>
                  </a:cxn>
                  <a:cxn ang="0">
                    <a:pos x="54" y="6"/>
                  </a:cxn>
                  <a:cxn ang="0">
                    <a:pos x="54" y="12"/>
                  </a:cxn>
                  <a:cxn ang="0">
                    <a:pos x="60" y="12"/>
                  </a:cxn>
                  <a:cxn ang="0">
                    <a:pos x="66" y="12"/>
                  </a:cxn>
                  <a:cxn ang="0">
                    <a:pos x="66" y="6"/>
                  </a:cxn>
                  <a:cxn ang="0">
                    <a:pos x="60" y="6"/>
                  </a:cxn>
                  <a:cxn ang="0">
                    <a:pos x="48" y="0"/>
                  </a:cxn>
                  <a:cxn ang="0">
                    <a:pos x="30" y="6"/>
                  </a:cxn>
                  <a:cxn ang="0">
                    <a:pos x="18" y="12"/>
                  </a:cxn>
                  <a:cxn ang="0">
                    <a:pos x="6" y="24"/>
                  </a:cxn>
                  <a:cxn ang="0">
                    <a:pos x="0" y="36"/>
                  </a:cxn>
                  <a:cxn ang="0">
                    <a:pos x="6" y="48"/>
                  </a:cxn>
                  <a:cxn ang="0">
                    <a:pos x="24" y="54"/>
                  </a:cxn>
                  <a:cxn ang="0">
                    <a:pos x="48" y="48"/>
                  </a:cxn>
                  <a:cxn ang="0">
                    <a:pos x="54" y="42"/>
                  </a:cxn>
                  <a:cxn ang="0">
                    <a:pos x="54" y="36"/>
                  </a:cxn>
                </a:cxnLst>
                <a:rect l="txL" t="txT" r="txR" b="txB"/>
                <a:pathLst>
                  <a:path w="66" h="54">
                    <a:moveTo>
                      <a:pt x="54" y="36"/>
                    </a:moveTo>
                    <a:lnTo>
                      <a:pt x="42" y="42"/>
                    </a:lnTo>
                    <a:lnTo>
                      <a:pt x="30" y="48"/>
                    </a:lnTo>
                    <a:lnTo>
                      <a:pt x="18" y="42"/>
                    </a:lnTo>
                    <a:lnTo>
                      <a:pt x="12" y="36"/>
                    </a:lnTo>
                    <a:lnTo>
                      <a:pt x="24" y="12"/>
                    </a:lnTo>
                    <a:lnTo>
                      <a:pt x="30" y="6"/>
                    </a:lnTo>
                    <a:lnTo>
                      <a:pt x="48" y="0"/>
                    </a:lnTo>
                    <a:lnTo>
                      <a:pt x="54" y="0"/>
                    </a:lnTo>
                    <a:lnTo>
                      <a:pt x="54" y="6"/>
                    </a:lnTo>
                    <a:lnTo>
                      <a:pt x="54" y="12"/>
                    </a:lnTo>
                    <a:lnTo>
                      <a:pt x="60" y="12"/>
                    </a:lnTo>
                    <a:lnTo>
                      <a:pt x="66" y="12"/>
                    </a:lnTo>
                    <a:lnTo>
                      <a:pt x="66" y="6"/>
                    </a:lnTo>
                    <a:lnTo>
                      <a:pt x="60" y="6"/>
                    </a:lnTo>
                    <a:lnTo>
                      <a:pt x="48" y="0"/>
                    </a:lnTo>
                    <a:lnTo>
                      <a:pt x="30" y="6"/>
                    </a:lnTo>
                    <a:lnTo>
                      <a:pt x="18" y="12"/>
                    </a:lnTo>
                    <a:lnTo>
                      <a:pt x="6" y="24"/>
                    </a:lnTo>
                    <a:lnTo>
                      <a:pt x="0" y="36"/>
                    </a:lnTo>
                    <a:lnTo>
                      <a:pt x="6" y="48"/>
                    </a:lnTo>
                    <a:lnTo>
                      <a:pt x="24" y="54"/>
                    </a:lnTo>
                    <a:lnTo>
                      <a:pt x="48" y="48"/>
                    </a:lnTo>
                    <a:lnTo>
                      <a:pt x="54" y="42"/>
                    </a:lnTo>
                    <a:lnTo>
                      <a:pt x="54" y="3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499" name="Freeform 155"/>
              <p:cNvSpPr>
                <a:spLocks noEditPoints="1"/>
              </p:cNvSpPr>
              <p:nvPr/>
            </p:nvSpPr>
            <p:spPr>
              <a:xfrm>
                <a:off x="3678" y="3080"/>
                <a:ext cx="132" cy="107"/>
              </a:xfrm>
              <a:custGeom>
                <a:avLst/>
                <a:gdLst>
                  <a:gd name="txL" fmla="*/ 0 w 132"/>
                  <a:gd name="txT" fmla="*/ 0 h 107"/>
                  <a:gd name="txR" fmla="*/ 132 w 132"/>
                  <a:gd name="txB" fmla="*/ 107 h 107"/>
                </a:gdLst>
                <a:ahLst/>
                <a:cxnLst>
                  <a:cxn ang="0">
                    <a:pos x="132" y="107"/>
                  </a:cxn>
                  <a:cxn ang="0">
                    <a:pos x="120" y="101"/>
                  </a:cxn>
                  <a:cxn ang="0">
                    <a:pos x="114" y="95"/>
                  </a:cxn>
                  <a:cxn ang="0">
                    <a:pos x="90" y="53"/>
                  </a:cxn>
                  <a:cxn ang="0">
                    <a:pos x="108" y="47"/>
                  </a:cxn>
                  <a:cxn ang="0">
                    <a:pos x="120" y="41"/>
                  </a:cxn>
                  <a:cxn ang="0">
                    <a:pos x="132" y="24"/>
                  </a:cxn>
                  <a:cxn ang="0">
                    <a:pos x="126" y="12"/>
                  </a:cxn>
                  <a:cxn ang="0">
                    <a:pos x="114" y="6"/>
                  </a:cxn>
                  <a:cxn ang="0">
                    <a:pos x="102" y="0"/>
                  </a:cxn>
                  <a:cxn ang="0">
                    <a:pos x="90" y="0"/>
                  </a:cxn>
                  <a:cxn ang="0">
                    <a:pos x="30" y="0"/>
                  </a:cxn>
                  <a:cxn ang="0">
                    <a:pos x="30" y="6"/>
                  </a:cxn>
                  <a:cxn ang="0">
                    <a:pos x="42" y="6"/>
                  </a:cxn>
                  <a:cxn ang="0">
                    <a:pos x="48" y="12"/>
                  </a:cxn>
                  <a:cxn ang="0">
                    <a:pos x="48" y="18"/>
                  </a:cxn>
                  <a:cxn ang="0">
                    <a:pos x="42" y="24"/>
                  </a:cxn>
                  <a:cxn ang="0">
                    <a:pos x="18" y="95"/>
                  </a:cxn>
                  <a:cxn ang="0">
                    <a:pos x="12" y="101"/>
                  </a:cxn>
                  <a:cxn ang="0">
                    <a:pos x="0" y="107"/>
                  </a:cxn>
                  <a:cxn ang="0">
                    <a:pos x="0" y="107"/>
                  </a:cxn>
                  <a:cxn ang="0">
                    <a:pos x="54" y="107"/>
                  </a:cxn>
                  <a:cxn ang="0">
                    <a:pos x="54" y="107"/>
                  </a:cxn>
                  <a:cxn ang="0">
                    <a:pos x="42" y="101"/>
                  </a:cxn>
                  <a:cxn ang="0">
                    <a:pos x="36" y="95"/>
                  </a:cxn>
                  <a:cxn ang="0">
                    <a:pos x="36" y="95"/>
                  </a:cxn>
                  <a:cxn ang="0">
                    <a:pos x="42" y="89"/>
                  </a:cxn>
                  <a:cxn ang="0">
                    <a:pos x="54" y="53"/>
                  </a:cxn>
                  <a:cxn ang="0">
                    <a:pos x="66" y="53"/>
                  </a:cxn>
                  <a:cxn ang="0">
                    <a:pos x="96" y="107"/>
                  </a:cxn>
                  <a:cxn ang="0">
                    <a:pos x="132" y="107"/>
                  </a:cxn>
                  <a:cxn ang="0">
                    <a:pos x="132" y="107"/>
                  </a:cxn>
                  <a:cxn ang="0">
                    <a:pos x="72" y="12"/>
                  </a:cxn>
                  <a:cxn ang="0">
                    <a:pos x="72" y="12"/>
                  </a:cxn>
                  <a:cxn ang="0">
                    <a:pos x="84" y="6"/>
                  </a:cxn>
                  <a:cxn ang="0">
                    <a:pos x="102" y="12"/>
                  </a:cxn>
                  <a:cxn ang="0">
                    <a:pos x="108" y="24"/>
                  </a:cxn>
                  <a:cxn ang="0">
                    <a:pos x="102" y="41"/>
                  </a:cxn>
                  <a:cxn ang="0">
                    <a:pos x="90" y="47"/>
                  </a:cxn>
                  <a:cxn ang="0">
                    <a:pos x="72" y="47"/>
                  </a:cxn>
                  <a:cxn ang="0">
                    <a:pos x="54" y="47"/>
                  </a:cxn>
                  <a:cxn ang="0">
                    <a:pos x="72" y="12"/>
                  </a:cxn>
                </a:cxnLst>
                <a:rect l="txL" t="txT" r="txR" b="txB"/>
                <a:pathLst>
                  <a:path w="132" h="107">
                    <a:moveTo>
                      <a:pt x="132" y="107"/>
                    </a:moveTo>
                    <a:lnTo>
                      <a:pt x="120" y="101"/>
                    </a:lnTo>
                    <a:lnTo>
                      <a:pt x="114" y="95"/>
                    </a:lnTo>
                    <a:lnTo>
                      <a:pt x="90" y="53"/>
                    </a:lnTo>
                    <a:lnTo>
                      <a:pt x="108" y="47"/>
                    </a:lnTo>
                    <a:lnTo>
                      <a:pt x="120" y="41"/>
                    </a:lnTo>
                    <a:lnTo>
                      <a:pt x="132" y="24"/>
                    </a:lnTo>
                    <a:lnTo>
                      <a:pt x="126" y="12"/>
                    </a:lnTo>
                    <a:lnTo>
                      <a:pt x="114" y="6"/>
                    </a:lnTo>
                    <a:lnTo>
                      <a:pt x="102" y="0"/>
                    </a:lnTo>
                    <a:lnTo>
                      <a:pt x="90" y="0"/>
                    </a:lnTo>
                    <a:lnTo>
                      <a:pt x="30" y="0"/>
                    </a:lnTo>
                    <a:lnTo>
                      <a:pt x="30" y="6"/>
                    </a:lnTo>
                    <a:lnTo>
                      <a:pt x="42" y="6"/>
                    </a:lnTo>
                    <a:lnTo>
                      <a:pt x="48" y="12"/>
                    </a:lnTo>
                    <a:lnTo>
                      <a:pt x="48" y="18"/>
                    </a:lnTo>
                    <a:lnTo>
                      <a:pt x="42" y="24"/>
                    </a:lnTo>
                    <a:lnTo>
                      <a:pt x="18" y="95"/>
                    </a:lnTo>
                    <a:lnTo>
                      <a:pt x="12" y="101"/>
                    </a:lnTo>
                    <a:lnTo>
                      <a:pt x="0" y="107"/>
                    </a:lnTo>
                    <a:lnTo>
                      <a:pt x="54" y="107"/>
                    </a:lnTo>
                    <a:lnTo>
                      <a:pt x="42" y="101"/>
                    </a:lnTo>
                    <a:lnTo>
                      <a:pt x="36" y="95"/>
                    </a:lnTo>
                    <a:lnTo>
                      <a:pt x="42" y="89"/>
                    </a:lnTo>
                    <a:lnTo>
                      <a:pt x="54" y="53"/>
                    </a:lnTo>
                    <a:lnTo>
                      <a:pt x="66" y="53"/>
                    </a:lnTo>
                    <a:lnTo>
                      <a:pt x="96" y="107"/>
                    </a:lnTo>
                    <a:lnTo>
                      <a:pt x="132" y="107"/>
                    </a:lnTo>
                    <a:close/>
                    <a:moveTo>
                      <a:pt x="72" y="12"/>
                    </a:moveTo>
                    <a:lnTo>
                      <a:pt x="72" y="12"/>
                    </a:lnTo>
                    <a:lnTo>
                      <a:pt x="84" y="6"/>
                    </a:lnTo>
                    <a:lnTo>
                      <a:pt x="102" y="12"/>
                    </a:lnTo>
                    <a:lnTo>
                      <a:pt x="108" y="24"/>
                    </a:lnTo>
                    <a:lnTo>
                      <a:pt x="102" y="41"/>
                    </a:lnTo>
                    <a:lnTo>
                      <a:pt x="90" y="47"/>
                    </a:lnTo>
                    <a:lnTo>
                      <a:pt x="72" y="47"/>
                    </a:lnTo>
                    <a:lnTo>
                      <a:pt x="54" y="47"/>
                    </a:lnTo>
                    <a:lnTo>
                      <a:pt x="72"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00" name="Freeform 156"/>
              <p:cNvSpPr>
                <a:spLocks noEditPoints="1"/>
              </p:cNvSpPr>
              <p:nvPr/>
            </p:nvSpPr>
            <p:spPr>
              <a:xfrm>
                <a:off x="3822" y="3175"/>
                <a:ext cx="77" cy="54"/>
              </a:xfrm>
              <a:custGeom>
                <a:avLst/>
                <a:gdLst>
                  <a:gd name="txL" fmla="*/ 0 w 77"/>
                  <a:gd name="txT" fmla="*/ 0 h 54"/>
                  <a:gd name="txR" fmla="*/ 77 w 77"/>
                  <a:gd name="txB" fmla="*/ 54 h 54"/>
                </a:gdLst>
                <a:ahLst/>
                <a:cxnLst>
                  <a:cxn ang="0">
                    <a:pos x="77" y="42"/>
                  </a:cxn>
                  <a:cxn ang="0">
                    <a:pos x="65" y="48"/>
                  </a:cxn>
                  <a:cxn ang="0">
                    <a:pos x="59" y="48"/>
                  </a:cxn>
                  <a:cxn ang="0">
                    <a:pos x="59" y="48"/>
                  </a:cxn>
                  <a:cxn ang="0">
                    <a:pos x="65" y="36"/>
                  </a:cxn>
                  <a:cxn ang="0">
                    <a:pos x="71" y="24"/>
                  </a:cxn>
                  <a:cxn ang="0">
                    <a:pos x="77" y="6"/>
                  </a:cxn>
                  <a:cxn ang="0">
                    <a:pos x="77" y="0"/>
                  </a:cxn>
                  <a:cxn ang="0">
                    <a:pos x="71" y="0"/>
                  </a:cxn>
                  <a:cxn ang="0">
                    <a:pos x="65" y="0"/>
                  </a:cxn>
                  <a:cxn ang="0">
                    <a:pos x="65" y="0"/>
                  </a:cxn>
                  <a:cxn ang="0">
                    <a:pos x="59" y="6"/>
                  </a:cxn>
                  <a:cxn ang="0">
                    <a:pos x="59" y="6"/>
                  </a:cxn>
                  <a:cxn ang="0">
                    <a:pos x="53" y="0"/>
                  </a:cxn>
                  <a:cxn ang="0">
                    <a:pos x="47" y="0"/>
                  </a:cxn>
                  <a:cxn ang="0">
                    <a:pos x="29" y="6"/>
                  </a:cxn>
                  <a:cxn ang="0">
                    <a:pos x="17" y="12"/>
                  </a:cxn>
                  <a:cxn ang="0">
                    <a:pos x="5" y="30"/>
                  </a:cxn>
                  <a:cxn ang="0">
                    <a:pos x="0" y="42"/>
                  </a:cxn>
                  <a:cxn ang="0">
                    <a:pos x="0" y="48"/>
                  </a:cxn>
                  <a:cxn ang="0">
                    <a:pos x="5" y="54"/>
                  </a:cxn>
                  <a:cxn ang="0">
                    <a:pos x="17" y="54"/>
                  </a:cxn>
                  <a:cxn ang="0">
                    <a:pos x="35" y="54"/>
                  </a:cxn>
                  <a:cxn ang="0">
                    <a:pos x="41" y="48"/>
                  </a:cxn>
                  <a:cxn ang="0">
                    <a:pos x="47" y="36"/>
                  </a:cxn>
                  <a:cxn ang="0">
                    <a:pos x="47" y="36"/>
                  </a:cxn>
                  <a:cxn ang="0">
                    <a:pos x="47" y="42"/>
                  </a:cxn>
                  <a:cxn ang="0">
                    <a:pos x="47" y="48"/>
                  </a:cxn>
                  <a:cxn ang="0">
                    <a:pos x="47" y="54"/>
                  </a:cxn>
                  <a:cxn ang="0">
                    <a:pos x="53" y="54"/>
                  </a:cxn>
                  <a:cxn ang="0">
                    <a:pos x="65" y="48"/>
                  </a:cxn>
                  <a:cxn ang="0">
                    <a:pos x="77" y="42"/>
                  </a:cxn>
                  <a:cxn ang="0">
                    <a:pos x="77" y="42"/>
                  </a:cxn>
                  <a:cxn ang="0">
                    <a:pos x="11" y="42"/>
                  </a:cxn>
                  <a:cxn ang="0">
                    <a:pos x="17" y="30"/>
                  </a:cxn>
                  <a:cxn ang="0">
                    <a:pos x="23" y="18"/>
                  </a:cxn>
                  <a:cxn ang="0">
                    <a:pos x="35" y="6"/>
                  </a:cxn>
                  <a:cxn ang="0">
                    <a:pos x="47" y="0"/>
                  </a:cxn>
                  <a:cxn ang="0">
                    <a:pos x="53" y="6"/>
                  </a:cxn>
                  <a:cxn ang="0">
                    <a:pos x="59" y="12"/>
                  </a:cxn>
                  <a:cxn ang="0">
                    <a:pos x="59" y="24"/>
                  </a:cxn>
                  <a:cxn ang="0">
                    <a:pos x="47" y="36"/>
                  </a:cxn>
                  <a:cxn ang="0">
                    <a:pos x="35" y="42"/>
                  </a:cxn>
                  <a:cxn ang="0">
                    <a:pos x="23" y="48"/>
                  </a:cxn>
                  <a:cxn ang="0">
                    <a:pos x="17" y="48"/>
                  </a:cxn>
                  <a:cxn ang="0">
                    <a:pos x="11" y="42"/>
                  </a:cxn>
                  <a:cxn ang="0">
                    <a:pos x="11" y="42"/>
                  </a:cxn>
                </a:cxnLst>
                <a:rect l="txL" t="txT" r="txR" b="txB"/>
                <a:pathLst>
                  <a:path w="77" h="54">
                    <a:moveTo>
                      <a:pt x="77" y="42"/>
                    </a:moveTo>
                    <a:lnTo>
                      <a:pt x="65" y="48"/>
                    </a:lnTo>
                    <a:lnTo>
                      <a:pt x="59" y="48"/>
                    </a:lnTo>
                    <a:lnTo>
                      <a:pt x="65" y="36"/>
                    </a:lnTo>
                    <a:lnTo>
                      <a:pt x="71" y="24"/>
                    </a:lnTo>
                    <a:lnTo>
                      <a:pt x="77" y="6"/>
                    </a:lnTo>
                    <a:lnTo>
                      <a:pt x="77" y="0"/>
                    </a:lnTo>
                    <a:lnTo>
                      <a:pt x="71" y="0"/>
                    </a:lnTo>
                    <a:lnTo>
                      <a:pt x="65" y="0"/>
                    </a:lnTo>
                    <a:lnTo>
                      <a:pt x="59" y="6"/>
                    </a:lnTo>
                    <a:lnTo>
                      <a:pt x="53" y="0"/>
                    </a:lnTo>
                    <a:lnTo>
                      <a:pt x="47" y="0"/>
                    </a:lnTo>
                    <a:lnTo>
                      <a:pt x="29" y="6"/>
                    </a:lnTo>
                    <a:lnTo>
                      <a:pt x="17" y="12"/>
                    </a:lnTo>
                    <a:lnTo>
                      <a:pt x="5" y="30"/>
                    </a:lnTo>
                    <a:lnTo>
                      <a:pt x="0" y="42"/>
                    </a:lnTo>
                    <a:lnTo>
                      <a:pt x="0" y="48"/>
                    </a:lnTo>
                    <a:lnTo>
                      <a:pt x="5" y="54"/>
                    </a:lnTo>
                    <a:lnTo>
                      <a:pt x="17" y="54"/>
                    </a:lnTo>
                    <a:lnTo>
                      <a:pt x="35" y="54"/>
                    </a:lnTo>
                    <a:lnTo>
                      <a:pt x="41" y="48"/>
                    </a:lnTo>
                    <a:lnTo>
                      <a:pt x="47" y="36"/>
                    </a:lnTo>
                    <a:lnTo>
                      <a:pt x="47" y="42"/>
                    </a:lnTo>
                    <a:lnTo>
                      <a:pt x="47" y="48"/>
                    </a:lnTo>
                    <a:lnTo>
                      <a:pt x="47" y="54"/>
                    </a:lnTo>
                    <a:lnTo>
                      <a:pt x="53" y="54"/>
                    </a:lnTo>
                    <a:lnTo>
                      <a:pt x="65" y="48"/>
                    </a:lnTo>
                    <a:lnTo>
                      <a:pt x="77" y="42"/>
                    </a:lnTo>
                    <a:close/>
                    <a:moveTo>
                      <a:pt x="11" y="42"/>
                    </a:moveTo>
                    <a:lnTo>
                      <a:pt x="17" y="30"/>
                    </a:lnTo>
                    <a:lnTo>
                      <a:pt x="23" y="18"/>
                    </a:lnTo>
                    <a:lnTo>
                      <a:pt x="35" y="6"/>
                    </a:lnTo>
                    <a:lnTo>
                      <a:pt x="47" y="0"/>
                    </a:lnTo>
                    <a:lnTo>
                      <a:pt x="53" y="6"/>
                    </a:lnTo>
                    <a:lnTo>
                      <a:pt x="59" y="12"/>
                    </a:lnTo>
                    <a:lnTo>
                      <a:pt x="59" y="24"/>
                    </a:lnTo>
                    <a:lnTo>
                      <a:pt x="47" y="36"/>
                    </a:lnTo>
                    <a:lnTo>
                      <a:pt x="35" y="42"/>
                    </a:lnTo>
                    <a:lnTo>
                      <a:pt x="23" y="48"/>
                    </a:lnTo>
                    <a:lnTo>
                      <a:pt x="17" y="48"/>
                    </a:lnTo>
                    <a:lnTo>
                      <a:pt x="11" y="4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01" name="Freeform 157"/>
              <p:cNvSpPr>
                <a:spLocks noEditPoints="1"/>
              </p:cNvSpPr>
              <p:nvPr/>
            </p:nvSpPr>
            <p:spPr>
              <a:xfrm>
                <a:off x="1848" y="3062"/>
                <a:ext cx="137" cy="107"/>
              </a:xfrm>
              <a:custGeom>
                <a:avLst/>
                <a:gdLst>
                  <a:gd name="txL" fmla="*/ 0 w 137"/>
                  <a:gd name="txT" fmla="*/ 0 h 107"/>
                  <a:gd name="txR" fmla="*/ 137 w 137"/>
                  <a:gd name="txB" fmla="*/ 107 h 107"/>
                </a:gdLst>
                <a:ahLst/>
                <a:cxnLst>
                  <a:cxn ang="0">
                    <a:pos x="131" y="101"/>
                  </a:cxn>
                  <a:cxn ang="0">
                    <a:pos x="119" y="95"/>
                  </a:cxn>
                  <a:cxn ang="0">
                    <a:pos x="113" y="89"/>
                  </a:cxn>
                  <a:cxn ang="0">
                    <a:pos x="89" y="53"/>
                  </a:cxn>
                  <a:cxn ang="0">
                    <a:pos x="113" y="47"/>
                  </a:cxn>
                  <a:cxn ang="0">
                    <a:pos x="125" y="42"/>
                  </a:cxn>
                  <a:cxn ang="0">
                    <a:pos x="137" y="36"/>
                  </a:cxn>
                  <a:cxn ang="0">
                    <a:pos x="137" y="24"/>
                  </a:cxn>
                  <a:cxn ang="0">
                    <a:pos x="131" y="12"/>
                  </a:cxn>
                  <a:cxn ang="0">
                    <a:pos x="113" y="6"/>
                  </a:cxn>
                  <a:cxn ang="0">
                    <a:pos x="101" y="0"/>
                  </a:cxn>
                  <a:cxn ang="0">
                    <a:pos x="89" y="0"/>
                  </a:cxn>
                  <a:cxn ang="0">
                    <a:pos x="36" y="0"/>
                  </a:cxn>
                  <a:cxn ang="0">
                    <a:pos x="36" y="6"/>
                  </a:cxn>
                  <a:cxn ang="0">
                    <a:pos x="42" y="6"/>
                  </a:cxn>
                  <a:cxn ang="0">
                    <a:pos x="48" y="12"/>
                  </a:cxn>
                  <a:cxn ang="0">
                    <a:pos x="48" y="18"/>
                  </a:cxn>
                  <a:cxn ang="0">
                    <a:pos x="48" y="18"/>
                  </a:cxn>
                  <a:cxn ang="0">
                    <a:pos x="18" y="89"/>
                  </a:cxn>
                  <a:cxn ang="0">
                    <a:pos x="12" y="101"/>
                  </a:cxn>
                  <a:cxn ang="0">
                    <a:pos x="0" y="101"/>
                  </a:cxn>
                  <a:cxn ang="0">
                    <a:pos x="0" y="107"/>
                  </a:cxn>
                  <a:cxn ang="0">
                    <a:pos x="54" y="107"/>
                  </a:cxn>
                  <a:cxn ang="0">
                    <a:pos x="54" y="101"/>
                  </a:cxn>
                  <a:cxn ang="0">
                    <a:pos x="42" y="101"/>
                  </a:cxn>
                  <a:cxn ang="0">
                    <a:pos x="42" y="95"/>
                  </a:cxn>
                  <a:cxn ang="0">
                    <a:pos x="42" y="95"/>
                  </a:cxn>
                  <a:cxn ang="0">
                    <a:pos x="42" y="89"/>
                  </a:cxn>
                  <a:cxn ang="0">
                    <a:pos x="54" y="53"/>
                  </a:cxn>
                  <a:cxn ang="0">
                    <a:pos x="72" y="53"/>
                  </a:cxn>
                  <a:cxn ang="0">
                    <a:pos x="95" y="107"/>
                  </a:cxn>
                  <a:cxn ang="0">
                    <a:pos x="131" y="107"/>
                  </a:cxn>
                  <a:cxn ang="0">
                    <a:pos x="131" y="101"/>
                  </a:cxn>
                  <a:cxn ang="0">
                    <a:pos x="72" y="12"/>
                  </a:cxn>
                  <a:cxn ang="0">
                    <a:pos x="78" y="6"/>
                  </a:cxn>
                  <a:cxn ang="0">
                    <a:pos x="84" y="6"/>
                  </a:cxn>
                  <a:cxn ang="0">
                    <a:pos x="107" y="12"/>
                  </a:cxn>
                  <a:cxn ang="0">
                    <a:pos x="113" y="24"/>
                  </a:cxn>
                  <a:cxn ang="0">
                    <a:pos x="101" y="42"/>
                  </a:cxn>
                  <a:cxn ang="0">
                    <a:pos x="89" y="47"/>
                  </a:cxn>
                  <a:cxn ang="0">
                    <a:pos x="72" y="47"/>
                  </a:cxn>
                  <a:cxn ang="0">
                    <a:pos x="66" y="47"/>
                  </a:cxn>
                  <a:cxn ang="0">
                    <a:pos x="60" y="47"/>
                  </a:cxn>
                  <a:cxn ang="0">
                    <a:pos x="72" y="12"/>
                  </a:cxn>
                </a:cxnLst>
                <a:rect l="txL" t="txT" r="txR" b="txB"/>
                <a:pathLst>
                  <a:path w="137" h="107">
                    <a:moveTo>
                      <a:pt x="131" y="101"/>
                    </a:moveTo>
                    <a:lnTo>
                      <a:pt x="119" y="95"/>
                    </a:lnTo>
                    <a:lnTo>
                      <a:pt x="113" y="89"/>
                    </a:lnTo>
                    <a:lnTo>
                      <a:pt x="89" y="53"/>
                    </a:lnTo>
                    <a:lnTo>
                      <a:pt x="113" y="47"/>
                    </a:lnTo>
                    <a:lnTo>
                      <a:pt x="125" y="42"/>
                    </a:lnTo>
                    <a:lnTo>
                      <a:pt x="137" y="36"/>
                    </a:lnTo>
                    <a:lnTo>
                      <a:pt x="137" y="24"/>
                    </a:lnTo>
                    <a:lnTo>
                      <a:pt x="131" y="12"/>
                    </a:lnTo>
                    <a:lnTo>
                      <a:pt x="113" y="6"/>
                    </a:lnTo>
                    <a:lnTo>
                      <a:pt x="101" y="0"/>
                    </a:lnTo>
                    <a:lnTo>
                      <a:pt x="89" y="0"/>
                    </a:lnTo>
                    <a:lnTo>
                      <a:pt x="36" y="0"/>
                    </a:lnTo>
                    <a:lnTo>
                      <a:pt x="36" y="6"/>
                    </a:lnTo>
                    <a:lnTo>
                      <a:pt x="42" y="6"/>
                    </a:lnTo>
                    <a:lnTo>
                      <a:pt x="48" y="12"/>
                    </a:lnTo>
                    <a:lnTo>
                      <a:pt x="48" y="18"/>
                    </a:lnTo>
                    <a:lnTo>
                      <a:pt x="18" y="89"/>
                    </a:lnTo>
                    <a:lnTo>
                      <a:pt x="12" y="101"/>
                    </a:lnTo>
                    <a:lnTo>
                      <a:pt x="0" y="101"/>
                    </a:lnTo>
                    <a:lnTo>
                      <a:pt x="0" y="107"/>
                    </a:lnTo>
                    <a:lnTo>
                      <a:pt x="54" y="107"/>
                    </a:lnTo>
                    <a:lnTo>
                      <a:pt x="54" y="101"/>
                    </a:lnTo>
                    <a:lnTo>
                      <a:pt x="42" y="101"/>
                    </a:lnTo>
                    <a:lnTo>
                      <a:pt x="42" y="95"/>
                    </a:lnTo>
                    <a:lnTo>
                      <a:pt x="42" y="89"/>
                    </a:lnTo>
                    <a:lnTo>
                      <a:pt x="54" y="53"/>
                    </a:lnTo>
                    <a:lnTo>
                      <a:pt x="72" y="53"/>
                    </a:lnTo>
                    <a:lnTo>
                      <a:pt x="95" y="107"/>
                    </a:lnTo>
                    <a:lnTo>
                      <a:pt x="131" y="107"/>
                    </a:lnTo>
                    <a:lnTo>
                      <a:pt x="131" y="101"/>
                    </a:lnTo>
                    <a:close/>
                    <a:moveTo>
                      <a:pt x="72" y="12"/>
                    </a:moveTo>
                    <a:lnTo>
                      <a:pt x="78" y="6"/>
                    </a:lnTo>
                    <a:lnTo>
                      <a:pt x="84" y="6"/>
                    </a:lnTo>
                    <a:lnTo>
                      <a:pt x="107" y="12"/>
                    </a:lnTo>
                    <a:lnTo>
                      <a:pt x="113" y="24"/>
                    </a:lnTo>
                    <a:lnTo>
                      <a:pt x="101" y="42"/>
                    </a:lnTo>
                    <a:lnTo>
                      <a:pt x="89" y="47"/>
                    </a:lnTo>
                    <a:lnTo>
                      <a:pt x="72" y="47"/>
                    </a:lnTo>
                    <a:lnTo>
                      <a:pt x="66" y="47"/>
                    </a:lnTo>
                    <a:lnTo>
                      <a:pt x="60" y="47"/>
                    </a:lnTo>
                    <a:lnTo>
                      <a:pt x="72"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0502" name="Freeform 158"/>
              <p:cNvSpPr>
                <a:spLocks noEditPoints="1"/>
              </p:cNvSpPr>
              <p:nvPr/>
            </p:nvSpPr>
            <p:spPr>
              <a:xfrm>
                <a:off x="1991" y="3127"/>
                <a:ext cx="78" cy="84"/>
              </a:xfrm>
              <a:custGeom>
                <a:avLst/>
                <a:gdLst>
                  <a:gd name="txL" fmla="*/ 0 w 78"/>
                  <a:gd name="txT" fmla="*/ 0 h 84"/>
                  <a:gd name="txR" fmla="*/ 78 w 78"/>
                  <a:gd name="txB" fmla="*/ 84 h 84"/>
                </a:gdLst>
                <a:ahLst/>
                <a:cxnLst>
                  <a:cxn ang="0">
                    <a:pos x="66" y="42"/>
                  </a:cxn>
                  <a:cxn ang="0">
                    <a:pos x="66" y="54"/>
                  </a:cxn>
                  <a:cxn ang="0">
                    <a:pos x="54" y="66"/>
                  </a:cxn>
                  <a:cxn ang="0">
                    <a:pos x="42" y="72"/>
                  </a:cxn>
                  <a:cxn ang="0">
                    <a:pos x="24" y="78"/>
                  </a:cxn>
                  <a:cxn ang="0">
                    <a:pos x="18" y="78"/>
                  </a:cxn>
                  <a:cxn ang="0">
                    <a:pos x="18" y="78"/>
                  </a:cxn>
                  <a:cxn ang="0">
                    <a:pos x="24" y="66"/>
                  </a:cxn>
                  <a:cxn ang="0">
                    <a:pos x="30" y="54"/>
                  </a:cxn>
                  <a:cxn ang="0">
                    <a:pos x="42" y="42"/>
                  </a:cxn>
                  <a:cxn ang="0">
                    <a:pos x="54" y="36"/>
                  </a:cxn>
                  <a:cxn ang="0">
                    <a:pos x="66" y="42"/>
                  </a:cxn>
                  <a:cxn ang="0">
                    <a:pos x="66" y="42"/>
                  </a:cxn>
                  <a:cxn ang="0">
                    <a:pos x="66" y="42"/>
                  </a:cxn>
                  <a:cxn ang="0">
                    <a:pos x="18" y="6"/>
                  </a:cxn>
                  <a:cxn ang="0">
                    <a:pos x="30" y="6"/>
                  </a:cxn>
                  <a:cxn ang="0">
                    <a:pos x="30" y="6"/>
                  </a:cxn>
                  <a:cxn ang="0">
                    <a:pos x="30" y="12"/>
                  </a:cxn>
                  <a:cxn ang="0">
                    <a:pos x="24" y="12"/>
                  </a:cxn>
                  <a:cxn ang="0">
                    <a:pos x="0" y="78"/>
                  </a:cxn>
                  <a:cxn ang="0">
                    <a:pos x="0" y="78"/>
                  </a:cxn>
                  <a:cxn ang="0">
                    <a:pos x="6" y="78"/>
                  </a:cxn>
                  <a:cxn ang="0">
                    <a:pos x="12" y="84"/>
                  </a:cxn>
                  <a:cxn ang="0">
                    <a:pos x="24" y="84"/>
                  </a:cxn>
                  <a:cxn ang="0">
                    <a:pos x="48" y="78"/>
                  </a:cxn>
                  <a:cxn ang="0">
                    <a:pos x="60" y="72"/>
                  </a:cxn>
                  <a:cxn ang="0">
                    <a:pos x="72" y="54"/>
                  </a:cxn>
                  <a:cxn ang="0">
                    <a:pos x="78" y="42"/>
                  </a:cxn>
                  <a:cxn ang="0">
                    <a:pos x="72" y="36"/>
                  </a:cxn>
                  <a:cxn ang="0">
                    <a:pos x="60" y="30"/>
                  </a:cxn>
                  <a:cxn ang="0">
                    <a:pos x="42" y="36"/>
                  </a:cxn>
                  <a:cxn ang="0">
                    <a:pos x="30" y="48"/>
                  </a:cxn>
                  <a:cxn ang="0">
                    <a:pos x="30" y="48"/>
                  </a:cxn>
                  <a:cxn ang="0">
                    <a:pos x="36" y="18"/>
                  </a:cxn>
                  <a:cxn ang="0">
                    <a:pos x="42" y="6"/>
                  </a:cxn>
                  <a:cxn ang="0">
                    <a:pos x="42" y="0"/>
                  </a:cxn>
                  <a:cxn ang="0">
                    <a:pos x="42" y="0"/>
                  </a:cxn>
                  <a:cxn ang="0">
                    <a:pos x="30" y="0"/>
                  </a:cxn>
                  <a:cxn ang="0">
                    <a:pos x="18" y="0"/>
                  </a:cxn>
                  <a:cxn ang="0">
                    <a:pos x="18" y="6"/>
                  </a:cxn>
                </a:cxnLst>
                <a:rect l="txL" t="txT" r="txR" b="txB"/>
                <a:pathLst>
                  <a:path w="78" h="84">
                    <a:moveTo>
                      <a:pt x="66" y="42"/>
                    </a:moveTo>
                    <a:lnTo>
                      <a:pt x="66" y="54"/>
                    </a:lnTo>
                    <a:lnTo>
                      <a:pt x="54" y="66"/>
                    </a:lnTo>
                    <a:lnTo>
                      <a:pt x="42" y="72"/>
                    </a:lnTo>
                    <a:lnTo>
                      <a:pt x="24" y="78"/>
                    </a:lnTo>
                    <a:lnTo>
                      <a:pt x="18" y="78"/>
                    </a:lnTo>
                    <a:lnTo>
                      <a:pt x="24" y="66"/>
                    </a:lnTo>
                    <a:lnTo>
                      <a:pt x="30" y="54"/>
                    </a:lnTo>
                    <a:lnTo>
                      <a:pt x="42" y="42"/>
                    </a:lnTo>
                    <a:lnTo>
                      <a:pt x="54" y="36"/>
                    </a:lnTo>
                    <a:lnTo>
                      <a:pt x="66" y="42"/>
                    </a:lnTo>
                    <a:close/>
                    <a:moveTo>
                      <a:pt x="18" y="6"/>
                    </a:moveTo>
                    <a:lnTo>
                      <a:pt x="30" y="6"/>
                    </a:lnTo>
                    <a:lnTo>
                      <a:pt x="30" y="12"/>
                    </a:lnTo>
                    <a:lnTo>
                      <a:pt x="24" y="12"/>
                    </a:lnTo>
                    <a:lnTo>
                      <a:pt x="0" y="78"/>
                    </a:lnTo>
                    <a:lnTo>
                      <a:pt x="6" y="78"/>
                    </a:lnTo>
                    <a:lnTo>
                      <a:pt x="12" y="84"/>
                    </a:lnTo>
                    <a:lnTo>
                      <a:pt x="24" y="84"/>
                    </a:lnTo>
                    <a:lnTo>
                      <a:pt x="48" y="78"/>
                    </a:lnTo>
                    <a:lnTo>
                      <a:pt x="60" y="72"/>
                    </a:lnTo>
                    <a:lnTo>
                      <a:pt x="72" y="54"/>
                    </a:lnTo>
                    <a:lnTo>
                      <a:pt x="78" y="42"/>
                    </a:lnTo>
                    <a:lnTo>
                      <a:pt x="72" y="36"/>
                    </a:lnTo>
                    <a:lnTo>
                      <a:pt x="60" y="30"/>
                    </a:lnTo>
                    <a:lnTo>
                      <a:pt x="42" y="36"/>
                    </a:lnTo>
                    <a:lnTo>
                      <a:pt x="30" y="48"/>
                    </a:lnTo>
                    <a:lnTo>
                      <a:pt x="36" y="18"/>
                    </a:lnTo>
                    <a:lnTo>
                      <a:pt x="42" y="6"/>
                    </a:lnTo>
                    <a:lnTo>
                      <a:pt x="42" y="0"/>
                    </a:lnTo>
                    <a:lnTo>
                      <a:pt x="30" y="0"/>
                    </a:lnTo>
                    <a:lnTo>
                      <a:pt x="18" y="0"/>
                    </a:lnTo>
                    <a:lnTo>
                      <a:pt x="18"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gr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内容占位符 5"/>
          <p:cNvPicPr>
            <a:picLocks noChangeAspect="1"/>
          </p:cNvPicPr>
          <p:nvPr>
            <p:ph sz="quarter" idx="2"/>
          </p:nvPr>
        </p:nvPicPr>
        <p:blipFill>
          <a:blip r:embed="rId1"/>
          <a:stretch>
            <a:fillRect/>
          </a:stretch>
        </p:blipFill>
        <p:spPr>
          <a:xfrm>
            <a:off x="1513840" y="335280"/>
            <a:ext cx="6273800" cy="3631565"/>
          </a:xfrm>
          <a:prstGeom prst="rect">
            <a:avLst/>
          </a:prstGeom>
        </p:spPr>
      </p:pic>
      <p:pic>
        <p:nvPicPr>
          <p:cNvPr id="7" name="图片 6"/>
          <p:cNvPicPr>
            <a:picLocks noChangeAspect="1"/>
          </p:cNvPicPr>
          <p:nvPr/>
        </p:nvPicPr>
        <p:blipFill>
          <a:blip r:embed="rId2"/>
          <a:stretch>
            <a:fillRect/>
          </a:stretch>
        </p:blipFill>
        <p:spPr>
          <a:xfrm>
            <a:off x="524510" y="3928110"/>
            <a:ext cx="7967980" cy="2662555"/>
          </a:xfrm>
          <a:prstGeom prst="rect">
            <a:avLst/>
          </a:prstGeom>
        </p:spPr>
      </p:pic>
      <p:sp>
        <p:nvSpPr>
          <p:cNvPr id="2" name="文本框 1"/>
          <p:cNvSpPr txBox="1"/>
          <p:nvPr/>
        </p:nvSpPr>
        <p:spPr>
          <a:xfrm>
            <a:off x="288290" y="875030"/>
            <a:ext cx="1115060" cy="368300"/>
          </a:xfrm>
          <a:prstGeom prst="rect">
            <a:avLst/>
          </a:prstGeom>
          <a:noFill/>
        </p:spPr>
        <p:txBody>
          <a:bodyPr wrap="square" rtlCol="0">
            <a:spAutoFit/>
          </a:bodyPr>
          <a:p>
            <a:r>
              <a:rPr lang="en-US" altLang="zh-CN"/>
              <a:t>  </a:t>
            </a:r>
            <a:r>
              <a:rPr lang="en-US" altLang="zh-CN">
                <a:latin typeface="微软雅黑" panose="020B0503020204020204" charset="-122"/>
                <a:ea typeface="微软雅黑" panose="020B0503020204020204" charset="-122"/>
              </a:rPr>
              <a:t>▷</a:t>
            </a:r>
            <a:r>
              <a:rPr lang="en-US" altLang="zh-CN"/>
              <a:t>to Y</a:t>
            </a:r>
            <a:endParaRPr lang="en-US" altLang="zh-CN"/>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378460" y="1645285"/>
            <a:ext cx="8387080" cy="356743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sz="quarter"/>
          </p:nvPr>
        </p:nvSpPr>
        <p:spPr>
          <a:xfrm>
            <a:off x="457200" y="457200"/>
            <a:ext cx="6923088" cy="1100138"/>
          </a:xfrm>
        </p:spPr>
        <p:txBody>
          <a:bodyPr vert="horz" wrap="square" lIns="91440" tIns="45720" rIns="91440" bIns="45720" anchor="ctr"/>
          <a:p>
            <a:pPr eaLnBrk="1" hangingPunct="1"/>
            <a:r>
              <a:rPr lang="en-US" altLang="zh-CN" b="1" dirty="0">
                <a:solidFill>
                  <a:schemeClr val="bg2"/>
                </a:solidFill>
              </a:rPr>
              <a:t>Delta to wye Conversion</a:t>
            </a:r>
            <a:endParaRPr lang="en-US" altLang="zh-CN" b="1" dirty="0">
              <a:solidFill>
                <a:schemeClr val="bg2"/>
              </a:solidFill>
            </a:endParaRPr>
          </a:p>
        </p:txBody>
      </p:sp>
      <p:graphicFrame>
        <p:nvGraphicFramePr>
          <p:cNvPr id="61443" name="Object 3"/>
          <p:cNvGraphicFramePr>
            <a:graphicFrameLocks noChangeAspect="1"/>
          </p:cNvGraphicFramePr>
          <p:nvPr>
            <p:ph sz="quarter" idx="1"/>
          </p:nvPr>
        </p:nvGraphicFramePr>
        <p:xfrm>
          <a:off x="1403350" y="3933825"/>
          <a:ext cx="2592388" cy="1001713"/>
        </p:xfrm>
        <a:graphic>
          <a:graphicData uri="http://schemas.openxmlformats.org/presentationml/2006/ole">
            <mc:AlternateContent xmlns:mc="http://schemas.openxmlformats.org/markup-compatibility/2006">
              <mc:Choice xmlns:v="urn:schemas-microsoft-com:vml" Requires="v">
                <p:oleObj spid="_x0000_s3147" name="" r:id="rId1" imgW="1117600" imgH="431800" progId="Equation.3">
                  <p:embed/>
                </p:oleObj>
              </mc:Choice>
              <mc:Fallback>
                <p:oleObj name="" r:id="rId1" imgW="1117600" imgH="431800" progId="Equation.3">
                  <p:embed/>
                  <p:pic>
                    <p:nvPicPr>
                      <p:cNvPr id="0" name="图片 3146"/>
                      <p:cNvPicPr/>
                      <p:nvPr/>
                    </p:nvPicPr>
                    <p:blipFill>
                      <a:blip r:embed="rId2"/>
                      <a:srcRect/>
                      <a:stretch>
                        <a:fillRect/>
                      </a:stretch>
                    </p:blipFill>
                    <p:spPr>
                      <a:xfrm>
                        <a:off x="1403350" y="3933825"/>
                        <a:ext cx="2592388" cy="1001713"/>
                      </a:xfrm>
                      <a:prstGeom prst="rect">
                        <a:avLst/>
                      </a:prstGeom>
                      <a:noFill/>
                      <a:ln w="38100">
                        <a:miter/>
                      </a:ln>
                    </p:spPr>
                  </p:pic>
                </p:oleObj>
              </mc:Fallback>
            </mc:AlternateContent>
          </a:graphicData>
        </a:graphic>
      </p:graphicFrame>
      <p:graphicFrame>
        <p:nvGraphicFramePr>
          <p:cNvPr id="61444" name="Object 4"/>
          <p:cNvGraphicFramePr>
            <a:graphicFrameLocks noChangeAspect="1"/>
          </p:cNvGraphicFramePr>
          <p:nvPr>
            <p:ph sz="quarter" idx="2"/>
          </p:nvPr>
        </p:nvGraphicFramePr>
        <p:xfrm>
          <a:off x="1331913" y="1700213"/>
          <a:ext cx="2520950" cy="985837"/>
        </p:xfrm>
        <a:graphic>
          <a:graphicData uri="http://schemas.openxmlformats.org/presentationml/2006/ole">
            <mc:AlternateContent xmlns:mc="http://schemas.openxmlformats.org/markup-compatibility/2006">
              <mc:Choice xmlns:v="urn:schemas-microsoft-com:vml" Requires="v">
                <p:oleObj spid="_x0000_s3145" name="" r:id="rId3" imgW="1104900" imgH="431800" progId="Equation.3">
                  <p:embed/>
                </p:oleObj>
              </mc:Choice>
              <mc:Fallback>
                <p:oleObj name="" r:id="rId3" imgW="1104900" imgH="431800" progId="Equation.3">
                  <p:embed/>
                  <p:pic>
                    <p:nvPicPr>
                      <p:cNvPr id="0" name="图片 3144"/>
                      <p:cNvPicPr/>
                      <p:nvPr/>
                    </p:nvPicPr>
                    <p:blipFill>
                      <a:blip r:embed="rId4"/>
                      <a:srcRect/>
                      <a:stretch>
                        <a:fillRect/>
                      </a:stretch>
                    </p:blipFill>
                    <p:spPr>
                      <a:xfrm>
                        <a:off x="1331913" y="1700213"/>
                        <a:ext cx="2520950" cy="985837"/>
                      </a:xfrm>
                      <a:prstGeom prst="rect">
                        <a:avLst/>
                      </a:prstGeom>
                      <a:noFill/>
                      <a:ln w="38100">
                        <a:miter/>
                      </a:ln>
                    </p:spPr>
                  </p:pic>
                </p:oleObj>
              </mc:Fallback>
            </mc:AlternateContent>
          </a:graphicData>
        </a:graphic>
      </p:graphicFrame>
      <p:graphicFrame>
        <p:nvGraphicFramePr>
          <p:cNvPr id="61445" name="Object 5"/>
          <p:cNvGraphicFramePr>
            <a:graphicFrameLocks noChangeAspect="1"/>
          </p:cNvGraphicFramePr>
          <p:nvPr>
            <p:ph sz="quarter" idx="3"/>
          </p:nvPr>
        </p:nvGraphicFramePr>
        <p:xfrm>
          <a:off x="1331913" y="2781300"/>
          <a:ext cx="2582862" cy="998538"/>
        </p:xfrm>
        <a:graphic>
          <a:graphicData uri="http://schemas.openxmlformats.org/presentationml/2006/ole">
            <mc:AlternateContent xmlns:mc="http://schemas.openxmlformats.org/markup-compatibility/2006">
              <mc:Choice xmlns:v="urn:schemas-microsoft-com:vml" Requires="v">
                <p:oleObj spid="_x0000_s3146" name="" r:id="rId5" imgW="1117600" imgH="431800" progId="Equation.3">
                  <p:embed/>
                </p:oleObj>
              </mc:Choice>
              <mc:Fallback>
                <p:oleObj name="" r:id="rId5" imgW="1117600" imgH="431800" progId="Equation.3">
                  <p:embed/>
                  <p:pic>
                    <p:nvPicPr>
                      <p:cNvPr id="0" name="图片 3145"/>
                      <p:cNvPicPr/>
                      <p:nvPr/>
                    </p:nvPicPr>
                    <p:blipFill>
                      <a:blip r:embed="rId6"/>
                      <a:srcRect/>
                      <a:stretch>
                        <a:fillRect/>
                      </a:stretch>
                    </p:blipFill>
                    <p:spPr>
                      <a:xfrm>
                        <a:off x="1331913" y="2781300"/>
                        <a:ext cx="2582862" cy="998538"/>
                      </a:xfrm>
                      <a:prstGeom prst="rect">
                        <a:avLst/>
                      </a:prstGeom>
                      <a:noFill/>
                      <a:ln w="38100">
                        <a:miter/>
                      </a:ln>
                    </p:spPr>
                  </p:pic>
                </p:oleObj>
              </mc:Fallback>
            </mc:AlternateContent>
          </a:graphicData>
        </a:graphic>
      </p:graphicFrame>
      <p:grpSp>
        <p:nvGrpSpPr>
          <p:cNvPr id="61446" name="Group 158"/>
          <p:cNvGrpSpPr/>
          <p:nvPr/>
        </p:nvGrpSpPr>
        <p:grpSpPr>
          <a:xfrm>
            <a:off x="5219700" y="1700213"/>
            <a:ext cx="3167063" cy="2335212"/>
            <a:chOff x="1047" y="643"/>
            <a:chExt cx="3654" cy="3027"/>
          </a:xfrm>
        </p:grpSpPr>
        <p:sp>
          <p:nvSpPr>
            <p:cNvPr id="61452" name="Freeform 159"/>
            <p:cNvSpPr/>
            <p:nvPr/>
          </p:nvSpPr>
          <p:spPr>
            <a:xfrm>
              <a:off x="1238" y="971"/>
              <a:ext cx="1651" cy="836"/>
            </a:xfrm>
            <a:custGeom>
              <a:avLst/>
              <a:gdLst>
                <a:gd name="txL" fmla="*/ 0 w 1651"/>
                <a:gd name="txT" fmla="*/ 0 h 836"/>
                <a:gd name="txR" fmla="*/ 1651 w 1651"/>
                <a:gd name="txB" fmla="*/ 836 h 836"/>
              </a:gdLst>
              <a:ahLst/>
              <a:cxnLst>
                <a:cxn ang="0">
                  <a:pos x="1651" y="836"/>
                </a:cxn>
                <a:cxn ang="0">
                  <a:pos x="0" y="0"/>
                </a:cxn>
                <a:cxn ang="0">
                  <a:pos x="1651" y="836"/>
                </a:cxn>
                <a:cxn ang="0">
                  <a:pos x="1651" y="836"/>
                </a:cxn>
              </a:cxnLst>
              <a:rect l="txL" t="txT" r="txR" b="txB"/>
              <a:pathLst>
                <a:path w="1651" h="836">
                  <a:moveTo>
                    <a:pt x="1651" y="836"/>
                  </a:moveTo>
                  <a:lnTo>
                    <a:pt x="0" y="0"/>
                  </a:lnTo>
                  <a:lnTo>
                    <a:pt x="1651" y="83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53" name="Freeform 160"/>
            <p:cNvSpPr>
              <a:spLocks noEditPoints="1"/>
            </p:cNvSpPr>
            <p:nvPr/>
          </p:nvSpPr>
          <p:spPr>
            <a:xfrm>
              <a:off x="2889" y="977"/>
              <a:ext cx="1633" cy="2502"/>
            </a:xfrm>
            <a:custGeom>
              <a:avLst/>
              <a:gdLst>
                <a:gd name="txL" fmla="*/ 0 w 1633"/>
                <a:gd name="txT" fmla="*/ 0 h 2502"/>
                <a:gd name="txR" fmla="*/ 1633 w 1633"/>
                <a:gd name="txB" fmla="*/ 2502 h 2502"/>
              </a:gdLst>
              <a:ahLst/>
              <a:cxnLst>
                <a:cxn ang="0">
                  <a:pos x="1633" y="0"/>
                </a:cxn>
                <a:cxn ang="0">
                  <a:pos x="0" y="830"/>
                </a:cxn>
                <a:cxn ang="0">
                  <a:pos x="1633" y="0"/>
                </a:cxn>
                <a:cxn ang="0">
                  <a:pos x="1633" y="0"/>
                </a:cxn>
                <a:cxn ang="0">
                  <a:pos x="0" y="830"/>
                </a:cxn>
                <a:cxn ang="0">
                  <a:pos x="0" y="2502"/>
                </a:cxn>
                <a:cxn ang="0">
                  <a:pos x="0" y="830"/>
                </a:cxn>
                <a:cxn ang="0">
                  <a:pos x="0" y="830"/>
                </a:cxn>
              </a:cxnLst>
              <a:rect l="txL" t="txT" r="txR" b="txB"/>
              <a:pathLst>
                <a:path w="1633" h="2502">
                  <a:moveTo>
                    <a:pt x="1633" y="0"/>
                  </a:moveTo>
                  <a:lnTo>
                    <a:pt x="0" y="830"/>
                  </a:lnTo>
                  <a:lnTo>
                    <a:pt x="1633" y="0"/>
                  </a:lnTo>
                  <a:close/>
                  <a:moveTo>
                    <a:pt x="0" y="830"/>
                  </a:moveTo>
                  <a:lnTo>
                    <a:pt x="0" y="2502"/>
                  </a:lnTo>
                  <a:lnTo>
                    <a:pt x="0" y="8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54" name="Freeform 161"/>
            <p:cNvSpPr/>
            <p:nvPr/>
          </p:nvSpPr>
          <p:spPr>
            <a:xfrm>
              <a:off x="2895" y="971"/>
              <a:ext cx="1633" cy="2508"/>
            </a:xfrm>
            <a:custGeom>
              <a:avLst/>
              <a:gdLst>
                <a:gd name="txL" fmla="*/ 0 w 1633"/>
                <a:gd name="txT" fmla="*/ 0 h 2508"/>
                <a:gd name="txR" fmla="*/ 1633 w 1633"/>
                <a:gd name="txB" fmla="*/ 2508 h 2508"/>
              </a:gdLst>
              <a:ahLst/>
              <a:cxnLst>
                <a:cxn ang="0">
                  <a:pos x="1633" y="0"/>
                </a:cxn>
                <a:cxn ang="0">
                  <a:pos x="0" y="2508"/>
                </a:cxn>
                <a:cxn ang="0">
                  <a:pos x="1633" y="0"/>
                </a:cxn>
                <a:cxn ang="0">
                  <a:pos x="1633" y="0"/>
                </a:cxn>
              </a:cxnLst>
              <a:rect l="txL" t="txT" r="txR" b="txB"/>
              <a:pathLst>
                <a:path w="1633" h="2508">
                  <a:moveTo>
                    <a:pt x="1633" y="0"/>
                  </a:moveTo>
                  <a:lnTo>
                    <a:pt x="0" y="2508"/>
                  </a:lnTo>
                  <a:lnTo>
                    <a:pt x="1633"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55" name="Freeform 162"/>
            <p:cNvSpPr>
              <a:spLocks noEditPoints="1"/>
            </p:cNvSpPr>
            <p:nvPr/>
          </p:nvSpPr>
          <p:spPr>
            <a:xfrm>
              <a:off x="1238" y="971"/>
              <a:ext cx="1657" cy="2508"/>
            </a:xfrm>
            <a:custGeom>
              <a:avLst/>
              <a:gdLst>
                <a:gd name="txL" fmla="*/ 0 w 1657"/>
                <a:gd name="txT" fmla="*/ 0 h 2508"/>
                <a:gd name="txR" fmla="*/ 1657 w 1657"/>
                <a:gd name="txB" fmla="*/ 2508 h 2508"/>
              </a:gdLst>
              <a:ahLst/>
              <a:cxnLst>
                <a:cxn ang="0">
                  <a:pos x="1657" y="2508"/>
                </a:cxn>
                <a:cxn ang="0">
                  <a:pos x="0" y="0"/>
                </a:cxn>
                <a:cxn ang="0">
                  <a:pos x="1657" y="2508"/>
                </a:cxn>
                <a:cxn ang="0">
                  <a:pos x="1657" y="2508"/>
                </a:cxn>
                <a:cxn ang="0">
                  <a:pos x="1657" y="2508"/>
                </a:cxn>
                <a:cxn ang="0">
                  <a:pos x="1657" y="2508"/>
                </a:cxn>
                <a:cxn ang="0">
                  <a:pos x="1657" y="2508"/>
                </a:cxn>
              </a:cxnLst>
              <a:rect l="txL" t="txT" r="txR" b="txB"/>
              <a:pathLst>
                <a:path w="1657" h="2508">
                  <a:moveTo>
                    <a:pt x="1657" y="2508"/>
                  </a:moveTo>
                  <a:lnTo>
                    <a:pt x="0" y="0"/>
                  </a:lnTo>
                  <a:lnTo>
                    <a:pt x="1657" y="2508"/>
                  </a:lnTo>
                  <a:close/>
                  <a:moveTo>
                    <a:pt x="1657" y="2508"/>
                  </a:moveTo>
                  <a:lnTo>
                    <a:pt x="1657" y="250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56" name="Freeform 163"/>
            <p:cNvSpPr>
              <a:spLocks noEditPoints="1"/>
            </p:cNvSpPr>
            <p:nvPr/>
          </p:nvSpPr>
          <p:spPr>
            <a:xfrm>
              <a:off x="1238" y="971"/>
              <a:ext cx="3290" cy="1"/>
            </a:xfrm>
            <a:custGeom>
              <a:avLst/>
              <a:gdLst>
                <a:gd name="txL" fmla="*/ 0 w 3290"/>
                <a:gd name="txT" fmla="*/ 0 h 1"/>
                <a:gd name="txR" fmla="*/ 3290 w 3290"/>
                <a:gd name="txB" fmla="*/ 1 h 1"/>
              </a:gdLst>
              <a:ahLst/>
              <a:cxnLst>
                <a:cxn ang="0">
                  <a:pos x="0" y="0"/>
                </a:cxn>
                <a:cxn ang="0">
                  <a:pos x="3290" y="0"/>
                </a:cxn>
                <a:cxn ang="0">
                  <a:pos x="0" y="0"/>
                </a:cxn>
                <a:cxn ang="0">
                  <a:pos x="0" y="0"/>
                </a:cxn>
                <a:cxn ang="0">
                  <a:pos x="0" y="0"/>
                </a:cxn>
                <a:cxn ang="0">
                  <a:pos x="0" y="0"/>
                </a:cxn>
                <a:cxn ang="0">
                  <a:pos x="0" y="0"/>
                </a:cxn>
              </a:cxnLst>
              <a:rect l="txL" t="txT" r="txR" b="txB"/>
              <a:pathLst>
                <a:path w="3290" h="1">
                  <a:moveTo>
                    <a:pt x="0" y="0"/>
                  </a:moveTo>
                  <a:lnTo>
                    <a:pt x="3290" y="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57" name="Freeform 164"/>
            <p:cNvSpPr/>
            <p:nvPr/>
          </p:nvSpPr>
          <p:spPr>
            <a:xfrm>
              <a:off x="4528" y="971"/>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58" name="Freeform 165"/>
            <p:cNvSpPr>
              <a:spLocks noEditPoints="1"/>
            </p:cNvSpPr>
            <p:nvPr/>
          </p:nvSpPr>
          <p:spPr>
            <a:xfrm>
              <a:off x="3038" y="2560"/>
              <a:ext cx="120" cy="125"/>
            </a:xfrm>
            <a:custGeom>
              <a:avLst/>
              <a:gdLst>
                <a:gd name="txL" fmla="*/ 0 w 120"/>
                <a:gd name="txT" fmla="*/ 0 h 125"/>
                <a:gd name="txR" fmla="*/ 120 w 120"/>
                <a:gd name="txB" fmla="*/ 125 h 125"/>
              </a:gdLst>
              <a:ahLst/>
              <a:cxnLst>
                <a:cxn ang="0">
                  <a:pos x="114" y="119"/>
                </a:cxn>
                <a:cxn ang="0">
                  <a:pos x="102" y="113"/>
                </a:cxn>
                <a:cxn ang="0">
                  <a:pos x="96" y="107"/>
                </a:cxn>
                <a:cxn ang="0">
                  <a:pos x="78" y="59"/>
                </a:cxn>
                <a:cxn ang="0">
                  <a:pos x="96" y="53"/>
                </a:cxn>
                <a:cxn ang="0">
                  <a:pos x="108" y="47"/>
                </a:cxn>
                <a:cxn ang="0">
                  <a:pos x="120" y="23"/>
                </a:cxn>
                <a:cxn ang="0">
                  <a:pos x="114" y="12"/>
                </a:cxn>
                <a:cxn ang="0">
                  <a:pos x="102" y="6"/>
                </a:cxn>
                <a:cxn ang="0">
                  <a:pos x="90" y="0"/>
                </a:cxn>
                <a:cxn ang="0">
                  <a:pos x="78" y="0"/>
                </a:cxn>
                <a:cxn ang="0">
                  <a:pos x="30" y="0"/>
                </a:cxn>
                <a:cxn ang="0">
                  <a:pos x="30" y="0"/>
                </a:cxn>
                <a:cxn ang="0">
                  <a:pos x="42" y="0"/>
                </a:cxn>
                <a:cxn ang="0">
                  <a:pos x="42" y="12"/>
                </a:cxn>
                <a:cxn ang="0">
                  <a:pos x="42" y="17"/>
                </a:cxn>
                <a:cxn ang="0">
                  <a:pos x="42" y="17"/>
                </a:cxn>
                <a:cxn ang="0">
                  <a:pos x="18" y="107"/>
                </a:cxn>
                <a:cxn ang="0">
                  <a:pos x="12" y="119"/>
                </a:cxn>
                <a:cxn ang="0">
                  <a:pos x="0" y="119"/>
                </a:cxn>
                <a:cxn ang="0">
                  <a:pos x="0" y="125"/>
                </a:cxn>
                <a:cxn ang="0">
                  <a:pos x="48" y="125"/>
                </a:cxn>
                <a:cxn ang="0">
                  <a:pos x="48" y="119"/>
                </a:cxn>
                <a:cxn ang="0">
                  <a:pos x="36" y="119"/>
                </a:cxn>
                <a:cxn ang="0">
                  <a:pos x="36" y="113"/>
                </a:cxn>
                <a:cxn ang="0">
                  <a:pos x="36" y="107"/>
                </a:cxn>
                <a:cxn ang="0">
                  <a:pos x="36" y="101"/>
                </a:cxn>
                <a:cxn ang="0">
                  <a:pos x="48" y="59"/>
                </a:cxn>
                <a:cxn ang="0">
                  <a:pos x="60" y="59"/>
                </a:cxn>
                <a:cxn ang="0">
                  <a:pos x="84" y="125"/>
                </a:cxn>
                <a:cxn ang="0">
                  <a:pos x="114" y="125"/>
                </a:cxn>
                <a:cxn ang="0">
                  <a:pos x="114" y="119"/>
                </a:cxn>
                <a:cxn ang="0">
                  <a:pos x="66" y="6"/>
                </a:cxn>
                <a:cxn ang="0">
                  <a:pos x="66" y="6"/>
                </a:cxn>
                <a:cxn ang="0">
                  <a:pos x="72" y="6"/>
                </a:cxn>
                <a:cxn ang="0">
                  <a:pos x="90" y="6"/>
                </a:cxn>
                <a:cxn ang="0">
                  <a:pos x="96" y="12"/>
                </a:cxn>
                <a:cxn ang="0">
                  <a:pos x="96" y="23"/>
                </a:cxn>
                <a:cxn ang="0">
                  <a:pos x="90" y="41"/>
                </a:cxn>
                <a:cxn ang="0">
                  <a:pos x="78" y="53"/>
                </a:cxn>
                <a:cxn ang="0">
                  <a:pos x="60" y="53"/>
                </a:cxn>
                <a:cxn ang="0">
                  <a:pos x="60" y="53"/>
                </a:cxn>
                <a:cxn ang="0">
                  <a:pos x="54" y="53"/>
                </a:cxn>
                <a:cxn ang="0">
                  <a:pos x="66" y="6"/>
                </a:cxn>
              </a:cxnLst>
              <a:rect l="txL" t="txT" r="txR" b="txB"/>
              <a:pathLst>
                <a:path w="120" h="125">
                  <a:moveTo>
                    <a:pt x="114" y="119"/>
                  </a:moveTo>
                  <a:lnTo>
                    <a:pt x="102" y="113"/>
                  </a:lnTo>
                  <a:lnTo>
                    <a:pt x="96" y="107"/>
                  </a:lnTo>
                  <a:lnTo>
                    <a:pt x="78" y="59"/>
                  </a:lnTo>
                  <a:lnTo>
                    <a:pt x="96" y="53"/>
                  </a:lnTo>
                  <a:lnTo>
                    <a:pt x="108" y="47"/>
                  </a:lnTo>
                  <a:lnTo>
                    <a:pt x="120" y="23"/>
                  </a:lnTo>
                  <a:lnTo>
                    <a:pt x="114" y="12"/>
                  </a:lnTo>
                  <a:lnTo>
                    <a:pt x="102" y="6"/>
                  </a:lnTo>
                  <a:lnTo>
                    <a:pt x="90" y="0"/>
                  </a:lnTo>
                  <a:lnTo>
                    <a:pt x="78" y="0"/>
                  </a:lnTo>
                  <a:lnTo>
                    <a:pt x="30" y="0"/>
                  </a:lnTo>
                  <a:lnTo>
                    <a:pt x="42" y="0"/>
                  </a:lnTo>
                  <a:lnTo>
                    <a:pt x="42" y="12"/>
                  </a:lnTo>
                  <a:lnTo>
                    <a:pt x="42" y="17"/>
                  </a:lnTo>
                  <a:lnTo>
                    <a:pt x="18" y="107"/>
                  </a:lnTo>
                  <a:lnTo>
                    <a:pt x="12" y="119"/>
                  </a:lnTo>
                  <a:lnTo>
                    <a:pt x="0" y="119"/>
                  </a:lnTo>
                  <a:lnTo>
                    <a:pt x="0" y="125"/>
                  </a:lnTo>
                  <a:lnTo>
                    <a:pt x="48" y="125"/>
                  </a:lnTo>
                  <a:lnTo>
                    <a:pt x="48" y="119"/>
                  </a:lnTo>
                  <a:lnTo>
                    <a:pt x="36" y="119"/>
                  </a:lnTo>
                  <a:lnTo>
                    <a:pt x="36" y="113"/>
                  </a:lnTo>
                  <a:lnTo>
                    <a:pt x="36" y="107"/>
                  </a:lnTo>
                  <a:lnTo>
                    <a:pt x="36" y="101"/>
                  </a:lnTo>
                  <a:lnTo>
                    <a:pt x="48" y="59"/>
                  </a:lnTo>
                  <a:lnTo>
                    <a:pt x="60" y="59"/>
                  </a:lnTo>
                  <a:lnTo>
                    <a:pt x="84" y="125"/>
                  </a:lnTo>
                  <a:lnTo>
                    <a:pt x="114" y="125"/>
                  </a:lnTo>
                  <a:lnTo>
                    <a:pt x="114" y="119"/>
                  </a:lnTo>
                  <a:close/>
                  <a:moveTo>
                    <a:pt x="66" y="6"/>
                  </a:moveTo>
                  <a:lnTo>
                    <a:pt x="66" y="6"/>
                  </a:lnTo>
                  <a:lnTo>
                    <a:pt x="72" y="6"/>
                  </a:lnTo>
                  <a:lnTo>
                    <a:pt x="90" y="6"/>
                  </a:lnTo>
                  <a:lnTo>
                    <a:pt x="96" y="12"/>
                  </a:lnTo>
                  <a:lnTo>
                    <a:pt x="96" y="23"/>
                  </a:lnTo>
                  <a:lnTo>
                    <a:pt x="90" y="41"/>
                  </a:lnTo>
                  <a:lnTo>
                    <a:pt x="78" y="53"/>
                  </a:lnTo>
                  <a:lnTo>
                    <a:pt x="60" y="53"/>
                  </a:lnTo>
                  <a:lnTo>
                    <a:pt x="54" y="53"/>
                  </a:lnTo>
                  <a:lnTo>
                    <a:pt x="66"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59" name="Freeform 166"/>
            <p:cNvSpPr/>
            <p:nvPr/>
          </p:nvSpPr>
          <p:spPr>
            <a:xfrm>
              <a:off x="3164" y="2631"/>
              <a:ext cx="60" cy="102"/>
            </a:xfrm>
            <a:custGeom>
              <a:avLst/>
              <a:gdLst>
                <a:gd name="txL" fmla="*/ 0 w 60"/>
                <a:gd name="txT" fmla="*/ 0 h 102"/>
                <a:gd name="txR" fmla="*/ 60 w 60"/>
                <a:gd name="txB" fmla="*/ 102 h 102"/>
              </a:gdLst>
              <a:ahLst/>
              <a:cxnLst>
                <a:cxn ang="0">
                  <a:pos x="18" y="54"/>
                </a:cxn>
                <a:cxn ang="0">
                  <a:pos x="30" y="54"/>
                </a:cxn>
                <a:cxn ang="0">
                  <a:pos x="36" y="54"/>
                </a:cxn>
                <a:cxn ang="0">
                  <a:pos x="48" y="66"/>
                </a:cxn>
                <a:cxn ang="0">
                  <a:pos x="48" y="72"/>
                </a:cxn>
                <a:cxn ang="0">
                  <a:pos x="42" y="90"/>
                </a:cxn>
                <a:cxn ang="0">
                  <a:pos x="30" y="96"/>
                </a:cxn>
                <a:cxn ang="0">
                  <a:pos x="18" y="96"/>
                </a:cxn>
                <a:cxn ang="0">
                  <a:pos x="6" y="90"/>
                </a:cxn>
                <a:cxn ang="0">
                  <a:pos x="6" y="90"/>
                </a:cxn>
                <a:cxn ang="0">
                  <a:pos x="0" y="96"/>
                </a:cxn>
                <a:cxn ang="0">
                  <a:pos x="6" y="102"/>
                </a:cxn>
                <a:cxn ang="0">
                  <a:pos x="18" y="102"/>
                </a:cxn>
                <a:cxn ang="0">
                  <a:pos x="48" y="96"/>
                </a:cxn>
                <a:cxn ang="0">
                  <a:pos x="60" y="84"/>
                </a:cxn>
                <a:cxn ang="0">
                  <a:pos x="60" y="66"/>
                </a:cxn>
                <a:cxn ang="0">
                  <a:pos x="54" y="48"/>
                </a:cxn>
                <a:cxn ang="0">
                  <a:pos x="42" y="42"/>
                </a:cxn>
                <a:cxn ang="0">
                  <a:pos x="48" y="36"/>
                </a:cxn>
                <a:cxn ang="0">
                  <a:pos x="54" y="24"/>
                </a:cxn>
                <a:cxn ang="0">
                  <a:pos x="48" y="12"/>
                </a:cxn>
                <a:cxn ang="0">
                  <a:pos x="42" y="6"/>
                </a:cxn>
                <a:cxn ang="0">
                  <a:pos x="30" y="0"/>
                </a:cxn>
                <a:cxn ang="0">
                  <a:pos x="12" y="6"/>
                </a:cxn>
                <a:cxn ang="0">
                  <a:pos x="0" y="24"/>
                </a:cxn>
                <a:cxn ang="0">
                  <a:pos x="6" y="24"/>
                </a:cxn>
                <a:cxn ang="0">
                  <a:pos x="12" y="18"/>
                </a:cxn>
                <a:cxn ang="0">
                  <a:pos x="24" y="12"/>
                </a:cxn>
                <a:cxn ang="0">
                  <a:pos x="36" y="18"/>
                </a:cxn>
                <a:cxn ang="0">
                  <a:pos x="42" y="24"/>
                </a:cxn>
                <a:cxn ang="0">
                  <a:pos x="36" y="42"/>
                </a:cxn>
                <a:cxn ang="0">
                  <a:pos x="18" y="48"/>
                </a:cxn>
                <a:cxn ang="0">
                  <a:pos x="18" y="54"/>
                </a:cxn>
              </a:cxnLst>
              <a:rect l="txL" t="txT" r="txR" b="txB"/>
              <a:pathLst>
                <a:path w="60" h="102">
                  <a:moveTo>
                    <a:pt x="18" y="54"/>
                  </a:moveTo>
                  <a:lnTo>
                    <a:pt x="30" y="54"/>
                  </a:lnTo>
                  <a:lnTo>
                    <a:pt x="36" y="54"/>
                  </a:lnTo>
                  <a:lnTo>
                    <a:pt x="48" y="66"/>
                  </a:lnTo>
                  <a:lnTo>
                    <a:pt x="48" y="72"/>
                  </a:lnTo>
                  <a:lnTo>
                    <a:pt x="42" y="90"/>
                  </a:lnTo>
                  <a:lnTo>
                    <a:pt x="30" y="96"/>
                  </a:lnTo>
                  <a:lnTo>
                    <a:pt x="18" y="96"/>
                  </a:lnTo>
                  <a:lnTo>
                    <a:pt x="6" y="90"/>
                  </a:lnTo>
                  <a:lnTo>
                    <a:pt x="0" y="96"/>
                  </a:lnTo>
                  <a:lnTo>
                    <a:pt x="6" y="102"/>
                  </a:lnTo>
                  <a:lnTo>
                    <a:pt x="18" y="102"/>
                  </a:lnTo>
                  <a:lnTo>
                    <a:pt x="48" y="96"/>
                  </a:lnTo>
                  <a:lnTo>
                    <a:pt x="60" y="84"/>
                  </a:lnTo>
                  <a:lnTo>
                    <a:pt x="60" y="66"/>
                  </a:lnTo>
                  <a:lnTo>
                    <a:pt x="54" y="48"/>
                  </a:lnTo>
                  <a:lnTo>
                    <a:pt x="42" y="42"/>
                  </a:lnTo>
                  <a:lnTo>
                    <a:pt x="48" y="36"/>
                  </a:lnTo>
                  <a:lnTo>
                    <a:pt x="54" y="24"/>
                  </a:lnTo>
                  <a:lnTo>
                    <a:pt x="48" y="12"/>
                  </a:lnTo>
                  <a:lnTo>
                    <a:pt x="42" y="6"/>
                  </a:lnTo>
                  <a:lnTo>
                    <a:pt x="30" y="0"/>
                  </a:lnTo>
                  <a:lnTo>
                    <a:pt x="12" y="6"/>
                  </a:lnTo>
                  <a:lnTo>
                    <a:pt x="0" y="24"/>
                  </a:lnTo>
                  <a:lnTo>
                    <a:pt x="6" y="24"/>
                  </a:lnTo>
                  <a:lnTo>
                    <a:pt x="12" y="18"/>
                  </a:lnTo>
                  <a:lnTo>
                    <a:pt x="24" y="12"/>
                  </a:lnTo>
                  <a:lnTo>
                    <a:pt x="36" y="18"/>
                  </a:lnTo>
                  <a:lnTo>
                    <a:pt x="42" y="24"/>
                  </a:lnTo>
                  <a:lnTo>
                    <a:pt x="36" y="42"/>
                  </a:lnTo>
                  <a:lnTo>
                    <a:pt x="18" y="48"/>
                  </a:lnTo>
                  <a:lnTo>
                    <a:pt x="18" y="5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60" name="Freeform 167"/>
            <p:cNvSpPr>
              <a:spLocks noEditPoints="1"/>
            </p:cNvSpPr>
            <p:nvPr/>
          </p:nvSpPr>
          <p:spPr>
            <a:xfrm>
              <a:off x="3888" y="2195"/>
              <a:ext cx="113" cy="126"/>
            </a:xfrm>
            <a:custGeom>
              <a:avLst/>
              <a:gdLst>
                <a:gd name="txL" fmla="*/ 0 w 113"/>
                <a:gd name="txT" fmla="*/ 0 h 126"/>
                <a:gd name="txR" fmla="*/ 113 w 113"/>
                <a:gd name="txB" fmla="*/ 126 h 126"/>
              </a:gdLst>
              <a:ahLst/>
              <a:cxnLst>
                <a:cxn ang="0">
                  <a:pos x="113" y="120"/>
                </a:cxn>
                <a:cxn ang="0">
                  <a:pos x="101" y="114"/>
                </a:cxn>
                <a:cxn ang="0">
                  <a:pos x="95" y="108"/>
                </a:cxn>
                <a:cxn ang="0">
                  <a:pos x="77" y="60"/>
                </a:cxn>
                <a:cxn ang="0">
                  <a:pos x="95" y="54"/>
                </a:cxn>
                <a:cxn ang="0">
                  <a:pos x="107" y="48"/>
                </a:cxn>
                <a:cxn ang="0">
                  <a:pos x="113" y="24"/>
                </a:cxn>
                <a:cxn ang="0">
                  <a:pos x="107" y="12"/>
                </a:cxn>
                <a:cxn ang="0">
                  <a:pos x="95" y="6"/>
                </a:cxn>
                <a:cxn ang="0">
                  <a:pos x="83" y="0"/>
                </a:cxn>
                <a:cxn ang="0">
                  <a:pos x="77" y="0"/>
                </a:cxn>
                <a:cxn ang="0">
                  <a:pos x="30" y="0"/>
                </a:cxn>
                <a:cxn ang="0">
                  <a:pos x="30" y="0"/>
                </a:cxn>
                <a:cxn ang="0">
                  <a:pos x="36" y="0"/>
                </a:cxn>
                <a:cxn ang="0">
                  <a:pos x="42" y="12"/>
                </a:cxn>
                <a:cxn ang="0">
                  <a:pos x="42" y="18"/>
                </a:cxn>
                <a:cxn ang="0">
                  <a:pos x="42" y="24"/>
                </a:cxn>
                <a:cxn ang="0">
                  <a:pos x="18" y="108"/>
                </a:cxn>
                <a:cxn ang="0">
                  <a:pos x="12" y="120"/>
                </a:cxn>
                <a:cxn ang="0">
                  <a:pos x="0" y="120"/>
                </a:cxn>
                <a:cxn ang="0">
                  <a:pos x="0" y="126"/>
                </a:cxn>
                <a:cxn ang="0">
                  <a:pos x="48" y="126"/>
                </a:cxn>
                <a:cxn ang="0">
                  <a:pos x="48" y="120"/>
                </a:cxn>
                <a:cxn ang="0">
                  <a:pos x="36" y="120"/>
                </a:cxn>
                <a:cxn ang="0">
                  <a:pos x="36" y="114"/>
                </a:cxn>
                <a:cxn ang="0">
                  <a:pos x="36" y="108"/>
                </a:cxn>
                <a:cxn ang="0">
                  <a:pos x="36" y="102"/>
                </a:cxn>
                <a:cxn ang="0">
                  <a:pos x="48" y="60"/>
                </a:cxn>
                <a:cxn ang="0">
                  <a:pos x="60" y="60"/>
                </a:cxn>
                <a:cxn ang="0">
                  <a:pos x="83" y="126"/>
                </a:cxn>
                <a:cxn ang="0">
                  <a:pos x="113" y="126"/>
                </a:cxn>
                <a:cxn ang="0">
                  <a:pos x="113" y="120"/>
                </a:cxn>
                <a:cxn ang="0">
                  <a:pos x="60" y="6"/>
                </a:cxn>
                <a:cxn ang="0">
                  <a:pos x="65" y="6"/>
                </a:cxn>
                <a:cxn ang="0">
                  <a:pos x="71" y="6"/>
                </a:cxn>
                <a:cxn ang="0">
                  <a:pos x="89" y="6"/>
                </a:cxn>
                <a:cxn ang="0">
                  <a:pos x="95" y="12"/>
                </a:cxn>
                <a:cxn ang="0">
                  <a:pos x="95" y="24"/>
                </a:cxn>
                <a:cxn ang="0">
                  <a:pos x="89" y="48"/>
                </a:cxn>
                <a:cxn ang="0">
                  <a:pos x="77" y="54"/>
                </a:cxn>
                <a:cxn ang="0">
                  <a:pos x="60" y="54"/>
                </a:cxn>
                <a:cxn ang="0">
                  <a:pos x="54" y="54"/>
                </a:cxn>
                <a:cxn ang="0">
                  <a:pos x="48" y="54"/>
                </a:cxn>
                <a:cxn ang="0">
                  <a:pos x="60" y="6"/>
                </a:cxn>
              </a:cxnLst>
              <a:rect l="txL" t="txT" r="txR" b="txB"/>
              <a:pathLst>
                <a:path w="113" h="126">
                  <a:moveTo>
                    <a:pt x="113" y="120"/>
                  </a:moveTo>
                  <a:lnTo>
                    <a:pt x="101" y="114"/>
                  </a:lnTo>
                  <a:lnTo>
                    <a:pt x="95" y="108"/>
                  </a:lnTo>
                  <a:lnTo>
                    <a:pt x="77" y="60"/>
                  </a:lnTo>
                  <a:lnTo>
                    <a:pt x="95" y="54"/>
                  </a:lnTo>
                  <a:lnTo>
                    <a:pt x="107" y="48"/>
                  </a:lnTo>
                  <a:lnTo>
                    <a:pt x="113" y="24"/>
                  </a:lnTo>
                  <a:lnTo>
                    <a:pt x="107" y="12"/>
                  </a:lnTo>
                  <a:lnTo>
                    <a:pt x="95" y="6"/>
                  </a:lnTo>
                  <a:lnTo>
                    <a:pt x="83" y="0"/>
                  </a:lnTo>
                  <a:lnTo>
                    <a:pt x="77" y="0"/>
                  </a:lnTo>
                  <a:lnTo>
                    <a:pt x="30" y="0"/>
                  </a:lnTo>
                  <a:lnTo>
                    <a:pt x="36" y="0"/>
                  </a:lnTo>
                  <a:lnTo>
                    <a:pt x="42" y="12"/>
                  </a:lnTo>
                  <a:lnTo>
                    <a:pt x="42" y="18"/>
                  </a:lnTo>
                  <a:lnTo>
                    <a:pt x="42" y="24"/>
                  </a:lnTo>
                  <a:lnTo>
                    <a:pt x="18" y="108"/>
                  </a:lnTo>
                  <a:lnTo>
                    <a:pt x="12" y="120"/>
                  </a:lnTo>
                  <a:lnTo>
                    <a:pt x="0" y="120"/>
                  </a:lnTo>
                  <a:lnTo>
                    <a:pt x="0" y="126"/>
                  </a:lnTo>
                  <a:lnTo>
                    <a:pt x="48" y="126"/>
                  </a:lnTo>
                  <a:lnTo>
                    <a:pt x="48" y="120"/>
                  </a:lnTo>
                  <a:lnTo>
                    <a:pt x="36" y="120"/>
                  </a:lnTo>
                  <a:lnTo>
                    <a:pt x="36" y="114"/>
                  </a:lnTo>
                  <a:lnTo>
                    <a:pt x="36" y="108"/>
                  </a:lnTo>
                  <a:lnTo>
                    <a:pt x="36" y="102"/>
                  </a:lnTo>
                  <a:lnTo>
                    <a:pt x="48" y="60"/>
                  </a:lnTo>
                  <a:lnTo>
                    <a:pt x="60" y="60"/>
                  </a:lnTo>
                  <a:lnTo>
                    <a:pt x="83" y="126"/>
                  </a:lnTo>
                  <a:lnTo>
                    <a:pt x="113" y="126"/>
                  </a:lnTo>
                  <a:lnTo>
                    <a:pt x="113" y="120"/>
                  </a:lnTo>
                  <a:close/>
                  <a:moveTo>
                    <a:pt x="60" y="6"/>
                  </a:moveTo>
                  <a:lnTo>
                    <a:pt x="65" y="6"/>
                  </a:lnTo>
                  <a:lnTo>
                    <a:pt x="71" y="6"/>
                  </a:lnTo>
                  <a:lnTo>
                    <a:pt x="89" y="6"/>
                  </a:lnTo>
                  <a:lnTo>
                    <a:pt x="95" y="12"/>
                  </a:lnTo>
                  <a:lnTo>
                    <a:pt x="95" y="24"/>
                  </a:lnTo>
                  <a:lnTo>
                    <a:pt x="89" y="48"/>
                  </a:lnTo>
                  <a:lnTo>
                    <a:pt x="77" y="54"/>
                  </a:lnTo>
                  <a:lnTo>
                    <a:pt x="60" y="54"/>
                  </a:lnTo>
                  <a:lnTo>
                    <a:pt x="54" y="54"/>
                  </a:lnTo>
                  <a:lnTo>
                    <a:pt x="48" y="54"/>
                  </a:lnTo>
                  <a:lnTo>
                    <a:pt x="6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61" name="Freeform 168"/>
            <p:cNvSpPr>
              <a:spLocks noEditPoints="1"/>
            </p:cNvSpPr>
            <p:nvPr/>
          </p:nvSpPr>
          <p:spPr>
            <a:xfrm>
              <a:off x="4013" y="2303"/>
              <a:ext cx="66" cy="65"/>
            </a:xfrm>
            <a:custGeom>
              <a:avLst/>
              <a:gdLst>
                <a:gd name="txL" fmla="*/ 0 w 66"/>
                <a:gd name="txT" fmla="*/ 0 h 65"/>
                <a:gd name="txR" fmla="*/ 66 w 66"/>
                <a:gd name="txB" fmla="*/ 65 h 65"/>
              </a:gdLst>
              <a:ahLst/>
              <a:cxnLst>
                <a:cxn ang="0">
                  <a:pos x="60" y="48"/>
                </a:cxn>
                <a:cxn ang="0">
                  <a:pos x="54" y="54"/>
                </a:cxn>
                <a:cxn ang="0">
                  <a:pos x="48" y="60"/>
                </a:cxn>
                <a:cxn ang="0">
                  <a:pos x="48" y="60"/>
                </a:cxn>
                <a:cxn ang="0">
                  <a:pos x="48" y="54"/>
                </a:cxn>
                <a:cxn ang="0">
                  <a:pos x="48" y="48"/>
                </a:cxn>
                <a:cxn ang="0">
                  <a:pos x="54" y="30"/>
                </a:cxn>
                <a:cxn ang="0">
                  <a:pos x="60" y="6"/>
                </a:cxn>
                <a:cxn ang="0">
                  <a:pos x="60" y="0"/>
                </a:cxn>
                <a:cxn ang="0">
                  <a:pos x="60" y="0"/>
                </a:cxn>
                <a:cxn ang="0">
                  <a:pos x="54" y="0"/>
                </a:cxn>
                <a:cxn ang="0">
                  <a:pos x="54" y="0"/>
                </a:cxn>
                <a:cxn ang="0">
                  <a:pos x="48" y="6"/>
                </a:cxn>
                <a:cxn ang="0">
                  <a:pos x="48" y="6"/>
                </a:cxn>
                <a:cxn ang="0">
                  <a:pos x="42" y="6"/>
                </a:cxn>
                <a:cxn ang="0">
                  <a:pos x="36" y="0"/>
                </a:cxn>
                <a:cxn ang="0">
                  <a:pos x="24" y="6"/>
                </a:cxn>
                <a:cxn ang="0">
                  <a:pos x="12" y="18"/>
                </a:cxn>
                <a:cxn ang="0">
                  <a:pos x="6" y="36"/>
                </a:cxn>
                <a:cxn ang="0">
                  <a:pos x="0" y="48"/>
                </a:cxn>
                <a:cxn ang="0">
                  <a:pos x="0" y="60"/>
                </a:cxn>
                <a:cxn ang="0">
                  <a:pos x="12" y="65"/>
                </a:cxn>
                <a:cxn ang="0">
                  <a:pos x="24" y="60"/>
                </a:cxn>
                <a:cxn ang="0">
                  <a:pos x="42" y="42"/>
                </a:cxn>
                <a:cxn ang="0">
                  <a:pos x="42" y="42"/>
                </a:cxn>
                <a:cxn ang="0">
                  <a:pos x="36" y="54"/>
                </a:cxn>
                <a:cxn ang="0">
                  <a:pos x="36" y="60"/>
                </a:cxn>
                <a:cxn ang="0">
                  <a:pos x="36" y="65"/>
                </a:cxn>
                <a:cxn ang="0">
                  <a:pos x="42" y="65"/>
                </a:cxn>
                <a:cxn ang="0">
                  <a:pos x="54" y="60"/>
                </a:cxn>
                <a:cxn ang="0">
                  <a:pos x="66" y="48"/>
                </a:cxn>
                <a:cxn ang="0">
                  <a:pos x="60" y="48"/>
                </a:cxn>
                <a:cxn ang="0">
                  <a:pos x="12" y="48"/>
                </a:cxn>
                <a:cxn ang="0">
                  <a:pos x="12" y="36"/>
                </a:cxn>
                <a:cxn ang="0">
                  <a:pos x="18" y="24"/>
                </a:cxn>
                <a:cxn ang="0">
                  <a:pos x="30" y="12"/>
                </a:cxn>
                <a:cxn ang="0">
                  <a:pos x="42" y="6"/>
                </a:cxn>
                <a:cxn ang="0">
                  <a:pos x="48" y="6"/>
                </a:cxn>
                <a:cxn ang="0">
                  <a:pos x="48" y="12"/>
                </a:cxn>
                <a:cxn ang="0">
                  <a:pos x="42" y="42"/>
                </a:cxn>
                <a:cxn ang="0">
                  <a:pos x="30" y="54"/>
                </a:cxn>
                <a:cxn ang="0">
                  <a:pos x="18" y="60"/>
                </a:cxn>
                <a:cxn ang="0">
                  <a:pos x="12" y="54"/>
                </a:cxn>
                <a:cxn ang="0">
                  <a:pos x="12" y="48"/>
                </a:cxn>
                <a:cxn ang="0">
                  <a:pos x="12" y="48"/>
                </a:cxn>
              </a:cxnLst>
              <a:rect l="txL" t="txT" r="txR" b="txB"/>
              <a:pathLst>
                <a:path w="66" h="65">
                  <a:moveTo>
                    <a:pt x="60" y="48"/>
                  </a:moveTo>
                  <a:lnTo>
                    <a:pt x="54" y="54"/>
                  </a:lnTo>
                  <a:lnTo>
                    <a:pt x="48" y="60"/>
                  </a:lnTo>
                  <a:lnTo>
                    <a:pt x="48" y="54"/>
                  </a:lnTo>
                  <a:lnTo>
                    <a:pt x="48" y="48"/>
                  </a:lnTo>
                  <a:lnTo>
                    <a:pt x="54" y="30"/>
                  </a:lnTo>
                  <a:lnTo>
                    <a:pt x="60" y="6"/>
                  </a:lnTo>
                  <a:lnTo>
                    <a:pt x="60" y="0"/>
                  </a:lnTo>
                  <a:lnTo>
                    <a:pt x="54" y="0"/>
                  </a:lnTo>
                  <a:lnTo>
                    <a:pt x="48" y="6"/>
                  </a:lnTo>
                  <a:lnTo>
                    <a:pt x="42" y="6"/>
                  </a:lnTo>
                  <a:lnTo>
                    <a:pt x="36" y="0"/>
                  </a:lnTo>
                  <a:lnTo>
                    <a:pt x="24" y="6"/>
                  </a:lnTo>
                  <a:lnTo>
                    <a:pt x="12" y="18"/>
                  </a:lnTo>
                  <a:lnTo>
                    <a:pt x="6" y="36"/>
                  </a:lnTo>
                  <a:lnTo>
                    <a:pt x="0" y="48"/>
                  </a:lnTo>
                  <a:lnTo>
                    <a:pt x="0" y="60"/>
                  </a:lnTo>
                  <a:lnTo>
                    <a:pt x="12" y="65"/>
                  </a:lnTo>
                  <a:lnTo>
                    <a:pt x="24" y="60"/>
                  </a:lnTo>
                  <a:lnTo>
                    <a:pt x="42" y="42"/>
                  </a:lnTo>
                  <a:lnTo>
                    <a:pt x="36" y="54"/>
                  </a:lnTo>
                  <a:lnTo>
                    <a:pt x="36" y="60"/>
                  </a:lnTo>
                  <a:lnTo>
                    <a:pt x="36" y="65"/>
                  </a:lnTo>
                  <a:lnTo>
                    <a:pt x="42" y="65"/>
                  </a:lnTo>
                  <a:lnTo>
                    <a:pt x="54" y="60"/>
                  </a:lnTo>
                  <a:lnTo>
                    <a:pt x="66" y="48"/>
                  </a:lnTo>
                  <a:lnTo>
                    <a:pt x="60" y="48"/>
                  </a:lnTo>
                  <a:close/>
                  <a:moveTo>
                    <a:pt x="12" y="48"/>
                  </a:moveTo>
                  <a:lnTo>
                    <a:pt x="12" y="36"/>
                  </a:lnTo>
                  <a:lnTo>
                    <a:pt x="18" y="24"/>
                  </a:lnTo>
                  <a:lnTo>
                    <a:pt x="30" y="12"/>
                  </a:lnTo>
                  <a:lnTo>
                    <a:pt x="42" y="6"/>
                  </a:lnTo>
                  <a:lnTo>
                    <a:pt x="48" y="6"/>
                  </a:lnTo>
                  <a:lnTo>
                    <a:pt x="48" y="12"/>
                  </a:lnTo>
                  <a:lnTo>
                    <a:pt x="42" y="42"/>
                  </a:lnTo>
                  <a:lnTo>
                    <a:pt x="30" y="54"/>
                  </a:lnTo>
                  <a:lnTo>
                    <a:pt x="18" y="60"/>
                  </a:lnTo>
                  <a:lnTo>
                    <a:pt x="12" y="54"/>
                  </a:lnTo>
                  <a:lnTo>
                    <a:pt x="12"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62" name="Freeform 169"/>
            <p:cNvSpPr>
              <a:spLocks noEditPoints="1"/>
            </p:cNvSpPr>
            <p:nvPr/>
          </p:nvSpPr>
          <p:spPr>
            <a:xfrm>
              <a:off x="1741" y="2195"/>
              <a:ext cx="113" cy="126"/>
            </a:xfrm>
            <a:custGeom>
              <a:avLst/>
              <a:gdLst>
                <a:gd name="txL" fmla="*/ 0 w 113"/>
                <a:gd name="txT" fmla="*/ 0 h 126"/>
                <a:gd name="txR" fmla="*/ 113 w 113"/>
                <a:gd name="txB" fmla="*/ 126 h 126"/>
              </a:gdLst>
              <a:ahLst/>
              <a:cxnLst>
                <a:cxn ang="0">
                  <a:pos x="107" y="120"/>
                </a:cxn>
                <a:cxn ang="0">
                  <a:pos x="101" y="114"/>
                </a:cxn>
                <a:cxn ang="0">
                  <a:pos x="95" y="108"/>
                </a:cxn>
                <a:cxn ang="0">
                  <a:pos x="77" y="60"/>
                </a:cxn>
                <a:cxn ang="0">
                  <a:pos x="107" y="48"/>
                </a:cxn>
                <a:cxn ang="0">
                  <a:pos x="113" y="24"/>
                </a:cxn>
                <a:cxn ang="0">
                  <a:pos x="107" y="12"/>
                </a:cxn>
                <a:cxn ang="0">
                  <a:pos x="95" y="6"/>
                </a:cxn>
                <a:cxn ang="0">
                  <a:pos x="83" y="0"/>
                </a:cxn>
                <a:cxn ang="0">
                  <a:pos x="71" y="0"/>
                </a:cxn>
                <a:cxn ang="0">
                  <a:pos x="30" y="0"/>
                </a:cxn>
                <a:cxn ang="0">
                  <a:pos x="30" y="0"/>
                </a:cxn>
                <a:cxn ang="0">
                  <a:pos x="36" y="0"/>
                </a:cxn>
                <a:cxn ang="0">
                  <a:pos x="42" y="12"/>
                </a:cxn>
                <a:cxn ang="0">
                  <a:pos x="42" y="18"/>
                </a:cxn>
                <a:cxn ang="0">
                  <a:pos x="36" y="24"/>
                </a:cxn>
                <a:cxn ang="0">
                  <a:pos x="12" y="108"/>
                </a:cxn>
                <a:cxn ang="0">
                  <a:pos x="12" y="120"/>
                </a:cxn>
                <a:cxn ang="0">
                  <a:pos x="0" y="120"/>
                </a:cxn>
                <a:cxn ang="0">
                  <a:pos x="0" y="126"/>
                </a:cxn>
                <a:cxn ang="0">
                  <a:pos x="48" y="126"/>
                </a:cxn>
                <a:cxn ang="0">
                  <a:pos x="48" y="120"/>
                </a:cxn>
                <a:cxn ang="0">
                  <a:pos x="36" y="120"/>
                </a:cxn>
                <a:cxn ang="0">
                  <a:pos x="36" y="114"/>
                </a:cxn>
                <a:cxn ang="0">
                  <a:pos x="36" y="108"/>
                </a:cxn>
                <a:cxn ang="0">
                  <a:pos x="36" y="102"/>
                </a:cxn>
                <a:cxn ang="0">
                  <a:pos x="48" y="60"/>
                </a:cxn>
                <a:cxn ang="0">
                  <a:pos x="60" y="60"/>
                </a:cxn>
                <a:cxn ang="0">
                  <a:pos x="83" y="126"/>
                </a:cxn>
                <a:cxn ang="0">
                  <a:pos x="107" y="126"/>
                </a:cxn>
                <a:cxn ang="0">
                  <a:pos x="107" y="120"/>
                </a:cxn>
                <a:cxn ang="0">
                  <a:pos x="60" y="6"/>
                </a:cxn>
                <a:cxn ang="0">
                  <a:pos x="66" y="6"/>
                </a:cxn>
                <a:cxn ang="0">
                  <a:pos x="71" y="6"/>
                </a:cxn>
                <a:cxn ang="0">
                  <a:pos x="89" y="6"/>
                </a:cxn>
                <a:cxn ang="0">
                  <a:pos x="95" y="12"/>
                </a:cxn>
                <a:cxn ang="0">
                  <a:pos x="95" y="24"/>
                </a:cxn>
                <a:cxn ang="0">
                  <a:pos x="89" y="48"/>
                </a:cxn>
                <a:cxn ang="0">
                  <a:pos x="77" y="54"/>
                </a:cxn>
                <a:cxn ang="0">
                  <a:pos x="60" y="54"/>
                </a:cxn>
                <a:cxn ang="0">
                  <a:pos x="54" y="54"/>
                </a:cxn>
                <a:cxn ang="0">
                  <a:pos x="48" y="54"/>
                </a:cxn>
                <a:cxn ang="0">
                  <a:pos x="60" y="6"/>
                </a:cxn>
              </a:cxnLst>
              <a:rect l="txL" t="txT" r="txR" b="txB"/>
              <a:pathLst>
                <a:path w="113" h="126">
                  <a:moveTo>
                    <a:pt x="107" y="120"/>
                  </a:moveTo>
                  <a:lnTo>
                    <a:pt x="101" y="114"/>
                  </a:lnTo>
                  <a:lnTo>
                    <a:pt x="95" y="108"/>
                  </a:lnTo>
                  <a:lnTo>
                    <a:pt x="77" y="60"/>
                  </a:lnTo>
                  <a:lnTo>
                    <a:pt x="107" y="48"/>
                  </a:lnTo>
                  <a:lnTo>
                    <a:pt x="113" y="24"/>
                  </a:lnTo>
                  <a:lnTo>
                    <a:pt x="107" y="12"/>
                  </a:lnTo>
                  <a:lnTo>
                    <a:pt x="95" y="6"/>
                  </a:lnTo>
                  <a:lnTo>
                    <a:pt x="83" y="0"/>
                  </a:lnTo>
                  <a:lnTo>
                    <a:pt x="71" y="0"/>
                  </a:lnTo>
                  <a:lnTo>
                    <a:pt x="30" y="0"/>
                  </a:lnTo>
                  <a:lnTo>
                    <a:pt x="36" y="0"/>
                  </a:lnTo>
                  <a:lnTo>
                    <a:pt x="42" y="12"/>
                  </a:lnTo>
                  <a:lnTo>
                    <a:pt x="42" y="18"/>
                  </a:lnTo>
                  <a:lnTo>
                    <a:pt x="36" y="24"/>
                  </a:lnTo>
                  <a:lnTo>
                    <a:pt x="12" y="108"/>
                  </a:lnTo>
                  <a:lnTo>
                    <a:pt x="12" y="120"/>
                  </a:lnTo>
                  <a:lnTo>
                    <a:pt x="0" y="120"/>
                  </a:lnTo>
                  <a:lnTo>
                    <a:pt x="0" y="126"/>
                  </a:lnTo>
                  <a:lnTo>
                    <a:pt x="48" y="126"/>
                  </a:lnTo>
                  <a:lnTo>
                    <a:pt x="48" y="120"/>
                  </a:lnTo>
                  <a:lnTo>
                    <a:pt x="36" y="120"/>
                  </a:lnTo>
                  <a:lnTo>
                    <a:pt x="36" y="114"/>
                  </a:lnTo>
                  <a:lnTo>
                    <a:pt x="36" y="108"/>
                  </a:lnTo>
                  <a:lnTo>
                    <a:pt x="36" y="102"/>
                  </a:lnTo>
                  <a:lnTo>
                    <a:pt x="48" y="60"/>
                  </a:lnTo>
                  <a:lnTo>
                    <a:pt x="60" y="60"/>
                  </a:lnTo>
                  <a:lnTo>
                    <a:pt x="83" y="126"/>
                  </a:lnTo>
                  <a:lnTo>
                    <a:pt x="107" y="126"/>
                  </a:lnTo>
                  <a:lnTo>
                    <a:pt x="107" y="120"/>
                  </a:lnTo>
                  <a:close/>
                  <a:moveTo>
                    <a:pt x="60" y="6"/>
                  </a:moveTo>
                  <a:lnTo>
                    <a:pt x="66" y="6"/>
                  </a:lnTo>
                  <a:lnTo>
                    <a:pt x="71" y="6"/>
                  </a:lnTo>
                  <a:lnTo>
                    <a:pt x="89" y="6"/>
                  </a:lnTo>
                  <a:lnTo>
                    <a:pt x="95" y="12"/>
                  </a:lnTo>
                  <a:lnTo>
                    <a:pt x="95" y="24"/>
                  </a:lnTo>
                  <a:lnTo>
                    <a:pt x="89" y="48"/>
                  </a:lnTo>
                  <a:lnTo>
                    <a:pt x="77" y="54"/>
                  </a:lnTo>
                  <a:lnTo>
                    <a:pt x="60" y="54"/>
                  </a:lnTo>
                  <a:lnTo>
                    <a:pt x="54" y="54"/>
                  </a:lnTo>
                  <a:lnTo>
                    <a:pt x="48" y="54"/>
                  </a:lnTo>
                  <a:lnTo>
                    <a:pt x="6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63" name="Freeform 170"/>
            <p:cNvSpPr>
              <a:spLocks noEditPoints="1"/>
            </p:cNvSpPr>
            <p:nvPr/>
          </p:nvSpPr>
          <p:spPr>
            <a:xfrm>
              <a:off x="1872" y="2267"/>
              <a:ext cx="60" cy="101"/>
            </a:xfrm>
            <a:custGeom>
              <a:avLst/>
              <a:gdLst>
                <a:gd name="txL" fmla="*/ 0 w 60"/>
                <a:gd name="txT" fmla="*/ 0 h 101"/>
                <a:gd name="txR" fmla="*/ 60 w 60"/>
                <a:gd name="txB" fmla="*/ 101 h 101"/>
              </a:gdLst>
              <a:ahLst/>
              <a:cxnLst>
                <a:cxn ang="0">
                  <a:pos x="48" y="54"/>
                </a:cxn>
                <a:cxn ang="0">
                  <a:pos x="48" y="66"/>
                </a:cxn>
                <a:cxn ang="0">
                  <a:pos x="42" y="78"/>
                </a:cxn>
                <a:cxn ang="0">
                  <a:pos x="30" y="90"/>
                </a:cxn>
                <a:cxn ang="0">
                  <a:pos x="18" y="96"/>
                </a:cxn>
                <a:cxn ang="0">
                  <a:pos x="12" y="96"/>
                </a:cxn>
                <a:cxn ang="0">
                  <a:pos x="12" y="96"/>
                </a:cxn>
                <a:cxn ang="0">
                  <a:pos x="12" y="78"/>
                </a:cxn>
                <a:cxn ang="0">
                  <a:pos x="18" y="60"/>
                </a:cxn>
                <a:cxn ang="0">
                  <a:pos x="30" y="48"/>
                </a:cxn>
                <a:cxn ang="0">
                  <a:pos x="42" y="42"/>
                </a:cxn>
                <a:cxn ang="0">
                  <a:pos x="48" y="48"/>
                </a:cxn>
                <a:cxn ang="0">
                  <a:pos x="48" y="54"/>
                </a:cxn>
                <a:cxn ang="0">
                  <a:pos x="48" y="54"/>
                </a:cxn>
                <a:cxn ang="0">
                  <a:pos x="12" y="6"/>
                </a:cxn>
                <a:cxn ang="0">
                  <a:pos x="18" y="6"/>
                </a:cxn>
                <a:cxn ang="0">
                  <a:pos x="18" y="12"/>
                </a:cxn>
                <a:cxn ang="0">
                  <a:pos x="18" y="18"/>
                </a:cxn>
                <a:cxn ang="0">
                  <a:pos x="18" y="18"/>
                </a:cxn>
                <a:cxn ang="0">
                  <a:pos x="0" y="96"/>
                </a:cxn>
                <a:cxn ang="0">
                  <a:pos x="0" y="96"/>
                </a:cxn>
                <a:cxn ang="0">
                  <a:pos x="6" y="101"/>
                </a:cxn>
                <a:cxn ang="0">
                  <a:pos x="18" y="101"/>
                </a:cxn>
                <a:cxn ang="0">
                  <a:pos x="30" y="96"/>
                </a:cxn>
                <a:cxn ang="0">
                  <a:pos x="48" y="90"/>
                </a:cxn>
                <a:cxn ang="0">
                  <a:pos x="54" y="72"/>
                </a:cxn>
                <a:cxn ang="0">
                  <a:pos x="60" y="54"/>
                </a:cxn>
                <a:cxn ang="0">
                  <a:pos x="54" y="42"/>
                </a:cxn>
                <a:cxn ang="0">
                  <a:pos x="48" y="36"/>
                </a:cxn>
                <a:cxn ang="0">
                  <a:pos x="30" y="42"/>
                </a:cxn>
                <a:cxn ang="0">
                  <a:pos x="18" y="54"/>
                </a:cxn>
                <a:cxn ang="0">
                  <a:pos x="18" y="54"/>
                </a:cxn>
                <a:cxn ang="0">
                  <a:pos x="24" y="42"/>
                </a:cxn>
                <a:cxn ang="0">
                  <a:pos x="30" y="30"/>
                </a:cxn>
                <a:cxn ang="0">
                  <a:pos x="30" y="12"/>
                </a:cxn>
                <a:cxn ang="0">
                  <a:pos x="36" y="0"/>
                </a:cxn>
                <a:cxn ang="0">
                  <a:pos x="30" y="0"/>
                </a:cxn>
                <a:cxn ang="0">
                  <a:pos x="24" y="6"/>
                </a:cxn>
                <a:cxn ang="0">
                  <a:pos x="12" y="6"/>
                </a:cxn>
                <a:cxn ang="0">
                  <a:pos x="12" y="6"/>
                </a:cxn>
              </a:cxnLst>
              <a:rect l="txL" t="txT" r="txR" b="txB"/>
              <a:pathLst>
                <a:path w="60" h="101">
                  <a:moveTo>
                    <a:pt x="48" y="54"/>
                  </a:moveTo>
                  <a:lnTo>
                    <a:pt x="48" y="66"/>
                  </a:lnTo>
                  <a:lnTo>
                    <a:pt x="42" y="78"/>
                  </a:lnTo>
                  <a:lnTo>
                    <a:pt x="30" y="90"/>
                  </a:lnTo>
                  <a:lnTo>
                    <a:pt x="18" y="96"/>
                  </a:lnTo>
                  <a:lnTo>
                    <a:pt x="12" y="96"/>
                  </a:lnTo>
                  <a:lnTo>
                    <a:pt x="12" y="78"/>
                  </a:lnTo>
                  <a:lnTo>
                    <a:pt x="18" y="60"/>
                  </a:lnTo>
                  <a:lnTo>
                    <a:pt x="30" y="48"/>
                  </a:lnTo>
                  <a:lnTo>
                    <a:pt x="42" y="42"/>
                  </a:lnTo>
                  <a:lnTo>
                    <a:pt x="48" y="48"/>
                  </a:lnTo>
                  <a:lnTo>
                    <a:pt x="48" y="54"/>
                  </a:lnTo>
                  <a:close/>
                  <a:moveTo>
                    <a:pt x="12" y="6"/>
                  </a:moveTo>
                  <a:lnTo>
                    <a:pt x="18" y="6"/>
                  </a:lnTo>
                  <a:lnTo>
                    <a:pt x="18" y="12"/>
                  </a:lnTo>
                  <a:lnTo>
                    <a:pt x="18" y="18"/>
                  </a:lnTo>
                  <a:lnTo>
                    <a:pt x="0" y="96"/>
                  </a:lnTo>
                  <a:lnTo>
                    <a:pt x="6" y="101"/>
                  </a:lnTo>
                  <a:lnTo>
                    <a:pt x="18" y="101"/>
                  </a:lnTo>
                  <a:lnTo>
                    <a:pt x="30" y="96"/>
                  </a:lnTo>
                  <a:lnTo>
                    <a:pt x="48" y="90"/>
                  </a:lnTo>
                  <a:lnTo>
                    <a:pt x="54" y="72"/>
                  </a:lnTo>
                  <a:lnTo>
                    <a:pt x="60" y="54"/>
                  </a:lnTo>
                  <a:lnTo>
                    <a:pt x="54" y="42"/>
                  </a:lnTo>
                  <a:lnTo>
                    <a:pt x="48" y="36"/>
                  </a:lnTo>
                  <a:lnTo>
                    <a:pt x="30" y="42"/>
                  </a:lnTo>
                  <a:lnTo>
                    <a:pt x="18" y="54"/>
                  </a:lnTo>
                  <a:lnTo>
                    <a:pt x="24" y="42"/>
                  </a:lnTo>
                  <a:lnTo>
                    <a:pt x="30" y="30"/>
                  </a:lnTo>
                  <a:lnTo>
                    <a:pt x="30" y="12"/>
                  </a:lnTo>
                  <a:lnTo>
                    <a:pt x="36" y="0"/>
                  </a:lnTo>
                  <a:lnTo>
                    <a:pt x="30" y="0"/>
                  </a:lnTo>
                  <a:lnTo>
                    <a:pt x="24" y="6"/>
                  </a:lnTo>
                  <a:lnTo>
                    <a:pt x="12"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64" name="Freeform 171"/>
            <p:cNvSpPr>
              <a:spLocks noEditPoints="1"/>
            </p:cNvSpPr>
            <p:nvPr/>
          </p:nvSpPr>
          <p:spPr>
            <a:xfrm>
              <a:off x="2094" y="1150"/>
              <a:ext cx="113" cy="126"/>
            </a:xfrm>
            <a:custGeom>
              <a:avLst/>
              <a:gdLst>
                <a:gd name="txL" fmla="*/ 0 w 113"/>
                <a:gd name="txT" fmla="*/ 0 h 126"/>
                <a:gd name="txR" fmla="*/ 113 w 113"/>
                <a:gd name="txB" fmla="*/ 126 h 126"/>
              </a:gdLst>
              <a:ahLst/>
              <a:cxnLst>
                <a:cxn ang="0">
                  <a:pos x="107" y="120"/>
                </a:cxn>
                <a:cxn ang="0">
                  <a:pos x="95" y="114"/>
                </a:cxn>
                <a:cxn ang="0">
                  <a:pos x="95" y="108"/>
                </a:cxn>
                <a:cxn ang="0">
                  <a:pos x="77" y="60"/>
                </a:cxn>
                <a:cxn ang="0">
                  <a:pos x="107" y="48"/>
                </a:cxn>
                <a:cxn ang="0">
                  <a:pos x="113" y="24"/>
                </a:cxn>
                <a:cxn ang="0">
                  <a:pos x="107" y="12"/>
                </a:cxn>
                <a:cxn ang="0">
                  <a:pos x="95" y="6"/>
                </a:cxn>
                <a:cxn ang="0">
                  <a:pos x="83" y="0"/>
                </a:cxn>
                <a:cxn ang="0">
                  <a:pos x="71" y="0"/>
                </a:cxn>
                <a:cxn ang="0">
                  <a:pos x="23" y="0"/>
                </a:cxn>
                <a:cxn ang="0">
                  <a:pos x="23" y="0"/>
                </a:cxn>
                <a:cxn ang="0">
                  <a:pos x="35" y="6"/>
                </a:cxn>
                <a:cxn ang="0">
                  <a:pos x="41" y="12"/>
                </a:cxn>
                <a:cxn ang="0">
                  <a:pos x="41" y="18"/>
                </a:cxn>
                <a:cxn ang="0">
                  <a:pos x="35" y="24"/>
                </a:cxn>
                <a:cxn ang="0">
                  <a:pos x="12" y="108"/>
                </a:cxn>
                <a:cxn ang="0">
                  <a:pos x="6" y="120"/>
                </a:cxn>
                <a:cxn ang="0">
                  <a:pos x="0" y="120"/>
                </a:cxn>
                <a:cxn ang="0">
                  <a:pos x="0" y="126"/>
                </a:cxn>
                <a:cxn ang="0">
                  <a:pos x="41" y="126"/>
                </a:cxn>
                <a:cxn ang="0">
                  <a:pos x="41" y="120"/>
                </a:cxn>
                <a:cxn ang="0">
                  <a:pos x="35" y="120"/>
                </a:cxn>
                <a:cxn ang="0">
                  <a:pos x="29" y="114"/>
                </a:cxn>
                <a:cxn ang="0">
                  <a:pos x="29" y="108"/>
                </a:cxn>
                <a:cxn ang="0">
                  <a:pos x="35" y="102"/>
                </a:cxn>
                <a:cxn ang="0">
                  <a:pos x="41" y="60"/>
                </a:cxn>
                <a:cxn ang="0">
                  <a:pos x="59" y="60"/>
                </a:cxn>
                <a:cxn ang="0">
                  <a:pos x="77" y="126"/>
                </a:cxn>
                <a:cxn ang="0">
                  <a:pos x="107" y="126"/>
                </a:cxn>
                <a:cxn ang="0">
                  <a:pos x="107" y="120"/>
                </a:cxn>
                <a:cxn ang="0">
                  <a:pos x="59" y="12"/>
                </a:cxn>
                <a:cxn ang="0">
                  <a:pos x="59" y="6"/>
                </a:cxn>
                <a:cxn ang="0">
                  <a:pos x="71" y="6"/>
                </a:cxn>
                <a:cxn ang="0">
                  <a:pos x="89" y="6"/>
                </a:cxn>
                <a:cxn ang="0">
                  <a:pos x="95" y="12"/>
                </a:cxn>
                <a:cxn ang="0">
                  <a:pos x="95" y="24"/>
                </a:cxn>
                <a:cxn ang="0">
                  <a:pos x="89" y="48"/>
                </a:cxn>
                <a:cxn ang="0">
                  <a:pos x="59" y="54"/>
                </a:cxn>
                <a:cxn ang="0">
                  <a:pos x="53" y="54"/>
                </a:cxn>
                <a:cxn ang="0">
                  <a:pos x="47" y="54"/>
                </a:cxn>
                <a:cxn ang="0">
                  <a:pos x="59" y="12"/>
                </a:cxn>
              </a:cxnLst>
              <a:rect l="txL" t="txT" r="txR" b="txB"/>
              <a:pathLst>
                <a:path w="113" h="126">
                  <a:moveTo>
                    <a:pt x="107" y="120"/>
                  </a:moveTo>
                  <a:lnTo>
                    <a:pt x="95" y="114"/>
                  </a:lnTo>
                  <a:lnTo>
                    <a:pt x="95" y="108"/>
                  </a:lnTo>
                  <a:lnTo>
                    <a:pt x="77" y="60"/>
                  </a:lnTo>
                  <a:lnTo>
                    <a:pt x="107" y="48"/>
                  </a:lnTo>
                  <a:lnTo>
                    <a:pt x="113" y="24"/>
                  </a:lnTo>
                  <a:lnTo>
                    <a:pt x="107" y="12"/>
                  </a:lnTo>
                  <a:lnTo>
                    <a:pt x="95" y="6"/>
                  </a:lnTo>
                  <a:lnTo>
                    <a:pt x="83" y="0"/>
                  </a:lnTo>
                  <a:lnTo>
                    <a:pt x="71" y="0"/>
                  </a:lnTo>
                  <a:lnTo>
                    <a:pt x="23" y="0"/>
                  </a:lnTo>
                  <a:lnTo>
                    <a:pt x="35" y="6"/>
                  </a:lnTo>
                  <a:lnTo>
                    <a:pt x="41" y="12"/>
                  </a:lnTo>
                  <a:lnTo>
                    <a:pt x="41" y="18"/>
                  </a:lnTo>
                  <a:lnTo>
                    <a:pt x="35" y="24"/>
                  </a:lnTo>
                  <a:lnTo>
                    <a:pt x="12" y="108"/>
                  </a:lnTo>
                  <a:lnTo>
                    <a:pt x="6" y="120"/>
                  </a:lnTo>
                  <a:lnTo>
                    <a:pt x="0" y="120"/>
                  </a:lnTo>
                  <a:lnTo>
                    <a:pt x="0" y="126"/>
                  </a:lnTo>
                  <a:lnTo>
                    <a:pt x="41" y="126"/>
                  </a:lnTo>
                  <a:lnTo>
                    <a:pt x="41" y="120"/>
                  </a:lnTo>
                  <a:lnTo>
                    <a:pt x="35" y="120"/>
                  </a:lnTo>
                  <a:lnTo>
                    <a:pt x="29" y="114"/>
                  </a:lnTo>
                  <a:lnTo>
                    <a:pt x="29" y="108"/>
                  </a:lnTo>
                  <a:lnTo>
                    <a:pt x="35" y="102"/>
                  </a:lnTo>
                  <a:lnTo>
                    <a:pt x="41" y="60"/>
                  </a:lnTo>
                  <a:lnTo>
                    <a:pt x="59" y="60"/>
                  </a:lnTo>
                  <a:lnTo>
                    <a:pt x="77" y="126"/>
                  </a:lnTo>
                  <a:lnTo>
                    <a:pt x="107" y="126"/>
                  </a:lnTo>
                  <a:lnTo>
                    <a:pt x="107" y="120"/>
                  </a:lnTo>
                  <a:close/>
                  <a:moveTo>
                    <a:pt x="59" y="12"/>
                  </a:moveTo>
                  <a:lnTo>
                    <a:pt x="59" y="6"/>
                  </a:lnTo>
                  <a:lnTo>
                    <a:pt x="71" y="6"/>
                  </a:lnTo>
                  <a:lnTo>
                    <a:pt x="89" y="6"/>
                  </a:lnTo>
                  <a:lnTo>
                    <a:pt x="95" y="12"/>
                  </a:lnTo>
                  <a:lnTo>
                    <a:pt x="95" y="24"/>
                  </a:lnTo>
                  <a:lnTo>
                    <a:pt x="89" y="48"/>
                  </a:lnTo>
                  <a:lnTo>
                    <a:pt x="59" y="54"/>
                  </a:lnTo>
                  <a:lnTo>
                    <a:pt x="53" y="54"/>
                  </a:lnTo>
                  <a:lnTo>
                    <a:pt x="47" y="54"/>
                  </a:lnTo>
                  <a:lnTo>
                    <a:pt x="59"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65" name="Freeform 172"/>
            <p:cNvSpPr/>
            <p:nvPr/>
          </p:nvSpPr>
          <p:spPr>
            <a:xfrm>
              <a:off x="2225" y="1222"/>
              <a:ext cx="42" cy="102"/>
            </a:xfrm>
            <a:custGeom>
              <a:avLst/>
              <a:gdLst>
                <a:gd name="txL" fmla="*/ 0 w 42"/>
                <a:gd name="txT" fmla="*/ 0 h 102"/>
                <a:gd name="txR" fmla="*/ 42 w 42"/>
                <a:gd name="txB" fmla="*/ 102 h 102"/>
              </a:gdLst>
              <a:ahLst/>
              <a:cxnLst>
                <a:cxn ang="0">
                  <a:pos x="0" y="102"/>
                </a:cxn>
                <a:cxn ang="0">
                  <a:pos x="42" y="102"/>
                </a:cxn>
                <a:cxn ang="0">
                  <a:pos x="42" y="96"/>
                </a:cxn>
                <a:cxn ang="0">
                  <a:pos x="30" y="96"/>
                </a:cxn>
                <a:cxn ang="0">
                  <a:pos x="30" y="90"/>
                </a:cxn>
                <a:cxn ang="0">
                  <a:pos x="30" y="6"/>
                </a:cxn>
                <a:cxn ang="0">
                  <a:pos x="30" y="0"/>
                </a:cxn>
                <a:cxn ang="0">
                  <a:pos x="0" y="18"/>
                </a:cxn>
                <a:cxn ang="0">
                  <a:pos x="0" y="18"/>
                </a:cxn>
                <a:cxn ang="0">
                  <a:pos x="12" y="12"/>
                </a:cxn>
                <a:cxn ang="0">
                  <a:pos x="12" y="12"/>
                </a:cxn>
                <a:cxn ang="0">
                  <a:pos x="18" y="18"/>
                </a:cxn>
                <a:cxn ang="0">
                  <a:pos x="18" y="24"/>
                </a:cxn>
                <a:cxn ang="0">
                  <a:pos x="18" y="84"/>
                </a:cxn>
                <a:cxn ang="0">
                  <a:pos x="12" y="96"/>
                </a:cxn>
                <a:cxn ang="0">
                  <a:pos x="0" y="96"/>
                </a:cxn>
                <a:cxn ang="0">
                  <a:pos x="0" y="102"/>
                </a:cxn>
              </a:cxnLst>
              <a:rect l="txL" t="txT" r="txR" b="txB"/>
              <a:pathLst>
                <a:path w="42" h="102">
                  <a:moveTo>
                    <a:pt x="0" y="102"/>
                  </a:moveTo>
                  <a:lnTo>
                    <a:pt x="42" y="102"/>
                  </a:lnTo>
                  <a:lnTo>
                    <a:pt x="42" y="96"/>
                  </a:lnTo>
                  <a:lnTo>
                    <a:pt x="30" y="96"/>
                  </a:lnTo>
                  <a:lnTo>
                    <a:pt x="30" y="90"/>
                  </a:lnTo>
                  <a:lnTo>
                    <a:pt x="30" y="6"/>
                  </a:lnTo>
                  <a:lnTo>
                    <a:pt x="30" y="0"/>
                  </a:lnTo>
                  <a:lnTo>
                    <a:pt x="0" y="18"/>
                  </a:lnTo>
                  <a:lnTo>
                    <a:pt x="12" y="12"/>
                  </a:lnTo>
                  <a:lnTo>
                    <a:pt x="18" y="18"/>
                  </a:lnTo>
                  <a:lnTo>
                    <a:pt x="18" y="24"/>
                  </a:lnTo>
                  <a:lnTo>
                    <a:pt x="18" y="84"/>
                  </a:lnTo>
                  <a:lnTo>
                    <a:pt x="12" y="96"/>
                  </a:lnTo>
                  <a:lnTo>
                    <a:pt x="0" y="96"/>
                  </a:lnTo>
                  <a:lnTo>
                    <a:pt x="0" y="10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66" name="Freeform 173"/>
            <p:cNvSpPr>
              <a:spLocks noEditPoints="1"/>
            </p:cNvSpPr>
            <p:nvPr/>
          </p:nvSpPr>
          <p:spPr>
            <a:xfrm>
              <a:off x="3445" y="1126"/>
              <a:ext cx="114" cy="126"/>
            </a:xfrm>
            <a:custGeom>
              <a:avLst/>
              <a:gdLst>
                <a:gd name="txL" fmla="*/ 0 w 114"/>
                <a:gd name="txT" fmla="*/ 0 h 126"/>
                <a:gd name="txR" fmla="*/ 114 w 114"/>
                <a:gd name="txB" fmla="*/ 126 h 126"/>
              </a:gdLst>
              <a:ahLst/>
              <a:cxnLst>
                <a:cxn ang="0">
                  <a:pos x="114" y="126"/>
                </a:cxn>
                <a:cxn ang="0">
                  <a:pos x="102" y="120"/>
                </a:cxn>
                <a:cxn ang="0">
                  <a:pos x="96" y="108"/>
                </a:cxn>
                <a:cxn ang="0">
                  <a:pos x="78" y="66"/>
                </a:cxn>
                <a:cxn ang="0">
                  <a:pos x="96" y="60"/>
                </a:cxn>
                <a:cxn ang="0">
                  <a:pos x="108" y="48"/>
                </a:cxn>
                <a:cxn ang="0">
                  <a:pos x="114" y="30"/>
                </a:cxn>
                <a:cxn ang="0">
                  <a:pos x="108" y="12"/>
                </a:cxn>
                <a:cxn ang="0">
                  <a:pos x="96" y="6"/>
                </a:cxn>
                <a:cxn ang="0">
                  <a:pos x="84" y="0"/>
                </a:cxn>
                <a:cxn ang="0">
                  <a:pos x="78" y="0"/>
                </a:cxn>
                <a:cxn ang="0">
                  <a:pos x="30" y="0"/>
                </a:cxn>
                <a:cxn ang="0">
                  <a:pos x="30" y="6"/>
                </a:cxn>
                <a:cxn ang="0">
                  <a:pos x="36" y="6"/>
                </a:cxn>
                <a:cxn ang="0">
                  <a:pos x="42" y="12"/>
                </a:cxn>
                <a:cxn ang="0">
                  <a:pos x="42" y="18"/>
                </a:cxn>
                <a:cxn ang="0">
                  <a:pos x="42" y="24"/>
                </a:cxn>
                <a:cxn ang="0">
                  <a:pos x="18" y="108"/>
                </a:cxn>
                <a:cxn ang="0">
                  <a:pos x="12" y="120"/>
                </a:cxn>
                <a:cxn ang="0">
                  <a:pos x="0" y="126"/>
                </a:cxn>
                <a:cxn ang="0">
                  <a:pos x="0" y="126"/>
                </a:cxn>
                <a:cxn ang="0">
                  <a:pos x="48" y="126"/>
                </a:cxn>
                <a:cxn ang="0">
                  <a:pos x="48" y="126"/>
                </a:cxn>
                <a:cxn ang="0">
                  <a:pos x="36" y="120"/>
                </a:cxn>
                <a:cxn ang="0">
                  <a:pos x="36" y="114"/>
                </a:cxn>
                <a:cxn ang="0">
                  <a:pos x="36" y="114"/>
                </a:cxn>
                <a:cxn ang="0">
                  <a:pos x="36" y="102"/>
                </a:cxn>
                <a:cxn ang="0">
                  <a:pos x="48" y="66"/>
                </a:cxn>
                <a:cxn ang="0">
                  <a:pos x="60" y="66"/>
                </a:cxn>
                <a:cxn ang="0">
                  <a:pos x="84" y="126"/>
                </a:cxn>
                <a:cxn ang="0">
                  <a:pos x="114" y="126"/>
                </a:cxn>
                <a:cxn ang="0">
                  <a:pos x="114" y="126"/>
                </a:cxn>
                <a:cxn ang="0">
                  <a:pos x="66" y="12"/>
                </a:cxn>
                <a:cxn ang="0">
                  <a:pos x="66" y="12"/>
                </a:cxn>
                <a:cxn ang="0">
                  <a:pos x="72" y="6"/>
                </a:cxn>
                <a:cxn ang="0">
                  <a:pos x="90" y="12"/>
                </a:cxn>
                <a:cxn ang="0">
                  <a:pos x="96" y="30"/>
                </a:cxn>
                <a:cxn ang="0">
                  <a:pos x="90" y="48"/>
                </a:cxn>
                <a:cxn ang="0">
                  <a:pos x="78" y="60"/>
                </a:cxn>
                <a:cxn ang="0">
                  <a:pos x="60" y="60"/>
                </a:cxn>
                <a:cxn ang="0">
                  <a:pos x="54" y="60"/>
                </a:cxn>
                <a:cxn ang="0">
                  <a:pos x="48" y="54"/>
                </a:cxn>
                <a:cxn ang="0">
                  <a:pos x="66" y="12"/>
                </a:cxn>
              </a:cxnLst>
              <a:rect l="txL" t="txT" r="txR" b="txB"/>
              <a:pathLst>
                <a:path w="114" h="126">
                  <a:moveTo>
                    <a:pt x="114" y="126"/>
                  </a:moveTo>
                  <a:lnTo>
                    <a:pt x="102" y="120"/>
                  </a:lnTo>
                  <a:lnTo>
                    <a:pt x="96" y="108"/>
                  </a:lnTo>
                  <a:lnTo>
                    <a:pt x="78" y="66"/>
                  </a:lnTo>
                  <a:lnTo>
                    <a:pt x="96" y="60"/>
                  </a:lnTo>
                  <a:lnTo>
                    <a:pt x="108" y="48"/>
                  </a:lnTo>
                  <a:lnTo>
                    <a:pt x="114" y="30"/>
                  </a:lnTo>
                  <a:lnTo>
                    <a:pt x="108" y="12"/>
                  </a:lnTo>
                  <a:lnTo>
                    <a:pt x="96" y="6"/>
                  </a:lnTo>
                  <a:lnTo>
                    <a:pt x="84" y="0"/>
                  </a:lnTo>
                  <a:lnTo>
                    <a:pt x="78" y="0"/>
                  </a:lnTo>
                  <a:lnTo>
                    <a:pt x="30" y="0"/>
                  </a:lnTo>
                  <a:lnTo>
                    <a:pt x="30" y="6"/>
                  </a:lnTo>
                  <a:lnTo>
                    <a:pt x="36" y="6"/>
                  </a:lnTo>
                  <a:lnTo>
                    <a:pt x="42" y="12"/>
                  </a:lnTo>
                  <a:lnTo>
                    <a:pt x="42" y="18"/>
                  </a:lnTo>
                  <a:lnTo>
                    <a:pt x="42" y="24"/>
                  </a:lnTo>
                  <a:lnTo>
                    <a:pt x="18" y="108"/>
                  </a:lnTo>
                  <a:lnTo>
                    <a:pt x="12" y="120"/>
                  </a:lnTo>
                  <a:lnTo>
                    <a:pt x="0" y="126"/>
                  </a:lnTo>
                  <a:lnTo>
                    <a:pt x="48" y="126"/>
                  </a:lnTo>
                  <a:lnTo>
                    <a:pt x="36" y="120"/>
                  </a:lnTo>
                  <a:lnTo>
                    <a:pt x="36" y="114"/>
                  </a:lnTo>
                  <a:lnTo>
                    <a:pt x="36" y="102"/>
                  </a:lnTo>
                  <a:lnTo>
                    <a:pt x="48" y="66"/>
                  </a:lnTo>
                  <a:lnTo>
                    <a:pt x="60" y="66"/>
                  </a:lnTo>
                  <a:lnTo>
                    <a:pt x="84" y="126"/>
                  </a:lnTo>
                  <a:lnTo>
                    <a:pt x="114" y="126"/>
                  </a:lnTo>
                  <a:close/>
                  <a:moveTo>
                    <a:pt x="66" y="12"/>
                  </a:moveTo>
                  <a:lnTo>
                    <a:pt x="66" y="12"/>
                  </a:lnTo>
                  <a:lnTo>
                    <a:pt x="72" y="6"/>
                  </a:lnTo>
                  <a:lnTo>
                    <a:pt x="90" y="12"/>
                  </a:lnTo>
                  <a:lnTo>
                    <a:pt x="96" y="30"/>
                  </a:lnTo>
                  <a:lnTo>
                    <a:pt x="90" y="48"/>
                  </a:lnTo>
                  <a:lnTo>
                    <a:pt x="78" y="60"/>
                  </a:lnTo>
                  <a:lnTo>
                    <a:pt x="60" y="60"/>
                  </a:lnTo>
                  <a:lnTo>
                    <a:pt x="54" y="60"/>
                  </a:lnTo>
                  <a:lnTo>
                    <a:pt x="48" y="54"/>
                  </a:lnTo>
                  <a:lnTo>
                    <a:pt x="66"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67" name="Freeform 174"/>
            <p:cNvSpPr/>
            <p:nvPr/>
          </p:nvSpPr>
          <p:spPr>
            <a:xfrm>
              <a:off x="3571" y="1204"/>
              <a:ext cx="66" cy="96"/>
            </a:xfrm>
            <a:custGeom>
              <a:avLst/>
              <a:gdLst>
                <a:gd name="txL" fmla="*/ 0 w 66"/>
                <a:gd name="txT" fmla="*/ 0 h 96"/>
                <a:gd name="txR" fmla="*/ 66 w 66"/>
                <a:gd name="txB" fmla="*/ 96 h 96"/>
              </a:gdLst>
              <a:ahLst/>
              <a:cxnLst>
                <a:cxn ang="0">
                  <a:pos x="66" y="78"/>
                </a:cxn>
                <a:cxn ang="0">
                  <a:pos x="60" y="78"/>
                </a:cxn>
                <a:cxn ang="0">
                  <a:pos x="54" y="84"/>
                </a:cxn>
                <a:cxn ang="0">
                  <a:pos x="48" y="84"/>
                </a:cxn>
                <a:cxn ang="0">
                  <a:pos x="12" y="84"/>
                </a:cxn>
                <a:cxn ang="0">
                  <a:pos x="36" y="60"/>
                </a:cxn>
                <a:cxn ang="0">
                  <a:pos x="48" y="48"/>
                </a:cxn>
                <a:cxn ang="0">
                  <a:pos x="54" y="24"/>
                </a:cxn>
                <a:cxn ang="0">
                  <a:pos x="48" y="6"/>
                </a:cxn>
                <a:cxn ang="0">
                  <a:pos x="30" y="0"/>
                </a:cxn>
                <a:cxn ang="0">
                  <a:pos x="12" y="6"/>
                </a:cxn>
                <a:cxn ang="0">
                  <a:pos x="6" y="18"/>
                </a:cxn>
                <a:cxn ang="0">
                  <a:pos x="0" y="30"/>
                </a:cxn>
                <a:cxn ang="0">
                  <a:pos x="0" y="30"/>
                </a:cxn>
                <a:cxn ang="0">
                  <a:pos x="12" y="18"/>
                </a:cxn>
                <a:cxn ang="0">
                  <a:pos x="24" y="12"/>
                </a:cxn>
                <a:cxn ang="0">
                  <a:pos x="36" y="12"/>
                </a:cxn>
                <a:cxn ang="0">
                  <a:pos x="42" y="18"/>
                </a:cxn>
                <a:cxn ang="0">
                  <a:pos x="42" y="30"/>
                </a:cxn>
                <a:cxn ang="0">
                  <a:pos x="36" y="48"/>
                </a:cxn>
                <a:cxn ang="0">
                  <a:pos x="24" y="66"/>
                </a:cxn>
                <a:cxn ang="0">
                  <a:pos x="0" y="96"/>
                </a:cxn>
                <a:cxn ang="0">
                  <a:pos x="0" y="96"/>
                </a:cxn>
                <a:cxn ang="0">
                  <a:pos x="54" y="96"/>
                </a:cxn>
                <a:cxn ang="0">
                  <a:pos x="66" y="78"/>
                </a:cxn>
              </a:cxnLst>
              <a:rect l="txL" t="txT" r="txR" b="txB"/>
              <a:pathLst>
                <a:path w="66" h="96">
                  <a:moveTo>
                    <a:pt x="66" y="78"/>
                  </a:moveTo>
                  <a:lnTo>
                    <a:pt x="60" y="78"/>
                  </a:lnTo>
                  <a:lnTo>
                    <a:pt x="54" y="84"/>
                  </a:lnTo>
                  <a:lnTo>
                    <a:pt x="48" y="84"/>
                  </a:lnTo>
                  <a:lnTo>
                    <a:pt x="12" y="84"/>
                  </a:lnTo>
                  <a:lnTo>
                    <a:pt x="36" y="60"/>
                  </a:lnTo>
                  <a:lnTo>
                    <a:pt x="48" y="48"/>
                  </a:lnTo>
                  <a:lnTo>
                    <a:pt x="54" y="24"/>
                  </a:lnTo>
                  <a:lnTo>
                    <a:pt x="48" y="6"/>
                  </a:lnTo>
                  <a:lnTo>
                    <a:pt x="30" y="0"/>
                  </a:lnTo>
                  <a:lnTo>
                    <a:pt x="12" y="6"/>
                  </a:lnTo>
                  <a:lnTo>
                    <a:pt x="6" y="18"/>
                  </a:lnTo>
                  <a:lnTo>
                    <a:pt x="0" y="30"/>
                  </a:lnTo>
                  <a:lnTo>
                    <a:pt x="12" y="18"/>
                  </a:lnTo>
                  <a:lnTo>
                    <a:pt x="24" y="12"/>
                  </a:lnTo>
                  <a:lnTo>
                    <a:pt x="36" y="12"/>
                  </a:lnTo>
                  <a:lnTo>
                    <a:pt x="42" y="18"/>
                  </a:lnTo>
                  <a:lnTo>
                    <a:pt x="42" y="30"/>
                  </a:lnTo>
                  <a:lnTo>
                    <a:pt x="36" y="48"/>
                  </a:lnTo>
                  <a:lnTo>
                    <a:pt x="24" y="66"/>
                  </a:lnTo>
                  <a:lnTo>
                    <a:pt x="0" y="96"/>
                  </a:lnTo>
                  <a:lnTo>
                    <a:pt x="54" y="96"/>
                  </a:lnTo>
                  <a:lnTo>
                    <a:pt x="66" y="7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68" name="Freeform 175"/>
            <p:cNvSpPr>
              <a:spLocks noEditPoints="1"/>
            </p:cNvSpPr>
            <p:nvPr/>
          </p:nvSpPr>
          <p:spPr>
            <a:xfrm>
              <a:off x="2763" y="643"/>
              <a:ext cx="114" cy="125"/>
            </a:xfrm>
            <a:custGeom>
              <a:avLst/>
              <a:gdLst>
                <a:gd name="txL" fmla="*/ 0 w 114"/>
                <a:gd name="txT" fmla="*/ 0 h 125"/>
                <a:gd name="txR" fmla="*/ 114 w 114"/>
                <a:gd name="txB" fmla="*/ 125 h 125"/>
              </a:gdLst>
              <a:ahLst/>
              <a:cxnLst>
                <a:cxn ang="0">
                  <a:pos x="114" y="119"/>
                </a:cxn>
                <a:cxn ang="0">
                  <a:pos x="102" y="113"/>
                </a:cxn>
                <a:cxn ang="0">
                  <a:pos x="96" y="107"/>
                </a:cxn>
                <a:cxn ang="0">
                  <a:pos x="78" y="60"/>
                </a:cxn>
                <a:cxn ang="0">
                  <a:pos x="108" y="48"/>
                </a:cxn>
                <a:cxn ang="0">
                  <a:pos x="114" y="30"/>
                </a:cxn>
                <a:cxn ang="0">
                  <a:pos x="108" y="12"/>
                </a:cxn>
                <a:cxn ang="0">
                  <a:pos x="96" y="6"/>
                </a:cxn>
                <a:cxn ang="0">
                  <a:pos x="84" y="0"/>
                </a:cxn>
                <a:cxn ang="0">
                  <a:pos x="78" y="0"/>
                </a:cxn>
                <a:cxn ang="0">
                  <a:pos x="30" y="0"/>
                </a:cxn>
                <a:cxn ang="0">
                  <a:pos x="30" y="0"/>
                </a:cxn>
                <a:cxn ang="0">
                  <a:pos x="36" y="6"/>
                </a:cxn>
                <a:cxn ang="0">
                  <a:pos x="42" y="12"/>
                </a:cxn>
                <a:cxn ang="0">
                  <a:pos x="42" y="18"/>
                </a:cxn>
                <a:cxn ang="0">
                  <a:pos x="42" y="24"/>
                </a:cxn>
                <a:cxn ang="0">
                  <a:pos x="18" y="107"/>
                </a:cxn>
                <a:cxn ang="0">
                  <a:pos x="12" y="119"/>
                </a:cxn>
                <a:cxn ang="0">
                  <a:pos x="0" y="119"/>
                </a:cxn>
                <a:cxn ang="0">
                  <a:pos x="0" y="125"/>
                </a:cxn>
                <a:cxn ang="0">
                  <a:pos x="48" y="125"/>
                </a:cxn>
                <a:cxn ang="0">
                  <a:pos x="48" y="119"/>
                </a:cxn>
                <a:cxn ang="0">
                  <a:pos x="36" y="119"/>
                </a:cxn>
                <a:cxn ang="0">
                  <a:pos x="36" y="113"/>
                </a:cxn>
                <a:cxn ang="0">
                  <a:pos x="36" y="107"/>
                </a:cxn>
                <a:cxn ang="0">
                  <a:pos x="36" y="101"/>
                </a:cxn>
                <a:cxn ang="0">
                  <a:pos x="48" y="60"/>
                </a:cxn>
                <a:cxn ang="0">
                  <a:pos x="60" y="60"/>
                </a:cxn>
                <a:cxn ang="0">
                  <a:pos x="84" y="125"/>
                </a:cxn>
                <a:cxn ang="0">
                  <a:pos x="114" y="125"/>
                </a:cxn>
                <a:cxn ang="0">
                  <a:pos x="114" y="119"/>
                </a:cxn>
                <a:cxn ang="0">
                  <a:pos x="60" y="12"/>
                </a:cxn>
                <a:cxn ang="0">
                  <a:pos x="66" y="6"/>
                </a:cxn>
                <a:cxn ang="0">
                  <a:pos x="72" y="6"/>
                </a:cxn>
                <a:cxn ang="0">
                  <a:pos x="90" y="12"/>
                </a:cxn>
                <a:cxn ang="0">
                  <a:pos x="96" y="24"/>
                </a:cxn>
                <a:cxn ang="0">
                  <a:pos x="90" y="48"/>
                </a:cxn>
                <a:cxn ang="0">
                  <a:pos x="78" y="54"/>
                </a:cxn>
                <a:cxn ang="0">
                  <a:pos x="60" y="54"/>
                </a:cxn>
                <a:cxn ang="0">
                  <a:pos x="54" y="54"/>
                </a:cxn>
                <a:cxn ang="0">
                  <a:pos x="48" y="54"/>
                </a:cxn>
                <a:cxn ang="0">
                  <a:pos x="60" y="12"/>
                </a:cxn>
              </a:cxnLst>
              <a:rect l="txL" t="txT" r="txR" b="txB"/>
              <a:pathLst>
                <a:path w="114" h="125">
                  <a:moveTo>
                    <a:pt x="114" y="119"/>
                  </a:moveTo>
                  <a:lnTo>
                    <a:pt x="102" y="113"/>
                  </a:lnTo>
                  <a:lnTo>
                    <a:pt x="96" y="107"/>
                  </a:lnTo>
                  <a:lnTo>
                    <a:pt x="78" y="60"/>
                  </a:lnTo>
                  <a:lnTo>
                    <a:pt x="108" y="48"/>
                  </a:lnTo>
                  <a:lnTo>
                    <a:pt x="114" y="30"/>
                  </a:lnTo>
                  <a:lnTo>
                    <a:pt x="108" y="12"/>
                  </a:lnTo>
                  <a:lnTo>
                    <a:pt x="96" y="6"/>
                  </a:lnTo>
                  <a:lnTo>
                    <a:pt x="84" y="0"/>
                  </a:lnTo>
                  <a:lnTo>
                    <a:pt x="78" y="0"/>
                  </a:lnTo>
                  <a:lnTo>
                    <a:pt x="30" y="0"/>
                  </a:lnTo>
                  <a:lnTo>
                    <a:pt x="36" y="6"/>
                  </a:lnTo>
                  <a:lnTo>
                    <a:pt x="42" y="12"/>
                  </a:lnTo>
                  <a:lnTo>
                    <a:pt x="42" y="18"/>
                  </a:lnTo>
                  <a:lnTo>
                    <a:pt x="42" y="24"/>
                  </a:lnTo>
                  <a:lnTo>
                    <a:pt x="18" y="107"/>
                  </a:lnTo>
                  <a:lnTo>
                    <a:pt x="12" y="119"/>
                  </a:lnTo>
                  <a:lnTo>
                    <a:pt x="0" y="119"/>
                  </a:lnTo>
                  <a:lnTo>
                    <a:pt x="0" y="125"/>
                  </a:lnTo>
                  <a:lnTo>
                    <a:pt x="48" y="125"/>
                  </a:lnTo>
                  <a:lnTo>
                    <a:pt x="48" y="119"/>
                  </a:lnTo>
                  <a:lnTo>
                    <a:pt x="36" y="119"/>
                  </a:lnTo>
                  <a:lnTo>
                    <a:pt x="36" y="113"/>
                  </a:lnTo>
                  <a:lnTo>
                    <a:pt x="36" y="107"/>
                  </a:lnTo>
                  <a:lnTo>
                    <a:pt x="36" y="101"/>
                  </a:lnTo>
                  <a:lnTo>
                    <a:pt x="48" y="60"/>
                  </a:lnTo>
                  <a:lnTo>
                    <a:pt x="60" y="60"/>
                  </a:lnTo>
                  <a:lnTo>
                    <a:pt x="84" y="125"/>
                  </a:lnTo>
                  <a:lnTo>
                    <a:pt x="114" y="125"/>
                  </a:lnTo>
                  <a:lnTo>
                    <a:pt x="114" y="119"/>
                  </a:lnTo>
                  <a:close/>
                  <a:moveTo>
                    <a:pt x="60" y="12"/>
                  </a:moveTo>
                  <a:lnTo>
                    <a:pt x="66" y="6"/>
                  </a:lnTo>
                  <a:lnTo>
                    <a:pt x="72" y="6"/>
                  </a:lnTo>
                  <a:lnTo>
                    <a:pt x="90" y="12"/>
                  </a:lnTo>
                  <a:lnTo>
                    <a:pt x="96" y="24"/>
                  </a:lnTo>
                  <a:lnTo>
                    <a:pt x="90" y="48"/>
                  </a:lnTo>
                  <a:lnTo>
                    <a:pt x="78" y="54"/>
                  </a:lnTo>
                  <a:lnTo>
                    <a:pt x="60" y="54"/>
                  </a:lnTo>
                  <a:lnTo>
                    <a:pt x="54" y="54"/>
                  </a:lnTo>
                  <a:lnTo>
                    <a:pt x="48" y="54"/>
                  </a:lnTo>
                  <a:lnTo>
                    <a:pt x="60"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69" name="Freeform 176"/>
            <p:cNvSpPr/>
            <p:nvPr/>
          </p:nvSpPr>
          <p:spPr>
            <a:xfrm>
              <a:off x="2889" y="750"/>
              <a:ext cx="54" cy="66"/>
            </a:xfrm>
            <a:custGeom>
              <a:avLst/>
              <a:gdLst>
                <a:gd name="txL" fmla="*/ 0 w 54"/>
                <a:gd name="txT" fmla="*/ 0 h 66"/>
                <a:gd name="txR" fmla="*/ 54 w 54"/>
                <a:gd name="txB" fmla="*/ 66 h 66"/>
              </a:gdLst>
              <a:ahLst/>
              <a:cxnLst>
                <a:cxn ang="0">
                  <a:pos x="42" y="48"/>
                </a:cxn>
                <a:cxn ang="0">
                  <a:pos x="36" y="54"/>
                </a:cxn>
                <a:cxn ang="0">
                  <a:pos x="24" y="60"/>
                </a:cxn>
                <a:cxn ang="0">
                  <a:pos x="12" y="54"/>
                </a:cxn>
                <a:cxn ang="0">
                  <a:pos x="12" y="42"/>
                </a:cxn>
                <a:cxn ang="0">
                  <a:pos x="18" y="18"/>
                </a:cxn>
                <a:cxn ang="0">
                  <a:pos x="24" y="12"/>
                </a:cxn>
                <a:cxn ang="0">
                  <a:pos x="36" y="6"/>
                </a:cxn>
                <a:cxn ang="0">
                  <a:pos x="42" y="6"/>
                </a:cxn>
                <a:cxn ang="0">
                  <a:pos x="42" y="6"/>
                </a:cxn>
                <a:cxn ang="0">
                  <a:pos x="42" y="12"/>
                </a:cxn>
                <a:cxn ang="0">
                  <a:pos x="42" y="12"/>
                </a:cxn>
                <a:cxn ang="0">
                  <a:pos x="42" y="18"/>
                </a:cxn>
                <a:cxn ang="0">
                  <a:pos x="48" y="18"/>
                </a:cxn>
                <a:cxn ang="0">
                  <a:pos x="54" y="18"/>
                </a:cxn>
                <a:cxn ang="0">
                  <a:pos x="54" y="12"/>
                </a:cxn>
                <a:cxn ang="0">
                  <a:pos x="54" y="6"/>
                </a:cxn>
                <a:cxn ang="0">
                  <a:pos x="48" y="0"/>
                </a:cxn>
                <a:cxn ang="0">
                  <a:pos x="36" y="0"/>
                </a:cxn>
                <a:cxn ang="0">
                  <a:pos x="24" y="6"/>
                </a:cxn>
                <a:cxn ang="0">
                  <a:pos x="12" y="12"/>
                </a:cxn>
                <a:cxn ang="0">
                  <a:pos x="6" y="30"/>
                </a:cxn>
                <a:cxn ang="0">
                  <a:pos x="0" y="42"/>
                </a:cxn>
                <a:cxn ang="0">
                  <a:pos x="0" y="54"/>
                </a:cxn>
                <a:cxn ang="0">
                  <a:pos x="6" y="66"/>
                </a:cxn>
                <a:cxn ang="0">
                  <a:pos x="18" y="66"/>
                </a:cxn>
                <a:cxn ang="0">
                  <a:pos x="36" y="60"/>
                </a:cxn>
                <a:cxn ang="0">
                  <a:pos x="48" y="54"/>
                </a:cxn>
                <a:cxn ang="0">
                  <a:pos x="42" y="48"/>
                </a:cxn>
              </a:cxnLst>
              <a:rect l="txL" t="txT" r="txR" b="txB"/>
              <a:pathLst>
                <a:path w="54" h="66">
                  <a:moveTo>
                    <a:pt x="42" y="48"/>
                  </a:moveTo>
                  <a:lnTo>
                    <a:pt x="36" y="54"/>
                  </a:lnTo>
                  <a:lnTo>
                    <a:pt x="24" y="60"/>
                  </a:lnTo>
                  <a:lnTo>
                    <a:pt x="12" y="54"/>
                  </a:lnTo>
                  <a:lnTo>
                    <a:pt x="12" y="42"/>
                  </a:lnTo>
                  <a:lnTo>
                    <a:pt x="18" y="18"/>
                  </a:lnTo>
                  <a:lnTo>
                    <a:pt x="24" y="12"/>
                  </a:lnTo>
                  <a:lnTo>
                    <a:pt x="36" y="6"/>
                  </a:lnTo>
                  <a:lnTo>
                    <a:pt x="42" y="6"/>
                  </a:lnTo>
                  <a:lnTo>
                    <a:pt x="42" y="12"/>
                  </a:lnTo>
                  <a:lnTo>
                    <a:pt x="42" y="18"/>
                  </a:lnTo>
                  <a:lnTo>
                    <a:pt x="48" y="18"/>
                  </a:lnTo>
                  <a:lnTo>
                    <a:pt x="54" y="18"/>
                  </a:lnTo>
                  <a:lnTo>
                    <a:pt x="54" y="12"/>
                  </a:lnTo>
                  <a:lnTo>
                    <a:pt x="54" y="6"/>
                  </a:lnTo>
                  <a:lnTo>
                    <a:pt x="48" y="0"/>
                  </a:lnTo>
                  <a:lnTo>
                    <a:pt x="36" y="0"/>
                  </a:lnTo>
                  <a:lnTo>
                    <a:pt x="24" y="6"/>
                  </a:lnTo>
                  <a:lnTo>
                    <a:pt x="12" y="12"/>
                  </a:lnTo>
                  <a:lnTo>
                    <a:pt x="6" y="30"/>
                  </a:lnTo>
                  <a:lnTo>
                    <a:pt x="0" y="42"/>
                  </a:lnTo>
                  <a:lnTo>
                    <a:pt x="0" y="54"/>
                  </a:lnTo>
                  <a:lnTo>
                    <a:pt x="6" y="66"/>
                  </a:lnTo>
                  <a:lnTo>
                    <a:pt x="18" y="66"/>
                  </a:lnTo>
                  <a:lnTo>
                    <a:pt x="36" y="60"/>
                  </a:lnTo>
                  <a:lnTo>
                    <a:pt x="48" y="54"/>
                  </a:lnTo>
                  <a:lnTo>
                    <a:pt x="42"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70" name="Freeform 177"/>
            <p:cNvSpPr>
              <a:spLocks noEditPoints="1"/>
            </p:cNvSpPr>
            <p:nvPr/>
          </p:nvSpPr>
          <p:spPr>
            <a:xfrm>
              <a:off x="4617" y="900"/>
              <a:ext cx="84" cy="137"/>
            </a:xfrm>
            <a:custGeom>
              <a:avLst/>
              <a:gdLst>
                <a:gd name="txL" fmla="*/ 0 w 84"/>
                <a:gd name="txT" fmla="*/ 0 h 137"/>
                <a:gd name="txR" fmla="*/ 84 w 84"/>
                <a:gd name="txB" fmla="*/ 137 h 137"/>
              </a:gdLst>
              <a:ahLst/>
              <a:cxnLst>
                <a:cxn ang="0">
                  <a:pos x="72" y="71"/>
                </a:cxn>
                <a:cxn ang="0">
                  <a:pos x="66" y="89"/>
                </a:cxn>
                <a:cxn ang="0">
                  <a:pos x="60" y="107"/>
                </a:cxn>
                <a:cxn ang="0">
                  <a:pos x="42" y="125"/>
                </a:cxn>
                <a:cxn ang="0">
                  <a:pos x="24" y="131"/>
                </a:cxn>
                <a:cxn ang="0">
                  <a:pos x="18" y="131"/>
                </a:cxn>
                <a:cxn ang="0">
                  <a:pos x="18" y="125"/>
                </a:cxn>
                <a:cxn ang="0">
                  <a:pos x="24" y="107"/>
                </a:cxn>
                <a:cxn ang="0">
                  <a:pos x="30" y="83"/>
                </a:cxn>
                <a:cxn ang="0">
                  <a:pos x="42" y="65"/>
                </a:cxn>
                <a:cxn ang="0">
                  <a:pos x="54" y="59"/>
                </a:cxn>
                <a:cxn ang="0">
                  <a:pos x="66" y="65"/>
                </a:cxn>
                <a:cxn ang="0">
                  <a:pos x="72" y="71"/>
                </a:cxn>
                <a:cxn ang="0">
                  <a:pos x="72" y="71"/>
                </a:cxn>
                <a:cxn ang="0">
                  <a:pos x="18" y="12"/>
                </a:cxn>
                <a:cxn ang="0">
                  <a:pos x="30" y="12"/>
                </a:cxn>
                <a:cxn ang="0">
                  <a:pos x="30" y="12"/>
                </a:cxn>
                <a:cxn ang="0">
                  <a:pos x="30" y="23"/>
                </a:cxn>
                <a:cxn ang="0">
                  <a:pos x="24" y="29"/>
                </a:cxn>
                <a:cxn ang="0">
                  <a:pos x="0" y="125"/>
                </a:cxn>
                <a:cxn ang="0">
                  <a:pos x="0" y="125"/>
                </a:cxn>
                <a:cxn ang="0">
                  <a:pos x="6" y="131"/>
                </a:cxn>
                <a:cxn ang="0">
                  <a:pos x="24" y="137"/>
                </a:cxn>
                <a:cxn ang="0">
                  <a:pos x="48" y="131"/>
                </a:cxn>
                <a:cxn ang="0">
                  <a:pos x="66" y="113"/>
                </a:cxn>
                <a:cxn ang="0">
                  <a:pos x="78" y="95"/>
                </a:cxn>
                <a:cxn ang="0">
                  <a:pos x="84" y="71"/>
                </a:cxn>
                <a:cxn ang="0">
                  <a:pos x="78" y="53"/>
                </a:cxn>
                <a:cxn ang="0">
                  <a:pos x="66" y="47"/>
                </a:cxn>
                <a:cxn ang="0">
                  <a:pos x="54" y="53"/>
                </a:cxn>
                <a:cxn ang="0">
                  <a:pos x="42" y="59"/>
                </a:cxn>
                <a:cxn ang="0">
                  <a:pos x="30" y="77"/>
                </a:cxn>
                <a:cxn ang="0">
                  <a:pos x="30" y="77"/>
                </a:cxn>
                <a:cxn ang="0">
                  <a:pos x="42" y="35"/>
                </a:cxn>
                <a:cxn ang="0">
                  <a:pos x="42" y="17"/>
                </a:cxn>
                <a:cxn ang="0">
                  <a:pos x="48" y="0"/>
                </a:cxn>
                <a:cxn ang="0">
                  <a:pos x="48" y="0"/>
                </a:cxn>
                <a:cxn ang="0">
                  <a:pos x="30" y="6"/>
                </a:cxn>
                <a:cxn ang="0">
                  <a:pos x="18" y="6"/>
                </a:cxn>
                <a:cxn ang="0">
                  <a:pos x="18" y="12"/>
                </a:cxn>
              </a:cxnLst>
              <a:rect l="txL" t="txT" r="txR" b="txB"/>
              <a:pathLst>
                <a:path w="84" h="137">
                  <a:moveTo>
                    <a:pt x="72" y="71"/>
                  </a:moveTo>
                  <a:lnTo>
                    <a:pt x="66" y="89"/>
                  </a:lnTo>
                  <a:lnTo>
                    <a:pt x="60" y="107"/>
                  </a:lnTo>
                  <a:lnTo>
                    <a:pt x="42" y="125"/>
                  </a:lnTo>
                  <a:lnTo>
                    <a:pt x="24" y="131"/>
                  </a:lnTo>
                  <a:lnTo>
                    <a:pt x="18" y="131"/>
                  </a:lnTo>
                  <a:lnTo>
                    <a:pt x="18" y="125"/>
                  </a:lnTo>
                  <a:lnTo>
                    <a:pt x="24" y="107"/>
                  </a:lnTo>
                  <a:lnTo>
                    <a:pt x="30" y="83"/>
                  </a:lnTo>
                  <a:lnTo>
                    <a:pt x="42" y="65"/>
                  </a:lnTo>
                  <a:lnTo>
                    <a:pt x="54" y="59"/>
                  </a:lnTo>
                  <a:lnTo>
                    <a:pt x="66" y="65"/>
                  </a:lnTo>
                  <a:lnTo>
                    <a:pt x="72" y="71"/>
                  </a:lnTo>
                  <a:close/>
                  <a:moveTo>
                    <a:pt x="18" y="12"/>
                  </a:moveTo>
                  <a:lnTo>
                    <a:pt x="30" y="12"/>
                  </a:lnTo>
                  <a:lnTo>
                    <a:pt x="30" y="23"/>
                  </a:lnTo>
                  <a:lnTo>
                    <a:pt x="24" y="29"/>
                  </a:lnTo>
                  <a:lnTo>
                    <a:pt x="0" y="125"/>
                  </a:lnTo>
                  <a:lnTo>
                    <a:pt x="6" y="131"/>
                  </a:lnTo>
                  <a:lnTo>
                    <a:pt x="24" y="137"/>
                  </a:lnTo>
                  <a:lnTo>
                    <a:pt x="48" y="131"/>
                  </a:lnTo>
                  <a:lnTo>
                    <a:pt x="66" y="113"/>
                  </a:lnTo>
                  <a:lnTo>
                    <a:pt x="78" y="95"/>
                  </a:lnTo>
                  <a:lnTo>
                    <a:pt x="84" y="71"/>
                  </a:lnTo>
                  <a:lnTo>
                    <a:pt x="78" y="53"/>
                  </a:lnTo>
                  <a:lnTo>
                    <a:pt x="66" y="47"/>
                  </a:lnTo>
                  <a:lnTo>
                    <a:pt x="54" y="53"/>
                  </a:lnTo>
                  <a:lnTo>
                    <a:pt x="42" y="59"/>
                  </a:lnTo>
                  <a:lnTo>
                    <a:pt x="30" y="77"/>
                  </a:lnTo>
                  <a:lnTo>
                    <a:pt x="42" y="35"/>
                  </a:lnTo>
                  <a:lnTo>
                    <a:pt x="42" y="17"/>
                  </a:lnTo>
                  <a:lnTo>
                    <a:pt x="48" y="0"/>
                  </a:lnTo>
                  <a:lnTo>
                    <a:pt x="30" y="6"/>
                  </a:lnTo>
                  <a:lnTo>
                    <a:pt x="18" y="6"/>
                  </a:lnTo>
                  <a:lnTo>
                    <a:pt x="18"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71" name="Freeform 178"/>
            <p:cNvSpPr/>
            <p:nvPr/>
          </p:nvSpPr>
          <p:spPr>
            <a:xfrm>
              <a:off x="2841" y="1628"/>
              <a:ext cx="90" cy="90"/>
            </a:xfrm>
            <a:custGeom>
              <a:avLst/>
              <a:gdLst>
                <a:gd name="txL" fmla="*/ 0 w 90"/>
                <a:gd name="txT" fmla="*/ 0 h 90"/>
                <a:gd name="txR" fmla="*/ 90 w 90"/>
                <a:gd name="txB" fmla="*/ 90 h 90"/>
              </a:gdLst>
              <a:ahLst/>
              <a:cxnLst>
                <a:cxn ang="0">
                  <a:pos x="90" y="60"/>
                </a:cxn>
                <a:cxn ang="0">
                  <a:pos x="78" y="72"/>
                </a:cxn>
                <a:cxn ang="0">
                  <a:pos x="72" y="78"/>
                </a:cxn>
                <a:cxn ang="0">
                  <a:pos x="72" y="78"/>
                </a:cxn>
                <a:cxn ang="0">
                  <a:pos x="66" y="72"/>
                </a:cxn>
                <a:cxn ang="0">
                  <a:pos x="72" y="60"/>
                </a:cxn>
                <a:cxn ang="0">
                  <a:pos x="78" y="42"/>
                </a:cxn>
                <a:cxn ang="0">
                  <a:pos x="84" y="24"/>
                </a:cxn>
                <a:cxn ang="0">
                  <a:pos x="84" y="12"/>
                </a:cxn>
                <a:cxn ang="0">
                  <a:pos x="78" y="6"/>
                </a:cxn>
                <a:cxn ang="0">
                  <a:pos x="72" y="0"/>
                </a:cxn>
                <a:cxn ang="0">
                  <a:pos x="60" y="6"/>
                </a:cxn>
                <a:cxn ang="0">
                  <a:pos x="48" y="18"/>
                </a:cxn>
                <a:cxn ang="0">
                  <a:pos x="36" y="30"/>
                </a:cxn>
                <a:cxn ang="0">
                  <a:pos x="30" y="42"/>
                </a:cxn>
                <a:cxn ang="0">
                  <a:pos x="30" y="42"/>
                </a:cxn>
                <a:cxn ang="0">
                  <a:pos x="42" y="0"/>
                </a:cxn>
                <a:cxn ang="0">
                  <a:pos x="42" y="0"/>
                </a:cxn>
                <a:cxn ang="0">
                  <a:pos x="24" y="6"/>
                </a:cxn>
                <a:cxn ang="0">
                  <a:pos x="6" y="6"/>
                </a:cxn>
                <a:cxn ang="0">
                  <a:pos x="6" y="12"/>
                </a:cxn>
                <a:cxn ang="0">
                  <a:pos x="18" y="12"/>
                </a:cxn>
                <a:cxn ang="0">
                  <a:pos x="18" y="12"/>
                </a:cxn>
                <a:cxn ang="0">
                  <a:pos x="18" y="24"/>
                </a:cxn>
                <a:cxn ang="0">
                  <a:pos x="12" y="42"/>
                </a:cxn>
                <a:cxn ang="0">
                  <a:pos x="6" y="66"/>
                </a:cxn>
                <a:cxn ang="0">
                  <a:pos x="0" y="84"/>
                </a:cxn>
                <a:cxn ang="0">
                  <a:pos x="18" y="84"/>
                </a:cxn>
                <a:cxn ang="0">
                  <a:pos x="24" y="54"/>
                </a:cxn>
                <a:cxn ang="0">
                  <a:pos x="36" y="36"/>
                </a:cxn>
                <a:cxn ang="0">
                  <a:pos x="48" y="18"/>
                </a:cxn>
                <a:cxn ang="0">
                  <a:pos x="66" y="12"/>
                </a:cxn>
                <a:cxn ang="0">
                  <a:pos x="66" y="12"/>
                </a:cxn>
                <a:cxn ang="0">
                  <a:pos x="66" y="18"/>
                </a:cxn>
                <a:cxn ang="0">
                  <a:pos x="66" y="30"/>
                </a:cxn>
                <a:cxn ang="0">
                  <a:pos x="60" y="48"/>
                </a:cxn>
                <a:cxn ang="0">
                  <a:pos x="54" y="66"/>
                </a:cxn>
                <a:cxn ang="0">
                  <a:pos x="54" y="78"/>
                </a:cxn>
                <a:cxn ang="0">
                  <a:pos x="54" y="84"/>
                </a:cxn>
                <a:cxn ang="0">
                  <a:pos x="66" y="90"/>
                </a:cxn>
                <a:cxn ang="0">
                  <a:pos x="78" y="84"/>
                </a:cxn>
                <a:cxn ang="0">
                  <a:pos x="90" y="66"/>
                </a:cxn>
                <a:cxn ang="0">
                  <a:pos x="90" y="60"/>
                </a:cxn>
              </a:cxnLst>
              <a:rect l="txL" t="txT" r="txR" b="txB"/>
              <a:pathLst>
                <a:path w="90" h="90">
                  <a:moveTo>
                    <a:pt x="90" y="60"/>
                  </a:moveTo>
                  <a:lnTo>
                    <a:pt x="78" y="72"/>
                  </a:lnTo>
                  <a:lnTo>
                    <a:pt x="72" y="78"/>
                  </a:lnTo>
                  <a:lnTo>
                    <a:pt x="66" y="72"/>
                  </a:lnTo>
                  <a:lnTo>
                    <a:pt x="72" y="60"/>
                  </a:lnTo>
                  <a:lnTo>
                    <a:pt x="78" y="42"/>
                  </a:lnTo>
                  <a:lnTo>
                    <a:pt x="84" y="24"/>
                  </a:lnTo>
                  <a:lnTo>
                    <a:pt x="84" y="12"/>
                  </a:lnTo>
                  <a:lnTo>
                    <a:pt x="78" y="6"/>
                  </a:lnTo>
                  <a:lnTo>
                    <a:pt x="72" y="0"/>
                  </a:lnTo>
                  <a:lnTo>
                    <a:pt x="60" y="6"/>
                  </a:lnTo>
                  <a:lnTo>
                    <a:pt x="48" y="18"/>
                  </a:lnTo>
                  <a:lnTo>
                    <a:pt x="36" y="30"/>
                  </a:lnTo>
                  <a:lnTo>
                    <a:pt x="30" y="42"/>
                  </a:lnTo>
                  <a:lnTo>
                    <a:pt x="42" y="0"/>
                  </a:lnTo>
                  <a:lnTo>
                    <a:pt x="24" y="6"/>
                  </a:lnTo>
                  <a:lnTo>
                    <a:pt x="6" y="6"/>
                  </a:lnTo>
                  <a:lnTo>
                    <a:pt x="6" y="12"/>
                  </a:lnTo>
                  <a:lnTo>
                    <a:pt x="18" y="12"/>
                  </a:lnTo>
                  <a:lnTo>
                    <a:pt x="18" y="24"/>
                  </a:lnTo>
                  <a:lnTo>
                    <a:pt x="12" y="42"/>
                  </a:lnTo>
                  <a:lnTo>
                    <a:pt x="6" y="66"/>
                  </a:lnTo>
                  <a:lnTo>
                    <a:pt x="0" y="84"/>
                  </a:lnTo>
                  <a:lnTo>
                    <a:pt x="18" y="84"/>
                  </a:lnTo>
                  <a:lnTo>
                    <a:pt x="24" y="54"/>
                  </a:lnTo>
                  <a:lnTo>
                    <a:pt x="36" y="36"/>
                  </a:lnTo>
                  <a:lnTo>
                    <a:pt x="48" y="18"/>
                  </a:lnTo>
                  <a:lnTo>
                    <a:pt x="66" y="12"/>
                  </a:lnTo>
                  <a:lnTo>
                    <a:pt x="66" y="18"/>
                  </a:lnTo>
                  <a:lnTo>
                    <a:pt x="66" y="30"/>
                  </a:lnTo>
                  <a:lnTo>
                    <a:pt x="60" y="48"/>
                  </a:lnTo>
                  <a:lnTo>
                    <a:pt x="54" y="66"/>
                  </a:lnTo>
                  <a:lnTo>
                    <a:pt x="54" y="78"/>
                  </a:lnTo>
                  <a:lnTo>
                    <a:pt x="54" y="84"/>
                  </a:lnTo>
                  <a:lnTo>
                    <a:pt x="66" y="90"/>
                  </a:lnTo>
                  <a:lnTo>
                    <a:pt x="78" y="84"/>
                  </a:lnTo>
                  <a:lnTo>
                    <a:pt x="90" y="66"/>
                  </a:lnTo>
                  <a:lnTo>
                    <a:pt x="90" y="6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72" name="Freeform 179"/>
            <p:cNvSpPr>
              <a:spLocks noEditPoints="1"/>
            </p:cNvSpPr>
            <p:nvPr/>
          </p:nvSpPr>
          <p:spPr>
            <a:xfrm>
              <a:off x="1047" y="947"/>
              <a:ext cx="90" cy="90"/>
            </a:xfrm>
            <a:custGeom>
              <a:avLst/>
              <a:gdLst>
                <a:gd name="txL" fmla="*/ 0 w 90"/>
                <a:gd name="txT" fmla="*/ 0 h 90"/>
                <a:gd name="txR" fmla="*/ 90 w 90"/>
                <a:gd name="txB" fmla="*/ 90 h 90"/>
              </a:gdLst>
              <a:ahLst/>
              <a:cxnLst>
                <a:cxn ang="0">
                  <a:pos x="84" y="66"/>
                </a:cxn>
                <a:cxn ang="0">
                  <a:pos x="78" y="72"/>
                </a:cxn>
                <a:cxn ang="0">
                  <a:pos x="72" y="78"/>
                </a:cxn>
                <a:cxn ang="0">
                  <a:pos x="72" y="78"/>
                </a:cxn>
                <a:cxn ang="0">
                  <a:pos x="66" y="72"/>
                </a:cxn>
                <a:cxn ang="0">
                  <a:pos x="72" y="60"/>
                </a:cxn>
                <a:cxn ang="0">
                  <a:pos x="78" y="36"/>
                </a:cxn>
                <a:cxn ang="0">
                  <a:pos x="84" y="12"/>
                </a:cxn>
                <a:cxn ang="0">
                  <a:pos x="84" y="6"/>
                </a:cxn>
                <a:cxn ang="0">
                  <a:pos x="84" y="0"/>
                </a:cxn>
                <a:cxn ang="0">
                  <a:pos x="84" y="0"/>
                </a:cxn>
                <a:cxn ang="0">
                  <a:pos x="72" y="0"/>
                </a:cxn>
                <a:cxn ang="0">
                  <a:pos x="72" y="0"/>
                </a:cxn>
                <a:cxn ang="0">
                  <a:pos x="72" y="12"/>
                </a:cxn>
                <a:cxn ang="0">
                  <a:pos x="72" y="12"/>
                </a:cxn>
                <a:cxn ang="0">
                  <a:pos x="66" y="6"/>
                </a:cxn>
                <a:cxn ang="0">
                  <a:pos x="54" y="0"/>
                </a:cxn>
                <a:cxn ang="0">
                  <a:pos x="36" y="6"/>
                </a:cxn>
                <a:cxn ang="0">
                  <a:pos x="18" y="24"/>
                </a:cxn>
                <a:cxn ang="0">
                  <a:pos x="6" y="42"/>
                </a:cxn>
                <a:cxn ang="0">
                  <a:pos x="0" y="66"/>
                </a:cxn>
                <a:cxn ang="0">
                  <a:pos x="0" y="78"/>
                </a:cxn>
                <a:cxn ang="0">
                  <a:pos x="6" y="90"/>
                </a:cxn>
                <a:cxn ang="0">
                  <a:pos x="18" y="90"/>
                </a:cxn>
                <a:cxn ang="0">
                  <a:pos x="36" y="84"/>
                </a:cxn>
                <a:cxn ang="0">
                  <a:pos x="48" y="78"/>
                </a:cxn>
                <a:cxn ang="0">
                  <a:pos x="60" y="60"/>
                </a:cxn>
                <a:cxn ang="0">
                  <a:pos x="60" y="60"/>
                </a:cxn>
                <a:cxn ang="0">
                  <a:pos x="54" y="72"/>
                </a:cxn>
                <a:cxn ang="0">
                  <a:pos x="54" y="78"/>
                </a:cxn>
                <a:cxn ang="0">
                  <a:pos x="54" y="84"/>
                </a:cxn>
                <a:cxn ang="0">
                  <a:pos x="60" y="84"/>
                </a:cxn>
                <a:cxn ang="0">
                  <a:pos x="78" y="78"/>
                </a:cxn>
                <a:cxn ang="0">
                  <a:pos x="90" y="66"/>
                </a:cxn>
                <a:cxn ang="0">
                  <a:pos x="84" y="66"/>
                </a:cxn>
                <a:cxn ang="0">
                  <a:pos x="18" y="66"/>
                </a:cxn>
                <a:cxn ang="0">
                  <a:pos x="24" y="48"/>
                </a:cxn>
                <a:cxn ang="0">
                  <a:pos x="30" y="30"/>
                </a:cxn>
                <a:cxn ang="0">
                  <a:pos x="42" y="12"/>
                </a:cxn>
                <a:cxn ang="0">
                  <a:pos x="54" y="6"/>
                </a:cxn>
                <a:cxn ang="0">
                  <a:pos x="60" y="6"/>
                </a:cxn>
                <a:cxn ang="0">
                  <a:pos x="66" y="18"/>
                </a:cxn>
                <a:cxn ang="0">
                  <a:pos x="66" y="36"/>
                </a:cxn>
                <a:cxn ang="0">
                  <a:pos x="54" y="54"/>
                </a:cxn>
                <a:cxn ang="0">
                  <a:pos x="42" y="72"/>
                </a:cxn>
                <a:cxn ang="0">
                  <a:pos x="30" y="78"/>
                </a:cxn>
                <a:cxn ang="0">
                  <a:pos x="24" y="72"/>
                </a:cxn>
                <a:cxn ang="0">
                  <a:pos x="18" y="66"/>
                </a:cxn>
                <a:cxn ang="0">
                  <a:pos x="18" y="66"/>
                </a:cxn>
              </a:cxnLst>
              <a:rect l="txL" t="txT" r="txR" b="txB"/>
              <a:pathLst>
                <a:path w="90" h="90">
                  <a:moveTo>
                    <a:pt x="84" y="66"/>
                  </a:moveTo>
                  <a:lnTo>
                    <a:pt x="78" y="72"/>
                  </a:lnTo>
                  <a:lnTo>
                    <a:pt x="72" y="78"/>
                  </a:lnTo>
                  <a:lnTo>
                    <a:pt x="66" y="72"/>
                  </a:lnTo>
                  <a:lnTo>
                    <a:pt x="72" y="60"/>
                  </a:lnTo>
                  <a:lnTo>
                    <a:pt x="78" y="36"/>
                  </a:lnTo>
                  <a:lnTo>
                    <a:pt x="84" y="12"/>
                  </a:lnTo>
                  <a:lnTo>
                    <a:pt x="84" y="6"/>
                  </a:lnTo>
                  <a:lnTo>
                    <a:pt x="84" y="0"/>
                  </a:lnTo>
                  <a:lnTo>
                    <a:pt x="72" y="0"/>
                  </a:lnTo>
                  <a:lnTo>
                    <a:pt x="72" y="12"/>
                  </a:lnTo>
                  <a:lnTo>
                    <a:pt x="66" y="6"/>
                  </a:lnTo>
                  <a:lnTo>
                    <a:pt x="54" y="0"/>
                  </a:lnTo>
                  <a:lnTo>
                    <a:pt x="36" y="6"/>
                  </a:lnTo>
                  <a:lnTo>
                    <a:pt x="18" y="24"/>
                  </a:lnTo>
                  <a:lnTo>
                    <a:pt x="6" y="42"/>
                  </a:lnTo>
                  <a:lnTo>
                    <a:pt x="0" y="66"/>
                  </a:lnTo>
                  <a:lnTo>
                    <a:pt x="0" y="78"/>
                  </a:lnTo>
                  <a:lnTo>
                    <a:pt x="6" y="90"/>
                  </a:lnTo>
                  <a:lnTo>
                    <a:pt x="18" y="90"/>
                  </a:lnTo>
                  <a:lnTo>
                    <a:pt x="36" y="84"/>
                  </a:lnTo>
                  <a:lnTo>
                    <a:pt x="48" y="78"/>
                  </a:lnTo>
                  <a:lnTo>
                    <a:pt x="60" y="60"/>
                  </a:lnTo>
                  <a:lnTo>
                    <a:pt x="54" y="72"/>
                  </a:lnTo>
                  <a:lnTo>
                    <a:pt x="54" y="78"/>
                  </a:lnTo>
                  <a:lnTo>
                    <a:pt x="54" y="84"/>
                  </a:lnTo>
                  <a:lnTo>
                    <a:pt x="60" y="84"/>
                  </a:lnTo>
                  <a:lnTo>
                    <a:pt x="78" y="78"/>
                  </a:lnTo>
                  <a:lnTo>
                    <a:pt x="90" y="66"/>
                  </a:lnTo>
                  <a:lnTo>
                    <a:pt x="84" y="66"/>
                  </a:lnTo>
                  <a:close/>
                  <a:moveTo>
                    <a:pt x="18" y="66"/>
                  </a:moveTo>
                  <a:lnTo>
                    <a:pt x="24" y="48"/>
                  </a:lnTo>
                  <a:lnTo>
                    <a:pt x="30" y="30"/>
                  </a:lnTo>
                  <a:lnTo>
                    <a:pt x="42" y="12"/>
                  </a:lnTo>
                  <a:lnTo>
                    <a:pt x="54" y="6"/>
                  </a:lnTo>
                  <a:lnTo>
                    <a:pt x="60" y="6"/>
                  </a:lnTo>
                  <a:lnTo>
                    <a:pt x="66" y="18"/>
                  </a:lnTo>
                  <a:lnTo>
                    <a:pt x="66" y="36"/>
                  </a:lnTo>
                  <a:lnTo>
                    <a:pt x="54" y="54"/>
                  </a:lnTo>
                  <a:lnTo>
                    <a:pt x="42" y="72"/>
                  </a:lnTo>
                  <a:lnTo>
                    <a:pt x="30" y="78"/>
                  </a:lnTo>
                  <a:lnTo>
                    <a:pt x="24" y="72"/>
                  </a:lnTo>
                  <a:lnTo>
                    <a:pt x="18" y="6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73" name="Freeform 180"/>
            <p:cNvSpPr/>
            <p:nvPr/>
          </p:nvSpPr>
          <p:spPr>
            <a:xfrm>
              <a:off x="2859" y="3581"/>
              <a:ext cx="72" cy="89"/>
            </a:xfrm>
            <a:custGeom>
              <a:avLst/>
              <a:gdLst>
                <a:gd name="txL" fmla="*/ 0 w 72"/>
                <a:gd name="txT" fmla="*/ 0 h 89"/>
                <a:gd name="txR" fmla="*/ 72 w 72"/>
                <a:gd name="txB" fmla="*/ 89 h 89"/>
              </a:gdLst>
              <a:ahLst/>
              <a:cxnLst>
                <a:cxn ang="0">
                  <a:pos x="60" y="65"/>
                </a:cxn>
                <a:cxn ang="0">
                  <a:pos x="48" y="77"/>
                </a:cxn>
                <a:cxn ang="0">
                  <a:pos x="36" y="83"/>
                </a:cxn>
                <a:cxn ang="0">
                  <a:pos x="24" y="77"/>
                </a:cxn>
                <a:cxn ang="0">
                  <a:pos x="18" y="59"/>
                </a:cxn>
                <a:cxn ang="0">
                  <a:pos x="18" y="41"/>
                </a:cxn>
                <a:cxn ang="0">
                  <a:pos x="30" y="24"/>
                </a:cxn>
                <a:cxn ang="0">
                  <a:pos x="36" y="12"/>
                </a:cxn>
                <a:cxn ang="0">
                  <a:pos x="54" y="6"/>
                </a:cxn>
                <a:cxn ang="0">
                  <a:pos x="60" y="6"/>
                </a:cxn>
                <a:cxn ang="0">
                  <a:pos x="60" y="12"/>
                </a:cxn>
                <a:cxn ang="0">
                  <a:pos x="60" y="18"/>
                </a:cxn>
                <a:cxn ang="0">
                  <a:pos x="60" y="18"/>
                </a:cxn>
                <a:cxn ang="0">
                  <a:pos x="60" y="24"/>
                </a:cxn>
                <a:cxn ang="0">
                  <a:pos x="66" y="30"/>
                </a:cxn>
                <a:cxn ang="0">
                  <a:pos x="72" y="24"/>
                </a:cxn>
                <a:cxn ang="0">
                  <a:pos x="72" y="18"/>
                </a:cxn>
                <a:cxn ang="0">
                  <a:pos x="72" y="6"/>
                </a:cxn>
                <a:cxn ang="0">
                  <a:pos x="66" y="0"/>
                </a:cxn>
                <a:cxn ang="0">
                  <a:pos x="54" y="0"/>
                </a:cxn>
                <a:cxn ang="0">
                  <a:pos x="36" y="6"/>
                </a:cxn>
                <a:cxn ang="0">
                  <a:pos x="18" y="18"/>
                </a:cxn>
                <a:cxn ang="0">
                  <a:pos x="6" y="35"/>
                </a:cxn>
                <a:cxn ang="0">
                  <a:pos x="0" y="59"/>
                </a:cxn>
                <a:cxn ang="0">
                  <a:pos x="6" y="77"/>
                </a:cxn>
                <a:cxn ang="0">
                  <a:pos x="12" y="83"/>
                </a:cxn>
                <a:cxn ang="0">
                  <a:pos x="30" y="89"/>
                </a:cxn>
                <a:cxn ang="0">
                  <a:pos x="54" y="83"/>
                </a:cxn>
                <a:cxn ang="0">
                  <a:pos x="66" y="71"/>
                </a:cxn>
                <a:cxn ang="0">
                  <a:pos x="60" y="65"/>
                </a:cxn>
              </a:cxnLst>
              <a:rect l="txL" t="txT" r="txR" b="txB"/>
              <a:pathLst>
                <a:path w="72" h="89">
                  <a:moveTo>
                    <a:pt x="60" y="65"/>
                  </a:moveTo>
                  <a:lnTo>
                    <a:pt x="48" y="77"/>
                  </a:lnTo>
                  <a:lnTo>
                    <a:pt x="36" y="83"/>
                  </a:lnTo>
                  <a:lnTo>
                    <a:pt x="24" y="77"/>
                  </a:lnTo>
                  <a:lnTo>
                    <a:pt x="18" y="59"/>
                  </a:lnTo>
                  <a:lnTo>
                    <a:pt x="18" y="41"/>
                  </a:lnTo>
                  <a:lnTo>
                    <a:pt x="30" y="24"/>
                  </a:lnTo>
                  <a:lnTo>
                    <a:pt x="36" y="12"/>
                  </a:lnTo>
                  <a:lnTo>
                    <a:pt x="54" y="6"/>
                  </a:lnTo>
                  <a:lnTo>
                    <a:pt x="60" y="6"/>
                  </a:lnTo>
                  <a:lnTo>
                    <a:pt x="60" y="12"/>
                  </a:lnTo>
                  <a:lnTo>
                    <a:pt x="60" y="18"/>
                  </a:lnTo>
                  <a:lnTo>
                    <a:pt x="60" y="24"/>
                  </a:lnTo>
                  <a:lnTo>
                    <a:pt x="66" y="30"/>
                  </a:lnTo>
                  <a:lnTo>
                    <a:pt x="72" y="24"/>
                  </a:lnTo>
                  <a:lnTo>
                    <a:pt x="72" y="18"/>
                  </a:lnTo>
                  <a:lnTo>
                    <a:pt x="72" y="6"/>
                  </a:lnTo>
                  <a:lnTo>
                    <a:pt x="66" y="0"/>
                  </a:lnTo>
                  <a:lnTo>
                    <a:pt x="54" y="0"/>
                  </a:lnTo>
                  <a:lnTo>
                    <a:pt x="36" y="6"/>
                  </a:lnTo>
                  <a:lnTo>
                    <a:pt x="18" y="18"/>
                  </a:lnTo>
                  <a:lnTo>
                    <a:pt x="6" y="35"/>
                  </a:lnTo>
                  <a:lnTo>
                    <a:pt x="0" y="59"/>
                  </a:lnTo>
                  <a:lnTo>
                    <a:pt x="6" y="77"/>
                  </a:lnTo>
                  <a:lnTo>
                    <a:pt x="12" y="83"/>
                  </a:lnTo>
                  <a:lnTo>
                    <a:pt x="30" y="89"/>
                  </a:lnTo>
                  <a:lnTo>
                    <a:pt x="54" y="83"/>
                  </a:lnTo>
                  <a:lnTo>
                    <a:pt x="66" y="71"/>
                  </a:lnTo>
                  <a:lnTo>
                    <a:pt x="60" y="6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1474" name="Freeform 181"/>
            <p:cNvSpPr/>
            <p:nvPr/>
          </p:nvSpPr>
          <p:spPr>
            <a:xfrm>
              <a:off x="3523" y="1294"/>
              <a:ext cx="347" cy="209"/>
            </a:xfrm>
            <a:custGeom>
              <a:avLst/>
              <a:gdLst>
                <a:gd name="txL" fmla="*/ 0 w 347"/>
                <a:gd name="txT" fmla="*/ 0 h 209"/>
                <a:gd name="txR" fmla="*/ 347 w 347"/>
                <a:gd name="txB" fmla="*/ 209 h 209"/>
              </a:gdLst>
              <a:ahLst/>
              <a:cxnLst>
                <a:cxn ang="0">
                  <a:pos x="0" y="167"/>
                </a:cxn>
                <a:cxn ang="0">
                  <a:pos x="18" y="209"/>
                </a:cxn>
                <a:cxn ang="0">
                  <a:pos x="347" y="41"/>
                </a:cxn>
                <a:cxn ang="0">
                  <a:pos x="329" y="0"/>
                </a:cxn>
                <a:cxn ang="0">
                  <a:pos x="0" y="167"/>
                </a:cxn>
                <a:cxn ang="0">
                  <a:pos x="0" y="167"/>
                </a:cxn>
              </a:cxnLst>
              <a:rect l="txL" t="txT" r="txR" b="txB"/>
              <a:pathLst>
                <a:path w="347" h="209">
                  <a:moveTo>
                    <a:pt x="0" y="167"/>
                  </a:moveTo>
                  <a:lnTo>
                    <a:pt x="18" y="209"/>
                  </a:lnTo>
                  <a:lnTo>
                    <a:pt x="347" y="41"/>
                  </a:lnTo>
                  <a:lnTo>
                    <a:pt x="329" y="0"/>
                  </a:lnTo>
                  <a:lnTo>
                    <a:pt x="0" y="167"/>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1475" name="Freeform 182"/>
            <p:cNvSpPr/>
            <p:nvPr/>
          </p:nvSpPr>
          <p:spPr>
            <a:xfrm>
              <a:off x="3822" y="1270"/>
              <a:ext cx="48" cy="42"/>
            </a:xfrm>
            <a:custGeom>
              <a:avLst/>
              <a:gdLst>
                <a:gd name="txL" fmla="*/ 0 w 48"/>
                <a:gd name="txT" fmla="*/ 0 h 42"/>
                <a:gd name="txR" fmla="*/ 48 w 48"/>
                <a:gd name="txB" fmla="*/ 42 h 42"/>
              </a:gdLst>
              <a:ahLst/>
              <a:cxnLst>
                <a:cxn ang="0">
                  <a:pos x="48" y="42"/>
                </a:cxn>
                <a:cxn ang="0">
                  <a:pos x="0" y="0"/>
                </a:cxn>
                <a:cxn ang="0">
                  <a:pos x="48" y="42"/>
                </a:cxn>
                <a:cxn ang="0">
                  <a:pos x="48" y="42"/>
                </a:cxn>
              </a:cxnLst>
              <a:rect l="txL" t="txT" r="txR" b="txB"/>
              <a:pathLst>
                <a:path w="48" h="42">
                  <a:moveTo>
                    <a:pt x="48" y="42"/>
                  </a:moveTo>
                  <a:lnTo>
                    <a:pt x="0" y="0"/>
                  </a:lnTo>
                  <a:lnTo>
                    <a:pt x="48"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76" name="Freeform 183"/>
            <p:cNvSpPr>
              <a:spLocks noEditPoints="1"/>
            </p:cNvSpPr>
            <p:nvPr/>
          </p:nvSpPr>
          <p:spPr>
            <a:xfrm>
              <a:off x="3822" y="1270"/>
              <a:ext cx="6" cy="65"/>
            </a:xfrm>
            <a:custGeom>
              <a:avLst/>
              <a:gdLst>
                <a:gd name="txL" fmla="*/ 0 w 6"/>
                <a:gd name="txT" fmla="*/ 0 h 65"/>
                <a:gd name="txR" fmla="*/ 6 w 6"/>
                <a:gd name="txB" fmla="*/ 65 h 65"/>
              </a:gdLst>
              <a:ahLst/>
              <a:cxnLst>
                <a:cxn ang="0">
                  <a:pos x="0" y="0"/>
                </a:cxn>
                <a:cxn ang="0">
                  <a:pos x="6" y="65"/>
                </a:cxn>
                <a:cxn ang="0">
                  <a:pos x="0" y="0"/>
                </a:cxn>
                <a:cxn ang="0">
                  <a:pos x="0" y="0"/>
                </a:cxn>
                <a:cxn ang="0">
                  <a:pos x="0" y="0"/>
                </a:cxn>
                <a:cxn ang="0">
                  <a:pos x="0" y="0"/>
                </a:cxn>
                <a:cxn ang="0">
                  <a:pos x="0" y="0"/>
                </a:cxn>
              </a:cxnLst>
              <a:rect l="txL" t="txT" r="txR" b="txB"/>
              <a:pathLst>
                <a:path w="6" h="65">
                  <a:moveTo>
                    <a:pt x="0" y="0"/>
                  </a:moveTo>
                  <a:lnTo>
                    <a:pt x="6" y="65"/>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77" name="Freeform 184"/>
            <p:cNvSpPr>
              <a:spLocks noEditPoints="1"/>
            </p:cNvSpPr>
            <p:nvPr/>
          </p:nvSpPr>
          <p:spPr>
            <a:xfrm>
              <a:off x="3828" y="1335"/>
              <a:ext cx="1" cy="60"/>
            </a:xfrm>
            <a:custGeom>
              <a:avLst/>
              <a:gdLst>
                <a:gd name="txL" fmla="*/ 0 w 1"/>
                <a:gd name="txT" fmla="*/ 0 h 60"/>
                <a:gd name="txR" fmla="*/ 1 w 1"/>
                <a:gd name="txB" fmla="*/ 60 h 60"/>
              </a:gdLst>
              <a:ahLst/>
              <a:cxnLst>
                <a:cxn ang="0">
                  <a:pos x="0" y="0"/>
                </a:cxn>
                <a:cxn ang="0">
                  <a:pos x="0" y="60"/>
                </a:cxn>
                <a:cxn ang="0">
                  <a:pos x="0" y="0"/>
                </a:cxn>
                <a:cxn ang="0">
                  <a:pos x="0" y="0"/>
                </a:cxn>
                <a:cxn ang="0">
                  <a:pos x="0" y="0"/>
                </a:cxn>
                <a:cxn ang="0">
                  <a:pos x="0" y="0"/>
                </a:cxn>
                <a:cxn ang="0">
                  <a:pos x="0" y="0"/>
                </a:cxn>
              </a:cxnLst>
              <a:rect l="txL" t="txT" r="txR" b="txB"/>
              <a:pathLst>
                <a:path w="1" h="60">
                  <a:moveTo>
                    <a:pt x="0" y="0"/>
                  </a:moveTo>
                  <a:lnTo>
                    <a:pt x="0"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78" name="Freeform 185"/>
            <p:cNvSpPr>
              <a:spLocks noEditPoints="1"/>
            </p:cNvSpPr>
            <p:nvPr/>
          </p:nvSpPr>
          <p:spPr>
            <a:xfrm>
              <a:off x="3780" y="1353"/>
              <a:ext cx="48" cy="42"/>
            </a:xfrm>
            <a:custGeom>
              <a:avLst/>
              <a:gdLst>
                <a:gd name="txL" fmla="*/ 0 w 48"/>
                <a:gd name="txT" fmla="*/ 0 h 42"/>
                <a:gd name="txR" fmla="*/ 48 w 48"/>
                <a:gd name="txB" fmla="*/ 42 h 42"/>
              </a:gdLst>
              <a:ahLst/>
              <a:cxnLst>
                <a:cxn ang="0">
                  <a:pos x="48" y="42"/>
                </a:cxn>
                <a:cxn ang="0">
                  <a:pos x="0" y="0"/>
                </a:cxn>
                <a:cxn ang="0">
                  <a:pos x="48" y="42"/>
                </a:cxn>
                <a:cxn ang="0">
                  <a:pos x="48" y="42"/>
                </a:cxn>
                <a:cxn ang="0">
                  <a:pos x="48" y="42"/>
                </a:cxn>
                <a:cxn ang="0">
                  <a:pos x="48" y="42"/>
                </a:cxn>
                <a:cxn ang="0">
                  <a:pos x="48" y="42"/>
                </a:cxn>
              </a:cxnLst>
              <a:rect l="txL" t="txT" r="txR" b="txB"/>
              <a:pathLst>
                <a:path w="48" h="42">
                  <a:moveTo>
                    <a:pt x="48" y="42"/>
                  </a:moveTo>
                  <a:lnTo>
                    <a:pt x="0" y="0"/>
                  </a:lnTo>
                  <a:lnTo>
                    <a:pt x="48" y="42"/>
                  </a:lnTo>
                  <a:close/>
                  <a:moveTo>
                    <a:pt x="48" y="42"/>
                  </a:moveTo>
                  <a:lnTo>
                    <a:pt x="48"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79" name="Freeform 186"/>
            <p:cNvSpPr>
              <a:spLocks noEditPoints="1"/>
            </p:cNvSpPr>
            <p:nvPr/>
          </p:nvSpPr>
          <p:spPr>
            <a:xfrm>
              <a:off x="3780" y="1353"/>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80" name="Freeform 187"/>
            <p:cNvSpPr>
              <a:spLocks noEditPoints="1"/>
            </p:cNvSpPr>
            <p:nvPr/>
          </p:nvSpPr>
          <p:spPr>
            <a:xfrm>
              <a:off x="3738" y="1318"/>
              <a:ext cx="42" cy="35"/>
            </a:xfrm>
            <a:custGeom>
              <a:avLst/>
              <a:gdLst>
                <a:gd name="txL" fmla="*/ 0 w 42"/>
                <a:gd name="txT" fmla="*/ 0 h 35"/>
                <a:gd name="txR" fmla="*/ 42 w 42"/>
                <a:gd name="txB" fmla="*/ 35 h 35"/>
              </a:gdLst>
              <a:ahLst/>
              <a:cxnLst>
                <a:cxn ang="0">
                  <a:pos x="42" y="35"/>
                </a:cxn>
                <a:cxn ang="0">
                  <a:pos x="0" y="0"/>
                </a:cxn>
                <a:cxn ang="0">
                  <a:pos x="42" y="35"/>
                </a:cxn>
                <a:cxn ang="0">
                  <a:pos x="42" y="35"/>
                </a:cxn>
                <a:cxn ang="0">
                  <a:pos x="42" y="35"/>
                </a:cxn>
                <a:cxn ang="0">
                  <a:pos x="42" y="35"/>
                </a:cxn>
                <a:cxn ang="0">
                  <a:pos x="42" y="35"/>
                </a:cxn>
              </a:cxnLst>
              <a:rect l="txL" t="txT" r="txR" b="txB"/>
              <a:pathLst>
                <a:path w="42" h="35">
                  <a:moveTo>
                    <a:pt x="42" y="35"/>
                  </a:moveTo>
                  <a:lnTo>
                    <a:pt x="0" y="0"/>
                  </a:lnTo>
                  <a:lnTo>
                    <a:pt x="42" y="35"/>
                  </a:lnTo>
                  <a:close/>
                  <a:moveTo>
                    <a:pt x="42" y="35"/>
                  </a:moveTo>
                  <a:lnTo>
                    <a:pt x="42" y="35"/>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81" name="Freeform 188"/>
            <p:cNvSpPr>
              <a:spLocks noEditPoints="1"/>
            </p:cNvSpPr>
            <p:nvPr/>
          </p:nvSpPr>
          <p:spPr>
            <a:xfrm>
              <a:off x="3738" y="1318"/>
              <a:ext cx="1" cy="59"/>
            </a:xfrm>
            <a:custGeom>
              <a:avLst/>
              <a:gdLst>
                <a:gd name="txL" fmla="*/ 0 w 1"/>
                <a:gd name="txT" fmla="*/ 0 h 59"/>
                <a:gd name="txR" fmla="*/ 1 w 1"/>
                <a:gd name="txB" fmla="*/ 59 h 59"/>
              </a:gdLst>
              <a:ahLst/>
              <a:cxnLst>
                <a:cxn ang="0">
                  <a:pos x="0" y="0"/>
                </a:cxn>
                <a:cxn ang="0">
                  <a:pos x="0" y="59"/>
                </a:cxn>
                <a:cxn ang="0">
                  <a:pos x="0" y="0"/>
                </a:cxn>
                <a:cxn ang="0">
                  <a:pos x="0" y="0"/>
                </a:cxn>
                <a:cxn ang="0">
                  <a:pos x="0" y="0"/>
                </a:cxn>
                <a:cxn ang="0">
                  <a:pos x="0" y="0"/>
                </a:cxn>
                <a:cxn ang="0">
                  <a:pos x="0" y="0"/>
                </a:cxn>
              </a:cxnLst>
              <a:rect l="txL" t="txT" r="txR" b="txB"/>
              <a:pathLst>
                <a:path w="1" h="59">
                  <a:moveTo>
                    <a:pt x="0" y="0"/>
                  </a:moveTo>
                  <a:lnTo>
                    <a:pt x="0" y="59"/>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82" name="Freeform 189"/>
            <p:cNvSpPr>
              <a:spLocks noEditPoints="1"/>
            </p:cNvSpPr>
            <p:nvPr/>
          </p:nvSpPr>
          <p:spPr>
            <a:xfrm>
              <a:off x="3738" y="1377"/>
              <a:ext cx="6" cy="60"/>
            </a:xfrm>
            <a:custGeom>
              <a:avLst/>
              <a:gdLst>
                <a:gd name="txL" fmla="*/ 0 w 6"/>
                <a:gd name="txT" fmla="*/ 0 h 60"/>
                <a:gd name="txR" fmla="*/ 6 w 6"/>
                <a:gd name="txB" fmla="*/ 60 h 60"/>
              </a:gdLst>
              <a:ahLst/>
              <a:cxnLst>
                <a:cxn ang="0">
                  <a:pos x="0" y="0"/>
                </a:cxn>
                <a:cxn ang="0">
                  <a:pos x="6" y="60"/>
                </a:cxn>
                <a:cxn ang="0">
                  <a:pos x="0" y="0"/>
                </a:cxn>
                <a:cxn ang="0">
                  <a:pos x="0" y="0"/>
                </a:cxn>
                <a:cxn ang="0">
                  <a:pos x="0" y="0"/>
                </a:cxn>
                <a:cxn ang="0">
                  <a:pos x="0" y="0"/>
                </a:cxn>
                <a:cxn ang="0">
                  <a:pos x="0" y="0"/>
                </a:cxn>
              </a:cxnLst>
              <a:rect l="txL" t="txT" r="txR" b="txB"/>
              <a:pathLst>
                <a:path w="6" h="60">
                  <a:moveTo>
                    <a:pt x="0" y="0"/>
                  </a:moveTo>
                  <a:lnTo>
                    <a:pt x="6"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83" name="Freeform 190"/>
            <p:cNvSpPr>
              <a:spLocks noEditPoints="1"/>
            </p:cNvSpPr>
            <p:nvPr/>
          </p:nvSpPr>
          <p:spPr>
            <a:xfrm>
              <a:off x="3696" y="1395"/>
              <a:ext cx="48" cy="42"/>
            </a:xfrm>
            <a:custGeom>
              <a:avLst/>
              <a:gdLst>
                <a:gd name="txL" fmla="*/ 0 w 48"/>
                <a:gd name="txT" fmla="*/ 0 h 42"/>
                <a:gd name="txR" fmla="*/ 48 w 48"/>
                <a:gd name="txB" fmla="*/ 42 h 42"/>
              </a:gdLst>
              <a:ahLst/>
              <a:cxnLst>
                <a:cxn ang="0">
                  <a:pos x="48" y="42"/>
                </a:cxn>
                <a:cxn ang="0">
                  <a:pos x="0" y="0"/>
                </a:cxn>
                <a:cxn ang="0">
                  <a:pos x="48" y="42"/>
                </a:cxn>
                <a:cxn ang="0">
                  <a:pos x="48" y="42"/>
                </a:cxn>
                <a:cxn ang="0">
                  <a:pos x="48" y="42"/>
                </a:cxn>
                <a:cxn ang="0">
                  <a:pos x="48" y="42"/>
                </a:cxn>
                <a:cxn ang="0">
                  <a:pos x="48" y="42"/>
                </a:cxn>
              </a:cxnLst>
              <a:rect l="txL" t="txT" r="txR" b="txB"/>
              <a:pathLst>
                <a:path w="48" h="42">
                  <a:moveTo>
                    <a:pt x="48" y="42"/>
                  </a:moveTo>
                  <a:lnTo>
                    <a:pt x="0" y="0"/>
                  </a:lnTo>
                  <a:lnTo>
                    <a:pt x="48" y="42"/>
                  </a:lnTo>
                  <a:close/>
                  <a:moveTo>
                    <a:pt x="48" y="42"/>
                  </a:moveTo>
                  <a:lnTo>
                    <a:pt x="48"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84" name="Freeform 191"/>
            <p:cNvSpPr>
              <a:spLocks noEditPoints="1"/>
            </p:cNvSpPr>
            <p:nvPr/>
          </p:nvSpPr>
          <p:spPr>
            <a:xfrm>
              <a:off x="3654" y="1359"/>
              <a:ext cx="42" cy="36"/>
            </a:xfrm>
            <a:custGeom>
              <a:avLst/>
              <a:gdLst>
                <a:gd name="txL" fmla="*/ 0 w 42"/>
                <a:gd name="txT" fmla="*/ 0 h 36"/>
                <a:gd name="txR" fmla="*/ 42 w 42"/>
                <a:gd name="txB" fmla="*/ 36 h 36"/>
              </a:gdLst>
              <a:ahLst/>
              <a:cxnLst>
                <a:cxn ang="0">
                  <a:pos x="42" y="36"/>
                </a:cxn>
                <a:cxn ang="0">
                  <a:pos x="0" y="0"/>
                </a:cxn>
                <a:cxn ang="0">
                  <a:pos x="42" y="36"/>
                </a:cxn>
                <a:cxn ang="0">
                  <a:pos x="42" y="36"/>
                </a:cxn>
                <a:cxn ang="0">
                  <a:pos x="42" y="36"/>
                </a:cxn>
                <a:cxn ang="0">
                  <a:pos x="42" y="36"/>
                </a:cxn>
                <a:cxn ang="0">
                  <a:pos x="42" y="36"/>
                </a:cxn>
              </a:cxnLst>
              <a:rect l="txL" t="txT" r="txR" b="txB"/>
              <a:pathLst>
                <a:path w="42" h="36">
                  <a:moveTo>
                    <a:pt x="42" y="36"/>
                  </a:moveTo>
                  <a:lnTo>
                    <a:pt x="0" y="0"/>
                  </a:lnTo>
                  <a:lnTo>
                    <a:pt x="42" y="36"/>
                  </a:lnTo>
                  <a:close/>
                  <a:moveTo>
                    <a:pt x="42" y="36"/>
                  </a:moveTo>
                  <a:lnTo>
                    <a:pt x="42"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85" name="Freeform 192"/>
            <p:cNvSpPr>
              <a:spLocks noEditPoints="1"/>
            </p:cNvSpPr>
            <p:nvPr/>
          </p:nvSpPr>
          <p:spPr>
            <a:xfrm>
              <a:off x="3654" y="1359"/>
              <a:ext cx="1" cy="60"/>
            </a:xfrm>
            <a:custGeom>
              <a:avLst/>
              <a:gdLst>
                <a:gd name="txL" fmla="*/ 0 w 1"/>
                <a:gd name="txT" fmla="*/ 0 h 60"/>
                <a:gd name="txR" fmla="*/ 1 w 1"/>
                <a:gd name="txB" fmla="*/ 60 h 60"/>
              </a:gdLst>
              <a:ahLst/>
              <a:cxnLst>
                <a:cxn ang="0">
                  <a:pos x="0" y="0"/>
                </a:cxn>
                <a:cxn ang="0">
                  <a:pos x="0" y="60"/>
                </a:cxn>
                <a:cxn ang="0">
                  <a:pos x="0" y="0"/>
                </a:cxn>
                <a:cxn ang="0">
                  <a:pos x="0" y="0"/>
                </a:cxn>
                <a:cxn ang="0">
                  <a:pos x="0" y="0"/>
                </a:cxn>
                <a:cxn ang="0">
                  <a:pos x="0" y="0"/>
                </a:cxn>
                <a:cxn ang="0">
                  <a:pos x="0" y="0"/>
                </a:cxn>
              </a:cxnLst>
              <a:rect l="txL" t="txT" r="txR" b="txB"/>
              <a:pathLst>
                <a:path w="1" h="60">
                  <a:moveTo>
                    <a:pt x="0" y="0"/>
                  </a:moveTo>
                  <a:lnTo>
                    <a:pt x="0"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86" name="Freeform 193"/>
            <p:cNvSpPr>
              <a:spLocks noEditPoints="1"/>
            </p:cNvSpPr>
            <p:nvPr/>
          </p:nvSpPr>
          <p:spPr>
            <a:xfrm>
              <a:off x="3654" y="1419"/>
              <a:ext cx="6" cy="60"/>
            </a:xfrm>
            <a:custGeom>
              <a:avLst/>
              <a:gdLst>
                <a:gd name="txL" fmla="*/ 0 w 6"/>
                <a:gd name="txT" fmla="*/ 0 h 60"/>
                <a:gd name="txR" fmla="*/ 6 w 6"/>
                <a:gd name="txB" fmla="*/ 60 h 60"/>
              </a:gdLst>
              <a:ahLst/>
              <a:cxnLst>
                <a:cxn ang="0">
                  <a:pos x="0" y="0"/>
                </a:cxn>
                <a:cxn ang="0">
                  <a:pos x="6" y="60"/>
                </a:cxn>
                <a:cxn ang="0">
                  <a:pos x="0" y="0"/>
                </a:cxn>
                <a:cxn ang="0">
                  <a:pos x="0" y="0"/>
                </a:cxn>
                <a:cxn ang="0">
                  <a:pos x="0" y="0"/>
                </a:cxn>
                <a:cxn ang="0">
                  <a:pos x="0" y="0"/>
                </a:cxn>
                <a:cxn ang="0">
                  <a:pos x="0" y="0"/>
                </a:cxn>
              </a:cxnLst>
              <a:rect l="txL" t="txT" r="txR" b="txB"/>
              <a:pathLst>
                <a:path w="6" h="60">
                  <a:moveTo>
                    <a:pt x="0" y="0"/>
                  </a:moveTo>
                  <a:lnTo>
                    <a:pt x="6"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87" name="Freeform 194"/>
            <p:cNvSpPr>
              <a:spLocks noEditPoints="1"/>
            </p:cNvSpPr>
            <p:nvPr/>
          </p:nvSpPr>
          <p:spPr>
            <a:xfrm>
              <a:off x="3613" y="1443"/>
              <a:ext cx="47" cy="36"/>
            </a:xfrm>
            <a:custGeom>
              <a:avLst/>
              <a:gdLst>
                <a:gd name="txL" fmla="*/ 0 w 47"/>
                <a:gd name="txT" fmla="*/ 0 h 36"/>
                <a:gd name="txR" fmla="*/ 47 w 47"/>
                <a:gd name="txB" fmla="*/ 36 h 36"/>
              </a:gdLst>
              <a:ahLst/>
              <a:cxnLst>
                <a:cxn ang="0">
                  <a:pos x="47" y="36"/>
                </a:cxn>
                <a:cxn ang="0">
                  <a:pos x="0" y="0"/>
                </a:cxn>
                <a:cxn ang="0">
                  <a:pos x="47" y="36"/>
                </a:cxn>
                <a:cxn ang="0">
                  <a:pos x="47" y="36"/>
                </a:cxn>
                <a:cxn ang="0">
                  <a:pos x="47" y="36"/>
                </a:cxn>
                <a:cxn ang="0">
                  <a:pos x="47" y="36"/>
                </a:cxn>
                <a:cxn ang="0">
                  <a:pos x="47" y="36"/>
                </a:cxn>
              </a:cxnLst>
              <a:rect l="txL" t="txT" r="txR" b="txB"/>
              <a:pathLst>
                <a:path w="47" h="36">
                  <a:moveTo>
                    <a:pt x="47" y="36"/>
                  </a:moveTo>
                  <a:lnTo>
                    <a:pt x="0" y="0"/>
                  </a:lnTo>
                  <a:lnTo>
                    <a:pt x="47" y="36"/>
                  </a:lnTo>
                  <a:close/>
                  <a:moveTo>
                    <a:pt x="47" y="36"/>
                  </a:moveTo>
                  <a:lnTo>
                    <a:pt x="47"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88" name="Freeform 195"/>
            <p:cNvSpPr>
              <a:spLocks noEditPoints="1"/>
            </p:cNvSpPr>
            <p:nvPr/>
          </p:nvSpPr>
          <p:spPr>
            <a:xfrm>
              <a:off x="3571" y="1401"/>
              <a:ext cx="42" cy="42"/>
            </a:xfrm>
            <a:custGeom>
              <a:avLst/>
              <a:gdLst>
                <a:gd name="txL" fmla="*/ 0 w 42"/>
                <a:gd name="txT" fmla="*/ 0 h 42"/>
                <a:gd name="txR" fmla="*/ 42 w 42"/>
                <a:gd name="txB" fmla="*/ 42 h 42"/>
              </a:gdLst>
              <a:ahLst/>
              <a:cxnLst>
                <a:cxn ang="0">
                  <a:pos x="42" y="42"/>
                </a:cxn>
                <a:cxn ang="0">
                  <a:pos x="0" y="0"/>
                </a:cxn>
                <a:cxn ang="0">
                  <a:pos x="42" y="42"/>
                </a:cxn>
                <a:cxn ang="0">
                  <a:pos x="42" y="42"/>
                </a:cxn>
                <a:cxn ang="0">
                  <a:pos x="42" y="42"/>
                </a:cxn>
                <a:cxn ang="0">
                  <a:pos x="42" y="42"/>
                </a:cxn>
                <a:cxn ang="0">
                  <a:pos x="42" y="42"/>
                </a:cxn>
              </a:cxnLst>
              <a:rect l="txL" t="txT" r="txR" b="txB"/>
              <a:pathLst>
                <a:path w="42" h="42">
                  <a:moveTo>
                    <a:pt x="42" y="42"/>
                  </a:moveTo>
                  <a:lnTo>
                    <a:pt x="0" y="0"/>
                  </a:lnTo>
                  <a:lnTo>
                    <a:pt x="42" y="42"/>
                  </a:lnTo>
                  <a:close/>
                  <a:moveTo>
                    <a:pt x="42" y="42"/>
                  </a:moveTo>
                  <a:lnTo>
                    <a:pt x="42"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89" name="Freeform 196"/>
            <p:cNvSpPr>
              <a:spLocks noEditPoints="1"/>
            </p:cNvSpPr>
            <p:nvPr/>
          </p:nvSpPr>
          <p:spPr>
            <a:xfrm>
              <a:off x="3571" y="1401"/>
              <a:ext cx="1" cy="60"/>
            </a:xfrm>
            <a:custGeom>
              <a:avLst/>
              <a:gdLst>
                <a:gd name="txL" fmla="*/ 0 w 1"/>
                <a:gd name="txT" fmla="*/ 0 h 60"/>
                <a:gd name="txR" fmla="*/ 1 w 1"/>
                <a:gd name="txB" fmla="*/ 60 h 60"/>
              </a:gdLst>
              <a:ahLst/>
              <a:cxnLst>
                <a:cxn ang="0">
                  <a:pos x="0" y="0"/>
                </a:cxn>
                <a:cxn ang="0">
                  <a:pos x="0" y="60"/>
                </a:cxn>
                <a:cxn ang="0">
                  <a:pos x="0" y="0"/>
                </a:cxn>
                <a:cxn ang="0">
                  <a:pos x="0" y="0"/>
                </a:cxn>
                <a:cxn ang="0">
                  <a:pos x="0" y="0"/>
                </a:cxn>
                <a:cxn ang="0">
                  <a:pos x="0" y="0"/>
                </a:cxn>
                <a:cxn ang="0">
                  <a:pos x="0" y="0"/>
                </a:cxn>
              </a:cxnLst>
              <a:rect l="txL" t="txT" r="txR" b="txB"/>
              <a:pathLst>
                <a:path w="1" h="60">
                  <a:moveTo>
                    <a:pt x="0" y="0"/>
                  </a:moveTo>
                  <a:lnTo>
                    <a:pt x="0"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90" name="Freeform 197"/>
            <p:cNvSpPr>
              <a:spLocks noEditPoints="1"/>
            </p:cNvSpPr>
            <p:nvPr/>
          </p:nvSpPr>
          <p:spPr>
            <a:xfrm>
              <a:off x="3571" y="1461"/>
              <a:ext cx="6" cy="60"/>
            </a:xfrm>
            <a:custGeom>
              <a:avLst/>
              <a:gdLst>
                <a:gd name="txL" fmla="*/ 0 w 6"/>
                <a:gd name="txT" fmla="*/ 0 h 60"/>
                <a:gd name="txR" fmla="*/ 6 w 6"/>
                <a:gd name="txB" fmla="*/ 60 h 60"/>
              </a:gdLst>
              <a:ahLst/>
              <a:cxnLst>
                <a:cxn ang="0">
                  <a:pos x="0" y="0"/>
                </a:cxn>
                <a:cxn ang="0">
                  <a:pos x="6" y="60"/>
                </a:cxn>
                <a:cxn ang="0">
                  <a:pos x="0" y="0"/>
                </a:cxn>
                <a:cxn ang="0">
                  <a:pos x="0" y="0"/>
                </a:cxn>
                <a:cxn ang="0">
                  <a:pos x="0" y="0"/>
                </a:cxn>
                <a:cxn ang="0">
                  <a:pos x="0" y="0"/>
                </a:cxn>
                <a:cxn ang="0">
                  <a:pos x="0" y="0"/>
                </a:cxn>
              </a:cxnLst>
              <a:rect l="txL" t="txT" r="txR" b="txB"/>
              <a:pathLst>
                <a:path w="6" h="60">
                  <a:moveTo>
                    <a:pt x="0" y="0"/>
                  </a:moveTo>
                  <a:lnTo>
                    <a:pt x="6"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91" name="Freeform 198"/>
            <p:cNvSpPr>
              <a:spLocks noEditPoints="1"/>
            </p:cNvSpPr>
            <p:nvPr/>
          </p:nvSpPr>
          <p:spPr>
            <a:xfrm>
              <a:off x="3529" y="1479"/>
              <a:ext cx="48" cy="42"/>
            </a:xfrm>
            <a:custGeom>
              <a:avLst/>
              <a:gdLst>
                <a:gd name="txL" fmla="*/ 0 w 48"/>
                <a:gd name="txT" fmla="*/ 0 h 42"/>
                <a:gd name="txR" fmla="*/ 48 w 48"/>
                <a:gd name="txB" fmla="*/ 42 h 42"/>
              </a:gdLst>
              <a:ahLst/>
              <a:cxnLst>
                <a:cxn ang="0">
                  <a:pos x="48" y="42"/>
                </a:cxn>
                <a:cxn ang="0">
                  <a:pos x="0" y="0"/>
                </a:cxn>
                <a:cxn ang="0">
                  <a:pos x="48" y="42"/>
                </a:cxn>
                <a:cxn ang="0">
                  <a:pos x="48" y="42"/>
                </a:cxn>
                <a:cxn ang="0">
                  <a:pos x="48" y="42"/>
                </a:cxn>
                <a:cxn ang="0">
                  <a:pos x="48" y="42"/>
                </a:cxn>
                <a:cxn ang="0">
                  <a:pos x="48" y="42"/>
                </a:cxn>
              </a:cxnLst>
              <a:rect l="txL" t="txT" r="txR" b="txB"/>
              <a:pathLst>
                <a:path w="48" h="42">
                  <a:moveTo>
                    <a:pt x="48" y="42"/>
                  </a:moveTo>
                  <a:lnTo>
                    <a:pt x="0" y="0"/>
                  </a:lnTo>
                  <a:lnTo>
                    <a:pt x="48" y="42"/>
                  </a:lnTo>
                  <a:close/>
                  <a:moveTo>
                    <a:pt x="48" y="42"/>
                  </a:moveTo>
                  <a:lnTo>
                    <a:pt x="48"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92" name="Freeform 199"/>
            <p:cNvSpPr/>
            <p:nvPr/>
          </p:nvSpPr>
          <p:spPr>
            <a:xfrm>
              <a:off x="1896" y="1288"/>
              <a:ext cx="347" cy="209"/>
            </a:xfrm>
            <a:custGeom>
              <a:avLst/>
              <a:gdLst>
                <a:gd name="txL" fmla="*/ 0 w 347"/>
                <a:gd name="txT" fmla="*/ 0 h 209"/>
                <a:gd name="txR" fmla="*/ 347 w 347"/>
                <a:gd name="txB" fmla="*/ 209 h 209"/>
              </a:gdLst>
              <a:ahLst/>
              <a:cxnLst>
                <a:cxn ang="0">
                  <a:pos x="347" y="167"/>
                </a:cxn>
                <a:cxn ang="0">
                  <a:pos x="329" y="209"/>
                </a:cxn>
                <a:cxn ang="0">
                  <a:pos x="0" y="41"/>
                </a:cxn>
                <a:cxn ang="0">
                  <a:pos x="18" y="0"/>
                </a:cxn>
                <a:cxn ang="0">
                  <a:pos x="347" y="167"/>
                </a:cxn>
                <a:cxn ang="0">
                  <a:pos x="347" y="167"/>
                </a:cxn>
              </a:cxnLst>
              <a:rect l="txL" t="txT" r="txR" b="txB"/>
              <a:pathLst>
                <a:path w="347" h="209">
                  <a:moveTo>
                    <a:pt x="347" y="167"/>
                  </a:moveTo>
                  <a:lnTo>
                    <a:pt x="329" y="209"/>
                  </a:lnTo>
                  <a:lnTo>
                    <a:pt x="0" y="41"/>
                  </a:lnTo>
                  <a:lnTo>
                    <a:pt x="18" y="0"/>
                  </a:lnTo>
                  <a:lnTo>
                    <a:pt x="347" y="167"/>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1493" name="Freeform 200"/>
            <p:cNvSpPr/>
            <p:nvPr/>
          </p:nvSpPr>
          <p:spPr>
            <a:xfrm>
              <a:off x="1902" y="1270"/>
              <a:ext cx="42" cy="42"/>
            </a:xfrm>
            <a:custGeom>
              <a:avLst/>
              <a:gdLst>
                <a:gd name="txL" fmla="*/ 0 w 42"/>
                <a:gd name="txT" fmla="*/ 0 h 42"/>
                <a:gd name="txR" fmla="*/ 42 w 42"/>
                <a:gd name="txB" fmla="*/ 42 h 42"/>
              </a:gdLst>
              <a:ahLst/>
              <a:cxnLst>
                <a:cxn ang="0">
                  <a:pos x="0" y="42"/>
                </a:cxn>
                <a:cxn ang="0">
                  <a:pos x="42" y="0"/>
                </a:cxn>
                <a:cxn ang="0">
                  <a:pos x="0" y="42"/>
                </a:cxn>
                <a:cxn ang="0">
                  <a:pos x="0" y="42"/>
                </a:cxn>
              </a:cxnLst>
              <a:rect l="txL" t="txT" r="txR" b="txB"/>
              <a:pathLst>
                <a:path w="42" h="42">
                  <a:moveTo>
                    <a:pt x="0" y="42"/>
                  </a:moveTo>
                  <a:lnTo>
                    <a:pt x="42" y="0"/>
                  </a:ln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94" name="Freeform 201"/>
            <p:cNvSpPr>
              <a:spLocks noEditPoints="1"/>
            </p:cNvSpPr>
            <p:nvPr/>
          </p:nvSpPr>
          <p:spPr>
            <a:xfrm>
              <a:off x="1944" y="1270"/>
              <a:ext cx="1" cy="59"/>
            </a:xfrm>
            <a:custGeom>
              <a:avLst/>
              <a:gdLst>
                <a:gd name="txL" fmla="*/ 0 w 1"/>
                <a:gd name="txT" fmla="*/ 0 h 59"/>
                <a:gd name="txR" fmla="*/ 1 w 1"/>
                <a:gd name="txB" fmla="*/ 59 h 59"/>
              </a:gdLst>
              <a:ahLst/>
              <a:cxnLst>
                <a:cxn ang="0">
                  <a:pos x="0" y="0"/>
                </a:cxn>
                <a:cxn ang="0">
                  <a:pos x="0" y="59"/>
                </a:cxn>
                <a:cxn ang="0">
                  <a:pos x="0" y="0"/>
                </a:cxn>
                <a:cxn ang="0">
                  <a:pos x="0" y="0"/>
                </a:cxn>
                <a:cxn ang="0">
                  <a:pos x="0" y="0"/>
                </a:cxn>
                <a:cxn ang="0">
                  <a:pos x="0" y="0"/>
                </a:cxn>
                <a:cxn ang="0">
                  <a:pos x="0" y="0"/>
                </a:cxn>
              </a:cxnLst>
              <a:rect l="txL" t="txT" r="txR" b="txB"/>
              <a:pathLst>
                <a:path w="1" h="59">
                  <a:moveTo>
                    <a:pt x="0" y="0"/>
                  </a:moveTo>
                  <a:lnTo>
                    <a:pt x="0" y="59"/>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95" name="Freeform 202"/>
            <p:cNvSpPr>
              <a:spLocks noEditPoints="1"/>
            </p:cNvSpPr>
            <p:nvPr/>
          </p:nvSpPr>
          <p:spPr>
            <a:xfrm>
              <a:off x="1938" y="1329"/>
              <a:ext cx="6" cy="60"/>
            </a:xfrm>
            <a:custGeom>
              <a:avLst/>
              <a:gdLst>
                <a:gd name="txL" fmla="*/ 0 w 6"/>
                <a:gd name="txT" fmla="*/ 0 h 60"/>
                <a:gd name="txR" fmla="*/ 6 w 6"/>
                <a:gd name="txB" fmla="*/ 60 h 60"/>
              </a:gdLst>
              <a:ahLst/>
              <a:cxnLst>
                <a:cxn ang="0">
                  <a:pos x="6" y="0"/>
                </a:cxn>
                <a:cxn ang="0">
                  <a:pos x="0" y="60"/>
                </a:cxn>
                <a:cxn ang="0">
                  <a:pos x="6" y="0"/>
                </a:cxn>
                <a:cxn ang="0">
                  <a:pos x="6" y="0"/>
                </a:cxn>
                <a:cxn ang="0">
                  <a:pos x="6" y="0"/>
                </a:cxn>
                <a:cxn ang="0">
                  <a:pos x="6" y="0"/>
                </a:cxn>
                <a:cxn ang="0">
                  <a:pos x="6" y="0"/>
                </a:cxn>
              </a:cxnLst>
              <a:rect l="txL" t="txT" r="txR" b="txB"/>
              <a:pathLst>
                <a:path w="6" h="60">
                  <a:moveTo>
                    <a:pt x="6" y="0"/>
                  </a:moveTo>
                  <a:lnTo>
                    <a:pt x="0" y="60"/>
                  </a:lnTo>
                  <a:lnTo>
                    <a:pt x="6" y="0"/>
                  </a:lnTo>
                  <a:close/>
                  <a:moveTo>
                    <a:pt x="6" y="0"/>
                  </a:moveTo>
                  <a:lnTo>
                    <a:pt x="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96" name="Freeform 203"/>
            <p:cNvSpPr>
              <a:spLocks noEditPoints="1"/>
            </p:cNvSpPr>
            <p:nvPr/>
          </p:nvSpPr>
          <p:spPr>
            <a:xfrm>
              <a:off x="1938" y="1353"/>
              <a:ext cx="48" cy="36"/>
            </a:xfrm>
            <a:custGeom>
              <a:avLst/>
              <a:gdLst>
                <a:gd name="txL" fmla="*/ 0 w 48"/>
                <a:gd name="txT" fmla="*/ 0 h 36"/>
                <a:gd name="txR" fmla="*/ 48 w 48"/>
                <a:gd name="txB" fmla="*/ 36 h 36"/>
              </a:gdLst>
              <a:ahLst/>
              <a:cxnLst>
                <a:cxn ang="0">
                  <a:pos x="0" y="36"/>
                </a:cxn>
                <a:cxn ang="0">
                  <a:pos x="48" y="0"/>
                </a:cxn>
                <a:cxn ang="0">
                  <a:pos x="0" y="36"/>
                </a:cxn>
                <a:cxn ang="0">
                  <a:pos x="0" y="36"/>
                </a:cxn>
                <a:cxn ang="0">
                  <a:pos x="0" y="36"/>
                </a:cxn>
                <a:cxn ang="0">
                  <a:pos x="0" y="36"/>
                </a:cxn>
                <a:cxn ang="0">
                  <a:pos x="0" y="36"/>
                </a:cxn>
              </a:cxnLst>
              <a:rect l="txL" t="txT" r="txR" b="txB"/>
              <a:pathLst>
                <a:path w="48" h="36">
                  <a:moveTo>
                    <a:pt x="0" y="36"/>
                  </a:moveTo>
                  <a:lnTo>
                    <a:pt x="48" y="0"/>
                  </a:lnTo>
                  <a:lnTo>
                    <a:pt x="0" y="36"/>
                  </a:lnTo>
                  <a:close/>
                  <a:moveTo>
                    <a:pt x="0" y="36"/>
                  </a:moveTo>
                  <a:lnTo>
                    <a:pt x="0"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97" name="Freeform 204"/>
            <p:cNvSpPr>
              <a:spLocks noEditPoints="1"/>
            </p:cNvSpPr>
            <p:nvPr/>
          </p:nvSpPr>
          <p:spPr>
            <a:xfrm>
              <a:off x="1986" y="1353"/>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98" name="Freeform 205"/>
            <p:cNvSpPr>
              <a:spLocks noEditPoints="1"/>
            </p:cNvSpPr>
            <p:nvPr/>
          </p:nvSpPr>
          <p:spPr>
            <a:xfrm>
              <a:off x="1986" y="1312"/>
              <a:ext cx="42" cy="41"/>
            </a:xfrm>
            <a:custGeom>
              <a:avLst/>
              <a:gdLst>
                <a:gd name="txL" fmla="*/ 0 w 42"/>
                <a:gd name="txT" fmla="*/ 0 h 41"/>
                <a:gd name="txR" fmla="*/ 42 w 42"/>
                <a:gd name="txB" fmla="*/ 41 h 41"/>
              </a:gdLst>
              <a:ahLst/>
              <a:cxnLst>
                <a:cxn ang="0">
                  <a:pos x="0" y="41"/>
                </a:cxn>
                <a:cxn ang="0">
                  <a:pos x="42" y="0"/>
                </a:cxn>
                <a:cxn ang="0">
                  <a:pos x="0" y="41"/>
                </a:cxn>
                <a:cxn ang="0">
                  <a:pos x="0" y="41"/>
                </a:cxn>
                <a:cxn ang="0">
                  <a:pos x="0" y="41"/>
                </a:cxn>
                <a:cxn ang="0">
                  <a:pos x="0" y="41"/>
                </a:cxn>
                <a:cxn ang="0">
                  <a:pos x="0" y="41"/>
                </a:cxn>
              </a:cxnLst>
              <a:rect l="txL" t="txT" r="txR" b="txB"/>
              <a:pathLst>
                <a:path w="42" h="41">
                  <a:moveTo>
                    <a:pt x="0" y="41"/>
                  </a:moveTo>
                  <a:lnTo>
                    <a:pt x="42" y="0"/>
                  </a:lnTo>
                  <a:lnTo>
                    <a:pt x="0" y="41"/>
                  </a:lnTo>
                  <a:close/>
                  <a:moveTo>
                    <a:pt x="0" y="41"/>
                  </a:moveTo>
                  <a:lnTo>
                    <a:pt x="0" y="41"/>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499" name="Freeform 206"/>
            <p:cNvSpPr>
              <a:spLocks noEditPoints="1"/>
            </p:cNvSpPr>
            <p:nvPr/>
          </p:nvSpPr>
          <p:spPr>
            <a:xfrm>
              <a:off x="2028" y="1312"/>
              <a:ext cx="1" cy="59"/>
            </a:xfrm>
            <a:custGeom>
              <a:avLst/>
              <a:gdLst>
                <a:gd name="txL" fmla="*/ 0 w 1"/>
                <a:gd name="txT" fmla="*/ 0 h 59"/>
                <a:gd name="txR" fmla="*/ 1 w 1"/>
                <a:gd name="txB" fmla="*/ 59 h 59"/>
              </a:gdLst>
              <a:ahLst/>
              <a:cxnLst>
                <a:cxn ang="0">
                  <a:pos x="0" y="0"/>
                </a:cxn>
                <a:cxn ang="0">
                  <a:pos x="0" y="59"/>
                </a:cxn>
                <a:cxn ang="0">
                  <a:pos x="0" y="0"/>
                </a:cxn>
                <a:cxn ang="0">
                  <a:pos x="0" y="0"/>
                </a:cxn>
                <a:cxn ang="0">
                  <a:pos x="0" y="0"/>
                </a:cxn>
                <a:cxn ang="0">
                  <a:pos x="0" y="0"/>
                </a:cxn>
                <a:cxn ang="0">
                  <a:pos x="0" y="0"/>
                </a:cxn>
              </a:cxnLst>
              <a:rect l="txL" t="txT" r="txR" b="txB"/>
              <a:pathLst>
                <a:path w="1" h="59">
                  <a:moveTo>
                    <a:pt x="0" y="0"/>
                  </a:moveTo>
                  <a:lnTo>
                    <a:pt x="0" y="59"/>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00" name="Freeform 207"/>
            <p:cNvSpPr>
              <a:spLocks noEditPoints="1"/>
            </p:cNvSpPr>
            <p:nvPr/>
          </p:nvSpPr>
          <p:spPr>
            <a:xfrm>
              <a:off x="2022" y="1371"/>
              <a:ext cx="6" cy="66"/>
            </a:xfrm>
            <a:custGeom>
              <a:avLst/>
              <a:gdLst>
                <a:gd name="txL" fmla="*/ 0 w 6"/>
                <a:gd name="txT" fmla="*/ 0 h 66"/>
                <a:gd name="txR" fmla="*/ 6 w 6"/>
                <a:gd name="txB" fmla="*/ 66 h 66"/>
              </a:gdLst>
              <a:ahLst/>
              <a:cxnLst>
                <a:cxn ang="0">
                  <a:pos x="6" y="0"/>
                </a:cxn>
                <a:cxn ang="0">
                  <a:pos x="0" y="66"/>
                </a:cxn>
                <a:cxn ang="0">
                  <a:pos x="6" y="0"/>
                </a:cxn>
                <a:cxn ang="0">
                  <a:pos x="6" y="0"/>
                </a:cxn>
                <a:cxn ang="0">
                  <a:pos x="6" y="0"/>
                </a:cxn>
                <a:cxn ang="0">
                  <a:pos x="6" y="0"/>
                </a:cxn>
                <a:cxn ang="0">
                  <a:pos x="6" y="0"/>
                </a:cxn>
              </a:cxnLst>
              <a:rect l="txL" t="txT" r="txR" b="txB"/>
              <a:pathLst>
                <a:path w="6" h="66">
                  <a:moveTo>
                    <a:pt x="6" y="0"/>
                  </a:moveTo>
                  <a:lnTo>
                    <a:pt x="0" y="66"/>
                  </a:lnTo>
                  <a:lnTo>
                    <a:pt x="6" y="0"/>
                  </a:lnTo>
                  <a:close/>
                  <a:moveTo>
                    <a:pt x="6" y="0"/>
                  </a:moveTo>
                  <a:lnTo>
                    <a:pt x="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01" name="Freeform 208"/>
            <p:cNvSpPr>
              <a:spLocks noEditPoints="1"/>
            </p:cNvSpPr>
            <p:nvPr/>
          </p:nvSpPr>
          <p:spPr>
            <a:xfrm>
              <a:off x="2022" y="1395"/>
              <a:ext cx="48" cy="42"/>
            </a:xfrm>
            <a:custGeom>
              <a:avLst/>
              <a:gdLst>
                <a:gd name="txL" fmla="*/ 0 w 48"/>
                <a:gd name="txT" fmla="*/ 0 h 42"/>
                <a:gd name="txR" fmla="*/ 48 w 48"/>
                <a:gd name="txB" fmla="*/ 42 h 42"/>
              </a:gdLst>
              <a:ahLst/>
              <a:cxnLst>
                <a:cxn ang="0">
                  <a:pos x="0" y="42"/>
                </a:cxn>
                <a:cxn ang="0">
                  <a:pos x="48" y="0"/>
                </a:cxn>
                <a:cxn ang="0">
                  <a:pos x="0" y="42"/>
                </a:cxn>
                <a:cxn ang="0">
                  <a:pos x="0" y="42"/>
                </a:cxn>
                <a:cxn ang="0">
                  <a:pos x="0" y="42"/>
                </a:cxn>
                <a:cxn ang="0">
                  <a:pos x="0" y="42"/>
                </a:cxn>
                <a:cxn ang="0">
                  <a:pos x="0" y="42"/>
                </a:cxn>
              </a:cxnLst>
              <a:rect l="txL" t="txT" r="txR" b="txB"/>
              <a:pathLst>
                <a:path w="48" h="42">
                  <a:moveTo>
                    <a:pt x="0" y="42"/>
                  </a:moveTo>
                  <a:lnTo>
                    <a:pt x="48" y="0"/>
                  </a:lnTo>
                  <a:lnTo>
                    <a:pt x="0" y="42"/>
                  </a:lnTo>
                  <a:close/>
                  <a:moveTo>
                    <a:pt x="0" y="42"/>
                  </a:move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02" name="Freeform 209"/>
            <p:cNvSpPr>
              <a:spLocks noEditPoints="1"/>
            </p:cNvSpPr>
            <p:nvPr/>
          </p:nvSpPr>
          <p:spPr>
            <a:xfrm>
              <a:off x="2070" y="1359"/>
              <a:ext cx="47" cy="36"/>
            </a:xfrm>
            <a:custGeom>
              <a:avLst/>
              <a:gdLst>
                <a:gd name="txL" fmla="*/ 0 w 47"/>
                <a:gd name="txT" fmla="*/ 0 h 36"/>
                <a:gd name="txR" fmla="*/ 47 w 47"/>
                <a:gd name="txB" fmla="*/ 36 h 36"/>
              </a:gdLst>
              <a:ahLst/>
              <a:cxnLst>
                <a:cxn ang="0">
                  <a:pos x="0" y="36"/>
                </a:cxn>
                <a:cxn ang="0">
                  <a:pos x="47" y="0"/>
                </a:cxn>
                <a:cxn ang="0">
                  <a:pos x="0" y="36"/>
                </a:cxn>
                <a:cxn ang="0">
                  <a:pos x="0" y="36"/>
                </a:cxn>
                <a:cxn ang="0">
                  <a:pos x="0" y="36"/>
                </a:cxn>
                <a:cxn ang="0">
                  <a:pos x="0" y="36"/>
                </a:cxn>
                <a:cxn ang="0">
                  <a:pos x="0" y="36"/>
                </a:cxn>
              </a:cxnLst>
              <a:rect l="txL" t="txT" r="txR" b="txB"/>
              <a:pathLst>
                <a:path w="47" h="36">
                  <a:moveTo>
                    <a:pt x="0" y="36"/>
                  </a:moveTo>
                  <a:lnTo>
                    <a:pt x="47" y="0"/>
                  </a:lnTo>
                  <a:lnTo>
                    <a:pt x="0" y="36"/>
                  </a:lnTo>
                  <a:close/>
                  <a:moveTo>
                    <a:pt x="0" y="36"/>
                  </a:moveTo>
                  <a:lnTo>
                    <a:pt x="0"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03" name="Freeform 210"/>
            <p:cNvSpPr>
              <a:spLocks noEditPoints="1"/>
            </p:cNvSpPr>
            <p:nvPr/>
          </p:nvSpPr>
          <p:spPr>
            <a:xfrm>
              <a:off x="2112" y="1359"/>
              <a:ext cx="5" cy="60"/>
            </a:xfrm>
            <a:custGeom>
              <a:avLst/>
              <a:gdLst>
                <a:gd name="txL" fmla="*/ 0 w 5"/>
                <a:gd name="txT" fmla="*/ 0 h 60"/>
                <a:gd name="txR" fmla="*/ 5 w 5"/>
                <a:gd name="txB" fmla="*/ 60 h 60"/>
              </a:gdLst>
              <a:ahLst/>
              <a:cxnLst>
                <a:cxn ang="0">
                  <a:pos x="5" y="0"/>
                </a:cxn>
                <a:cxn ang="0">
                  <a:pos x="0" y="60"/>
                </a:cxn>
                <a:cxn ang="0">
                  <a:pos x="5" y="0"/>
                </a:cxn>
                <a:cxn ang="0">
                  <a:pos x="5" y="0"/>
                </a:cxn>
                <a:cxn ang="0">
                  <a:pos x="5" y="0"/>
                </a:cxn>
                <a:cxn ang="0">
                  <a:pos x="5" y="0"/>
                </a:cxn>
                <a:cxn ang="0">
                  <a:pos x="5" y="0"/>
                </a:cxn>
              </a:cxnLst>
              <a:rect l="txL" t="txT" r="txR" b="txB"/>
              <a:pathLst>
                <a:path w="5" h="60">
                  <a:moveTo>
                    <a:pt x="5" y="0"/>
                  </a:moveTo>
                  <a:lnTo>
                    <a:pt x="0" y="60"/>
                  </a:lnTo>
                  <a:lnTo>
                    <a:pt x="5" y="0"/>
                  </a:lnTo>
                  <a:close/>
                  <a:moveTo>
                    <a:pt x="5" y="0"/>
                  </a:moveTo>
                  <a:lnTo>
                    <a:pt x="5"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04" name="Freeform 211"/>
            <p:cNvSpPr>
              <a:spLocks noEditPoints="1"/>
            </p:cNvSpPr>
            <p:nvPr/>
          </p:nvSpPr>
          <p:spPr>
            <a:xfrm>
              <a:off x="2106" y="1419"/>
              <a:ext cx="6" cy="60"/>
            </a:xfrm>
            <a:custGeom>
              <a:avLst/>
              <a:gdLst>
                <a:gd name="txL" fmla="*/ 0 w 6"/>
                <a:gd name="txT" fmla="*/ 0 h 60"/>
                <a:gd name="txR" fmla="*/ 6 w 6"/>
                <a:gd name="txB" fmla="*/ 60 h 60"/>
              </a:gdLst>
              <a:ahLst/>
              <a:cxnLst>
                <a:cxn ang="0">
                  <a:pos x="6" y="0"/>
                </a:cxn>
                <a:cxn ang="0">
                  <a:pos x="0" y="60"/>
                </a:cxn>
                <a:cxn ang="0">
                  <a:pos x="6" y="0"/>
                </a:cxn>
                <a:cxn ang="0">
                  <a:pos x="6" y="0"/>
                </a:cxn>
                <a:cxn ang="0">
                  <a:pos x="6" y="0"/>
                </a:cxn>
                <a:cxn ang="0">
                  <a:pos x="6" y="0"/>
                </a:cxn>
                <a:cxn ang="0">
                  <a:pos x="6" y="0"/>
                </a:cxn>
              </a:cxnLst>
              <a:rect l="txL" t="txT" r="txR" b="txB"/>
              <a:pathLst>
                <a:path w="6" h="60">
                  <a:moveTo>
                    <a:pt x="6" y="0"/>
                  </a:moveTo>
                  <a:lnTo>
                    <a:pt x="0" y="60"/>
                  </a:lnTo>
                  <a:lnTo>
                    <a:pt x="6" y="0"/>
                  </a:lnTo>
                  <a:close/>
                  <a:moveTo>
                    <a:pt x="6" y="0"/>
                  </a:moveTo>
                  <a:lnTo>
                    <a:pt x="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05" name="Freeform 212"/>
            <p:cNvSpPr>
              <a:spLocks noEditPoints="1"/>
            </p:cNvSpPr>
            <p:nvPr/>
          </p:nvSpPr>
          <p:spPr>
            <a:xfrm>
              <a:off x="2106" y="1437"/>
              <a:ext cx="47" cy="42"/>
            </a:xfrm>
            <a:custGeom>
              <a:avLst/>
              <a:gdLst>
                <a:gd name="txL" fmla="*/ 0 w 47"/>
                <a:gd name="txT" fmla="*/ 0 h 42"/>
                <a:gd name="txR" fmla="*/ 47 w 47"/>
                <a:gd name="txB" fmla="*/ 42 h 42"/>
              </a:gdLst>
              <a:ahLst/>
              <a:cxnLst>
                <a:cxn ang="0">
                  <a:pos x="0" y="42"/>
                </a:cxn>
                <a:cxn ang="0">
                  <a:pos x="47" y="0"/>
                </a:cxn>
                <a:cxn ang="0">
                  <a:pos x="0" y="42"/>
                </a:cxn>
                <a:cxn ang="0">
                  <a:pos x="0" y="42"/>
                </a:cxn>
                <a:cxn ang="0">
                  <a:pos x="0" y="42"/>
                </a:cxn>
                <a:cxn ang="0">
                  <a:pos x="0" y="42"/>
                </a:cxn>
                <a:cxn ang="0">
                  <a:pos x="0" y="42"/>
                </a:cxn>
              </a:cxnLst>
              <a:rect l="txL" t="txT" r="txR" b="txB"/>
              <a:pathLst>
                <a:path w="47" h="42">
                  <a:moveTo>
                    <a:pt x="0" y="42"/>
                  </a:moveTo>
                  <a:lnTo>
                    <a:pt x="47" y="0"/>
                  </a:lnTo>
                  <a:lnTo>
                    <a:pt x="0" y="42"/>
                  </a:lnTo>
                  <a:close/>
                  <a:moveTo>
                    <a:pt x="0" y="42"/>
                  </a:move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06" name="Freeform 213"/>
            <p:cNvSpPr>
              <a:spLocks noEditPoints="1"/>
            </p:cNvSpPr>
            <p:nvPr/>
          </p:nvSpPr>
          <p:spPr>
            <a:xfrm>
              <a:off x="2153" y="1401"/>
              <a:ext cx="48" cy="36"/>
            </a:xfrm>
            <a:custGeom>
              <a:avLst/>
              <a:gdLst>
                <a:gd name="txL" fmla="*/ 0 w 48"/>
                <a:gd name="txT" fmla="*/ 0 h 36"/>
                <a:gd name="txR" fmla="*/ 48 w 48"/>
                <a:gd name="txB" fmla="*/ 36 h 36"/>
              </a:gdLst>
              <a:ahLst/>
              <a:cxnLst>
                <a:cxn ang="0">
                  <a:pos x="0" y="36"/>
                </a:cxn>
                <a:cxn ang="0">
                  <a:pos x="48" y="0"/>
                </a:cxn>
                <a:cxn ang="0">
                  <a:pos x="0" y="36"/>
                </a:cxn>
                <a:cxn ang="0">
                  <a:pos x="0" y="36"/>
                </a:cxn>
                <a:cxn ang="0">
                  <a:pos x="0" y="36"/>
                </a:cxn>
                <a:cxn ang="0">
                  <a:pos x="0" y="36"/>
                </a:cxn>
                <a:cxn ang="0">
                  <a:pos x="0" y="36"/>
                </a:cxn>
              </a:cxnLst>
              <a:rect l="txL" t="txT" r="txR" b="txB"/>
              <a:pathLst>
                <a:path w="48" h="36">
                  <a:moveTo>
                    <a:pt x="0" y="36"/>
                  </a:moveTo>
                  <a:lnTo>
                    <a:pt x="48" y="0"/>
                  </a:lnTo>
                  <a:lnTo>
                    <a:pt x="0" y="36"/>
                  </a:lnTo>
                  <a:close/>
                  <a:moveTo>
                    <a:pt x="0" y="36"/>
                  </a:moveTo>
                  <a:lnTo>
                    <a:pt x="0"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07" name="Freeform 214"/>
            <p:cNvSpPr>
              <a:spLocks noEditPoints="1"/>
            </p:cNvSpPr>
            <p:nvPr/>
          </p:nvSpPr>
          <p:spPr>
            <a:xfrm>
              <a:off x="2195" y="1401"/>
              <a:ext cx="6" cy="60"/>
            </a:xfrm>
            <a:custGeom>
              <a:avLst/>
              <a:gdLst>
                <a:gd name="txL" fmla="*/ 0 w 6"/>
                <a:gd name="txT" fmla="*/ 0 h 60"/>
                <a:gd name="txR" fmla="*/ 6 w 6"/>
                <a:gd name="txB" fmla="*/ 60 h 60"/>
              </a:gdLst>
              <a:ahLst/>
              <a:cxnLst>
                <a:cxn ang="0">
                  <a:pos x="6" y="0"/>
                </a:cxn>
                <a:cxn ang="0">
                  <a:pos x="0" y="60"/>
                </a:cxn>
                <a:cxn ang="0">
                  <a:pos x="6" y="0"/>
                </a:cxn>
                <a:cxn ang="0">
                  <a:pos x="6" y="0"/>
                </a:cxn>
                <a:cxn ang="0">
                  <a:pos x="6" y="0"/>
                </a:cxn>
                <a:cxn ang="0">
                  <a:pos x="6" y="0"/>
                </a:cxn>
                <a:cxn ang="0">
                  <a:pos x="6" y="0"/>
                </a:cxn>
              </a:cxnLst>
              <a:rect l="txL" t="txT" r="txR" b="txB"/>
              <a:pathLst>
                <a:path w="6" h="60">
                  <a:moveTo>
                    <a:pt x="6" y="0"/>
                  </a:moveTo>
                  <a:lnTo>
                    <a:pt x="0" y="60"/>
                  </a:lnTo>
                  <a:lnTo>
                    <a:pt x="6" y="0"/>
                  </a:lnTo>
                  <a:close/>
                  <a:moveTo>
                    <a:pt x="6" y="0"/>
                  </a:moveTo>
                  <a:lnTo>
                    <a:pt x="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08" name="Freeform 215"/>
            <p:cNvSpPr>
              <a:spLocks noEditPoints="1"/>
            </p:cNvSpPr>
            <p:nvPr/>
          </p:nvSpPr>
          <p:spPr>
            <a:xfrm>
              <a:off x="2189" y="1461"/>
              <a:ext cx="6" cy="60"/>
            </a:xfrm>
            <a:custGeom>
              <a:avLst/>
              <a:gdLst>
                <a:gd name="txL" fmla="*/ 0 w 6"/>
                <a:gd name="txT" fmla="*/ 0 h 60"/>
                <a:gd name="txR" fmla="*/ 6 w 6"/>
                <a:gd name="txB" fmla="*/ 60 h 60"/>
              </a:gdLst>
              <a:ahLst/>
              <a:cxnLst>
                <a:cxn ang="0">
                  <a:pos x="6" y="0"/>
                </a:cxn>
                <a:cxn ang="0">
                  <a:pos x="0" y="60"/>
                </a:cxn>
                <a:cxn ang="0">
                  <a:pos x="6" y="0"/>
                </a:cxn>
                <a:cxn ang="0">
                  <a:pos x="6" y="0"/>
                </a:cxn>
                <a:cxn ang="0">
                  <a:pos x="6" y="0"/>
                </a:cxn>
                <a:cxn ang="0">
                  <a:pos x="6" y="0"/>
                </a:cxn>
                <a:cxn ang="0">
                  <a:pos x="6" y="0"/>
                </a:cxn>
              </a:cxnLst>
              <a:rect l="txL" t="txT" r="txR" b="txB"/>
              <a:pathLst>
                <a:path w="6" h="60">
                  <a:moveTo>
                    <a:pt x="6" y="0"/>
                  </a:moveTo>
                  <a:lnTo>
                    <a:pt x="0" y="60"/>
                  </a:lnTo>
                  <a:lnTo>
                    <a:pt x="6" y="0"/>
                  </a:lnTo>
                  <a:close/>
                  <a:moveTo>
                    <a:pt x="6" y="0"/>
                  </a:moveTo>
                  <a:lnTo>
                    <a:pt x="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09" name="Freeform 216"/>
            <p:cNvSpPr>
              <a:spLocks noEditPoints="1"/>
            </p:cNvSpPr>
            <p:nvPr/>
          </p:nvSpPr>
          <p:spPr>
            <a:xfrm>
              <a:off x="2189" y="1479"/>
              <a:ext cx="54" cy="42"/>
            </a:xfrm>
            <a:custGeom>
              <a:avLst/>
              <a:gdLst>
                <a:gd name="txL" fmla="*/ 0 w 54"/>
                <a:gd name="txT" fmla="*/ 0 h 42"/>
                <a:gd name="txR" fmla="*/ 54 w 54"/>
                <a:gd name="txB" fmla="*/ 42 h 42"/>
              </a:gdLst>
              <a:ahLst/>
              <a:cxnLst>
                <a:cxn ang="0">
                  <a:pos x="0" y="42"/>
                </a:cxn>
                <a:cxn ang="0">
                  <a:pos x="54" y="0"/>
                </a:cxn>
                <a:cxn ang="0">
                  <a:pos x="0" y="42"/>
                </a:cxn>
                <a:cxn ang="0">
                  <a:pos x="0" y="42"/>
                </a:cxn>
                <a:cxn ang="0">
                  <a:pos x="0" y="42"/>
                </a:cxn>
                <a:cxn ang="0">
                  <a:pos x="0" y="42"/>
                </a:cxn>
                <a:cxn ang="0">
                  <a:pos x="0" y="42"/>
                </a:cxn>
              </a:cxnLst>
              <a:rect l="txL" t="txT" r="txR" b="txB"/>
              <a:pathLst>
                <a:path w="54" h="42">
                  <a:moveTo>
                    <a:pt x="0" y="42"/>
                  </a:moveTo>
                  <a:lnTo>
                    <a:pt x="54" y="0"/>
                  </a:lnTo>
                  <a:lnTo>
                    <a:pt x="0" y="42"/>
                  </a:lnTo>
                  <a:close/>
                  <a:moveTo>
                    <a:pt x="0" y="42"/>
                  </a:move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10" name="Freeform 217"/>
            <p:cNvSpPr/>
            <p:nvPr/>
          </p:nvSpPr>
          <p:spPr>
            <a:xfrm>
              <a:off x="2865" y="2446"/>
              <a:ext cx="48" cy="388"/>
            </a:xfrm>
            <a:custGeom>
              <a:avLst/>
              <a:gdLst>
                <a:gd name="txL" fmla="*/ 0 w 48"/>
                <a:gd name="txT" fmla="*/ 0 h 388"/>
                <a:gd name="txR" fmla="*/ 48 w 48"/>
                <a:gd name="txB" fmla="*/ 388 h 388"/>
              </a:gdLst>
              <a:ahLst/>
              <a:cxnLst>
                <a:cxn ang="0">
                  <a:pos x="48" y="0"/>
                </a:cxn>
                <a:cxn ang="0">
                  <a:pos x="0" y="0"/>
                </a:cxn>
                <a:cxn ang="0">
                  <a:pos x="0" y="388"/>
                </a:cxn>
                <a:cxn ang="0">
                  <a:pos x="48" y="388"/>
                </a:cxn>
                <a:cxn ang="0">
                  <a:pos x="48" y="0"/>
                </a:cxn>
                <a:cxn ang="0">
                  <a:pos x="48" y="0"/>
                </a:cxn>
              </a:cxnLst>
              <a:rect l="txL" t="txT" r="txR" b="txB"/>
              <a:pathLst>
                <a:path w="48" h="388">
                  <a:moveTo>
                    <a:pt x="48" y="0"/>
                  </a:moveTo>
                  <a:lnTo>
                    <a:pt x="0" y="0"/>
                  </a:lnTo>
                  <a:lnTo>
                    <a:pt x="0" y="388"/>
                  </a:lnTo>
                  <a:lnTo>
                    <a:pt x="48" y="388"/>
                  </a:lnTo>
                  <a:lnTo>
                    <a:pt x="48" y="0"/>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1511" name="Freeform 218"/>
            <p:cNvSpPr/>
            <p:nvPr/>
          </p:nvSpPr>
          <p:spPr>
            <a:xfrm>
              <a:off x="2889" y="2816"/>
              <a:ext cx="60" cy="24"/>
            </a:xfrm>
            <a:custGeom>
              <a:avLst/>
              <a:gdLst>
                <a:gd name="txL" fmla="*/ 0 w 60"/>
                <a:gd name="txT" fmla="*/ 0 h 24"/>
                <a:gd name="txR" fmla="*/ 60 w 60"/>
                <a:gd name="txB" fmla="*/ 24 h 24"/>
              </a:gdLst>
              <a:ahLst/>
              <a:cxnLst>
                <a:cxn ang="0">
                  <a:pos x="0" y="24"/>
                </a:cxn>
                <a:cxn ang="0">
                  <a:pos x="60" y="0"/>
                </a:cxn>
                <a:cxn ang="0">
                  <a:pos x="0" y="24"/>
                </a:cxn>
                <a:cxn ang="0">
                  <a:pos x="0" y="24"/>
                </a:cxn>
              </a:cxnLst>
              <a:rect l="txL" t="txT" r="txR" b="txB"/>
              <a:pathLst>
                <a:path w="60" h="24">
                  <a:moveTo>
                    <a:pt x="0" y="24"/>
                  </a:moveTo>
                  <a:lnTo>
                    <a:pt x="60" y="0"/>
                  </a:ln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12" name="Freeform 219"/>
            <p:cNvSpPr>
              <a:spLocks noEditPoints="1"/>
            </p:cNvSpPr>
            <p:nvPr/>
          </p:nvSpPr>
          <p:spPr>
            <a:xfrm>
              <a:off x="2889" y="2786"/>
              <a:ext cx="60" cy="30"/>
            </a:xfrm>
            <a:custGeom>
              <a:avLst/>
              <a:gdLst>
                <a:gd name="txL" fmla="*/ 0 w 60"/>
                <a:gd name="txT" fmla="*/ 0 h 30"/>
                <a:gd name="txR" fmla="*/ 60 w 60"/>
                <a:gd name="txB" fmla="*/ 30 h 30"/>
              </a:gdLst>
              <a:ahLst/>
              <a:cxnLst>
                <a:cxn ang="0">
                  <a:pos x="60" y="30"/>
                </a:cxn>
                <a:cxn ang="0">
                  <a:pos x="0" y="0"/>
                </a:cxn>
                <a:cxn ang="0">
                  <a:pos x="60" y="30"/>
                </a:cxn>
                <a:cxn ang="0">
                  <a:pos x="60" y="30"/>
                </a:cxn>
                <a:cxn ang="0">
                  <a:pos x="60" y="30"/>
                </a:cxn>
                <a:cxn ang="0">
                  <a:pos x="60" y="30"/>
                </a:cxn>
                <a:cxn ang="0">
                  <a:pos x="60" y="30"/>
                </a:cxn>
              </a:cxnLst>
              <a:rect l="txL" t="txT" r="txR" b="txB"/>
              <a:pathLst>
                <a:path w="60" h="30">
                  <a:moveTo>
                    <a:pt x="60" y="30"/>
                  </a:moveTo>
                  <a:lnTo>
                    <a:pt x="0" y="0"/>
                  </a:lnTo>
                  <a:lnTo>
                    <a:pt x="60" y="30"/>
                  </a:lnTo>
                  <a:close/>
                  <a:moveTo>
                    <a:pt x="60" y="30"/>
                  </a:moveTo>
                  <a:lnTo>
                    <a:pt x="6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13" name="Freeform 220"/>
            <p:cNvSpPr>
              <a:spLocks noEditPoints="1"/>
            </p:cNvSpPr>
            <p:nvPr/>
          </p:nvSpPr>
          <p:spPr>
            <a:xfrm>
              <a:off x="2829" y="2763"/>
              <a:ext cx="60" cy="23"/>
            </a:xfrm>
            <a:custGeom>
              <a:avLst/>
              <a:gdLst>
                <a:gd name="txL" fmla="*/ 0 w 60"/>
                <a:gd name="txT" fmla="*/ 0 h 23"/>
                <a:gd name="txR" fmla="*/ 60 w 60"/>
                <a:gd name="txB" fmla="*/ 23 h 23"/>
              </a:gdLst>
              <a:ahLst/>
              <a:cxnLst>
                <a:cxn ang="0">
                  <a:pos x="60" y="23"/>
                </a:cxn>
                <a:cxn ang="0">
                  <a:pos x="0" y="0"/>
                </a:cxn>
                <a:cxn ang="0">
                  <a:pos x="60" y="23"/>
                </a:cxn>
                <a:cxn ang="0">
                  <a:pos x="60" y="23"/>
                </a:cxn>
                <a:cxn ang="0">
                  <a:pos x="60" y="23"/>
                </a:cxn>
                <a:cxn ang="0">
                  <a:pos x="60" y="23"/>
                </a:cxn>
                <a:cxn ang="0">
                  <a:pos x="60" y="23"/>
                </a:cxn>
              </a:cxnLst>
              <a:rect l="txL" t="txT" r="txR" b="txB"/>
              <a:pathLst>
                <a:path w="60" h="23">
                  <a:moveTo>
                    <a:pt x="60" y="23"/>
                  </a:moveTo>
                  <a:lnTo>
                    <a:pt x="0" y="0"/>
                  </a:lnTo>
                  <a:lnTo>
                    <a:pt x="60" y="23"/>
                  </a:lnTo>
                  <a:close/>
                  <a:moveTo>
                    <a:pt x="60" y="23"/>
                  </a:moveTo>
                  <a:lnTo>
                    <a:pt x="60" y="2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14" name="Freeform 221"/>
            <p:cNvSpPr>
              <a:spLocks noEditPoints="1"/>
            </p:cNvSpPr>
            <p:nvPr/>
          </p:nvSpPr>
          <p:spPr>
            <a:xfrm>
              <a:off x="2829" y="2739"/>
              <a:ext cx="60" cy="24"/>
            </a:xfrm>
            <a:custGeom>
              <a:avLst/>
              <a:gdLst>
                <a:gd name="txL" fmla="*/ 0 w 60"/>
                <a:gd name="txT" fmla="*/ 0 h 24"/>
                <a:gd name="txR" fmla="*/ 60 w 60"/>
                <a:gd name="txB" fmla="*/ 24 h 24"/>
              </a:gdLst>
              <a:ahLst/>
              <a:cxnLst>
                <a:cxn ang="0">
                  <a:pos x="0" y="24"/>
                </a:cxn>
                <a:cxn ang="0">
                  <a:pos x="60" y="0"/>
                </a:cxn>
                <a:cxn ang="0">
                  <a:pos x="0" y="24"/>
                </a:cxn>
                <a:cxn ang="0">
                  <a:pos x="0" y="24"/>
                </a:cxn>
                <a:cxn ang="0">
                  <a:pos x="0" y="24"/>
                </a:cxn>
                <a:cxn ang="0">
                  <a:pos x="0" y="24"/>
                </a:cxn>
                <a:cxn ang="0">
                  <a:pos x="0" y="24"/>
                </a:cxn>
              </a:cxnLst>
              <a:rect l="txL" t="txT" r="txR" b="txB"/>
              <a:pathLst>
                <a:path w="60" h="24">
                  <a:moveTo>
                    <a:pt x="0" y="24"/>
                  </a:moveTo>
                  <a:lnTo>
                    <a:pt x="60"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15" name="Freeform 222"/>
            <p:cNvSpPr>
              <a:spLocks noEditPoints="1"/>
            </p:cNvSpPr>
            <p:nvPr/>
          </p:nvSpPr>
          <p:spPr>
            <a:xfrm>
              <a:off x="2889" y="2739"/>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16" name="Freeform 223"/>
            <p:cNvSpPr>
              <a:spLocks noEditPoints="1"/>
            </p:cNvSpPr>
            <p:nvPr/>
          </p:nvSpPr>
          <p:spPr>
            <a:xfrm>
              <a:off x="2889" y="2715"/>
              <a:ext cx="60" cy="24"/>
            </a:xfrm>
            <a:custGeom>
              <a:avLst/>
              <a:gdLst>
                <a:gd name="txL" fmla="*/ 0 w 60"/>
                <a:gd name="txT" fmla="*/ 0 h 24"/>
                <a:gd name="txR" fmla="*/ 60 w 60"/>
                <a:gd name="txB" fmla="*/ 24 h 24"/>
              </a:gdLst>
              <a:ahLst/>
              <a:cxnLst>
                <a:cxn ang="0">
                  <a:pos x="0" y="24"/>
                </a:cxn>
                <a:cxn ang="0">
                  <a:pos x="60" y="0"/>
                </a:cxn>
                <a:cxn ang="0">
                  <a:pos x="0" y="24"/>
                </a:cxn>
                <a:cxn ang="0">
                  <a:pos x="0" y="24"/>
                </a:cxn>
                <a:cxn ang="0">
                  <a:pos x="0" y="24"/>
                </a:cxn>
                <a:cxn ang="0">
                  <a:pos x="0" y="24"/>
                </a:cxn>
                <a:cxn ang="0">
                  <a:pos x="0" y="24"/>
                </a:cxn>
              </a:cxnLst>
              <a:rect l="txL" t="txT" r="txR" b="txB"/>
              <a:pathLst>
                <a:path w="60" h="24">
                  <a:moveTo>
                    <a:pt x="0" y="24"/>
                  </a:moveTo>
                  <a:lnTo>
                    <a:pt x="60"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17" name="Freeform 224"/>
            <p:cNvSpPr>
              <a:spLocks noEditPoints="1"/>
            </p:cNvSpPr>
            <p:nvPr/>
          </p:nvSpPr>
          <p:spPr>
            <a:xfrm>
              <a:off x="2889" y="2691"/>
              <a:ext cx="60" cy="24"/>
            </a:xfrm>
            <a:custGeom>
              <a:avLst/>
              <a:gdLst>
                <a:gd name="txL" fmla="*/ 0 w 60"/>
                <a:gd name="txT" fmla="*/ 0 h 24"/>
                <a:gd name="txR" fmla="*/ 60 w 60"/>
                <a:gd name="txB" fmla="*/ 24 h 24"/>
              </a:gdLst>
              <a:ahLst/>
              <a:cxnLst>
                <a:cxn ang="0">
                  <a:pos x="60" y="24"/>
                </a:cxn>
                <a:cxn ang="0">
                  <a:pos x="0" y="0"/>
                </a:cxn>
                <a:cxn ang="0">
                  <a:pos x="60" y="24"/>
                </a:cxn>
                <a:cxn ang="0">
                  <a:pos x="60" y="24"/>
                </a:cxn>
                <a:cxn ang="0">
                  <a:pos x="60" y="24"/>
                </a:cxn>
                <a:cxn ang="0">
                  <a:pos x="60" y="24"/>
                </a:cxn>
                <a:cxn ang="0">
                  <a:pos x="60" y="24"/>
                </a:cxn>
              </a:cxnLst>
              <a:rect l="txL" t="txT" r="txR" b="txB"/>
              <a:pathLst>
                <a:path w="60" h="24">
                  <a:moveTo>
                    <a:pt x="60" y="24"/>
                  </a:moveTo>
                  <a:lnTo>
                    <a:pt x="0" y="0"/>
                  </a:lnTo>
                  <a:lnTo>
                    <a:pt x="60" y="24"/>
                  </a:lnTo>
                  <a:close/>
                  <a:moveTo>
                    <a:pt x="60" y="24"/>
                  </a:moveTo>
                  <a:lnTo>
                    <a:pt x="6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18" name="Freeform 225"/>
            <p:cNvSpPr>
              <a:spLocks noEditPoints="1"/>
            </p:cNvSpPr>
            <p:nvPr/>
          </p:nvSpPr>
          <p:spPr>
            <a:xfrm>
              <a:off x="2829" y="2667"/>
              <a:ext cx="60" cy="24"/>
            </a:xfrm>
            <a:custGeom>
              <a:avLst/>
              <a:gdLst>
                <a:gd name="txL" fmla="*/ 0 w 60"/>
                <a:gd name="txT" fmla="*/ 0 h 24"/>
                <a:gd name="txR" fmla="*/ 60 w 60"/>
                <a:gd name="txB" fmla="*/ 24 h 24"/>
              </a:gdLst>
              <a:ahLst/>
              <a:cxnLst>
                <a:cxn ang="0">
                  <a:pos x="60" y="24"/>
                </a:cxn>
                <a:cxn ang="0">
                  <a:pos x="0" y="0"/>
                </a:cxn>
                <a:cxn ang="0">
                  <a:pos x="60" y="24"/>
                </a:cxn>
                <a:cxn ang="0">
                  <a:pos x="60" y="24"/>
                </a:cxn>
                <a:cxn ang="0">
                  <a:pos x="60" y="24"/>
                </a:cxn>
                <a:cxn ang="0">
                  <a:pos x="60" y="24"/>
                </a:cxn>
                <a:cxn ang="0">
                  <a:pos x="60" y="24"/>
                </a:cxn>
              </a:cxnLst>
              <a:rect l="txL" t="txT" r="txR" b="txB"/>
              <a:pathLst>
                <a:path w="60" h="24">
                  <a:moveTo>
                    <a:pt x="60" y="24"/>
                  </a:moveTo>
                  <a:lnTo>
                    <a:pt x="0" y="0"/>
                  </a:lnTo>
                  <a:lnTo>
                    <a:pt x="60" y="24"/>
                  </a:lnTo>
                  <a:close/>
                  <a:moveTo>
                    <a:pt x="60" y="24"/>
                  </a:moveTo>
                  <a:lnTo>
                    <a:pt x="6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19" name="Freeform 226"/>
            <p:cNvSpPr>
              <a:spLocks noEditPoints="1"/>
            </p:cNvSpPr>
            <p:nvPr/>
          </p:nvSpPr>
          <p:spPr>
            <a:xfrm>
              <a:off x="2829" y="2637"/>
              <a:ext cx="60" cy="30"/>
            </a:xfrm>
            <a:custGeom>
              <a:avLst/>
              <a:gdLst>
                <a:gd name="txL" fmla="*/ 0 w 60"/>
                <a:gd name="txT" fmla="*/ 0 h 30"/>
                <a:gd name="txR" fmla="*/ 60 w 60"/>
                <a:gd name="txB" fmla="*/ 30 h 30"/>
              </a:gdLst>
              <a:ahLst/>
              <a:cxnLst>
                <a:cxn ang="0">
                  <a:pos x="0" y="30"/>
                </a:cxn>
                <a:cxn ang="0">
                  <a:pos x="60" y="0"/>
                </a:cxn>
                <a:cxn ang="0">
                  <a:pos x="0" y="30"/>
                </a:cxn>
                <a:cxn ang="0">
                  <a:pos x="0" y="30"/>
                </a:cxn>
                <a:cxn ang="0">
                  <a:pos x="0" y="30"/>
                </a:cxn>
                <a:cxn ang="0">
                  <a:pos x="0" y="30"/>
                </a:cxn>
                <a:cxn ang="0">
                  <a:pos x="0" y="30"/>
                </a:cxn>
              </a:cxnLst>
              <a:rect l="txL" t="txT" r="txR" b="txB"/>
              <a:pathLst>
                <a:path w="60" h="30">
                  <a:moveTo>
                    <a:pt x="0" y="30"/>
                  </a:moveTo>
                  <a:lnTo>
                    <a:pt x="60"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20" name="Freeform 227"/>
            <p:cNvSpPr>
              <a:spLocks noEditPoints="1"/>
            </p:cNvSpPr>
            <p:nvPr/>
          </p:nvSpPr>
          <p:spPr>
            <a:xfrm>
              <a:off x="2889" y="2613"/>
              <a:ext cx="60" cy="24"/>
            </a:xfrm>
            <a:custGeom>
              <a:avLst/>
              <a:gdLst>
                <a:gd name="txL" fmla="*/ 0 w 60"/>
                <a:gd name="txT" fmla="*/ 0 h 24"/>
                <a:gd name="txR" fmla="*/ 60 w 60"/>
                <a:gd name="txB" fmla="*/ 24 h 24"/>
              </a:gdLst>
              <a:ahLst/>
              <a:cxnLst>
                <a:cxn ang="0">
                  <a:pos x="0" y="24"/>
                </a:cxn>
                <a:cxn ang="0">
                  <a:pos x="60" y="0"/>
                </a:cxn>
                <a:cxn ang="0">
                  <a:pos x="0" y="24"/>
                </a:cxn>
                <a:cxn ang="0">
                  <a:pos x="0" y="24"/>
                </a:cxn>
                <a:cxn ang="0">
                  <a:pos x="0" y="24"/>
                </a:cxn>
                <a:cxn ang="0">
                  <a:pos x="0" y="24"/>
                </a:cxn>
                <a:cxn ang="0">
                  <a:pos x="0" y="24"/>
                </a:cxn>
              </a:cxnLst>
              <a:rect l="txL" t="txT" r="txR" b="txB"/>
              <a:pathLst>
                <a:path w="60" h="24">
                  <a:moveTo>
                    <a:pt x="0" y="24"/>
                  </a:moveTo>
                  <a:lnTo>
                    <a:pt x="60"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21" name="Freeform 228"/>
            <p:cNvSpPr>
              <a:spLocks noEditPoints="1"/>
            </p:cNvSpPr>
            <p:nvPr/>
          </p:nvSpPr>
          <p:spPr>
            <a:xfrm>
              <a:off x="2889" y="2589"/>
              <a:ext cx="60" cy="24"/>
            </a:xfrm>
            <a:custGeom>
              <a:avLst/>
              <a:gdLst>
                <a:gd name="txL" fmla="*/ 0 w 60"/>
                <a:gd name="txT" fmla="*/ 0 h 24"/>
                <a:gd name="txR" fmla="*/ 60 w 60"/>
                <a:gd name="txB" fmla="*/ 24 h 24"/>
              </a:gdLst>
              <a:ahLst/>
              <a:cxnLst>
                <a:cxn ang="0">
                  <a:pos x="60" y="24"/>
                </a:cxn>
                <a:cxn ang="0">
                  <a:pos x="0" y="0"/>
                </a:cxn>
                <a:cxn ang="0">
                  <a:pos x="60" y="24"/>
                </a:cxn>
                <a:cxn ang="0">
                  <a:pos x="60" y="24"/>
                </a:cxn>
                <a:cxn ang="0">
                  <a:pos x="60" y="24"/>
                </a:cxn>
                <a:cxn ang="0">
                  <a:pos x="60" y="24"/>
                </a:cxn>
                <a:cxn ang="0">
                  <a:pos x="60" y="24"/>
                </a:cxn>
              </a:cxnLst>
              <a:rect l="txL" t="txT" r="txR" b="txB"/>
              <a:pathLst>
                <a:path w="60" h="24">
                  <a:moveTo>
                    <a:pt x="60" y="24"/>
                  </a:moveTo>
                  <a:lnTo>
                    <a:pt x="0" y="0"/>
                  </a:lnTo>
                  <a:lnTo>
                    <a:pt x="60" y="24"/>
                  </a:lnTo>
                  <a:close/>
                  <a:moveTo>
                    <a:pt x="60" y="24"/>
                  </a:moveTo>
                  <a:lnTo>
                    <a:pt x="6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22" name="Freeform 229"/>
            <p:cNvSpPr>
              <a:spLocks noEditPoints="1"/>
            </p:cNvSpPr>
            <p:nvPr/>
          </p:nvSpPr>
          <p:spPr>
            <a:xfrm>
              <a:off x="2829" y="2566"/>
              <a:ext cx="60" cy="23"/>
            </a:xfrm>
            <a:custGeom>
              <a:avLst/>
              <a:gdLst>
                <a:gd name="txL" fmla="*/ 0 w 60"/>
                <a:gd name="txT" fmla="*/ 0 h 23"/>
                <a:gd name="txR" fmla="*/ 60 w 60"/>
                <a:gd name="txB" fmla="*/ 23 h 23"/>
              </a:gdLst>
              <a:ahLst/>
              <a:cxnLst>
                <a:cxn ang="0">
                  <a:pos x="60" y="23"/>
                </a:cxn>
                <a:cxn ang="0">
                  <a:pos x="0" y="0"/>
                </a:cxn>
                <a:cxn ang="0">
                  <a:pos x="60" y="23"/>
                </a:cxn>
                <a:cxn ang="0">
                  <a:pos x="60" y="23"/>
                </a:cxn>
                <a:cxn ang="0">
                  <a:pos x="60" y="23"/>
                </a:cxn>
                <a:cxn ang="0">
                  <a:pos x="60" y="23"/>
                </a:cxn>
                <a:cxn ang="0">
                  <a:pos x="60" y="23"/>
                </a:cxn>
              </a:cxnLst>
              <a:rect l="txL" t="txT" r="txR" b="txB"/>
              <a:pathLst>
                <a:path w="60" h="23">
                  <a:moveTo>
                    <a:pt x="60" y="23"/>
                  </a:moveTo>
                  <a:lnTo>
                    <a:pt x="0" y="0"/>
                  </a:lnTo>
                  <a:lnTo>
                    <a:pt x="60" y="23"/>
                  </a:lnTo>
                  <a:close/>
                  <a:moveTo>
                    <a:pt x="60" y="23"/>
                  </a:moveTo>
                  <a:lnTo>
                    <a:pt x="60" y="2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23" name="Freeform 230"/>
            <p:cNvSpPr>
              <a:spLocks noEditPoints="1"/>
            </p:cNvSpPr>
            <p:nvPr/>
          </p:nvSpPr>
          <p:spPr>
            <a:xfrm>
              <a:off x="2829" y="2542"/>
              <a:ext cx="60" cy="24"/>
            </a:xfrm>
            <a:custGeom>
              <a:avLst/>
              <a:gdLst>
                <a:gd name="txL" fmla="*/ 0 w 60"/>
                <a:gd name="txT" fmla="*/ 0 h 24"/>
                <a:gd name="txR" fmla="*/ 60 w 60"/>
                <a:gd name="txB" fmla="*/ 24 h 24"/>
              </a:gdLst>
              <a:ahLst/>
              <a:cxnLst>
                <a:cxn ang="0">
                  <a:pos x="0" y="24"/>
                </a:cxn>
                <a:cxn ang="0">
                  <a:pos x="60" y="0"/>
                </a:cxn>
                <a:cxn ang="0">
                  <a:pos x="0" y="24"/>
                </a:cxn>
                <a:cxn ang="0">
                  <a:pos x="0" y="24"/>
                </a:cxn>
                <a:cxn ang="0">
                  <a:pos x="0" y="24"/>
                </a:cxn>
                <a:cxn ang="0">
                  <a:pos x="0" y="24"/>
                </a:cxn>
                <a:cxn ang="0">
                  <a:pos x="0" y="24"/>
                </a:cxn>
              </a:cxnLst>
              <a:rect l="txL" t="txT" r="txR" b="txB"/>
              <a:pathLst>
                <a:path w="60" h="24">
                  <a:moveTo>
                    <a:pt x="0" y="24"/>
                  </a:moveTo>
                  <a:lnTo>
                    <a:pt x="60"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24" name="Freeform 231"/>
            <p:cNvSpPr>
              <a:spLocks noEditPoints="1"/>
            </p:cNvSpPr>
            <p:nvPr/>
          </p:nvSpPr>
          <p:spPr>
            <a:xfrm>
              <a:off x="2889" y="2518"/>
              <a:ext cx="60" cy="24"/>
            </a:xfrm>
            <a:custGeom>
              <a:avLst/>
              <a:gdLst>
                <a:gd name="txL" fmla="*/ 0 w 60"/>
                <a:gd name="txT" fmla="*/ 0 h 24"/>
                <a:gd name="txR" fmla="*/ 60 w 60"/>
                <a:gd name="txB" fmla="*/ 24 h 24"/>
              </a:gdLst>
              <a:ahLst/>
              <a:cxnLst>
                <a:cxn ang="0">
                  <a:pos x="0" y="24"/>
                </a:cxn>
                <a:cxn ang="0">
                  <a:pos x="60" y="0"/>
                </a:cxn>
                <a:cxn ang="0">
                  <a:pos x="0" y="24"/>
                </a:cxn>
                <a:cxn ang="0">
                  <a:pos x="0" y="24"/>
                </a:cxn>
                <a:cxn ang="0">
                  <a:pos x="0" y="24"/>
                </a:cxn>
                <a:cxn ang="0">
                  <a:pos x="0" y="24"/>
                </a:cxn>
                <a:cxn ang="0">
                  <a:pos x="0" y="24"/>
                </a:cxn>
              </a:cxnLst>
              <a:rect l="txL" t="txT" r="txR" b="txB"/>
              <a:pathLst>
                <a:path w="60" h="24">
                  <a:moveTo>
                    <a:pt x="0" y="24"/>
                  </a:moveTo>
                  <a:lnTo>
                    <a:pt x="60"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25" name="Freeform 232"/>
            <p:cNvSpPr>
              <a:spLocks noEditPoints="1"/>
            </p:cNvSpPr>
            <p:nvPr/>
          </p:nvSpPr>
          <p:spPr>
            <a:xfrm>
              <a:off x="2889" y="2494"/>
              <a:ext cx="60" cy="24"/>
            </a:xfrm>
            <a:custGeom>
              <a:avLst/>
              <a:gdLst>
                <a:gd name="txL" fmla="*/ 0 w 60"/>
                <a:gd name="txT" fmla="*/ 0 h 24"/>
                <a:gd name="txR" fmla="*/ 60 w 60"/>
                <a:gd name="txB" fmla="*/ 24 h 24"/>
              </a:gdLst>
              <a:ahLst/>
              <a:cxnLst>
                <a:cxn ang="0">
                  <a:pos x="60" y="24"/>
                </a:cxn>
                <a:cxn ang="0">
                  <a:pos x="0" y="0"/>
                </a:cxn>
                <a:cxn ang="0">
                  <a:pos x="60" y="24"/>
                </a:cxn>
                <a:cxn ang="0">
                  <a:pos x="60" y="24"/>
                </a:cxn>
                <a:cxn ang="0">
                  <a:pos x="60" y="24"/>
                </a:cxn>
                <a:cxn ang="0">
                  <a:pos x="60" y="24"/>
                </a:cxn>
                <a:cxn ang="0">
                  <a:pos x="60" y="24"/>
                </a:cxn>
              </a:cxnLst>
              <a:rect l="txL" t="txT" r="txR" b="txB"/>
              <a:pathLst>
                <a:path w="60" h="24">
                  <a:moveTo>
                    <a:pt x="60" y="24"/>
                  </a:moveTo>
                  <a:lnTo>
                    <a:pt x="0" y="0"/>
                  </a:lnTo>
                  <a:lnTo>
                    <a:pt x="60" y="24"/>
                  </a:lnTo>
                  <a:close/>
                  <a:moveTo>
                    <a:pt x="60" y="24"/>
                  </a:moveTo>
                  <a:lnTo>
                    <a:pt x="6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26" name="Freeform 233"/>
            <p:cNvSpPr>
              <a:spLocks noEditPoints="1"/>
            </p:cNvSpPr>
            <p:nvPr/>
          </p:nvSpPr>
          <p:spPr>
            <a:xfrm>
              <a:off x="2829" y="2464"/>
              <a:ext cx="60" cy="30"/>
            </a:xfrm>
            <a:custGeom>
              <a:avLst/>
              <a:gdLst>
                <a:gd name="txL" fmla="*/ 0 w 60"/>
                <a:gd name="txT" fmla="*/ 0 h 30"/>
                <a:gd name="txR" fmla="*/ 60 w 60"/>
                <a:gd name="txB" fmla="*/ 30 h 30"/>
              </a:gdLst>
              <a:ahLst/>
              <a:cxnLst>
                <a:cxn ang="0">
                  <a:pos x="60" y="30"/>
                </a:cxn>
                <a:cxn ang="0">
                  <a:pos x="0" y="0"/>
                </a:cxn>
                <a:cxn ang="0">
                  <a:pos x="60" y="30"/>
                </a:cxn>
                <a:cxn ang="0">
                  <a:pos x="60" y="30"/>
                </a:cxn>
                <a:cxn ang="0">
                  <a:pos x="60" y="30"/>
                </a:cxn>
                <a:cxn ang="0">
                  <a:pos x="60" y="30"/>
                </a:cxn>
                <a:cxn ang="0">
                  <a:pos x="60" y="30"/>
                </a:cxn>
              </a:cxnLst>
              <a:rect l="txL" t="txT" r="txR" b="txB"/>
              <a:pathLst>
                <a:path w="60" h="30">
                  <a:moveTo>
                    <a:pt x="60" y="30"/>
                  </a:moveTo>
                  <a:lnTo>
                    <a:pt x="0" y="0"/>
                  </a:lnTo>
                  <a:lnTo>
                    <a:pt x="60" y="30"/>
                  </a:lnTo>
                  <a:close/>
                  <a:moveTo>
                    <a:pt x="60" y="30"/>
                  </a:moveTo>
                  <a:lnTo>
                    <a:pt x="6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27" name="Freeform 234"/>
            <p:cNvSpPr>
              <a:spLocks noEditPoints="1"/>
            </p:cNvSpPr>
            <p:nvPr/>
          </p:nvSpPr>
          <p:spPr>
            <a:xfrm>
              <a:off x="2829" y="2440"/>
              <a:ext cx="66" cy="24"/>
            </a:xfrm>
            <a:custGeom>
              <a:avLst/>
              <a:gdLst>
                <a:gd name="txL" fmla="*/ 0 w 66"/>
                <a:gd name="txT" fmla="*/ 0 h 24"/>
                <a:gd name="txR" fmla="*/ 66 w 66"/>
                <a:gd name="txB" fmla="*/ 24 h 24"/>
              </a:gdLst>
              <a:ahLst/>
              <a:cxnLst>
                <a:cxn ang="0">
                  <a:pos x="0" y="24"/>
                </a:cxn>
                <a:cxn ang="0">
                  <a:pos x="66" y="0"/>
                </a:cxn>
                <a:cxn ang="0">
                  <a:pos x="0" y="24"/>
                </a:cxn>
                <a:cxn ang="0">
                  <a:pos x="0" y="24"/>
                </a:cxn>
                <a:cxn ang="0">
                  <a:pos x="0" y="24"/>
                </a:cxn>
                <a:cxn ang="0">
                  <a:pos x="0" y="24"/>
                </a:cxn>
                <a:cxn ang="0">
                  <a:pos x="0" y="24"/>
                </a:cxn>
              </a:cxnLst>
              <a:rect l="txL" t="txT" r="txR" b="txB"/>
              <a:pathLst>
                <a:path w="66" h="24">
                  <a:moveTo>
                    <a:pt x="0" y="24"/>
                  </a:moveTo>
                  <a:lnTo>
                    <a:pt x="66"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28" name="Freeform 235"/>
            <p:cNvSpPr/>
            <p:nvPr/>
          </p:nvSpPr>
          <p:spPr>
            <a:xfrm>
              <a:off x="2662" y="947"/>
              <a:ext cx="388" cy="48"/>
            </a:xfrm>
            <a:custGeom>
              <a:avLst/>
              <a:gdLst>
                <a:gd name="txL" fmla="*/ 0 w 388"/>
                <a:gd name="txT" fmla="*/ 0 h 48"/>
                <a:gd name="txR" fmla="*/ 388 w 388"/>
                <a:gd name="txB" fmla="*/ 48 h 48"/>
              </a:gdLst>
              <a:ahLst/>
              <a:cxnLst>
                <a:cxn ang="0">
                  <a:pos x="0" y="48"/>
                </a:cxn>
                <a:cxn ang="0">
                  <a:pos x="0" y="0"/>
                </a:cxn>
                <a:cxn ang="0">
                  <a:pos x="388" y="0"/>
                </a:cxn>
                <a:cxn ang="0">
                  <a:pos x="388" y="48"/>
                </a:cxn>
                <a:cxn ang="0">
                  <a:pos x="0" y="48"/>
                </a:cxn>
                <a:cxn ang="0">
                  <a:pos x="0" y="48"/>
                </a:cxn>
              </a:cxnLst>
              <a:rect l="txL" t="txT" r="txR" b="txB"/>
              <a:pathLst>
                <a:path w="388" h="48">
                  <a:moveTo>
                    <a:pt x="0" y="48"/>
                  </a:moveTo>
                  <a:lnTo>
                    <a:pt x="0" y="0"/>
                  </a:lnTo>
                  <a:lnTo>
                    <a:pt x="388" y="0"/>
                  </a:lnTo>
                  <a:lnTo>
                    <a:pt x="388" y="48"/>
                  </a:lnTo>
                  <a:lnTo>
                    <a:pt x="0" y="48"/>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1529" name="Freeform 236"/>
            <p:cNvSpPr/>
            <p:nvPr/>
          </p:nvSpPr>
          <p:spPr>
            <a:xfrm>
              <a:off x="3033" y="971"/>
              <a:ext cx="23" cy="60"/>
            </a:xfrm>
            <a:custGeom>
              <a:avLst/>
              <a:gdLst>
                <a:gd name="txL" fmla="*/ 0 w 23"/>
                <a:gd name="txT" fmla="*/ 0 h 60"/>
                <a:gd name="txR" fmla="*/ 23 w 23"/>
                <a:gd name="txB" fmla="*/ 60 h 60"/>
              </a:gdLst>
              <a:ahLst/>
              <a:cxnLst>
                <a:cxn ang="0">
                  <a:pos x="23" y="0"/>
                </a:cxn>
                <a:cxn ang="0">
                  <a:pos x="0" y="60"/>
                </a:cxn>
                <a:cxn ang="0">
                  <a:pos x="23" y="0"/>
                </a:cxn>
                <a:cxn ang="0">
                  <a:pos x="23" y="0"/>
                </a:cxn>
              </a:cxnLst>
              <a:rect l="txL" t="txT" r="txR" b="txB"/>
              <a:pathLst>
                <a:path w="23" h="60">
                  <a:moveTo>
                    <a:pt x="23" y="0"/>
                  </a:moveTo>
                  <a:lnTo>
                    <a:pt x="0" y="60"/>
                  </a:lnTo>
                  <a:lnTo>
                    <a:pt x="23"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30" name="Freeform 237"/>
            <p:cNvSpPr>
              <a:spLocks noEditPoints="1"/>
            </p:cNvSpPr>
            <p:nvPr/>
          </p:nvSpPr>
          <p:spPr>
            <a:xfrm>
              <a:off x="3003" y="971"/>
              <a:ext cx="30" cy="60"/>
            </a:xfrm>
            <a:custGeom>
              <a:avLst/>
              <a:gdLst>
                <a:gd name="txL" fmla="*/ 0 w 30"/>
                <a:gd name="txT" fmla="*/ 0 h 60"/>
                <a:gd name="txR" fmla="*/ 30 w 30"/>
                <a:gd name="txB" fmla="*/ 60 h 60"/>
              </a:gdLst>
              <a:ahLst/>
              <a:cxnLst>
                <a:cxn ang="0">
                  <a:pos x="30" y="60"/>
                </a:cxn>
                <a:cxn ang="0">
                  <a:pos x="0" y="0"/>
                </a:cxn>
                <a:cxn ang="0">
                  <a:pos x="30" y="60"/>
                </a:cxn>
                <a:cxn ang="0">
                  <a:pos x="30" y="60"/>
                </a:cxn>
                <a:cxn ang="0">
                  <a:pos x="30" y="60"/>
                </a:cxn>
                <a:cxn ang="0">
                  <a:pos x="30" y="60"/>
                </a:cxn>
                <a:cxn ang="0">
                  <a:pos x="30" y="60"/>
                </a:cxn>
              </a:cxnLst>
              <a:rect l="txL" t="txT" r="txR" b="txB"/>
              <a:pathLst>
                <a:path w="30" h="60">
                  <a:moveTo>
                    <a:pt x="30" y="60"/>
                  </a:moveTo>
                  <a:lnTo>
                    <a:pt x="0" y="0"/>
                  </a:lnTo>
                  <a:lnTo>
                    <a:pt x="30" y="60"/>
                  </a:lnTo>
                  <a:close/>
                  <a:moveTo>
                    <a:pt x="30" y="60"/>
                  </a:moveTo>
                  <a:lnTo>
                    <a:pt x="30"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31" name="Freeform 238"/>
            <p:cNvSpPr>
              <a:spLocks noEditPoints="1"/>
            </p:cNvSpPr>
            <p:nvPr/>
          </p:nvSpPr>
          <p:spPr>
            <a:xfrm>
              <a:off x="2979" y="912"/>
              <a:ext cx="24" cy="59"/>
            </a:xfrm>
            <a:custGeom>
              <a:avLst/>
              <a:gdLst>
                <a:gd name="txL" fmla="*/ 0 w 24"/>
                <a:gd name="txT" fmla="*/ 0 h 59"/>
                <a:gd name="txR" fmla="*/ 24 w 24"/>
                <a:gd name="txB" fmla="*/ 59 h 59"/>
              </a:gdLst>
              <a:ahLst/>
              <a:cxnLst>
                <a:cxn ang="0">
                  <a:pos x="24" y="59"/>
                </a:cxn>
                <a:cxn ang="0">
                  <a:pos x="0" y="0"/>
                </a:cxn>
                <a:cxn ang="0">
                  <a:pos x="24" y="59"/>
                </a:cxn>
                <a:cxn ang="0">
                  <a:pos x="24" y="59"/>
                </a:cxn>
                <a:cxn ang="0">
                  <a:pos x="24" y="59"/>
                </a:cxn>
                <a:cxn ang="0">
                  <a:pos x="24" y="59"/>
                </a:cxn>
                <a:cxn ang="0">
                  <a:pos x="24" y="59"/>
                </a:cxn>
              </a:cxnLst>
              <a:rect l="txL" t="txT" r="txR" b="txB"/>
              <a:pathLst>
                <a:path w="24" h="59">
                  <a:moveTo>
                    <a:pt x="24" y="59"/>
                  </a:moveTo>
                  <a:lnTo>
                    <a:pt x="0" y="0"/>
                  </a:lnTo>
                  <a:lnTo>
                    <a:pt x="24" y="59"/>
                  </a:lnTo>
                  <a:close/>
                  <a:moveTo>
                    <a:pt x="24" y="59"/>
                  </a:moveTo>
                  <a:lnTo>
                    <a:pt x="24"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32" name="Freeform 239"/>
            <p:cNvSpPr>
              <a:spLocks noEditPoints="1"/>
            </p:cNvSpPr>
            <p:nvPr/>
          </p:nvSpPr>
          <p:spPr>
            <a:xfrm>
              <a:off x="2955" y="912"/>
              <a:ext cx="24" cy="59"/>
            </a:xfrm>
            <a:custGeom>
              <a:avLst/>
              <a:gdLst>
                <a:gd name="txL" fmla="*/ 0 w 24"/>
                <a:gd name="txT" fmla="*/ 0 h 59"/>
                <a:gd name="txR" fmla="*/ 24 w 24"/>
                <a:gd name="txB" fmla="*/ 59 h 59"/>
              </a:gdLst>
              <a:ahLst/>
              <a:cxnLst>
                <a:cxn ang="0">
                  <a:pos x="24" y="0"/>
                </a:cxn>
                <a:cxn ang="0">
                  <a:pos x="0" y="59"/>
                </a:cxn>
                <a:cxn ang="0">
                  <a:pos x="24" y="0"/>
                </a:cxn>
                <a:cxn ang="0">
                  <a:pos x="24" y="0"/>
                </a:cxn>
                <a:cxn ang="0">
                  <a:pos x="24" y="0"/>
                </a:cxn>
                <a:cxn ang="0">
                  <a:pos x="24" y="0"/>
                </a:cxn>
                <a:cxn ang="0">
                  <a:pos x="24" y="0"/>
                </a:cxn>
              </a:cxnLst>
              <a:rect l="txL" t="txT" r="txR" b="txB"/>
              <a:pathLst>
                <a:path w="24" h="59">
                  <a:moveTo>
                    <a:pt x="24" y="0"/>
                  </a:moveTo>
                  <a:lnTo>
                    <a:pt x="0" y="59"/>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33" name="Freeform 240"/>
            <p:cNvSpPr>
              <a:spLocks noEditPoints="1"/>
            </p:cNvSpPr>
            <p:nvPr/>
          </p:nvSpPr>
          <p:spPr>
            <a:xfrm>
              <a:off x="2955" y="971"/>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34" name="Freeform 241"/>
            <p:cNvSpPr>
              <a:spLocks noEditPoints="1"/>
            </p:cNvSpPr>
            <p:nvPr/>
          </p:nvSpPr>
          <p:spPr>
            <a:xfrm>
              <a:off x="2931" y="971"/>
              <a:ext cx="24" cy="60"/>
            </a:xfrm>
            <a:custGeom>
              <a:avLst/>
              <a:gdLst>
                <a:gd name="txL" fmla="*/ 0 w 24"/>
                <a:gd name="txT" fmla="*/ 0 h 60"/>
                <a:gd name="txR" fmla="*/ 24 w 24"/>
                <a:gd name="txB" fmla="*/ 60 h 60"/>
              </a:gdLst>
              <a:ahLst/>
              <a:cxnLst>
                <a:cxn ang="0">
                  <a:pos x="24" y="0"/>
                </a:cxn>
                <a:cxn ang="0">
                  <a:pos x="0" y="60"/>
                </a:cxn>
                <a:cxn ang="0">
                  <a:pos x="24" y="0"/>
                </a:cxn>
                <a:cxn ang="0">
                  <a:pos x="24" y="0"/>
                </a:cxn>
                <a:cxn ang="0">
                  <a:pos x="24" y="0"/>
                </a:cxn>
                <a:cxn ang="0">
                  <a:pos x="24" y="0"/>
                </a:cxn>
                <a:cxn ang="0">
                  <a:pos x="24" y="0"/>
                </a:cxn>
              </a:cxnLst>
              <a:rect l="txL" t="txT" r="txR" b="txB"/>
              <a:pathLst>
                <a:path w="24" h="60">
                  <a:moveTo>
                    <a:pt x="24" y="0"/>
                  </a:moveTo>
                  <a:lnTo>
                    <a:pt x="0" y="60"/>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35" name="Freeform 242"/>
            <p:cNvSpPr>
              <a:spLocks noEditPoints="1"/>
            </p:cNvSpPr>
            <p:nvPr/>
          </p:nvSpPr>
          <p:spPr>
            <a:xfrm>
              <a:off x="2907" y="971"/>
              <a:ext cx="24" cy="60"/>
            </a:xfrm>
            <a:custGeom>
              <a:avLst/>
              <a:gdLst>
                <a:gd name="txL" fmla="*/ 0 w 24"/>
                <a:gd name="txT" fmla="*/ 0 h 60"/>
                <a:gd name="txR" fmla="*/ 24 w 24"/>
                <a:gd name="txB" fmla="*/ 60 h 60"/>
              </a:gdLst>
              <a:ahLst/>
              <a:cxnLst>
                <a:cxn ang="0">
                  <a:pos x="24" y="60"/>
                </a:cxn>
                <a:cxn ang="0">
                  <a:pos x="0" y="0"/>
                </a:cxn>
                <a:cxn ang="0">
                  <a:pos x="24" y="60"/>
                </a:cxn>
                <a:cxn ang="0">
                  <a:pos x="24" y="60"/>
                </a:cxn>
                <a:cxn ang="0">
                  <a:pos x="24" y="60"/>
                </a:cxn>
                <a:cxn ang="0">
                  <a:pos x="24" y="60"/>
                </a:cxn>
                <a:cxn ang="0">
                  <a:pos x="24" y="60"/>
                </a:cxn>
              </a:cxnLst>
              <a:rect l="txL" t="txT" r="txR" b="txB"/>
              <a:pathLst>
                <a:path w="24" h="60">
                  <a:moveTo>
                    <a:pt x="24" y="60"/>
                  </a:moveTo>
                  <a:lnTo>
                    <a:pt x="0" y="0"/>
                  </a:lnTo>
                  <a:lnTo>
                    <a:pt x="24" y="60"/>
                  </a:lnTo>
                  <a:close/>
                  <a:moveTo>
                    <a:pt x="24" y="60"/>
                  </a:moveTo>
                  <a:lnTo>
                    <a:pt x="24"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36" name="Freeform 243"/>
            <p:cNvSpPr>
              <a:spLocks noEditPoints="1"/>
            </p:cNvSpPr>
            <p:nvPr/>
          </p:nvSpPr>
          <p:spPr>
            <a:xfrm>
              <a:off x="2883" y="912"/>
              <a:ext cx="24" cy="59"/>
            </a:xfrm>
            <a:custGeom>
              <a:avLst/>
              <a:gdLst>
                <a:gd name="txL" fmla="*/ 0 w 24"/>
                <a:gd name="txT" fmla="*/ 0 h 59"/>
                <a:gd name="txR" fmla="*/ 24 w 24"/>
                <a:gd name="txB" fmla="*/ 59 h 59"/>
              </a:gdLst>
              <a:ahLst/>
              <a:cxnLst>
                <a:cxn ang="0">
                  <a:pos x="24" y="59"/>
                </a:cxn>
                <a:cxn ang="0">
                  <a:pos x="0" y="0"/>
                </a:cxn>
                <a:cxn ang="0">
                  <a:pos x="24" y="59"/>
                </a:cxn>
                <a:cxn ang="0">
                  <a:pos x="24" y="59"/>
                </a:cxn>
                <a:cxn ang="0">
                  <a:pos x="24" y="59"/>
                </a:cxn>
                <a:cxn ang="0">
                  <a:pos x="24" y="59"/>
                </a:cxn>
                <a:cxn ang="0">
                  <a:pos x="24" y="59"/>
                </a:cxn>
              </a:cxnLst>
              <a:rect l="txL" t="txT" r="txR" b="txB"/>
              <a:pathLst>
                <a:path w="24" h="59">
                  <a:moveTo>
                    <a:pt x="24" y="59"/>
                  </a:moveTo>
                  <a:lnTo>
                    <a:pt x="0" y="0"/>
                  </a:lnTo>
                  <a:lnTo>
                    <a:pt x="24" y="59"/>
                  </a:lnTo>
                  <a:close/>
                  <a:moveTo>
                    <a:pt x="24" y="59"/>
                  </a:moveTo>
                  <a:lnTo>
                    <a:pt x="24"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37" name="Freeform 244"/>
            <p:cNvSpPr>
              <a:spLocks noEditPoints="1"/>
            </p:cNvSpPr>
            <p:nvPr/>
          </p:nvSpPr>
          <p:spPr>
            <a:xfrm>
              <a:off x="2859" y="912"/>
              <a:ext cx="24" cy="59"/>
            </a:xfrm>
            <a:custGeom>
              <a:avLst/>
              <a:gdLst>
                <a:gd name="txL" fmla="*/ 0 w 24"/>
                <a:gd name="txT" fmla="*/ 0 h 59"/>
                <a:gd name="txR" fmla="*/ 24 w 24"/>
                <a:gd name="txB" fmla="*/ 59 h 59"/>
              </a:gdLst>
              <a:ahLst/>
              <a:cxnLst>
                <a:cxn ang="0">
                  <a:pos x="24" y="0"/>
                </a:cxn>
                <a:cxn ang="0">
                  <a:pos x="0" y="59"/>
                </a:cxn>
                <a:cxn ang="0">
                  <a:pos x="24" y="0"/>
                </a:cxn>
                <a:cxn ang="0">
                  <a:pos x="24" y="0"/>
                </a:cxn>
                <a:cxn ang="0">
                  <a:pos x="24" y="0"/>
                </a:cxn>
                <a:cxn ang="0">
                  <a:pos x="24" y="0"/>
                </a:cxn>
                <a:cxn ang="0">
                  <a:pos x="24" y="0"/>
                </a:cxn>
              </a:cxnLst>
              <a:rect l="txL" t="txT" r="txR" b="txB"/>
              <a:pathLst>
                <a:path w="24" h="59">
                  <a:moveTo>
                    <a:pt x="24" y="0"/>
                  </a:moveTo>
                  <a:lnTo>
                    <a:pt x="0" y="59"/>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38" name="Freeform 245"/>
            <p:cNvSpPr>
              <a:spLocks noEditPoints="1"/>
            </p:cNvSpPr>
            <p:nvPr/>
          </p:nvSpPr>
          <p:spPr>
            <a:xfrm>
              <a:off x="2829" y="971"/>
              <a:ext cx="30" cy="60"/>
            </a:xfrm>
            <a:custGeom>
              <a:avLst/>
              <a:gdLst>
                <a:gd name="txL" fmla="*/ 0 w 30"/>
                <a:gd name="txT" fmla="*/ 0 h 60"/>
                <a:gd name="txR" fmla="*/ 30 w 30"/>
                <a:gd name="txB" fmla="*/ 60 h 60"/>
              </a:gdLst>
              <a:ahLst/>
              <a:cxnLst>
                <a:cxn ang="0">
                  <a:pos x="30" y="0"/>
                </a:cxn>
                <a:cxn ang="0">
                  <a:pos x="0" y="60"/>
                </a:cxn>
                <a:cxn ang="0">
                  <a:pos x="30" y="0"/>
                </a:cxn>
                <a:cxn ang="0">
                  <a:pos x="30" y="0"/>
                </a:cxn>
                <a:cxn ang="0">
                  <a:pos x="30" y="0"/>
                </a:cxn>
                <a:cxn ang="0">
                  <a:pos x="30" y="0"/>
                </a:cxn>
                <a:cxn ang="0">
                  <a:pos x="30" y="0"/>
                </a:cxn>
              </a:cxnLst>
              <a:rect l="txL" t="txT" r="txR" b="txB"/>
              <a:pathLst>
                <a:path w="30" h="60">
                  <a:moveTo>
                    <a:pt x="30" y="0"/>
                  </a:moveTo>
                  <a:lnTo>
                    <a:pt x="0" y="60"/>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39" name="Freeform 246"/>
            <p:cNvSpPr>
              <a:spLocks noEditPoints="1"/>
            </p:cNvSpPr>
            <p:nvPr/>
          </p:nvSpPr>
          <p:spPr>
            <a:xfrm>
              <a:off x="2805" y="971"/>
              <a:ext cx="24" cy="60"/>
            </a:xfrm>
            <a:custGeom>
              <a:avLst/>
              <a:gdLst>
                <a:gd name="txL" fmla="*/ 0 w 24"/>
                <a:gd name="txT" fmla="*/ 0 h 60"/>
                <a:gd name="txR" fmla="*/ 24 w 24"/>
                <a:gd name="txB" fmla="*/ 60 h 60"/>
              </a:gdLst>
              <a:ahLst/>
              <a:cxnLst>
                <a:cxn ang="0">
                  <a:pos x="24" y="60"/>
                </a:cxn>
                <a:cxn ang="0">
                  <a:pos x="0" y="0"/>
                </a:cxn>
                <a:cxn ang="0">
                  <a:pos x="24" y="60"/>
                </a:cxn>
                <a:cxn ang="0">
                  <a:pos x="24" y="60"/>
                </a:cxn>
                <a:cxn ang="0">
                  <a:pos x="24" y="60"/>
                </a:cxn>
                <a:cxn ang="0">
                  <a:pos x="24" y="60"/>
                </a:cxn>
                <a:cxn ang="0">
                  <a:pos x="24" y="60"/>
                </a:cxn>
              </a:cxnLst>
              <a:rect l="txL" t="txT" r="txR" b="txB"/>
              <a:pathLst>
                <a:path w="24" h="60">
                  <a:moveTo>
                    <a:pt x="24" y="60"/>
                  </a:moveTo>
                  <a:lnTo>
                    <a:pt x="0" y="0"/>
                  </a:lnTo>
                  <a:lnTo>
                    <a:pt x="24" y="60"/>
                  </a:lnTo>
                  <a:close/>
                  <a:moveTo>
                    <a:pt x="24" y="60"/>
                  </a:moveTo>
                  <a:lnTo>
                    <a:pt x="24"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40" name="Freeform 247"/>
            <p:cNvSpPr>
              <a:spLocks noEditPoints="1"/>
            </p:cNvSpPr>
            <p:nvPr/>
          </p:nvSpPr>
          <p:spPr>
            <a:xfrm>
              <a:off x="2781" y="912"/>
              <a:ext cx="24" cy="59"/>
            </a:xfrm>
            <a:custGeom>
              <a:avLst/>
              <a:gdLst>
                <a:gd name="txL" fmla="*/ 0 w 24"/>
                <a:gd name="txT" fmla="*/ 0 h 59"/>
                <a:gd name="txR" fmla="*/ 24 w 24"/>
                <a:gd name="txB" fmla="*/ 59 h 59"/>
              </a:gdLst>
              <a:ahLst/>
              <a:cxnLst>
                <a:cxn ang="0">
                  <a:pos x="24" y="59"/>
                </a:cxn>
                <a:cxn ang="0">
                  <a:pos x="0" y="0"/>
                </a:cxn>
                <a:cxn ang="0">
                  <a:pos x="24" y="59"/>
                </a:cxn>
                <a:cxn ang="0">
                  <a:pos x="24" y="59"/>
                </a:cxn>
                <a:cxn ang="0">
                  <a:pos x="24" y="59"/>
                </a:cxn>
                <a:cxn ang="0">
                  <a:pos x="24" y="59"/>
                </a:cxn>
                <a:cxn ang="0">
                  <a:pos x="24" y="59"/>
                </a:cxn>
              </a:cxnLst>
              <a:rect l="txL" t="txT" r="txR" b="txB"/>
              <a:pathLst>
                <a:path w="24" h="59">
                  <a:moveTo>
                    <a:pt x="24" y="59"/>
                  </a:moveTo>
                  <a:lnTo>
                    <a:pt x="0" y="0"/>
                  </a:lnTo>
                  <a:lnTo>
                    <a:pt x="24" y="59"/>
                  </a:lnTo>
                  <a:close/>
                  <a:moveTo>
                    <a:pt x="24" y="59"/>
                  </a:moveTo>
                  <a:lnTo>
                    <a:pt x="24"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41" name="Freeform 248"/>
            <p:cNvSpPr>
              <a:spLocks noEditPoints="1"/>
            </p:cNvSpPr>
            <p:nvPr/>
          </p:nvSpPr>
          <p:spPr>
            <a:xfrm>
              <a:off x="2757" y="912"/>
              <a:ext cx="24" cy="59"/>
            </a:xfrm>
            <a:custGeom>
              <a:avLst/>
              <a:gdLst>
                <a:gd name="txL" fmla="*/ 0 w 24"/>
                <a:gd name="txT" fmla="*/ 0 h 59"/>
                <a:gd name="txR" fmla="*/ 24 w 24"/>
                <a:gd name="txB" fmla="*/ 59 h 59"/>
              </a:gdLst>
              <a:ahLst/>
              <a:cxnLst>
                <a:cxn ang="0">
                  <a:pos x="24" y="0"/>
                </a:cxn>
                <a:cxn ang="0">
                  <a:pos x="0" y="59"/>
                </a:cxn>
                <a:cxn ang="0">
                  <a:pos x="24" y="0"/>
                </a:cxn>
                <a:cxn ang="0">
                  <a:pos x="24" y="0"/>
                </a:cxn>
                <a:cxn ang="0">
                  <a:pos x="24" y="0"/>
                </a:cxn>
                <a:cxn ang="0">
                  <a:pos x="24" y="0"/>
                </a:cxn>
                <a:cxn ang="0">
                  <a:pos x="24" y="0"/>
                </a:cxn>
              </a:cxnLst>
              <a:rect l="txL" t="txT" r="txR" b="txB"/>
              <a:pathLst>
                <a:path w="24" h="59">
                  <a:moveTo>
                    <a:pt x="24" y="0"/>
                  </a:moveTo>
                  <a:lnTo>
                    <a:pt x="0" y="59"/>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42" name="Freeform 249"/>
            <p:cNvSpPr>
              <a:spLocks noEditPoints="1"/>
            </p:cNvSpPr>
            <p:nvPr/>
          </p:nvSpPr>
          <p:spPr>
            <a:xfrm>
              <a:off x="2733" y="971"/>
              <a:ext cx="24" cy="60"/>
            </a:xfrm>
            <a:custGeom>
              <a:avLst/>
              <a:gdLst>
                <a:gd name="txL" fmla="*/ 0 w 24"/>
                <a:gd name="txT" fmla="*/ 0 h 60"/>
                <a:gd name="txR" fmla="*/ 24 w 24"/>
                <a:gd name="txB" fmla="*/ 60 h 60"/>
              </a:gdLst>
              <a:ahLst/>
              <a:cxnLst>
                <a:cxn ang="0">
                  <a:pos x="24" y="0"/>
                </a:cxn>
                <a:cxn ang="0">
                  <a:pos x="0" y="60"/>
                </a:cxn>
                <a:cxn ang="0">
                  <a:pos x="24" y="0"/>
                </a:cxn>
                <a:cxn ang="0">
                  <a:pos x="24" y="0"/>
                </a:cxn>
                <a:cxn ang="0">
                  <a:pos x="24" y="0"/>
                </a:cxn>
                <a:cxn ang="0">
                  <a:pos x="24" y="0"/>
                </a:cxn>
                <a:cxn ang="0">
                  <a:pos x="24" y="0"/>
                </a:cxn>
              </a:cxnLst>
              <a:rect l="txL" t="txT" r="txR" b="txB"/>
              <a:pathLst>
                <a:path w="24" h="60">
                  <a:moveTo>
                    <a:pt x="24" y="0"/>
                  </a:moveTo>
                  <a:lnTo>
                    <a:pt x="0" y="60"/>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43" name="Freeform 250"/>
            <p:cNvSpPr>
              <a:spLocks noEditPoints="1"/>
            </p:cNvSpPr>
            <p:nvPr/>
          </p:nvSpPr>
          <p:spPr>
            <a:xfrm>
              <a:off x="2710" y="971"/>
              <a:ext cx="23" cy="60"/>
            </a:xfrm>
            <a:custGeom>
              <a:avLst/>
              <a:gdLst>
                <a:gd name="txL" fmla="*/ 0 w 23"/>
                <a:gd name="txT" fmla="*/ 0 h 60"/>
                <a:gd name="txR" fmla="*/ 23 w 23"/>
                <a:gd name="txB" fmla="*/ 60 h 60"/>
              </a:gdLst>
              <a:ahLst/>
              <a:cxnLst>
                <a:cxn ang="0">
                  <a:pos x="23" y="60"/>
                </a:cxn>
                <a:cxn ang="0">
                  <a:pos x="0" y="0"/>
                </a:cxn>
                <a:cxn ang="0">
                  <a:pos x="23" y="60"/>
                </a:cxn>
                <a:cxn ang="0">
                  <a:pos x="23" y="60"/>
                </a:cxn>
                <a:cxn ang="0">
                  <a:pos x="23" y="60"/>
                </a:cxn>
                <a:cxn ang="0">
                  <a:pos x="23" y="60"/>
                </a:cxn>
                <a:cxn ang="0">
                  <a:pos x="23" y="60"/>
                </a:cxn>
              </a:cxnLst>
              <a:rect l="txL" t="txT" r="txR" b="txB"/>
              <a:pathLst>
                <a:path w="23" h="60">
                  <a:moveTo>
                    <a:pt x="23" y="60"/>
                  </a:moveTo>
                  <a:lnTo>
                    <a:pt x="0" y="0"/>
                  </a:lnTo>
                  <a:lnTo>
                    <a:pt x="23" y="60"/>
                  </a:lnTo>
                  <a:close/>
                  <a:moveTo>
                    <a:pt x="23" y="60"/>
                  </a:moveTo>
                  <a:lnTo>
                    <a:pt x="23"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44" name="Freeform 251"/>
            <p:cNvSpPr>
              <a:spLocks noEditPoints="1"/>
            </p:cNvSpPr>
            <p:nvPr/>
          </p:nvSpPr>
          <p:spPr>
            <a:xfrm>
              <a:off x="2686" y="912"/>
              <a:ext cx="24" cy="59"/>
            </a:xfrm>
            <a:custGeom>
              <a:avLst/>
              <a:gdLst>
                <a:gd name="txL" fmla="*/ 0 w 24"/>
                <a:gd name="txT" fmla="*/ 0 h 59"/>
                <a:gd name="txR" fmla="*/ 24 w 24"/>
                <a:gd name="txB" fmla="*/ 59 h 59"/>
              </a:gdLst>
              <a:ahLst/>
              <a:cxnLst>
                <a:cxn ang="0">
                  <a:pos x="24" y="59"/>
                </a:cxn>
                <a:cxn ang="0">
                  <a:pos x="0" y="0"/>
                </a:cxn>
                <a:cxn ang="0">
                  <a:pos x="24" y="59"/>
                </a:cxn>
                <a:cxn ang="0">
                  <a:pos x="24" y="59"/>
                </a:cxn>
                <a:cxn ang="0">
                  <a:pos x="24" y="59"/>
                </a:cxn>
                <a:cxn ang="0">
                  <a:pos x="24" y="59"/>
                </a:cxn>
                <a:cxn ang="0">
                  <a:pos x="24" y="59"/>
                </a:cxn>
              </a:cxnLst>
              <a:rect l="txL" t="txT" r="txR" b="txB"/>
              <a:pathLst>
                <a:path w="24" h="59">
                  <a:moveTo>
                    <a:pt x="24" y="59"/>
                  </a:moveTo>
                  <a:lnTo>
                    <a:pt x="0" y="0"/>
                  </a:lnTo>
                  <a:lnTo>
                    <a:pt x="24" y="59"/>
                  </a:lnTo>
                  <a:close/>
                  <a:moveTo>
                    <a:pt x="24" y="59"/>
                  </a:moveTo>
                  <a:lnTo>
                    <a:pt x="24"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45" name="Freeform 252"/>
            <p:cNvSpPr>
              <a:spLocks noEditPoints="1"/>
            </p:cNvSpPr>
            <p:nvPr/>
          </p:nvSpPr>
          <p:spPr>
            <a:xfrm>
              <a:off x="2656" y="912"/>
              <a:ext cx="30" cy="65"/>
            </a:xfrm>
            <a:custGeom>
              <a:avLst/>
              <a:gdLst>
                <a:gd name="txL" fmla="*/ 0 w 30"/>
                <a:gd name="txT" fmla="*/ 0 h 65"/>
                <a:gd name="txR" fmla="*/ 30 w 30"/>
                <a:gd name="txB" fmla="*/ 65 h 65"/>
              </a:gdLst>
              <a:ahLst/>
              <a:cxnLst>
                <a:cxn ang="0">
                  <a:pos x="30" y="0"/>
                </a:cxn>
                <a:cxn ang="0">
                  <a:pos x="0" y="65"/>
                </a:cxn>
                <a:cxn ang="0">
                  <a:pos x="30" y="0"/>
                </a:cxn>
                <a:cxn ang="0">
                  <a:pos x="30" y="0"/>
                </a:cxn>
                <a:cxn ang="0">
                  <a:pos x="30" y="0"/>
                </a:cxn>
                <a:cxn ang="0">
                  <a:pos x="30" y="0"/>
                </a:cxn>
                <a:cxn ang="0">
                  <a:pos x="30" y="0"/>
                </a:cxn>
              </a:cxnLst>
              <a:rect l="txL" t="txT" r="txR" b="txB"/>
              <a:pathLst>
                <a:path w="30" h="65">
                  <a:moveTo>
                    <a:pt x="30" y="0"/>
                  </a:moveTo>
                  <a:lnTo>
                    <a:pt x="0" y="65"/>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46" name="Freeform 253"/>
            <p:cNvSpPr/>
            <p:nvPr/>
          </p:nvSpPr>
          <p:spPr>
            <a:xfrm>
              <a:off x="3583" y="2052"/>
              <a:ext cx="251" cy="352"/>
            </a:xfrm>
            <a:custGeom>
              <a:avLst/>
              <a:gdLst>
                <a:gd name="txL" fmla="*/ 0 w 251"/>
                <a:gd name="txT" fmla="*/ 0 h 352"/>
                <a:gd name="txR" fmla="*/ 251 w 251"/>
                <a:gd name="txB" fmla="*/ 352 h 352"/>
              </a:gdLst>
              <a:ahLst/>
              <a:cxnLst>
                <a:cxn ang="0">
                  <a:pos x="42" y="352"/>
                </a:cxn>
                <a:cxn ang="0">
                  <a:pos x="0" y="322"/>
                </a:cxn>
                <a:cxn ang="0">
                  <a:pos x="215" y="0"/>
                </a:cxn>
                <a:cxn ang="0">
                  <a:pos x="251" y="24"/>
                </a:cxn>
                <a:cxn ang="0">
                  <a:pos x="42" y="352"/>
                </a:cxn>
                <a:cxn ang="0">
                  <a:pos x="42" y="352"/>
                </a:cxn>
              </a:cxnLst>
              <a:rect l="txL" t="txT" r="txR" b="txB"/>
              <a:pathLst>
                <a:path w="251" h="352">
                  <a:moveTo>
                    <a:pt x="42" y="352"/>
                  </a:moveTo>
                  <a:lnTo>
                    <a:pt x="0" y="322"/>
                  </a:lnTo>
                  <a:lnTo>
                    <a:pt x="215" y="0"/>
                  </a:lnTo>
                  <a:lnTo>
                    <a:pt x="251" y="24"/>
                  </a:lnTo>
                  <a:lnTo>
                    <a:pt x="42" y="352"/>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1547" name="Freeform 254"/>
            <p:cNvSpPr/>
            <p:nvPr/>
          </p:nvSpPr>
          <p:spPr>
            <a:xfrm>
              <a:off x="3816" y="2058"/>
              <a:ext cx="36" cy="54"/>
            </a:xfrm>
            <a:custGeom>
              <a:avLst/>
              <a:gdLst>
                <a:gd name="txL" fmla="*/ 0 w 36"/>
                <a:gd name="txT" fmla="*/ 0 h 54"/>
                <a:gd name="txR" fmla="*/ 36 w 36"/>
                <a:gd name="txB" fmla="*/ 54 h 54"/>
              </a:gdLst>
              <a:ahLst/>
              <a:cxnLst>
                <a:cxn ang="0">
                  <a:pos x="0" y="0"/>
                </a:cxn>
                <a:cxn ang="0">
                  <a:pos x="36" y="54"/>
                </a:cxn>
                <a:cxn ang="0">
                  <a:pos x="0" y="0"/>
                </a:cxn>
                <a:cxn ang="0">
                  <a:pos x="0" y="0"/>
                </a:cxn>
              </a:cxnLst>
              <a:rect l="txL" t="txT" r="txR" b="txB"/>
              <a:pathLst>
                <a:path w="36" h="54">
                  <a:moveTo>
                    <a:pt x="0" y="0"/>
                  </a:moveTo>
                  <a:lnTo>
                    <a:pt x="36" y="54"/>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48" name="Freeform 255"/>
            <p:cNvSpPr>
              <a:spLocks noEditPoints="1"/>
            </p:cNvSpPr>
            <p:nvPr/>
          </p:nvSpPr>
          <p:spPr>
            <a:xfrm>
              <a:off x="3792" y="2100"/>
              <a:ext cx="60" cy="12"/>
            </a:xfrm>
            <a:custGeom>
              <a:avLst/>
              <a:gdLst>
                <a:gd name="txL" fmla="*/ 0 w 60"/>
                <a:gd name="txT" fmla="*/ 0 h 12"/>
                <a:gd name="txR" fmla="*/ 60 w 60"/>
                <a:gd name="txB" fmla="*/ 12 h 12"/>
              </a:gdLst>
              <a:ahLst/>
              <a:cxnLst>
                <a:cxn ang="0">
                  <a:pos x="60" y="12"/>
                </a:cxn>
                <a:cxn ang="0">
                  <a:pos x="0" y="0"/>
                </a:cxn>
                <a:cxn ang="0">
                  <a:pos x="60" y="12"/>
                </a:cxn>
                <a:cxn ang="0">
                  <a:pos x="60" y="12"/>
                </a:cxn>
                <a:cxn ang="0">
                  <a:pos x="60" y="12"/>
                </a:cxn>
                <a:cxn ang="0">
                  <a:pos x="60" y="12"/>
                </a:cxn>
                <a:cxn ang="0">
                  <a:pos x="60" y="12"/>
                </a:cxn>
              </a:cxnLst>
              <a:rect l="txL" t="txT" r="txR" b="txB"/>
              <a:pathLst>
                <a:path w="60" h="12">
                  <a:moveTo>
                    <a:pt x="60" y="12"/>
                  </a:moveTo>
                  <a:lnTo>
                    <a:pt x="0" y="0"/>
                  </a:lnTo>
                  <a:lnTo>
                    <a:pt x="60" y="12"/>
                  </a:lnTo>
                  <a:close/>
                  <a:moveTo>
                    <a:pt x="60" y="12"/>
                  </a:moveTo>
                  <a:lnTo>
                    <a:pt x="6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49" name="Freeform 256"/>
            <p:cNvSpPr>
              <a:spLocks noEditPoints="1"/>
            </p:cNvSpPr>
            <p:nvPr/>
          </p:nvSpPr>
          <p:spPr>
            <a:xfrm>
              <a:off x="3726" y="2088"/>
              <a:ext cx="66" cy="12"/>
            </a:xfrm>
            <a:custGeom>
              <a:avLst/>
              <a:gdLst>
                <a:gd name="txL" fmla="*/ 0 w 66"/>
                <a:gd name="txT" fmla="*/ 0 h 12"/>
                <a:gd name="txR" fmla="*/ 66 w 66"/>
                <a:gd name="txB" fmla="*/ 12 h 12"/>
              </a:gdLst>
              <a:ahLst/>
              <a:cxnLst>
                <a:cxn ang="0">
                  <a:pos x="66" y="12"/>
                </a:cxn>
                <a:cxn ang="0">
                  <a:pos x="0" y="0"/>
                </a:cxn>
                <a:cxn ang="0">
                  <a:pos x="66" y="12"/>
                </a:cxn>
                <a:cxn ang="0">
                  <a:pos x="66" y="12"/>
                </a:cxn>
                <a:cxn ang="0">
                  <a:pos x="66" y="12"/>
                </a:cxn>
                <a:cxn ang="0">
                  <a:pos x="66" y="12"/>
                </a:cxn>
                <a:cxn ang="0">
                  <a:pos x="66" y="12"/>
                </a:cxn>
              </a:cxnLst>
              <a:rect l="txL" t="txT" r="txR" b="txB"/>
              <a:pathLst>
                <a:path w="66" h="12">
                  <a:moveTo>
                    <a:pt x="66" y="12"/>
                  </a:moveTo>
                  <a:lnTo>
                    <a:pt x="0" y="0"/>
                  </a:lnTo>
                  <a:lnTo>
                    <a:pt x="66" y="12"/>
                  </a:lnTo>
                  <a:close/>
                  <a:moveTo>
                    <a:pt x="66" y="12"/>
                  </a:moveTo>
                  <a:lnTo>
                    <a:pt x="66"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50" name="Freeform 257"/>
            <p:cNvSpPr>
              <a:spLocks noEditPoints="1"/>
            </p:cNvSpPr>
            <p:nvPr/>
          </p:nvSpPr>
          <p:spPr>
            <a:xfrm>
              <a:off x="3726" y="2088"/>
              <a:ext cx="36" cy="54"/>
            </a:xfrm>
            <a:custGeom>
              <a:avLst/>
              <a:gdLst>
                <a:gd name="txL" fmla="*/ 0 w 36"/>
                <a:gd name="txT" fmla="*/ 0 h 54"/>
                <a:gd name="txR" fmla="*/ 36 w 36"/>
                <a:gd name="txB" fmla="*/ 54 h 54"/>
              </a:gdLst>
              <a:ahLst/>
              <a:cxnLst>
                <a:cxn ang="0">
                  <a:pos x="0" y="0"/>
                </a:cxn>
                <a:cxn ang="0">
                  <a:pos x="36" y="54"/>
                </a:cxn>
                <a:cxn ang="0">
                  <a:pos x="0" y="0"/>
                </a:cxn>
                <a:cxn ang="0">
                  <a:pos x="0" y="0"/>
                </a:cxn>
                <a:cxn ang="0">
                  <a:pos x="0" y="0"/>
                </a:cxn>
                <a:cxn ang="0">
                  <a:pos x="0" y="0"/>
                </a:cxn>
                <a:cxn ang="0">
                  <a:pos x="0" y="0"/>
                </a:cxn>
              </a:cxnLst>
              <a:rect l="txL" t="txT" r="txR" b="txB"/>
              <a:pathLst>
                <a:path w="36" h="54">
                  <a:moveTo>
                    <a:pt x="0" y="0"/>
                  </a:moveTo>
                  <a:lnTo>
                    <a:pt x="36" y="54"/>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51" name="Freeform 258"/>
            <p:cNvSpPr>
              <a:spLocks noEditPoints="1"/>
            </p:cNvSpPr>
            <p:nvPr/>
          </p:nvSpPr>
          <p:spPr>
            <a:xfrm>
              <a:off x="3762" y="2142"/>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52" name="Freeform 259"/>
            <p:cNvSpPr>
              <a:spLocks noEditPoints="1"/>
            </p:cNvSpPr>
            <p:nvPr/>
          </p:nvSpPr>
          <p:spPr>
            <a:xfrm>
              <a:off x="3762" y="2142"/>
              <a:ext cx="36" cy="53"/>
            </a:xfrm>
            <a:custGeom>
              <a:avLst/>
              <a:gdLst>
                <a:gd name="txL" fmla="*/ 0 w 36"/>
                <a:gd name="txT" fmla="*/ 0 h 53"/>
                <a:gd name="txR" fmla="*/ 36 w 36"/>
                <a:gd name="txB" fmla="*/ 53 h 53"/>
              </a:gdLst>
              <a:ahLst/>
              <a:cxnLst>
                <a:cxn ang="0">
                  <a:pos x="0" y="0"/>
                </a:cxn>
                <a:cxn ang="0">
                  <a:pos x="36" y="53"/>
                </a:cxn>
                <a:cxn ang="0">
                  <a:pos x="0" y="0"/>
                </a:cxn>
                <a:cxn ang="0">
                  <a:pos x="0" y="0"/>
                </a:cxn>
                <a:cxn ang="0">
                  <a:pos x="0" y="0"/>
                </a:cxn>
                <a:cxn ang="0">
                  <a:pos x="0" y="0"/>
                </a:cxn>
                <a:cxn ang="0">
                  <a:pos x="0" y="0"/>
                </a:cxn>
              </a:cxnLst>
              <a:rect l="txL" t="txT" r="txR" b="txB"/>
              <a:pathLst>
                <a:path w="36" h="53">
                  <a:moveTo>
                    <a:pt x="0" y="0"/>
                  </a:moveTo>
                  <a:lnTo>
                    <a:pt x="36" y="53"/>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53" name="Freeform 260"/>
            <p:cNvSpPr>
              <a:spLocks noEditPoints="1"/>
            </p:cNvSpPr>
            <p:nvPr/>
          </p:nvSpPr>
          <p:spPr>
            <a:xfrm>
              <a:off x="3738" y="2183"/>
              <a:ext cx="60" cy="12"/>
            </a:xfrm>
            <a:custGeom>
              <a:avLst/>
              <a:gdLst>
                <a:gd name="txL" fmla="*/ 0 w 60"/>
                <a:gd name="txT" fmla="*/ 0 h 12"/>
                <a:gd name="txR" fmla="*/ 60 w 60"/>
                <a:gd name="txB" fmla="*/ 12 h 12"/>
              </a:gdLst>
              <a:ahLst/>
              <a:cxnLst>
                <a:cxn ang="0">
                  <a:pos x="60" y="12"/>
                </a:cxn>
                <a:cxn ang="0">
                  <a:pos x="0" y="0"/>
                </a:cxn>
                <a:cxn ang="0">
                  <a:pos x="60" y="12"/>
                </a:cxn>
                <a:cxn ang="0">
                  <a:pos x="60" y="12"/>
                </a:cxn>
                <a:cxn ang="0">
                  <a:pos x="60" y="12"/>
                </a:cxn>
                <a:cxn ang="0">
                  <a:pos x="60" y="12"/>
                </a:cxn>
                <a:cxn ang="0">
                  <a:pos x="60" y="12"/>
                </a:cxn>
              </a:cxnLst>
              <a:rect l="txL" t="txT" r="txR" b="txB"/>
              <a:pathLst>
                <a:path w="60" h="12">
                  <a:moveTo>
                    <a:pt x="60" y="12"/>
                  </a:moveTo>
                  <a:lnTo>
                    <a:pt x="0" y="0"/>
                  </a:lnTo>
                  <a:lnTo>
                    <a:pt x="60" y="12"/>
                  </a:lnTo>
                  <a:close/>
                  <a:moveTo>
                    <a:pt x="60" y="12"/>
                  </a:moveTo>
                  <a:lnTo>
                    <a:pt x="6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54" name="Freeform 261"/>
            <p:cNvSpPr>
              <a:spLocks noEditPoints="1"/>
            </p:cNvSpPr>
            <p:nvPr/>
          </p:nvSpPr>
          <p:spPr>
            <a:xfrm>
              <a:off x="3672" y="2171"/>
              <a:ext cx="66" cy="12"/>
            </a:xfrm>
            <a:custGeom>
              <a:avLst/>
              <a:gdLst>
                <a:gd name="txL" fmla="*/ 0 w 66"/>
                <a:gd name="txT" fmla="*/ 0 h 12"/>
                <a:gd name="txR" fmla="*/ 66 w 66"/>
                <a:gd name="txB" fmla="*/ 12 h 12"/>
              </a:gdLst>
              <a:ahLst/>
              <a:cxnLst>
                <a:cxn ang="0">
                  <a:pos x="66" y="12"/>
                </a:cxn>
                <a:cxn ang="0">
                  <a:pos x="0" y="0"/>
                </a:cxn>
                <a:cxn ang="0">
                  <a:pos x="66" y="12"/>
                </a:cxn>
                <a:cxn ang="0">
                  <a:pos x="66" y="12"/>
                </a:cxn>
                <a:cxn ang="0">
                  <a:pos x="66" y="12"/>
                </a:cxn>
                <a:cxn ang="0">
                  <a:pos x="66" y="12"/>
                </a:cxn>
                <a:cxn ang="0">
                  <a:pos x="66" y="12"/>
                </a:cxn>
              </a:cxnLst>
              <a:rect l="txL" t="txT" r="txR" b="txB"/>
              <a:pathLst>
                <a:path w="66" h="12">
                  <a:moveTo>
                    <a:pt x="66" y="12"/>
                  </a:moveTo>
                  <a:lnTo>
                    <a:pt x="0" y="0"/>
                  </a:lnTo>
                  <a:lnTo>
                    <a:pt x="66" y="12"/>
                  </a:lnTo>
                  <a:close/>
                  <a:moveTo>
                    <a:pt x="66" y="12"/>
                  </a:moveTo>
                  <a:lnTo>
                    <a:pt x="66"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55" name="Freeform 262"/>
            <p:cNvSpPr>
              <a:spLocks noEditPoints="1"/>
            </p:cNvSpPr>
            <p:nvPr/>
          </p:nvSpPr>
          <p:spPr>
            <a:xfrm>
              <a:off x="3672" y="2171"/>
              <a:ext cx="36" cy="54"/>
            </a:xfrm>
            <a:custGeom>
              <a:avLst/>
              <a:gdLst>
                <a:gd name="txL" fmla="*/ 0 w 36"/>
                <a:gd name="txT" fmla="*/ 0 h 54"/>
                <a:gd name="txR" fmla="*/ 36 w 36"/>
                <a:gd name="txB" fmla="*/ 54 h 54"/>
              </a:gdLst>
              <a:ahLst/>
              <a:cxnLst>
                <a:cxn ang="0">
                  <a:pos x="0" y="0"/>
                </a:cxn>
                <a:cxn ang="0">
                  <a:pos x="36" y="54"/>
                </a:cxn>
                <a:cxn ang="0">
                  <a:pos x="0" y="0"/>
                </a:cxn>
                <a:cxn ang="0">
                  <a:pos x="0" y="0"/>
                </a:cxn>
                <a:cxn ang="0">
                  <a:pos x="0" y="0"/>
                </a:cxn>
                <a:cxn ang="0">
                  <a:pos x="0" y="0"/>
                </a:cxn>
                <a:cxn ang="0">
                  <a:pos x="0" y="0"/>
                </a:cxn>
              </a:cxnLst>
              <a:rect l="txL" t="txT" r="txR" b="txB"/>
              <a:pathLst>
                <a:path w="36" h="54">
                  <a:moveTo>
                    <a:pt x="0" y="0"/>
                  </a:moveTo>
                  <a:lnTo>
                    <a:pt x="36" y="54"/>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56" name="Freeform 263"/>
            <p:cNvSpPr>
              <a:spLocks noEditPoints="1"/>
            </p:cNvSpPr>
            <p:nvPr/>
          </p:nvSpPr>
          <p:spPr>
            <a:xfrm>
              <a:off x="3708" y="2225"/>
              <a:ext cx="36" cy="54"/>
            </a:xfrm>
            <a:custGeom>
              <a:avLst/>
              <a:gdLst>
                <a:gd name="txL" fmla="*/ 0 w 36"/>
                <a:gd name="txT" fmla="*/ 0 h 54"/>
                <a:gd name="txR" fmla="*/ 36 w 36"/>
                <a:gd name="txB" fmla="*/ 54 h 54"/>
              </a:gdLst>
              <a:ahLst/>
              <a:cxnLst>
                <a:cxn ang="0">
                  <a:pos x="0" y="0"/>
                </a:cxn>
                <a:cxn ang="0">
                  <a:pos x="36" y="54"/>
                </a:cxn>
                <a:cxn ang="0">
                  <a:pos x="0" y="0"/>
                </a:cxn>
                <a:cxn ang="0">
                  <a:pos x="0" y="0"/>
                </a:cxn>
                <a:cxn ang="0">
                  <a:pos x="0" y="0"/>
                </a:cxn>
                <a:cxn ang="0">
                  <a:pos x="0" y="0"/>
                </a:cxn>
                <a:cxn ang="0">
                  <a:pos x="0" y="0"/>
                </a:cxn>
              </a:cxnLst>
              <a:rect l="txL" t="txT" r="txR" b="txB"/>
              <a:pathLst>
                <a:path w="36" h="54">
                  <a:moveTo>
                    <a:pt x="0" y="0"/>
                  </a:moveTo>
                  <a:lnTo>
                    <a:pt x="36" y="54"/>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57" name="Freeform 264"/>
            <p:cNvSpPr>
              <a:spLocks noEditPoints="1"/>
            </p:cNvSpPr>
            <p:nvPr/>
          </p:nvSpPr>
          <p:spPr>
            <a:xfrm>
              <a:off x="3684" y="2267"/>
              <a:ext cx="60" cy="12"/>
            </a:xfrm>
            <a:custGeom>
              <a:avLst/>
              <a:gdLst>
                <a:gd name="txL" fmla="*/ 0 w 60"/>
                <a:gd name="txT" fmla="*/ 0 h 12"/>
                <a:gd name="txR" fmla="*/ 60 w 60"/>
                <a:gd name="txB" fmla="*/ 12 h 12"/>
              </a:gdLst>
              <a:ahLst/>
              <a:cxnLst>
                <a:cxn ang="0">
                  <a:pos x="60" y="12"/>
                </a:cxn>
                <a:cxn ang="0">
                  <a:pos x="0" y="0"/>
                </a:cxn>
                <a:cxn ang="0">
                  <a:pos x="60" y="12"/>
                </a:cxn>
                <a:cxn ang="0">
                  <a:pos x="60" y="12"/>
                </a:cxn>
                <a:cxn ang="0">
                  <a:pos x="60" y="12"/>
                </a:cxn>
                <a:cxn ang="0">
                  <a:pos x="60" y="12"/>
                </a:cxn>
                <a:cxn ang="0">
                  <a:pos x="60" y="12"/>
                </a:cxn>
              </a:cxnLst>
              <a:rect l="txL" t="txT" r="txR" b="txB"/>
              <a:pathLst>
                <a:path w="60" h="12">
                  <a:moveTo>
                    <a:pt x="60" y="12"/>
                  </a:moveTo>
                  <a:lnTo>
                    <a:pt x="0" y="0"/>
                  </a:lnTo>
                  <a:lnTo>
                    <a:pt x="60" y="12"/>
                  </a:lnTo>
                  <a:close/>
                  <a:moveTo>
                    <a:pt x="60" y="12"/>
                  </a:moveTo>
                  <a:lnTo>
                    <a:pt x="6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58" name="Freeform 265"/>
            <p:cNvSpPr>
              <a:spLocks noEditPoints="1"/>
            </p:cNvSpPr>
            <p:nvPr/>
          </p:nvSpPr>
          <p:spPr>
            <a:xfrm>
              <a:off x="3619" y="2255"/>
              <a:ext cx="65" cy="12"/>
            </a:xfrm>
            <a:custGeom>
              <a:avLst/>
              <a:gdLst>
                <a:gd name="txL" fmla="*/ 0 w 65"/>
                <a:gd name="txT" fmla="*/ 0 h 12"/>
                <a:gd name="txR" fmla="*/ 65 w 65"/>
                <a:gd name="txB" fmla="*/ 12 h 12"/>
              </a:gdLst>
              <a:ahLst/>
              <a:cxnLst>
                <a:cxn ang="0">
                  <a:pos x="65" y="12"/>
                </a:cxn>
                <a:cxn ang="0">
                  <a:pos x="0" y="0"/>
                </a:cxn>
                <a:cxn ang="0">
                  <a:pos x="65" y="12"/>
                </a:cxn>
                <a:cxn ang="0">
                  <a:pos x="65" y="12"/>
                </a:cxn>
                <a:cxn ang="0">
                  <a:pos x="65" y="12"/>
                </a:cxn>
                <a:cxn ang="0">
                  <a:pos x="65" y="12"/>
                </a:cxn>
                <a:cxn ang="0">
                  <a:pos x="65" y="12"/>
                </a:cxn>
              </a:cxnLst>
              <a:rect l="txL" t="txT" r="txR" b="txB"/>
              <a:pathLst>
                <a:path w="65" h="12">
                  <a:moveTo>
                    <a:pt x="65" y="12"/>
                  </a:moveTo>
                  <a:lnTo>
                    <a:pt x="0" y="0"/>
                  </a:lnTo>
                  <a:lnTo>
                    <a:pt x="65" y="12"/>
                  </a:lnTo>
                  <a:close/>
                  <a:moveTo>
                    <a:pt x="65" y="12"/>
                  </a:moveTo>
                  <a:lnTo>
                    <a:pt x="65"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59" name="Freeform 266"/>
            <p:cNvSpPr>
              <a:spLocks noEditPoints="1"/>
            </p:cNvSpPr>
            <p:nvPr/>
          </p:nvSpPr>
          <p:spPr>
            <a:xfrm>
              <a:off x="3619" y="2255"/>
              <a:ext cx="35" cy="54"/>
            </a:xfrm>
            <a:custGeom>
              <a:avLst/>
              <a:gdLst>
                <a:gd name="txL" fmla="*/ 0 w 35"/>
                <a:gd name="txT" fmla="*/ 0 h 54"/>
                <a:gd name="txR" fmla="*/ 35 w 35"/>
                <a:gd name="txB" fmla="*/ 54 h 54"/>
              </a:gdLst>
              <a:ahLst/>
              <a:cxnLst>
                <a:cxn ang="0">
                  <a:pos x="0" y="0"/>
                </a:cxn>
                <a:cxn ang="0">
                  <a:pos x="35" y="54"/>
                </a:cxn>
                <a:cxn ang="0">
                  <a:pos x="0" y="0"/>
                </a:cxn>
                <a:cxn ang="0">
                  <a:pos x="0" y="0"/>
                </a:cxn>
                <a:cxn ang="0">
                  <a:pos x="0" y="0"/>
                </a:cxn>
                <a:cxn ang="0">
                  <a:pos x="0" y="0"/>
                </a:cxn>
                <a:cxn ang="0">
                  <a:pos x="0" y="0"/>
                </a:cxn>
              </a:cxnLst>
              <a:rect l="txL" t="txT" r="txR" b="txB"/>
              <a:pathLst>
                <a:path w="35" h="54">
                  <a:moveTo>
                    <a:pt x="0" y="0"/>
                  </a:moveTo>
                  <a:lnTo>
                    <a:pt x="35" y="54"/>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60" name="Freeform 267"/>
            <p:cNvSpPr>
              <a:spLocks noEditPoints="1"/>
            </p:cNvSpPr>
            <p:nvPr/>
          </p:nvSpPr>
          <p:spPr>
            <a:xfrm>
              <a:off x="3654" y="2309"/>
              <a:ext cx="36" cy="54"/>
            </a:xfrm>
            <a:custGeom>
              <a:avLst/>
              <a:gdLst>
                <a:gd name="txL" fmla="*/ 0 w 36"/>
                <a:gd name="txT" fmla="*/ 0 h 54"/>
                <a:gd name="txR" fmla="*/ 36 w 36"/>
                <a:gd name="txB" fmla="*/ 54 h 54"/>
              </a:gdLst>
              <a:ahLst/>
              <a:cxnLst>
                <a:cxn ang="0">
                  <a:pos x="0" y="0"/>
                </a:cxn>
                <a:cxn ang="0">
                  <a:pos x="36" y="54"/>
                </a:cxn>
                <a:cxn ang="0">
                  <a:pos x="0" y="0"/>
                </a:cxn>
                <a:cxn ang="0">
                  <a:pos x="0" y="0"/>
                </a:cxn>
                <a:cxn ang="0">
                  <a:pos x="0" y="0"/>
                </a:cxn>
                <a:cxn ang="0">
                  <a:pos x="0" y="0"/>
                </a:cxn>
                <a:cxn ang="0">
                  <a:pos x="0" y="0"/>
                </a:cxn>
              </a:cxnLst>
              <a:rect l="txL" t="txT" r="txR" b="txB"/>
              <a:pathLst>
                <a:path w="36" h="54">
                  <a:moveTo>
                    <a:pt x="0" y="0"/>
                  </a:moveTo>
                  <a:lnTo>
                    <a:pt x="36" y="54"/>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61" name="Freeform 268"/>
            <p:cNvSpPr>
              <a:spLocks noEditPoints="1"/>
            </p:cNvSpPr>
            <p:nvPr/>
          </p:nvSpPr>
          <p:spPr>
            <a:xfrm>
              <a:off x="3631" y="2351"/>
              <a:ext cx="59" cy="12"/>
            </a:xfrm>
            <a:custGeom>
              <a:avLst/>
              <a:gdLst>
                <a:gd name="txL" fmla="*/ 0 w 59"/>
                <a:gd name="txT" fmla="*/ 0 h 12"/>
                <a:gd name="txR" fmla="*/ 59 w 59"/>
                <a:gd name="txB" fmla="*/ 12 h 12"/>
              </a:gdLst>
              <a:ahLst/>
              <a:cxnLst>
                <a:cxn ang="0">
                  <a:pos x="59" y="12"/>
                </a:cxn>
                <a:cxn ang="0">
                  <a:pos x="0" y="0"/>
                </a:cxn>
                <a:cxn ang="0">
                  <a:pos x="59" y="12"/>
                </a:cxn>
                <a:cxn ang="0">
                  <a:pos x="59" y="12"/>
                </a:cxn>
                <a:cxn ang="0">
                  <a:pos x="59" y="12"/>
                </a:cxn>
                <a:cxn ang="0">
                  <a:pos x="59" y="12"/>
                </a:cxn>
                <a:cxn ang="0">
                  <a:pos x="59" y="12"/>
                </a:cxn>
              </a:cxnLst>
              <a:rect l="txL" t="txT" r="txR" b="txB"/>
              <a:pathLst>
                <a:path w="59" h="12">
                  <a:moveTo>
                    <a:pt x="59" y="12"/>
                  </a:moveTo>
                  <a:lnTo>
                    <a:pt x="0" y="0"/>
                  </a:lnTo>
                  <a:lnTo>
                    <a:pt x="59" y="12"/>
                  </a:lnTo>
                  <a:close/>
                  <a:moveTo>
                    <a:pt x="59" y="12"/>
                  </a:moveTo>
                  <a:lnTo>
                    <a:pt x="59"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62" name="Freeform 269"/>
            <p:cNvSpPr>
              <a:spLocks noEditPoints="1"/>
            </p:cNvSpPr>
            <p:nvPr/>
          </p:nvSpPr>
          <p:spPr>
            <a:xfrm>
              <a:off x="3565" y="2339"/>
              <a:ext cx="66" cy="12"/>
            </a:xfrm>
            <a:custGeom>
              <a:avLst/>
              <a:gdLst>
                <a:gd name="txL" fmla="*/ 0 w 66"/>
                <a:gd name="txT" fmla="*/ 0 h 12"/>
                <a:gd name="txR" fmla="*/ 66 w 66"/>
                <a:gd name="txB" fmla="*/ 12 h 12"/>
              </a:gdLst>
              <a:ahLst/>
              <a:cxnLst>
                <a:cxn ang="0">
                  <a:pos x="66" y="12"/>
                </a:cxn>
                <a:cxn ang="0">
                  <a:pos x="0" y="0"/>
                </a:cxn>
                <a:cxn ang="0">
                  <a:pos x="66" y="12"/>
                </a:cxn>
                <a:cxn ang="0">
                  <a:pos x="66" y="12"/>
                </a:cxn>
                <a:cxn ang="0">
                  <a:pos x="66" y="12"/>
                </a:cxn>
                <a:cxn ang="0">
                  <a:pos x="66" y="12"/>
                </a:cxn>
                <a:cxn ang="0">
                  <a:pos x="66" y="12"/>
                </a:cxn>
              </a:cxnLst>
              <a:rect l="txL" t="txT" r="txR" b="txB"/>
              <a:pathLst>
                <a:path w="66" h="12">
                  <a:moveTo>
                    <a:pt x="66" y="12"/>
                  </a:moveTo>
                  <a:lnTo>
                    <a:pt x="0" y="0"/>
                  </a:lnTo>
                  <a:lnTo>
                    <a:pt x="66" y="12"/>
                  </a:lnTo>
                  <a:close/>
                  <a:moveTo>
                    <a:pt x="66" y="12"/>
                  </a:moveTo>
                  <a:lnTo>
                    <a:pt x="66"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63" name="Freeform 270"/>
            <p:cNvSpPr>
              <a:spLocks noEditPoints="1"/>
            </p:cNvSpPr>
            <p:nvPr/>
          </p:nvSpPr>
          <p:spPr>
            <a:xfrm>
              <a:off x="3565" y="2339"/>
              <a:ext cx="42" cy="59"/>
            </a:xfrm>
            <a:custGeom>
              <a:avLst/>
              <a:gdLst>
                <a:gd name="txL" fmla="*/ 0 w 42"/>
                <a:gd name="txT" fmla="*/ 0 h 59"/>
                <a:gd name="txR" fmla="*/ 42 w 42"/>
                <a:gd name="txB" fmla="*/ 59 h 59"/>
              </a:gdLst>
              <a:ahLst/>
              <a:cxnLst>
                <a:cxn ang="0">
                  <a:pos x="0" y="0"/>
                </a:cxn>
                <a:cxn ang="0">
                  <a:pos x="42" y="59"/>
                </a:cxn>
                <a:cxn ang="0">
                  <a:pos x="0" y="0"/>
                </a:cxn>
                <a:cxn ang="0">
                  <a:pos x="0" y="0"/>
                </a:cxn>
                <a:cxn ang="0">
                  <a:pos x="0" y="0"/>
                </a:cxn>
                <a:cxn ang="0">
                  <a:pos x="0" y="0"/>
                </a:cxn>
                <a:cxn ang="0">
                  <a:pos x="0" y="0"/>
                </a:cxn>
              </a:cxnLst>
              <a:rect l="txL" t="txT" r="txR" b="txB"/>
              <a:pathLst>
                <a:path w="42" h="59">
                  <a:moveTo>
                    <a:pt x="0" y="0"/>
                  </a:moveTo>
                  <a:lnTo>
                    <a:pt x="42" y="59"/>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64" name="Freeform 271"/>
            <p:cNvSpPr/>
            <p:nvPr/>
          </p:nvSpPr>
          <p:spPr>
            <a:xfrm>
              <a:off x="1938" y="2052"/>
              <a:ext cx="251" cy="346"/>
            </a:xfrm>
            <a:custGeom>
              <a:avLst/>
              <a:gdLst>
                <a:gd name="txL" fmla="*/ 0 w 251"/>
                <a:gd name="txT" fmla="*/ 0 h 346"/>
                <a:gd name="txR" fmla="*/ 251 w 251"/>
                <a:gd name="txB" fmla="*/ 346 h 346"/>
              </a:gdLst>
              <a:ahLst/>
              <a:cxnLst>
                <a:cxn ang="0">
                  <a:pos x="215" y="346"/>
                </a:cxn>
                <a:cxn ang="0">
                  <a:pos x="251" y="322"/>
                </a:cxn>
                <a:cxn ang="0">
                  <a:pos x="42" y="0"/>
                </a:cxn>
                <a:cxn ang="0">
                  <a:pos x="0" y="24"/>
                </a:cxn>
                <a:cxn ang="0">
                  <a:pos x="215" y="346"/>
                </a:cxn>
                <a:cxn ang="0">
                  <a:pos x="215" y="346"/>
                </a:cxn>
              </a:cxnLst>
              <a:rect l="txL" t="txT" r="txR" b="txB"/>
              <a:pathLst>
                <a:path w="251" h="346">
                  <a:moveTo>
                    <a:pt x="215" y="346"/>
                  </a:moveTo>
                  <a:lnTo>
                    <a:pt x="251" y="322"/>
                  </a:lnTo>
                  <a:lnTo>
                    <a:pt x="42" y="0"/>
                  </a:lnTo>
                  <a:lnTo>
                    <a:pt x="0" y="24"/>
                  </a:lnTo>
                  <a:lnTo>
                    <a:pt x="215" y="346"/>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1565" name="Freeform 272"/>
            <p:cNvSpPr/>
            <p:nvPr/>
          </p:nvSpPr>
          <p:spPr>
            <a:xfrm>
              <a:off x="1920" y="2058"/>
              <a:ext cx="36" cy="54"/>
            </a:xfrm>
            <a:custGeom>
              <a:avLst/>
              <a:gdLst>
                <a:gd name="txL" fmla="*/ 0 w 36"/>
                <a:gd name="txT" fmla="*/ 0 h 54"/>
                <a:gd name="txR" fmla="*/ 36 w 36"/>
                <a:gd name="txB" fmla="*/ 54 h 54"/>
              </a:gdLst>
              <a:ahLst/>
              <a:cxnLst>
                <a:cxn ang="0">
                  <a:pos x="36" y="0"/>
                </a:cxn>
                <a:cxn ang="0">
                  <a:pos x="0" y="54"/>
                </a:cxn>
                <a:cxn ang="0">
                  <a:pos x="36" y="0"/>
                </a:cxn>
                <a:cxn ang="0">
                  <a:pos x="36" y="0"/>
                </a:cxn>
              </a:cxnLst>
              <a:rect l="txL" t="txT" r="txR" b="txB"/>
              <a:pathLst>
                <a:path w="36" h="54">
                  <a:moveTo>
                    <a:pt x="36" y="0"/>
                  </a:moveTo>
                  <a:lnTo>
                    <a:pt x="0" y="54"/>
                  </a:ln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66" name="Freeform 273"/>
            <p:cNvSpPr>
              <a:spLocks noEditPoints="1"/>
            </p:cNvSpPr>
            <p:nvPr/>
          </p:nvSpPr>
          <p:spPr>
            <a:xfrm>
              <a:off x="1920" y="2100"/>
              <a:ext cx="66" cy="12"/>
            </a:xfrm>
            <a:custGeom>
              <a:avLst/>
              <a:gdLst>
                <a:gd name="txL" fmla="*/ 0 w 66"/>
                <a:gd name="txT" fmla="*/ 0 h 12"/>
                <a:gd name="txR" fmla="*/ 66 w 66"/>
                <a:gd name="txB" fmla="*/ 12 h 12"/>
              </a:gdLst>
              <a:ahLst/>
              <a:cxnLst>
                <a:cxn ang="0">
                  <a:pos x="0" y="12"/>
                </a:cxn>
                <a:cxn ang="0">
                  <a:pos x="66" y="0"/>
                </a:cxn>
                <a:cxn ang="0">
                  <a:pos x="0" y="12"/>
                </a:cxn>
                <a:cxn ang="0">
                  <a:pos x="0" y="12"/>
                </a:cxn>
                <a:cxn ang="0">
                  <a:pos x="0" y="12"/>
                </a:cxn>
                <a:cxn ang="0">
                  <a:pos x="0" y="12"/>
                </a:cxn>
                <a:cxn ang="0">
                  <a:pos x="0" y="12"/>
                </a:cxn>
              </a:cxnLst>
              <a:rect l="txL" t="txT" r="txR" b="txB"/>
              <a:pathLst>
                <a:path w="66" h="12">
                  <a:moveTo>
                    <a:pt x="0" y="12"/>
                  </a:moveTo>
                  <a:lnTo>
                    <a:pt x="66"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67" name="Freeform 274"/>
            <p:cNvSpPr>
              <a:spLocks noEditPoints="1"/>
            </p:cNvSpPr>
            <p:nvPr/>
          </p:nvSpPr>
          <p:spPr>
            <a:xfrm>
              <a:off x="1986" y="2088"/>
              <a:ext cx="60" cy="12"/>
            </a:xfrm>
            <a:custGeom>
              <a:avLst/>
              <a:gdLst>
                <a:gd name="txL" fmla="*/ 0 w 60"/>
                <a:gd name="txT" fmla="*/ 0 h 12"/>
                <a:gd name="txR" fmla="*/ 60 w 60"/>
                <a:gd name="txB" fmla="*/ 12 h 12"/>
              </a:gdLst>
              <a:ahLst/>
              <a:cxnLst>
                <a:cxn ang="0">
                  <a:pos x="0" y="12"/>
                </a:cxn>
                <a:cxn ang="0">
                  <a:pos x="60" y="0"/>
                </a:cxn>
                <a:cxn ang="0">
                  <a:pos x="0" y="12"/>
                </a:cxn>
                <a:cxn ang="0">
                  <a:pos x="0" y="12"/>
                </a:cxn>
                <a:cxn ang="0">
                  <a:pos x="0" y="12"/>
                </a:cxn>
                <a:cxn ang="0">
                  <a:pos x="0" y="12"/>
                </a:cxn>
                <a:cxn ang="0">
                  <a:pos x="0" y="12"/>
                </a:cxn>
              </a:cxnLst>
              <a:rect l="txL" t="txT" r="txR" b="txB"/>
              <a:pathLst>
                <a:path w="60" h="12">
                  <a:moveTo>
                    <a:pt x="0" y="12"/>
                  </a:moveTo>
                  <a:lnTo>
                    <a:pt x="60"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68" name="Freeform 275"/>
            <p:cNvSpPr>
              <a:spLocks noEditPoints="1"/>
            </p:cNvSpPr>
            <p:nvPr/>
          </p:nvSpPr>
          <p:spPr>
            <a:xfrm>
              <a:off x="2010" y="2088"/>
              <a:ext cx="36" cy="54"/>
            </a:xfrm>
            <a:custGeom>
              <a:avLst/>
              <a:gdLst>
                <a:gd name="txL" fmla="*/ 0 w 36"/>
                <a:gd name="txT" fmla="*/ 0 h 54"/>
                <a:gd name="txR" fmla="*/ 36 w 36"/>
                <a:gd name="txB" fmla="*/ 54 h 54"/>
              </a:gdLst>
              <a:ahLst/>
              <a:cxnLst>
                <a:cxn ang="0">
                  <a:pos x="36" y="0"/>
                </a:cxn>
                <a:cxn ang="0">
                  <a:pos x="0" y="54"/>
                </a:cxn>
                <a:cxn ang="0">
                  <a:pos x="36" y="0"/>
                </a:cxn>
                <a:cxn ang="0">
                  <a:pos x="36" y="0"/>
                </a:cxn>
                <a:cxn ang="0">
                  <a:pos x="36" y="0"/>
                </a:cxn>
                <a:cxn ang="0">
                  <a:pos x="36" y="0"/>
                </a:cxn>
                <a:cxn ang="0">
                  <a:pos x="36" y="0"/>
                </a:cxn>
              </a:cxnLst>
              <a:rect l="txL" t="txT" r="txR" b="txB"/>
              <a:pathLst>
                <a:path w="36" h="54">
                  <a:moveTo>
                    <a:pt x="36" y="0"/>
                  </a:moveTo>
                  <a:lnTo>
                    <a:pt x="0" y="54"/>
                  </a:lnTo>
                  <a:lnTo>
                    <a:pt x="36" y="0"/>
                  </a:lnTo>
                  <a:close/>
                  <a:moveTo>
                    <a:pt x="36" y="0"/>
                  </a:move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69" name="Freeform 276"/>
            <p:cNvSpPr>
              <a:spLocks noEditPoints="1"/>
            </p:cNvSpPr>
            <p:nvPr/>
          </p:nvSpPr>
          <p:spPr>
            <a:xfrm>
              <a:off x="2010" y="2142"/>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70" name="Freeform 277"/>
            <p:cNvSpPr>
              <a:spLocks noEditPoints="1"/>
            </p:cNvSpPr>
            <p:nvPr/>
          </p:nvSpPr>
          <p:spPr>
            <a:xfrm>
              <a:off x="1974" y="2142"/>
              <a:ext cx="36" cy="53"/>
            </a:xfrm>
            <a:custGeom>
              <a:avLst/>
              <a:gdLst>
                <a:gd name="txL" fmla="*/ 0 w 36"/>
                <a:gd name="txT" fmla="*/ 0 h 53"/>
                <a:gd name="txR" fmla="*/ 36 w 36"/>
                <a:gd name="txB" fmla="*/ 53 h 53"/>
              </a:gdLst>
              <a:ahLst/>
              <a:cxnLst>
                <a:cxn ang="0">
                  <a:pos x="36" y="0"/>
                </a:cxn>
                <a:cxn ang="0">
                  <a:pos x="0" y="53"/>
                </a:cxn>
                <a:cxn ang="0">
                  <a:pos x="36" y="0"/>
                </a:cxn>
                <a:cxn ang="0">
                  <a:pos x="36" y="0"/>
                </a:cxn>
                <a:cxn ang="0">
                  <a:pos x="36" y="0"/>
                </a:cxn>
                <a:cxn ang="0">
                  <a:pos x="36" y="0"/>
                </a:cxn>
                <a:cxn ang="0">
                  <a:pos x="36" y="0"/>
                </a:cxn>
              </a:cxnLst>
              <a:rect l="txL" t="txT" r="txR" b="txB"/>
              <a:pathLst>
                <a:path w="36" h="53">
                  <a:moveTo>
                    <a:pt x="36" y="0"/>
                  </a:moveTo>
                  <a:lnTo>
                    <a:pt x="0" y="53"/>
                  </a:lnTo>
                  <a:lnTo>
                    <a:pt x="36" y="0"/>
                  </a:lnTo>
                  <a:close/>
                  <a:moveTo>
                    <a:pt x="36" y="0"/>
                  </a:move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71" name="Freeform 278"/>
            <p:cNvSpPr>
              <a:spLocks noEditPoints="1"/>
            </p:cNvSpPr>
            <p:nvPr/>
          </p:nvSpPr>
          <p:spPr>
            <a:xfrm>
              <a:off x="1974" y="2183"/>
              <a:ext cx="66" cy="12"/>
            </a:xfrm>
            <a:custGeom>
              <a:avLst/>
              <a:gdLst>
                <a:gd name="txL" fmla="*/ 0 w 66"/>
                <a:gd name="txT" fmla="*/ 0 h 12"/>
                <a:gd name="txR" fmla="*/ 66 w 66"/>
                <a:gd name="txB" fmla="*/ 12 h 12"/>
              </a:gdLst>
              <a:ahLst/>
              <a:cxnLst>
                <a:cxn ang="0">
                  <a:pos x="0" y="12"/>
                </a:cxn>
                <a:cxn ang="0">
                  <a:pos x="66" y="0"/>
                </a:cxn>
                <a:cxn ang="0">
                  <a:pos x="0" y="12"/>
                </a:cxn>
                <a:cxn ang="0">
                  <a:pos x="0" y="12"/>
                </a:cxn>
                <a:cxn ang="0">
                  <a:pos x="0" y="12"/>
                </a:cxn>
                <a:cxn ang="0">
                  <a:pos x="0" y="12"/>
                </a:cxn>
                <a:cxn ang="0">
                  <a:pos x="0" y="12"/>
                </a:cxn>
              </a:cxnLst>
              <a:rect l="txL" t="txT" r="txR" b="txB"/>
              <a:pathLst>
                <a:path w="66" h="12">
                  <a:moveTo>
                    <a:pt x="0" y="12"/>
                  </a:moveTo>
                  <a:lnTo>
                    <a:pt x="66"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72" name="Freeform 279"/>
            <p:cNvSpPr>
              <a:spLocks noEditPoints="1"/>
            </p:cNvSpPr>
            <p:nvPr/>
          </p:nvSpPr>
          <p:spPr>
            <a:xfrm>
              <a:off x="2040" y="2171"/>
              <a:ext cx="60" cy="12"/>
            </a:xfrm>
            <a:custGeom>
              <a:avLst/>
              <a:gdLst>
                <a:gd name="txL" fmla="*/ 0 w 60"/>
                <a:gd name="txT" fmla="*/ 0 h 12"/>
                <a:gd name="txR" fmla="*/ 60 w 60"/>
                <a:gd name="txB" fmla="*/ 12 h 12"/>
              </a:gdLst>
              <a:ahLst/>
              <a:cxnLst>
                <a:cxn ang="0">
                  <a:pos x="0" y="12"/>
                </a:cxn>
                <a:cxn ang="0">
                  <a:pos x="60" y="0"/>
                </a:cxn>
                <a:cxn ang="0">
                  <a:pos x="0" y="12"/>
                </a:cxn>
                <a:cxn ang="0">
                  <a:pos x="0" y="12"/>
                </a:cxn>
                <a:cxn ang="0">
                  <a:pos x="0" y="12"/>
                </a:cxn>
                <a:cxn ang="0">
                  <a:pos x="0" y="12"/>
                </a:cxn>
                <a:cxn ang="0">
                  <a:pos x="0" y="12"/>
                </a:cxn>
              </a:cxnLst>
              <a:rect l="txL" t="txT" r="txR" b="txB"/>
              <a:pathLst>
                <a:path w="60" h="12">
                  <a:moveTo>
                    <a:pt x="0" y="12"/>
                  </a:moveTo>
                  <a:lnTo>
                    <a:pt x="60"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73" name="Freeform 280"/>
            <p:cNvSpPr>
              <a:spLocks noEditPoints="1"/>
            </p:cNvSpPr>
            <p:nvPr/>
          </p:nvSpPr>
          <p:spPr>
            <a:xfrm>
              <a:off x="2064" y="2171"/>
              <a:ext cx="36" cy="54"/>
            </a:xfrm>
            <a:custGeom>
              <a:avLst/>
              <a:gdLst>
                <a:gd name="txL" fmla="*/ 0 w 36"/>
                <a:gd name="txT" fmla="*/ 0 h 54"/>
                <a:gd name="txR" fmla="*/ 36 w 36"/>
                <a:gd name="txB" fmla="*/ 54 h 54"/>
              </a:gdLst>
              <a:ahLst/>
              <a:cxnLst>
                <a:cxn ang="0">
                  <a:pos x="36" y="0"/>
                </a:cxn>
                <a:cxn ang="0">
                  <a:pos x="0" y="54"/>
                </a:cxn>
                <a:cxn ang="0">
                  <a:pos x="36" y="0"/>
                </a:cxn>
                <a:cxn ang="0">
                  <a:pos x="36" y="0"/>
                </a:cxn>
                <a:cxn ang="0">
                  <a:pos x="36" y="0"/>
                </a:cxn>
                <a:cxn ang="0">
                  <a:pos x="36" y="0"/>
                </a:cxn>
                <a:cxn ang="0">
                  <a:pos x="36" y="0"/>
                </a:cxn>
              </a:cxnLst>
              <a:rect l="txL" t="txT" r="txR" b="txB"/>
              <a:pathLst>
                <a:path w="36" h="54">
                  <a:moveTo>
                    <a:pt x="36" y="0"/>
                  </a:moveTo>
                  <a:lnTo>
                    <a:pt x="0" y="54"/>
                  </a:lnTo>
                  <a:lnTo>
                    <a:pt x="36" y="0"/>
                  </a:lnTo>
                  <a:close/>
                  <a:moveTo>
                    <a:pt x="36" y="0"/>
                  </a:move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74" name="Freeform 281"/>
            <p:cNvSpPr>
              <a:spLocks noEditPoints="1"/>
            </p:cNvSpPr>
            <p:nvPr/>
          </p:nvSpPr>
          <p:spPr>
            <a:xfrm>
              <a:off x="2034" y="2225"/>
              <a:ext cx="30" cy="54"/>
            </a:xfrm>
            <a:custGeom>
              <a:avLst/>
              <a:gdLst>
                <a:gd name="txL" fmla="*/ 0 w 30"/>
                <a:gd name="txT" fmla="*/ 0 h 54"/>
                <a:gd name="txR" fmla="*/ 30 w 30"/>
                <a:gd name="txB" fmla="*/ 54 h 54"/>
              </a:gdLst>
              <a:ahLst/>
              <a:cxnLst>
                <a:cxn ang="0">
                  <a:pos x="30" y="0"/>
                </a:cxn>
                <a:cxn ang="0">
                  <a:pos x="0" y="54"/>
                </a:cxn>
                <a:cxn ang="0">
                  <a:pos x="30" y="0"/>
                </a:cxn>
                <a:cxn ang="0">
                  <a:pos x="30" y="0"/>
                </a:cxn>
                <a:cxn ang="0">
                  <a:pos x="30" y="0"/>
                </a:cxn>
                <a:cxn ang="0">
                  <a:pos x="30" y="0"/>
                </a:cxn>
                <a:cxn ang="0">
                  <a:pos x="30" y="0"/>
                </a:cxn>
              </a:cxnLst>
              <a:rect l="txL" t="txT" r="txR" b="txB"/>
              <a:pathLst>
                <a:path w="30" h="54">
                  <a:moveTo>
                    <a:pt x="30" y="0"/>
                  </a:moveTo>
                  <a:lnTo>
                    <a:pt x="0" y="54"/>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75" name="Freeform 282"/>
            <p:cNvSpPr>
              <a:spLocks noEditPoints="1"/>
            </p:cNvSpPr>
            <p:nvPr/>
          </p:nvSpPr>
          <p:spPr>
            <a:xfrm>
              <a:off x="2034" y="2267"/>
              <a:ext cx="60" cy="12"/>
            </a:xfrm>
            <a:custGeom>
              <a:avLst/>
              <a:gdLst>
                <a:gd name="txL" fmla="*/ 0 w 60"/>
                <a:gd name="txT" fmla="*/ 0 h 12"/>
                <a:gd name="txR" fmla="*/ 60 w 60"/>
                <a:gd name="txB" fmla="*/ 12 h 12"/>
              </a:gdLst>
              <a:ahLst/>
              <a:cxnLst>
                <a:cxn ang="0">
                  <a:pos x="0" y="12"/>
                </a:cxn>
                <a:cxn ang="0">
                  <a:pos x="60" y="0"/>
                </a:cxn>
                <a:cxn ang="0">
                  <a:pos x="0" y="12"/>
                </a:cxn>
                <a:cxn ang="0">
                  <a:pos x="0" y="12"/>
                </a:cxn>
                <a:cxn ang="0">
                  <a:pos x="0" y="12"/>
                </a:cxn>
                <a:cxn ang="0">
                  <a:pos x="0" y="12"/>
                </a:cxn>
                <a:cxn ang="0">
                  <a:pos x="0" y="12"/>
                </a:cxn>
              </a:cxnLst>
              <a:rect l="txL" t="txT" r="txR" b="txB"/>
              <a:pathLst>
                <a:path w="60" h="12">
                  <a:moveTo>
                    <a:pt x="0" y="12"/>
                  </a:moveTo>
                  <a:lnTo>
                    <a:pt x="60"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76" name="Freeform 283"/>
            <p:cNvSpPr>
              <a:spLocks noEditPoints="1"/>
            </p:cNvSpPr>
            <p:nvPr/>
          </p:nvSpPr>
          <p:spPr>
            <a:xfrm>
              <a:off x="2094" y="2255"/>
              <a:ext cx="59" cy="12"/>
            </a:xfrm>
            <a:custGeom>
              <a:avLst/>
              <a:gdLst>
                <a:gd name="txL" fmla="*/ 0 w 59"/>
                <a:gd name="txT" fmla="*/ 0 h 12"/>
                <a:gd name="txR" fmla="*/ 59 w 59"/>
                <a:gd name="txB" fmla="*/ 12 h 12"/>
              </a:gdLst>
              <a:ahLst/>
              <a:cxnLst>
                <a:cxn ang="0">
                  <a:pos x="0" y="12"/>
                </a:cxn>
                <a:cxn ang="0">
                  <a:pos x="59" y="0"/>
                </a:cxn>
                <a:cxn ang="0">
                  <a:pos x="0" y="12"/>
                </a:cxn>
                <a:cxn ang="0">
                  <a:pos x="0" y="12"/>
                </a:cxn>
                <a:cxn ang="0">
                  <a:pos x="0" y="12"/>
                </a:cxn>
                <a:cxn ang="0">
                  <a:pos x="0" y="12"/>
                </a:cxn>
                <a:cxn ang="0">
                  <a:pos x="0" y="12"/>
                </a:cxn>
              </a:cxnLst>
              <a:rect l="txL" t="txT" r="txR" b="txB"/>
              <a:pathLst>
                <a:path w="59" h="12">
                  <a:moveTo>
                    <a:pt x="0" y="12"/>
                  </a:moveTo>
                  <a:lnTo>
                    <a:pt x="59"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77" name="Freeform 284"/>
            <p:cNvSpPr>
              <a:spLocks noEditPoints="1"/>
            </p:cNvSpPr>
            <p:nvPr/>
          </p:nvSpPr>
          <p:spPr>
            <a:xfrm>
              <a:off x="2123" y="2255"/>
              <a:ext cx="30" cy="54"/>
            </a:xfrm>
            <a:custGeom>
              <a:avLst/>
              <a:gdLst>
                <a:gd name="txL" fmla="*/ 0 w 30"/>
                <a:gd name="txT" fmla="*/ 0 h 54"/>
                <a:gd name="txR" fmla="*/ 30 w 30"/>
                <a:gd name="txB" fmla="*/ 54 h 54"/>
              </a:gdLst>
              <a:ahLst/>
              <a:cxnLst>
                <a:cxn ang="0">
                  <a:pos x="30" y="0"/>
                </a:cxn>
                <a:cxn ang="0">
                  <a:pos x="0" y="54"/>
                </a:cxn>
                <a:cxn ang="0">
                  <a:pos x="30" y="0"/>
                </a:cxn>
                <a:cxn ang="0">
                  <a:pos x="30" y="0"/>
                </a:cxn>
                <a:cxn ang="0">
                  <a:pos x="30" y="0"/>
                </a:cxn>
                <a:cxn ang="0">
                  <a:pos x="30" y="0"/>
                </a:cxn>
                <a:cxn ang="0">
                  <a:pos x="30" y="0"/>
                </a:cxn>
              </a:cxnLst>
              <a:rect l="txL" t="txT" r="txR" b="txB"/>
              <a:pathLst>
                <a:path w="30" h="54">
                  <a:moveTo>
                    <a:pt x="30" y="0"/>
                  </a:moveTo>
                  <a:lnTo>
                    <a:pt x="0" y="54"/>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78" name="Freeform 285"/>
            <p:cNvSpPr>
              <a:spLocks noEditPoints="1"/>
            </p:cNvSpPr>
            <p:nvPr/>
          </p:nvSpPr>
          <p:spPr>
            <a:xfrm>
              <a:off x="2088" y="2309"/>
              <a:ext cx="35" cy="54"/>
            </a:xfrm>
            <a:custGeom>
              <a:avLst/>
              <a:gdLst>
                <a:gd name="txL" fmla="*/ 0 w 35"/>
                <a:gd name="txT" fmla="*/ 0 h 54"/>
                <a:gd name="txR" fmla="*/ 35 w 35"/>
                <a:gd name="txB" fmla="*/ 54 h 54"/>
              </a:gdLst>
              <a:ahLst/>
              <a:cxnLst>
                <a:cxn ang="0">
                  <a:pos x="35" y="0"/>
                </a:cxn>
                <a:cxn ang="0">
                  <a:pos x="0" y="54"/>
                </a:cxn>
                <a:cxn ang="0">
                  <a:pos x="35" y="0"/>
                </a:cxn>
                <a:cxn ang="0">
                  <a:pos x="35" y="0"/>
                </a:cxn>
                <a:cxn ang="0">
                  <a:pos x="35" y="0"/>
                </a:cxn>
                <a:cxn ang="0">
                  <a:pos x="35" y="0"/>
                </a:cxn>
                <a:cxn ang="0">
                  <a:pos x="35" y="0"/>
                </a:cxn>
              </a:cxnLst>
              <a:rect l="txL" t="txT" r="txR" b="txB"/>
              <a:pathLst>
                <a:path w="35" h="54">
                  <a:moveTo>
                    <a:pt x="35" y="0"/>
                  </a:moveTo>
                  <a:lnTo>
                    <a:pt x="0" y="54"/>
                  </a:lnTo>
                  <a:lnTo>
                    <a:pt x="35" y="0"/>
                  </a:lnTo>
                  <a:close/>
                  <a:moveTo>
                    <a:pt x="35" y="0"/>
                  </a:moveTo>
                  <a:lnTo>
                    <a:pt x="35"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79" name="Freeform 286"/>
            <p:cNvSpPr>
              <a:spLocks noEditPoints="1"/>
            </p:cNvSpPr>
            <p:nvPr/>
          </p:nvSpPr>
          <p:spPr>
            <a:xfrm>
              <a:off x="2088" y="2351"/>
              <a:ext cx="59" cy="12"/>
            </a:xfrm>
            <a:custGeom>
              <a:avLst/>
              <a:gdLst>
                <a:gd name="txL" fmla="*/ 0 w 59"/>
                <a:gd name="txT" fmla="*/ 0 h 12"/>
                <a:gd name="txR" fmla="*/ 59 w 59"/>
                <a:gd name="txB" fmla="*/ 12 h 12"/>
              </a:gdLst>
              <a:ahLst/>
              <a:cxnLst>
                <a:cxn ang="0">
                  <a:pos x="0" y="12"/>
                </a:cxn>
                <a:cxn ang="0">
                  <a:pos x="59" y="0"/>
                </a:cxn>
                <a:cxn ang="0">
                  <a:pos x="0" y="12"/>
                </a:cxn>
                <a:cxn ang="0">
                  <a:pos x="0" y="12"/>
                </a:cxn>
                <a:cxn ang="0">
                  <a:pos x="0" y="12"/>
                </a:cxn>
                <a:cxn ang="0">
                  <a:pos x="0" y="12"/>
                </a:cxn>
                <a:cxn ang="0">
                  <a:pos x="0" y="12"/>
                </a:cxn>
              </a:cxnLst>
              <a:rect l="txL" t="txT" r="txR" b="txB"/>
              <a:pathLst>
                <a:path w="59" h="12">
                  <a:moveTo>
                    <a:pt x="0" y="12"/>
                  </a:moveTo>
                  <a:lnTo>
                    <a:pt x="59"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80" name="Freeform 287"/>
            <p:cNvSpPr>
              <a:spLocks noEditPoints="1"/>
            </p:cNvSpPr>
            <p:nvPr/>
          </p:nvSpPr>
          <p:spPr>
            <a:xfrm>
              <a:off x="2147" y="2339"/>
              <a:ext cx="60" cy="12"/>
            </a:xfrm>
            <a:custGeom>
              <a:avLst/>
              <a:gdLst>
                <a:gd name="txL" fmla="*/ 0 w 60"/>
                <a:gd name="txT" fmla="*/ 0 h 12"/>
                <a:gd name="txR" fmla="*/ 60 w 60"/>
                <a:gd name="txB" fmla="*/ 12 h 12"/>
              </a:gdLst>
              <a:ahLst/>
              <a:cxnLst>
                <a:cxn ang="0">
                  <a:pos x="0" y="12"/>
                </a:cxn>
                <a:cxn ang="0">
                  <a:pos x="60" y="0"/>
                </a:cxn>
                <a:cxn ang="0">
                  <a:pos x="0" y="12"/>
                </a:cxn>
                <a:cxn ang="0">
                  <a:pos x="0" y="12"/>
                </a:cxn>
                <a:cxn ang="0">
                  <a:pos x="0" y="12"/>
                </a:cxn>
                <a:cxn ang="0">
                  <a:pos x="0" y="12"/>
                </a:cxn>
                <a:cxn ang="0">
                  <a:pos x="0" y="12"/>
                </a:cxn>
              </a:cxnLst>
              <a:rect l="txL" t="txT" r="txR" b="txB"/>
              <a:pathLst>
                <a:path w="60" h="12">
                  <a:moveTo>
                    <a:pt x="0" y="12"/>
                  </a:moveTo>
                  <a:lnTo>
                    <a:pt x="60"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1581" name="Freeform 288"/>
            <p:cNvSpPr>
              <a:spLocks noEditPoints="1"/>
            </p:cNvSpPr>
            <p:nvPr/>
          </p:nvSpPr>
          <p:spPr>
            <a:xfrm>
              <a:off x="2171" y="2339"/>
              <a:ext cx="36" cy="53"/>
            </a:xfrm>
            <a:custGeom>
              <a:avLst/>
              <a:gdLst>
                <a:gd name="txL" fmla="*/ 0 w 36"/>
                <a:gd name="txT" fmla="*/ 0 h 53"/>
                <a:gd name="txR" fmla="*/ 36 w 36"/>
                <a:gd name="txB" fmla="*/ 53 h 53"/>
              </a:gdLst>
              <a:ahLst/>
              <a:cxnLst>
                <a:cxn ang="0">
                  <a:pos x="36" y="0"/>
                </a:cxn>
                <a:cxn ang="0">
                  <a:pos x="0" y="53"/>
                </a:cxn>
                <a:cxn ang="0">
                  <a:pos x="36" y="0"/>
                </a:cxn>
                <a:cxn ang="0">
                  <a:pos x="36" y="0"/>
                </a:cxn>
                <a:cxn ang="0">
                  <a:pos x="36" y="0"/>
                </a:cxn>
                <a:cxn ang="0">
                  <a:pos x="36" y="0"/>
                </a:cxn>
                <a:cxn ang="0">
                  <a:pos x="36" y="0"/>
                </a:cxn>
              </a:cxnLst>
              <a:rect l="txL" t="txT" r="txR" b="txB"/>
              <a:pathLst>
                <a:path w="36" h="53">
                  <a:moveTo>
                    <a:pt x="36" y="0"/>
                  </a:moveTo>
                  <a:lnTo>
                    <a:pt x="0" y="53"/>
                  </a:lnTo>
                  <a:lnTo>
                    <a:pt x="36" y="0"/>
                  </a:lnTo>
                  <a:close/>
                  <a:moveTo>
                    <a:pt x="36" y="0"/>
                  </a:move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grpSp>
      <p:sp>
        <p:nvSpPr>
          <p:cNvPr id="61447" name="Text Box 290"/>
          <p:cNvSpPr txBox="1"/>
          <p:nvPr/>
        </p:nvSpPr>
        <p:spPr>
          <a:xfrm>
            <a:off x="5148263" y="4076700"/>
            <a:ext cx="3384550"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chemeClr val="tx2"/>
                </a:solidFill>
                <a:latin typeface="Times New Roman" panose="02020603050405020304" pitchFamily="18" charset="0"/>
              </a:rPr>
              <a:t>Fig. 2.49 Superposition of  Y and </a:t>
            </a:r>
            <a:r>
              <a:rPr lang="en-US" altLang="zh-CN" sz="2000" b="1" dirty="0">
                <a:solidFill>
                  <a:schemeClr val="tx2"/>
                </a:solidFill>
                <a:latin typeface="Times New Roman" panose="02020603050405020304" pitchFamily="18" charset="0"/>
                <a:sym typeface="Symbol" panose="05050102010706020507" pitchFamily="18" charset="2"/>
              </a:rPr>
              <a:t></a:t>
            </a:r>
            <a:r>
              <a:rPr lang="en-US" altLang="zh-CN" sz="2000" b="1" dirty="0">
                <a:solidFill>
                  <a:schemeClr val="tx2"/>
                </a:solidFill>
                <a:latin typeface="Times New Roman" panose="02020603050405020304" pitchFamily="18" charset="0"/>
              </a:rPr>
              <a:t> networks as an aid in transforming one to another</a:t>
            </a:r>
            <a:endParaRPr lang="en-US" altLang="zh-CN" sz="2000" b="1" dirty="0">
              <a:solidFill>
                <a:schemeClr val="tx2"/>
              </a:solidFill>
              <a:latin typeface="Times New Roman" panose="02020603050405020304" pitchFamily="18" charset="0"/>
            </a:endParaRPr>
          </a:p>
        </p:txBody>
      </p:sp>
      <p:sp>
        <p:nvSpPr>
          <p:cNvPr id="61448" name="Rectangle 291"/>
          <p:cNvSpPr/>
          <p:nvPr/>
        </p:nvSpPr>
        <p:spPr>
          <a:xfrm>
            <a:off x="539750" y="5300663"/>
            <a:ext cx="8229600" cy="1371600"/>
          </a:xfrm>
          <a:prstGeom prst="rect">
            <a:avLst/>
          </a:prstGeom>
          <a:noFill/>
          <a:ln w="76200" cap="flat" cmpd="tri">
            <a:solidFill>
              <a:schemeClr val="tx1"/>
            </a:solidFill>
            <a:prstDash val="solid"/>
            <a:miter/>
            <a:headEnd type="none" w="med" len="med"/>
            <a:tailEnd type="none" w="med" len="med"/>
          </a:ln>
        </p:spPr>
        <p:txBody>
          <a:bodyPr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latin typeface="Arial Black" panose="020B0A04020102020204" pitchFamily="34" charset="0"/>
              </a:rPr>
              <a:t>Each resister in the </a:t>
            </a:r>
            <a:r>
              <a:rPr lang="en-US" altLang="zh-CN" sz="2000" dirty="0">
                <a:solidFill>
                  <a:srgbClr val="FF0000"/>
                </a:solidFill>
                <a:latin typeface="Arial Black" panose="020B0A04020102020204" pitchFamily="34" charset="0"/>
              </a:rPr>
              <a:t>Y</a:t>
            </a:r>
            <a:r>
              <a:rPr lang="en-US" altLang="zh-CN" sz="2000" dirty="0">
                <a:latin typeface="Arial Black" panose="020B0A04020102020204" pitchFamily="34" charset="0"/>
              </a:rPr>
              <a:t> network is the product of the resistors in the two adjacent</a:t>
            </a:r>
            <a:r>
              <a:rPr lang="en-US" altLang="zh-CN" sz="2000" dirty="0">
                <a:solidFill>
                  <a:srgbClr val="FF0000"/>
                </a:solidFill>
                <a:latin typeface="Arial Black" panose="020B0A04020102020204" pitchFamily="34" charset="0"/>
              </a:rPr>
              <a:t>      </a:t>
            </a:r>
            <a:r>
              <a:rPr lang="en-US" altLang="zh-CN" sz="2000" dirty="0">
                <a:latin typeface="Arial Black" panose="020B0A04020102020204" pitchFamily="34" charset="0"/>
              </a:rPr>
              <a:t>branches, divided by the sum of the three       resistors.</a:t>
            </a:r>
            <a:endParaRPr lang="en-US" altLang="zh-CN" sz="2000" dirty="0">
              <a:latin typeface="Arial Black" panose="020B0A04020102020204" pitchFamily="34" charset="0"/>
            </a:endParaRPr>
          </a:p>
        </p:txBody>
      </p:sp>
      <p:graphicFrame>
        <p:nvGraphicFramePr>
          <p:cNvPr id="61449" name="Object 292"/>
          <p:cNvGraphicFramePr>
            <a:graphicFrameLocks noChangeAspect="1"/>
          </p:cNvGraphicFramePr>
          <p:nvPr>
            <p:ph sz="quarter" idx="4"/>
          </p:nvPr>
        </p:nvGraphicFramePr>
        <p:xfrm>
          <a:off x="4787900" y="5805488"/>
          <a:ext cx="304800" cy="360362"/>
        </p:xfrm>
        <a:graphic>
          <a:graphicData uri="http://schemas.openxmlformats.org/presentationml/2006/ole">
            <mc:AlternateContent xmlns:mc="http://schemas.openxmlformats.org/markup-compatibility/2006">
              <mc:Choice xmlns:v="urn:schemas-microsoft-com:vml" Requires="v">
                <p:oleObj spid="_x0000_s3144" name="" r:id="rId7" imgW="139700" imgH="165100" progId="Equation.DSMT4">
                  <p:embed/>
                </p:oleObj>
              </mc:Choice>
              <mc:Fallback>
                <p:oleObj name="" r:id="rId7" imgW="139700" imgH="165100" progId="Equation.DSMT4">
                  <p:embed/>
                  <p:pic>
                    <p:nvPicPr>
                      <p:cNvPr id="0" name="图片 3143"/>
                      <p:cNvPicPr/>
                      <p:nvPr/>
                    </p:nvPicPr>
                    <p:blipFill>
                      <a:blip r:embed="rId8"/>
                      <a:srcRect/>
                      <a:stretch>
                        <a:fillRect/>
                      </a:stretch>
                    </p:blipFill>
                    <p:spPr>
                      <a:xfrm>
                        <a:off x="4787900" y="5805488"/>
                        <a:ext cx="304800" cy="360362"/>
                      </a:xfrm>
                      <a:prstGeom prst="rect">
                        <a:avLst/>
                      </a:prstGeom>
                      <a:noFill/>
                      <a:ln w="38100">
                        <a:miter/>
                      </a:ln>
                    </p:spPr>
                  </p:pic>
                </p:oleObj>
              </mc:Fallback>
            </mc:AlternateContent>
          </a:graphicData>
        </a:graphic>
      </p:graphicFrame>
      <p:graphicFrame>
        <p:nvGraphicFramePr>
          <p:cNvPr id="61450" name="Object 294"/>
          <p:cNvGraphicFramePr>
            <a:graphicFrameLocks noChangeAspect="1"/>
          </p:cNvGraphicFramePr>
          <p:nvPr/>
        </p:nvGraphicFramePr>
        <p:xfrm>
          <a:off x="3132138" y="6092825"/>
          <a:ext cx="322262" cy="381000"/>
        </p:xfrm>
        <a:graphic>
          <a:graphicData uri="http://schemas.openxmlformats.org/presentationml/2006/ole">
            <mc:AlternateContent xmlns:mc="http://schemas.openxmlformats.org/markup-compatibility/2006">
              <mc:Choice xmlns:v="urn:schemas-microsoft-com:vml" Requires="v">
                <p:oleObj spid="_x0000_s3141" name="" r:id="rId9" imgW="139700" imgH="165100" progId="Equation.3">
                  <p:embed/>
                </p:oleObj>
              </mc:Choice>
              <mc:Fallback>
                <p:oleObj name="" r:id="rId9" imgW="139700" imgH="165100" progId="Equation.3">
                  <p:embed/>
                  <p:pic>
                    <p:nvPicPr>
                      <p:cNvPr id="0" name="图片 3140"/>
                      <p:cNvPicPr/>
                      <p:nvPr/>
                    </p:nvPicPr>
                    <p:blipFill>
                      <a:blip r:embed="rId8"/>
                      <a:stretch>
                        <a:fillRect/>
                      </a:stretch>
                    </p:blipFill>
                    <p:spPr>
                      <a:xfrm>
                        <a:off x="3132138" y="6092825"/>
                        <a:ext cx="322262" cy="381000"/>
                      </a:xfrm>
                      <a:prstGeom prst="rect">
                        <a:avLst/>
                      </a:prstGeom>
                      <a:noFill/>
                      <a:ln w="38100">
                        <a:noFill/>
                        <a:miter/>
                      </a:ln>
                    </p:spPr>
                  </p:pic>
                </p:oleObj>
              </mc:Fallback>
            </mc:AlternateContent>
          </a:graphicData>
        </a:graphic>
      </p:graphicFrame>
      <p:sp>
        <p:nvSpPr>
          <p:cNvPr id="61451" name="灯片编号占位符 2"/>
          <p:cNvSpPr txBox="1">
            <a:spLocks noGrp="1"/>
          </p:cNvSpPr>
          <p:nvPr>
            <p:ph type="sldNum" sz="quarter" idx="11"/>
          </p:nvPr>
        </p:nvSpPr>
        <p:spPr>
          <a:xfrm>
            <a:off x="7005638" y="6370638"/>
            <a:ext cx="2133600" cy="457200"/>
          </a:xfrm>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2466" name="Object 5"/>
          <p:cNvGraphicFramePr>
            <a:graphicFrameLocks noGrp="1" noChangeAspect="1"/>
          </p:cNvGraphicFramePr>
          <p:nvPr>
            <p:ph sz="quarter" idx="3"/>
          </p:nvPr>
        </p:nvGraphicFramePr>
        <p:xfrm>
          <a:off x="1042988" y="1557338"/>
          <a:ext cx="3240087" cy="919162"/>
        </p:xfrm>
        <a:graphic>
          <a:graphicData uri="http://schemas.openxmlformats.org/presentationml/2006/ole">
            <mc:AlternateContent xmlns:mc="http://schemas.openxmlformats.org/markup-compatibility/2006">
              <mc:Choice xmlns:v="urn:schemas-microsoft-com:vml" Requires="v">
                <p:oleObj spid="_x0000_s3143" name="" r:id="rId1" imgW="1524000" imgH="431800" progId="Equation.3">
                  <p:embed/>
                </p:oleObj>
              </mc:Choice>
              <mc:Fallback>
                <p:oleObj name="" r:id="rId1" imgW="1524000" imgH="431800" progId="Equation.3">
                  <p:embed/>
                  <p:pic>
                    <p:nvPicPr>
                      <p:cNvPr id="0" name="图片 3142"/>
                      <p:cNvPicPr/>
                      <p:nvPr/>
                    </p:nvPicPr>
                    <p:blipFill>
                      <a:blip r:embed="rId2"/>
                      <a:srcRect/>
                      <a:stretch>
                        <a:fillRect/>
                      </a:stretch>
                    </p:blipFill>
                    <p:spPr>
                      <a:xfrm>
                        <a:off x="1042988" y="1557338"/>
                        <a:ext cx="3240087" cy="919162"/>
                      </a:xfrm>
                      <a:prstGeom prst="rect">
                        <a:avLst/>
                      </a:prstGeom>
                      <a:noFill/>
                      <a:ln w="38100">
                        <a:miter/>
                      </a:ln>
                    </p:spPr>
                  </p:pic>
                </p:oleObj>
              </mc:Fallback>
            </mc:AlternateContent>
          </a:graphicData>
        </a:graphic>
      </p:graphicFrame>
      <p:graphicFrame>
        <p:nvGraphicFramePr>
          <p:cNvPr id="62467" name="Object 6"/>
          <p:cNvGraphicFramePr>
            <a:graphicFrameLocks noChangeAspect="1"/>
          </p:cNvGraphicFramePr>
          <p:nvPr/>
        </p:nvGraphicFramePr>
        <p:xfrm>
          <a:off x="1042988" y="2565400"/>
          <a:ext cx="3240087" cy="917575"/>
        </p:xfrm>
        <a:graphic>
          <a:graphicData uri="http://schemas.openxmlformats.org/presentationml/2006/ole">
            <mc:AlternateContent xmlns:mc="http://schemas.openxmlformats.org/markup-compatibility/2006">
              <mc:Choice xmlns:v="urn:schemas-microsoft-com:vml" Requires="v">
                <p:oleObj spid="_x0000_s3140" name="" r:id="rId3" imgW="1524000" imgH="431800" progId="Equation.3">
                  <p:embed/>
                </p:oleObj>
              </mc:Choice>
              <mc:Fallback>
                <p:oleObj name="" r:id="rId3" imgW="1524000" imgH="431800" progId="Equation.3">
                  <p:embed/>
                  <p:pic>
                    <p:nvPicPr>
                      <p:cNvPr id="0" name="图片 3139"/>
                      <p:cNvPicPr/>
                      <p:nvPr/>
                    </p:nvPicPr>
                    <p:blipFill>
                      <a:blip r:embed="rId4"/>
                      <a:stretch>
                        <a:fillRect/>
                      </a:stretch>
                    </p:blipFill>
                    <p:spPr>
                      <a:xfrm>
                        <a:off x="1042988" y="2565400"/>
                        <a:ext cx="3240087" cy="917575"/>
                      </a:xfrm>
                      <a:prstGeom prst="rect">
                        <a:avLst/>
                      </a:prstGeom>
                      <a:noFill/>
                      <a:ln w="38100">
                        <a:noFill/>
                        <a:miter/>
                      </a:ln>
                    </p:spPr>
                  </p:pic>
                </p:oleObj>
              </mc:Fallback>
            </mc:AlternateContent>
          </a:graphicData>
        </a:graphic>
      </p:graphicFrame>
      <p:graphicFrame>
        <p:nvGraphicFramePr>
          <p:cNvPr id="62468" name="Object 7"/>
          <p:cNvGraphicFramePr>
            <a:graphicFrameLocks noChangeAspect="1"/>
          </p:cNvGraphicFramePr>
          <p:nvPr/>
        </p:nvGraphicFramePr>
        <p:xfrm>
          <a:off x="1042988" y="3716338"/>
          <a:ext cx="3311525" cy="947737"/>
        </p:xfrm>
        <a:graphic>
          <a:graphicData uri="http://schemas.openxmlformats.org/presentationml/2006/ole">
            <mc:AlternateContent xmlns:mc="http://schemas.openxmlformats.org/markup-compatibility/2006">
              <mc:Choice xmlns:v="urn:schemas-microsoft-com:vml" Requires="v">
                <p:oleObj spid="_x0000_s3142" name="" r:id="rId5" imgW="1511300" imgH="431800" progId="Equation.3">
                  <p:embed/>
                </p:oleObj>
              </mc:Choice>
              <mc:Fallback>
                <p:oleObj name="" r:id="rId5" imgW="1511300" imgH="431800" progId="Equation.3">
                  <p:embed/>
                  <p:pic>
                    <p:nvPicPr>
                      <p:cNvPr id="0" name="图片 3141"/>
                      <p:cNvPicPr/>
                      <p:nvPr/>
                    </p:nvPicPr>
                    <p:blipFill>
                      <a:blip r:embed="rId6"/>
                      <a:stretch>
                        <a:fillRect/>
                      </a:stretch>
                    </p:blipFill>
                    <p:spPr>
                      <a:xfrm>
                        <a:off x="1042988" y="3716338"/>
                        <a:ext cx="3311525" cy="947737"/>
                      </a:xfrm>
                      <a:prstGeom prst="rect">
                        <a:avLst/>
                      </a:prstGeom>
                      <a:noFill/>
                      <a:ln w="38100">
                        <a:noFill/>
                        <a:miter/>
                      </a:ln>
                    </p:spPr>
                  </p:pic>
                </p:oleObj>
              </mc:Fallback>
            </mc:AlternateContent>
          </a:graphicData>
        </a:graphic>
      </p:graphicFrame>
      <p:sp>
        <p:nvSpPr>
          <p:cNvPr id="62469" name="Text Box 8"/>
          <p:cNvSpPr txBox="1"/>
          <p:nvPr/>
        </p:nvSpPr>
        <p:spPr>
          <a:xfrm>
            <a:off x="323850" y="549275"/>
            <a:ext cx="6480175"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3600" dirty="0">
                <a:solidFill>
                  <a:schemeClr val="bg2"/>
                </a:solidFill>
                <a:latin typeface="Arial Black" panose="020B0A04020102020204" pitchFamily="34" charset="0"/>
                <a:cs typeface="Arial" panose="020B0604020202020204" pitchFamily="34" charset="0"/>
              </a:rPr>
              <a:t>Wye to Delta Conversion</a:t>
            </a:r>
            <a:endParaRPr lang="en-US" altLang="zh-CN" sz="3600" dirty="0">
              <a:solidFill>
                <a:schemeClr val="bg2"/>
              </a:solidFill>
              <a:latin typeface="Arial Black" panose="020B0A04020102020204" pitchFamily="34" charset="0"/>
              <a:ea typeface="Arial" panose="020B0604020202020204" pitchFamily="34" charset="0"/>
            </a:endParaRPr>
          </a:p>
        </p:txBody>
      </p:sp>
      <p:grpSp>
        <p:nvGrpSpPr>
          <p:cNvPr id="62470" name="Group 9"/>
          <p:cNvGrpSpPr/>
          <p:nvPr/>
        </p:nvGrpSpPr>
        <p:grpSpPr>
          <a:xfrm>
            <a:off x="5435600" y="1268413"/>
            <a:ext cx="3167063" cy="2335212"/>
            <a:chOff x="1047" y="643"/>
            <a:chExt cx="3654" cy="3027"/>
          </a:xfrm>
        </p:grpSpPr>
        <p:sp>
          <p:nvSpPr>
            <p:cNvPr id="62475" name="Freeform 10"/>
            <p:cNvSpPr/>
            <p:nvPr/>
          </p:nvSpPr>
          <p:spPr>
            <a:xfrm>
              <a:off x="1238" y="971"/>
              <a:ext cx="1651" cy="836"/>
            </a:xfrm>
            <a:custGeom>
              <a:avLst/>
              <a:gdLst>
                <a:gd name="txL" fmla="*/ 0 w 1651"/>
                <a:gd name="txT" fmla="*/ 0 h 836"/>
                <a:gd name="txR" fmla="*/ 1651 w 1651"/>
                <a:gd name="txB" fmla="*/ 836 h 836"/>
              </a:gdLst>
              <a:ahLst/>
              <a:cxnLst>
                <a:cxn ang="0">
                  <a:pos x="1651" y="836"/>
                </a:cxn>
                <a:cxn ang="0">
                  <a:pos x="0" y="0"/>
                </a:cxn>
                <a:cxn ang="0">
                  <a:pos x="1651" y="836"/>
                </a:cxn>
                <a:cxn ang="0">
                  <a:pos x="1651" y="836"/>
                </a:cxn>
              </a:cxnLst>
              <a:rect l="txL" t="txT" r="txR" b="txB"/>
              <a:pathLst>
                <a:path w="1651" h="836">
                  <a:moveTo>
                    <a:pt x="1651" y="836"/>
                  </a:moveTo>
                  <a:lnTo>
                    <a:pt x="0" y="0"/>
                  </a:lnTo>
                  <a:lnTo>
                    <a:pt x="1651" y="83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76" name="Freeform 11"/>
            <p:cNvSpPr>
              <a:spLocks noEditPoints="1"/>
            </p:cNvSpPr>
            <p:nvPr/>
          </p:nvSpPr>
          <p:spPr>
            <a:xfrm>
              <a:off x="2889" y="977"/>
              <a:ext cx="1633" cy="2502"/>
            </a:xfrm>
            <a:custGeom>
              <a:avLst/>
              <a:gdLst>
                <a:gd name="txL" fmla="*/ 0 w 1633"/>
                <a:gd name="txT" fmla="*/ 0 h 2502"/>
                <a:gd name="txR" fmla="*/ 1633 w 1633"/>
                <a:gd name="txB" fmla="*/ 2502 h 2502"/>
              </a:gdLst>
              <a:ahLst/>
              <a:cxnLst>
                <a:cxn ang="0">
                  <a:pos x="1633" y="0"/>
                </a:cxn>
                <a:cxn ang="0">
                  <a:pos x="0" y="830"/>
                </a:cxn>
                <a:cxn ang="0">
                  <a:pos x="1633" y="0"/>
                </a:cxn>
                <a:cxn ang="0">
                  <a:pos x="1633" y="0"/>
                </a:cxn>
                <a:cxn ang="0">
                  <a:pos x="0" y="830"/>
                </a:cxn>
                <a:cxn ang="0">
                  <a:pos x="0" y="2502"/>
                </a:cxn>
                <a:cxn ang="0">
                  <a:pos x="0" y="830"/>
                </a:cxn>
                <a:cxn ang="0">
                  <a:pos x="0" y="830"/>
                </a:cxn>
              </a:cxnLst>
              <a:rect l="txL" t="txT" r="txR" b="txB"/>
              <a:pathLst>
                <a:path w="1633" h="2502">
                  <a:moveTo>
                    <a:pt x="1633" y="0"/>
                  </a:moveTo>
                  <a:lnTo>
                    <a:pt x="0" y="830"/>
                  </a:lnTo>
                  <a:lnTo>
                    <a:pt x="1633" y="0"/>
                  </a:lnTo>
                  <a:close/>
                  <a:moveTo>
                    <a:pt x="0" y="830"/>
                  </a:moveTo>
                  <a:lnTo>
                    <a:pt x="0" y="2502"/>
                  </a:lnTo>
                  <a:lnTo>
                    <a:pt x="0" y="8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77" name="Freeform 12"/>
            <p:cNvSpPr/>
            <p:nvPr/>
          </p:nvSpPr>
          <p:spPr>
            <a:xfrm>
              <a:off x="2895" y="971"/>
              <a:ext cx="1633" cy="2508"/>
            </a:xfrm>
            <a:custGeom>
              <a:avLst/>
              <a:gdLst>
                <a:gd name="txL" fmla="*/ 0 w 1633"/>
                <a:gd name="txT" fmla="*/ 0 h 2508"/>
                <a:gd name="txR" fmla="*/ 1633 w 1633"/>
                <a:gd name="txB" fmla="*/ 2508 h 2508"/>
              </a:gdLst>
              <a:ahLst/>
              <a:cxnLst>
                <a:cxn ang="0">
                  <a:pos x="1633" y="0"/>
                </a:cxn>
                <a:cxn ang="0">
                  <a:pos x="0" y="2508"/>
                </a:cxn>
                <a:cxn ang="0">
                  <a:pos x="1633" y="0"/>
                </a:cxn>
                <a:cxn ang="0">
                  <a:pos x="1633" y="0"/>
                </a:cxn>
              </a:cxnLst>
              <a:rect l="txL" t="txT" r="txR" b="txB"/>
              <a:pathLst>
                <a:path w="1633" h="2508">
                  <a:moveTo>
                    <a:pt x="1633" y="0"/>
                  </a:moveTo>
                  <a:lnTo>
                    <a:pt x="0" y="2508"/>
                  </a:lnTo>
                  <a:lnTo>
                    <a:pt x="1633"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78" name="Freeform 13"/>
            <p:cNvSpPr>
              <a:spLocks noEditPoints="1"/>
            </p:cNvSpPr>
            <p:nvPr/>
          </p:nvSpPr>
          <p:spPr>
            <a:xfrm>
              <a:off x="1238" y="971"/>
              <a:ext cx="1657" cy="2508"/>
            </a:xfrm>
            <a:custGeom>
              <a:avLst/>
              <a:gdLst>
                <a:gd name="txL" fmla="*/ 0 w 1657"/>
                <a:gd name="txT" fmla="*/ 0 h 2508"/>
                <a:gd name="txR" fmla="*/ 1657 w 1657"/>
                <a:gd name="txB" fmla="*/ 2508 h 2508"/>
              </a:gdLst>
              <a:ahLst/>
              <a:cxnLst>
                <a:cxn ang="0">
                  <a:pos x="1657" y="2508"/>
                </a:cxn>
                <a:cxn ang="0">
                  <a:pos x="0" y="0"/>
                </a:cxn>
                <a:cxn ang="0">
                  <a:pos x="1657" y="2508"/>
                </a:cxn>
                <a:cxn ang="0">
                  <a:pos x="1657" y="2508"/>
                </a:cxn>
                <a:cxn ang="0">
                  <a:pos x="1657" y="2508"/>
                </a:cxn>
                <a:cxn ang="0">
                  <a:pos x="1657" y="2508"/>
                </a:cxn>
                <a:cxn ang="0">
                  <a:pos x="1657" y="2508"/>
                </a:cxn>
              </a:cxnLst>
              <a:rect l="txL" t="txT" r="txR" b="txB"/>
              <a:pathLst>
                <a:path w="1657" h="2508">
                  <a:moveTo>
                    <a:pt x="1657" y="2508"/>
                  </a:moveTo>
                  <a:lnTo>
                    <a:pt x="0" y="0"/>
                  </a:lnTo>
                  <a:lnTo>
                    <a:pt x="1657" y="2508"/>
                  </a:lnTo>
                  <a:close/>
                  <a:moveTo>
                    <a:pt x="1657" y="2508"/>
                  </a:moveTo>
                  <a:lnTo>
                    <a:pt x="1657" y="250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79" name="Freeform 14"/>
            <p:cNvSpPr>
              <a:spLocks noEditPoints="1"/>
            </p:cNvSpPr>
            <p:nvPr/>
          </p:nvSpPr>
          <p:spPr>
            <a:xfrm>
              <a:off x="1238" y="971"/>
              <a:ext cx="3290" cy="1"/>
            </a:xfrm>
            <a:custGeom>
              <a:avLst/>
              <a:gdLst>
                <a:gd name="txL" fmla="*/ 0 w 3290"/>
                <a:gd name="txT" fmla="*/ 0 h 1"/>
                <a:gd name="txR" fmla="*/ 3290 w 3290"/>
                <a:gd name="txB" fmla="*/ 1 h 1"/>
              </a:gdLst>
              <a:ahLst/>
              <a:cxnLst>
                <a:cxn ang="0">
                  <a:pos x="0" y="0"/>
                </a:cxn>
                <a:cxn ang="0">
                  <a:pos x="3290" y="0"/>
                </a:cxn>
                <a:cxn ang="0">
                  <a:pos x="0" y="0"/>
                </a:cxn>
                <a:cxn ang="0">
                  <a:pos x="0" y="0"/>
                </a:cxn>
                <a:cxn ang="0">
                  <a:pos x="0" y="0"/>
                </a:cxn>
                <a:cxn ang="0">
                  <a:pos x="0" y="0"/>
                </a:cxn>
                <a:cxn ang="0">
                  <a:pos x="0" y="0"/>
                </a:cxn>
              </a:cxnLst>
              <a:rect l="txL" t="txT" r="txR" b="txB"/>
              <a:pathLst>
                <a:path w="3290" h="1">
                  <a:moveTo>
                    <a:pt x="0" y="0"/>
                  </a:moveTo>
                  <a:lnTo>
                    <a:pt x="3290" y="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80" name="Freeform 15"/>
            <p:cNvSpPr/>
            <p:nvPr/>
          </p:nvSpPr>
          <p:spPr>
            <a:xfrm>
              <a:off x="4528" y="971"/>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81" name="Freeform 16"/>
            <p:cNvSpPr>
              <a:spLocks noEditPoints="1"/>
            </p:cNvSpPr>
            <p:nvPr/>
          </p:nvSpPr>
          <p:spPr>
            <a:xfrm>
              <a:off x="3038" y="2560"/>
              <a:ext cx="120" cy="125"/>
            </a:xfrm>
            <a:custGeom>
              <a:avLst/>
              <a:gdLst>
                <a:gd name="txL" fmla="*/ 0 w 120"/>
                <a:gd name="txT" fmla="*/ 0 h 125"/>
                <a:gd name="txR" fmla="*/ 120 w 120"/>
                <a:gd name="txB" fmla="*/ 125 h 125"/>
              </a:gdLst>
              <a:ahLst/>
              <a:cxnLst>
                <a:cxn ang="0">
                  <a:pos x="114" y="119"/>
                </a:cxn>
                <a:cxn ang="0">
                  <a:pos x="102" y="113"/>
                </a:cxn>
                <a:cxn ang="0">
                  <a:pos x="96" y="107"/>
                </a:cxn>
                <a:cxn ang="0">
                  <a:pos x="78" y="59"/>
                </a:cxn>
                <a:cxn ang="0">
                  <a:pos x="96" y="53"/>
                </a:cxn>
                <a:cxn ang="0">
                  <a:pos x="108" y="47"/>
                </a:cxn>
                <a:cxn ang="0">
                  <a:pos x="120" y="23"/>
                </a:cxn>
                <a:cxn ang="0">
                  <a:pos x="114" y="12"/>
                </a:cxn>
                <a:cxn ang="0">
                  <a:pos x="102" y="6"/>
                </a:cxn>
                <a:cxn ang="0">
                  <a:pos x="90" y="0"/>
                </a:cxn>
                <a:cxn ang="0">
                  <a:pos x="78" y="0"/>
                </a:cxn>
                <a:cxn ang="0">
                  <a:pos x="30" y="0"/>
                </a:cxn>
                <a:cxn ang="0">
                  <a:pos x="30" y="0"/>
                </a:cxn>
                <a:cxn ang="0">
                  <a:pos x="42" y="0"/>
                </a:cxn>
                <a:cxn ang="0">
                  <a:pos x="42" y="12"/>
                </a:cxn>
                <a:cxn ang="0">
                  <a:pos x="42" y="17"/>
                </a:cxn>
                <a:cxn ang="0">
                  <a:pos x="42" y="17"/>
                </a:cxn>
                <a:cxn ang="0">
                  <a:pos x="18" y="107"/>
                </a:cxn>
                <a:cxn ang="0">
                  <a:pos x="12" y="119"/>
                </a:cxn>
                <a:cxn ang="0">
                  <a:pos x="0" y="119"/>
                </a:cxn>
                <a:cxn ang="0">
                  <a:pos x="0" y="125"/>
                </a:cxn>
                <a:cxn ang="0">
                  <a:pos x="48" y="125"/>
                </a:cxn>
                <a:cxn ang="0">
                  <a:pos x="48" y="119"/>
                </a:cxn>
                <a:cxn ang="0">
                  <a:pos x="36" y="119"/>
                </a:cxn>
                <a:cxn ang="0">
                  <a:pos x="36" y="113"/>
                </a:cxn>
                <a:cxn ang="0">
                  <a:pos x="36" y="107"/>
                </a:cxn>
                <a:cxn ang="0">
                  <a:pos x="36" y="101"/>
                </a:cxn>
                <a:cxn ang="0">
                  <a:pos x="48" y="59"/>
                </a:cxn>
                <a:cxn ang="0">
                  <a:pos x="60" y="59"/>
                </a:cxn>
                <a:cxn ang="0">
                  <a:pos x="84" y="125"/>
                </a:cxn>
                <a:cxn ang="0">
                  <a:pos x="114" y="125"/>
                </a:cxn>
                <a:cxn ang="0">
                  <a:pos x="114" y="119"/>
                </a:cxn>
                <a:cxn ang="0">
                  <a:pos x="66" y="6"/>
                </a:cxn>
                <a:cxn ang="0">
                  <a:pos x="66" y="6"/>
                </a:cxn>
                <a:cxn ang="0">
                  <a:pos x="72" y="6"/>
                </a:cxn>
                <a:cxn ang="0">
                  <a:pos x="90" y="6"/>
                </a:cxn>
                <a:cxn ang="0">
                  <a:pos x="96" y="12"/>
                </a:cxn>
                <a:cxn ang="0">
                  <a:pos x="96" y="23"/>
                </a:cxn>
                <a:cxn ang="0">
                  <a:pos x="90" y="41"/>
                </a:cxn>
                <a:cxn ang="0">
                  <a:pos x="78" y="53"/>
                </a:cxn>
                <a:cxn ang="0">
                  <a:pos x="60" y="53"/>
                </a:cxn>
                <a:cxn ang="0">
                  <a:pos x="60" y="53"/>
                </a:cxn>
                <a:cxn ang="0">
                  <a:pos x="54" y="53"/>
                </a:cxn>
                <a:cxn ang="0">
                  <a:pos x="66" y="6"/>
                </a:cxn>
              </a:cxnLst>
              <a:rect l="txL" t="txT" r="txR" b="txB"/>
              <a:pathLst>
                <a:path w="120" h="125">
                  <a:moveTo>
                    <a:pt x="114" y="119"/>
                  </a:moveTo>
                  <a:lnTo>
                    <a:pt x="102" y="113"/>
                  </a:lnTo>
                  <a:lnTo>
                    <a:pt x="96" y="107"/>
                  </a:lnTo>
                  <a:lnTo>
                    <a:pt x="78" y="59"/>
                  </a:lnTo>
                  <a:lnTo>
                    <a:pt x="96" y="53"/>
                  </a:lnTo>
                  <a:lnTo>
                    <a:pt x="108" y="47"/>
                  </a:lnTo>
                  <a:lnTo>
                    <a:pt x="120" y="23"/>
                  </a:lnTo>
                  <a:lnTo>
                    <a:pt x="114" y="12"/>
                  </a:lnTo>
                  <a:lnTo>
                    <a:pt x="102" y="6"/>
                  </a:lnTo>
                  <a:lnTo>
                    <a:pt x="90" y="0"/>
                  </a:lnTo>
                  <a:lnTo>
                    <a:pt x="78" y="0"/>
                  </a:lnTo>
                  <a:lnTo>
                    <a:pt x="30" y="0"/>
                  </a:lnTo>
                  <a:lnTo>
                    <a:pt x="42" y="0"/>
                  </a:lnTo>
                  <a:lnTo>
                    <a:pt x="42" y="12"/>
                  </a:lnTo>
                  <a:lnTo>
                    <a:pt x="42" y="17"/>
                  </a:lnTo>
                  <a:lnTo>
                    <a:pt x="18" y="107"/>
                  </a:lnTo>
                  <a:lnTo>
                    <a:pt x="12" y="119"/>
                  </a:lnTo>
                  <a:lnTo>
                    <a:pt x="0" y="119"/>
                  </a:lnTo>
                  <a:lnTo>
                    <a:pt x="0" y="125"/>
                  </a:lnTo>
                  <a:lnTo>
                    <a:pt x="48" y="125"/>
                  </a:lnTo>
                  <a:lnTo>
                    <a:pt x="48" y="119"/>
                  </a:lnTo>
                  <a:lnTo>
                    <a:pt x="36" y="119"/>
                  </a:lnTo>
                  <a:lnTo>
                    <a:pt x="36" y="113"/>
                  </a:lnTo>
                  <a:lnTo>
                    <a:pt x="36" y="107"/>
                  </a:lnTo>
                  <a:lnTo>
                    <a:pt x="36" y="101"/>
                  </a:lnTo>
                  <a:lnTo>
                    <a:pt x="48" y="59"/>
                  </a:lnTo>
                  <a:lnTo>
                    <a:pt x="60" y="59"/>
                  </a:lnTo>
                  <a:lnTo>
                    <a:pt x="84" y="125"/>
                  </a:lnTo>
                  <a:lnTo>
                    <a:pt x="114" y="125"/>
                  </a:lnTo>
                  <a:lnTo>
                    <a:pt x="114" y="119"/>
                  </a:lnTo>
                  <a:close/>
                  <a:moveTo>
                    <a:pt x="66" y="6"/>
                  </a:moveTo>
                  <a:lnTo>
                    <a:pt x="66" y="6"/>
                  </a:lnTo>
                  <a:lnTo>
                    <a:pt x="72" y="6"/>
                  </a:lnTo>
                  <a:lnTo>
                    <a:pt x="90" y="6"/>
                  </a:lnTo>
                  <a:lnTo>
                    <a:pt x="96" y="12"/>
                  </a:lnTo>
                  <a:lnTo>
                    <a:pt x="96" y="23"/>
                  </a:lnTo>
                  <a:lnTo>
                    <a:pt x="90" y="41"/>
                  </a:lnTo>
                  <a:lnTo>
                    <a:pt x="78" y="53"/>
                  </a:lnTo>
                  <a:lnTo>
                    <a:pt x="60" y="53"/>
                  </a:lnTo>
                  <a:lnTo>
                    <a:pt x="54" y="53"/>
                  </a:lnTo>
                  <a:lnTo>
                    <a:pt x="66"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82" name="Freeform 17"/>
            <p:cNvSpPr/>
            <p:nvPr/>
          </p:nvSpPr>
          <p:spPr>
            <a:xfrm>
              <a:off x="3164" y="2631"/>
              <a:ext cx="60" cy="102"/>
            </a:xfrm>
            <a:custGeom>
              <a:avLst/>
              <a:gdLst>
                <a:gd name="txL" fmla="*/ 0 w 60"/>
                <a:gd name="txT" fmla="*/ 0 h 102"/>
                <a:gd name="txR" fmla="*/ 60 w 60"/>
                <a:gd name="txB" fmla="*/ 102 h 102"/>
              </a:gdLst>
              <a:ahLst/>
              <a:cxnLst>
                <a:cxn ang="0">
                  <a:pos x="18" y="54"/>
                </a:cxn>
                <a:cxn ang="0">
                  <a:pos x="30" y="54"/>
                </a:cxn>
                <a:cxn ang="0">
                  <a:pos x="36" y="54"/>
                </a:cxn>
                <a:cxn ang="0">
                  <a:pos x="48" y="66"/>
                </a:cxn>
                <a:cxn ang="0">
                  <a:pos x="48" y="72"/>
                </a:cxn>
                <a:cxn ang="0">
                  <a:pos x="42" y="90"/>
                </a:cxn>
                <a:cxn ang="0">
                  <a:pos x="30" y="96"/>
                </a:cxn>
                <a:cxn ang="0">
                  <a:pos x="18" y="96"/>
                </a:cxn>
                <a:cxn ang="0">
                  <a:pos x="6" y="90"/>
                </a:cxn>
                <a:cxn ang="0">
                  <a:pos x="6" y="90"/>
                </a:cxn>
                <a:cxn ang="0">
                  <a:pos x="0" y="96"/>
                </a:cxn>
                <a:cxn ang="0">
                  <a:pos x="6" y="102"/>
                </a:cxn>
                <a:cxn ang="0">
                  <a:pos x="18" y="102"/>
                </a:cxn>
                <a:cxn ang="0">
                  <a:pos x="48" y="96"/>
                </a:cxn>
                <a:cxn ang="0">
                  <a:pos x="60" y="84"/>
                </a:cxn>
                <a:cxn ang="0">
                  <a:pos x="60" y="66"/>
                </a:cxn>
                <a:cxn ang="0">
                  <a:pos x="54" y="48"/>
                </a:cxn>
                <a:cxn ang="0">
                  <a:pos x="42" y="42"/>
                </a:cxn>
                <a:cxn ang="0">
                  <a:pos x="48" y="36"/>
                </a:cxn>
                <a:cxn ang="0">
                  <a:pos x="54" y="24"/>
                </a:cxn>
                <a:cxn ang="0">
                  <a:pos x="48" y="12"/>
                </a:cxn>
                <a:cxn ang="0">
                  <a:pos x="42" y="6"/>
                </a:cxn>
                <a:cxn ang="0">
                  <a:pos x="30" y="0"/>
                </a:cxn>
                <a:cxn ang="0">
                  <a:pos x="12" y="6"/>
                </a:cxn>
                <a:cxn ang="0">
                  <a:pos x="0" y="24"/>
                </a:cxn>
                <a:cxn ang="0">
                  <a:pos x="6" y="24"/>
                </a:cxn>
                <a:cxn ang="0">
                  <a:pos x="12" y="18"/>
                </a:cxn>
                <a:cxn ang="0">
                  <a:pos x="24" y="12"/>
                </a:cxn>
                <a:cxn ang="0">
                  <a:pos x="36" y="18"/>
                </a:cxn>
                <a:cxn ang="0">
                  <a:pos x="42" y="24"/>
                </a:cxn>
                <a:cxn ang="0">
                  <a:pos x="36" y="42"/>
                </a:cxn>
                <a:cxn ang="0">
                  <a:pos x="18" y="48"/>
                </a:cxn>
                <a:cxn ang="0">
                  <a:pos x="18" y="54"/>
                </a:cxn>
              </a:cxnLst>
              <a:rect l="txL" t="txT" r="txR" b="txB"/>
              <a:pathLst>
                <a:path w="60" h="102">
                  <a:moveTo>
                    <a:pt x="18" y="54"/>
                  </a:moveTo>
                  <a:lnTo>
                    <a:pt x="30" y="54"/>
                  </a:lnTo>
                  <a:lnTo>
                    <a:pt x="36" y="54"/>
                  </a:lnTo>
                  <a:lnTo>
                    <a:pt x="48" y="66"/>
                  </a:lnTo>
                  <a:lnTo>
                    <a:pt x="48" y="72"/>
                  </a:lnTo>
                  <a:lnTo>
                    <a:pt x="42" y="90"/>
                  </a:lnTo>
                  <a:lnTo>
                    <a:pt x="30" y="96"/>
                  </a:lnTo>
                  <a:lnTo>
                    <a:pt x="18" y="96"/>
                  </a:lnTo>
                  <a:lnTo>
                    <a:pt x="6" y="90"/>
                  </a:lnTo>
                  <a:lnTo>
                    <a:pt x="0" y="96"/>
                  </a:lnTo>
                  <a:lnTo>
                    <a:pt x="6" y="102"/>
                  </a:lnTo>
                  <a:lnTo>
                    <a:pt x="18" y="102"/>
                  </a:lnTo>
                  <a:lnTo>
                    <a:pt x="48" y="96"/>
                  </a:lnTo>
                  <a:lnTo>
                    <a:pt x="60" y="84"/>
                  </a:lnTo>
                  <a:lnTo>
                    <a:pt x="60" y="66"/>
                  </a:lnTo>
                  <a:lnTo>
                    <a:pt x="54" y="48"/>
                  </a:lnTo>
                  <a:lnTo>
                    <a:pt x="42" y="42"/>
                  </a:lnTo>
                  <a:lnTo>
                    <a:pt x="48" y="36"/>
                  </a:lnTo>
                  <a:lnTo>
                    <a:pt x="54" y="24"/>
                  </a:lnTo>
                  <a:lnTo>
                    <a:pt x="48" y="12"/>
                  </a:lnTo>
                  <a:lnTo>
                    <a:pt x="42" y="6"/>
                  </a:lnTo>
                  <a:lnTo>
                    <a:pt x="30" y="0"/>
                  </a:lnTo>
                  <a:lnTo>
                    <a:pt x="12" y="6"/>
                  </a:lnTo>
                  <a:lnTo>
                    <a:pt x="0" y="24"/>
                  </a:lnTo>
                  <a:lnTo>
                    <a:pt x="6" y="24"/>
                  </a:lnTo>
                  <a:lnTo>
                    <a:pt x="12" y="18"/>
                  </a:lnTo>
                  <a:lnTo>
                    <a:pt x="24" y="12"/>
                  </a:lnTo>
                  <a:lnTo>
                    <a:pt x="36" y="18"/>
                  </a:lnTo>
                  <a:lnTo>
                    <a:pt x="42" y="24"/>
                  </a:lnTo>
                  <a:lnTo>
                    <a:pt x="36" y="42"/>
                  </a:lnTo>
                  <a:lnTo>
                    <a:pt x="18" y="48"/>
                  </a:lnTo>
                  <a:lnTo>
                    <a:pt x="18" y="5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83" name="Freeform 18"/>
            <p:cNvSpPr>
              <a:spLocks noEditPoints="1"/>
            </p:cNvSpPr>
            <p:nvPr/>
          </p:nvSpPr>
          <p:spPr>
            <a:xfrm>
              <a:off x="3888" y="2195"/>
              <a:ext cx="113" cy="126"/>
            </a:xfrm>
            <a:custGeom>
              <a:avLst/>
              <a:gdLst>
                <a:gd name="txL" fmla="*/ 0 w 113"/>
                <a:gd name="txT" fmla="*/ 0 h 126"/>
                <a:gd name="txR" fmla="*/ 113 w 113"/>
                <a:gd name="txB" fmla="*/ 126 h 126"/>
              </a:gdLst>
              <a:ahLst/>
              <a:cxnLst>
                <a:cxn ang="0">
                  <a:pos x="113" y="120"/>
                </a:cxn>
                <a:cxn ang="0">
                  <a:pos x="101" y="114"/>
                </a:cxn>
                <a:cxn ang="0">
                  <a:pos x="95" y="108"/>
                </a:cxn>
                <a:cxn ang="0">
                  <a:pos x="77" y="60"/>
                </a:cxn>
                <a:cxn ang="0">
                  <a:pos x="95" y="54"/>
                </a:cxn>
                <a:cxn ang="0">
                  <a:pos x="107" y="48"/>
                </a:cxn>
                <a:cxn ang="0">
                  <a:pos x="113" y="24"/>
                </a:cxn>
                <a:cxn ang="0">
                  <a:pos x="107" y="12"/>
                </a:cxn>
                <a:cxn ang="0">
                  <a:pos x="95" y="6"/>
                </a:cxn>
                <a:cxn ang="0">
                  <a:pos x="83" y="0"/>
                </a:cxn>
                <a:cxn ang="0">
                  <a:pos x="77" y="0"/>
                </a:cxn>
                <a:cxn ang="0">
                  <a:pos x="30" y="0"/>
                </a:cxn>
                <a:cxn ang="0">
                  <a:pos x="30" y="0"/>
                </a:cxn>
                <a:cxn ang="0">
                  <a:pos x="36" y="0"/>
                </a:cxn>
                <a:cxn ang="0">
                  <a:pos x="42" y="12"/>
                </a:cxn>
                <a:cxn ang="0">
                  <a:pos x="42" y="18"/>
                </a:cxn>
                <a:cxn ang="0">
                  <a:pos x="42" y="24"/>
                </a:cxn>
                <a:cxn ang="0">
                  <a:pos x="18" y="108"/>
                </a:cxn>
                <a:cxn ang="0">
                  <a:pos x="12" y="120"/>
                </a:cxn>
                <a:cxn ang="0">
                  <a:pos x="0" y="120"/>
                </a:cxn>
                <a:cxn ang="0">
                  <a:pos x="0" y="126"/>
                </a:cxn>
                <a:cxn ang="0">
                  <a:pos x="48" y="126"/>
                </a:cxn>
                <a:cxn ang="0">
                  <a:pos x="48" y="120"/>
                </a:cxn>
                <a:cxn ang="0">
                  <a:pos x="36" y="120"/>
                </a:cxn>
                <a:cxn ang="0">
                  <a:pos x="36" y="114"/>
                </a:cxn>
                <a:cxn ang="0">
                  <a:pos x="36" y="108"/>
                </a:cxn>
                <a:cxn ang="0">
                  <a:pos x="36" y="102"/>
                </a:cxn>
                <a:cxn ang="0">
                  <a:pos x="48" y="60"/>
                </a:cxn>
                <a:cxn ang="0">
                  <a:pos x="60" y="60"/>
                </a:cxn>
                <a:cxn ang="0">
                  <a:pos x="83" y="126"/>
                </a:cxn>
                <a:cxn ang="0">
                  <a:pos x="113" y="126"/>
                </a:cxn>
                <a:cxn ang="0">
                  <a:pos x="113" y="120"/>
                </a:cxn>
                <a:cxn ang="0">
                  <a:pos x="60" y="6"/>
                </a:cxn>
                <a:cxn ang="0">
                  <a:pos x="65" y="6"/>
                </a:cxn>
                <a:cxn ang="0">
                  <a:pos x="71" y="6"/>
                </a:cxn>
                <a:cxn ang="0">
                  <a:pos x="89" y="6"/>
                </a:cxn>
                <a:cxn ang="0">
                  <a:pos x="95" y="12"/>
                </a:cxn>
                <a:cxn ang="0">
                  <a:pos x="95" y="24"/>
                </a:cxn>
                <a:cxn ang="0">
                  <a:pos x="89" y="48"/>
                </a:cxn>
                <a:cxn ang="0">
                  <a:pos x="77" y="54"/>
                </a:cxn>
                <a:cxn ang="0">
                  <a:pos x="60" y="54"/>
                </a:cxn>
                <a:cxn ang="0">
                  <a:pos x="54" y="54"/>
                </a:cxn>
                <a:cxn ang="0">
                  <a:pos x="48" y="54"/>
                </a:cxn>
                <a:cxn ang="0">
                  <a:pos x="60" y="6"/>
                </a:cxn>
              </a:cxnLst>
              <a:rect l="txL" t="txT" r="txR" b="txB"/>
              <a:pathLst>
                <a:path w="113" h="126">
                  <a:moveTo>
                    <a:pt x="113" y="120"/>
                  </a:moveTo>
                  <a:lnTo>
                    <a:pt x="101" y="114"/>
                  </a:lnTo>
                  <a:lnTo>
                    <a:pt x="95" y="108"/>
                  </a:lnTo>
                  <a:lnTo>
                    <a:pt x="77" y="60"/>
                  </a:lnTo>
                  <a:lnTo>
                    <a:pt x="95" y="54"/>
                  </a:lnTo>
                  <a:lnTo>
                    <a:pt x="107" y="48"/>
                  </a:lnTo>
                  <a:lnTo>
                    <a:pt x="113" y="24"/>
                  </a:lnTo>
                  <a:lnTo>
                    <a:pt x="107" y="12"/>
                  </a:lnTo>
                  <a:lnTo>
                    <a:pt x="95" y="6"/>
                  </a:lnTo>
                  <a:lnTo>
                    <a:pt x="83" y="0"/>
                  </a:lnTo>
                  <a:lnTo>
                    <a:pt x="77" y="0"/>
                  </a:lnTo>
                  <a:lnTo>
                    <a:pt x="30" y="0"/>
                  </a:lnTo>
                  <a:lnTo>
                    <a:pt x="36" y="0"/>
                  </a:lnTo>
                  <a:lnTo>
                    <a:pt x="42" y="12"/>
                  </a:lnTo>
                  <a:lnTo>
                    <a:pt x="42" y="18"/>
                  </a:lnTo>
                  <a:lnTo>
                    <a:pt x="42" y="24"/>
                  </a:lnTo>
                  <a:lnTo>
                    <a:pt x="18" y="108"/>
                  </a:lnTo>
                  <a:lnTo>
                    <a:pt x="12" y="120"/>
                  </a:lnTo>
                  <a:lnTo>
                    <a:pt x="0" y="120"/>
                  </a:lnTo>
                  <a:lnTo>
                    <a:pt x="0" y="126"/>
                  </a:lnTo>
                  <a:lnTo>
                    <a:pt x="48" y="126"/>
                  </a:lnTo>
                  <a:lnTo>
                    <a:pt x="48" y="120"/>
                  </a:lnTo>
                  <a:lnTo>
                    <a:pt x="36" y="120"/>
                  </a:lnTo>
                  <a:lnTo>
                    <a:pt x="36" y="114"/>
                  </a:lnTo>
                  <a:lnTo>
                    <a:pt x="36" y="108"/>
                  </a:lnTo>
                  <a:lnTo>
                    <a:pt x="36" y="102"/>
                  </a:lnTo>
                  <a:lnTo>
                    <a:pt x="48" y="60"/>
                  </a:lnTo>
                  <a:lnTo>
                    <a:pt x="60" y="60"/>
                  </a:lnTo>
                  <a:lnTo>
                    <a:pt x="83" y="126"/>
                  </a:lnTo>
                  <a:lnTo>
                    <a:pt x="113" y="126"/>
                  </a:lnTo>
                  <a:lnTo>
                    <a:pt x="113" y="120"/>
                  </a:lnTo>
                  <a:close/>
                  <a:moveTo>
                    <a:pt x="60" y="6"/>
                  </a:moveTo>
                  <a:lnTo>
                    <a:pt x="65" y="6"/>
                  </a:lnTo>
                  <a:lnTo>
                    <a:pt x="71" y="6"/>
                  </a:lnTo>
                  <a:lnTo>
                    <a:pt x="89" y="6"/>
                  </a:lnTo>
                  <a:lnTo>
                    <a:pt x="95" y="12"/>
                  </a:lnTo>
                  <a:lnTo>
                    <a:pt x="95" y="24"/>
                  </a:lnTo>
                  <a:lnTo>
                    <a:pt x="89" y="48"/>
                  </a:lnTo>
                  <a:lnTo>
                    <a:pt x="77" y="54"/>
                  </a:lnTo>
                  <a:lnTo>
                    <a:pt x="60" y="54"/>
                  </a:lnTo>
                  <a:lnTo>
                    <a:pt x="54" y="54"/>
                  </a:lnTo>
                  <a:lnTo>
                    <a:pt x="48" y="54"/>
                  </a:lnTo>
                  <a:lnTo>
                    <a:pt x="6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84" name="Freeform 19"/>
            <p:cNvSpPr>
              <a:spLocks noEditPoints="1"/>
            </p:cNvSpPr>
            <p:nvPr/>
          </p:nvSpPr>
          <p:spPr>
            <a:xfrm>
              <a:off x="4013" y="2303"/>
              <a:ext cx="66" cy="65"/>
            </a:xfrm>
            <a:custGeom>
              <a:avLst/>
              <a:gdLst>
                <a:gd name="txL" fmla="*/ 0 w 66"/>
                <a:gd name="txT" fmla="*/ 0 h 65"/>
                <a:gd name="txR" fmla="*/ 66 w 66"/>
                <a:gd name="txB" fmla="*/ 65 h 65"/>
              </a:gdLst>
              <a:ahLst/>
              <a:cxnLst>
                <a:cxn ang="0">
                  <a:pos x="60" y="48"/>
                </a:cxn>
                <a:cxn ang="0">
                  <a:pos x="54" y="54"/>
                </a:cxn>
                <a:cxn ang="0">
                  <a:pos x="48" y="60"/>
                </a:cxn>
                <a:cxn ang="0">
                  <a:pos x="48" y="60"/>
                </a:cxn>
                <a:cxn ang="0">
                  <a:pos x="48" y="54"/>
                </a:cxn>
                <a:cxn ang="0">
                  <a:pos x="48" y="48"/>
                </a:cxn>
                <a:cxn ang="0">
                  <a:pos x="54" y="30"/>
                </a:cxn>
                <a:cxn ang="0">
                  <a:pos x="60" y="6"/>
                </a:cxn>
                <a:cxn ang="0">
                  <a:pos x="60" y="0"/>
                </a:cxn>
                <a:cxn ang="0">
                  <a:pos x="60" y="0"/>
                </a:cxn>
                <a:cxn ang="0">
                  <a:pos x="54" y="0"/>
                </a:cxn>
                <a:cxn ang="0">
                  <a:pos x="54" y="0"/>
                </a:cxn>
                <a:cxn ang="0">
                  <a:pos x="48" y="6"/>
                </a:cxn>
                <a:cxn ang="0">
                  <a:pos x="48" y="6"/>
                </a:cxn>
                <a:cxn ang="0">
                  <a:pos x="42" y="6"/>
                </a:cxn>
                <a:cxn ang="0">
                  <a:pos x="36" y="0"/>
                </a:cxn>
                <a:cxn ang="0">
                  <a:pos x="24" y="6"/>
                </a:cxn>
                <a:cxn ang="0">
                  <a:pos x="12" y="18"/>
                </a:cxn>
                <a:cxn ang="0">
                  <a:pos x="6" y="36"/>
                </a:cxn>
                <a:cxn ang="0">
                  <a:pos x="0" y="48"/>
                </a:cxn>
                <a:cxn ang="0">
                  <a:pos x="0" y="60"/>
                </a:cxn>
                <a:cxn ang="0">
                  <a:pos x="12" y="65"/>
                </a:cxn>
                <a:cxn ang="0">
                  <a:pos x="24" y="60"/>
                </a:cxn>
                <a:cxn ang="0">
                  <a:pos x="42" y="42"/>
                </a:cxn>
                <a:cxn ang="0">
                  <a:pos x="42" y="42"/>
                </a:cxn>
                <a:cxn ang="0">
                  <a:pos x="36" y="54"/>
                </a:cxn>
                <a:cxn ang="0">
                  <a:pos x="36" y="60"/>
                </a:cxn>
                <a:cxn ang="0">
                  <a:pos x="36" y="65"/>
                </a:cxn>
                <a:cxn ang="0">
                  <a:pos x="42" y="65"/>
                </a:cxn>
                <a:cxn ang="0">
                  <a:pos x="54" y="60"/>
                </a:cxn>
                <a:cxn ang="0">
                  <a:pos x="66" y="48"/>
                </a:cxn>
                <a:cxn ang="0">
                  <a:pos x="60" y="48"/>
                </a:cxn>
                <a:cxn ang="0">
                  <a:pos x="12" y="48"/>
                </a:cxn>
                <a:cxn ang="0">
                  <a:pos x="12" y="36"/>
                </a:cxn>
                <a:cxn ang="0">
                  <a:pos x="18" y="24"/>
                </a:cxn>
                <a:cxn ang="0">
                  <a:pos x="30" y="12"/>
                </a:cxn>
                <a:cxn ang="0">
                  <a:pos x="42" y="6"/>
                </a:cxn>
                <a:cxn ang="0">
                  <a:pos x="48" y="6"/>
                </a:cxn>
                <a:cxn ang="0">
                  <a:pos x="48" y="12"/>
                </a:cxn>
                <a:cxn ang="0">
                  <a:pos x="42" y="42"/>
                </a:cxn>
                <a:cxn ang="0">
                  <a:pos x="30" y="54"/>
                </a:cxn>
                <a:cxn ang="0">
                  <a:pos x="18" y="60"/>
                </a:cxn>
                <a:cxn ang="0">
                  <a:pos x="12" y="54"/>
                </a:cxn>
                <a:cxn ang="0">
                  <a:pos x="12" y="48"/>
                </a:cxn>
                <a:cxn ang="0">
                  <a:pos x="12" y="48"/>
                </a:cxn>
              </a:cxnLst>
              <a:rect l="txL" t="txT" r="txR" b="txB"/>
              <a:pathLst>
                <a:path w="66" h="65">
                  <a:moveTo>
                    <a:pt x="60" y="48"/>
                  </a:moveTo>
                  <a:lnTo>
                    <a:pt x="54" y="54"/>
                  </a:lnTo>
                  <a:lnTo>
                    <a:pt x="48" y="60"/>
                  </a:lnTo>
                  <a:lnTo>
                    <a:pt x="48" y="54"/>
                  </a:lnTo>
                  <a:lnTo>
                    <a:pt x="48" y="48"/>
                  </a:lnTo>
                  <a:lnTo>
                    <a:pt x="54" y="30"/>
                  </a:lnTo>
                  <a:lnTo>
                    <a:pt x="60" y="6"/>
                  </a:lnTo>
                  <a:lnTo>
                    <a:pt x="60" y="0"/>
                  </a:lnTo>
                  <a:lnTo>
                    <a:pt x="54" y="0"/>
                  </a:lnTo>
                  <a:lnTo>
                    <a:pt x="48" y="6"/>
                  </a:lnTo>
                  <a:lnTo>
                    <a:pt x="42" y="6"/>
                  </a:lnTo>
                  <a:lnTo>
                    <a:pt x="36" y="0"/>
                  </a:lnTo>
                  <a:lnTo>
                    <a:pt x="24" y="6"/>
                  </a:lnTo>
                  <a:lnTo>
                    <a:pt x="12" y="18"/>
                  </a:lnTo>
                  <a:lnTo>
                    <a:pt x="6" y="36"/>
                  </a:lnTo>
                  <a:lnTo>
                    <a:pt x="0" y="48"/>
                  </a:lnTo>
                  <a:lnTo>
                    <a:pt x="0" y="60"/>
                  </a:lnTo>
                  <a:lnTo>
                    <a:pt x="12" y="65"/>
                  </a:lnTo>
                  <a:lnTo>
                    <a:pt x="24" y="60"/>
                  </a:lnTo>
                  <a:lnTo>
                    <a:pt x="42" y="42"/>
                  </a:lnTo>
                  <a:lnTo>
                    <a:pt x="36" y="54"/>
                  </a:lnTo>
                  <a:lnTo>
                    <a:pt x="36" y="60"/>
                  </a:lnTo>
                  <a:lnTo>
                    <a:pt x="36" y="65"/>
                  </a:lnTo>
                  <a:lnTo>
                    <a:pt x="42" y="65"/>
                  </a:lnTo>
                  <a:lnTo>
                    <a:pt x="54" y="60"/>
                  </a:lnTo>
                  <a:lnTo>
                    <a:pt x="66" y="48"/>
                  </a:lnTo>
                  <a:lnTo>
                    <a:pt x="60" y="48"/>
                  </a:lnTo>
                  <a:close/>
                  <a:moveTo>
                    <a:pt x="12" y="48"/>
                  </a:moveTo>
                  <a:lnTo>
                    <a:pt x="12" y="36"/>
                  </a:lnTo>
                  <a:lnTo>
                    <a:pt x="18" y="24"/>
                  </a:lnTo>
                  <a:lnTo>
                    <a:pt x="30" y="12"/>
                  </a:lnTo>
                  <a:lnTo>
                    <a:pt x="42" y="6"/>
                  </a:lnTo>
                  <a:lnTo>
                    <a:pt x="48" y="6"/>
                  </a:lnTo>
                  <a:lnTo>
                    <a:pt x="48" y="12"/>
                  </a:lnTo>
                  <a:lnTo>
                    <a:pt x="42" y="42"/>
                  </a:lnTo>
                  <a:lnTo>
                    <a:pt x="30" y="54"/>
                  </a:lnTo>
                  <a:lnTo>
                    <a:pt x="18" y="60"/>
                  </a:lnTo>
                  <a:lnTo>
                    <a:pt x="12" y="54"/>
                  </a:lnTo>
                  <a:lnTo>
                    <a:pt x="12"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85" name="Freeform 20"/>
            <p:cNvSpPr>
              <a:spLocks noEditPoints="1"/>
            </p:cNvSpPr>
            <p:nvPr/>
          </p:nvSpPr>
          <p:spPr>
            <a:xfrm>
              <a:off x="1741" y="2195"/>
              <a:ext cx="113" cy="126"/>
            </a:xfrm>
            <a:custGeom>
              <a:avLst/>
              <a:gdLst>
                <a:gd name="txL" fmla="*/ 0 w 113"/>
                <a:gd name="txT" fmla="*/ 0 h 126"/>
                <a:gd name="txR" fmla="*/ 113 w 113"/>
                <a:gd name="txB" fmla="*/ 126 h 126"/>
              </a:gdLst>
              <a:ahLst/>
              <a:cxnLst>
                <a:cxn ang="0">
                  <a:pos x="107" y="120"/>
                </a:cxn>
                <a:cxn ang="0">
                  <a:pos x="101" y="114"/>
                </a:cxn>
                <a:cxn ang="0">
                  <a:pos x="95" y="108"/>
                </a:cxn>
                <a:cxn ang="0">
                  <a:pos x="77" y="60"/>
                </a:cxn>
                <a:cxn ang="0">
                  <a:pos x="107" y="48"/>
                </a:cxn>
                <a:cxn ang="0">
                  <a:pos x="113" y="24"/>
                </a:cxn>
                <a:cxn ang="0">
                  <a:pos x="107" y="12"/>
                </a:cxn>
                <a:cxn ang="0">
                  <a:pos x="95" y="6"/>
                </a:cxn>
                <a:cxn ang="0">
                  <a:pos x="83" y="0"/>
                </a:cxn>
                <a:cxn ang="0">
                  <a:pos x="71" y="0"/>
                </a:cxn>
                <a:cxn ang="0">
                  <a:pos x="30" y="0"/>
                </a:cxn>
                <a:cxn ang="0">
                  <a:pos x="30" y="0"/>
                </a:cxn>
                <a:cxn ang="0">
                  <a:pos x="36" y="0"/>
                </a:cxn>
                <a:cxn ang="0">
                  <a:pos x="42" y="12"/>
                </a:cxn>
                <a:cxn ang="0">
                  <a:pos x="42" y="18"/>
                </a:cxn>
                <a:cxn ang="0">
                  <a:pos x="36" y="24"/>
                </a:cxn>
                <a:cxn ang="0">
                  <a:pos x="12" y="108"/>
                </a:cxn>
                <a:cxn ang="0">
                  <a:pos x="12" y="120"/>
                </a:cxn>
                <a:cxn ang="0">
                  <a:pos x="0" y="120"/>
                </a:cxn>
                <a:cxn ang="0">
                  <a:pos x="0" y="126"/>
                </a:cxn>
                <a:cxn ang="0">
                  <a:pos x="48" y="126"/>
                </a:cxn>
                <a:cxn ang="0">
                  <a:pos x="48" y="120"/>
                </a:cxn>
                <a:cxn ang="0">
                  <a:pos x="36" y="120"/>
                </a:cxn>
                <a:cxn ang="0">
                  <a:pos x="36" y="114"/>
                </a:cxn>
                <a:cxn ang="0">
                  <a:pos x="36" y="108"/>
                </a:cxn>
                <a:cxn ang="0">
                  <a:pos x="36" y="102"/>
                </a:cxn>
                <a:cxn ang="0">
                  <a:pos x="48" y="60"/>
                </a:cxn>
                <a:cxn ang="0">
                  <a:pos x="60" y="60"/>
                </a:cxn>
                <a:cxn ang="0">
                  <a:pos x="83" y="126"/>
                </a:cxn>
                <a:cxn ang="0">
                  <a:pos x="107" y="126"/>
                </a:cxn>
                <a:cxn ang="0">
                  <a:pos x="107" y="120"/>
                </a:cxn>
                <a:cxn ang="0">
                  <a:pos x="60" y="6"/>
                </a:cxn>
                <a:cxn ang="0">
                  <a:pos x="66" y="6"/>
                </a:cxn>
                <a:cxn ang="0">
                  <a:pos x="71" y="6"/>
                </a:cxn>
                <a:cxn ang="0">
                  <a:pos x="89" y="6"/>
                </a:cxn>
                <a:cxn ang="0">
                  <a:pos x="95" y="12"/>
                </a:cxn>
                <a:cxn ang="0">
                  <a:pos x="95" y="24"/>
                </a:cxn>
                <a:cxn ang="0">
                  <a:pos x="89" y="48"/>
                </a:cxn>
                <a:cxn ang="0">
                  <a:pos x="77" y="54"/>
                </a:cxn>
                <a:cxn ang="0">
                  <a:pos x="60" y="54"/>
                </a:cxn>
                <a:cxn ang="0">
                  <a:pos x="54" y="54"/>
                </a:cxn>
                <a:cxn ang="0">
                  <a:pos x="48" y="54"/>
                </a:cxn>
                <a:cxn ang="0">
                  <a:pos x="60" y="6"/>
                </a:cxn>
              </a:cxnLst>
              <a:rect l="txL" t="txT" r="txR" b="txB"/>
              <a:pathLst>
                <a:path w="113" h="126">
                  <a:moveTo>
                    <a:pt x="107" y="120"/>
                  </a:moveTo>
                  <a:lnTo>
                    <a:pt x="101" y="114"/>
                  </a:lnTo>
                  <a:lnTo>
                    <a:pt x="95" y="108"/>
                  </a:lnTo>
                  <a:lnTo>
                    <a:pt x="77" y="60"/>
                  </a:lnTo>
                  <a:lnTo>
                    <a:pt x="107" y="48"/>
                  </a:lnTo>
                  <a:lnTo>
                    <a:pt x="113" y="24"/>
                  </a:lnTo>
                  <a:lnTo>
                    <a:pt x="107" y="12"/>
                  </a:lnTo>
                  <a:lnTo>
                    <a:pt x="95" y="6"/>
                  </a:lnTo>
                  <a:lnTo>
                    <a:pt x="83" y="0"/>
                  </a:lnTo>
                  <a:lnTo>
                    <a:pt x="71" y="0"/>
                  </a:lnTo>
                  <a:lnTo>
                    <a:pt x="30" y="0"/>
                  </a:lnTo>
                  <a:lnTo>
                    <a:pt x="36" y="0"/>
                  </a:lnTo>
                  <a:lnTo>
                    <a:pt x="42" y="12"/>
                  </a:lnTo>
                  <a:lnTo>
                    <a:pt x="42" y="18"/>
                  </a:lnTo>
                  <a:lnTo>
                    <a:pt x="36" y="24"/>
                  </a:lnTo>
                  <a:lnTo>
                    <a:pt x="12" y="108"/>
                  </a:lnTo>
                  <a:lnTo>
                    <a:pt x="12" y="120"/>
                  </a:lnTo>
                  <a:lnTo>
                    <a:pt x="0" y="120"/>
                  </a:lnTo>
                  <a:lnTo>
                    <a:pt x="0" y="126"/>
                  </a:lnTo>
                  <a:lnTo>
                    <a:pt x="48" y="126"/>
                  </a:lnTo>
                  <a:lnTo>
                    <a:pt x="48" y="120"/>
                  </a:lnTo>
                  <a:lnTo>
                    <a:pt x="36" y="120"/>
                  </a:lnTo>
                  <a:lnTo>
                    <a:pt x="36" y="114"/>
                  </a:lnTo>
                  <a:lnTo>
                    <a:pt x="36" y="108"/>
                  </a:lnTo>
                  <a:lnTo>
                    <a:pt x="36" y="102"/>
                  </a:lnTo>
                  <a:lnTo>
                    <a:pt x="48" y="60"/>
                  </a:lnTo>
                  <a:lnTo>
                    <a:pt x="60" y="60"/>
                  </a:lnTo>
                  <a:lnTo>
                    <a:pt x="83" y="126"/>
                  </a:lnTo>
                  <a:lnTo>
                    <a:pt x="107" y="126"/>
                  </a:lnTo>
                  <a:lnTo>
                    <a:pt x="107" y="120"/>
                  </a:lnTo>
                  <a:close/>
                  <a:moveTo>
                    <a:pt x="60" y="6"/>
                  </a:moveTo>
                  <a:lnTo>
                    <a:pt x="66" y="6"/>
                  </a:lnTo>
                  <a:lnTo>
                    <a:pt x="71" y="6"/>
                  </a:lnTo>
                  <a:lnTo>
                    <a:pt x="89" y="6"/>
                  </a:lnTo>
                  <a:lnTo>
                    <a:pt x="95" y="12"/>
                  </a:lnTo>
                  <a:lnTo>
                    <a:pt x="95" y="24"/>
                  </a:lnTo>
                  <a:lnTo>
                    <a:pt x="89" y="48"/>
                  </a:lnTo>
                  <a:lnTo>
                    <a:pt x="77" y="54"/>
                  </a:lnTo>
                  <a:lnTo>
                    <a:pt x="60" y="54"/>
                  </a:lnTo>
                  <a:lnTo>
                    <a:pt x="54" y="54"/>
                  </a:lnTo>
                  <a:lnTo>
                    <a:pt x="48" y="54"/>
                  </a:lnTo>
                  <a:lnTo>
                    <a:pt x="6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86" name="Freeform 21"/>
            <p:cNvSpPr>
              <a:spLocks noEditPoints="1"/>
            </p:cNvSpPr>
            <p:nvPr/>
          </p:nvSpPr>
          <p:spPr>
            <a:xfrm>
              <a:off x="1872" y="2267"/>
              <a:ext cx="60" cy="101"/>
            </a:xfrm>
            <a:custGeom>
              <a:avLst/>
              <a:gdLst>
                <a:gd name="txL" fmla="*/ 0 w 60"/>
                <a:gd name="txT" fmla="*/ 0 h 101"/>
                <a:gd name="txR" fmla="*/ 60 w 60"/>
                <a:gd name="txB" fmla="*/ 101 h 101"/>
              </a:gdLst>
              <a:ahLst/>
              <a:cxnLst>
                <a:cxn ang="0">
                  <a:pos x="48" y="54"/>
                </a:cxn>
                <a:cxn ang="0">
                  <a:pos x="48" y="66"/>
                </a:cxn>
                <a:cxn ang="0">
                  <a:pos x="42" y="78"/>
                </a:cxn>
                <a:cxn ang="0">
                  <a:pos x="30" y="90"/>
                </a:cxn>
                <a:cxn ang="0">
                  <a:pos x="18" y="96"/>
                </a:cxn>
                <a:cxn ang="0">
                  <a:pos x="12" y="96"/>
                </a:cxn>
                <a:cxn ang="0">
                  <a:pos x="12" y="96"/>
                </a:cxn>
                <a:cxn ang="0">
                  <a:pos x="12" y="78"/>
                </a:cxn>
                <a:cxn ang="0">
                  <a:pos x="18" y="60"/>
                </a:cxn>
                <a:cxn ang="0">
                  <a:pos x="30" y="48"/>
                </a:cxn>
                <a:cxn ang="0">
                  <a:pos x="42" y="42"/>
                </a:cxn>
                <a:cxn ang="0">
                  <a:pos x="48" y="48"/>
                </a:cxn>
                <a:cxn ang="0">
                  <a:pos x="48" y="54"/>
                </a:cxn>
                <a:cxn ang="0">
                  <a:pos x="48" y="54"/>
                </a:cxn>
                <a:cxn ang="0">
                  <a:pos x="12" y="6"/>
                </a:cxn>
                <a:cxn ang="0">
                  <a:pos x="18" y="6"/>
                </a:cxn>
                <a:cxn ang="0">
                  <a:pos x="18" y="12"/>
                </a:cxn>
                <a:cxn ang="0">
                  <a:pos x="18" y="18"/>
                </a:cxn>
                <a:cxn ang="0">
                  <a:pos x="18" y="18"/>
                </a:cxn>
                <a:cxn ang="0">
                  <a:pos x="0" y="96"/>
                </a:cxn>
                <a:cxn ang="0">
                  <a:pos x="0" y="96"/>
                </a:cxn>
                <a:cxn ang="0">
                  <a:pos x="6" y="101"/>
                </a:cxn>
                <a:cxn ang="0">
                  <a:pos x="18" y="101"/>
                </a:cxn>
                <a:cxn ang="0">
                  <a:pos x="30" y="96"/>
                </a:cxn>
                <a:cxn ang="0">
                  <a:pos x="48" y="90"/>
                </a:cxn>
                <a:cxn ang="0">
                  <a:pos x="54" y="72"/>
                </a:cxn>
                <a:cxn ang="0">
                  <a:pos x="60" y="54"/>
                </a:cxn>
                <a:cxn ang="0">
                  <a:pos x="54" y="42"/>
                </a:cxn>
                <a:cxn ang="0">
                  <a:pos x="48" y="36"/>
                </a:cxn>
                <a:cxn ang="0">
                  <a:pos x="30" y="42"/>
                </a:cxn>
                <a:cxn ang="0">
                  <a:pos x="18" y="54"/>
                </a:cxn>
                <a:cxn ang="0">
                  <a:pos x="18" y="54"/>
                </a:cxn>
                <a:cxn ang="0">
                  <a:pos x="24" y="42"/>
                </a:cxn>
                <a:cxn ang="0">
                  <a:pos x="30" y="30"/>
                </a:cxn>
                <a:cxn ang="0">
                  <a:pos x="30" y="12"/>
                </a:cxn>
                <a:cxn ang="0">
                  <a:pos x="36" y="0"/>
                </a:cxn>
                <a:cxn ang="0">
                  <a:pos x="30" y="0"/>
                </a:cxn>
                <a:cxn ang="0">
                  <a:pos x="24" y="6"/>
                </a:cxn>
                <a:cxn ang="0">
                  <a:pos x="12" y="6"/>
                </a:cxn>
                <a:cxn ang="0">
                  <a:pos x="12" y="6"/>
                </a:cxn>
              </a:cxnLst>
              <a:rect l="txL" t="txT" r="txR" b="txB"/>
              <a:pathLst>
                <a:path w="60" h="101">
                  <a:moveTo>
                    <a:pt x="48" y="54"/>
                  </a:moveTo>
                  <a:lnTo>
                    <a:pt x="48" y="66"/>
                  </a:lnTo>
                  <a:lnTo>
                    <a:pt x="42" y="78"/>
                  </a:lnTo>
                  <a:lnTo>
                    <a:pt x="30" y="90"/>
                  </a:lnTo>
                  <a:lnTo>
                    <a:pt x="18" y="96"/>
                  </a:lnTo>
                  <a:lnTo>
                    <a:pt x="12" y="96"/>
                  </a:lnTo>
                  <a:lnTo>
                    <a:pt x="12" y="78"/>
                  </a:lnTo>
                  <a:lnTo>
                    <a:pt x="18" y="60"/>
                  </a:lnTo>
                  <a:lnTo>
                    <a:pt x="30" y="48"/>
                  </a:lnTo>
                  <a:lnTo>
                    <a:pt x="42" y="42"/>
                  </a:lnTo>
                  <a:lnTo>
                    <a:pt x="48" y="48"/>
                  </a:lnTo>
                  <a:lnTo>
                    <a:pt x="48" y="54"/>
                  </a:lnTo>
                  <a:close/>
                  <a:moveTo>
                    <a:pt x="12" y="6"/>
                  </a:moveTo>
                  <a:lnTo>
                    <a:pt x="18" y="6"/>
                  </a:lnTo>
                  <a:lnTo>
                    <a:pt x="18" y="12"/>
                  </a:lnTo>
                  <a:lnTo>
                    <a:pt x="18" y="18"/>
                  </a:lnTo>
                  <a:lnTo>
                    <a:pt x="0" y="96"/>
                  </a:lnTo>
                  <a:lnTo>
                    <a:pt x="6" y="101"/>
                  </a:lnTo>
                  <a:lnTo>
                    <a:pt x="18" y="101"/>
                  </a:lnTo>
                  <a:lnTo>
                    <a:pt x="30" y="96"/>
                  </a:lnTo>
                  <a:lnTo>
                    <a:pt x="48" y="90"/>
                  </a:lnTo>
                  <a:lnTo>
                    <a:pt x="54" y="72"/>
                  </a:lnTo>
                  <a:lnTo>
                    <a:pt x="60" y="54"/>
                  </a:lnTo>
                  <a:lnTo>
                    <a:pt x="54" y="42"/>
                  </a:lnTo>
                  <a:lnTo>
                    <a:pt x="48" y="36"/>
                  </a:lnTo>
                  <a:lnTo>
                    <a:pt x="30" y="42"/>
                  </a:lnTo>
                  <a:lnTo>
                    <a:pt x="18" y="54"/>
                  </a:lnTo>
                  <a:lnTo>
                    <a:pt x="24" y="42"/>
                  </a:lnTo>
                  <a:lnTo>
                    <a:pt x="30" y="30"/>
                  </a:lnTo>
                  <a:lnTo>
                    <a:pt x="30" y="12"/>
                  </a:lnTo>
                  <a:lnTo>
                    <a:pt x="36" y="0"/>
                  </a:lnTo>
                  <a:lnTo>
                    <a:pt x="30" y="0"/>
                  </a:lnTo>
                  <a:lnTo>
                    <a:pt x="24" y="6"/>
                  </a:lnTo>
                  <a:lnTo>
                    <a:pt x="12"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87" name="Freeform 22"/>
            <p:cNvSpPr>
              <a:spLocks noEditPoints="1"/>
            </p:cNvSpPr>
            <p:nvPr/>
          </p:nvSpPr>
          <p:spPr>
            <a:xfrm>
              <a:off x="2094" y="1150"/>
              <a:ext cx="113" cy="126"/>
            </a:xfrm>
            <a:custGeom>
              <a:avLst/>
              <a:gdLst>
                <a:gd name="txL" fmla="*/ 0 w 113"/>
                <a:gd name="txT" fmla="*/ 0 h 126"/>
                <a:gd name="txR" fmla="*/ 113 w 113"/>
                <a:gd name="txB" fmla="*/ 126 h 126"/>
              </a:gdLst>
              <a:ahLst/>
              <a:cxnLst>
                <a:cxn ang="0">
                  <a:pos x="107" y="120"/>
                </a:cxn>
                <a:cxn ang="0">
                  <a:pos x="95" y="114"/>
                </a:cxn>
                <a:cxn ang="0">
                  <a:pos x="95" y="108"/>
                </a:cxn>
                <a:cxn ang="0">
                  <a:pos x="77" y="60"/>
                </a:cxn>
                <a:cxn ang="0">
                  <a:pos x="107" y="48"/>
                </a:cxn>
                <a:cxn ang="0">
                  <a:pos x="113" y="24"/>
                </a:cxn>
                <a:cxn ang="0">
                  <a:pos x="107" y="12"/>
                </a:cxn>
                <a:cxn ang="0">
                  <a:pos x="95" y="6"/>
                </a:cxn>
                <a:cxn ang="0">
                  <a:pos x="83" y="0"/>
                </a:cxn>
                <a:cxn ang="0">
                  <a:pos x="71" y="0"/>
                </a:cxn>
                <a:cxn ang="0">
                  <a:pos x="23" y="0"/>
                </a:cxn>
                <a:cxn ang="0">
                  <a:pos x="23" y="0"/>
                </a:cxn>
                <a:cxn ang="0">
                  <a:pos x="35" y="6"/>
                </a:cxn>
                <a:cxn ang="0">
                  <a:pos x="41" y="12"/>
                </a:cxn>
                <a:cxn ang="0">
                  <a:pos x="41" y="18"/>
                </a:cxn>
                <a:cxn ang="0">
                  <a:pos x="35" y="24"/>
                </a:cxn>
                <a:cxn ang="0">
                  <a:pos x="12" y="108"/>
                </a:cxn>
                <a:cxn ang="0">
                  <a:pos x="6" y="120"/>
                </a:cxn>
                <a:cxn ang="0">
                  <a:pos x="0" y="120"/>
                </a:cxn>
                <a:cxn ang="0">
                  <a:pos x="0" y="126"/>
                </a:cxn>
                <a:cxn ang="0">
                  <a:pos x="41" y="126"/>
                </a:cxn>
                <a:cxn ang="0">
                  <a:pos x="41" y="120"/>
                </a:cxn>
                <a:cxn ang="0">
                  <a:pos x="35" y="120"/>
                </a:cxn>
                <a:cxn ang="0">
                  <a:pos x="29" y="114"/>
                </a:cxn>
                <a:cxn ang="0">
                  <a:pos x="29" y="108"/>
                </a:cxn>
                <a:cxn ang="0">
                  <a:pos x="35" y="102"/>
                </a:cxn>
                <a:cxn ang="0">
                  <a:pos x="41" y="60"/>
                </a:cxn>
                <a:cxn ang="0">
                  <a:pos x="59" y="60"/>
                </a:cxn>
                <a:cxn ang="0">
                  <a:pos x="77" y="126"/>
                </a:cxn>
                <a:cxn ang="0">
                  <a:pos x="107" y="126"/>
                </a:cxn>
                <a:cxn ang="0">
                  <a:pos x="107" y="120"/>
                </a:cxn>
                <a:cxn ang="0">
                  <a:pos x="59" y="12"/>
                </a:cxn>
                <a:cxn ang="0">
                  <a:pos x="59" y="6"/>
                </a:cxn>
                <a:cxn ang="0">
                  <a:pos x="71" y="6"/>
                </a:cxn>
                <a:cxn ang="0">
                  <a:pos x="89" y="6"/>
                </a:cxn>
                <a:cxn ang="0">
                  <a:pos x="95" y="12"/>
                </a:cxn>
                <a:cxn ang="0">
                  <a:pos x="95" y="24"/>
                </a:cxn>
                <a:cxn ang="0">
                  <a:pos x="89" y="48"/>
                </a:cxn>
                <a:cxn ang="0">
                  <a:pos x="59" y="54"/>
                </a:cxn>
                <a:cxn ang="0">
                  <a:pos x="53" y="54"/>
                </a:cxn>
                <a:cxn ang="0">
                  <a:pos x="47" y="54"/>
                </a:cxn>
                <a:cxn ang="0">
                  <a:pos x="59" y="12"/>
                </a:cxn>
              </a:cxnLst>
              <a:rect l="txL" t="txT" r="txR" b="txB"/>
              <a:pathLst>
                <a:path w="113" h="126">
                  <a:moveTo>
                    <a:pt x="107" y="120"/>
                  </a:moveTo>
                  <a:lnTo>
                    <a:pt x="95" y="114"/>
                  </a:lnTo>
                  <a:lnTo>
                    <a:pt x="95" y="108"/>
                  </a:lnTo>
                  <a:lnTo>
                    <a:pt x="77" y="60"/>
                  </a:lnTo>
                  <a:lnTo>
                    <a:pt x="107" y="48"/>
                  </a:lnTo>
                  <a:lnTo>
                    <a:pt x="113" y="24"/>
                  </a:lnTo>
                  <a:lnTo>
                    <a:pt x="107" y="12"/>
                  </a:lnTo>
                  <a:lnTo>
                    <a:pt x="95" y="6"/>
                  </a:lnTo>
                  <a:lnTo>
                    <a:pt x="83" y="0"/>
                  </a:lnTo>
                  <a:lnTo>
                    <a:pt x="71" y="0"/>
                  </a:lnTo>
                  <a:lnTo>
                    <a:pt x="23" y="0"/>
                  </a:lnTo>
                  <a:lnTo>
                    <a:pt x="35" y="6"/>
                  </a:lnTo>
                  <a:lnTo>
                    <a:pt x="41" y="12"/>
                  </a:lnTo>
                  <a:lnTo>
                    <a:pt x="41" y="18"/>
                  </a:lnTo>
                  <a:lnTo>
                    <a:pt x="35" y="24"/>
                  </a:lnTo>
                  <a:lnTo>
                    <a:pt x="12" y="108"/>
                  </a:lnTo>
                  <a:lnTo>
                    <a:pt x="6" y="120"/>
                  </a:lnTo>
                  <a:lnTo>
                    <a:pt x="0" y="120"/>
                  </a:lnTo>
                  <a:lnTo>
                    <a:pt x="0" y="126"/>
                  </a:lnTo>
                  <a:lnTo>
                    <a:pt x="41" y="126"/>
                  </a:lnTo>
                  <a:lnTo>
                    <a:pt x="41" y="120"/>
                  </a:lnTo>
                  <a:lnTo>
                    <a:pt x="35" y="120"/>
                  </a:lnTo>
                  <a:lnTo>
                    <a:pt x="29" y="114"/>
                  </a:lnTo>
                  <a:lnTo>
                    <a:pt x="29" y="108"/>
                  </a:lnTo>
                  <a:lnTo>
                    <a:pt x="35" y="102"/>
                  </a:lnTo>
                  <a:lnTo>
                    <a:pt x="41" y="60"/>
                  </a:lnTo>
                  <a:lnTo>
                    <a:pt x="59" y="60"/>
                  </a:lnTo>
                  <a:lnTo>
                    <a:pt x="77" y="126"/>
                  </a:lnTo>
                  <a:lnTo>
                    <a:pt x="107" y="126"/>
                  </a:lnTo>
                  <a:lnTo>
                    <a:pt x="107" y="120"/>
                  </a:lnTo>
                  <a:close/>
                  <a:moveTo>
                    <a:pt x="59" y="12"/>
                  </a:moveTo>
                  <a:lnTo>
                    <a:pt x="59" y="6"/>
                  </a:lnTo>
                  <a:lnTo>
                    <a:pt x="71" y="6"/>
                  </a:lnTo>
                  <a:lnTo>
                    <a:pt x="89" y="6"/>
                  </a:lnTo>
                  <a:lnTo>
                    <a:pt x="95" y="12"/>
                  </a:lnTo>
                  <a:lnTo>
                    <a:pt x="95" y="24"/>
                  </a:lnTo>
                  <a:lnTo>
                    <a:pt x="89" y="48"/>
                  </a:lnTo>
                  <a:lnTo>
                    <a:pt x="59" y="54"/>
                  </a:lnTo>
                  <a:lnTo>
                    <a:pt x="53" y="54"/>
                  </a:lnTo>
                  <a:lnTo>
                    <a:pt x="47" y="54"/>
                  </a:lnTo>
                  <a:lnTo>
                    <a:pt x="59"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88" name="Freeform 23"/>
            <p:cNvSpPr/>
            <p:nvPr/>
          </p:nvSpPr>
          <p:spPr>
            <a:xfrm>
              <a:off x="2225" y="1222"/>
              <a:ext cx="42" cy="102"/>
            </a:xfrm>
            <a:custGeom>
              <a:avLst/>
              <a:gdLst>
                <a:gd name="txL" fmla="*/ 0 w 42"/>
                <a:gd name="txT" fmla="*/ 0 h 102"/>
                <a:gd name="txR" fmla="*/ 42 w 42"/>
                <a:gd name="txB" fmla="*/ 102 h 102"/>
              </a:gdLst>
              <a:ahLst/>
              <a:cxnLst>
                <a:cxn ang="0">
                  <a:pos x="0" y="102"/>
                </a:cxn>
                <a:cxn ang="0">
                  <a:pos x="42" y="102"/>
                </a:cxn>
                <a:cxn ang="0">
                  <a:pos x="42" y="96"/>
                </a:cxn>
                <a:cxn ang="0">
                  <a:pos x="30" y="96"/>
                </a:cxn>
                <a:cxn ang="0">
                  <a:pos x="30" y="90"/>
                </a:cxn>
                <a:cxn ang="0">
                  <a:pos x="30" y="6"/>
                </a:cxn>
                <a:cxn ang="0">
                  <a:pos x="30" y="0"/>
                </a:cxn>
                <a:cxn ang="0">
                  <a:pos x="0" y="18"/>
                </a:cxn>
                <a:cxn ang="0">
                  <a:pos x="0" y="18"/>
                </a:cxn>
                <a:cxn ang="0">
                  <a:pos x="12" y="12"/>
                </a:cxn>
                <a:cxn ang="0">
                  <a:pos x="12" y="12"/>
                </a:cxn>
                <a:cxn ang="0">
                  <a:pos x="18" y="18"/>
                </a:cxn>
                <a:cxn ang="0">
                  <a:pos x="18" y="24"/>
                </a:cxn>
                <a:cxn ang="0">
                  <a:pos x="18" y="84"/>
                </a:cxn>
                <a:cxn ang="0">
                  <a:pos x="12" y="96"/>
                </a:cxn>
                <a:cxn ang="0">
                  <a:pos x="0" y="96"/>
                </a:cxn>
                <a:cxn ang="0">
                  <a:pos x="0" y="102"/>
                </a:cxn>
              </a:cxnLst>
              <a:rect l="txL" t="txT" r="txR" b="txB"/>
              <a:pathLst>
                <a:path w="42" h="102">
                  <a:moveTo>
                    <a:pt x="0" y="102"/>
                  </a:moveTo>
                  <a:lnTo>
                    <a:pt x="42" y="102"/>
                  </a:lnTo>
                  <a:lnTo>
                    <a:pt x="42" y="96"/>
                  </a:lnTo>
                  <a:lnTo>
                    <a:pt x="30" y="96"/>
                  </a:lnTo>
                  <a:lnTo>
                    <a:pt x="30" y="90"/>
                  </a:lnTo>
                  <a:lnTo>
                    <a:pt x="30" y="6"/>
                  </a:lnTo>
                  <a:lnTo>
                    <a:pt x="30" y="0"/>
                  </a:lnTo>
                  <a:lnTo>
                    <a:pt x="0" y="18"/>
                  </a:lnTo>
                  <a:lnTo>
                    <a:pt x="12" y="12"/>
                  </a:lnTo>
                  <a:lnTo>
                    <a:pt x="18" y="18"/>
                  </a:lnTo>
                  <a:lnTo>
                    <a:pt x="18" y="24"/>
                  </a:lnTo>
                  <a:lnTo>
                    <a:pt x="18" y="84"/>
                  </a:lnTo>
                  <a:lnTo>
                    <a:pt x="12" y="96"/>
                  </a:lnTo>
                  <a:lnTo>
                    <a:pt x="0" y="96"/>
                  </a:lnTo>
                  <a:lnTo>
                    <a:pt x="0" y="10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89" name="Freeform 24"/>
            <p:cNvSpPr>
              <a:spLocks noEditPoints="1"/>
            </p:cNvSpPr>
            <p:nvPr/>
          </p:nvSpPr>
          <p:spPr>
            <a:xfrm>
              <a:off x="3445" y="1126"/>
              <a:ext cx="114" cy="126"/>
            </a:xfrm>
            <a:custGeom>
              <a:avLst/>
              <a:gdLst>
                <a:gd name="txL" fmla="*/ 0 w 114"/>
                <a:gd name="txT" fmla="*/ 0 h 126"/>
                <a:gd name="txR" fmla="*/ 114 w 114"/>
                <a:gd name="txB" fmla="*/ 126 h 126"/>
              </a:gdLst>
              <a:ahLst/>
              <a:cxnLst>
                <a:cxn ang="0">
                  <a:pos x="114" y="126"/>
                </a:cxn>
                <a:cxn ang="0">
                  <a:pos x="102" y="120"/>
                </a:cxn>
                <a:cxn ang="0">
                  <a:pos x="96" y="108"/>
                </a:cxn>
                <a:cxn ang="0">
                  <a:pos x="78" y="66"/>
                </a:cxn>
                <a:cxn ang="0">
                  <a:pos x="96" y="60"/>
                </a:cxn>
                <a:cxn ang="0">
                  <a:pos x="108" y="48"/>
                </a:cxn>
                <a:cxn ang="0">
                  <a:pos x="114" y="30"/>
                </a:cxn>
                <a:cxn ang="0">
                  <a:pos x="108" y="12"/>
                </a:cxn>
                <a:cxn ang="0">
                  <a:pos x="96" y="6"/>
                </a:cxn>
                <a:cxn ang="0">
                  <a:pos x="84" y="0"/>
                </a:cxn>
                <a:cxn ang="0">
                  <a:pos x="78" y="0"/>
                </a:cxn>
                <a:cxn ang="0">
                  <a:pos x="30" y="0"/>
                </a:cxn>
                <a:cxn ang="0">
                  <a:pos x="30" y="6"/>
                </a:cxn>
                <a:cxn ang="0">
                  <a:pos x="36" y="6"/>
                </a:cxn>
                <a:cxn ang="0">
                  <a:pos x="42" y="12"/>
                </a:cxn>
                <a:cxn ang="0">
                  <a:pos x="42" y="18"/>
                </a:cxn>
                <a:cxn ang="0">
                  <a:pos x="42" y="24"/>
                </a:cxn>
                <a:cxn ang="0">
                  <a:pos x="18" y="108"/>
                </a:cxn>
                <a:cxn ang="0">
                  <a:pos x="12" y="120"/>
                </a:cxn>
                <a:cxn ang="0">
                  <a:pos x="0" y="126"/>
                </a:cxn>
                <a:cxn ang="0">
                  <a:pos x="0" y="126"/>
                </a:cxn>
                <a:cxn ang="0">
                  <a:pos x="48" y="126"/>
                </a:cxn>
                <a:cxn ang="0">
                  <a:pos x="48" y="126"/>
                </a:cxn>
                <a:cxn ang="0">
                  <a:pos x="36" y="120"/>
                </a:cxn>
                <a:cxn ang="0">
                  <a:pos x="36" y="114"/>
                </a:cxn>
                <a:cxn ang="0">
                  <a:pos x="36" y="114"/>
                </a:cxn>
                <a:cxn ang="0">
                  <a:pos x="36" y="102"/>
                </a:cxn>
                <a:cxn ang="0">
                  <a:pos x="48" y="66"/>
                </a:cxn>
                <a:cxn ang="0">
                  <a:pos x="60" y="66"/>
                </a:cxn>
                <a:cxn ang="0">
                  <a:pos x="84" y="126"/>
                </a:cxn>
                <a:cxn ang="0">
                  <a:pos x="114" y="126"/>
                </a:cxn>
                <a:cxn ang="0">
                  <a:pos x="114" y="126"/>
                </a:cxn>
                <a:cxn ang="0">
                  <a:pos x="66" y="12"/>
                </a:cxn>
                <a:cxn ang="0">
                  <a:pos x="66" y="12"/>
                </a:cxn>
                <a:cxn ang="0">
                  <a:pos x="72" y="6"/>
                </a:cxn>
                <a:cxn ang="0">
                  <a:pos x="90" y="12"/>
                </a:cxn>
                <a:cxn ang="0">
                  <a:pos x="96" y="30"/>
                </a:cxn>
                <a:cxn ang="0">
                  <a:pos x="90" y="48"/>
                </a:cxn>
                <a:cxn ang="0">
                  <a:pos x="78" y="60"/>
                </a:cxn>
                <a:cxn ang="0">
                  <a:pos x="60" y="60"/>
                </a:cxn>
                <a:cxn ang="0">
                  <a:pos x="54" y="60"/>
                </a:cxn>
                <a:cxn ang="0">
                  <a:pos x="48" y="54"/>
                </a:cxn>
                <a:cxn ang="0">
                  <a:pos x="66" y="12"/>
                </a:cxn>
              </a:cxnLst>
              <a:rect l="txL" t="txT" r="txR" b="txB"/>
              <a:pathLst>
                <a:path w="114" h="126">
                  <a:moveTo>
                    <a:pt x="114" y="126"/>
                  </a:moveTo>
                  <a:lnTo>
                    <a:pt x="102" y="120"/>
                  </a:lnTo>
                  <a:lnTo>
                    <a:pt x="96" y="108"/>
                  </a:lnTo>
                  <a:lnTo>
                    <a:pt x="78" y="66"/>
                  </a:lnTo>
                  <a:lnTo>
                    <a:pt x="96" y="60"/>
                  </a:lnTo>
                  <a:lnTo>
                    <a:pt x="108" y="48"/>
                  </a:lnTo>
                  <a:lnTo>
                    <a:pt x="114" y="30"/>
                  </a:lnTo>
                  <a:lnTo>
                    <a:pt x="108" y="12"/>
                  </a:lnTo>
                  <a:lnTo>
                    <a:pt x="96" y="6"/>
                  </a:lnTo>
                  <a:lnTo>
                    <a:pt x="84" y="0"/>
                  </a:lnTo>
                  <a:lnTo>
                    <a:pt x="78" y="0"/>
                  </a:lnTo>
                  <a:lnTo>
                    <a:pt x="30" y="0"/>
                  </a:lnTo>
                  <a:lnTo>
                    <a:pt x="30" y="6"/>
                  </a:lnTo>
                  <a:lnTo>
                    <a:pt x="36" y="6"/>
                  </a:lnTo>
                  <a:lnTo>
                    <a:pt x="42" y="12"/>
                  </a:lnTo>
                  <a:lnTo>
                    <a:pt x="42" y="18"/>
                  </a:lnTo>
                  <a:lnTo>
                    <a:pt x="42" y="24"/>
                  </a:lnTo>
                  <a:lnTo>
                    <a:pt x="18" y="108"/>
                  </a:lnTo>
                  <a:lnTo>
                    <a:pt x="12" y="120"/>
                  </a:lnTo>
                  <a:lnTo>
                    <a:pt x="0" y="126"/>
                  </a:lnTo>
                  <a:lnTo>
                    <a:pt x="48" y="126"/>
                  </a:lnTo>
                  <a:lnTo>
                    <a:pt x="36" y="120"/>
                  </a:lnTo>
                  <a:lnTo>
                    <a:pt x="36" y="114"/>
                  </a:lnTo>
                  <a:lnTo>
                    <a:pt x="36" y="102"/>
                  </a:lnTo>
                  <a:lnTo>
                    <a:pt x="48" y="66"/>
                  </a:lnTo>
                  <a:lnTo>
                    <a:pt x="60" y="66"/>
                  </a:lnTo>
                  <a:lnTo>
                    <a:pt x="84" y="126"/>
                  </a:lnTo>
                  <a:lnTo>
                    <a:pt x="114" y="126"/>
                  </a:lnTo>
                  <a:close/>
                  <a:moveTo>
                    <a:pt x="66" y="12"/>
                  </a:moveTo>
                  <a:lnTo>
                    <a:pt x="66" y="12"/>
                  </a:lnTo>
                  <a:lnTo>
                    <a:pt x="72" y="6"/>
                  </a:lnTo>
                  <a:lnTo>
                    <a:pt x="90" y="12"/>
                  </a:lnTo>
                  <a:lnTo>
                    <a:pt x="96" y="30"/>
                  </a:lnTo>
                  <a:lnTo>
                    <a:pt x="90" y="48"/>
                  </a:lnTo>
                  <a:lnTo>
                    <a:pt x="78" y="60"/>
                  </a:lnTo>
                  <a:lnTo>
                    <a:pt x="60" y="60"/>
                  </a:lnTo>
                  <a:lnTo>
                    <a:pt x="54" y="60"/>
                  </a:lnTo>
                  <a:lnTo>
                    <a:pt x="48" y="54"/>
                  </a:lnTo>
                  <a:lnTo>
                    <a:pt x="66"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90" name="Freeform 25"/>
            <p:cNvSpPr/>
            <p:nvPr/>
          </p:nvSpPr>
          <p:spPr>
            <a:xfrm>
              <a:off x="3571" y="1204"/>
              <a:ext cx="66" cy="96"/>
            </a:xfrm>
            <a:custGeom>
              <a:avLst/>
              <a:gdLst>
                <a:gd name="txL" fmla="*/ 0 w 66"/>
                <a:gd name="txT" fmla="*/ 0 h 96"/>
                <a:gd name="txR" fmla="*/ 66 w 66"/>
                <a:gd name="txB" fmla="*/ 96 h 96"/>
              </a:gdLst>
              <a:ahLst/>
              <a:cxnLst>
                <a:cxn ang="0">
                  <a:pos x="66" y="78"/>
                </a:cxn>
                <a:cxn ang="0">
                  <a:pos x="60" y="78"/>
                </a:cxn>
                <a:cxn ang="0">
                  <a:pos x="54" y="84"/>
                </a:cxn>
                <a:cxn ang="0">
                  <a:pos x="48" y="84"/>
                </a:cxn>
                <a:cxn ang="0">
                  <a:pos x="12" y="84"/>
                </a:cxn>
                <a:cxn ang="0">
                  <a:pos x="36" y="60"/>
                </a:cxn>
                <a:cxn ang="0">
                  <a:pos x="48" y="48"/>
                </a:cxn>
                <a:cxn ang="0">
                  <a:pos x="54" y="24"/>
                </a:cxn>
                <a:cxn ang="0">
                  <a:pos x="48" y="6"/>
                </a:cxn>
                <a:cxn ang="0">
                  <a:pos x="30" y="0"/>
                </a:cxn>
                <a:cxn ang="0">
                  <a:pos x="12" y="6"/>
                </a:cxn>
                <a:cxn ang="0">
                  <a:pos x="6" y="18"/>
                </a:cxn>
                <a:cxn ang="0">
                  <a:pos x="0" y="30"/>
                </a:cxn>
                <a:cxn ang="0">
                  <a:pos x="0" y="30"/>
                </a:cxn>
                <a:cxn ang="0">
                  <a:pos x="12" y="18"/>
                </a:cxn>
                <a:cxn ang="0">
                  <a:pos x="24" y="12"/>
                </a:cxn>
                <a:cxn ang="0">
                  <a:pos x="36" y="12"/>
                </a:cxn>
                <a:cxn ang="0">
                  <a:pos x="42" y="18"/>
                </a:cxn>
                <a:cxn ang="0">
                  <a:pos x="42" y="30"/>
                </a:cxn>
                <a:cxn ang="0">
                  <a:pos x="36" y="48"/>
                </a:cxn>
                <a:cxn ang="0">
                  <a:pos x="24" y="66"/>
                </a:cxn>
                <a:cxn ang="0">
                  <a:pos x="0" y="96"/>
                </a:cxn>
                <a:cxn ang="0">
                  <a:pos x="0" y="96"/>
                </a:cxn>
                <a:cxn ang="0">
                  <a:pos x="54" y="96"/>
                </a:cxn>
                <a:cxn ang="0">
                  <a:pos x="66" y="78"/>
                </a:cxn>
              </a:cxnLst>
              <a:rect l="txL" t="txT" r="txR" b="txB"/>
              <a:pathLst>
                <a:path w="66" h="96">
                  <a:moveTo>
                    <a:pt x="66" y="78"/>
                  </a:moveTo>
                  <a:lnTo>
                    <a:pt x="60" y="78"/>
                  </a:lnTo>
                  <a:lnTo>
                    <a:pt x="54" y="84"/>
                  </a:lnTo>
                  <a:lnTo>
                    <a:pt x="48" y="84"/>
                  </a:lnTo>
                  <a:lnTo>
                    <a:pt x="12" y="84"/>
                  </a:lnTo>
                  <a:lnTo>
                    <a:pt x="36" y="60"/>
                  </a:lnTo>
                  <a:lnTo>
                    <a:pt x="48" y="48"/>
                  </a:lnTo>
                  <a:lnTo>
                    <a:pt x="54" y="24"/>
                  </a:lnTo>
                  <a:lnTo>
                    <a:pt x="48" y="6"/>
                  </a:lnTo>
                  <a:lnTo>
                    <a:pt x="30" y="0"/>
                  </a:lnTo>
                  <a:lnTo>
                    <a:pt x="12" y="6"/>
                  </a:lnTo>
                  <a:lnTo>
                    <a:pt x="6" y="18"/>
                  </a:lnTo>
                  <a:lnTo>
                    <a:pt x="0" y="30"/>
                  </a:lnTo>
                  <a:lnTo>
                    <a:pt x="12" y="18"/>
                  </a:lnTo>
                  <a:lnTo>
                    <a:pt x="24" y="12"/>
                  </a:lnTo>
                  <a:lnTo>
                    <a:pt x="36" y="12"/>
                  </a:lnTo>
                  <a:lnTo>
                    <a:pt x="42" y="18"/>
                  </a:lnTo>
                  <a:lnTo>
                    <a:pt x="42" y="30"/>
                  </a:lnTo>
                  <a:lnTo>
                    <a:pt x="36" y="48"/>
                  </a:lnTo>
                  <a:lnTo>
                    <a:pt x="24" y="66"/>
                  </a:lnTo>
                  <a:lnTo>
                    <a:pt x="0" y="96"/>
                  </a:lnTo>
                  <a:lnTo>
                    <a:pt x="54" y="96"/>
                  </a:lnTo>
                  <a:lnTo>
                    <a:pt x="66" y="7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91" name="Freeform 26"/>
            <p:cNvSpPr>
              <a:spLocks noEditPoints="1"/>
            </p:cNvSpPr>
            <p:nvPr/>
          </p:nvSpPr>
          <p:spPr>
            <a:xfrm>
              <a:off x="2763" y="643"/>
              <a:ext cx="114" cy="125"/>
            </a:xfrm>
            <a:custGeom>
              <a:avLst/>
              <a:gdLst>
                <a:gd name="txL" fmla="*/ 0 w 114"/>
                <a:gd name="txT" fmla="*/ 0 h 125"/>
                <a:gd name="txR" fmla="*/ 114 w 114"/>
                <a:gd name="txB" fmla="*/ 125 h 125"/>
              </a:gdLst>
              <a:ahLst/>
              <a:cxnLst>
                <a:cxn ang="0">
                  <a:pos x="114" y="119"/>
                </a:cxn>
                <a:cxn ang="0">
                  <a:pos x="102" y="113"/>
                </a:cxn>
                <a:cxn ang="0">
                  <a:pos x="96" y="107"/>
                </a:cxn>
                <a:cxn ang="0">
                  <a:pos x="78" y="60"/>
                </a:cxn>
                <a:cxn ang="0">
                  <a:pos x="108" y="48"/>
                </a:cxn>
                <a:cxn ang="0">
                  <a:pos x="114" y="30"/>
                </a:cxn>
                <a:cxn ang="0">
                  <a:pos x="108" y="12"/>
                </a:cxn>
                <a:cxn ang="0">
                  <a:pos x="96" y="6"/>
                </a:cxn>
                <a:cxn ang="0">
                  <a:pos x="84" y="0"/>
                </a:cxn>
                <a:cxn ang="0">
                  <a:pos x="78" y="0"/>
                </a:cxn>
                <a:cxn ang="0">
                  <a:pos x="30" y="0"/>
                </a:cxn>
                <a:cxn ang="0">
                  <a:pos x="30" y="0"/>
                </a:cxn>
                <a:cxn ang="0">
                  <a:pos x="36" y="6"/>
                </a:cxn>
                <a:cxn ang="0">
                  <a:pos x="42" y="12"/>
                </a:cxn>
                <a:cxn ang="0">
                  <a:pos x="42" y="18"/>
                </a:cxn>
                <a:cxn ang="0">
                  <a:pos x="42" y="24"/>
                </a:cxn>
                <a:cxn ang="0">
                  <a:pos x="18" y="107"/>
                </a:cxn>
                <a:cxn ang="0">
                  <a:pos x="12" y="119"/>
                </a:cxn>
                <a:cxn ang="0">
                  <a:pos x="0" y="119"/>
                </a:cxn>
                <a:cxn ang="0">
                  <a:pos x="0" y="125"/>
                </a:cxn>
                <a:cxn ang="0">
                  <a:pos x="48" y="125"/>
                </a:cxn>
                <a:cxn ang="0">
                  <a:pos x="48" y="119"/>
                </a:cxn>
                <a:cxn ang="0">
                  <a:pos x="36" y="119"/>
                </a:cxn>
                <a:cxn ang="0">
                  <a:pos x="36" y="113"/>
                </a:cxn>
                <a:cxn ang="0">
                  <a:pos x="36" y="107"/>
                </a:cxn>
                <a:cxn ang="0">
                  <a:pos x="36" y="101"/>
                </a:cxn>
                <a:cxn ang="0">
                  <a:pos x="48" y="60"/>
                </a:cxn>
                <a:cxn ang="0">
                  <a:pos x="60" y="60"/>
                </a:cxn>
                <a:cxn ang="0">
                  <a:pos x="84" y="125"/>
                </a:cxn>
                <a:cxn ang="0">
                  <a:pos x="114" y="125"/>
                </a:cxn>
                <a:cxn ang="0">
                  <a:pos x="114" y="119"/>
                </a:cxn>
                <a:cxn ang="0">
                  <a:pos x="60" y="12"/>
                </a:cxn>
                <a:cxn ang="0">
                  <a:pos x="66" y="6"/>
                </a:cxn>
                <a:cxn ang="0">
                  <a:pos x="72" y="6"/>
                </a:cxn>
                <a:cxn ang="0">
                  <a:pos x="90" y="12"/>
                </a:cxn>
                <a:cxn ang="0">
                  <a:pos x="96" y="24"/>
                </a:cxn>
                <a:cxn ang="0">
                  <a:pos x="90" y="48"/>
                </a:cxn>
                <a:cxn ang="0">
                  <a:pos x="78" y="54"/>
                </a:cxn>
                <a:cxn ang="0">
                  <a:pos x="60" y="54"/>
                </a:cxn>
                <a:cxn ang="0">
                  <a:pos x="54" y="54"/>
                </a:cxn>
                <a:cxn ang="0">
                  <a:pos x="48" y="54"/>
                </a:cxn>
                <a:cxn ang="0">
                  <a:pos x="60" y="12"/>
                </a:cxn>
              </a:cxnLst>
              <a:rect l="txL" t="txT" r="txR" b="txB"/>
              <a:pathLst>
                <a:path w="114" h="125">
                  <a:moveTo>
                    <a:pt x="114" y="119"/>
                  </a:moveTo>
                  <a:lnTo>
                    <a:pt x="102" y="113"/>
                  </a:lnTo>
                  <a:lnTo>
                    <a:pt x="96" y="107"/>
                  </a:lnTo>
                  <a:lnTo>
                    <a:pt x="78" y="60"/>
                  </a:lnTo>
                  <a:lnTo>
                    <a:pt x="108" y="48"/>
                  </a:lnTo>
                  <a:lnTo>
                    <a:pt x="114" y="30"/>
                  </a:lnTo>
                  <a:lnTo>
                    <a:pt x="108" y="12"/>
                  </a:lnTo>
                  <a:lnTo>
                    <a:pt x="96" y="6"/>
                  </a:lnTo>
                  <a:lnTo>
                    <a:pt x="84" y="0"/>
                  </a:lnTo>
                  <a:lnTo>
                    <a:pt x="78" y="0"/>
                  </a:lnTo>
                  <a:lnTo>
                    <a:pt x="30" y="0"/>
                  </a:lnTo>
                  <a:lnTo>
                    <a:pt x="36" y="6"/>
                  </a:lnTo>
                  <a:lnTo>
                    <a:pt x="42" y="12"/>
                  </a:lnTo>
                  <a:lnTo>
                    <a:pt x="42" y="18"/>
                  </a:lnTo>
                  <a:lnTo>
                    <a:pt x="42" y="24"/>
                  </a:lnTo>
                  <a:lnTo>
                    <a:pt x="18" y="107"/>
                  </a:lnTo>
                  <a:lnTo>
                    <a:pt x="12" y="119"/>
                  </a:lnTo>
                  <a:lnTo>
                    <a:pt x="0" y="119"/>
                  </a:lnTo>
                  <a:lnTo>
                    <a:pt x="0" y="125"/>
                  </a:lnTo>
                  <a:lnTo>
                    <a:pt x="48" y="125"/>
                  </a:lnTo>
                  <a:lnTo>
                    <a:pt x="48" y="119"/>
                  </a:lnTo>
                  <a:lnTo>
                    <a:pt x="36" y="119"/>
                  </a:lnTo>
                  <a:lnTo>
                    <a:pt x="36" y="113"/>
                  </a:lnTo>
                  <a:lnTo>
                    <a:pt x="36" y="107"/>
                  </a:lnTo>
                  <a:lnTo>
                    <a:pt x="36" y="101"/>
                  </a:lnTo>
                  <a:lnTo>
                    <a:pt x="48" y="60"/>
                  </a:lnTo>
                  <a:lnTo>
                    <a:pt x="60" y="60"/>
                  </a:lnTo>
                  <a:lnTo>
                    <a:pt x="84" y="125"/>
                  </a:lnTo>
                  <a:lnTo>
                    <a:pt x="114" y="125"/>
                  </a:lnTo>
                  <a:lnTo>
                    <a:pt x="114" y="119"/>
                  </a:lnTo>
                  <a:close/>
                  <a:moveTo>
                    <a:pt x="60" y="12"/>
                  </a:moveTo>
                  <a:lnTo>
                    <a:pt x="66" y="6"/>
                  </a:lnTo>
                  <a:lnTo>
                    <a:pt x="72" y="6"/>
                  </a:lnTo>
                  <a:lnTo>
                    <a:pt x="90" y="12"/>
                  </a:lnTo>
                  <a:lnTo>
                    <a:pt x="96" y="24"/>
                  </a:lnTo>
                  <a:lnTo>
                    <a:pt x="90" y="48"/>
                  </a:lnTo>
                  <a:lnTo>
                    <a:pt x="78" y="54"/>
                  </a:lnTo>
                  <a:lnTo>
                    <a:pt x="60" y="54"/>
                  </a:lnTo>
                  <a:lnTo>
                    <a:pt x="54" y="54"/>
                  </a:lnTo>
                  <a:lnTo>
                    <a:pt x="48" y="54"/>
                  </a:lnTo>
                  <a:lnTo>
                    <a:pt x="60"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92" name="Freeform 27"/>
            <p:cNvSpPr/>
            <p:nvPr/>
          </p:nvSpPr>
          <p:spPr>
            <a:xfrm>
              <a:off x="2889" y="750"/>
              <a:ext cx="54" cy="66"/>
            </a:xfrm>
            <a:custGeom>
              <a:avLst/>
              <a:gdLst>
                <a:gd name="txL" fmla="*/ 0 w 54"/>
                <a:gd name="txT" fmla="*/ 0 h 66"/>
                <a:gd name="txR" fmla="*/ 54 w 54"/>
                <a:gd name="txB" fmla="*/ 66 h 66"/>
              </a:gdLst>
              <a:ahLst/>
              <a:cxnLst>
                <a:cxn ang="0">
                  <a:pos x="42" y="48"/>
                </a:cxn>
                <a:cxn ang="0">
                  <a:pos x="36" y="54"/>
                </a:cxn>
                <a:cxn ang="0">
                  <a:pos x="24" y="60"/>
                </a:cxn>
                <a:cxn ang="0">
                  <a:pos x="12" y="54"/>
                </a:cxn>
                <a:cxn ang="0">
                  <a:pos x="12" y="42"/>
                </a:cxn>
                <a:cxn ang="0">
                  <a:pos x="18" y="18"/>
                </a:cxn>
                <a:cxn ang="0">
                  <a:pos x="24" y="12"/>
                </a:cxn>
                <a:cxn ang="0">
                  <a:pos x="36" y="6"/>
                </a:cxn>
                <a:cxn ang="0">
                  <a:pos x="42" y="6"/>
                </a:cxn>
                <a:cxn ang="0">
                  <a:pos x="42" y="6"/>
                </a:cxn>
                <a:cxn ang="0">
                  <a:pos x="42" y="12"/>
                </a:cxn>
                <a:cxn ang="0">
                  <a:pos x="42" y="12"/>
                </a:cxn>
                <a:cxn ang="0">
                  <a:pos x="42" y="18"/>
                </a:cxn>
                <a:cxn ang="0">
                  <a:pos x="48" y="18"/>
                </a:cxn>
                <a:cxn ang="0">
                  <a:pos x="54" y="18"/>
                </a:cxn>
                <a:cxn ang="0">
                  <a:pos x="54" y="12"/>
                </a:cxn>
                <a:cxn ang="0">
                  <a:pos x="54" y="6"/>
                </a:cxn>
                <a:cxn ang="0">
                  <a:pos x="48" y="0"/>
                </a:cxn>
                <a:cxn ang="0">
                  <a:pos x="36" y="0"/>
                </a:cxn>
                <a:cxn ang="0">
                  <a:pos x="24" y="6"/>
                </a:cxn>
                <a:cxn ang="0">
                  <a:pos x="12" y="12"/>
                </a:cxn>
                <a:cxn ang="0">
                  <a:pos x="6" y="30"/>
                </a:cxn>
                <a:cxn ang="0">
                  <a:pos x="0" y="42"/>
                </a:cxn>
                <a:cxn ang="0">
                  <a:pos x="0" y="54"/>
                </a:cxn>
                <a:cxn ang="0">
                  <a:pos x="6" y="66"/>
                </a:cxn>
                <a:cxn ang="0">
                  <a:pos x="18" y="66"/>
                </a:cxn>
                <a:cxn ang="0">
                  <a:pos x="36" y="60"/>
                </a:cxn>
                <a:cxn ang="0">
                  <a:pos x="48" y="54"/>
                </a:cxn>
                <a:cxn ang="0">
                  <a:pos x="42" y="48"/>
                </a:cxn>
              </a:cxnLst>
              <a:rect l="txL" t="txT" r="txR" b="txB"/>
              <a:pathLst>
                <a:path w="54" h="66">
                  <a:moveTo>
                    <a:pt x="42" y="48"/>
                  </a:moveTo>
                  <a:lnTo>
                    <a:pt x="36" y="54"/>
                  </a:lnTo>
                  <a:lnTo>
                    <a:pt x="24" y="60"/>
                  </a:lnTo>
                  <a:lnTo>
                    <a:pt x="12" y="54"/>
                  </a:lnTo>
                  <a:lnTo>
                    <a:pt x="12" y="42"/>
                  </a:lnTo>
                  <a:lnTo>
                    <a:pt x="18" y="18"/>
                  </a:lnTo>
                  <a:lnTo>
                    <a:pt x="24" y="12"/>
                  </a:lnTo>
                  <a:lnTo>
                    <a:pt x="36" y="6"/>
                  </a:lnTo>
                  <a:lnTo>
                    <a:pt x="42" y="6"/>
                  </a:lnTo>
                  <a:lnTo>
                    <a:pt x="42" y="12"/>
                  </a:lnTo>
                  <a:lnTo>
                    <a:pt x="42" y="18"/>
                  </a:lnTo>
                  <a:lnTo>
                    <a:pt x="48" y="18"/>
                  </a:lnTo>
                  <a:lnTo>
                    <a:pt x="54" y="18"/>
                  </a:lnTo>
                  <a:lnTo>
                    <a:pt x="54" y="12"/>
                  </a:lnTo>
                  <a:lnTo>
                    <a:pt x="54" y="6"/>
                  </a:lnTo>
                  <a:lnTo>
                    <a:pt x="48" y="0"/>
                  </a:lnTo>
                  <a:lnTo>
                    <a:pt x="36" y="0"/>
                  </a:lnTo>
                  <a:lnTo>
                    <a:pt x="24" y="6"/>
                  </a:lnTo>
                  <a:lnTo>
                    <a:pt x="12" y="12"/>
                  </a:lnTo>
                  <a:lnTo>
                    <a:pt x="6" y="30"/>
                  </a:lnTo>
                  <a:lnTo>
                    <a:pt x="0" y="42"/>
                  </a:lnTo>
                  <a:lnTo>
                    <a:pt x="0" y="54"/>
                  </a:lnTo>
                  <a:lnTo>
                    <a:pt x="6" y="66"/>
                  </a:lnTo>
                  <a:lnTo>
                    <a:pt x="18" y="66"/>
                  </a:lnTo>
                  <a:lnTo>
                    <a:pt x="36" y="60"/>
                  </a:lnTo>
                  <a:lnTo>
                    <a:pt x="48" y="54"/>
                  </a:lnTo>
                  <a:lnTo>
                    <a:pt x="42"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93" name="Freeform 28"/>
            <p:cNvSpPr>
              <a:spLocks noEditPoints="1"/>
            </p:cNvSpPr>
            <p:nvPr/>
          </p:nvSpPr>
          <p:spPr>
            <a:xfrm>
              <a:off x="4617" y="900"/>
              <a:ext cx="84" cy="137"/>
            </a:xfrm>
            <a:custGeom>
              <a:avLst/>
              <a:gdLst>
                <a:gd name="txL" fmla="*/ 0 w 84"/>
                <a:gd name="txT" fmla="*/ 0 h 137"/>
                <a:gd name="txR" fmla="*/ 84 w 84"/>
                <a:gd name="txB" fmla="*/ 137 h 137"/>
              </a:gdLst>
              <a:ahLst/>
              <a:cxnLst>
                <a:cxn ang="0">
                  <a:pos x="72" y="71"/>
                </a:cxn>
                <a:cxn ang="0">
                  <a:pos x="66" y="89"/>
                </a:cxn>
                <a:cxn ang="0">
                  <a:pos x="60" y="107"/>
                </a:cxn>
                <a:cxn ang="0">
                  <a:pos x="42" y="125"/>
                </a:cxn>
                <a:cxn ang="0">
                  <a:pos x="24" y="131"/>
                </a:cxn>
                <a:cxn ang="0">
                  <a:pos x="18" y="131"/>
                </a:cxn>
                <a:cxn ang="0">
                  <a:pos x="18" y="125"/>
                </a:cxn>
                <a:cxn ang="0">
                  <a:pos x="24" y="107"/>
                </a:cxn>
                <a:cxn ang="0">
                  <a:pos x="30" y="83"/>
                </a:cxn>
                <a:cxn ang="0">
                  <a:pos x="42" y="65"/>
                </a:cxn>
                <a:cxn ang="0">
                  <a:pos x="54" y="59"/>
                </a:cxn>
                <a:cxn ang="0">
                  <a:pos x="66" y="65"/>
                </a:cxn>
                <a:cxn ang="0">
                  <a:pos x="72" y="71"/>
                </a:cxn>
                <a:cxn ang="0">
                  <a:pos x="72" y="71"/>
                </a:cxn>
                <a:cxn ang="0">
                  <a:pos x="18" y="12"/>
                </a:cxn>
                <a:cxn ang="0">
                  <a:pos x="30" y="12"/>
                </a:cxn>
                <a:cxn ang="0">
                  <a:pos x="30" y="12"/>
                </a:cxn>
                <a:cxn ang="0">
                  <a:pos x="30" y="23"/>
                </a:cxn>
                <a:cxn ang="0">
                  <a:pos x="24" y="29"/>
                </a:cxn>
                <a:cxn ang="0">
                  <a:pos x="0" y="125"/>
                </a:cxn>
                <a:cxn ang="0">
                  <a:pos x="0" y="125"/>
                </a:cxn>
                <a:cxn ang="0">
                  <a:pos x="6" y="131"/>
                </a:cxn>
                <a:cxn ang="0">
                  <a:pos x="24" y="137"/>
                </a:cxn>
                <a:cxn ang="0">
                  <a:pos x="48" y="131"/>
                </a:cxn>
                <a:cxn ang="0">
                  <a:pos x="66" y="113"/>
                </a:cxn>
                <a:cxn ang="0">
                  <a:pos x="78" y="95"/>
                </a:cxn>
                <a:cxn ang="0">
                  <a:pos x="84" y="71"/>
                </a:cxn>
                <a:cxn ang="0">
                  <a:pos x="78" y="53"/>
                </a:cxn>
                <a:cxn ang="0">
                  <a:pos x="66" y="47"/>
                </a:cxn>
                <a:cxn ang="0">
                  <a:pos x="54" y="53"/>
                </a:cxn>
                <a:cxn ang="0">
                  <a:pos x="42" y="59"/>
                </a:cxn>
                <a:cxn ang="0">
                  <a:pos x="30" y="77"/>
                </a:cxn>
                <a:cxn ang="0">
                  <a:pos x="30" y="77"/>
                </a:cxn>
                <a:cxn ang="0">
                  <a:pos x="42" y="35"/>
                </a:cxn>
                <a:cxn ang="0">
                  <a:pos x="42" y="17"/>
                </a:cxn>
                <a:cxn ang="0">
                  <a:pos x="48" y="0"/>
                </a:cxn>
                <a:cxn ang="0">
                  <a:pos x="48" y="0"/>
                </a:cxn>
                <a:cxn ang="0">
                  <a:pos x="30" y="6"/>
                </a:cxn>
                <a:cxn ang="0">
                  <a:pos x="18" y="6"/>
                </a:cxn>
                <a:cxn ang="0">
                  <a:pos x="18" y="12"/>
                </a:cxn>
              </a:cxnLst>
              <a:rect l="txL" t="txT" r="txR" b="txB"/>
              <a:pathLst>
                <a:path w="84" h="137">
                  <a:moveTo>
                    <a:pt x="72" y="71"/>
                  </a:moveTo>
                  <a:lnTo>
                    <a:pt x="66" y="89"/>
                  </a:lnTo>
                  <a:lnTo>
                    <a:pt x="60" y="107"/>
                  </a:lnTo>
                  <a:lnTo>
                    <a:pt x="42" y="125"/>
                  </a:lnTo>
                  <a:lnTo>
                    <a:pt x="24" y="131"/>
                  </a:lnTo>
                  <a:lnTo>
                    <a:pt x="18" y="131"/>
                  </a:lnTo>
                  <a:lnTo>
                    <a:pt x="18" y="125"/>
                  </a:lnTo>
                  <a:lnTo>
                    <a:pt x="24" y="107"/>
                  </a:lnTo>
                  <a:lnTo>
                    <a:pt x="30" y="83"/>
                  </a:lnTo>
                  <a:lnTo>
                    <a:pt x="42" y="65"/>
                  </a:lnTo>
                  <a:lnTo>
                    <a:pt x="54" y="59"/>
                  </a:lnTo>
                  <a:lnTo>
                    <a:pt x="66" y="65"/>
                  </a:lnTo>
                  <a:lnTo>
                    <a:pt x="72" y="71"/>
                  </a:lnTo>
                  <a:close/>
                  <a:moveTo>
                    <a:pt x="18" y="12"/>
                  </a:moveTo>
                  <a:lnTo>
                    <a:pt x="30" y="12"/>
                  </a:lnTo>
                  <a:lnTo>
                    <a:pt x="30" y="23"/>
                  </a:lnTo>
                  <a:lnTo>
                    <a:pt x="24" y="29"/>
                  </a:lnTo>
                  <a:lnTo>
                    <a:pt x="0" y="125"/>
                  </a:lnTo>
                  <a:lnTo>
                    <a:pt x="6" y="131"/>
                  </a:lnTo>
                  <a:lnTo>
                    <a:pt x="24" y="137"/>
                  </a:lnTo>
                  <a:lnTo>
                    <a:pt x="48" y="131"/>
                  </a:lnTo>
                  <a:lnTo>
                    <a:pt x="66" y="113"/>
                  </a:lnTo>
                  <a:lnTo>
                    <a:pt x="78" y="95"/>
                  </a:lnTo>
                  <a:lnTo>
                    <a:pt x="84" y="71"/>
                  </a:lnTo>
                  <a:lnTo>
                    <a:pt x="78" y="53"/>
                  </a:lnTo>
                  <a:lnTo>
                    <a:pt x="66" y="47"/>
                  </a:lnTo>
                  <a:lnTo>
                    <a:pt x="54" y="53"/>
                  </a:lnTo>
                  <a:lnTo>
                    <a:pt x="42" y="59"/>
                  </a:lnTo>
                  <a:lnTo>
                    <a:pt x="30" y="77"/>
                  </a:lnTo>
                  <a:lnTo>
                    <a:pt x="42" y="35"/>
                  </a:lnTo>
                  <a:lnTo>
                    <a:pt x="42" y="17"/>
                  </a:lnTo>
                  <a:lnTo>
                    <a:pt x="48" y="0"/>
                  </a:lnTo>
                  <a:lnTo>
                    <a:pt x="30" y="6"/>
                  </a:lnTo>
                  <a:lnTo>
                    <a:pt x="18" y="6"/>
                  </a:lnTo>
                  <a:lnTo>
                    <a:pt x="18"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94" name="Freeform 29"/>
            <p:cNvSpPr/>
            <p:nvPr/>
          </p:nvSpPr>
          <p:spPr>
            <a:xfrm>
              <a:off x="2841" y="1628"/>
              <a:ext cx="90" cy="90"/>
            </a:xfrm>
            <a:custGeom>
              <a:avLst/>
              <a:gdLst>
                <a:gd name="txL" fmla="*/ 0 w 90"/>
                <a:gd name="txT" fmla="*/ 0 h 90"/>
                <a:gd name="txR" fmla="*/ 90 w 90"/>
                <a:gd name="txB" fmla="*/ 90 h 90"/>
              </a:gdLst>
              <a:ahLst/>
              <a:cxnLst>
                <a:cxn ang="0">
                  <a:pos x="90" y="60"/>
                </a:cxn>
                <a:cxn ang="0">
                  <a:pos x="78" y="72"/>
                </a:cxn>
                <a:cxn ang="0">
                  <a:pos x="72" y="78"/>
                </a:cxn>
                <a:cxn ang="0">
                  <a:pos x="72" y="78"/>
                </a:cxn>
                <a:cxn ang="0">
                  <a:pos x="66" y="72"/>
                </a:cxn>
                <a:cxn ang="0">
                  <a:pos x="72" y="60"/>
                </a:cxn>
                <a:cxn ang="0">
                  <a:pos x="78" y="42"/>
                </a:cxn>
                <a:cxn ang="0">
                  <a:pos x="84" y="24"/>
                </a:cxn>
                <a:cxn ang="0">
                  <a:pos x="84" y="12"/>
                </a:cxn>
                <a:cxn ang="0">
                  <a:pos x="78" y="6"/>
                </a:cxn>
                <a:cxn ang="0">
                  <a:pos x="72" y="0"/>
                </a:cxn>
                <a:cxn ang="0">
                  <a:pos x="60" y="6"/>
                </a:cxn>
                <a:cxn ang="0">
                  <a:pos x="48" y="18"/>
                </a:cxn>
                <a:cxn ang="0">
                  <a:pos x="36" y="30"/>
                </a:cxn>
                <a:cxn ang="0">
                  <a:pos x="30" y="42"/>
                </a:cxn>
                <a:cxn ang="0">
                  <a:pos x="30" y="42"/>
                </a:cxn>
                <a:cxn ang="0">
                  <a:pos x="42" y="0"/>
                </a:cxn>
                <a:cxn ang="0">
                  <a:pos x="42" y="0"/>
                </a:cxn>
                <a:cxn ang="0">
                  <a:pos x="24" y="6"/>
                </a:cxn>
                <a:cxn ang="0">
                  <a:pos x="6" y="6"/>
                </a:cxn>
                <a:cxn ang="0">
                  <a:pos x="6" y="12"/>
                </a:cxn>
                <a:cxn ang="0">
                  <a:pos x="18" y="12"/>
                </a:cxn>
                <a:cxn ang="0">
                  <a:pos x="18" y="12"/>
                </a:cxn>
                <a:cxn ang="0">
                  <a:pos x="18" y="24"/>
                </a:cxn>
                <a:cxn ang="0">
                  <a:pos x="12" y="42"/>
                </a:cxn>
                <a:cxn ang="0">
                  <a:pos x="6" y="66"/>
                </a:cxn>
                <a:cxn ang="0">
                  <a:pos x="0" y="84"/>
                </a:cxn>
                <a:cxn ang="0">
                  <a:pos x="18" y="84"/>
                </a:cxn>
                <a:cxn ang="0">
                  <a:pos x="24" y="54"/>
                </a:cxn>
                <a:cxn ang="0">
                  <a:pos x="36" y="36"/>
                </a:cxn>
                <a:cxn ang="0">
                  <a:pos x="48" y="18"/>
                </a:cxn>
                <a:cxn ang="0">
                  <a:pos x="66" y="12"/>
                </a:cxn>
                <a:cxn ang="0">
                  <a:pos x="66" y="12"/>
                </a:cxn>
                <a:cxn ang="0">
                  <a:pos x="66" y="18"/>
                </a:cxn>
                <a:cxn ang="0">
                  <a:pos x="66" y="30"/>
                </a:cxn>
                <a:cxn ang="0">
                  <a:pos x="60" y="48"/>
                </a:cxn>
                <a:cxn ang="0">
                  <a:pos x="54" y="66"/>
                </a:cxn>
                <a:cxn ang="0">
                  <a:pos x="54" y="78"/>
                </a:cxn>
                <a:cxn ang="0">
                  <a:pos x="54" y="84"/>
                </a:cxn>
                <a:cxn ang="0">
                  <a:pos x="66" y="90"/>
                </a:cxn>
                <a:cxn ang="0">
                  <a:pos x="78" y="84"/>
                </a:cxn>
                <a:cxn ang="0">
                  <a:pos x="90" y="66"/>
                </a:cxn>
                <a:cxn ang="0">
                  <a:pos x="90" y="60"/>
                </a:cxn>
              </a:cxnLst>
              <a:rect l="txL" t="txT" r="txR" b="txB"/>
              <a:pathLst>
                <a:path w="90" h="90">
                  <a:moveTo>
                    <a:pt x="90" y="60"/>
                  </a:moveTo>
                  <a:lnTo>
                    <a:pt x="78" y="72"/>
                  </a:lnTo>
                  <a:lnTo>
                    <a:pt x="72" y="78"/>
                  </a:lnTo>
                  <a:lnTo>
                    <a:pt x="66" y="72"/>
                  </a:lnTo>
                  <a:lnTo>
                    <a:pt x="72" y="60"/>
                  </a:lnTo>
                  <a:lnTo>
                    <a:pt x="78" y="42"/>
                  </a:lnTo>
                  <a:lnTo>
                    <a:pt x="84" y="24"/>
                  </a:lnTo>
                  <a:lnTo>
                    <a:pt x="84" y="12"/>
                  </a:lnTo>
                  <a:lnTo>
                    <a:pt x="78" y="6"/>
                  </a:lnTo>
                  <a:lnTo>
                    <a:pt x="72" y="0"/>
                  </a:lnTo>
                  <a:lnTo>
                    <a:pt x="60" y="6"/>
                  </a:lnTo>
                  <a:lnTo>
                    <a:pt x="48" y="18"/>
                  </a:lnTo>
                  <a:lnTo>
                    <a:pt x="36" y="30"/>
                  </a:lnTo>
                  <a:lnTo>
                    <a:pt x="30" y="42"/>
                  </a:lnTo>
                  <a:lnTo>
                    <a:pt x="42" y="0"/>
                  </a:lnTo>
                  <a:lnTo>
                    <a:pt x="24" y="6"/>
                  </a:lnTo>
                  <a:lnTo>
                    <a:pt x="6" y="6"/>
                  </a:lnTo>
                  <a:lnTo>
                    <a:pt x="6" y="12"/>
                  </a:lnTo>
                  <a:lnTo>
                    <a:pt x="18" y="12"/>
                  </a:lnTo>
                  <a:lnTo>
                    <a:pt x="18" y="24"/>
                  </a:lnTo>
                  <a:lnTo>
                    <a:pt x="12" y="42"/>
                  </a:lnTo>
                  <a:lnTo>
                    <a:pt x="6" y="66"/>
                  </a:lnTo>
                  <a:lnTo>
                    <a:pt x="0" y="84"/>
                  </a:lnTo>
                  <a:lnTo>
                    <a:pt x="18" y="84"/>
                  </a:lnTo>
                  <a:lnTo>
                    <a:pt x="24" y="54"/>
                  </a:lnTo>
                  <a:lnTo>
                    <a:pt x="36" y="36"/>
                  </a:lnTo>
                  <a:lnTo>
                    <a:pt x="48" y="18"/>
                  </a:lnTo>
                  <a:lnTo>
                    <a:pt x="66" y="12"/>
                  </a:lnTo>
                  <a:lnTo>
                    <a:pt x="66" y="18"/>
                  </a:lnTo>
                  <a:lnTo>
                    <a:pt x="66" y="30"/>
                  </a:lnTo>
                  <a:lnTo>
                    <a:pt x="60" y="48"/>
                  </a:lnTo>
                  <a:lnTo>
                    <a:pt x="54" y="66"/>
                  </a:lnTo>
                  <a:lnTo>
                    <a:pt x="54" y="78"/>
                  </a:lnTo>
                  <a:lnTo>
                    <a:pt x="54" y="84"/>
                  </a:lnTo>
                  <a:lnTo>
                    <a:pt x="66" y="90"/>
                  </a:lnTo>
                  <a:lnTo>
                    <a:pt x="78" y="84"/>
                  </a:lnTo>
                  <a:lnTo>
                    <a:pt x="90" y="66"/>
                  </a:lnTo>
                  <a:lnTo>
                    <a:pt x="90" y="6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95" name="Freeform 30"/>
            <p:cNvSpPr>
              <a:spLocks noEditPoints="1"/>
            </p:cNvSpPr>
            <p:nvPr/>
          </p:nvSpPr>
          <p:spPr>
            <a:xfrm>
              <a:off x="1047" y="947"/>
              <a:ext cx="90" cy="90"/>
            </a:xfrm>
            <a:custGeom>
              <a:avLst/>
              <a:gdLst>
                <a:gd name="txL" fmla="*/ 0 w 90"/>
                <a:gd name="txT" fmla="*/ 0 h 90"/>
                <a:gd name="txR" fmla="*/ 90 w 90"/>
                <a:gd name="txB" fmla="*/ 90 h 90"/>
              </a:gdLst>
              <a:ahLst/>
              <a:cxnLst>
                <a:cxn ang="0">
                  <a:pos x="84" y="66"/>
                </a:cxn>
                <a:cxn ang="0">
                  <a:pos x="78" y="72"/>
                </a:cxn>
                <a:cxn ang="0">
                  <a:pos x="72" y="78"/>
                </a:cxn>
                <a:cxn ang="0">
                  <a:pos x="72" y="78"/>
                </a:cxn>
                <a:cxn ang="0">
                  <a:pos x="66" y="72"/>
                </a:cxn>
                <a:cxn ang="0">
                  <a:pos x="72" y="60"/>
                </a:cxn>
                <a:cxn ang="0">
                  <a:pos x="78" y="36"/>
                </a:cxn>
                <a:cxn ang="0">
                  <a:pos x="84" y="12"/>
                </a:cxn>
                <a:cxn ang="0">
                  <a:pos x="84" y="6"/>
                </a:cxn>
                <a:cxn ang="0">
                  <a:pos x="84" y="0"/>
                </a:cxn>
                <a:cxn ang="0">
                  <a:pos x="84" y="0"/>
                </a:cxn>
                <a:cxn ang="0">
                  <a:pos x="72" y="0"/>
                </a:cxn>
                <a:cxn ang="0">
                  <a:pos x="72" y="0"/>
                </a:cxn>
                <a:cxn ang="0">
                  <a:pos x="72" y="12"/>
                </a:cxn>
                <a:cxn ang="0">
                  <a:pos x="72" y="12"/>
                </a:cxn>
                <a:cxn ang="0">
                  <a:pos x="66" y="6"/>
                </a:cxn>
                <a:cxn ang="0">
                  <a:pos x="54" y="0"/>
                </a:cxn>
                <a:cxn ang="0">
                  <a:pos x="36" y="6"/>
                </a:cxn>
                <a:cxn ang="0">
                  <a:pos x="18" y="24"/>
                </a:cxn>
                <a:cxn ang="0">
                  <a:pos x="6" y="42"/>
                </a:cxn>
                <a:cxn ang="0">
                  <a:pos x="0" y="66"/>
                </a:cxn>
                <a:cxn ang="0">
                  <a:pos x="0" y="78"/>
                </a:cxn>
                <a:cxn ang="0">
                  <a:pos x="6" y="90"/>
                </a:cxn>
                <a:cxn ang="0">
                  <a:pos x="18" y="90"/>
                </a:cxn>
                <a:cxn ang="0">
                  <a:pos x="36" y="84"/>
                </a:cxn>
                <a:cxn ang="0">
                  <a:pos x="48" y="78"/>
                </a:cxn>
                <a:cxn ang="0">
                  <a:pos x="60" y="60"/>
                </a:cxn>
                <a:cxn ang="0">
                  <a:pos x="60" y="60"/>
                </a:cxn>
                <a:cxn ang="0">
                  <a:pos x="54" y="72"/>
                </a:cxn>
                <a:cxn ang="0">
                  <a:pos x="54" y="78"/>
                </a:cxn>
                <a:cxn ang="0">
                  <a:pos x="54" y="84"/>
                </a:cxn>
                <a:cxn ang="0">
                  <a:pos x="60" y="84"/>
                </a:cxn>
                <a:cxn ang="0">
                  <a:pos x="78" y="78"/>
                </a:cxn>
                <a:cxn ang="0">
                  <a:pos x="90" y="66"/>
                </a:cxn>
                <a:cxn ang="0">
                  <a:pos x="84" y="66"/>
                </a:cxn>
                <a:cxn ang="0">
                  <a:pos x="18" y="66"/>
                </a:cxn>
                <a:cxn ang="0">
                  <a:pos x="24" y="48"/>
                </a:cxn>
                <a:cxn ang="0">
                  <a:pos x="30" y="30"/>
                </a:cxn>
                <a:cxn ang="0">
                  <a:pos x="42" y="12"/>
                </a:cxn>
                <a:cxn ang="0">
                  <a:pos x="54" y="6"/>
                </a:cxn>
                <a:cxn ang="0">
                  <a:pos x="60" y="6"/>
                </a:cxn>
                <a:cxn ang="0">
                  <a:pos x="66" y="18"/>
                </a:cxn>
                <a:cxn ang="0">
                  <a:pos x="66" y="36"/>
                </a:cxn>
                <a:cxn ang="0">
                  <a:pos x="54" y="54"/>
                </a:cxn>
                <a:cxn ang="0">
                  <a:pos x="42" y="72"/>
                </a:cxn>
                <a:cxn ang="0">
                  <a:pos x="30" y="78"/>
                </a:cxn>
                <a:cxn ang="0">
                  <a:pos x="24" y="72"/>
                </a:cxn>
                <a:cxn ang="0">
                  <a:pos x="18" y="66"/>
                </a:cxn>
                <a:cxn ang="0">
                  <a:pos x="18" y="66"/>
                </a:cxn>
              </a:cxnLst>
              <a:rect l="txL" t="txT" r="txR" b="txB"/>
              <a:pathLst>
                <a:path w="90" h="90">
                  <a:moveTo>
                    <a:pt x="84" y="66"/>
                  </a:moveTo>
                  <a:lnTo>
                    <a:pt x="78" y="72"/>
                  </a:lnTo>
                  <a:lnTo>
                    <a:pt x="72" y="78"/>
                  </a:lnTo>
                  <a:lnTo>
                    <a:pt x="66" y="72"/>
                  </a:lnTo>
                  <a:lnTo>
                    <a:pt x="72" y="60"/>
                  </a:lnTo>
                  <a:lnTo>
                    <a:pt x="78" y="36"/>
                  </a:lnTo>
                  <a:lnTo>
                    <a:pt x="84" y="12"/>
                  </a:lnTo>
                  <a:lnTo>
                    <a:pt x="84" y="6"/>
                  </a:lnTo>
                  <a:lnTo>
                    <a:pt x="84" y="0"/>
                  </a:lnTo>
                  <a:lnTo>
                    <a:pt x="72" y="0"/>
                  </a:lnTo>
                  <a:lnTo>
                    <a:pt x="72" y="12"/>
                  </a:lnTo>
                  <a:lnTo>
                    <a:pt x="66" y="6"/>
                  </a:lnTo>
                  <a:lnTo>
                    <a:pt x="54" y="0"/>
                  </a:lnTo>
                  <a:lnTo>
                    <a:pt x="36" y="6"/>
                  </a:lnTo>
                  <a:lnTo>
                    <a:pt x="18" y="24"/>
                  </a:lnTo>
                  <a:lnTo>
                    <a:pt x="6" y="42"/>
                  </a:lnTo>
                  <a:lnTo>
                    <a:pt x="0" y="66"/>
                  </a:lnTo>
                  <a:lnTo>
                    <a:pt x="0" y="78"/>
                  </a:lnTo>
                  <a:lnTo>
                    <a:pt x="6" y="90"/>
                  </a:lnTo>
                  <a:lnTo>
                    <a:pt x="18" y="90"/>
                  </a:lnTo>
                  <a:lnTo>
                    <a:pt x="36" y="84"/>
                  </a:lnTo>
                  <a:lnTo>
                    <a:pt x="48" y="78"/>
                  </a:lnTo>
                  <a:lnTo>
                    <a:pt x="60" y="60"/>
                  </a:lnTo>
                  <a:lnTo>
                    <a:pt x="54" y="72"/>
                  </a:lnTo>
                  <a:lnTo>
                    <a:pt x="54" y="78"/>
                  </a:lnTo>
                  <a:lnTo>
                    <a:pt x="54" y="84"/>
                  </a:lnTo>
                  <a:lnTo>
                    <a:pt x="60" y="84"/>
                  </a:lnTo>
                  <a:lnTo>
                    <a:pt x="78" y="78"/>
                  </a:lnTo>
                  <a:lnTo>
                    <a:pt x="90" y="66"/>
                  </a:lnTo>
                  <a:lnTo>
                    <a:pt x="84" y="66"/>
                  </a:lnTo>
                  <a:close/>
                  <a:moveTo>
                    <a:pt x="18" y="66"/>
                  </a:moveTo>
                  <a:lnTo>
                    <a:pt x="24" y="48"/>
                  </a:lnTo>
                  <a:lnTo>
                    <a:pt x="30" y="30"/>
                  </a:lnTo>
                  <a:lnTo>
                    <a:pt x="42" y="12"/>
                  </a:lnTo>
                  <a:lnTo>
                    <a:pt x="54" y="6"/>
                  </a:lnTo>
                  <a:lnTo>
                    <a:pt x="60" y="6"/>
                  </a:lnTo>
                  <a:lnTo>
                    <a:pt x="66" y="18"/>
                  </a:lnTo>
                  <a:lnTo>
                    <a:pt x="66" y="36"/>
                  </a:lnTo>
                  <a:lnTo>
                    <a:pt x="54" y="54"/>
                  </a:lnTo>
                  <a:lnTo>
                    <a:pt x="42" y="72"/>
                  </a:lnTo>
                  <a:lnTo>
                    <a:pt x="30" y="78"/>
                  </a:lnTo>
                  <a:lnTo>
                    <a:pt x="24" y="72"/>
                  </a:lnTo>
                  <a:lnTo>
                    <a:pt x="18" y="6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96" name="Freeform 31"/>
            <p:cNvSpPr/>
            <p:nvPr/>
          </p:nvSpPr>
          <p:spPr>
            <a:xfrm>
              <a:off x="2859" y="3581"/>
              <a:ext cx="72" cy="89"/>
            </a:xfrm>
            <a:custGeom>
              <a:avLst/>
              <a:gdLst>
                <a:gd name="txL" fmla="*/ 0 w 72"/>
                <a:gd name="txT" fmla="*/ 0 h 89"/>
                <a:gd name="txR" fmla="*/ 72 w 72"/>
                <a:gd name="txB" fmla="*/ 89 h 89"/>
              </a:gdLst>
              <a:ahLst/>
              <a:cxnLst>
                <a:cxn ang="0">
                  <a:pos x="60" y="65"/>
                </a:cxn>
                <a:cxn ang="0">
                  <a:pos x="48" y="77"/>
                </a:cxn>
                <a:cxn ang="0">
                  <a:pos x="36" y="83"/>
                </a:cxn>
                <a:cxn ang="0">
                  <a:pos x="24" y="77"/>
                </a:cxn>
                <a:cxn ang="0">
                  <a:pos x="18" y="59"/>
                </a:cxn>
                <a:cxn ang="0">
                  <a:pos x="18" y="41"/>
                </a:cxn>
                <a:cxn ang="0">
                  <a:pos x="30" y="24"/>
                </a:cxn>
                <a:cxn ang="0">
                  <a:pos x="36" y="12"/>
                </a:cxn>
                <a:cxn ang="0">
                  <a:pos x="54" y="6"/>
                </a:cxn>
                <a:cxn ang="0">
                  <a:pos x="60" y="6"/>
                </a:cxn>
                <a:cxn ang="0">
                  <a:pos x="60" y="12"/>
                </a:cxn>
                <a:cxn ang="0">
                  <a:pos x="60" y="18"/>
                </a:cxn>
                <a:cxn ang="0">
                  <a:pos x="60" y="18"/>
                </a:cxn>
                <a:cxn ang="0">
                  <a:pos x="60" y="24"/>
                </a:cxn>
                <a:cxn ang="0">
                  <a:pos x="66" y="30"/>
                </a:cxn>
                <a:cxn ang="0">
                  <a:pos x="72" y="24"/>
                </a:cxn>
                <a:cxn ang="0">
                  <a:pos x="72" y="18"/>
                </a:cxn>
                <a:cxn ang="0">
                  <a:pos x="72" y="6"/>
                </a:cxn>
                <a:cxn ang="0">
                  <a:pos x="66" y="0"/>
                </a:cxn>
                <a:cxn ang="0">
                  <a:pos x="54" y="0"/>
                </a:cxn>
                <a:cxn ang="0">
                  <a:pos x="36" y="6"/>
                </a:cxn>
                <a:cxn ang="0">
                  <a:pos x="18" y="18"/>
                </a:cxn>
                <a:cxn ang="0">
                  <a:pos x="6" y="35"/>
                </a:cxn>
                <a:cxn ang="0">
                  <a:pos x="0" y="59"/>
                </a:cxn>
                <a:cxn ang="0">
                  <a:pos x="6" y="77"/>
                </a:cxn>
                <a:cxn ang="0">
                  <a:pos x="12" y="83"/>
                </a:cxn>
                <a:cxn ang="0">
                  <a:pos x="30" y="89"/>
                </a:cxn>
                <a:cxn ang="0">
                  <a:pos x="54" y="83"/>
                </a:cxn>
                <a:cxn ang="0">
                  <a:pos x="66" y="71"/>
                </a:cxn>
                <a:cxn ang="0">
                  <a:pos x="60" y="65"/>
                </a:cxn>
              </a:cxnLst>
              <a:rect l="txL" t="txT" r="txR" b="txB"/>
              <a:pathLst>
                <a:path w="72" h="89">
                  <a:moveTo>
                    <a:pt x="60" y="65"/>
                  </a:moveTo>
                  <a:lnTo>
                    <a:pt x="48" y="77"/>
                  </a:lnTo>
                  <a:lnTo>
                    <a:pt x="36" y="83"/>
                  </a:lnTo>
                  <a:lnTo>
                    <a:pt x="24" y="77"/>
                  </a:lnTo>
                  <a:lnTo>
                    <a:pt x="18" y="59"/>
                  </a:lnTo>
                  <a:lnTo>
                    <a:pt x="18" y="41"/>
                  </a:lnTo>
                  <a:lnTo>
                    <a:pt x="30" y="24"/>
                  </a:lnTo>
                  <a:lnTo>
                    <a:pt x="36" y="12"/>
                  </a:lnTo>
                  <a:lnTo>
                    <a:pt x="54" y="6"/>
                  </a:lnTo>
                  <a:lnTo>
                    <a:pt x="60" y="6"/>
                  </a:lnTo>
                  <a:lnTo>
                    <a:pt x="60" y="12"/>
                  </a:lnTo>
                  <a:lnTo>
                    <a:pt x="60" y="18"/>
                  </a:lnTo>
                  <a:lnTo>
                    <a:pt x="60" y="24"/>
                  </a:lnTo>
                  <a:lnTo>
                    <a:pt x="66" y="30"/>
                  </a:lnTo>
                  <a:lnTo>
                    <a:pt x="72" y="24"/>
                  </a:lnTo>
                  <a:lnTo>
                    <a:pt x="72" y="18"/>
                  </a:lnTo>
                  <a:lnTo>
                    <a:pt x="72" y="6"/>
                  </a:lnTo>
                  <a:lnTo>
                    <a:pt x="66" y="0"/>
                  </a:lnTo>
                  <a:lnTo>
                    <a:pt x="54" y="0"/>
                  </a:lnTo>
                  <a:lnTo>
                    <a:pt x="36" y="6"/>
                  </a:lnTo>
                  <a:lnTo>
                    <a:pt x="18" y="18"/>
                  </a:lnTo>
                  <a:lnTo>
                    <a:pt x="6" y="35"/>
                  </a:lnTo>
                  <a:lnTo>
                    <a:pt x="0" y="59"/>
                  </a:lnTo>
                  <a:lnTo>
                    <a:pt x="6" y="77"/>
                  </a:lnTo>
                  <a:lnTo>
                    <a:pt x="12" y="83"/>
                  </a:lnTo>
                  <a:lnTo>
                    <a:pt x="30" y="89"/>
                  </a:lnTo>
                  <a:lnTo>
                    <a:pt x="54" y="83"/>
                  </a:lnTo>
                  <a:lnTo>
                    <a:pt x="66" y="71"/>
                  </a:lnTo>
                  <a:lnTo>
                    <a:pt x="60" y="6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2497" name="Freeform 32"/>
            <p:cNvSpPr/>
            <p:nvPr/>
          </p:nvSpPr>
          <p:spPr>
            <a:xfrm>
              <a:off x="3523" y="1294"/>
              <a:ext cx="347" cy="209"/>
            </a:xfrm>
            <a:custGeom>
              <a:avLst/>
              <a:gdLst>
                <a:gd name="txL" fmla="*/ 0 w 347"/>
                <a:gd name="txT" fmla="*/ 0 h 209"/>
                <a:gd name="txR" fmla="*/ 347 w 347"/>
                <a:gd name="txB" fmla="*/ 209 h 209"/>
              </a:gdLst>
              <a:ahLst/>
              <a:cxnLst>
                <a:cxn ang="0">
                  <a:pos x="0" y="167"/>
                </a:cxn>
                <a:cxn ang="0">
                  <a:pos x="18" y="209"/>
                </a:cxn>
                <a:cxn ang="0">
                  <a:pos x="347" y="41"/>
                </a:cxn>
                <a:cxn ang="0">
                  <a:pos x="329" y="0"/>
                </a:cxn>
                <a:cxn ang="0">
                  <a:pos x="0" y="167"/>
                </a:cxn>
                <a:cxn ang="0">
                  <a:pos x="0" y="167"/>
                </a:cxn>
              </a:cxnLst>
              <a:rect l="txL" t="txT" r="txR" b="txB"/>
              <a:pathLst>
                <a:path w="347" h="209">
                  <a:moveTo>
                    <a:pt x="0" y="167"/>
                  </a:moveTo>
                  <a:lnTo>
                    <a:pt x="18" y="209"/>
                  </a:lnTo>
                  <a:lnTo>
                    <a:pt x="347" y="41"/>
                  </a:lnTo>
                  <a:lnTo>
                    <a:pt x="329" y="0"/>
                  </a:lnTo>
                  <a:lnTo>
                    <a:pt x="0" y="167"/>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2498" name="Freeform 33"/>
            <p:cNvSpPr/>
            <p:nvPr/>
          </p:nvSpPr>
          <p:spPr>
            <a:xfrm>
              <a:off x="3822" y="1270"/>
              <a:ext cx="48" cy="42"/>
            </a:xfrm>
            <a:custGeom>
              <a:avLst/>
              <a:gdLst>
                <a:gd name="txL" fmla="*/ 0 w 48"/>
                <a:gd name="txT" fmla="*/ 0 h 42"/>
                <a:gd name="txR" fmla="*/ 48 w 48"/>
                <a:gd name="txB" fmla="*/ 42 h 42"/>
              </a:gdLst>
              <a:ahLst/>
              <a:cxnLst>
                <a:cxn ang="0">
                  <a:pos x="48" y="42"/>
                </a:cxn>
                <a:cxn ang="0">
                  <a:pos x="0" y="0"/>
                </a:cxn>
                <a:cxn ang="0">
                  <a:pos x="48" y="42"/>
                </a:cxn>
                <a:cxn ang="0">
                  <a:pos x="48" y="42"/>
                </a:cxn>
              </a:cxnLst>
              <a:rect l="txL" t="txT" r="txR" b="txB"/>
              <a:pathLst>
                <a:path w="48" h="42">
                  <a:moveTo>
                    <a:pt x="48" y="42"/>
                  </a:moveTo>
                  <a:lnTo>
                    <a:pt x="0" y="0"/>
                  </a:lnTo>
                  <a:lnTo>
                    <a:pt x="48"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499" name="Freeform 34"/>
            <p:cNvSpPr>
              <a:spLocks noEditPoints="1"/>
            </p:cNvSpPr>
            <p:nvPr/>
          </p:nvSpPr>
          <p:spPr>
            <a:xfrm>
              <a:off x="3822" y="1270"/>
              <a:ext cx="6" cy="65"/>
            </a:xfrm>
            <a:custGeom>
              <a:avLst/>
              <a:gdLst>
                <a:gd name="txL" fmla="*/ 0 w 6"/>
                <a:gd name="txT" fmla="*/ 0 h 65"/>
                <a:gd name="txR" fmla="*/ 6 w 6"/>
                <a:gd name="txB" fmla="*/ 65 h 65"/>
              </a:gdLst>
              <a:ahLst/>
              <a:cxnLst>
                <a:cxn ang="0">
                  <a:pos x="0" y="0"/>
                </a:cxn>
                <a:cxn ang="0">
                  <a:pos x="6" y="65"/>
                </a:cxn>
                <a:cxn ang="0">
                  <a:pos x="0" y="0"/>
                </a:cxn>
                <a:cxn ang="0">
                  <a:pos x="0" y="0"/>
                </a:cxn>
                <a:cxn ang="0">
                  <a:pos x="0" y="0"/>
                </a:cxn>
                <a:cxn ang="0">
                  <a:pos x="0" y="0"/>
                </a:cxn>
                <a:cxn ang="0">
                  <a:pos x="0" y="0"/>
                </a:cxn>
              </a:cxnLst>
              <a:rect l="txL" t="txT" r="txR" b="txB"/>
              <a:pathLst>
                <a:path w="6" h="65">
                  <a:moveTo>
                    <a:pt x="0" y="0"/>
                  </a:moveTo>
                  <a:lnTo>
                    <a:pt x="6" y="65"/>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00" name="Freeform 35"/>
            <p:cNvSpPr>
              <a:spLocks noEditPoints="1"/>
            </p:cNvSpPr>
            <p:nvPr/>
          </p:nvSpPr>
          <p:spPr>
            <a:xfrm>
              <a:off x="3828" y="1335"/>
              <a:ext cx="1" cy="60"/>
            </a:xfrm>
            <a:custGeom>
              <a:avLst/>
              <a:gdLst>
                <a:gd name="txL" fmla="*/ 0 w 1"/>
                <a:gd name="txT" fmla="*/ 0 h 60"/>
                <a:gd name="txR" fmla="*/ 1 w 1"/>
                <a:gd name="txB" fmla="*/ 60 h 60"/>
              </a:gdLst>
              <a:ahLst/>
              <a:cxnLst>
                <a:cxn ang="0">
                  <a:pos x="0" y="0"/>
                </a:cxn>
                <a:cxn ang="0">
                  <a:pos x="0" y="60"/>
                </a:cxn>
                <a:cxn ang="0">
                  <a:pos x="0" y="0"/>
                </a:cxn>
                <a:cxn ang="0">
                  <a:pos x="0" y="0"/>
                </a:cxn>
                <a:cxn ang="0">
                  <a:pos x="0" y="0"/>
                </a:cxn>
                <a:cxn ang="0">
                  <a:pos x="0" y="0"/>
                </a:cxn>
                <a:cxn ang="0">
                  <a:pos x="0" y="0"/>
                </a:cxn>
              </a:cxnLst>
              <a:rect l="txL" t="txT" r="txR" b="txB"/>
              <a:pathLst>
                <a:path w="1" h="60">
                  <a:moveTo>
                    <a:pt x="0" y="0"/>
                  </a:moveTo>
                  <a:lnTo>
                    <a:pt x="0"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01" name="Freeform 36"/>
            <p:cNvSpPr>
              <a:spLocks noEditPoints="1"/>
            </p:cNvSpPr>
            <p:nvPr/>
          </p:nvSpPr>
          <p:spPr>
            <a:xfrm>
              <a:off x="3780" y="1353"/>
              <a:ext cx="48" cy="42"/>
            </a:xfrm>
            <a:custGeom>
              <a:avLst/>
              <a:gdLst>
                <a:gd name="txL" fmla="*/ 0 w 48"/>
                <a:gd name="txT" fmla="*/ 0 h 42"/>
                <a:gd name="txR" fmla="*/ 48 w 48"/>
                <a:gd name="txB" fmla="*/ 42 h 42"/>
              </a:gdLst>
              <a:ahLst/>
              <a:cxnLst>
                <a:cxn ang="0">
                  <a:pos x="48" y="42"/>
                </a:cxn>
                <a:cxn ang="0">
                  <a:pos x="0" y="0"/>
                </a:cxn>
                <a:cxn ang="0">
                  <a:pos x="48" y="42"/>
                </a:cxn>
                <a:cxn ang="0">
                  <a:pos x="48" y="42"/>
                </a:cxn>
                <a:cxn ang="0">
                  <a:pos x="48" y="42"/>
                </a:cxn>
                <a:cxn ang="0">
                  <a:pos x="48" y="42"/>
                </a:cxn>
                <a:cxn ang="0">
                  <a:pos x="48" y="42"/>
                </a:cxn>
              </a:cxnLst>
              <a:rect l="txL" t="txT" r="txR" b="txB"/>
              <a:pathLst>
                <a:path w="48" h="42">
                  <a:moveTo>
                    <a:pt x="48" y="42"/>
                  </a:moveTo>
                  <a:lnTo>
                    <a:pt x="0" y="0"/>
                  </a:lnTo>
                  <a:lnTo>
                    <a:pt x="48" y="42"/>
                  </a:lnTo>
                  <a:close/>
                  <a:moveTo>
                    <a:pt x="48" y="42"/>
                  </a:moveTo>
                  <a:lnTo>
                    <a:pt x="48"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02" name="Freeform 37"/>
            <p:cNvSpPr>
              <a:spLocks noEditPoints="1"/>
            </p:cNvSpPr>
            <p:nvPr/>
          </p:nvSpPr>
          <p:spPr>
            <a:xfrm>
              <a:off x="3780" y="1353"/>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03" name="Freeform 38"/>
            <p:cNvSpPr>
              <a:spLocks noEditPoints="1"/>
            </p:cNvSpPr>
            <p:nvPr/>
          </p:nvSpPr>
          <p:spPr>
            <a:xfrm>
              <a:off x="3738" y="1318"/>
              <a:ext cx="42" cy="35"/>
            </a:xfrm>
            <a:custGeom>
              <a:avLst/>
              <a:gdLst>
                <a:gd name="txL" fmla="*/ 0 w 42"/>
                <a:gd name="txT" fmla="*/ 0 h 35"/>
                <a:gd name="txR" fmla="*/ 42 w 42"/>
                <a:gd name="txB" fmla="*/ 35 h 35"/>
              </a:gdLst>
              <a:ahLst/>
              <a:cxnLst>
                <a:cxn ang="0">
                  <a:pos x="42" y="35"/>
                </a:cxn>
                <a:cxn ang="0">
                  <a:pos x="0" y="0"/>
                </a:cxn>
                <a:cxn ang="0">
                  <a:pos x="42" y="35"/>
                </a:cxn>
                <a:cxn ang="0">
                  <a:pos x="42" y="35"/>
                </a:cxn>
                <a:cxn ang="0">
                  <a:pos x="42" y="35"/>
                </a:cxn>
                <a:cxn ang="0">
                  <a:pos x="42" y="35"/>
                </a:cxn>
                <a:cxn ang="0">
                  <a:pos x="42" y="35"/>
                </a:cxn>
              </a:cxnLst>
              <a:rect l="txL" t="txT" r="txR" b="txB"/>
              <a:pathLst>
                <a:path w="42" h="35">
                  <a:moveTo>
                    <a:pt x="42" y="35"/>
                  </a:moveTo>
                  <a:lnTo>
                    <a:pt x="0" y="0"/>
                  </a:lnTo>
                  <a:lnTo>
                    <a:pt x="42" y="35"/>
                  </a:lnTo>
                  <a:close/>
                  <a:moveTo>
                    <a:pt x="42" y="35"/>
                  </a:moveTo>
                  <a:lnTo>
                    <a:pt x="42" y="35"/>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04" name="Freeform 39"/>
            <p:cNvSpPr>
              <a:spLocks noEditPoints="1"/>
            </p:cNvSpPr>
            <p:nvPr/>
          </p:nvSpPr>
          <p:spPr>
            <a:xfrm>
              <a:off x="3738" y="1318"/>
              <a:ext cx="1" cy="59"/>
            </a:xfrm>
            <a:custGeom>
              <a:avLst/>
              <a:gdLst>
                <a:gd name="txL" fmla="*/ 0 w 1"/>
                <a:gd name="txT" fmla="*/ 0 h 59"/>
                <a:gd name="txR" fmla="*/ 1 w 1"/>
                <a:gd name="txB" fmla="*/ 59 h 59"/>
              </a:gdLst>
              <a:ahLst/>
              <a:cxnLst>
                <a:cxn ang="0">
                  <a:pos x="0" y="0"/>
                </a:cxn>
                <a:cxn ang="0">
                  <a:pos x="0" y="59"/>
                </a:cxn>
                <a:cxn ang="0">
                  <a:pos x="0" y="0"/>
                </a:cxn>
                <a:cxn ang="0">
                  <a:pos x="0" y="0"/>
                </a:cxn>
                <a:cxn ang="0">
                  <a:pos x="0" y="0"/>
                </a:cxn>
                <a:cxn ang="0">
                  <a:pos x="0" y="0"/>
                </a:cxn>
                <a:cxn ang="0">
                  <a:pos x="0" y="0"/>
                </a:cxn>
              </a:cxnLst>
              <a:rect l="txL" t="txT" r="txR" b="txB"/>
              <a:pathLst>
                <a:path w="1" h="59">
                  <a:moveTo>
                    <a:pt x="0" y="0"/>
                  </a:moveTo>
                  <a:lnTo>
                    <a:pt x="0" y="59"/>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05" name="Freeform 40"/>
            <p:cNvSpPr>
              <a:spLocks noEditPoints="1"/>
            </p:cNvSpPr>
            <p:nvPr/>
          </p:nvSpPr>
          <p:spPr>
            <a:xfrm>
              <a:off x="3738" y="1377"/>
              <a:ext cx="6" cy="60"/>
            </a:xfrm>
            <a:custGeom>
              <a:avLst/>
              <a:gdLst>
                <a:gd name="txL" fmla="*/ 0 w 6"/>
                <a:gd name="txT" fmla="*/ 0 h 60"/>
                <a:gd name="txR" fmla="*/ 6 w 6"/>
                <a:gd name="txB" fmla="*/ 60 h 60"/>
              </a:gdLst>
              <a:ahLst/>
              <a:cxnLst>
                <a:cxn ang="0">
                  <a:pos x="0" y="0"/>
                </a:cxn>
                <a:cxn ang="0">
                  <a:pos x="6" y="60"/>
                </a:cxn>
                <a:cxn ang="0">
                  <a:pos x="0" y="0"/>
                </a:cxn>
                <a:cxn ang="0">
                  <a:pos x="0" y="0"/>
                </a:cxn>
                <a:cxn ang="0">
                  <a:pos x="0" y="0"/>
                </a:cxn>
                <a:cxn ang="0">
                  <a:pos x="0" y="0"/>
                </a:cxn>
                <a:cxn ang="0">
                  <a:pos x="0" y="0"/>
                </a:cxn>
              </a:cxnLst>
              <a:rect l="txL" t="txT" r="txR" b="txB"/>
              <a:pathLst>
                <a:path w="6" h="60">
                  <a:moveTo>
                    <a:pt x="0" y="0"/>
                  </a:moveTo>
                  <a:lnTo>
                    <a:pt x="6"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06" name="Freeform 41"/>
            <p:cNvSpPr>
              <a:spLocks noEditPoints="1"/>
            </p:cNvSpPr>
            <p:nvPr/>
          </p:nvSpPr>
          <p:spPr>
            <a:xfrm>
              <a:off x="3696" y="1395"/>
              <a:ext cx="48" cy="42"/>
            </a:xfrm>
            <a:custGeom>
              <a:avLst/>
              <a:gdLst>
                <a:gd name="txL" fmla="*/ 0 w 48"/>
                <a:gd name="txT" fmla="*/ 0 h 42"/>
                <a:gd name="txR" fmla="*/ 48 w 48"/>
                <a:gd name="txB" fmla="*/ 42 h 42"/>
              </a:gdLst>
              <a:ahLst/>
              <a:cxnLst>
                <a:cxn ang="0">
                  <a:pos x="48" y="42"/>
                </a:cxn>
                <a:cxn ang="0">
                  <a:pos x="0" y="0"/>
                </a:cxn>
                <a:cxn ang="0">
                  <a:pos x="48" y="42"/>
                </a:cxn>
                <a:cxn ang="0">
                  <a:pos x="48" y="42"/>
                </a:cxn>
                <a:cxn ang="0">
                  <a:pos x="48" y="42"/>
                </a:cxn>
                <a:cxn ang="0">
                  <a:pos x="48" y="42"/>
                </a:cxn>
                <a:cxn ang="0">
                  <a:pos x="48" y="42"/>
                </a:cxn>
              </a:cxnLst>
              <a:rect l="txL" t="txT" r="txR" b="txB"/>
              <a:pathLst>
                <a:path w="48" h="42">
                  <a:moveTo>
                    <a:pt x="48" y="42"/>
                  </a:moveTo>
                  <a:lnTo>
                    <a:pt x="0" y="0"/>
                  </a:lnTo>
                  <a:lnTo>
                    <a:pt x="48" y="42"/>
                  </a:lnTo>
                  <a:close/>
                  <a:moveTo>
                    <a:pt x="48" y="42"/>
                  </a:moveTo>
                  <a:lnTo>
                    <a:pt x="48"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07" name="Freeform 42"/>
            <p:cNvSpPr>
              <a:spLocks noEditPoints="1"/>
            </p:cNvSpPr>
            <p:nvPr/>
          </p:nvSpPr>
          <p:spPr>
            <a:xfrm>
              <a:off x="3654" y="1359"/>
              <a:ext cx="42" cy="36"/>
            </a:xfrm>
            <a:custGeom>
              <a:avLst/>
              <a:gdLst>
                <a:gd name="txL" fmla="*/ 0 w 42"/>
                <a:gd name="txT" fmla="*/ 0 h 36"/>
                <a:gd name="txR" fmla="*/ 42 w 42"/>
                <a:gd name="txB" fmla="*/ 36 h 36"/>
              </a:gdLst>
              <a:ahLst/>
              <a:cxnLst>
                <a:cxn ang="0">
                  <a:pos x="42" y="36"/>
                </a:cxn>
                <a:cxn ang="0">
                  <a:pos x="0" y="0"/>
                </a:cxn>
                <a:cxn ang="0">
                  <a:pos x="42" y="36"/>
                </a:cxn>
                <a:cxn ang="0">
                  <a:pos x="42" y="36"/>
                </a:cxn>
                <a:cxn ang="0">
                  <a:pos x="42" y="36"/>
                </a:cxn>
                <a:cxn ang="0">
                  <a:pos x="42" y="36"/>
                </a:cxn>
                <a:cxn ang="0">
                  <a:pos x="42" y="36"/>
                </a:cxn>
              </a:cxnLst>
              <a:rect l="txL" t="txT" r="txR" b="txB"/>
              <a:pathLst>
                <a:path w="42" h="36">
                  <a:moveTo>
                    <a:pt x="42" y="36"/>
                  </a:moveTo>
                  <a:lnTo>
                    <a:pt x="0" y="0"/>
                  </a:lnTo>
                  <a:lnTo>
                    <a:pt x="42" y="36"/>
                  </a:lnTo>
                  <a:close/>
                  <a:moveTo>
                    <a:pt x="42" y="36"/>
                  </a:moveTo>
                  <a:lnTo>
                    <a:pt x="42"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08" name="Freeform 43"/>
            <p:cNvSpPr>
              <a:spLocks noEditPoints="1"/>
            </p:cNvSpPr>
            <p:nvPr/>
          </p:nvSpPr>
          <p:spPr>
            <a:xfrm>
              <a:off x="3654" y="1359"/>
              <a:ext cx="1" cy="60"/>
            </a:xfrm>
            <a:custGeom>
              <a:avLst/>
              <a:gdLst>
                <a:gd name="txL" fmla="*/ 0 w 1"/>
                <a:gd name="txT" fmla="*/ 0 h 60"/>
                <a:gd name="txR" fmla="*/ 1 w 1"/>
                <a:gd name="txB" fmla="*/ 60 h 60"/>
              </a:gdLst>
              <a:ahLst/>
              <a:cxnLst>
                <a:cxn ang="0">
                  <a:pos x="0" y="0"/>
                </a:cxn>
                <a:cxn ang="0">
                  <a:pos x="0" y="60"/>
                </a:cxn>
                <a:cxn ang="0">
                  <a:pos x="0" y="0"/>
                </a:cxn>
                <a:cxn ang="0">
                  <a:pos x="0" y="0"/>
                </a:cxn>
                <a:cxn ang="0">
                  <a:pos x="0" y="0"/>
                </a:cxn>
                <a:cxn ang="0">
                  <a:pos x="0" y="0"/>
                </a:cxn>
                <a:cxn ang="0">
                  <a:pos x="0" y="0"/>
                </a:cxn>
              </a:cxnLst>
              <a:rect l="txL" t="txT" r="txR" b="txB"/>
              <a:pathLst>
                <a:path w="1" h="60">
                  <a:moveTo>
                    <a:pt x="0" y="0"/>
                  </a:moveTo>
                  <a:lnTo>
                    <a:pt x="0"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09" name="Freeform 44"/>
            <p:cNvSpPr>
              <a:spLocks noEditPoints="1"/>
            </p:cNvSpPr>
            <p:nvPr/>
          </p:nvSpPr>
          <p:spPr>
            <a:xfrm>
              <a:off x="3654" y="1419"/>
              <a:ext cx="6" cy="60"/>
            </a:xfrm>
            <a:custGeom>
              <a:avLst/>
              <a:gdLst>
                <a:gd name="txL" fmla="*/ 0 w 6"/>
                <a:gd name="txT" fmla="*/ 0 h 60"/>
                <a:gd name="txR" fmla="*/ 6 w 6"/>
                <a:gd name="txB" fmla="*/ 60 h 60"/>
              </a:gdLst>
              <a:ahLst/>
              <a:cxnLst>
                <a:cxn ang="0">
                  <a:pos x="0" y="0"/>
                </a:cxn>
                <a:cxn ang="0">
                  <a:pos x="6" y="60"/>
                </a:cxn>
                <a:cxn ang="0">
                  <a:pos x="0" y="0"/>
                </a:cxn>
                <a:cxn ang="0">
                  <a:pos x="0" y="0"/>
                </a:cxn>
                <a:cxn ang="0">
                  <a:pos x="0" y="0"/>
                </a:cxn>
                <a:cxn ang="0">
                  <a:pos x="0" y="0"/>
                </a:cxn>
                <a:cxn ang="0">
                  <a:pos x="0" y="0"/>
                </a:cxn>
              </a:cxnLst>
              <a:rect l="txL" t="txT" r="txR" b="txB"/>
              <a:pathLst>
                <a:path w="6" h="60">
                  <a:moveTo>
                    <a:pt x="0" y="0"/>
                  </a:moveTo>
                  <a:lnTo>
                    <a:pt x="6"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10" name="Freeform 45"/>
            <p:cNvSpPr>
              <a:spLocks noEditPoints="1"/>
            </p:cNvSpPr>
            <p:nvPr/>
          </p:nvSpPr>
          <p:spPr>
            <a:xfrm>
              <a:off x="3613" y="1443"/>
              <a:ext cx="47" cy="36"/>
            </a:xfrm>
            <a:custGeom>
              <a:avLst/>
              <a:gdLst>
                <a:gd name="txL" fmla="*/ 0 w 47"/>
                <a:gd name="txT" fmla="*/ 0 h 36"/>
                <a:gd name="txR" fmla="*/ 47 w 47"/>
                <a:gd name="txB" fmla="*/ 36 h 36"/>
              </a:gdLst>
              <a:ahLst/>
              <a:cxnLst>
                <a:cxn ang="0">
                  <a:pos x="47" y="36"/>
                </a:cxn>
                <a:cxn ang="0">
                  <a:pos x="0" y="0"/>
                </a:cxn>
                <a:cxn ang="0">
                  <a:pos x="47" y="36"/>
                </a:cxn>
                <a:cxn ang="0">
                  <a:pos x="47" y="36"/>
                </a:cxn>
                <a:cxn ang="0">
                  <a:pos x="47" y="36"/>
                </a:cxn>
                <a:cxn ang="0">
                  <a:pos x="47" y="36"/>
                </a:cxn>
                <a:cxn ang="0">
                  <a:pos x="47" y="36"/>
                </a:cxn>
              </a:cxnLst>
              <a:rect l="txL" t="txT" r="txR" b="txB"/>
              <a:pathLst>
                <a:path w="47" h="36">
                  <a:moveTo>
                    <a:pt x="47" y="36"/>
                  </a:moveTo>
                  <a:lnTo>
                    <a:pt x="0" y="0"/>
                  </a:lnTo>
                  <a:lnTo>
                    <a:pt x="47" y="36"/>
                  </a:lnTo>
                  <a:close/>
                  <a:moveTo>
                    <a:pt x="47" y="36"/>
                  </a:moveTo>
                  <a:lnTo>
                    <a:pt x="47"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11" name="Freeform 46"/>
            <p:cNvSpPr>
              <a:spLocks noEditPoints="1"/>
            </p:cNvSpPr>
            <p:nvPr/>
          </p:nvSpPr>
          <p:spPr>
            <a:xfrm>
              <a:off x="3571" y="1401"/>
              <a:ext cx="42" cy="42"/>
            </a:xfrm>
            <a:custGeom>
              <a:avLst/>
              <a:gdLst>
                <a:gd name="txL" fmla="*/ 0 w 42"/>
                <a:gd name="txT" fmla="*/ 0 h 42"/>
                <a:gd name="txR" fmla="*/ 42 w 42"/>
                <a:gd name="txB" fmla="*/ 42 h 42"/>
              </a:gdLst>
              <a:ahLst/>
              <a:cxnLst>
                <a:cxn ang="0">
                  <a:pos x="42" y="42"/>
                </a:cxn>
                <a:cxn ang="0">
                  <a:pos x="0" y="0"/>
                </a:cxn>
                <a:cxn ang="0">
                  <a:pos x="42" y="42"/>
                </a:cxn>
                <a:cxn ang="0">
                  <a:pos x="42" y="42"/>
                </a:cxn>
                <a:cxn ang="0">
                  <a:pos x="42" y="42"/>
                </a:cxn>
                <a:cxn ang="0">
                  <a:pos x="42" y="42"/>
                </a:cxn>
                <a:cxn ang="0">
                  <a:pos x="42" y="42"/>
                </a:cxn>
              </a:cxnLst>
              <a:rect l="txL" t="txT" r="txR" b="txB"/>
              <a:pathLst>
                <a:path w="42" h="42">
                  <a:moveTo>
                    <a:pt x="42" y="42"/>
                  </a:moveTo>
                  <a:lnTo>
                    <a:pt x="0" y="0"/>
                  </a:lnTo>
                  <a:lnTo>
                    <a:pt x="42" y="42"/>
                  </a:lnTo>
                  <a:close/>
                  <a:moveTo>
                    <a:pt x="42" y="42"/>
                  </a:moveTo>
                  <a:lnTo>
                    <a:pt x="42"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12" name="Freeform 47"/>
            <p:cNvSpPr>
              <a:spLocks noEditPoints="1"/>
            </p:cNvSpPr>
            <p:nvPr/>
          </p:nvSpPr>
          <p:spPr>
            <a:xfrm>
              <a:off x="3571" y="1401"/>
              <a:ext cx="1" cy="60"/>
            </a:xfrm>
            <a:custGeom>
              <a:avLst/>
              <a:gdLst>
                <a:gd name="txL" fmla="*/ 0 w 1"/>
                <a:gd name="txT" fmla="*/ 0 h 60"/>
                <a:gd name="txR" fmla="*/ 1 w 1"/>
                <a:gd name="txB" fmla="*/ 60 h 60"/>
              </a:gdLst>
              <a:ahLst/>
              <a:cxnLst>
                <a:cxn ang="0">
                  <a:pos x="0" y="0"/>
                </a:cxn>
                <a:cxn ang="0">
                  <a:pos x="0" y="60"/>
                </a:cxn>
                <a:cxn ang="0">
                  <a:pos x="0" y="0"/>
                </a:cxn>
                <a:cxn ang="0">
                  <a:pos x="0" y="0"/>
                </a:cxn>
                <a:cxn ang="0">
                  <a:pos x="0" y="0"/>
                </a:cxn>
                <a:cxn ang="0">
                  <a:pos x="0" y="0"/>
                </a:cxn>
                <a:cxn ang="0">
                  <a:pos x="0" y="0"/>
                </a:cxn>
              </a:cxnLst>
              <a:rect l="txL" t="txT" r="txR" b="txB"/>
              <a:pathLst>
                <a:path w="1" h="60">
                  <a:moveTo>
                    <a:pt x="0" y="0"/>
                  </a:moveTo>
                  <a:lnTo>
                    <a:pt x="0"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13" name="Freeform 48"/>
            <p:cNvSpPr>
              <a:spLocks noEditPoints="1"/>
            </p:cNvSpPr>
            <p:nvPr/>
          </p:nvSpPr>
          <p:spPr>
            <a:xfrm>
              <a:off x="3571" y="1461"/>
              <a:ext cx="6" cy="60"/>
            </a:xfrm>
            <a:custGeom>
              <a:avLst/>
              <a:gdLst>
                <a:gd name="txL" fmla="*/ 0 w 6"/>
                <a:gd name="txT" fmla="*/ 0 h 60"/>
                <a:gd name="txR" fmla="*/ 6 w 6"/>
                <a:gd name="txB" fmla="*/ 60 h 60"/>
              </a:gdLst>
              <a:ahLst/>
              <a:cxnLst>
                <a:cxn ang="0">
                  <a:pos x="0" y="0"/>
                </a:cxn>
                <a:cxn ang="0">
                  <a:pos x="6" y="60"/>
                </a:cxn>
                <a:cxn ang="0">
                  <a:pos x="0" y="0"/>
                </a:cxn>
                <a:cxn ang="0">
                  <a:pos x="0" y="0"/>
                </a:cxn>
                <a:cxn ang="0">
                  <a:pos x="0" y="0"/>
                </a:cxn>
                <a:cxn ang="0">
                  <a:pos x="0" y="0"/>
                </a:cxn>
                <a:cxn ang="0">
                  <a:pos x="0" y="0"/>
                </a:cxn>
              </a:cxnLst>
              <a:rect l="txL" t="txT" r="txR" b="txB"/>
              <a:pathLst>
                <a:path w="6" h="60">
                  <a:moveTo>
                    <a:pt x="0" y="0"/>
                  </a:moveTo>
                  <a:lnTo>
                    <a:pt x="6"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14" name="Freeform 49"/>
            <p:cNvSpPr>
              <a:spLocks noEditPoints="1"/>
            </p:cNvSpPr>
            <p:nvPr/>
          </p:nvSpPr>
          <p:spPr>
            <a:xfrm>
              <a:off x="3529" y="1479"/>
              <a:ext cx="48" cy="42"/>
            </a:xfrm>
            <a:custGeom>
              <a:avLst/>
              <a:gdLst>
                <a:gd name="txL" fmla="*/ 0 w 48"/>
                <a:gd name="txT" fmla="*/ 0 h 42"/>
                <a:gd name="txR" fmla="*/ 48 w 48"/>
                <a:gd name="txB" fmla="*/ 42 h 42"/>
              </a:gdLst>
              <a:ahLst/>
              <a:cxnLst>
                <a:cxn ang="0">
                  <a:pos x="48" y="42"/>
                </a:cxn>
                <a:cxn ang="0">
                  <a:pos x="0" y="0"/>
                </a:cxn>
                <a:cxn ang="0">
                  <a:pos x="48" y="42"/>
                </a:cxn>
                <a:cxn ang="0">
                  <a:pos x="48" y="42"/>
                </a:cxn>
                <a:cxn ang="0">
                  <a:pos x="48" y="42"/>
                </a:cxn>
                <a:cxn ang="0">
                  <a:pos x="48" y="42"/>
                </a:cxn>
                <a:cxn ang="0">
                  <a:pos x="48" y="42"/>
                </a:cxn>
              </a:cxnLst>
              <a:rect l="txL" t="txT" r="txR" b="txB"/>
              <a:pathLst>
                <a:path w="48" h="42">
                  <a:moveTo>
                    <a:pt x="48" y="42"/>
                  </a:moveTo>
                  <a:lnTo>
                    <a:pt x="0" y="0"/>
                  </a:lnTo>
                  <a:lnTo>
                    <a:pt x="48" y="42"/>
                  </a:lnTo>
                  <a:close/>
                  <a:moveTo>
                    <a:pt x="48" y="42"/>
                  </a:moveTo>
                  <a:lnTo>
                    <a:pt x="48"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15" name="Freeform 50"/>
            <p:cNvSpPr/>
            <p:nvPr/>
          </p:nvSpPr>
          <p:spPr>
            <a:xfrm>
              <a:off x="1896" y="1288"/>
              <a:ext cx="347" cy="209"/>
            </a:xfrm>
            <a:custGeom>
              <a:avLst/>
              <a:gdLst>
                <a:gd name="txL" fmla="*/ 0 w 347"/>
                <a:gd name="txT" fmla="*/ 0 h 209"/>
                <a:gd name="txR" fmla="*/ 347 w 347"/>
                <a:gd name="txB" fmla="*/ 209 h 209"/>
              </a:gdLst>
              <a:ahLst/>
              <a:cxnLst>
                <a:cxn ang="0">
                  <a:pos x="347" y="167"/>
                </a:cxn>
                <a:cxn ang="0">
                  <a:pos x="329" y="209"/>
                </a:cxn>
                <a:cxn ang="0">
                  <a:pos x="0" y="41"/>
                </a:cxn>
                <a:cxn ang="0">
                  <a:pos x="18" y="0"/>
                </a:cxn>
                <a:cxn ang="0">
                  <a:pos x="347" y="167"/>
                </a:cxn>
                <a:cxn ang="0">
                  <a:pos x="347" y="167"/>
                </a:cxn>
              </a:cxnLst>
              <a:rect l="txL" t="txT" r="txR" b="txB"/>
              <a:pathLst>
                <a:path w="347" h="209">
                  <a:moveTo>
                    <a:pt x="347" y="167"/>
                  </a:moveTo>
                  <a:lnTo>
                    <a:pt x="329" y="209"/>
                  </a:lnTo>
                  <a:lnTo>
                    <a:pt x="0" y="41"/>
                  </a:lnTo>
                  <a:lnTo>
                    <a:pt x="18" y="0"/>
                  </a:lnTo>
                  <a:lnTo>
                    <a:pt x="347" y="167"/>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2516" name="Freeform 51"/>
            <p:cNvSpPr/>
            <p:nvPr/>
          </p:nvSpPr>
          <p:spPr>
            <a:xfrm>
              <a:off x="1902" y="1270"/>
              <a:ext cx="42" cy="42"/>
            </a:xfrm>
            <a:custGeom>
              <a:avLst/>
              <a:gdLst>
                <a:gd name="txL" fmla="*/ 0 w 42"/>
                <a:gd name="txT" fmla="*/ 0 h 42"/>
                <a:gd name="txR" fmla="*/ 42 w 42"/>
                <a:gd name="txB" fmla="*/ 42 h 42"/>
              </a:gdLst>
              <a:ahLst/>
              <a:cxnLst>
                <a:cxn ang="0">
                  <a:pos x="0" y="42"/>
                </a:cxn>
                <a:cxn ang="0">
                  <a:pos x="42" y="0"/>
                </a:cxn>
                <a:cxn ang="0">
                  <a:pos x="0" y="42"/>
                </a:cxn>
                <a:cxn ang="0">
                  <a:pos x="0" y="42"/>
                </a:cxn>
              </a:cxnLst>
              <a:rect l="txL" t="txT" r="txR" b="txB"/>
              <a:pathLst>
                <a:path w="42" h="42">
                  <a:moveTo>
                    <a:pt x="0" y="42"/>
                  </a:moveTo>
                  <a:lnTo>
                    <a:pt x="42" y="0"/>
                  </a:ln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17" name="Freeform 52"/>
            <p:cNvSpPr>
              <a:spLocks noEditPoints="1"/>
            </p:cNvSpPr>
            <p:nvPr/>
          </p:nvSpPr>
          <p:spPr>
            <a:xfrm>
              <a:off x="1944" y="1270"/>
              <a:ext cx="1" cy="59"/>
            </a:xfrm>
            <a:custGeom>
              <a:avLst/>
              <a:gdLst>
                <a:gd name="txL" fmla="*/ 0 w 1"/>
                <a:gd name="txT" fmla="*/ 0 h 59"/>
                <a:gd name="txR" fmla="*/ 1 w 1"/>
                <a:gd name="txB" fmla="*/ 59 h 59"/>
              </a:gdLst>
              <a:ahLst/>
              <a:cxnLst>
                <a:cxn ang="0">
                  <a:pos x="0" y="0"/>
                </a:cxn>
                <a:cxn ang="0">
                  <a:pos x="0" y="59"/>
                </a:cxn>
                <a:cxn ang="0">
                  <a:pos x="0" y="0"/>
                </a:cxn>
                <a:cxn ang="0">
                  <a:pos x="0" y="0"/>
                </a:cxn>
                <a:cxn ang="0">
                  <a:pos x="0" y="0"/>
                </a:cxn>
                <a:cxn ang="0">
                  <a:pos x="0" y="0"/>
                </a:cxn>
                <a:cxn ang="0">
                  <a:pos x="0" y="0"/>
                </a:cxn>
              </a:cxnLst>
              <a:rect l="txL" t="txT" r="txR" b="txB"/>
              <a:pathLst>
                <a:path w="1" h="59">
                  <a:moveTo>
                    <a:pt x="0" y="0"/>
                  </a:moveTo>
                  <a:lnTo>
                    <a:pt x="0" y="59"/>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18" name="Freeform 53"/>
            <p:cNvSpPr>
              <a:spLocks noEditPoints="1"/>
            </p:cNvSpPr>
            <p:nvPr/>
          </p:nvSpPr>
          <p:spPr>
            <a:xfrm>
              <a:off x="1938" y="1329"/>
              <a:ext cx="6" cy="60"/>
            </a:xfrm>
            <a:custGeom>
              <a:avLst/>
              <a:gdLst>
                <a:gd name="txL" fmla="*/ 0 w 6"/>
                <a:gd name="txT" fmla="*/ 0 h 60"/>
                <a:gd name="txR" fmla="*/ 6 w 6"/>
                <a:gd name="txB" fmla="*/ 60 h 60"/>
              </a:gdLst>
              <a:ahLst/>
              <a:cxnLst>
                <a:cxn ang="0">
                  <a:pos x="6" y="0"/>
                </a:cxn>
                <a:cxn ang="0">
                  <a:pos x="0" y="60"/>
                </a:cxn>
                <a:cxn ang="0">
                  <a:pos x="6" y="0"/>
                </a:cxn>
                <a:cxn ang="0">
                  <a:pos x="6" y="0"/>
                </a:cxn>
                <a:cxn ang="0">
                  <a:pos x="6" y="0"/>
                </a:cxn>
                <a:cxn ang="0">
                  <a:pos x="6" y="0"/>
                </a:cxn>
                <a:cxn ang="0">
                  <a:pos x="6" y="0"/>
                </a:cxn>
              </a:cxnLst>
              <a:rect l="txL" t="txT" r="txR" b="txB"/>
              <a:pathLst>
                <a:path w="6" h="60">
                  <a:moveTo>
                    <a:pt x="6" y="0"/>
                  </a:moveTo>
                  <a:lnTo>
                    <a:pt x="0" y="60"/>
                  </a:lnTo>
                  <a:lnTo>
                    <a:pt x="6" y="0"/>
                  </a:lnTo>
                  <a:close/>
                  <a:moveTo>
                    <a:pt x="6" y="0"/>
                  </a:moveTo>
                  <a:lnTo>
                    <a:pt x="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19" name="Freeform 54"/>
            <p:cNvSpPr>
              <a:spLocks noEditPoints="1"/>
            </p:cNvSpPr>
            <p:nvPr/>
          </p:nvSpPr>
          <p:spPr>
            <a:xfrm>
              <a:off x="1938" y="1353"/>
              <a:ext cx="48" cy="36"/>
            </a:xfrm>
            <a:custGeom>
              <a:avLst/>
              <a:gdLst>
                <a:gd name="txL" fmla="*/ 0 w 48"/>
                <a:gd name="txT" fmla="*/ 0 h 36"/>
                <a:gd name="txR" fmla="*/ 48 w 48"/>
                <a:gd name="txB" fmla="*/ 36 h 36"/>
              </a:gdLst>
              <a:ahLst/>
              <a:cxnLst>
                <a:cxn ang="0">
                  <a:pos x="0" y="36"/>
                </a:cxn>
                <a:cxn ang="0">
                  <a:pos x="48" y="0"/>
                </a:cxn>
                <a:cxn ang="0">
                  <a:pos x="0" y="36"/>
                </a:cxn>
                <a:cxn ang="0">
                  <a:pos x="0" y="36"/>
                </a:cxn>
                <a:cxn ang="0">
                  <a:pos x="0" y="36"/>
                </a:cxn>
                <a:cxn ang="0">
                  <a:pos x="0" y="36"/>
                </a:cxn>
                <a:cxn ang="0">
                  <a:pos x="0" y="36"/>
                </a:cxn>
              </a:cxnLst>
              <a:rect l="txL" t="txT" r="txR" b="txB"/>
              <a:pathLst>
                <a:path w="48" h="36">
                  <a:moveTo>
                    <a:pt x="0" y="36"/>
                  </a:moveTo>
                  <a:lnTo>
                    <a:pt x="48" y="0"/>
                  </a:lnTo>
                  <a:lnTo>
                    <a:pt x="0" y="36"/>
                  </a:lnTo>
                  <a:close/>
                  <a:moveTo>
                    <a:pt x="0" y="36"/>
                  </a:moveTo>
                  <a:lnTo>
                    <a:pt x="0"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20" name="Freeform 55"/>
            <p:cNvSpPr>
              <a:spLocks noEditPoints="1"/>
            </p:cNvSpPr>
            <p:nvPr/>
          </p:nvSpPr>
          <p:spPr>
            <a:xfrm>
              <a:off x="1986" y="1353"/>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21" name="Freeform 56"/>
            <p:cNvSpPr>
              <a:spLocks noEditPoints="1"/>
            </p:cNvSpPr>
            <p:nvPr/>
          </p:nvSpPr>
          <p:spPr>
            <a:xfrm>
              <a:off x="1986" y="1312"/>
              <a:ext cx="42" cy="41"/>
            </a:xfrm>
            <a:custGeom>
              <a:avLst/>
              <a:gdLst>
                <a:gd name="txL" fmla="*/ 0 w 42"/>
                <a:gd name="txT" fmla="*/ 0 h 41"/>
                <a:gd name="txR" fmla="*/ 42 w 42"/>
                <a:gd name="txB" fmla="*/ 41 h 41"/>
              </a:gdLst>
              <a:ahLst/>
              <a:cxnLst>
                <a:cxn ang="0">
                  <a:pos x="0" y="41"/>
                </a:cxn>
                <a:cxn ang="0">
                  <a:pos x="42" y="0"/>
                </a:cxn>
                <a:cxn ang="0">
                  <a:pos x="0" y="41"/>
                </a:cxn>
                <a:cxn ang="0">
                  <a:pos x="0" y="41"/>
                </a:cxn>
                <a:cxn ang="0">
                  <a:pos x="0" y="41"/>
                </a:cxn>
                <a:cxn ang="0">
                  <a:pos x="0" y="41"/>
                </a:cxn>
                <a:cxn ang="0">
                  <a:pos x="0" y="41"/>
                </a:cxn>
              </a:cxnLst>
              <a:rect l="txL" t="txT" r="txR" b="txB"/>
              <a:pathLst>
                <a:path w="42" h="41">
                  <a:moveTo>
                    <a:pt x="0" y="41"/>
                  </a:moveTo>
                  <a:lnTo>
                    <a:pt x="42" y="0"/>
                  </a:lnTo>
                  <a:lnTo>
                    <a:pt x="0" y="41"/>
                  </a:lnTo>
                  <a:close/>
                  <a:moveTo>
                    <a:pt x="0" y="41"/>
                  </a:moveTo>
                  <a:lnTo>
                    <a:pt x="0" y="41"/>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22" name="Freeform 57"/>
            <p:cNvSpPr>
              <a:spLocks noEditPoints="1"/>
            </p:cNvSpPr>
            <p:nvPr/>
          </p:nvSpPr>
          <p:spPr>
            <a:xfrm>
              <a:off x="2028" y="1312"/>
              <a:ext cx="1" cy="59"/>
            </a:xfrm>
            <a:custGeom>
              <a:avLst/>
              <a:gdLst>
                <a:gd name="txL" fmla="*/ 0 w 1"/>
                <a:gd name="txT" fmla="*/ 0 h 59"/>
                <a:gd name="txR" fmla="*/ 1 w 1"/>
                <a:gd name="txB" fmla="*/ 59 h 59"/>
              </a:gdLst>
              <a:ahLst/>
              <a:cxnLst>
                <a:cxn ang="0">
                  <a:pos x="0" y="0"/>
                </a:cxn>
                <a:cxn ang="0">
                  <a:pos x="0" y="59"/>
                </a:cxn>
                <a:cxn ang="0">
                  <a:pos x="0" y="0"/>
                </a:cxn>
                <a:cxn ang="0">
                  <a:pos x="0" y="0"/>
                </a:cxn>
                <a:cxn ang="0">
                  <a:pos x="0" y="0"/>
                </a:cxn>
                <a:cxn ang="0">
                  <a:pos x="0" y="0"/>
                </a:cxn>
                <a:cxn ang="0">
                  <a:pos x="0" y="0"/>
                </a:cxn>
              </a:cxnLst>
              <a:rect l="txL" t="txT" r="txR" b="txB"/>
              <a:pathLst>
                <a:path w="1" h="59">
                  <a:moveTo>
                    <a:pt x="0" y="0"/>
                  </a:moveTo>
                  <a:lnTo>
                    <a:pt x="0" y="59"/>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23" name="Freeform 58"/>
            <p:cNvSpPr>
              <a:spLocks noEditPoints="1"/>
            </p:cNvSpPr>
            <p:nvPr/>
          </p:nvSpPr>
          <p:spPr>
            <a:xfrm>
              <a:off x="2022" y="1371"/>
              <a:ext cx="6" cy="66"/>
            </a:xfrm>
            <a:custGeom>
              <a:avLst/>
              <a:gdLst>
                <a:gd name="txL" fmla="*/ 0 w 6"/>
                <a:gd name="txT" fmla="*/ 0 h 66"/>
                <a:gd name="txR" fmla="*/ 6 w 6"/>
                <a:gd name="txB" fmla="*/ 66 h 66"/>
              </a:gdLst>
              <a:ahLst/>
              <a:cxnLst>
                <a:cxn ang="0">
                  <a:pos x="6" y="0"/>
                </a:cxn>
                <a:cxn ang="0">
                  <a:pos x="0" y="66"/>
                </a:cxn>
                <a:cxn ang="0">
                  <a:pos x="6" y="0"/>
                </a:cxn>
                <a:cxn ang="0">
                  <a:pos x="6" y="0"/>
                </a:cxn>
                <a:cxn ang="0">
                  <a:pos x="6" y="0"/>
                </a:cxn>
                <a:cxn ang="0">
                  <a:pos x="6" y="0"/>
                </a:cxn>
                <a:cxn ang="0">
                  <a:pos x="6" y="0"/>
                </a:cxn>
              </a:cxnLst>
              <a:rect l="txL" t="txT" r="txR" b="txB"/>
              <a:pathLst>
                <a:path w="6" h="66">
                  <a:moveTo>
                    <a:pt x="6" y="0"/>
                  </a:moveTo>
                  <a:lnTo>
                    <a:pt x="0" y="66"/>
                  </a:lnTo>
                  <a:lnTo>
                    <a:pt x="6" y="0"/>
                  </a:lnTo>
                  <a:close/>
                  <a:moveTo>
                    <a:pt x="6" y="0"/>
                  </a:moveTo>
                  <a:lnTo>
                    <a:pt x="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24" name="Freeform 59"/>
            <p:cNvSpPr>
              <a:spLocks noEditPoints="1"/>
            </p:cNvSpPr>
            <p:nvPr/>
          </p:nvSpPr>
          <p:spPr>
            <a:xfrm>
              <a:off x="2022" y="1395"/>
              <a:ext cx="48" cy="42"/>
            </a:xfrm>
            <a:custGeom>
              <a:avLst/>
              <a:gdLst>
                <a:gd name="txL" fmla="*/ 0 w 48"/>
                <a:gd name="txT" fmla="*/ 0 h 42"/>
                <a:gd name="txR" fmla="*/ 48 w 48"/>
                <a:gd name="txB" fmla="*/ 42 h 42"/>
              </a:gdLst>
              <a:ahLst/>
              <a:cxnLst>
                <a:cxn ang="0">
                  <a:pos x="0" y="42"/>
                </a:cxn>
                <a:cxn ang="0">
                  <a:pos x="48" y="0"/>
                </a:cxn>
                <a:cxn ang="0">
                  <a:pos x="0" y="42"/>
                </a:cxn>
                <a:cxn ang="0">
                  <a:pos x="0" y="42"/>
                </a:cxn>
                <a:cxn ang="0">
                  <a:pos x="0" y="42"/>
                </a:cxn>
                <a:cxn ang="0">
                  <a:pos x="0" y="42"/>
                </a:cxn>
                <a:cxn ang="0">
                  <a:pos x="0" y="42"/>
                </a:cxn>
              </a:cxnLst>
              <a:rect l="txL" t="txT" r="txR" b="txB"/>
              <a:pathLst>
                <a:path w="48" h="42">
                  <a:moveTo>
                    <a:pt x="0" y="42"/>
                  </a:moveTo>
                  <a:lnTo>
                    <a:pt x="48" y="0"/>
                  </a:lnTo>
                  <a:lnTo>
                    <a:pt x="0" y="42"/>
                  </a:lnTo>
                  <a:close/>
                  <a:moveTo>
                    <a:pt x="0" y="42"/>
                  </a:move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25" name="Freeform 60"/>
            <p:cNvSpPr>
              <a:spLocks noEditPoints="1"/>
            </p:cNvSpPr>
            <p:nvPr/>
          </p:nvSpPr>
          <p:spPr>
            <a:xfrm>
              <a:off x="2070" y="1359"/>
              <a:ext cx="47" cy="36"/>
            </a:xfrm>
            <a:custGeom>
              <a:avLst/>
              <a:gdLst>
                <a:gd name="txL" fmla="*/ 0 w 47"/>
                <a:gd name="txT" fmla="*/ 0 h 36"/>
                <a:gd name="txR" fmla="*/ 47 w 47"/>
                <a:gd name="txB" fmla="*/ 36 h 36"/>
              </a:gdLst>
              <a:ahLst/>
              <a:cxnLst>
                <a:cxn ang="0">
                  <a:pos x="0" y="36"/>
                </a:cxn>
                <a:cxn ang="0">
                  <a:pos x="47" y="0"/>
                </a:cxn>
                <a:cxn ang="0">
                  <a:pos x="0" y="36"/>
                </a:cxn>
                <a:cxn ang="0">
                  <a:pos x="0" y="36"/>
                </a:cxn>
                <a:cxn ang="0">
                  <a:pos x="0" y="36"/>
                </a:cxn>
                <a:cxn ang="0">
                  <a:pos x="0" y="36"/>
                </a:cxn>
                <a:cxn ang="0">
                  <a:pos x="0" y="36"/>
                </a:cxn>
              </a:cxnLst>
              <a:rect l="txL" t="txT" r="txR" b="txB"/>
              <a:pathLst>
                <a:path w="47" h="36">
                  <a:moveTo>
                    <a:pt x="0" y="36"/>
                  </a:moveTo>
                  <a:lnTo>
                    <a:pt x="47" y="0"/>
                  </a:lnTo>
                  <a:lnTo>
                    <a:pt x="0" y="36"/>
                  </a:lnTo>
                  <a:close/>
                  <a:moveTo>
                    <a:pt x="0" y="36"/>
                  </a:moveTo>
                  <a:lnTo>
                    <a:pt x="0"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26" name="Freeform 61"/>
            <p:cNvSpPr>
              <a:spLocks noEditPoints="1"/>
            </p:cNvSpPr>
            <p:nvPr/>
          </p:nvSpPr>
          <p:spPr>
            <a:xfrm>
              <a:off x="2112" y="1359"/>
              <a:ext cx="5" cy="60"/>
            </a:xfrm>
            <a:custGeom>
              <a:avLst/>
              <a:gdLst>
                <a:gd name="txL" fmla="*/ 0 w 5"/>
                <a:gd name="txT" fmla="*/ 0 h 60"/>
                <a:gd name="txR" fmla="*/ 5 w 5"/>
                <a:gd name="txB" fmla="*/ 60 h 60"/>
              </a:gdLst>
              <a:ahLst/>
              <a:cxnLst>
                <a:cxn ang="0">
                  <a:pos x="5" y="0"/>
                </a:cxn>
                <a:cxn ang="0">
                  <a:pos x="0" y="60"/>
                </a:cxn>
                <a:cxn ang="0">
                  <a:pos x="5" y="0"/>
                </a:cxn>
                <a:cxn ang="0">
                  <a:pos x="5" y="0"/>
                </a:cxn>
                <a:cxn ang="0">
                  <a:pos x="5" y="0"/>
                </a:cxn>
                <a:cxn ang="0">
                  <a:pos x="5" y="0"/>
                </a:cxn>
                <a:cxn ang="0">
                  <a:pos x="5" y="0"/>
                </a:cxn>
              </a:cxnLst>
              <a:rect l="txL" t="txT" r="txR" b="txB"/>
              <a:pathLst>
                <a:path w="5" h="60">
                  <a:moveTo>
                    <a:pt x="5" y="0"/>
                  </a:moveTo>
                  <a:lnTo>
                    <a:pt x="0" y="60"/>
                  </a:lnTo>
                  <a:lnTo>
                    <a:pt x="5" y="0"/>
                  </a:lnTo>
                  <a:close/>
                  <a:moveTo>
                    <a:pt x="5" y="0"/>
                  </a:moveTo>
                  <a:lnTo>
                    <a:pt x="5"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27" name="Freeform 62"/>
            <p:cNvSpPr>
              <a:spLocks noEditPoints="1"/>
            </p:cNvSpPr>
            <p:nvPr/>
          </p:nvSpPr>
          <p:spPr>
            <a:xfrm>
              <a:off x="2106" y="1419"/>
              <a:ext cx="6" cy="60"/>
            </a:xfrm>
            <a:custGeom>
              <a:avLst/>
              <a:gdLst>
                <a:gd name="txL" fmla="*/ 0 w 6"/>
                <a:gd name="txT" fmla="*/ 0 h 60"/>
                <a:gd name="txR" fmla="*/ 6 w 6"/>
                <a:gd name="txB" fmla="*/ 60 h 60"/>
              </a:gdLst>
              <a:ahLst/>
              <a:cxnLst>
                <a:cxn ang="0">
                  <a:pos x="6" y="0"/>
                </a:cxn>
                <a:cxn ang="0">
                  <a:pos x="0" y="60"/>
                </a:cxn>
                <a:cxn ang="0">
                  <a:pos x="6" y="0"/>
                </a:cxn>
                <a:cxn ang="0">
                  <a:pos x="6" y="0"/>
                </a:cxn>
                <a:cxn ang="0">
                  <a:pos x="6" y="0"/>
                </a:cxn>
                <a:cxn ang="0">
                  <a:pos x="6" y="0"/>
                </a:cxn>
                <a:cxn ang="0">
                  <a:pos x="6" y="0"/>
                </a:cxn>
              </a:cxnLst>
              <a:rect l="txL" t="txT" r="txR" b="txB"/>
              <a:pathLst>
                <a:path w="6" h="60">
                  <a:moveTo>
                    <a:pt x="6" y="0"/>
                  </a:moveTo>
                  <a:lnTo>
                    <a:pt x="0" y="60"/>
                  </a:lnTo>
                  <a:lnTo>
                    <a:pt x="6" y="0"/>
                  </a:lnTo>
                  <a:close/>
                  <a:moveTo>
                    <a:pt x="6" y="0"/>
                  </a:moveTo>
                  <a:lnTo>
                    <a:pt x="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28" name="Freeform 63"/>
            <p:cNvSpPr>
              <a:spLocks noEditPoints="1"/>
            </p:cNvSpPr>
            <p:nvPr/>
          </p:nvSpPr>
          <p:spPr>
            <a:xfrm>
              <a:off x="2106" y="1437"/>
              <a:ext cx="47" cy="42"/>
            </a:xfrm>
            <a:custGeom>
              <a:avLst/>
              <a:gdLst>
                <a:gd name="txL" fmla="*/ 0 w 47"/>
                <a:gd name="txT" fmla="*/ 0 h 42"/>
                <a:gd name="txR" fmla="*/ 47 w 47"/>
                <a:gd name="txB" fmla="*/ 42 h 42"/>
              </a:gdLst>
              <a:ahLst/>
              <a:cxnLst>
                <a:cxn ang="0">
                  <a:pos x="0" y="42"/>
                </a:cxn>
                <a:cxn ang="0">
                  <a:pos x="47" y="0"/>
                </a:cxn>
                <a:cxn ang="0">
                  <a:pos x="0" y="42"/>
                </a:cxn>
                <a:cxn ang="0">
                  <a:pos x="0" y="42"/>
                </a:cxn>
                <a:cxn ang="0">
                  <a:pos x="0" y="42"/>
                </a:cxn>
                <a:cxn ang="0">
                  <a:pos x="0" y="42"/>
                </a:cxn>
                <a:cxn ang="0">
                  <a:pos x="0" y="42"/>
                </a:cxn>
              </a:cxnLst>
              <a:rect l="txL" t="txT" r="txR" b="txB"/>
              <a:pathLst>
                <a:path w="47" h="42">
                  <a:moveTo>
                    <a:pt x="0" y="42"/>
                  </a:moveTo>
                  <a:lnTo>
                    <a:pt x="47" y="0"/>
                  </a:lnTo>
                  <a:lnTo>
                    <a:pt x="0" y="42"/>
                  </a:lnTo>
                  <a:close/>
                  <a:moveTo>
                    <a:pt x="0" y="42"/>
                  </a:move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29" name="Freeform 64"/>
            <p:cNvSpPr>
              <a:spLocks noEditPoints="1"/>
            </p:cNvSpPr>
            <p:nvPr/>
          </p:nvSpPr>
          <p:spPr>
            <a:xfrm>
              <a:off x="2153" y="1401"/>
              <a:ext cx="48" cy="36"/>
            </a:xfrm>
            <a:custGeom>
              <a:avLst/>
              <a:gdLst>
                <a:gd name="txL" fmla="*/ 0 w 48"/>
                <a:gd name="txT" fmla="*/ 0 h 36"/>
                <a:gd name="txR" fmla="*/ 48 w 48"/>
                <a:gd name="txB" fmla="*/ 36 h 36"/>
              </a:gdLst>
              <a:ahLst/>
              <a:cxnLst>
                <a:cxn ang="0">
                  <a:pos x="0" y="36"/>
                </a:cxn>
                <a:cxn ang="0">
                  <a:pos x="48" y="0"/>
                </a:cxn>
                <a:cxn ang="0">
                  <a:pos x="0" y="36"/>
                </a:cxn>
                <a:cxn ang="0">
                  <a:pos x="0" y="36"/>
                </a:cxn>
                <a:cxn ang="0">
                  <a:pos x="0" y="36"/>
                </a:cxn>
                <a:cxn ang="0">
                  <a:pos x="0" y="36"/>
                </a:cxn>
                <a:cxn ang="0">
                  <a:pos x="0" y="36"/>
                </a:cxn>
              </a:cxnLst>
              <a:rect l="txL" t="txT" r="txR" b="txB"/>
              <a:pathLst>
                <a:path w="48" h="36">
                  <a:moveTo>
                    <a:pt x="0" y="36"/>
                  </a:moveTo>
                  <a:lnTo>
                    <a:pt x="48" y="0"/>
                  </a:lnTo>
                  <a:lnTo>
                    <a:pt x="0" y="36"/>
                  </a:lnTo>
                  <a:close/>
                  <a:moveTo>
                    <a:pt x="0" y="36"/>
                  </a:moveTo>
                  <a:lnTo>
                    <a:pt x="0"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30" name="Freeform 65"/>
            <p:cNvSpPr>
              <a:spLocks noEditPoints="1"/>
            </p:cNvSpPr>
            <p:nvPr/>
          </p:nvSpPr>
          <p:spPr>
            <a:xfrm>
              <a:off x="2195" y="1401"/>
              <a:ext cx="6" cy="60"/>
            </a:xfrm>
            <a:custGeom>
              <a:avLst/>
              <a:gdLst>
                <a:gd name="txL" fmla="*/ 0 w 6"/>
                <a:gd name="txT" fmla="*/ 0 h 60"/>
                <a:gd name="txR" fmla="*/ 6 w 6"/>
                <a:gd name="txB" fmla="*/ 60 h 60"/>
              </a:gdLst>
              <a:ahLst/>
              <a:cxnLst>
                <a:cxn ang="0">
                  <a:pos x="6" y="0"/>
                </a:cxn>
                <a:cxn ang="0">
                  <a:pos x="0" y="60"/>
                </a:cxn>
                <a:cxn ang="0">
                  <a:pos x="6" y="0"/>
                </a:cxn>
                <a:cxn ang="0">
                  <a:pos x="6" y="0"/>
                </a:cxn>
                <a:cxn ang="0">
                  <a:pos x="6" y="0"/>
                </a:cxn>
                <a:cxn ang="0">
                  <a:pos x="6" y="0"/>
                </a:cxn>
                <a:cxn ang="0">
                  <a:pos x="6" y="0"/>
                </a:cxn>
              </a:cxnLst>
              <a:rect l="txL" t="txT" r="txR" b="txB"/>
              <a:pathLst>
                <a:path w="6" h="60">
                  <a:moveTo>
                    <a:pt x="6" y="0"/>
                  </a:moveTo>
                  <a:lnTo>
                    <a:pt x="0" y="60"/>
                  </a:lnTo>
                  <a:lnTo>
                    <a:pt x="6" y="0"/>
                  </a:lnTo>
                  <a:close/>
                  <a:moveTo>
                    <a:pt x="6" y="0"/>
                  </a:moveTo>
                  <a:lnTo>
                    <a:pt x="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31" name="Freeform 66"/>
            <p:cNvSpPr>
              <a:spLocks noEditPoints="1"/>
            </p:cNvSpPr>
            <p:nvPr/>
          </p:nvSpPr>
          <p:spPr>
            <a:xfrm>
              <a:off x="2189" y="1461"/>
              <a:ext cx="6" cy="60"/>
            </a:xfrm>
            <a:custGeom>
              <a:avLst/>
              <a:gdLst>
                <a:gd name="txL" fmla="*/ 0 w 6"/>
                <a:gd name="txT" fmla="*/ 0 h 60"/>
                <a:gd name="txR" fmla="*/ 6 w 6"/>
                <a:gd name="txB" fmla="*/ 60 h 60"/>
              </a:gdLst>
              <a:ahLst/>
              <a:cxnLst>
                <a:cxn ang="0">
                  <a:pos x="6" y="0"/>
                </a:cxn>
                <a:cxn ang="0">
                  <a:pos x="0" y="60"/>
                </a:cxn>
                <a:cxn ang="0">
                  <a:pos x="6" y="0"/>
                </a:cxn>
                <a:cxn ang="0">
                  <a:pos x="6" y="0"/>
                </a:cxn>
                <a:cxn ang="0">
                  <a:pos x="6" y="0"/>
                </a:cxn>
                <a:cxn ang="0">
                  <a:pos x="6" y="0"/>
                </a:cxn>
                <a:cxn ang="0">
                  <a:pos x="6" y="0"/>
                </a:cxn>
              </a:cxnLst>
              <a:rect l="txL" t="txT" r="txR" b="txB"/>
              <a:pathLst>
                <a:path w="6" h="60">
                  <a:moveTo>
                    <a:pt x="6" y="0"/>
                  </a:moveTo>
                  <a:lnTo>
                    <a:pt x="0" y="60"/>
                  </a:lnTo>
                  <a:lnTo>
                    <a:pt x="6" y="0"/>
                  </a:lnTo>
                  <a:close/>
                  <a:moveTo>
                    <a:pt x="6" y="0"/>
                  </a:moveTo>
                  <a:lnTo>
                    <a:pt x="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32" name="Freeform 67"/>
            <p:cNvSpPr>
              <a:spLocks noEditPoints="1"/>
            </p:cNvSpPr>
            <p:nvPr/>
          </p:nvSpPr>
          <p:spPr>
            <a:xfrm>
              <a:off x="2189" y="1479"/>
              <a:ext cx="54" cy="42"/>
            </a:xfrm>
            <a:custGeom>
              <a:avLst/>
              <a:gdLst>
                <a:gd name="txL" fmla="*/ 0 w 54"/>
                <a:gd name="txT" fmla="*/ 0 h 42"/>
                <a:gd name="txR" fmla="*/ 54 w 54"/>
                <a:gd name="txB" fmla="*/ 42 h 42"/>
              </a:gdLst>
              <a:ahLst/>
              <a:cxnLst>
                <a:cxn ang="0">
                  <a:pos x="0" y="42"/>
                </a:cxn>
                <a:cxn ang="0">
                  <a:pos x="54" y="0"/>
                </a:cxn>
                <a:cxn ang="0">
                  <a:pos x="0" y="42"/>
                </a:cxn>
                <a:cxn ang="0">
                  <a:pos x="0" y="42"/>
                </a:cxn>
                <a:cxn ang="0">
                  <a:pos x="0" y="42"/>
                </a:cxn>
                <a:cxn ang="0">
                  <a:pos x="0" y="42"/>
                </a:cxn>
                <a:cxn ang="0">
                  <a:pos x="0" y="42"/>
                </a:cxn>
              </a:cxnLst>
              <a:rect l="txL" t="txT" r="txR" b="txB"/>
              <a:pathLst>
                <a:path w="54" h="42">
                  <a:moveTo>
                    <a:pt x="0" y="42"/>
                  </a:moveTo>
                  <a:lnTo>
                    <a:pt x="54" y="0"/>
                  </a:lnTo>
                  <a:lnTo>
                    <a:pt x="0" y="42"/>
                  </a:lnTo>
                  <a:close/>
                  <a:moveTo>
                    <a:pt x="0" y="42"/>
                  </a:move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33" name="Freeform 68"/>
            <p:cNvSpPr/>
            <p:nvPr/>
          </p:nvSpPr>
          <p:spPr>
            <a:xfrm>
              <a:off x="2865" y="2446"/>
              <a:ext cx="48" cy="388"/>
            </a:xfrm>
            <a:custGeom>
              <a:avLst/>
              <a:gdLst>
                <a:gd name="txL" fmla="*/ 0 w 48"/>
                <a:gd name="txT" fmla="*/ 0 h 388"/>
                <a:gd name="txR" fmla="*/ 48 w 48"/>
                <a:gd name="txB" fmla="*/ 388 h 388"/>
              </a:gdLst>
              <a:ahLst/>
              <a:cxnLst>
                <a:cxn ang="0">
                  <a:pos x="48" y="0"/>
                </a:cxn>
                <a:cxn ang="0">
                  <a:pos x="0" y="0"/>
                </a:cxn>
                <a:cxn ang="0">
                  <a:pos x="0" y="388"/>
                </a:cxn>
                <a:cxn ang="0">
                  <a:pos x="48" y="388"/>
                </a:cxn>
                <a:cxn ang="0">
                  <a:pos x="48" y="0"/>
                </a:cxn>
                <a:cxn ang="0">
                  <a:pos x="48" y="0"/>
                </a:cxn>
              </a:cxnLst>
              <a:rect l="txL" t="txT" r="txR" b="txB"/>
              <a:pathLst>
                <a:path w="48" h="388">
                  <a:moveTo>
                    <a:pt x="48" y="0"/>
                  </a:moveTo>
                  <a:lnTo>
                    <a:pt x="0" y="0"/>
                  </a:lnTo>
                  <a:lnTo>
                    <a:pt x="0" y="388"/>
                  </a:lnTo>
                  <a:lnTo>
                    <a:pt x="48" y="388"/>
                  </a:lnTo>
                  <a:lnTo>
                    <a:pt x="48" y="0"/>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2534" name="Freeform 69"/>
            <p:cNvSpPr/>
            <p:nvPr/>
          </p:nvSpPr>
          <p:spPr>
            <a:xfrm>
              <a:off x="2889" y="2816"/>
              <a:ext cx="60" cy="24"/>
            </a:xfrm>
            <a:custGeom>
              <a:avLst/>
              <a:gdLst>
                <a:gd name="txL" fmla="*/ 0 w 60"/>
                <a:gd name="txT" fmla="*/ 0 h 24"/>
                <a:gd name="txR" fmla="*/ 60 w 60"/>
                <a:gd name="txB" fmla="*/ 24 h 24"/>
              </a:gdLst>
              <a:ahLst/>
              <a:cxnLst>
                <a:cxn ang="0">
                  <a:pos x="0" y="24"/>
                </a:cxn>
                <a:cxn ang="0">
                  <a:pos x="60" y="0"/>
                </a:cxn>
                <a:cxn ang="0">
                  <a:pos x="0" y="24"/>
                </a:cxn>
                <a:cxn ang="0">
                  <a:pos x="0" y="24"/>
                </a:cxn>
              </a:cxnLst>
              <a:rect l="txL" t="txT" r="txR" b="txB"/>
              <a:pathLst>
                <a:path w="60" h="24">
                  <a:moveTo>
                    <a:pt x="0" y="24"/>
                  </a:moveTo>
                  <a:lnTo>
                    <a:pt x="60" y="0"/>
                  </a:ln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35" name="Freeform 70"/>
            <p:cNvSpPr>
              <a:spLocks noEditPoints="1"/>
            </p:cNvSpPr>
            <p:nvPr/>
          </p:nvSpPr>
          <p:spPr>
            <a:xfrm>
              <a:off x="2889" y="2786"/>
              <a:ext cx="60" cy="30"/>
            </a:xfrm>
            <a:custGeom>
              <a:avLst/>
              <a:gdLst>
                <a:gd name="txL" fmla="*/ 0 w 60"/>
                <a:gd name="txT" fmla="*/ 0 h 30"/>
                <a:gd name="txR" fmla="*/ 60 w 60"/>
                <a:gd name="txB" fmla="*/ 30 h 30"/>
              </a:gdLst>
              <a:ahLst/>
              <a:cxnLst>
                <a:cxn ang="0">
                  <a:pos x="60" y="30"/>
                </a:cxn>
                <a:cxn ang="0">
                  <a:pos x="0" y="0"/>
                </a:cxn>
                <a:cxn ang="0">
                  <a:pos x="60" y="30"/>
                </a:cxn>
                <a:cxn ang="0">
                  <a:pos x="60" y="30"/>
                </a:cxn>
                <a:cxn ang="0">
                  <a:pos x="60" y="30"/>
                </a:cxn>
                <a:cxn ang="0">
                  <a:pos x="60" y="30"/>
                </a:cxn>
                <a:cxn ang="0">
                  <a:pos x="60" y="30"/>
                </a:cxn>
              </a:cxnLst>
              <a:rect l="txL" t="txT" r="txR" b="txB"/>
              <a:pathLst>
                <a:path w="60" h="30">
                  <a:moveTo>
                    <a:pt x="60" y="30"/>
                  </a:moveTo>
                  <a:lnTo>
                    <a:pt x="0" y="0"/>
                  </a:lnTo>
                  <a:lnTo>
                    <a:pt x="60" y="30"/>
                  </a:lnTo>
                  <a:close/>
                  <a:moveTo>
                    <a:pt x="60" y="30"/>
                  </a:moveTo>
                  <a:lnTo>
                    <a:pt x="6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36" name="Freeform 71"/>
            <p:cNvSpPr>
              <a:spLocks noEditPoints="1"/>
            </p:cNvSpPr>
            <p:nvPr/>
          </p:nvSpPr>
          <p:spPr>
            <a:xfrm>
              <a:off x="2829" y="2763"/>
              <a:ext cx="60" cy="23"/>
            </a:xfrm>
            <a:custGeom>
              <a:avLst/>
              <a:gdLst>
                <a:gd name="txL" fmla="*/ 0 w 60"/>
                <a:gd name="txT" fmla="*/ 0 h 23"/>
                <a:gd name="txR" fmla="*/ 60 w 60"/>
                <a:gd name="txB" fmla="*/ 23 h 23"/>
              </a:gdLst>
              <a:ahLst/>
              <a:cxnLst>
                <a:cxn ang="0">
                  <a:pos x="60" y="23"/>
                </a:cxn>
                <a:cxn ang="0">
                  <a:pos x="0" y="0"/>
                </a:cxn>
                <a:cxn ang="0">
                  <a:pos x="60" y="23"/>
                </a:cxn>
                <a:cxn ang="0">
                  <a:pos x="60" y="23"/>
                </a:cxn>
                <a:cxn ang="0">
                  <a:pos x="60" y="23"/>
                </a:cxn>
                <a:cxn ang="0">
                  <a:pos x="60" y="23"/>
                </a:cxn>
                <a:cxn ang="0">
                  <a:pos x="60" y="23"/>
                </a:cxn>
              </a:cxnLst>
              <a:rect l="txL" t="txT" r="txR" b="txB"/>
              <a:pathLst>
                <a:path w="60" h="23">
                  <a:moveTo>
                    <a:pt x="60" y="23"/>
                  </a:moveTo>
                  <a:lnTo>
                    <a:pt x="0" y="0"/>
                  </a:lnTo>
                  <a:lnTo>
                    <a:pt x="60" y="23"/>
                  </a:lnTo>
                  <a:close/>
                  <a:moveTo>
                    <a:pt x="60" y="23"/>
                  </a:moveTo>
                  <a:lnTo>
                    <a:pt x="60" y="2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37" name="Freeform 72"/>
            <p:cNvSpPr>
              <a:spLocks noEditPoints="1"/>
            </p:cNvSpPr>
            <p:nvPr/>
          </p:nvSpPr>
          <p:spPr>
            <a:xfrm>
              <a:off x="2829" y="2739"/>
              <a:ext cx="60" cy="24"/>
            </a:xfrm>
            <a:custGeom>
              <a:avLst/>
              <a:gdLst>
                <a:gd name="txL" fmla="*/ 0 w 60"/>
                <a:gd name="txT" fmla="*/ 0 h 24"/>
                <a:gd name="txR" fmla="*/ 60 w 60"/>
                <a:gd name="txB" fmla="*/ 24 h 24"/>
              </a:gdLst>
              <a:ahLst/>
              <a:cxnLst>
                <a:cxn ang="0">
                  <a:pos x="0" y="24"/>
                </a:cxn>
                <a:cxn ang="0">
                  <a:pos x="60" y="0"/>
                </a:cxn>
                <a:cxn ang="0">
                  <a:pos x="0" y="24"/>
                </a:cxn>
                <a:cxn ang="0">
                  <a:pos x="0" y="24"/>
                </a:cxn>
                <a:cxn ang="0">
                  <a:pos x="0" y="24"/>
                </a:cxn>
                <a:cxn ang="0">
                  <a:pos x="0" y="24"/>
                </a:cxn>
                <a:cxn ang="0">
                  <a:pos x="0" y="24"/>
                </a:cxn>
              </a:cxnLst>
              <a:rect l="txL" t="txT" r="txR" b="txB"/>
              <a:pathLst>
                <a:path w="60" h="24">
                  <a:moveTo>
                    <a:pt x="0" y="24"/>
                  </a:moveTo>
                  <a:lnTo>
                    <a:pt x="60"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38" name="Freeform 73"/>
            <p:cNvSpPr>
              <a:spLocks noEditPoints="1"/>
            </p:cNvSpPr>
            <p:nvPr/>
          </p:nvSpPr>
          <p:spPr>
            <a:xfrm>
              <a:off x="2889" y="2739"/>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39" name="Freeform 74"/>
            <p:cNvSpPr>
              <a:spLocks noEditPoints="1"/>
            </p:cNvSpPr>
            <p:nvPr/>
          </p:nvSpPr>
          <p:spPr>
            <a:xfrm>
              <a:off x="2889" y="2715"/>
              <a:ext cx="60" cy="24"/>
            </a:xfrm>
            <a:custGeom>
              <a:avLst/>
              <a:gdLst>
                <a:gd name="txL" fmla="*/ 0 w 60"/>
                <a:gd name="txT" fmla="*/ 0 h 24"/>
                <a:gd name="txR" fmla="*/ 60 w 60"/>
                <a:gd name="txB" fmla="*/ 24 h 24"/>
              </a:gdLst>
              <a:ahLst/>
              <a:cxnLst>
                <a:cxn ang="0">
                  <a:pos x="0" y="24"/>
                </a:cxn>
                <a:cxn ang="0">
                  <a:pos x="60" y="0"/>
                </a:cxn>
                <a:cxn ang="0">
                  <a:pos x="0" y="24"/>
                </a:cxn>
                <a:cxn ang="0">
                  <a:pos x="0" y="24"/>
                </a:cxn>
                <a:cxn ang="0">
                  <a:pos x="0" y="24"/>
                </a:cxn>
                <a:cxn ang="0">
                  <a:pos x="0" y="24"/>
                </a:cxn>
                <a:cxn ang="0">
                  <a:pos x="0" y="24"/>
                </a:cxn>
              </a:cxnLst>
              <a:rect l="txL" t="txT" r="txR" b="txB"/>
              <a:pathLst>
                <a:path w="60" h="24">
                  <a:moveTo>
                    <a:pt x="0" y="24"/>
                  </a:moveTo>
                  <a:lnTo>
                    <a:pt x="60"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40" name="Freeform 75"/>
            <p:cNvSpPr>
              <a:spLocks noEditPoints="1"/>
            </p:cNvSpPr>
            <p:nvPr/>
          </p:nvSpPr>
          <p:spPr>
            <a:xfrm>
              <a:off x="2889" y="2691"/>
              <a:ext cx="60" cy="24"/>
            </a:xfrm>
            <a:custGeom>
              <a:avLst/>
              <a:gdLst>
                <a:gd name="txL" fmla="*/ 0 w 60"/>
                <a:gd name="txT" fmla="*/ 0 h 24"/>
                <a:gd name="txR" fmla="*/ 60 w 60"/>
                <a:gd name="txB" fmla="*/ 24 h 24"/>
              </a:gdLst>
              <a:ahLst/>
              <a:cxnLst>
                <a:cxn ang="0">
                  <a:pos x="60" y="24"/>
                </a:cxn>
                <a:cxn ang="0">
                  <a:pos x="0" y="0"/>
                </a:cxn>
                <a:cxn ang="0">
                  <a:pos x="60" y="24"/>
                </a:cxn>
                <a:cxn ang="0">
                  <a:pos x="60" y="24"/>
                </a:cxn>
                <a:cxn ang="0">
                  <a:pos x="60" y="24"/>
                </a:cxn>
                <a:cxn ang="0">
                  <a:pos x="60" y="24"/>
                </a:cxn>
                <a:cxn ang="0">
                  <a:pos x="60" y="24"/>
                </a:cxn>
              </a:cxnLst>
              <a:rect l="txL" t="txT" r="txR" b="txB"/>
              <a:pathLst>
                <a:path w="60" h="24">
                  <a:moveTo>
                    <a:pt x="60" y="24"/>
                  </a:moveTo>
                  <a:lnTo>
                    <a:pt x="0" y="0"/>
                  </a:lnTo>
                  <a:lnTo>
                    <a:pt x="60" y="24"/>
                  </a:lnTo>
                  <a:close/>
                  <a:moveTo>
                    <a:pt x="60" y="24"/>
                  </a:moveTo>
                  <a:lnTo>
                    <a:pt x="6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41" name="Freeform 76"/>
            <p:cNvSpPr>
              <a:spLocks noEditPoints="1"/>
            </p:cNvSpPr>
            <p:nvPr/>
          </p:nvSpPr>
          <p:spPr>
            <a:xfrm>
              <a:off x="2829" y="2667"/>
              <a:ext cx="60" cy="24"/>
            </a:xfrm>
            <a:custGeom>
              <a:avLst/>
              <a:gdLst>
                <a:gd name="txL" fmla="*/ 0 w 60"/>
                <a:gd name="txT" fmla="*/ 0 h 24"/>
                <a:gd name="txR" fmla="*/ 60 w 60"/>
                <a:gd name="txB" fmla="*/ 24 h 24"/>
              </a:gdLst>
              <a:ahLst/>
              <a:cxnLst>
                <a:cxn ang="0">
                  <a:pos x="60" y="24"/>
                </a:cxn>
                <a:cxn ang="0">
                  <a:pos x="0" y="0"/>
                </a:cxn>
                <a:cxn ang="0">
                  <a:pos x="60" y="24"/>
                </a:cxn>
                <a:cxn ang="0">
                  <a:pos x="60" y="24"/>
                </a:cxn>
                <a:cxn ang="0">
                  <a:pos x="60" y="24"/>
                </a:cxn>
                <a:cxn ang="0">
                  <a:pos x="60" y="24"/>
                </a:cxn>
                <a:cxn ang="0">
                  <a:pos x="60" y="24"/>
                </a:cxn>
              </a:cxnLst>
              <a:rect l="txL" t="txT" r="txR" b="txB"/>
              <a:pathLst>
                <a:path w="60" h="24">
                  <a:moveTo>
                    <a:pt x="60" y="24"/>
                  </a:moveTo>
                  <a:lnTo>
                    <a:pt x="0" y="0"/>
                  </a:lnTo>
                  <a:lnTo>
                    <a:pt x="60" y="24"/>
                  </a:lnTo>
                  <a:close/>
                  <a:moveTo>
                    <a:pt x="60" y="24"/>
                  </a:moveTo>
                  <a:lnTo>
                    <a:pt x="6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42" name="Freeform 77"/>
            <p:cNvSpPr>
              <a:spLocks noEditPoints="1"/>
            </p:cNvSpPr>
            <p:nvPr/>
          </p:nvSpPr>
          <p:spPr>
            <a:xfrm>
              <a:off x="2829" y="2637"/>
              <a:ext cx="60" cy="30"/>
            </a:xfrm>
            <a:custGeom>
              <a:avLst/>
              <a:gdLst>
                <a:gd name="txL" fmla="*/ 0 w 60"/>
                <a:gd name="txT" fmla="*/ 0 h 30"/>
                <a:gd name="txR" fmla="*/ 60 w 60"/>
                <a:gd name="txB" fmla="*/ 30 h 30"/>
              </a:gdLst>
              <a:ahLst/>
              <a:cxnLst>
                <a:cxn ang="0">
                  <a:pos x="0" y="30"/>
                </a:cxn>
                <a:cxn ang="0">
                  <a:pos x="60" y="0"/>
                </a:cxn>
                <a:cxn ang="0">
                  <a:pos x="0" y="30"/>
                </a:cxn>
                <a:cxn ang="0">
                  <a:pos x="0" y="30"/>
                </a:cxn>
                <a:cxn ang="0">
                  <a:pos x="0" y="30"/>
                </a:cxn>
                <a:cxn ang="0">
                  <a:pos x="0" y="30"/>
                </a:cxn>
                <a:cxn ang="0">
                  <a:pos x="0" y="30"/>
                </a:cxn>
              </a:cxnLst>
              <a:rect l="txL" t="txT" r="txR" b="txB"/>
              <a:pathLst>
                <a:path w="60" h="30">
                  <a:moveTo>
                    <a:pt x="0" y="30"/>
                  </a:moveTo>
                  <a:lnTo>
                    <a:pt x="60"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43" name="Freeform 78"/>
            <p:cNvSpPr>
              <a:spLocks noEditPoints="1"/>
            </p:cNvSpPr>
            <p:nvPr/>
          </p:nvSpPr>
          <p:spPr>
            <a:xfrm>
              <a:off x="2889" y="2613"/>
              <a:ext cx="60" cy="24"/>
            </a:xfrm>
            <a:custGeom>
              <a:avLst/>
              <a:gdLst>
                <a:gd name="txL" fmla="*/ 0 w 60"/>
                <a:gd name="txT" fmla="*/ 0 h 24"/>
                <a:gd name="txR" fmla="*/ 60 w 60"/>
                <a:gd name="txB" fmla="*/ 24 h 24"/>
              </a:gdLst>
              <a:ahLst/>
              <a:cxnLst>
                <a:cxn ang="0">
                  <a:pos x="0" y="24"/>
                </a:cxn>
                <a:cxn ang="0">
                  <a:pos x="60" y="0"/>
                </a:cxn>
                <a:cxn ang="0">
                  <a:pos x="0" y="24"/>
                </a:cxn>
                <a:cxn ang="0">
                  <a:pos x="0" y="24"/>
                </a:cxn>
                <a:cxn ang="0">
                  <a:pos x="0" y="24"/>
                </a:cxn>
                <a:cxn ang="0">
                  <a:pos x="0" y="24"/>
                </a:cxn>
                <a:cxn ang="0">
                  <a:pos x="0" y="24"/>
                </a:cxn>
              </a:cxnLst>
              <a:rect l="txL" t="txT" r="txR" b="txB"/>
              <a:pathLst>
                <a:path w="60" h="24">
                  <a:moveTo>
                    <a:pt x="0" y="24"/>
                  </a:moveTo>
                  <a:lnTo>
                    <a:pt x="60"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44" name="Freeform 79"/>
            <p:cNvSpPr>
              <a:spLocks noEditPoints="1"/>
            </p:cNvSpPr>
            <p:nvPr/>
          </p:nvSpPr>
          <p:spPr>
            <a:xfrm>
              <a:off x="2889" y="2589"/>
              <a:ext cx="60" cy="24"/>
            </a:xfrm>
            <a:custGeom>
              <a:avLst/>
              <a:gdLst>
                <a:gd name="txL" fmla="*/ 0 w 60"/>
                <a:gd name="txT" fmla="*/ 0 h 24"/>
                <a:gd name="txR" fmla="*/ 60 w 60"/>
                <a:gd name="txB" fmla="*/ 24 h 24"/>
              </a:gdLst>
              <a:ahLst/>
              <a:cxnLst>
                <a:cxn ang="0">
                  <a:pos x="60" y="24"/>
                </a:cxn>
                <a:cxn ang="0">
                  <a:pos x="0" y="0"/>
                </a:cxn>
                <a:cxn ang="0">
                  <a:pos x="60" y="24"/>
                </a:cxn>
                <a:cxn ang="0">
                  <a:pos x="60" y="24"/>
                </a:cxn>
                <a:cxn ang="0">
                  <a:pos x="60" y="24"/>
                </a:cxn>
                <a:cxn ang="0">
                  <a:pos x="60" y="24"/>
                </a:cxn>
                <a:cxn ang="0">
                  <a:pos x="60" y="24"/>
                </a:cxn>
              </a:cxnLst>
              <a:rect l="txL" t="txT" r="txR" b="txB"/>
              <a:pathLst>
                <a:path w="60" h="24">
                  <a:moveTo>
                    <a:pt x="60" y="24"/>
                  </a:moveTo>
                  <a:lnTo>
                    <a:pt x="0" y="0"/>
                  </a:lnTo>
                  <a:lnTo>
                    <a:pt x="60" y="24"/>
                  </a:lnTo>
                  <a:close/>
                  <a:moveTo>
                    <a:pt x="60" y="24"/>
                  </a:moveTo>
                  <a:lnTo>
                    <a:pt x="6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45" name="Freeform 80"/>
            <p:cNvSpPr>
              <a:spLocks noEditPoints="1"/>
            </p:cNvSpPr>
            <p:nvPr/>
          </p:nvSpPr>
          <p:spPr>
            <a:xfrm>
              <a:off x="2829" y="2566"/>
              <a:ext cx="60" cy="23"/>
            </a:xfrm>
            <a:custGeom>
              <a:avLst/>
              <a:gdLst>
                <a:gd name="txL" fmla="*/ 0 w 60"/>
                <a:gd name="txT" fmla="*/ 0 h 23"/>
                <a:gd name="txR" fmla="*/ 60 w 60"/>
                <a:gd name="txB" fmla="*/ 23 h 23"/>
              </a:gdLst>
              <a:ahLst/>
              <a:cxnLst>
                <a:cxn ang="0">
                  <a:pos x="60" y="23"/>
                </a:cxn>
                <a:cxn ang="0">
                  <a:pos x="0" y="0"/>
                </a:cxn>
                <a:cxn ang="0">
                  <a:pos x="60" y="23"/>
                </a:cxn>
                <a:cxn ang="0">
                  <a:pos x="60" y="23"/>
                </a:cxn>
                <a:cxn ang="0">
                  <a:pos x="60" y="23"/>
                </a:cxn>
                <a:cxn ang="0">
                  <a:pos x="60" y="23"/>
                </a:cxn>
                <a:cxn ang="0">
                  <a:pos x="60" y="23"/>
                </a:cxn>
              </a:cxnLst>
              <a:rect l="txL" t="txT" r="txR" b="txB"/>
              <a:pathLst>
                <a:path w="60" h="23">
                  <a:moveTo>
                    <a:pt x="60" y="23"/>
                  </a:moveTo>
                  <a:lnTo>
                    <a:pt x="0" y="0"/>
                  </a:lnTo>
                  <a:lnTo>
                    <a:pt x="60" y="23"/>
                  </a:lnTo>
                  <a:close/>
                  <a:moveTo>
                    <a:pt x="60" y="23"/>
                  </a:moveTo>
                  <a:lnTo>
                    <a:pt x="60" y="2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46" name="Freeform 81"/>
            <p:cNvSpPr>
              <a:spLocks noEditPoints="1"/>
            </p:cNvSpPr>
            <p:nvPr/>
          </p:nvSpPr>
          <p:spPr>
            <a:xfrm>
              <a:off x="2829" y="2542"/>
              <a:ext cx="60" cy="24"/>
            </a:xfrm>
            <a:custGeom>
              <a:avLst/>
              <a:gdLst>
                <a:gd name="txL" fmla="*/ 0 w 60"/>
                <a:gd name="txT" fmla="*/ 0 h 24"/>
                <a:gd name="txR" fmla="*/ 60 w 60"/>
                <a:gd name="txB" fmla="*/ 24 h 24"/>
              </a:gdLst>
              <a:ahLst/>
              <a:cxnLst>
                <a:cxn ang="0">
                  <a:pos x="0" y="24"/>
                </a:cxn>
                <a:cxn ang="0">
                  <a:pos x="60" y="0"/>
                </a:cxn>
                <a:cxn ang="0">
                  <a:pos x="0" y="24"/>
                </a:cxn>
                <a:cxn ang="0">
                  <a:pos x="0" y="24"/>
                </a:cxn>
                <a:cxn ang="0">
                  <a:pos x="0" y="24"/>
                </a:cxn>
                <a:cxn ang="0">
                  <a:pos x="0" y="24"/>
                </a:cxn>
                <a:cxn ang="0">
                  <a:pos x="0" y="24"/>
                </a:cxn>
              </a:cxnLst>
              <a:rect l="txL" t="txT" r="txR" b="txB"/>
              <a:pathLst>
                <a:path w="60" h="24">
                  <a:moveTo>
                    <a:pt x="0" y="24"/>
                  </a:moveTo>
                  <a:lnTo>
                    <a:pt x="60"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47" name="Freeform 82"/>
            <p:cNvSpPr>
              <a:spLocks noEditPoints="1"/>
            </p:cNvSpPr>
            <p:nvPr/>
          </p:nvSpPr>
          <p:spPr>
            <a:xfrm>
              <a:off x="2889" y="2518"/>
              <a:ext cx="60" cy="24"/>
            </a:xfrm>
            <a:custGeom>
              <a:avLst/>
              <a:gdLst>
                <a:gd name="txL" fmla="*/ 0 w 60"/>
                <a:gd name="txT" fmla="*/ 0 h 24"/>
                <a:gd name="txR" fmla="*/ 60 w 60"/>
                <a:gd name="txB" fmla="*/ 24 h 24"/>
              </a:gdLst>
              <a:ahLst/>
              <a:cxnLst>
                <a:cxn ang="0">
                  <a:pos x="0" y="24"/>
                </a:cxn>
                <a:cxn ang="0">
                  <a:pos x="60" y="0"/>
                </a:cxn>
                <a:cxn ang="0">
                  <a:pos x="0" y="24"/>
                </a:cxn>
                <a:cxn ang="0">
                  <a:pos x="0" y="24"/>
                </a:cxn>
                <a:cxn ang="0">
                  <a:pos x="0" y="24"/>
                </a:cxn>
                <a:cxn ang="0">
                  <a:pos x="0" y="24"/>
                </a:cxn>
                <a:cxn ang="0">
                  <a:pos x="0" y="24"/>
                </a:cxn>
              </a:cxnLst>
              <a:rect l="txL" t="txT" r="txR" b="txB"/>
              <a:pathLst>
                <a:path w="60" h="24">
                  <a:moveTo>
                    <a:pt x="0" y="24"/>
                  </a:moveTo>
                  <a:lnTo>
                    <a:pt x="60"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48" name="Freeform 83"/>
            <p:cNvSpPr>
              <a:spLocks noEditPoints="1"/>
            </p:cNvSpPr>
            <p:nvPr/>
          </p:nvSpPr>
          <p:spPr>
            <a:xfrm>
              <a:off x="2889" y="2494"/>
              <a:ext cx="60" cy="24"/>
            </a:xfrm>
            <a:custGeom>
              <a:avLst/>
              <a:gdLst>
                <a:gd name="txL" fmla="*/ 0 w 60"/>
                <a:gd name="txT" fmla="*/ 0 h 24"/>
                <a:gd name="txR" fmla="*/ 60 w 60"/>
                <a:gd name="txB" fmla="*/ 24 h 24"/>
              </a:gdLst>
              <a:ahLst/>
              <a:cxnLst>
                <a:cxn ang="0">
                  <a:pos x="60" y="24"/>
                </a:cxn>
                <a:cxn ang="0">
                  <a:pos x="0" y="0"/>
                </a:cxn>
                <a:cxn ang="0">
                  <a:pos x="60" y="24"/>
                </a:cxn>
                <a:cxn ang="0">
                  <a:pos x="60" y="24"/>
                </a:cxn>
                <a:cxn ang="0">
                  <a:pos x="60" y="24"/>
                </a:cxn>
                <a:cxn ang="0">
                  <a:pos x="60" y="24"/>
                </a:cxn>
                <a:cxn ang="0">
                  <a:pos x="60" y="24"/>
                </a:cxn>
              </a:cxnLst>
              <a:rect l="txL" t="txT" r="txR" b="txB"/>
              <a:pathLst>
                <a:path w="60" h="24">
                  <a:moveTo>
                    <a:pt x="60" y="24"/>
                  </a:moveTo>
                  <a:lnTo>
                    <a:pt x="0" y="0"/>
                  </a:lnTo>
                  <a:lnTo>
                    <a:pt x="60" y="24"/>
                  </a:lnTo>
                  <a:close/>
                  <a:moveTo>
                    <a:pt x="60" y="24"/>
                  </a:moveTo>
                  <a:lnTo>
                    <a:pt x="6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49" name="Freeform 84"/>
            <p:cNvSpPr>
              <a:spLocks noEditPoints="1"/>
            </p:cNvSpPr>
            <p:nvPr/>
          </p:nvSpPr>
          <p:spPr>
            <a:xfrm>
              <a:off x="2829" y="2464"/>
              <a:ext cx="60" cy="30"/>
            </a:xfrm>
            <a:custGeom>
              <a:avLst/>
              <a:gdLst>
                <a:gd name="txL" fmla="*/ 0 w 60"/>
                <a:gd name="txT" fmla="*/ 0 h 30"/>
                <a:gd name="txR" fmla="*/ 60 w 60"/>
                <a:gd name="txB" fmla="*/ 30 h 30"/>
              </a:gdLst>
              <a:ahLst/>
              <a:cxnLst>
                <a:cxn ang="0">
                  <a:pos x="60" y="30"/>
                </a:cxn>
                <a:cxn ang="0">
                  <a:pos x="0" y="0"/>
                </a:cxn>
                <a:cxn ang="0">
                  <a:pos x="60" y="30"/>
                </a:cxn>
                <a:cxn ang="0">
                  <a:pos x="60" y="30"/>
                </a:cxn>
                <a:cxn ang="0">
                  <a:pos x="60" y="30"/>
                </a:cxn>
                <a:cxn ang="0">
                  <a:pos x="60" y="30"/>
                </a:cxn>
                <a:cxn ang="0">
                  <a:pos x="60" y="30"/>
                </a:cxn>
              </a:cxnLst>
              <a:rect l="txL" t="txT" r="txR" b="txB"/>
              <a:pathLst>
                <a:path w="60" h="30">
                  <a:moveTo>
                    <a:pt x="60" y="30"/>
                  </a:moveTo>
                  <a:lnTo>
                    <a:pt x="0" y="0"/>
                  </a:lnTo>
                  <a:lnTo>
                    <a:pt x="60" y="30"/>
                  </a:lnTo>
                  <a:close/>
                  <a:moveTo>
                    <a:pt x="60" y="30"/>
                  </a:moveTo>
                  <a:lnTo>
                    <a:pt x="6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50" name="Freeform 85"/>
            <p:cNvSpPr>
              <a:spLocks noEditPoints="1"/>
            </p:cNvSpPr>
            <p:nvPr/>
          </p:nvSpPr>
          <p:spPr>
            <a:xfrm>
              <a:off x="2829" y="2440"/>
              <a:ext cx="66" cy="24"/>
            </a:xfrm>
            <a:custGeom>
              <a:avLst/>
              <a:gdLst>
                <a:gd name="txL" fmla="*/ 0 w 66"/>
                <a:gd name="txT" fmla="*/ 0 h 24"/>
                <a:gd name="txR" fmla="*/ 66 w 66"/>
                <a:gd name="txB" fmla="*/ 24 h 24"/>
              </a:gdLst>
              <a:ahLst/>
              <a:cxnLst>
                <a:cxn ang="0">
                  <a:pos x="0" y="24"/>
                </a:cxn>
                <a:cxn ang="0">
                  <a:pos x="66" y="0"/>
                </a:cxn>
                <a:cxn ang="0">
                  <a:pos x="0" y="24"/>
                </a:cxn>
                <a:cxn ang="0">
                  <a:pos x="0" y="24"/>
                </a:cxn>
                <a:cxn ang="0">
                  <a:pos x="0" y="24"/>
                </a:cxn>
                <a:cxn ang="0">
                  <a:pos x="0" y="24"/>
                </a:cxn>
                <a:cxn ang="0">
                  <a:pos x="0" y="24"/>
                </a:cxn>
              </a:cxnLst>
              <a:rect l="txL" t="txT" r="txR" b="txB"/>
              <a:pathLst>
                <a:path w="66" h="24">
                  <a:moveTo>
                    <a:pt x="0" y="24"/>
                  </a:moveTo>
                  <a:lnTo>
                    <a:pt x="66"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51" name="Freeform 86"/>
            <p:cNvSpPr/>
            <p:nvPr/>
          </p:nvSpPr>
          <p:spPr>
            <a:xfrm>
              <a:off x="2662" y="947"/>
              <a:ext cx="388" cy="48"/>
            </a:xfrm>
            <a:custGeom>
              <a:avLst/>
              <a:gdLst>
                <a:gd name="txL" fmla="*/ 0 w 388"/>
                <a:gd name="txT" fmla="*/ 0 h 48"/>
                <a:gd name="txR" fmla="*/ 388 w 388"/>
                <a:gd name="txB" fmla="*/ 48 h 48"/>
              </a:gdLst>
              <a:ahLst/>
              <a:cxnLst>
                <a:cxn ang="0">
                  <a:pos x="0" y="48"/>
                </a:cxn>
                <a:cxn ang="0">
                  <a:pos x="0" y="0"/>
                </a:cxn>
                <a:cxn ang="0">
                  <a:pos x="388" y="0"/>
                </a:cxn>
                <a:cxn ang="0">
                  <a:pos x="388" y="48"/>
                </a:cxn>
                <a:cxn ang="0">
                  <a:pos x="0" y="48"/>
                </a:cxn>
                <a:cxn ang="0">
                  <a:pos x="0" y="48"/>
                </a:cxn>
              </a:cxnLst>
              <a:rect l="txL" t="txT" r="txR" b="txB"/>
              <a:pathLst>
                <a:path w="388" h="48">
                  <a:moveTo>
                    <a:pt x="0" y="48"/>
                  </a:moveTo>
                  <a:lnTo>
                    <a:pt x="0" y="0"/>
                  </a:lnTo>
                  <a:lnTo>
                    <a:pt x="388" y="0"/>
                  </a:lnTo>
                  <a:lnTo>
                    <a:pt x="388" y="48"/>
                  </a:lnTo>
                  <a:lnTo>
                    <a:pt x="0" y="48"/>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2552" name="Freeform 87"/>
            <p:cNvSpPr/>
            <p:nvPr/>
          </p:nvSpPr>
          <p:spPr>
            <a:xfrm>
              <a:off x="3033" y="971"/>
              <a:ext cx="23" cy="60"/>
            </a:xfrm>
            <a:custGeom>
              <a:avLst/>
              <a:gdLst>
                <a:gd name="txL" fmla="*/ 0 w 23"/>
                <a:gd name="txT" fmla="*/ 0 h 60"/>
                <a:gd name="txR" fmla="*/ 23 w 23"/>
                <a:gd name="txB" fmla="*/ 60 h 60"/>
              </a:gdLst>
              <a:ahLst/>
              <a:cxnLst>
                <a:cxn ang="0">
                  <a:pos x="23" y="0"/>
                </a:cxn>
                <a:cxn ang="0">
                  <a:pos x="0" y="60"/>
                </a:cxn>
                <a:cxn ang="0">
                  <a:pos x="23" y="0"/>
                </a:cxn>
                <a:cxn ang="0">
                  <a:pos x="23" y="0"/>
                </a:cxn>
              </a:cxnLst>
              <a:rect l="txL" t="txT" r="txR" b="txB"/>
              <a:pathLst>
                <a:path w="23" h="60">
                  <a:moveTo>
                    <a:pt x="23" y="0"/>
                  </a:moveTo>
                  <a:lnTo>
                    <a:pt x="0" y="60"/>
                  </a:lnTo>
                  <a:lnTo>
                    <a:pt x="23"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53" name="Freeform 88"/>
            <p:cNvSpPr>
              <a:spLocks noEditPoints="1"/>
            </p:cNvSpPr>
            <p:nvPr/>
          </p:nvSpPr>
          <p:spPr>
            <a:xfrm>
              <a:off x="3003" y="971"/>
              <a:ext cx="30" cy="60"/>
            </a:xfrm>
            <a:custGeom>
              <a:avLst/>
              <a:gdLst>
                <a:gd name="txL" fmla="*/ 0 w 30"/>
                <a:gd name="txT" fmla="*/ 0 h 60"/>
                <a:gd name="txR" fmla="*/ 30 w 30"/>
                <a:gd name="txB" fmla="*/ 60 h 60"/>
              </a:gdLst>
              <a:ahLst/>
              <a:cxnLst>
                <a:cxn ang="0">
                  <a:pos x="30" y="60"/>
                </a:cxn>
                <a:cxn ang="0">
                  <a:pos x="0" y="0"/>
                </a:cxn>
                <a:cxn ang="0">
                  <a:pos x="30" y="60"/>
                </a:cxn>
                <a:cxn ang="0">
                  <a:pos x="30" y="60"/>
                </a:cxn>
                <a:cxn ang="0">
                  <a:pos x="30" y="60"/>
                </a:cxn>
                <a:cxn ang="0">
                  <a:pos x="30" y="60"/>
                </a:cxn>
                <a:cxn ang="0">
                  <a:pos x="30" y="60"/>
                </a:cxn>
              </a:cxnLst>
              <a:rect l="txL" t="txT" r="txR" b="txB"/>
              <a:pathLst>
                <a:path w="30" h="60">
                  <a:moveTo>
                    <a:pt x="30" y="60"/>
                  </a:moveTo>
                  <a:lnTo>
                    <a:pt x="0" y="0"/>
                  </a:lnTo>
                  <a:lnTo>
                    <a:pt x="30" y="60"/>
                  </a:lnTo>
                  <a:close/>
                  <a:moveTo>
                    <a:pt x="30" y="60"/>
                  </a:moveTo>
                  <a:lnTo>
                    <a:pt x="30"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54" name="Freeform 89"/>
            <p:cNvSpPr>
              <a:spLocks noEditPoints="1"/>
            </p:cNvSpPr>
            <p:nvPr/>
          </p:nvSpPr>
          <p:spPr>
            <a:xfrm>
              <a:off x="2979" y="912"/>
              <a:ext cx="24" cy="59"/>
            </a:xfrm>
            <a:custGeom>
              <a:avLst/>
              <a:gdLst>
                <a:gd name="txL" fmla="*/ 0 w 24"/>
                <a:gd name="txT" fmla="*/ 0 h 59"/>
                <a:gd name="txR" fmla="*/ 24 w 24"/>
                <a:gd name="txB" fmla="*/ 59 h 59"/>
              </a:gdLst>
              <a:ahLst/>
              <a:cxnLst>
                <a:cxn ang="0">
                  <a:pos x="24" y="59"/>
                </a:cxn>
                <a:cxn ang="0">
                  <a:pos x="0" y="0"/>
                </a:cxn>
                <a:cxn ang="0">
                  <a:pos x="24" y="59"/>
                </a:cxn>
                <a:cxn ang="0">
                  <a:pos x="24" y="59"/>
                </a:cxn>
                <a:cxn ang="0">
                  <a:pos x="24" y="59"/>
                </a:cxn>
                <a:cxn ang="0">
                  <a:pos x="24" y="59"/>
                </a:cxn>
                <a:cxn ang="0">
                  <a:pos x="24" y="59"/>
                </a:cxn>
              </a:cxnLst>
              <a:rect l="txL" t="txT" r="txR" b="txB"/>
              <a:pathLst>
                <a:path w="24" h="59">
                  <a:moveTo>
                    <a:pt x="24" y="59"/>
                  </a:moveTo>
                  <a:lnTo>
                    <a:pt x="0" y="0"/>
                  </a:lnTo>
                  <a:lnTo>
                    <a:pt x="24" y="59"/>
                  </a:lnTo>
                  <a:close/>
                  <a:moveTo>
                    <a:pt x="24" y="59"/>
                  </a:moveTo>
                  <a:lnTo>
                    <a:pt x="24"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55" name="Freeform 90"/>
            <p:cNvSpPr>
              <a:spLocks noEditPoints="1"/>
            </p:cNvSpPr>
            <p:nvPr/>
          </p:nvSpPr>
          <p:spPr>
            <a:xfrm>
              <a:off x="2955" y="912"/>
              <a:ext cx="24" cy="59"/>
            </a:xfrm>
            <a:custGeom>
              <a:avLst/>
              <a:gdLst>
                <a:gd name="txL" fmla="*/ 0 w 24"/>
                <a:gd name="txT" fmla="*/ 0 h 59"/>
                <a:gd name="txR" fmla="*/ 24 w 24"/>
                <a:gd name="txB" fmla="*/ 59 h 59"/>
              </a:gdLst>
              <a:ahLst/>
              <a:cxnLst>
                <a:cxn ang="0">
                  <a:pos x="24" y="0"/>
                </a:cxn>
                <a:cxn ang="0">
                  <a:pos x="0" y="59"/>
                </a:cxn>
                <a:cxn ang="0">
                  <a:pos x="24" y="0"/>
                </a:cxn>
                <a:cxn ang="0">
                  <a:pos x="24" y="0"/>
                </a:cxn>
                <a:cxn ang="0">
                  <a:pos x="24" y="0"/>
                </a:cxn>
                <a:cxn ang="0">
                  <a:pos x="24" y="0"/>
                </a:cxn>
                <a:cxn ang="0">
                  <a:pos x="24" y="0"/>
                </a:cxn>
              </a:cxnLst>
              <a:rect l="txL" t="txT" r="txR" b="txB"/>
              <a:pathLst>
                <a:path w="24" h="59">
                  <a:moveTo>
                    <a:pt x="24" y="0"/>
                  </a:moveTo>
                  <a:lnTo>
                    <a:pt x="0" y="59"/>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56" name="Freeform 91"/>
            <p:cNvSpPr>
              <a:spLocks noEditPoints="1"/>
            </p:cNvSpPr>
            <p:nvPr/>
          </p:nvSpPr>
          <p:spPr>
            <a:xfrm>
              <a:off x="2955" y="971"/>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57" name="Freeform 92"/>
            <p:cNvSpPr>
              <a:spLocks noEditPoints="1"/>
            </p:cNvSpPr>
            <p:nvPr/>
          </p:nvSpPr>
          <p:spPr>
            <a:xfrm>
              <a:off x="2931" y="971"/>
              <a:ext cx="24" cy="60"/>
            </a:xfrm>
            <a:custGeom>
              <a:avLst/>
              <a:gdLst>
                <a:gd name="txL" fmla="*/ 0 w 24"/>
                <a:gd name="txT" fmla="*/ 0 h 60"/>
                <a:gd name="txR" fmla="*/ 24 w 24"/>
                <a:gd name="txB" fmla="*/ 60 h 60"/>
              </a:gdLst>
              <a:ahLst/>
              <a:cxnLst>
                <a:cxn ang="0">
                  <a:pos x="24" y="0"/>
                </a:cxn>
                <a:cxn ang="0">
                  <a:pos x="0" y="60"/>
                </a:cxn>
                <a:cxn ang="0">
                  <a:pos x="24" y="0"/>
                </a:cxn>
                <a:cxn ang="0">
                  <a:pos x="24" y="0"/>
                </a:cxn>
                <a:cxn ang="0">
                  <a:pos x="24" y="0"/>
                </a:cxn>
                <a:cxn ang="0">
                  <a:pos x="24" y="0"/>
                </a:cxn>
                <a:cxn ang="0">
                  <a:pos x="24" y="0"/>
                </a:cxn>
              </a:cxnLst>
              <a:rect l="txL" t="txT" r="txR" b="txB"/>
              <a:pathLst>
                <a:path w="24" h="60">
                  <a:moveTo>
                    <a:pt x="24" y="0"/>
                  </a:moveTo>
                  <a:lnTo>
                    <a:pt x="0" y="60"/>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58" name="Freeform 93"/>
            <p:cNvSpPr>
              <a:spLocks noEditPoints="1"/>
            </p:cNvSpPr>
            <p:nvPr/>
          </p:nvSpPr>
          <p:spPr>
            <a:xfrm>
              <a:off x="2907" y="971"/>
              <a:ext cx="24" cy="60"/>
            </a:xfrm>
            <a:custGeom>
              <a:avLst/>
              <a:gdLst>
                <a:gd name="txL" fmla="*/ 0 w 24"/>
                <a:gd name="txT" fmla="*/ 0 h 60"/>
                <a:gd name="txR" fmla="*/ 24 w 24"/>
                <a:gd name="txB" fmla="*/ 60 h 60"/>
              </a:gdLst>
              <a:ahLst/>
              <a:cxnLst>
                <a:cxn ang="0">
                  <a:pos x="24" y="60"/>
                </a:cxn>
                <a:cxn ang="0">
                  <a:pos x="0" y="0"/>
                </a:cxn>
                <a:cxn ang="0">
                  <a:pos x="24" y="60"/>
                </a:cxn>
                <a:cxn ang="0">
                  <a:pos x="24" y="60"/>
                </a:cxn>
                <a:cxn ang="0">
                  <a:pos x="24" y="60"/>
                </a:cxn>
                <a:cxn ang="0">
                  <a:pos x="24" y="60"/>
                </a:cxn>
                <a:cxn ang="0">
                  <a:pos x="24" y="60"/>
                </a:cxn>
              </a:cxnLst>
              <a:rect l="txL" t="txT" r="txR" b="txB"/>
              <a:pathLst>
                <a:path w="24" h="60">
                  <a:moveTo>
                    <a:pt x="24" y="60"/>
                  </a:moveTo>
                  <a:lnTo>
                    <a:pt x="0" y="0"/>
                  </a:lnTo>
                  <a:lnTo>
                    <a:pt x="24" y="60"/>
                  </a:lnTo>
                  <a:close/>
                  <a:moveTo>
                    <a:pt x="24" y="60"/>
                  </a:moveTo>
                  <a:lnTo>
                    <a:pt x="24"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59" name="Freeform 94"/>
            <p:cNvSpPr>
              <a:spLocks noEditPoints="1"/>
            </p:cNvSpPr>
            <p:nvPr/>
          </p:nvSpPr>
          <p:spPr>
            <a:xfrm>
              <a:off x="2883" y="912"/>
              <a:ext cx="24" cy="59"/>
            </a:xfrm>
            <a:custGeom>
              <a:avLst/>
              <a:gdLst>
                <a:gd name="txL" fmla="*/ 0 w 24"/>
                <a:gd name="txT" fmla="*/ 0 h 59"/>
                <a:gd name="txR" fmla="*/ 24 w 24"/>
                <a:gd name="txB" fmla="*/ 59 h 59"/>
              </a:gdLst>
              <a:ahLst/>
              <a:cxnLst>
                <a:cxn ang="0">
                  <a:pos x="24" y="59"/>
                </a:cxn>
                <a:cxn ang="0">
                  <a:pos x="0" y="0"/>
                </a:cxn>
                <a:cxn ang="0">
                  <a:pos x="24" y="59"/>
                </a:cxn>
                <a:cxn ang="0">
                  <a:pos x="24" y="59"/>
                </a:cxn>
                <a:cxn ang="0">
                  <a:pos x="24" y="59"/>
                </a:cxn>
                <a:cxn ang="0">
                  <a:pos x="24" y="59"/>
                </a:cxn>
                <a:cxn ang="0">
                  <a:pos x="24" y="59"/>
                </a:cxn>
              </a:cxnLst>
              <a:rect l="txL" t="txT" r="txR" b="txB"/>
              <a:pathLst>
                <a:path w="24" h="59">
                  <a:moveTo>
                    <a:pt x="24" y="59"/>
                  </a:moveTo>
                  <a:lnTo>
                    <a:pt x="0" y="0"/>
                  </a:lnTo>
                  <a:lnTo>
                    <a:pt x="24" y="59"/>
                  </a:lnTo>
                  <a:close/>
                  <a:moveTo>
                    <a:pt x="24" y="59"/>
                  </a:moveTo>
                  <a:lnTo>
                    <a:pt x="24"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60" name="Freeform 95"/>
            <p:cNvSpPr>
              <a:spLocks noEditPoints="1"/>
            </p:cNvSpPr>
            <p:nvPr/>
          </p:nvSpPr>
          <p:spPr>
            <a:xfrm>
              <a:off x="2859" y="912"/>
              <a:ext cx="24" cy="59"/>
            </a:xfrm>
            <a:custGeom>
              <a:avLst/>
              <a:gdLst>
                <a:gd name="txL" fmla="*/ 0 w 24"/>
                <a:gd name="txT" fmla="*/ 0 h 59"/>
                <a:gd name="txR" fmla="*/ 24 w 24"/>
                <a:gd name="txB" fmla="*/ 59 h 59"/>
              </a:gdLst>
              <a:ahLst/>
              <a:cxnLst>
                <a:cxn ang="0">
                  <a:pos x="24" y="0"/>
                </a:cxn>
                <a:cxn ang="0">
                  <a:pos x="0" y="59"/>
                </a:cxn>
                <a:cxn ang="0">
                  <a:pos x="24" y="0"/>
                </a:cxn>
                <a:cxn ang="0">
                  <a:pos x="24" y="0"/>
                </a:cxn>
                <a:cxn ang="0">
                  <a:pos x="24" y="0"/>
                </a:cxn>
                <a:cxn ang="0">
                  <a:pos x="24" y="0"/>
                </a:cxn>
                <a:cxn ang="0">
                  <a:pos x="24" y="0"/>
                </a:cxn>
              </a:cxnLst>
              <a:rect l="txL" t="txT" r="txR" b="txB"/>
              <a:pathLst>
                <a:path w="24" h="59">
                  <a:moveTo>
                    <a:pt x="24" y="0"/>
                  </a:moveTo>
                  <a:lnTo>
                    <a:pt x="0" y="59"/>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61" name="Freeform 96"/>
            <p:cNvSpPr>
              <a:spLocks noEditPoints="1"/>
            </p:cNvSpPr>
            <p:nvPr/>
          </p:nvSpPr>
          <p:spPr>
            <a:xfrm>
              <a:off x="2829" y="971"/>
              <a:ext cx="30" cy="60"/>
            </a:xfrm>
            <a:custGeom>
              <a:avLst/>
              <a:gdLst>
                <a:gd name="txL" fmla="*/ 0 w 30"/>
                <a:gd name="txT" fmla="*/ 0 h 60"/>
                <a:gd name="txR" fmla="*/ 30 w 30"/>
                <a:gd name="txB" fmla="*/ 60 h 60"/>
              </a:gdLst>
              <a:ahLst/>
              <a:cxnLst>
                <a:cxn ang="0">
                  <a:pos x="30" y="0"/>
                </a:cxn>
                <a:cxn ang="0">
                  <a:pos x="0" y="60"/>
                </a:cxn>
                <a:cxn ang="0">
                  <a:pos x="30" y="0"/>
                </a:cxn>
                <a:cxn ang="0">
                  <a:pos x="30" y="0"/>
                </a:cxn>
                <a:cxn ang="0">
                  <a:pos x="30" y="0"/>
                </a:cxn>
                <a:cxn ang="0">
                  <a:pos x="30" y="0"/>
                </a:cxn>
                <a:cxn ang="0">
                  <a:pos x="30" y="0"/>
                </a:cxn>
              </a:cxnLst>
              <a:rect l="txL" t="txT" r="txR" b="txB"/>
              <a:pathLst>
                <a:path w="30" h="60">
                  <a:moveTo>
                    <a:pt x="30" y="0"/>
                  </a:moveTo>
                  <a:lnTo>
                    <a:pt x="0" y="60"/>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62" name="Freeform 97"/>
            <p:cNvSpPr>
              <a:spLocks noEditPoints="1"/>
            </p:cNvSpPr>
            <p:nvPr/>
          </p:nvSpPr>
          <p:spPr>
            <a:xfrm>
              <a:off x="2805" y="971"/>
              <a:ext cx="24" cy="60"/>
            </a:xfrm>
            <a:custGeom>
              <a:avLst/>
              <a:gdLst>
                <a:gd name="txL" fmla="*/ 0 w 24"/>
                <a:gd name="txT" fmla="*/ 0 h 60"/>
                <a:gd name="txR" fmla="*/ 24 w 24"/>
                <a:gd name="txB" fmla="*/ 60 h 60"/>
              </a:gdLst>
              <a:ahLst/>
              <a:cxnLst>
                <a:cxn ang="0">
                  <a:pos x="24" y="60"/>
                </a:cxn>
                <a:cxn ang="0">
                  <a:pos x="0" y="0"/>
                </a:cxn>
                <a:cxn ang="0">
                  <a:pos x="24" y="60"/>
                </a:cxn>
                <a:cxn ang="0">
                  <a:pos x="24" y="60"/>
                </a:cxn>
                <a:cxn ang="0">
                  <a:pos x="24" y="60"/>
                </a:cxn>
                <a:cxn ang="0">
                  <a:pos x="24" y="60"/>
                </a:cxn>
                <a:cxn ang="0">
                  <a:pos x="24" y="60"/>
                </a:cxn>
              </a:cxnLst>
              <a:rect l="txL" t="txT" r="txR" b="txB"/>
              <a:pathLst>
                <a:path w="24" h="60">
                  <a:moveTo>
                    <a:pt x="24" y="60"/>
                  </a:moveTo>
                  <a:lnTo>
                    <a:pt x="0" y="0"/>
                  </a:lnTo>
                  <a:lnTo>
                    <a:pt x="24" y="60"/>
                  </a:lnTo>
                  <a:close/>
                  <a:moveTo>
                    <a:pt x="24" y="60"/>
                  </a:moveTo>
                  <a:lnTo>
                    <a:pt x="24"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63" name="Freeform 98"/>
            <p:cNvSpPr>
              <a:spLocks noEditPoints="1"/>
            </p:cNvSpPr>
            <p:nvPr/>
          </p:nvSpPr>
          <p:spPr>
            <a:xfrm>
              <a:off x="2781" y="912"/>
              <a:ext cx="24" cy="59"/>
            </a:xfrm>
            <a:custGeom>
              <a:avLst/>
              <a:gdLst>
                <a:gd name="txL" fmla="*/ 0 w 24"/>
                <a:gd name="txT" fmla="*/ 0 h 59"/>
                <a:gd name="txR" fmla="*/ 24 w 24"/>
                <a:gd name="txB" fmla="*/ 59 h 59"/>
              </a:gdLst>
              <a:ahLst/>
              <a:cxnLst>
                <a:cxn ang="0">
                  <a:pos x="24" y="59"/>
                </a:cxn>
                <a:cxn ang="0">
                  <a:pos x="0" y="0"/>
                </a:cxn>
                <a:cxn ang="0">
                  <a:pos x="24" y="59"/>
                </a:cxn>
                <a:cxn ang="0">
                  <a:pos x="24" y="59"/>
                </a:cxn>
                <a:cxn ang="0">
                  <a:pos x="24" y="59"/>
                </a:cxn>
                <a:cxn ang="0">
                  <a:pos x="24" y="59"/>
                </a:cxn>
                <a:cxn ang="0">
                  <a:pos x="24" y="59"/>
                </a:cxn>
              </a:cxnLst>
              <a:rect l="txL" t="txT" r="txR" b="txB"/>
              <a:pathLst>
                <a:path w="24" h="59">
                  <a:moveTo>
                    <a:pt x="24" y="59"/>
                  </a:moveTo>
                  <a:lnTo>
                    <a:pt x="0" y="0"/>
                  </a:lnTo>
                  <a:lnTo>
                    <a:pt x="24" y="59"/>
                  </a:lnTo>
                  <a:close/>
                  <a:moveTo>
                    <a:pt x="24" y="59"/>
                  </a:moveTo>
                  <a:lnTo>
                    <a:pt x="24"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64" name="Freeform 99"/>
            <p:cNvSpPr>
              <a:spLocks noEditPoints="1"/>
            </p:cNvSpPr>
            <p:nvPr/>
          </p:nvSpPr>
          <p:spPr>
            <a:xfrm>
              <a:off x="2757" y="912"/>
              <a:ext cx="24" cy="59"/>
            </a:xfrm>
            <a:custGeom>
              <a:avLst/>
              <a:gdLst>
                <a:gd name="txL" fmla="*/ 0 w 24"/>
                <a:gd name="txT" fmla="*/ 0 h 59"/>
                <a:gd name="txR" fmla="*/ 24 w 24"/>
                <a:gd name="txB" fmla="*/ 59 h 59"/>
              </a:gdLst>
              <a:ahLst/>
              <a:cxnLst>
                <a:cxn ang="0">
                  <a:pos x="24" y="0"/>
                </a:cxn>
                <a:cxn ang="0">
                  <a:pos x="0" y="59"/>
                </a:cxn>
                <a:cxn ang="0">
                  <a:pos x="24" y="0"/>
                </a:cxn>
                <a:cxn ang="0">
                  <a:pos x="24" y="0"/>
                </a:cxn>
                <a:cxn ang="0">
                  <a:pos x="24" y="0"/>
                </a:cxn>
                <a:cxn ang="0">
                  <a:pos x="24" y="0"/>
                </a:cxn>
                <a:cxn ang="0">
                  <a:pos x="24" y="0"/>
                </a:cxn>
              </a:cxnLst>
              <a:rect l="txL" t="txT" r="txR" b="txB"/>
              <a:pathLst>
                <a:path w="24" h="59">
                  <a:moveTo>
                    <a:pt x="24" y="0"/>
                  </a:moveTo>
                  <a:lnTo>
                    <a:pt x="0" y="59"/>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65" name="Freeform 100"/>
            <p:cNvSpPr>
              <a:spLocks noEditPoints="1"/>
            </p:cNvSpPr>
            <p:nvPr/>
          </p:nvSpPr>
          <p:spPr>
            <a:xfrm>
              <a:off x="2733" y="971"/>
              <a:ext cx="24" cy="60"/>
            </a:xfrm>
            <a:custGeom>
              <a:avLst/>
              <a:gdLst>
                <a:gd name="txL" fmla="*/ 0 w 24"/>
                <a:gd name="txT" fmla="*/ 0 h 60"/>
                <a:gd name="txR" fmla="*/ 24 w 24"/>
                <a:gd name="txB" fmla="*/ 60 h 60"/>
              </a:gdLst>
              <a:ahLst/>
              <a:cxnLst>
                <a:cxn ang="0">
                  <a:pos x="24" y="0"/>
                </a:cxn>
                <a:cxn ang="0">
                  <a:pos x="0" y="60"/>
                </a:cxn>
                <a:cxn ang="0">
                  <a:pos x="24" y="0"/>
                </a:cxn>
                <a:cxn ang="0">
                  <a:pos x="24" y="0"/>
                </a:cxn>
                <a:cxn ang="0">
                  <a:pos x="24" y="0"/>
                </a:cxn>
                <a:cxn ang="0">
                  <a:pos x="24" y="0"/>
                </a:cxn>
                <a:cxn ang="0">
                  <a:pos x="24" y="0"/>
                </a:cxn>
              </a:cxnLst>
              <a:rect l="txL" t="txT" r="txR" b="txB"/>
              <a:pathLst>
                <a:path w="24" h="60">
                  <a:moveTo>
                    <a:pt x="24" y="0"/>
                  </a:moveTo>
                  <a:lnTo>
                    <a:pt x="0" y="60"/>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66" name="Freeform 101"/>
            <p:cNvSpPr>
              <a:spLocks noEditPoints="1"/>
            </p:cNvSpPr>
            <p:nvPr/>
          </p:nvSpPr>
          <p:spPr>
            <a:xfrm>
              <a:off x="2710" y="971"/>
              <a:ext cx="23" cy="60"/>
            </a:xfrm>
            <a:custGeom>
              <a:avLst/>
              <a:gdLst>
                <a:gd name="txL" fmla="*/ 0 w 23"/>
                <a:gd name="txT" fmla="*/ 0 h 60"/>
                <a:gd name="txR" fmla="*/ 23 w 23"/>
                <a:gd name="txB" fmla="*/ 60 h 60"/>
              </a:gdLst>
              <a:ahLst/>
              <a:cxnLst>
                <a:cxn ang="0">
                  <a:pos x="23" y="60"/>
                </a:cxn>
                <a:cxn ang="0">
                  <a:pos x="0" y="0"/>
                </a:cxn>
                <a:cxn ang="0">
                  <a:pos x="23" y="60"/>
                </a:cxn>
                <a:cxn ang="0">
                  <a:pos x="23" y="60"/>
                </a:cxn>
                <a:cxn ang="0">
                  <a:pos x="23" y="60"/>
                </a:cxn>
                <a:cxn ang="0">
                  <a:pos x="23" y="60"/>
                </a:cxn>
                <a:cxn ang="0">
                  <a:pos x="23" y="60"/>
                </a:cxn>
              </a:cxnLst>
              <a:rect l="txL" t="txT" r="txR" b="txB"/>
              <a:pathLst>
                <a:path w="23" h="60">
                  <a:moveTo>
                    <a:pt x="23" y="60"/>
                  </a:moveTo>
                  <a:lnTo>
                    <a:pt x="0" y="0"/>
                  </a:lnTo>
                  <a:lnTo>
                    <a:pt x="23" y="60"/>
                  </a:lnTo>
                  <a:close/>
                  <a:moveTo>
                    <a:pt x="23" y="60"/>
                  </a:moveTo>
                  <a:lnTo>
                    <a:pt x="23"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67" name="Freeform 102"/>
            <p:cNvSpPr>
              <a:spLocks noEditPoints="1"/>
            </p:cNvSpPr>
            <p:nvPr/>
          </p:nvSpPr>
          <p:spPr>
            <a:xfrm>
              <a:off x="2686" y="912"/>
              <a:ext cx="24" cy="59"/>
            </a:xfrm>
            <a:custGeom>
              <a:avLst/>
              <a:gdLst>
                <a:gd name="txL" fmla="*/ 0 w 24"/>
                <a:gd name="txT" fmla="*/ 0 h 59"/>
                <a:gd name="txR" fmla="*/ 24 w 24"/>
                <a:gd name="txB" fmla="*/ 59 h 59"/>
              </a:gdLst>
              <a:ahLst/>
              <a:cxnLst>
                <a:cxn ang="0">
                  <a:pos x="24" y="59"/>
                </a:cxn>
                <a:cxn ang="0">
                  <a:pos x="0" y="0"/>
                </a:cxn>
                <a:cxn ang="0">
                  <a:pos x="24" y="59"/>
                </a:cxn>
                <a:cxn ang="0">
                  <a:pos x="24" y="59"/>
                </a:cxn>
                <a:cxn ang="0">
                  <a:pos x="24" y="59"/>
                </a:cxn>
                <a:cxn ang="0">
                  <a:pos x="24" y="59"/>
                </a:cxn>
                <a:cxn ang="0">
                  <a:pos x="24" y="59"/>
                </a:cxn>
              </a:cxnLst>
              <a:rect l="txL" t="txT" r="txR" b="txB"/>
              <a:pathLst>
                <a:path w="24" h="59">
                  <a:moveTo>
                    <a:pt x="24" y="59"/>
                  </a:moveTo>
                  <a:lnTo>
                    <a:pt x="0" y="0"/>
                  </a:lnTo>
                  <a:lnTo>
                    <a:pt x="24" y="59"/>
                  </a:lnTo>
                  <a:close/>
                  <a:moveTo>
                    <a:pt x="24" y="59"/>
                  </a:moveTo>
                  <a:lnTo>
                    <a:pt x="24"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68" name="Freeform 103"/>
            <p:cNvSpPr>
              <a:spLocks noEditPoints="1"/>
            </p:cNvSpPr>
            <p:nvPr/>
          </p:nvSpPr>
          <p:spPr>
            <a:xfrm>
              <a:off x="2656" y="912"/>
              <a:ext cx="30" cy="65"/>
            </a:xfrm>
            <a:custGeom>
              <a:avLst/>
              <a:gdLst>
                <a:gd name="txL" fmla="*/ 0 w 30"/>
                <a:gd name="txT" fmla="*/ 0 h 65"/>
                <a:gd name="txR" fmla="*/ 30 w 30"/>
                <a:gd name="txB" fmla="*/ 65 h 65"/>
              </a:gdLst>
              <a:ahLst/>
              <a:cxnLst>
                <a:cxn ang="0">
                  <a:pos x="30" y="0"/>
                </a:cxn>
                <a:cxn ang="0">
                  <a:pos x="0" y="65"/>
                </a:cxn>
                <a:cxn ang="0">
                  <a:pos x="30" y="0"/>
                </a:cxn>
                <a:cxn ang="0">
                  <a:pos x="30" y="0"/>
                </a:cxn>
                <a:cxn ang="0">
                  <a:pos x="30" y="0"/>
                </a:cxn>
                <a:cxn ang="0">
                  <a:pos x="30" y="0"/>
                </a:cxn>
                <a:cxn ang="0">
                  <a:pos x="30" y="0"/>
                </a:cxn>
              </a:cxnLst>
              <a:rect l="txL" t="txT" r="txR" b="txB"/>
              <a:pathLst>
                <a:path w="30" h="65">
                  <a:moveTo>
                    <a:pt x="30" y="0"/>
                  </a:moveTo>
                  <a:lnTo>
                    <a:pt x="0" y="65"/>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69" name="Freeform 104"/>
            <p:cNvSpPr/>
            <p:nvPr/>
          </p:nvSpPr>
          <p:spPr>
            <a:xfrm>
              <a:off x="3583" y="2052"/>
              <a:ext cx="251" cy="352"/>
            </a:xfrm>
            <a:custGeom>
              <a:avLst/>
              <a:gdLst>
                <a:gd name="txL" fmla="*/ 0 w 251"/>
                <a:gd name="txT" fmla="*/ 0 h 352"/>
                <a:gd name="txR" fmla="*/ 251 w 251"/>
                <a:gd name="txB" fmla="*/ 352 h 352"/>
              </a:gdLst>
              <a:ahLst/>
              <a:cxnLst>
                <a:cxn ang="0">
                  <a:pos x="42" y="352"/>
                </a:cxn>
                <a:cxn ang="0">
                  <a:pos x="0" y="322"/>
                </a:cxn>
                <a:cxn ang="0">
                  <a:pos x="215" y="0"/>
                </a:cxn>
                <a:cxn ang="0">
                  <a:pos x="251" y="24"/>
                </a:cxn>
                <a:cxn ang="0">
                  <a:pos x="42" y="352"/>
                </a:cxn>
                <a:cxn ang="0">
                  <a:pos x="42" y="352"/>
                </a:cxn>
              </a:cxnLst>
              <a:rect l="txL" t="txT" r="txR" b="txB"/>
              <a:pathLst>
                <a:path w="251" h="352">
                  <a:moveTo>
                    <a:pt x="42" y="352"/>
                  </a:moveTo>
                  <a:lnTo>
                    <a:pt x="0" y="322"/>
                  </a:lnTo>
                  <a:lnTo>
                    <a:pt x="215" y="0"/>
                  </a:lnTo>
                  <a:lnTo>
                    <a:pt x="251" y="24"/>
                  </a:lnTo>
                  <a:lnTo>
                    <a:pt x="42" y="352"/>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2570" name="Freeform 105"/>
            <p:cNvSpPr/>
            <p:nvPr/>
          </p:nvSpPr>
          <p:spPr>
            <a:xfrm>
              <a:off x="3816" y="2058"/>
              <a:ext cx="36" cy="54"/>
            </a:xfrm>
            <a:custGeom>
              <a:avLst/>
              <a:gdLst>
                <a:gd name="txL" fmla="*/ 0 w 36"/>
                <a:gd name="txT" fmla="*/ 0 h 54"/>
                <a:gd name="txR" fmla="*/ 36 w 36"/>
                <a:gd name="txB" fmla="*/ 54 h 54"/>
              </a:gdLst>
              <a:ahLst/>
              <a:cxnLst>
                <a:cxn ang="0">
                  <a:pos x="0" y="0"/>
                </a:cxn>
                <a:cxn ang="0">
                  <a:pos x="36" y="54"/>
                </a:cxn>
                <a:cxn ang="0">
                  <a:pos x="0" y="0"/>
                </a:cxn>
                <a:cxn ang="0">
                  <a:pos x="0" y="0"/>
                </a:cxn>
              </a:cxnLst>
              <a:rect l="txL" t="txT" r="txR" b="txB"/>
              <a:pathLst>
                <a:path w="36" h="54">
                  <a:moveTo>
                    <a:pt x="0" y="0"/>
                  </a:moveTo>
                  <a:lnTo>
                    <a:pt x="36" y="54"/>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71" name="Freeform 106"/>
            <p:cNvSpPr>
              <a:spLocks noEditPoints="1"/>
            </p:cNvSpPr>
            <p:nvPr/>
          </p:nvSpPr>
          <p:spPr>
            <a:xfrm>
              <a:off x="3792" y="2100"/>
              <a:ext cx="60" cy="12"/>
            </a:xfrm>
            <a:custGeom>
              <a:avLst/>
              <a:gdLst>
                <a:gd name="txL" fmla="*/ 0 w 60"/>
                <a:gd name="txT" fmla="*/ 0 h 12"/>
                <a:gd name="txR" fmla="*/ 60 w 60"/>
                <a:gd name="txB" fmla="*/ 12 h 12"/>
              </a:gdLst>
              <a:ahLst/>
              <a:cxnLst>
                <a:cxn ang="0">
                  <a:pos x="60" y="12"/>
                </a:cxn>
                <a:cxn ang="0">
                  <a:pos x="0" y="0"/>
                </a:cxn>
                <a:cxn ang="0">
                  <a:pos x="60" y="12"/>
                </a:cxn>
                <a:cxn ang="0">
                  <a:pos x="60" y="12"/>
                </a:cxn>
                <a:cxn ang="0">
                  <a:pos x="60" y="12"/>
                </a:cxn>
                <a:cxn ang="0">
                  <a:pos x="60" y="12"/>
                </a:cxn>
                <a:cxn ang="0">
                  <a:pos x="60" y="12"/>
                </a:cxn>
              </a:cxnLst>
              <a:rect l="txL" t="txT" r="txR" b="txB"/>
              <a:pathLst>
                <a:path w="60" h="12">
                  <a:moveTo>
                    <a:pt x="60" y="12"/>
                  </a:moveTo>
                  <a:lnTo>
                    <a:pt x="0" y="0"/>
                  </a:lnTo>
                  <a:lnTo>
                    <a:pt x="60" y="12"/>
                  </a:lnTo>
                  <a:close/>
                  <a:moveTo>
                    <a:pt x="60" y="12"/>
                  </a:moveTo>
                  <a:lnTo>
                    <a:pt x="6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72" name="Freeform 107"/>
            <p:cNvSpPr>
              <a:spLocks noEditPoints="1"/>
            </p:cNvSpPr>
            <p:nvPr/>
          </p:nvSpPr>
          <p:spPr>
            <a:xfrm>
              <a:off x="3726" y="2088"/>
              <a:ext cx="66" cy="12"/>
            </a:xfrm>
            <a:custGeom>
              <a:avLst/>
              <a:gdLst>
                <a:gd name="txL" fmla="*/ 0 w 66"/>
                <a:gd name="txT" fmla="*/ 0 h 12"/>
                <a:gd name="txR" fmla="*/ 66 w 66"/>
                <a:gd name="txB" fmla="*/ 12 h 12"/>
              </a:gdLst>
              <a:ahLst/>
              <a:cxnLst>
                <a:cxn ang="0">
                  <a:pos x="66" y="12"/>
                </a:cxn>
                <a:cxn ang="0">
                  <a:pos x="0" y="0"/>
                </a:cxn>
                <a:cxn ang="0">
                  <a:pos x="66" y="12"/>
                </a:cxn>
                <a:cxn ang="0">
                  <a:pos x="66" y="12"/>
                </a:cxn>
                <a:cxn ang="0">
                  <a:pos x="66" y="12"/>
                </a:cxn>
                <a:cxn ang="0">
                  <a:pos x="66" y="12"/>
                </a:cxn>
                <a:cxn ang="0">
                  <a:pos x="66" y="12"/>
                </a:cxn>
              </a:cxnLst>
              <a:rect l="txL" t="txT" r="txR" b="txB"/>
              <a:pathLst>
                <a:path w="66" h="12">
                  <a:moveTo>
                    <a:pt x="66" y="12"/>
                  </a:moveTo>
                  <a:lnTo>
                    <a:pt x="0" y="0"/>
                  </a:lnTo>
                  <a:lnTo>
                    <a:pt x="66" y="12"/>
                  </a:lnTo>
                  <a:close/>
                  <a:moveTo>
                    <a:pt x="66" y="12"/>
                  </a:moveTo>
                  <a:lnTo>
                    <a:pt x="66"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73" name="Freeform 108"/>
            <p:cNvSpPr>
              <a:spLocks noEditPoints="1"/>
            </p:cNvSpPr>
            <p:nvPr/>
          </p:nvSpPr>
          <p:spPr>
            <a:xfrm>
              <a:off x="3726" y="2088"/>
              <a:ext cx="36" cy="54"/>
            </a:xfrm>
            <a:custGeom>
              <a:avLst/>
              <a:gdLst>
                <a:gd name="txL" fmla="*/ 0 w 36"/>
                <a:gd name="txT" fmla="*/ 0 h 54"/>
                <a:gd name="txR" fmla="*/ 36 w 36"/>
                <a:gd name="txB" fmla="*/ 54 h 54"/>
              </a:gdLst>
              <a:ahLst/>
              <a:cxnLst>
                <a:cxn ang="0">
                  <a:pos x="0" y="0"/>
                </a:cxn>
                <a:cxn ang="0">
                  <a:pos x="36" y="54"/>
                </a:cxn>
                <a:cxn ang="0">
                  <a:pos x="0" y="0"/>
                </a:cxn>
                <a:cxn ang="0">
                  <a:pos x="0" y="0"/>
                </a:cxn>
                <a:cxn ang="0">
                  <a:pos x="0" y="0"/>
                </a:cxn>
                <a:cxn ang="0">
                  <a:pos x="0" y="0"/>
                </a:cxn>
                <a:cxn ang="0">
                  <a:pos x="0" y="0"/>
                </a:cxn>
              </a:cxnLst>
              <a:rect l="txL" t="txT" r="txR" b="txB"/>
              <a:pathLst>
                <a:path w="36" h="54">
                  <a:moveTo>
                    <a:pt x="0" y="0"/>
                  </a:moveTo>
                  <a:lnTo>
                    <a:pt x="36" y="54"/>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74" name="Freeform 109"/>
            <p:cNvSpPr>
              <a:spLocks noEditPoints="1"/>
            </p:cNvSpPr>
            <p:nvPr/>
          </p:nvSpPr>
          <p:spPr>
            <a:xfrm>
              <a:off x="3762" y="2142"/>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75" name="Freeform 110"/>
            <p:cNvSpPr>
              <a:spLocks noEditPoints="1"/>
            </p:cNvSpPr>
            <p:nvPr/>
          </p:nvSpPr>
          <p:spPr>
            <a:xfrm>
              <a:off x="3762" y="2142"/>
              <a:ext cx="36" cy="53"/>
            </a:xfrm>
            <a:custGeom>
              <a:avLst/>
              <a:gdLst>
                <a:gd name="txL" fmla="*/ 0 w 36"/>
                <a:gd name="txT" fmla="*/ 0 h 53"/>
                <a:gd name="txR" fmla="*/ 36 w 36"/>
                <a:gd name="txB" fmla="*/ 53 h 53"/>
              </a:gdLst>
              <a:ahLst/>
              <a:cxnLst>
                <a:cxn ang="0">
                  <a:pos x="0" y="0"/>
                </a:cxn>
                <a:cxn ang="0">
                  <a:pos x="36" y="53"/>
                </a:cxn>
                <a:cxn ang="0">
                  <a:pos x="0" y="0"/>
                </a:cxn>
                <a:cxn ang="0">
                  <a:pos x="0" y="0"/>
                </a:cxn>
                <a:cxn ang="0">
                  <a:pos x="0" y="0"/>
                </a:cxn>
                <a:cxn ang="0">
                  <a:pos x="0" y="0"/>
                </a:cxn>
                <a:cxn ang="0">
                  <a:pos x="0" y="0"/>
                </a:cxn>
              </a:cxnLst>
              <a:rect l="txL" t="txT" r="txR" b="txB"/>
              <a:pathLst>
                <a:path w="36" h="53">
                  <a:moveTo>
                    <a:pt x="0" y="0"/>
                  </a:moveTo>
                  <a:lnTo>
                    <a:pt x="36" y="53"/>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76" name="Freeform 111"/>
            <p:cNvSpPr>
              <a:spLocks noEditPoints="1"/>
            </p:cNvSpPr>
            <p:nvPr/>
          </p:nvSpPr>
          <p:spPr>
            <a:xfrm>
              <a:off x="3738" y="2183"/>
              <a:ext cx="60" cy="12"/>
            </a:xfrm>
            <a:custGeom>
              <a:avLst/>
              <a:gdLst>
                <a:gd name="txL" fmla="*/ 0 w 60"/>
                <a:gd name="txT" fmla="*/ 0 h 12"/>
                <a:gd name="txR" fmla="*/ 60 w 60"/>
                <a:gd name="txB" fmla="*/ 12 h 12"/>
              </a:gdLst>
              <a:ahLst/>
              <a:cxnLst>
                <a:cxn ang="0">
                  <a:pos x="60" y="12"/>
                </a:cxn>
                <a:cxn ang="0">
                  <a:pos x="0" y="0"/>
                </a:cxn>
                <a:cxn ang="0">
                  <a:pos x="60" y="12"/>
                </a:cxn>
                <a:cxn ang="0">
                  <a:pos x="60" y="12"/>
                </a:cxn>
                <a:cxn ang="0">
                  <a:pos x="60" y="12"/>
                </a:cxn>
                <a:cxn ang="0">
                  <a:pos x="60" y="12"/>
                </a:cxn>
                <a:cxn ang="0">
                  <a:pos x="60" y="12"/>
                </a:cxn>
              </a:cxnLst>
              <a:rect l="txL" t="txT" r="txR" b="txB"/>
              <a:pathLst>
                <a:path w="60" h="12">
                  <a:moveTo>
                    <a:pt x="60" y="12"/>
                  </a:moveTo>
                  <a:lnTo>
                    <a:pt x="0" y="0"/>
                  </a:lnTo>
                  <a:lnTo>
                    <a:pt x="60" y="12"/>
                  </a:lnTo>
                  <a:close/>
                  <a:moveTo>
                    <a:pt x="60" y="12"/>
                  </a:moveTo>
                  <a:lnTo>
                    <a:pt x="6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77" name="Freeform 112"/>
            <p:cNvSpPr>
              <a:spLocks noEditPoints="1"/>
            </p:cNvSpPr>
            <p:nvPr/>
          </p:nvSpPr>
          <p:spPr>
            <a:xfrm>
              <a:off x="3672" y="2171"/>
              <a:ext cx="66" cy="12"/>
            </a:xfrm>
            <a:custGeom>
              <a:avLst/>
              <a:gdLst>
                <a:gd name="txL" fmla="*/ 0 w 66"/>
                <a:gd name="txT" fmla="*/ 0 h 12"/>
                <a:gd name="txR" fmla="*/ 66 w 66"/>
                <a:gd name="txB" fmla="*/ 12 h 12"/>
              </a:gdLst>
              <a:ahLst/>
              <a:cxnLst>
                <a:cxn ang="0">
                  <a:pos x="66" y="12"/>
                </a:cxn>
                <a:cxn ang="0">
                  <a:pos x="0" y="0"/>
                </a:cxn>
                <a:cxn ang="0">
                  <a:pos x="66" y="12"/>
                </a:cxn>
                <a:cxn ang="0">
                  <a:pos x="66" y="12"/>
                </a:cxn>
                <a:cxn ang="0">
                  <a:pos x="66" y="12"/>
                </a:cxn>
                <a:cxn ang="0">
                  <a:pos x="66" y="12"/>
                </a:cxn>
                <a:cxn ang="0">
                  <a:pos x="66" y="12"/>
                </a:cxn>
              </a:cxnLst>
              <a:rect l="txL" t="txT" r="txR" b="txB"/>
              <a:pathLst>
                <a:path w="66" h="12">
                  <a:moveTo>
                    <a:pt x="66" y="12"/>
                  </a:moveTo>
                  <a:lnTo>
                    <a:pt x="0" y="0"/>
                  </a:lnTo>
                  <a:lnTo>
                    <a:pt x="66" y="12"/>
                  </a:lnTo>
                  <a:close/>
                  <a:moveTo>
                    <a:pt x="66" y="12"/>
                  </a:moveTo>
                  <a:lnTo>
                    <a:pt x="66"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78" name="Freeform 113"/>
            <p:cNvSpPr>
              <a:spLocks noEditPoints="1"/>
            </p:cNvSpPr>
            <p:nvPr/>
          </p:nvSpPr>
          <p:spPr>
            <a:xfrm>
              <a:off x="3672" y="2171"/>
              <a:ext cx="36" cy="54"/>
            </a:xfrm>
            <a:custGeom>
              <a:avLst/>
              <a:gdLst>
                <a:gd name="txL" fmla="*/ 0 w 36"/>
                <a:gd name="txT" fmla="*/ 0 h 54"/>
                <a:gd name="txR" fmla="*/ 36 w 36"/>
                <a:gd name="txB" fmla="*/ 54 h 54"/>
              </a:gdLst>
              <a:ahLst/>
              <a:cxnLst>
                <a:cxn ang="0">
                  <a:pos x="0" y="0"/>
                </a:cxn>
                <a:cxn ang="0">
                  <a:pos x="36" y="54"/>
                </a:cxn>
                <a:cxn ang="0">
                  <a:pos x="0" y="0"/>
                </a:cxn>
                <a:cxn ang="0">
                  <a:pos x="0" y="0"/>
                </a:cxn>
                <a:cxn ang="0">
                  <a:pos x="0" y="0"/>
                </a:cxn>
                <a:cxn ang="0">
                  <a:pos x="0" y="0"/>
                </a:cxn>
                <a:cxn ang="0">
                  <a:pos x="0" y="0"/>
                </a:cxn>
              </a:cxnLst>
              <a:rect l="txL" t="txT" r="txR" b="txB"/>
              <a:pathLst>
                <a:path w="36" h="54">
                  <a:moveTo>
                    <a:pt x="0" y="0"/>
                  </a:moveTo>
                  <a:lnTo>
                    <a:pt x="36" y="54"/>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79" name="Freeform 114"/>
            <p:cNvSpPr>
              <a:spLocks noEditPoints="1"/>
            </p:cNvSpPr>
            <p:nvPr/>
          </p:nvSpPr>
          <p:spPr>
            <a:xfrm>
              <a:off x="3708" y="2225"/>
              <a:ext cx="36" cy="54"/>
            </a:xfrm>
            <a:custGeom>
              <a:avLst/>
              <a:gdLst>
                <a:gd name="txL" fmla="*/ 0 w 36"/>
                <a:gd name="txT" fmla="*/ 0 h 54"/>
                <a:gd name="txR" fmla="*/ 36 w 36"/>
                <a:gd name="txB" fmla="*/ 54 h 54"/>
              </a:gdLst>
              <a:ahLst/>
              <a:cxnLst>
                <a:cxn ang="0">
                  <a:pos x="0" y="0"/>
                </a:cxn>
                <a:cxn ang="0">
                  <a:pos x="36" y="54"/>
                </a:cxn>
                <a:cxn ang="0">
                  <a:pos x="0" y="0"/>
                </a:cxn>
                <a:cxn ang="0">
                  <a:pos x="0" y="0"/>
                </a:cxn>
                <a:cxn ang="0">
                  <a:pos x="0" y="0"/>
                </a:cxn>
                <a:cxn ang="0">
                  <a:pos x="0" y="0"/>
                </a:cxn>
                <a:cxn ang="0">
                  <a:pos x="0" y="0"/>
                </a:cxn>
              </a:cxnLst>
              <a:rect l="txL" t="txT" r="txR" b="txB"/>
              <a:pathLst>
                <a:path w="36" h="54">
                  <a:moveTo>
                    <a:pt x="0" y="0"/>
                  </a:moveTo>
                  <a:lnTo>
                    <a:pt x="36" y="54"/>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80" name="Freeform 115"/>
            <p:cNvSpPr>
              <a:spLocks noEditPoints="1"/>
            </p:cNvSpPr>
            <p:nvPr/>
          </p:nvSpPr>
          <p:spPr>
            <a:xfrm>
              <a:off x="3684" y="2267"/>
              <a:ext cx="60" cy="12"/>
            </a:xfrm>
            <a:custGeom>
              <a:avLst/>
              <a:gdLst>
                <a:gd name="txL" fmla="*/ 0 w 60"/>
                <a:gd name="txT" fmla="*/ 0 h 12"/>
                <a:gd name="txR" fmla="*/ 60 w 60"/>
                <a:gd name="txB" fmla="*/ 12 h 12"/>
              </a:gdLst>
              <a:ahLst/>
              <a:cxnLst>
                <a:cxn ang="0">
                  <a:pos x="60" y="12"/>
                </a:cxn>
                <a:cxn ang="0">
                  <a:pos x="0" y="0"/>
                </a:cxn>
                <a:cxn ang="0">
                  <a:pos x="60" y="12"/>
                </a:cxn>
                <a:cxn ang="0">
                  <a:pos x="60" y="12"/>
                </a:cxn>
                <a:cxn ang="0">
                  <a:pos x="60" y="12"/>
                </a:cxn>
                <a:cxn ang="0">
                  <a:pos x="60" y="12"/>
                </a:cxn>
                <a:cxn ang="0">
                  <a:pos x="60" y="12"/>
                </a:cxn>
              </a:cxnLst>
              <a:rect l="txL" t="txT" r="txR" b="txB"/>
              <a:pathLst>
                <a:path w="60" h="12">
                  <a:moveTo>
                    <a:pt x="60" y="12"/>
                  </a:moveTo>
                  <a:lnTo>
                    <a:pt x="0" y="0"/>
                  </a:lnTo>
                  <a:lnTo>
                    <a:pt x="60" y="12"/>
                  </a:lnTo>
                  <a:close/>
                  <a:moveTo>
                    <a:pt x="60" y="12"/>
                  </a:moveTo>
                  <a:lnTo>
                    <a:pt x="6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81" name="Freeform 116"/>
            <p:cNvSpPr>
              <a:spLocks noEditPoints="1"/>
            </p:cNvSpPr>
            <p:nvPr/>
          </p:nvSpPr>
          <p:spPr>
            <a:xfrm>
              <a:off x="3619" y="2255"/>
              <a:ext cx="65" cy="12"/>
            </a:xfrm>
            <a:custGeom>
              <a:avLst/>
              <a:gdLst>
                <a:gd name="txL" fmla="*/ 0 w 65"/>
                <a:gd name="txT" fmla="*/ 0 h 12"/>
                <a:gd name="txR" fmla="*/ 65 w 65"/>
                <a:gd name="txB" fmla="*/ 12 h 12"/>
              </a:gdLst>
              <a:ahLst/>
              <a:cxnLst>
                <a:cxn ang="0">
                  <a:pos x="65" y="12"/>
                </a:cxn>
                <a:cxn ang="0">
                  <a:pos x="0" y="0"/>
                </a:cxn>
                <a:cxn ang="0">
                  <a:pos x="65" y="12"/>
                </a:cxn>
                <a:cxn ang="0">
                  <a:pos x="65" y="12"/>
                </a:cxn>
                <a:cxn ang="0">
                  <a:pos x="65" y="12"/>
                </a:cxn>
                <a:cxn ang="0">
                  <a:pos x="65" y="12"/>
                </a:cxn>
                <a:cxn ang="0">
                  <a:pos x="65" y="12"/>
                </a:cxn>
              </a:cxnLst>
              <a:rect l="txL" t="txT" r="txR" b="txB"/>
              <a:pathLst>
                <a:path w="65" h="12">
                  <a:moveTo>
                    <a:pt x="65" y="12"/>
                  </a:moveTo>
                  <a:lnTo>
                    <a:pt x="0" y="0"/>
                  </a:lnTo>
                  <a:lnTo>
                    <a:pt x="65" y="12"/>
                  </a:lnTo>
                  <a:close/>
                  <a:moveTo>
                    <a:pt x="65" y="12"/>
                  </a:moveTo>
                  <a:lnTo>
                    <a:pt x="65"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82" name="Freeform 117"/>
            <p:cNvSpPr>
              <a:spLocks noEditPoints="1"/>
            </p:cNvSpPr>
            <p:nvPr/>
          </p:nvSpPr>
          <p:spPr>
            <a:xfrm>
              <a:off x="3619" y="2255"/>
              <a:ext cx="35" cy="54"/>
            </a:xfrm>
            <a:custGeom>
              <a:avLst/>
              <a:gdLst>
                <a:gd name="txL" fmla="*/ 0 w 35"/>
                <a:gd name="txT" fmla="*/ 0 h 54"/>
                <a:gd name="txR" fmla="*/ 35 w 35"/>
                <a:gd name="txB" fmla="*/ 54 h 54"/>
              </a:gdLst>
              <a:ahLst/>
              <a:cxnLst>
                <a:cxn ang="0">
                  <a:pos x="0" y="0"/>
                </a:cxn>
                <a:cxn ang="0">
                  <a:pos x="35" y="54"/>
                </a:cxn>
                <a:cxn ang="0">
                  <a:pos x="0" y="0"/>
                </a:cxn>
                <a:cxn ang="0">
                  <a:pos x="0" y="0"/>
                </a:cxn>
                <a:cxn ang="0">
                  <a:pos x="0" y="0"/>
                </a:cxn>
                <a:cxn ang="0">
                  <a:pos x="0" y="0"/>
                </a:cxn>
                <a:cxn ang="0">
                  <a:pos x="0" y="0"/>
                </a:cxn>
              </a:cxnLst>
              <a:rect l="txL" t="txT" r="txR" b="txB"/>
              <a:pathLst>
                <a:path w="35" h="54">
                  <a:moveTo>
                    <a:pt x="0" y="0"/>
                  </a:moveTo>
                  <a:lnTo>
                    <a:pt x="35" y="54"/>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83" name="Freeform 118"/>
            <p:cNvSpPr>
              <a:spLocks noEditPoints="1"/>
            </p:cNvSpPr>
            <p:nvPr/>
          </p:nvSpPr>
          <p:spPr>
            <a:xfrm>
              <a:off x="3654" y="2309"/>
              <a:ext cx="36" cy="54"/>
            </a:xfrm>
            <a:custGeom>
              <a:avLst/>
              <a:gdLst>
                <a:gd name="txL" fmla="*/ 0 w 36"/>
                <a:gd name="txT" fmla="*/ 0 h 54"/>
                <a:gd name="txR" fmla="*/ 36 w 36"/>
                <a:gd name="txB" fmla="*/ 54 h 54"/>
              </a:gdLst>
              <a:ahLst/>
              <a:cxnLst>
                <a:cxn ang="0">
                  <a:pos x="0" y="0"/>
                </a:cxn>
                <a:cxn ang="0">
                  <a:pos x="36" y="54"/>
                </a:cxn>
                <a:cxn ang="0">
                  <a:pos x="0" y="0"/>
                </a:cxn>
                <a:cxn ang="0">
                  <a:pos x="0" y="0"/>
                </a:cxn>
                <a:cxn ang="0">
                  <a:pos x="0" y="0"/>
                </a:cxn>
                <a:cxn ang="0">
                  <a:pos x="0" y="0"/>
                </a:cxn>
                <a:cxn ang="0">
                  <a:pos x="0" y="0"/>
                </a:cxn>
              </a:cxnLst>
              <a:rect l="txL" t="txT" r="txR" b="txB"/>
              <a:pathLst>
                <a:path w="36" h="54">
                  <a:moveTo>
                    <a:pt x="0" y="0"/>
                  </a:moveTo>
                  <a:lnTo>
                    <a:pt x="36" y="54"/>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84" name="Freeform 119"/>
            <p:cNvSpPr>
              <a:spLocks noEditPoints="1"/>
            </p:cNvSpPr>
            <p:nvPr/>
          </p:nvSpPr>
          <p:spPr>
            <a:xfrm>
              <a:off x="3631" y="2351"/>
              <a:ext cx="59" cy="12"/>
            </a:xfrm>
            <a:custGeom>
              <a:avLst/>
              <a:gdLst>
                <a:gd name="txL" fmla="*/ 0 w 59"/>
                <a:gd name="txT" fmla="*/ 0 h 12"/>
                <a:gd name="txR" fmla="*/ 59 w 59"/>
                <a:gd name="txB" fmla="*/ 12 h 12"/>
              </a:gdLst>
              <a:ahLst/>
              <a:cxnLst>
                <a:cxn ang="0">
                  <a:pos x="59" y="12"/>
                </a:cxn>
                <a:cxn ang="0">
                  <a:pos x="0" y="0"/>
                </a:cxn>
                <a:cxn ang="0">
                  <a:pos x="59" y="12"/>
                </a:cxn>
                <a:cxn ang="0">
                  <a:pos x="59" y="12"/>
                </a:cxn>
                <a:cxn ang="0">
                  <a:pos x="59" y="12"/>
                </a:cxn>
                <a:cxn ang="0">
                  <a:pos x="59" y="12"/>
                </a:cxn>
                <a:cxn ang="0">
                  <a:pos x="59" y="12"/>
                </a:cxn>
              </a:cxnLst>
              <a:rect l="txL" t="txT" r="txR" b="txB"/>
              <a:pathLst>
                <a:path w="59" h="12">
                  <a:moveTo>
                    <a:pt x="59" y="12"/>
                  </a:moveTo>
                  <a:lnTo>
                    <a:pt x="0" y="0"/>
                  </a:lnTo>
                  <a:lnTo>
                    <a:pt x="59" y="12"/>
                  </a:lnTo>
                  <a:close/>
                  <a:moveTo>
                    <a:pt x="59" y="12"/>
                  </a:moveTo>
                  <a:lnTo>
                    <a:pt x="59"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85" name="Freeform 120"/>
            <p:cNvSpPr>
              <a:spLocks noEditPoints="1"/>
            </p:cNvSpPr>
            <p:nvPr/>
          </p:nvSpPr>
          <p:spPr>
            <a:xfrm>
              <a:off x="3565" y="2339"/>
              <a:ext cx="66" cy="12"/>
            </a:xfrm>
            <a:custGeom>
              <a:avLst/>
              <a:gdLst>
                <a:gd name="txL" fmla="*/ 0 w 66"/>
                <a:gd name="txT" fmla="*/ 0 h 12"/>
                <a:gd name="txR" fmla="*/ 66 w 66"/>
                <a:gd name="txB" fmla="*/ 12 h 12"/>
              </a:gdLst>
              <a:ahLst/>
              <a:cxnLst>
                <a:cxn ang="0">
                  <a:pos x="66" y="12"/>
                </a:cxn>
                <a:cxn ang="0">
                  <a:pos x="0" y="0"/>
                </a:cxn>
                <a:cxn ang="0">
                  <a:pos x="66" y="12"/>
                </a:cxn>
                <a:cxn ang="0">
                  <a:pos x="66" y="12"/>
                </a:cxn>
                <a:cxn ang="0">
                  <a:pos x="66" y="12"/>
                </a:cxn>
                <a:cxn ang="0">
                  <a:pos x="66" y="12"/>
                </a:cxn>
                <a:cxn ang="0">
                  <a:pos x="66" y="12"/>
                </a:cxn>
              </a:cxnLst>
              <a:rect l="txL" t="txT" r="txR" b="txB"/>
              <a:pathLst>
                <a:path w="66" h="12">
                  <a:moveTo>
                    <a:pt x="66" y="12"/>
                  </a:moveTo>
                  <a:lnTo>
                    <a:pt x="0" y="0"/>
                  </a:lnTo>
                  <a:lnTo>
                    <a:pt x="66" y="12"/>
                  </a:lnTo>
                  <a:close/>
                  <a:moveTo>
                    <a:pt x="66" y="12"/>
                  </a:moveTo>
                  <a:lnTo>
                    <a:pt x="66"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86" name="Freeform 121"/>
            <p:cNvSpPr>
              <a:spLocks noEditPoints="1"/>
            </p:cNvSpPr>
            <p:nvPr/>
          </p:nvSpPr>
          <p:spPr>
            <a:xfrm>
              <a:off x="3565" y="2339"/>
              <a:ext cx="42" cy="59"/>
            </a:xfrm>
            <a:custGeom>
              <a:avLst/>
              <a:gdLst>
                <a:gd name="txL" fmla="*/ 0 w 42"/>
                <a:gd name="txT" fmla="*/ 0 h 59"/>
                <a:gd name="txR" fmla="*/ 42 w 42"/>
                <a:gd name="txB" fmla="*/ 59 h 59"/>
              </a:gdLst>
              <a:ahLst/>
              <a:cxnLst>
                <a:cxn ang="0">
                  <a:pos x="0" y="0"/>
                </a:cxn>
                <a:cxn ang="0">
                  <a:pos x="42" y="59"/>
                </a:cxn>
                <a:cxn ang="0">
                  <a:pos x="0" y="0"/>
                </a:cxn>
                <a:cxn ang="0">
                  <a:pos x="0" y="0"/>
                </a:cxn>
                <a:cxn ang="0">
                  <a:pos x="0" y="0"/>
                </a:cxn>
                <a:cxn ang="0">
                  <a:pos x="0" y="0"/>
                </a:cxn>
                <a:cxn ang="0">
                  <a:pos x="0" y="0"/>
                </a:cxn>
              </a:cxnLst>
              <a:rect l="txL" t="txT" r="txR" b="txB"/>
              <a:pathLst>
                <a:path w="42" h="59">
                  <a:moveTo>
                    <a:pt x="0" y="0"/>
                  </a:moveTo>
                  <a:lnTo>
                    <a:pt x="42" y="59"/>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87" name="Freeform 122"/>
            <p:cNvSpPr/>
            <p:nvPr/>
          </p:nvSpPr>
          <p:spPr>
            <a:xfrm>
              <a:off x="1938" y="2052"/>
              <a:ext cx="251" cy="346"/>
            </a:xfrm>
            <a:custGeom>
              <a:avLst/>
              <a:gdLst>
                <a:gd name="txL" fmla="*/ 0 w 251"/>
                <a:gd name="txT" fmla="*/ 0 h 346"/>
                <a:gd name="txR" fmla="*/ 251 w 251"/>
                <a:gd name="txB" fmla="*/ 346 h 346"/>
              </a:gdLst>
              <a:ahLst/>
              <a:cxnLst>
                <a:cxn ang="0">
                  <a:pos x="215" y="346"/>
                </a:cxn>
                <a:cxn ang="0">
                  <a:pos x="251" y="322"/>
                </a:cxn>
                <a:cxn ang="0">
                  <a:pos x="42" y="0"/>
                </a:cxn>
                <a:cxn ang="0">
                  <a:pos x="0" y="24"/>
                </a:cxn>
                <a:cxn ang="0">
                  <a:pos x="215" y="346"/>
                </a:cxn>
                <a:cxn ang="0">
                  <a:pos x="215" y="346"/>
                </a:cxn>
              </a:cxnLst>
              <a:rect l="txL" t="txT" r="txR" b="txB"/>
              <a:pathLst>
                <a:path w="251" h="346">
                  <a:moveTo>
                    <a:pt x="215" y="346"/>
                  </a:moveTo>
                  <a:lnTo>
                    <a:pt x="251" y="322"/>
                  </a:lnTo>
                  <a:lnTo>
                    <a:pt x="42" y="0"/>
                  </a:lnTo>
                  <a:lnTo>
                    <a:pt x="0" y="24"/>
                  </a:lnTo>
                  <a:lnTo>
                    <a:pt x="215" y="346"/>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2588" name="Freeform 123"/>
            <p:cNvSpPr/>
            <p:nvPr/>
          </p:nvSpPr>
          <p:spPr>
            <a:xfrm>
              <a:off x="1920" y="2058"/>
              <a:ext cx="36" cy="54"/>
            </a:xfrm>
            <a:custGeom>
              <a:avLst/>
              <a:gdLst>
                <a:gd name="txL" fmla="*/ 0 w 36"/>
                <a:gd name="txT" fmla="*/ 0 h 54"/>
                <a:gd name="txR" fmla="*/ 36 w 36"/>
                <a:gd name="txB" fmla="*/ 54 h 54"/>
              </a:gdLst>
              <a:ahLst/>
              <a:cxnLst>
                <a:cxn ang="0">
                  <a:pos x="36" y="0"/>
                </a:cxn>
                <a:cxn ang="0">
                  <a:pos x="0" y="54"/>
                </a:cxn>
                <a:cxn ang="0">
                  <a:pos x="36" y="0"/>
                </a:cxn>
                <a:cxn ang="0">
                  <a:pos x="36" y="0"/>
                </a:cxn>
              </a:cxnLst>
              <a:rect l="txL" t="txT" r="txR" b="txB"/>
              <a:pathLst>
                <a:path w="36" h="54">
                  <a:moveTo>
                    <a:pt x="36" y="0"/>
                  </a:moveTo>
                  <a:lnTo>
                    <a:pt x="0" y="54"/>
                  </a:ln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89" name="Freeform 124"/>
            <p:cNvSpPr>
              <a:spLocks noEditPoints="1"/>
            </p:cNvSpPr>
            <p:nvPr/>
          </p:nvSpPr>
          <p:spPr>
            <a:xfrm>
              <a:off x="1920" y="2100"/>
              <a:ext cx="66" cy="12"/>
            </a:xfrm>
            <a:custGeom>
              <a:avLst/>
              <a:gdLst>
                <a:gd name="txL" fmla="*/ 0 w 66"/>
                <a:gd name="txT" fmla="*/ 0 h 12"/>
                <a:gd name="txR" fmla="*/ 66 w 66"/>
                <a:gd name="txB" fmla="*/ 12 h 12"/>
              </a:gdLst>
              <a:ahLst/>
              <a:cxnLst>
                <a:cxn ang="0">
                  <a:pos x="0" y="12"/>
                </a:cxn>
                <a:cxn ang="0">
                  <a:pos x="66" y="0"/>
                </a:cxn>
                <a:cxn ang="0">
                  <a:pos x="0" y="12"/>
                </a:cxn>
                <a:cxn ang="0">
                  <a:pos x="0" y="12"/>
                </a:cxn>
                <a:cxn ang="0">
                  <a:pos x="0" y="12"/>
                </a:cxn>
                <a:cxn ang="0">
                  <a:pos x="0" y="12"/>
                </a:cxn>
                <a:cxn ang="0">
                  <a:pos x="0" y="12"/>
                </a:cxn>
              </a:cxnLst>
              <a:rect l="txL" t="txT" r="txR" b="txB"/>
              <a:pathLst>
                <a:path w="66" h="12">
                  <a:moveTo>
                    <a:pt x="0" y="12"/>
                  </a:moveTo>
                  <a:lnTo>
                    <a:pt x="66"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90" name="Freeform 125"/>
            <p:cNvSpPr>
              <a:spLocks noEditPoints="1"/>
            </p:cNvSpPr>
            <p:nvPr/>
          </p:nvSpPr>
          <p:spPr>
            <a:xfrm>
              <a:off x="1986" y="2088"/>
              <a:ext cx="60" cy="12"/>
            </a:xfrm>
            <a:custGeom>
              <a:avLst/>
              <a:gdLst>
                <a:gd name="txL" fmla="*/ 0 w 60"/>
                <a:gd name="txT" fmla="*/ 0 h 12"/>
                <a:gd name="txR" fmla="*/ 60 w 60"/>
                <a:gd name="txB" fmla="*/ 12 h 12"/>
              </a:gdLst>
              <a:ahLst/>
              <a:cxnLst>
                <a:cxn ang="0">
                  <a:pos x="0" y="12"/>
                </a:cxn>
                <a:cxn ang="0">
                  <a:pos x="60" y="0"/>
                </a:cxn>
                <a:cxn ang="0">
                  <a:pos x="0" y="12"/>
                </a:cxn>
                <a:cxn ang="0">
                  <a:pos x="0" y="12"/>
                </a:cxn>
                <a:cxn ang="0">
                  <a:pos x="0" y="12"/>
                </a:cxn>
                <a:cxn ang="0">
                  <a:pos x="0" y="12"/>
                </a:cxn>
                <a:cxn ang="0">
                  <a:pos x="0" y="12"/>
                </a:cxn>
              </a:cxnLst>
              <a:rect l="txL" t="txT" r="txR" b="txB"/>
              <a:pathLst>
                <a:path w="60" h="12">
                  <a:moveTo>
                    <a:pt x="0" y="12"/>
                  </a:moveTo>
                  <a:lnTo>
                    <a:pt x="60"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91" name="Freeform 126"/>
            <p:cNvSpPr>
              <a:spLocks noEditPoints="1"/>
            </p:cNvSpPr>
            <p:nvPr/>
          </p:nvSpPr>
          <p:spPr>
            <a:xfrm>
              <a:off x="2010" y="2088"/>
              <a:ext cx="36" cy="54"/>
            </a:xfrm>
            <a:custGeom>
              <a:avLst/>
              <a:gdLst>
                <a:gd name="txL" fmla="*/ 0 w 36"/>
                <a:gd name="txT" fmla="*/ 0 h 54"/>
                <a:gd name="txR" fmla="*/ 36 w 36"/>
                <a:gd name="txB" fmla="*/ 54 h 54"/>
              </a:gdLst>
              <a:ahLst/>
              <a:cxnLst>
                <a:cxn ang="0">
                  <a:pos x="36" y="0"/>
                </a:cxn>
                <a:cxn ang="0">
                  <a:pos x="0" y="54"/>
                </a:cxn>
                <a:cxn ang="0">
                  <a:pos x="36" y="0"/>
                </a:cxn>
                <a:cxn ang="0">
                  <a:pos x="36" y="0"/>
                </a:cxn>
                <a:cxn ang="0">
                  <a:pos x="36" y="0"/>
                </a:cxn>
                <a:cxn ang="0">
                  <a:pos x="36" y="0"/>
                </a:cxn>
                <a:cxn ang="0">
                  <a:pos x="36" y="0"/>
                </a:cxn>
              </a:cxnLst>
              <a:rect l="txL" t="txT" r="txR" b="txB"/>
              <a:pathLst>
                <a:path w="36" h="54">
                  <a:moveTo>
                    <a:pt x="36" y="0"/>
                  </a:moveTo>
                  <a:lnTo>
                    <a:pt x="0" y="54"/>
                  </a:lnTo>
                  <a:lnTo>
                    <a:pt x="36" y="0"/>
                  </a:lnTo>
                  <a:close/>
                  <a:moveTo>
                    <a:pt x="36" y="0"/>
                  </a:move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92" name="Freeform 127"/>
            <p:cNvSpPr>
              <a:spLocks noEditPoints="1"/>
            </p:cNvSpPr>
            <p:nvPr/>
          </p:nvSpPr>
          <p:spPr>
            <a:xfrm>
              <a:off x="2010" y="2142"/>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93" name="Freeform 128"/>
            <p:cNvSpPr>
              <a:spLocks noEditPoints="1"/>
            </p:cNvSpPr>
            <p:nvPr/>
          </p:nvSpPr>
          <p:spPr>
            <a:xfrm>
              <a:off x="1974" y="2142"/>
              <a:ext cx="36" cy="53"/>
            </a:xfrm>
            <a:custGeom>
              <a:avLst/>
              <a:gdLst>
                <a:gd name="txL" fmla="*/ 0 w 36"/>
                <a:gd name="txT" fmla="*/ 0 h 53"/>
                <a:gd name="txR" fmla="*/ 36 w 36"/>
                <a:gd name="txB" fmla="*/ 53 h 53"/>
              </a:gdLst>
              <a:ahLst/>
              <a:cxnLst>
                <a:cxn ang="0">
                  <a:pos x="36" y="0"/>
                </a:cxn>
                <a:cxn ang="0">
                  <a:pos x="0" y="53"/>
                </a:cxn>
                <a:cxn ang="0">
                  <a:pos x="36" y="0"/>
                </a:cxn>
                <a:cxn ang="0">
                  <a:pos x="36" y="0"/>
                </a:cxn>
                <a:cxn ang="0">
                  <a:pos x="36" y="0"/>
                </a:cxn>
                <a:cxn ang="0">
                  <a:pos x="36" y="0"/>
                </a:cxn>
                <a:cxn ang="0">
                  <a:pos x="36" y="0"/>
                </a:cxn>
              </a:cxnLst>
              <a:rect l="txL" t="txT" r="txR" b="txB"/>
              <a:pathLst>
                <a:path w="36" h="53">
                  <a:moveTo>
                    <a:pt x="36" y="0"/>
                  </a:moveTo>
                  <a:lnTo>
                    <a:pt x="0" y="53"/>
                  </a:lnTo>
                  <a:lnTo>
                    <a:pt x="36" y="0"/>
                  </a:lnTo>
                  <a:close/>
                  <a:moveTo>
                    <a:pt x="36" y="0"/>
                  </a:move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94" name="Freeform 129"/>
            <p:cNvSpPr>
              <a:spLocks noEditPoints="1"/>
            </p:cNvSpPr>
            <p:nvPr/>
          </p:nvSpPr>
          <p:spPr>
            <a:xfrm>
              <a:off x="1974" y="2183"/>
              <a:ext cx="66" cy="12"/>
            </a:xfrm>
            <a:custGeom>
              <a:avLst/>
              <a:gdLst>
                <a:gd name="txL" fmla="*/ 0 w 66"/>
                <a:gd name="txT" fmla="*/ 0 h 12"/>
                <a:gd name="txR" fmla="*/ 66 w 66"/>
                <a:gd name="txB" fmla="*/ 12 h 12"/>
              </a:gdLst>
              <a:ahLst/>
              <a:cxnLst>
                <a:cxn ang="0">
                  <a:pos x="0" y="12"/>
                </a:cxn>
                <a:cxn ang="0">
                  <a:pos x="66" y="0"/>
                </a:cxn>
                <a:cxn ang="0">
                  <a:pos x="0" y="12"/>
                </a:cxn>
                <a:cxn ang="0">
                  <a:pos x="0" y="12"/>
                </a:cxn>
                <a:cxn ang="0">
                  <a:pos x="0" y="12"/>
                </a:cxn>
                <a:cxn ang="0">
                  <a:pos x="0" y="12"/>
                </a:cxn>
                <a:cxn ang="0">
                  <a:pos x="0" y="12"/>
                </a:cxn>
              </a:cxnLst>
              <a:rect l="txL" t="txT" r="txR" b="txB"/>
              <a:pathLst>
                <a:path w="66" h="12">
                  <a:moveTo>
                    <a:pt x="0" y="12"/>
                  </a:moveTo>
                  <a:lnTo>
                    <a:pt x="66"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95" name="Freeform 130"/>
            <p:cNvSpPr>
              <a:spLocks noEditPoints="1"/>
            </p:cNvSpPr>
            <p:nvPr/>
          </p:nvSpPr>
          <p:spPr>
            <a:xfrm>
              <a:off x="2040" y="2171"/>
              <a:ext cx="60" cy="12"/>
            </a:xfrm>
            <a:custGeom>
              <a:avLst/>
              <a:gdLst>
                <a:gd name="txL" fmla="*/ 0 w 60"/>
                <a:gd name="txT" fmla="*/ 0 h 12"/>
                <a:gd name="txR" fmla="*/ 60 w 60"/>
                <a:gd name="txB" fmla="*/ 12 h 12"/>
              </a:gdLst>
              <a:ahLst/>
              <a:cxnLst>
                <a:cxn ang="0">
                  <a:pos x="0" y="12"/>
                </a:cxn>
                <a:cxn ang="0">
                  <a:pos x="60" y="0"/>
                </a:cxn>
                <a:cxn ang="0">
                  <a:pos x="0" y="12"/>
                </a:cxn>
                <a:cxn ang="0">
                  <a:pos x="0" y="12"/>
                </a:cxn>
                <a:cxn ang="0">
                  <a:pos x="0" y="12"/>
                </a:cxn>
                <a:cxn ang="0">
                  <a:pos x="0" y="12"/>
                </a:cxn>
                <a:cxn ang="0">
                  <a:pos x="0" y="12"/>
                </a:cxn>
              </a:cxnLst>
              <a:rect l="txL" t="txT" r="txR" b="txB"/>
              <a:pathLst>
                <a:path w="60" h="12">
                  <a:moveTo>
                    <a:pt x="0" y="12"/>
                  </a:moveTo>
                  <a:lnTo>
                    <a:pt x="60"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96" name="Freeform 131"/>
            <p:cNvSpPr>
              <a:spLocks noEditPoints="1"/>
            </p:cNvSpPr>
            <p:nvPr/>
          </p:nvSpPr>
          <p:spPr>
            <a:xfrm>
              <a:off x="2064" y="2171"/>
              <a:ext cx="36" cy="54"/>
            </a:xfrm>
            <a:custGeom>
              <a:avLst/>
              <a:gdLst>
                <a:gd name="txL" fmla="*/ 0 w 36"/>
                <a:gd name="txT" fmla="*/ 0 h 54"/>
                <a:gd name="txR" fmla="*/ 36 w 36"/>
                <a:gd name="txB" fmla="*/ 54 h 54"/>
              </a:gdLst>
              <a:ahLst/>
              <a:cxnLst>
                <a:cxn ang="0">
                  <a:pos x="36" y="0"/>
                </a:cxn>
                <a:cxn ang="0">
                  <a:pos x="0" y="54"/>
                </a:cxn>
                <a:cxn ang="0">
                  <a:pos x="36" y="0"/>
                </a:cxn>
                <a:cxn ang="0">
                  <a:pos x="36" y="0"/>
                </a:cxn>
                <a:cxn ang="0">
                  <a:pos x="36" y="0"/>
                </a:cxn>
                <a:cxn ang="0">
                  <a:pos x="36" y="0"/>
                </a:cxn>
                <a:cxn ang="0">
                  <a:pos x="36" y="0"/>
                </a:cxn>
              </a:cxnLst>
              <a:rect l="txL" t="txT" r="txR" b="txB"/>
              <a:pathLst>
                <a:path w="36" h="54">
                  <a:moveTo>
                    <a:pt x="36" y="0"/>
                  </a:moveTo>
                  <a:lnTo>
                    <a:pt x="0" y="54"/>
                  </a:lnTo>
                  <a:lnTo>
                    <a:pt x="36" y="0"/>
                  </a:lnTo>
                  <a:close/>
                  <a:moveTo>
                    <a:pt x="36" y="0"/>
                  </a:move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97" name="Freeform 132"/>
            <p:cNvSpPr>
              <a:spLocks noEditPoints="1"/>
            </p:cNvSpPr>
            <p:nvPr/>
          </p:nvSpPr>
          <p:spPr>
            <a:xfrm>
              <a:off x="2034" y="2225"/>
              <a:ext cx="30" cy="54"/>
            </a:xfrm>
            <a:custGeom>
              <a:avLst/>
              <a:gdLst>
                <a:gd name="txL" fmla="*/ 0 w 30"/>
                <a:gd name="txT" fmla="*/ 0 h 54"/>
                <a:gd name="txR" fmla="*/ 30 w 30"/>
                <a:gd name="txB" fmla="*/ 54 h 54"/>
              </a:gdLst>
              <a:ahLst/>
              <a:cxnLst>
                <a:cxn ang="0">
                  <a:pos x="30" y="0"/>
                </a:cxn>
                <a:cxn ang="0">
                  <a:pos x="0" y="54"/>
                </a:cxn>
                <a:cxn ang="0">
                  <a:pos x="30" y="0"/>
                </a:cxn>
                <a:cxn ang="0">
                  <a:pos x="30" y="0"/>
                </a:cxn>
                <a:cxn ang="0">
                  <a:pos x="30" y="0"/>
                </a:cxn>
                <a:cxn ang="0">
                  <a:pos x="30" y="0"/>
                </a:cxn>
                <a:cxn ang="0">
                  <a:pos x="30" y="0"/>
                </a:cxn>
              </a:cxnLst>
              <a:rect l="txL" t="txT" r="txR" b="txB"/>
              <a:pathLst>
                <a:path w="30" h="54">
                  <a:moveTo>
                    <a:pt x="30" y="0"/>
                  </a:moveTo>
                  <a:lnTo>
                    <a:pt x="0" y="54"/>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98" name="Freeform 133"/>
            <p:cNvSpPr>
              <a:spLocks noEditPoints="1"/>
            </p:cNvSpPr>
            <p:nvPr/>
          </p:nvSpPr>
          <p:spPr>
            <a:xfrm>
              <a:off x="2034" y="2267"/>
              <a:ext cx="60" cy="12"/>
            </a:xfrm>
            <a:custGeom>
              <a:avLst/>
              <a:gdLst>
                <a:gd name="txL" fmla="*/ 0 w 60"/>
                <a:gd name="txT" fmla="*/ 0 h 12"/>
                <a:gd name="txR" fmla="*/ 60 w 60"/>
                <a:gd name="txB" fmla="*/ 12 h 12"/>
              </a:gdLst>
              <a:ahLst/>
              <a:cxnLst>
                <a:cxn ang="0">
                  <a:pos x="0" y="12"/>
                </a:cxn>
                <a:cxn ang="0">
                  <a:pos x="60" y="0"/>
                </a:cxn>
                <a:cxn ang="0">
                  <a:pos x="0" y="12"/>
                </a:cxn>
                <a:cxn ang="0">
                  <a:pos x="0" y="12"/>
                </a:cxn>
                <a:cxn ang="0">
                  <a:pos x="0" y="12"/>
                </a:cxn>
                <a:cxn ang="0">
                  <a:pos x="0" y="12"/>
                </a:cxn>
                <a:cxn ang="0">
                  <a:pos x="0" y="12"/>
                </a:cxn>
              </a:cxnLst>
              <a:rect l="txL" t="txT" r="txR" b="txB"/>
              <a:pathLst>
                <a:path w="60" h="12">
                  <a:moveTo>
                    <a:pt x="0" y="12"/>
                  </a:moveTo>
                  <a:lnTo>
                    <a:pt x="60"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599" name="Freeform 134"/>
            <p:cNvSpPr>
              <a:spLocks noEditPoints="1"/>
            </p:cNvSpPr>
            <p:nvPr/>
          </p:nvSpPr>
          <p:spPr>
            <a:xfrm>
              <a:off x="2094" y="2255"/>
              <a:ext cx="59" cy="12"/>
            </a:xfrm>
            <a:custGeom>
              <a:avLst/>
              <a:gdLst>
                <a:gd name="txL" fmla="*/ 0 w 59"/>
                <a:gd name="txT" fmla="*/ 0 h 12"/>
                <a:gd name="txR" fmla="*/ 59 w 59"/>
                <a:gd name="txB" fmla="*/ 12 h 12"/>
              </a:gdLst>
              <a:ahLst/>
              <a:cxnLst>
                <a:cxn ang="0">
                  <a:pos x="0" y="12"/>
                </a:cxn>
                <a:cxn ang="0">
                  <a:pos x="59" y="0"/>
                </a:cxn>
                <a:cxn ang="0">
                  <a:pos x="0" y="12"/>
                </a:cxn>
                <a:cxn ang="0">
                  <a:pos x="0" y="12"/>
                </a:cxn>
                <a:cxn ang="0">
                  <a:pos x="0" y="12"/>
                </a:cxn>
                <a:cxn ang="0">
                  <a:pos x="0" y="12"/>
                </a:cxn>
                <a:cxn ang="0">
                  <a:pos x="0" y="12"/>
                </a:cxn>
              </a:cxnLst>
              <a:rect l="txL" t="txT" r="txR" b="txB"/>
              <a:pathLst>
                <a:path w="59" h="12">
                  <a:moveTo>
                    <a:pt x="0" y="12"/>
                  </a:moveTo>
                  <a:lnTo>
                    <a:pt x="59"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600" name="Freeform 135"/>
            <p:cNvSpPr>
              <a:spLocks noEditPoints="1"/>
            </p:cNvSpPr>
            <p:nvPr/>
          </p:nvSpPr>
          <p:spPr>
            <a:xfrm>
              <a:off x="2123" y="2255"/>
              <a:ext cx="30" cy="54"/>
            </a:xfrm>
            <a:custGeom>
              <a:avLst/>
              <a:gdLst>
                <a:gd name="txL" fmla="*/ 0 w 30"/>
                <a:gd name="txT" fmla="*/ 0 h 54"/>
                <a:gd name="txR" fmla="*/ 30 w 30"/>
                <a:gd name="txB" fmla="*/ 54 h 54"/>
              </a:gdLst>
              <a:ahLst/>
              <a:cxnLst>
                <a:cxn ang="0">
                  <a:pos x="30" y="0"/>
                </a:cxn>
                <a:cxn ang="0">
                  <a:pos x="0" y="54"/>
                </a:cxn>
                <a:cxn ang="0">
                  <a:pos x="30" y="0"/>
                </a:cxn>
                <a:cxn ang="0">
                  <a:pos x="30" y="0"/>
                </a:cxn>
                <a:cxn ang="0">
                  <a:pos x="30" y="0"/>
                </a:cxn>
                <a:cxn ang="0">
                  <a:pos x="30" y="0"/>
                </a:cxn>
                <a:cxn ang="0">
                  <a:pos x="30" y="0"/>
                </a:cxn>
              </a:cxnLst>
              <a:rect l="txL" t="txT" r="txR" b="txB"/>
              <a:pathLst>
                <a:path w="30" h="54">
                  <a:moveTo>
                    <a:pt x="30" y="0"/>
                  </a:moveTo>
                  <a:lnTo>
                    <a:pt x="0" y="54"/>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601" name="Freeform 136"/>
            <p:cNvSpPr>
              <a:spLocks noEditPoints="1"/>
            </p:cNvSpPr>
            <p:nvPr/>
          </p:nvSpPr>
          <p:spPr>
            <a:xfrm>
              <a:off x="2088" y="2309"/>
              <a:ext cx="35" cy="54"/>
            </a:xfrm>
            <a:custGeom>
              <a:avLst/>
              <a:gdLst>
                <a:gd name="txL" fmla="*/ 0 w 35"/>
                <a:gd name="txT" fmla="*/ 0 h 54"/>
                <a:gd name="txR" fmla="*/ 35 w 35"/>
                <a:gd name="txB" fmla="*/ 54 h 54"/>
              </a:gdLst>
              <a:ahLst/>
              <a:cxnLst>
                <a:cxn ang="0">
                  <a:pos x="35" y="0"/>
                </a:cxn>
                <a:cxn ang="0">
                  <a:pos x="0" y="54"/>
                </a:cxn>
                <a:cxn ang="0">
                  <a:pos x="35" y="0"/>
                </a:cxn>
                <a:cxn ang="0">
                  <a:pos x="35" y="0"/>
                </a:cxn>
                <a:cxn ang="0">
                  <a:pos x="35" y="0"/>
                </a:cxn>
                <a:cxn ang="0">
                  <a:pos x="35" y="0"/>
                </a:cxn>
                <a:cxn ang="0">
                  <a:pos x="35" y="0"/>
                </a:cxn>
              </a:cxnLst>
              <a:rect l="txL" t="txT" r="txR" b="txB"/>
              <a:pathLst>
                <a:path w="35" h="54">
                  <a:moveTo>
                    <a:pt x="35" y="0"/>
                  </a:moveTo>
                  <a:lnTo>
                    <a:pt x="0" y="54"/>
                  </a:lnTo>
                  <a:lnTo>
                    <a:pt x="35" y="0"/>
                  </a:lnTo>
                  <a:close/>
                  <a:moveTo>
                    <a:pt x="35" y="0"/>
                  </a:moveTo>
                  <a:lnTo>
                    <a:pt x="35"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602" name="Freeform 137"/>
            <p:cNvSpPr>
              <a:spLocks noEditPoints="1"/>
            </p:cNvSpPr>
            <p:nvPr/>
          </p:nvSpPr>
          <p:spPr>
            <a:xfrm>
              <a:off x="2088" y="2351"/>
              <a:ext cx="59" cy="12"/>
            </a:xfrm>
            <a:custGeom>
              <a:avLst/>
              <a:gdLst>
                <a:gd name="txL" fmla="*/ 0 w 59"/>
                <a:gd name="txT" fmla="*/ 0 h 12"/>
                <a:gd name="txR" fmla="*/ 59 w 59"/>
                <a:gd name="txB" fmla="*/ 12 h 12"/>
              </a:gdLst>
              <a:ahLst/>
              <a:cxnLst>
                <a:cxn ang="0">
                  <a:pos x="0" y="12"/>
                </a:cxn>
                <a:cxn ang="0">
                  <a:pos x="59" y="0"/>
                </a:cxn>
                <a:cxn ang="0">
                  <a:pos x="0" y="12"/>
                </a:cxn>
                <a:cxn ang="0">
                  <a:pos x="0" y="12"/>
                </a:cxn>
                <a:cxn ang="0">
                  <a:pos x="0" y="12"/>
                </a:cxn>
                <a:cxn ang="0">
                  <a:pos x="0" y="12"/>
                </a:cxn>
                <a:cxn ang="0">
                  <a:pos x="0" y="12"/>
                </a:cxn>
              </a:cxnLst>
              <a:rect l="txL" t="txT" r="txR" b="txB"/>
              <a:pathLst>
                <a:path w="59" h="12">
                  <a:moveTo>
                    <a:pt x="0" y="12"/>
                  </a:moveTo>
                  <a:lnTo>
                    <a:pt x="59"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603" name="Freeform 138"/>
            <p:cNvSpPr>
              <a:spLocks noEditPoints="1"/>
            </p:cNvSpPr>
            <p:nvPr/>
          </p:nvSpPr>
          <p:spPr>
            <a:xfrm>
              <a:off x="2147" y="2339"/>
              <a:ext cx="60" cy="12"/>
            </a:xfrm>
            <a:custGeom>
              <a:avLst/>
              <a:gdLst>
                <a:gd name="txL" fmla="*/ 0 w 60"/>
                <a:gd name="txT" fmla="*/ 0 h 12"/>
                <a:gd name="txR" fmla="*/ 60 w 60"/>
                <a:gd name="txB" fmla="*/ 12 h 12"/>
              </a:gdLst>
              <a:ahLst/>
              <a:cxnLst>
                <a:cxn ang="0">
                  <a:pos x="0" y="12"/>
                </a:cxn>
                <a:cxn ang="0">
                  <a:pos x="60" y="0"/>
                </a:cxn>
                <a:cxn ang="0">
                  <a:pos x="0" y="12"/>
                </a:cxn>
                <a:cxn ang="0">
                  <a:pos x="0" y="12"/>
                </a:cxn>
                <a:cxn ang="0">
                  <a:pos x="0" y="12"/>
                </a:cxn>
                <a:cxn ang="0">
                  <a:pos x="0" y="12"/>
                </a:cxn>
                <a:cxn ang="0">
                  <a:pos x="0" y="12"/>
                </a:cxn>
              </a:cxnLst>
              <a:rect l="txL" t="txT" r="txR" b="txB"/>
              <a:pathLst>
                <a:path w="60" h="12">
                  <a:moveTo>
                    <a:pt x="0" y="12"/>
                  </a:moveTo>
                  <a:lnTo>
                    <a:pt x="60"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2604" name="Freeform 139"/>
            <p:cNvSpPr>
              <a:spLocks noEditPoints="1"/>
            </p:cNvSpPr>
            <p:nvPr/>
          </p:nvSpPr>
          <p:spPr>
            <a:xfrm>
              <a:off x="2171" y="2339"/>
              <a:ext cx="36" cy="53"/>
            </a:xfrm>
            <a:custGeom>
              <a:avLst/>
              <a:gdLst>
                <a:gd name="txL" fmla="*/ 0 w 36"/>
                <a:gd name="txT" fmla="*/ 0 h 53"/>
                <a:gd name="txR" fmla="*/ 36 w 36"/>
                <a:gd name="txB" fmla="*/ 53 h 53"/>
              </a:gdLst>
              <a:ahLst/>
              <a:cxnLst>
                <a:cxn ang="0">
                  <a:pos x="36" y="0"/>
                </a:cxn>
                <a:cxn ang="0">
                  <a:pos x="0" y="53"/>
                </a:cxn>
                <a:cxn ang="0">
                  <a:pos x="36" y="0"/>
                </a:cxn>
                <a:cxn ang="0">
                  <a:pos x="36" y="0"/>
                </a:cxn>
                <a:cxn ang="0">
                  <a:pos x="36" y="0"/>
                </a:cxn>
                <a:cxn ang="0">
                  <a:pos x="36" y="0"/>
                </a:cxn>
                <a:cxn ang="0">
                  <a:pos x="36" y="0"/>
                </a:cxn>
              </a:cxnLst>
              <a:rect l="txL" t="txT" r="txR" b="txB"/>
              <a:pathLst>
                <a:path w="36" h="53">
                  <a:moveTo>
                    <a:pt x="36" y="0"/>
                  </a:moveTo>
                  <a:lnTo>
                    <a:pt x="0" y="53"/>
                  </a:lnTo>
                  <a:lnTo>
                    <a:pt x="36" y="0"/>
                  </a:lnTo>
                  <a:close/>
                  <a:moveTo>
                    <a:pt x="36" y="0"/>
                  </a:move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grpSp>
      <p:sp>
        <p:nvSpPr>
          <p:cNvPr id="62471" name="Text Box 140"/>
          <p:cNvSpPr txBox="1"/>
          <p:nvPr/>
        </p:nvSpPr>
        <p:spPr>
          <a:xfrm>
            <a:off x="5435600" y="3933825"/>
            <a:ext cx="3454400"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chemeClr val="tx2"/>
                </a:solidFill>
                <a:latin typeface="Times New Roman" panose="02020603050405020304" pitchFamily="18" charset="0"/>
                <a:cs typeface="Arial" panose="020B0604020202020204" pitchFamily="34" charset="0"/>
              </a:rPr>
              <a:t>Fig. 2.49 Superposition of  Y and </a:t>
            </a:r>
            <a:r>
              <a:rPr lang="en-US" altLang="zh-CN" sz="2000" b="1" dirty="0">
                <a:solidFill>
                  <a:schemeClr val="tx2"/>
                </a:solidFill>
                <a:latin typeface="Times New Roman" panose="02020603050405020304" pitchFamily="18" charset="0"/>
                <a:cs typeface="Arial" panose="020B0604020202020204" pitchFamily="34" charset="0"/>
                <a:sym typeface="Symbol" panose="05050102010706020507" pitchFamily="18" charset="2"/>
              </a:rPr>
              <a:t></a:t>
            </a:r>
            <a:r>
              <a:rPr lang="en-US" altLang="zh-CN" sz="2000" b="1" dirty="0">
                <a:solidFill>
                  <a:schemeClr val="tx2"/>
                </a:solidFill>
                <a:latin typeface="Times New Roman" panose="02020603050405020304" pitchFamily="18" charset="0"/>
                <a:cs typeface="Arial" panose="020B0604020202020204" pitchFamily="34" charset="0"/>
              </a:rPr>
              <a:t> networks as an aid in transforming one to another</a:t>
            </a:r>
            <a:endParaRPr lang="en-US" altLang="zh-CN" sz="2000" b="1" dirty="0">
              <a:solidFill>
                <a:schemeClr val="tx2"/>
              </a:solidFill>
              <a:latin typeface="Times New Roman" panose="02020603050405020304" pitchFamily="18" charset="0"/>
              <a:ea typeface="Arial" panose="020B0604020202020204" pitchFamily="34" charset="0"/>
            </a:endParaRPr>
          </a:p>
        </p:txBody>
      </p:sp>
      <p:sp>
        <p:nvSpPr>
          <p:cNvPr id="62472" name="Text Box 144"/>
          <p:cNvSpPr txBox="1"/>
          <p:nvPr/>
        </p:nvSpPr>
        <p:spPr>
          <a:xfrm>
            <a:off x="900113" y="5157788"/>
            <a:ext cx="7848600" cy="1263650"/>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Each resistor in the      network is the sum of all possible products of Y resistors taken two at a  time ,divided by the opposite Y resistor.</a:t>
            </a:r>
            <a:endParaRPr lang="en-US" altLang="zh-CN" sz="2400" b="1" dirty="0">
              <a:latin typeface="Times New Roman" panose="02020603050405020304" pitchFamily="18" charset="0"/>
              <a:ea typeface="Arial" panose="020B0604020202020204" pitchFamily="34" charset="0"/>
            </a:endParaRPr>
          </a:p>
        </p:txBody>
      </p:sp>
      <p:graphicFrame>
        <p:nvGraphicFramePr>
          <p:cNvPr id="62473" name="Object 145"/>
          <p:cNvGraphicFramePr>
            <a:graphicFrameLocks noGrp="1" noChangeAspect="1"/>
          </p:cNvGraphicFramePr>
          <p:nvPr>
            <p:ph sz="quarter" idx="4"/>
          </p:nvPr>
        </p:nvGraphicFramePr>
        <p:xfrm>
          <a:off x="3635375" y="5229225"/>
          <a:ext cx="307975" cy="363538"/>
        </p:xfrm>
        <a:graphic>
          <a:graphicData uri="http://schemas.openxmlformats.org/presentationml/2006/ole">
            <mc:AlternateContent xmlns:mc="http://schemas.openxmlformats.org/markup-compatibility/2006">
              <mc:Choice xmlns:v="urn:schemas-microsoft-com:vml" Requires="v">
                <p:oleObj spid="_x0000_s3148" name="" r:id="rId7" imgW="139700" imgH="165100" progId="Equation.3">
                  <p:embed/>
                </p:oleObj>
              </mc:Choice>
              <mc:Fallback>
                <p:oleObj name="" r:id="rId7" imgW="139700" imgH="165100" progId="Equation.3">
                  <p:embed/>
                  <p:pic>
                    <p:nvPicPr>
                      <p:cNvPr id="0" name="图片 3147"/>
                      <p:cNvPicPr/>
                      <p:nvPr/>
                    </p:nvPicPr>
                    <p:blipFill>
                      <a:blip r:embed="rId8"/>
                      <a:srcRect/>
                      <a:stretch>
                        <a:fillRect/>
                      </a:stretch>
                    </p:blipFill>
                    <p:spPr>
                      <a:xfrm>
                        <a:off x="3635375" y="5229225"/>
                        <a:ext cx="307975" cy="363538"/>
                      </a:xfrm>
                      <a:prstGeom prst="rect">
                        <a:avLst/>
                      </a:prstGeom>
                      <a:noFill/>
                      <a:ln w="38100">
                        <a:miter/>
                      </a:ln>
                    </p:spPr>
                  </p:pic>
                </p:oleObj>
              </mc:Fallback>
            </mc:AlternateContent>
          </a:graphicData>
        </a:graphic>
      </p:graphicFrame>
      <p:sp>
        <p:nvSpPr>
          <p:cNvPr id="62474"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4514" name="Object 3"/>
          <p:cNvGraphicFramePr>
            <a:graphicFrameLocks noGrp="1" noChangeAspect="1"/>
          </p:cNvGraphicFramePr>
          <p:nvPr>
            <p:ph sz="quarter" idx="1"/>
          </p:nvPr>
        </p:nvGraphicFramePr>
        <p:xfrm>
          <a:off x="2052638" y="973138"/>
          <a:ext cx="322262" cy="381000"/>
        </p:xfrm>
        <a:graphic>
          <a:graphicData uri="http://schemas.openxmlformats.org/presentationml/2006/ole">
            <mc:AlternateContent xmlns:mc="http://schemas.openxmlformats.org/markup-compatibility/2006">
              <mc:Choice xmlns:v="urn:schemas-microsoft-com:vml" Requires="v">
                <p:oleObj spid="_x0000_s3150" name="" r:id="rId1" imgW="139700" imgH="165100" progId="Equation.3">
                  <p:embed/>
                </p:oleObj>
              </mc:Choice>
              <mc:Fallback>
                <p:oleObj name="" r:id="rId1" imgW="139700" imgH="165100" progId="Equation.3">
                  <p:embed/>
                  <p:pic>
                    <p:nvPicPr>
                      <p:cNvPr id="0" name="图片 3149"/>
                      <p:cNvPicPr/>
                      <p:nvPr/>
                    </p:nvPicPr>
                    <p:blipFill>
                      <a:blip r:embed="rId2"/>
                      <a:srcRect/>
                      <a:stretch>
                        <a:fillRect/>
                      </a:stretch>
                    </p:blipFill>
                    <p:spPr>
                      <a:xfrm>
                        <a:off x="2052638" y="973138"/>
                        <a:ext cx="322262" cy="381000"/>
                      </a:xfrm>
                      <a:prstGeom prst="rect">
                        <a:avLst/>
                      </a:prstGeom>
                      <a:noFill/>
                      <a:ln w="38100">
                        <a:miter/>
                      </a:ln>
                    </p:spPr>
                  </p:pic>
                </p:oleObj>
              </mc:Fallback>
            </mc:AlternateContent>
          </a:graphicData>
        </a:graphic>
      </p:graphicFrame>
      <p:graphicFrame>
        <p:nvGraphicFramePr>
          <p:cNvPr id="64515" name="Object 4"/>
          <p:cNvGraphicFramePr>
            <a:graphicFrameLocks noGrp="1" noChangeAspect="1"/>
          </p:cNvGraphicFramePr>
          <p:nvPr>
            <p:ph sz="quarter" idx="2"/>
          </p:nvPr>
        </p:nvGraphicFramePr>
        <p:xfrm>
          <a:off x="1304925" y="2719388"/>
          <a:ext cx="2405063" cy="496887"/>
        </p:xfrm>
        <a:graphic>
          <a:graphicData uri="http://schemas.openxmlformats.org/presentationml/2006/ole">
            <mc:AlternateContent xmlns:mc="http://schemas.openxmlformats.org/markup-compatibility/2006">
              <mc:Choice xmlns:v="urn:schemas-microsoft-com:vml" Requires="v">
                <p:oleObj spid="_x0000_s3151" name="" r:id="rId3" imgW="1104900" imgH="228600" progId="Equation.3">
                  <p:embed/>
                </p:oleObj>
              </mc:Choice>
              <mc:Fallback>
                <p:oleObj name="" r:id="rId3" imgW="1104900" imgH="228600" progId="Equation.3">
                  <p:embed/>
                  <p:pic>
                    <p:nvPicPr>
                      <p:cNvPr id="0" name="图片 3150"/>
                      <p:cNvPicPr/>
                      <p:nvPr/>
                    </p:nvPicPr>
                    <p:blipFill>
                      <a:blip r:embed="rId4"/>
                      <a:srcRect/>
                      <a:stretch>
                        <a:fillRect/>
                      </a:stretch>
                    </p:blipFill>
                    <p:spPr>
                      <a:xfrm>
                        <a:off x="1304925" y="2719388"/>
                        <a:ext cx="2405063" cy="496887"/>
                      </a:xfrm>
                      <a:prstGeom prst="rect">
                        <a:avLst/>
                      </a:prstGeom>
                      <a:noFill/>
                      <a:ln w="38100">
                        <a:miter/>
                      </a:ln>
                    </p:spPr>
                  </p:pic>
                </p:oleObj>
              </mc:Fallback>
            </mc:AlternateContent>
          </a:graphicData>
        </a:graphic>
      </p:graphicFrame>
      <p:graphicFrame>
        <p:nvGraphicFramePr>
          <p:cNvPr id="64516" name="Object 5"/>
          <p:cNvGraphicFramePr>
            <a:graphicFrameLocks noGrp="1" noChangeAspect="1"/>
          </p:cNvGraphicFramePr>
          <p:nvPr>
            <p:ph sz="quarter" idx="3"/>
          </p:nvPr>
        </p:nvGraphicFramePr>
        <p:xfrm>
          <a:off x="1316038" y="1773238"/>
          <a:ext cx="2522537" cy="509587"/>
        </p:xfrm>
        <a:graphic>
          <a:graphicData uri="http://schemas.openxmlformats.org/presentationml/2006/ole">
            <mc:AlternateContent xmlns:mc="http://schemas.openxmlformats.org/markup-compatibility/2006">
              <mc:Choice xmlns:v="urn:schemas-microsoft-com:vml" Requires="v">
                <p:oleObj spid="_x0000_s3149" name="" r:id="rId5" imgW="1130300" imgH="228600" progId="Equation.3">
                  <p:embed/>
                </p:oleObj>
              </mc:Choice>
              <mc:Fallback>
                <p:oleObj name="" r:id="rId5" imgW="1130300" imgH="228600" progId="Equation.3">
                  <p:embed/>
                  <p:pic>
                    <p:nvPicPr>
                      <p:cNvPr id="0" name="图片 3148"/>
                      <p:cNvPicPr/>
                      <p:nvPr/>
                    </p:nvPicPr>
                    <p:blipFill>
                      <a:blip r:embed="rId6"/>
                      <a:srcRect/>
                      <a:stretch>
                        <a:fillRect/>
                      </a:stretch>
                    </p:blipFill>
                    <p:spPr>
                      <a:xfrm>
                        <a:off x="1316038" y="1773238"/>
                        <a:ext cx="2522537" cy="509587"/>
                      </a:xfrm>
                      <a:prstGeom prst="rect">
                        <a:avLst/>
                      </a:prstGeom>
                      <a:noFill/>
                      <a:ln w="38100">
                        <a:miter/>
                      </a:ln>
                    </p:spPr>
                  </p:pic>
                </p:oleObj>
              </mc:Fallback>
            </mc:AlternateContent>
          </a:graphicData>
        </a:graphic>
      </p:graphicFrame>
      <p:sp>
        <p:nvSpPr>
          <p:cNvPr id="64517" name="Text Box 6"/>
          <p:cNvSpPr txBox="1"/>
          <p:nvPr/>
        </p:nvSpPr>
        <p:spPr>
          <a:xfrm>
            <a:off x="539750" y="933450"/>
            <a:ext cx="7705725"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The Y and     networks are said to be</a:t>
            </a:r>
            <a:r>
              <a:rPr lang="en-US" altLang="zh-CN" sz="2400" b="1" dirty="0">
                <a:solidFill>
                  <a:schemeClr val="bg2"/>
                </a:solidFill>
                <a:latin typeface="Times New Roman" panose="02020603050405020304" pitchFamily="18" charset="0"/>
                <a:cs typeface="Arial" panose="020B0604020202020204" pitchFamily="34" charset="0"/>
              </a:rPr>
              <a:t> </a:t>
            </a:r>
            <a:r>
              <a:rPr lang="en-US" altLang="zh-CN" sz="2400" b="1" dirty="0">
                <a:solidFill>
                  <a:srgbClr val="FF0000"/>
                </a:solidFill>
                <a:latin typeface="Times New Roman" panose="02020603050405020304" pitchFamily="18" charset="0"/>
                <a:cs typeface="Arial" panose="020B0604020202020204" pitchFamily="34" charset="0"/>
              </a:rPr>
              <a:t>balanced</a:t>
            </a:r>
            <a:r>
              <a:rPr lang="en-US" altLang="zh-CN" sz="2400" b="1" dirty="0">
                <a:solidFill>
                  <a:schemeClr val="bg2"/>
                </a:solidFill>
                <a:latin typeface="Times New Roman" panose="02020603050405020304" pitchFamily="18" charset="0"/>
                <a:cs typeface="Arial" panose="020B0604020202020204" pitchFamily="34" charset="0"/>
              </a:rPr>
              <a:t> </a:t>
            </a:r>
            <a:r>
              <a:rPr lang="en-US" altLang="zh-CN" sz="2400" b="1" dirty="0">
                <a:latin typeface="Times New Roman" panose="02020603050405020304" pitchFamily="18" charset="0"/>
                <a:cs typeface="Arial" panose="020B0604020202020204" pitchFamily="34" charset="0"/>
              </a:rPr>
              <a:t>when</a:t>
            </a:r>
            <a:r>
              <a:rPr lang="zh-CN" altLang="en-US" sz="2400" b="1" dirty="0">
                <a:latin typeface="Times New Roman" panose="02020603050405020304" pitchFamily="18" charset="0"/>
                <a:cs typeface="Arial" panose="020B0604020202020204" pitchFamily="34" charset="0"/>
              </a:rPr>
              <a:t>：</a:t>
            </a:r>
            <a:endParaRPr lang="en-US" altLang="zh-CN" sz="2400" b="1" dirty="0">
              <a:latin typeface="Times New Roman" panose="02020603050405020304" pitchFamily="18" charset="0"/>
              <a:ea typeface="Arial" panose="020B0604020202020204" pitchFamily="34" charset="0"/>
            </a:endParaRPr>
          </a:p>
        </p:txBody>
      </p:sp>
      <p:sp>
        <p:nvSpPr>
          <p:cNvPr id="64518"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grpSp>
        <p:nvGrpSpPr>
          <p:cNvPr id="64519" name="Group 9"/>
          <p:cNvGrpSpPr/>
          <p:nvPr/>
        </p:nvGrpSpPr>
        <p:grpSpPr>
          <a:xfrm>
            <a:off x="4968875" y="2492375"/>
            <a:ext cx="3167063" cy="2335213"/>
            <a:chOff x="1047" y="643"/>
            <a:chExt cx="3654" cy="3027"/>
          </a:xfrm>
        </p:grpSpPr>
        <p:sp>
          <p:nvSpPr>
            <p:cNvPr id="64521" name="Freeform 10"/>
            <p:cNvSpPr/>
            <p:nvPr/>
          </p:nvSpPr>
          <p:spPr>
            <a:xfrm>
              <a:off x="1238" y="971"/>
              <a:ext cx="1651" cy="836"/>
            </a:xfrm>
            <a:custGeom>
              <a:avLst/>
              <a:gdLst>
                <a:gd name="txL" fmla="*/ 0 w 1651"/>
                <a:gd name="txT" fmla="*/ 0 h 836"/>
                <a:gd name="txR" fmla="*/ 1651 w 1651"/>
                <a:gd name="txB" fmla="*/ 836 h 836"/>
              </a:gdLst>
              <a:ahLst/>
              <a:cxnLst>
                <a:cxn ang="0">
                  <a:pos x="1651" y="836"/>
                </a:cxn>
                <a:cxn ang="0">
                  <a:pos x="0" y="0"/>
                </a:cxn>
                <a:cxn ang="0">
                  <a:pos x="1651" y="836"/>
                </a:cxn>
                <a:cxn ang="0">
                  <a:pos x="1651" y="836"/>
                </a:cxn>
              </a:cxnLst>
              <a:rect l="txL" t="txT" r="txR" b="txB"/>
              <a:pathLst>
                <a:path w="1651" h="836">
                  <a:moveTo>
                    <a:pt x="1651" y="836"/>
                  </a:moveTo>
                  <a:lnTo>
                    <a:pt x="0" y="0"/>
                  </a:lnTo>
                  <a:lnTo>
                    <a:pt x="1651" y="83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22" name="Freeform 11"/>
            <p:cNvSpPr>
              <a:spLocks noEditPoints="1"/>
            </p:cNvSpPr>
            <p:nvPr/>
          </p:nvSpPr>
          <p:spPr>
            <a:xfrm>
              <a:off x="2889" y="977"/>
              <a:ext cx="1633" cy="2502"/>
            </a:xfrm>
            <a:custGeom>
              <a:avLst/>
              <a:gdLst>
                <a:gd name="txL" fmla="*/ 0 w 1633"/>
                <a:gd name="txT" fmla="*/ 0 h 2502"/>
                <a:gd name="txR" fmla="*/ 1633 w 1633"/>
                <a:gd name="txB" fmla="*/ 2502 h 2502"/>
              </a:gdLst>
              <a:ahLst/>
              <a:cxnLst>
                <a:cxn ang="0">
                  <a:pos x="1633" y="0"/>
                </a:cxn>
                <a:cxn ang="0">
                  <a:pos x="0" y="830"/>
                </a:cxn>
                <a:cxn ang="0">
                  <a:pos x="1633" y="0"/>
                </a:cxn>
                <a:cxn ang="0">
                  <a:pos x="1633" y="0"/>
                </a:cxn>
                <a:cxn ang="0">
                  <a:pos x="0" y="830"/>
                </a:cxn>
                <a:cxn ang="0">
                  <a:pos x="0" y="2502"/>
                </a:cxn>
                <a:cxn ang="0">
                  <a:pos x="0" y="830"/>
                </a:cxn>
                <a:cxn ang="0">
                  <a:pos x="0" y="830"/>
                </a:cxn>
              </a:cxnLst>
              <a:rect l="txL" t="txT" r="txR" b="txB"/>
              <a:pathLst>
                <a:path w="1633" h="2502">
                  <a:moveTo>
                    <a:pt x="1633" y="0"/>
                  </a:moveTo>
                  <a:lnTo>
                    <a:pt x="0" y="830"/>
                  </a:lnTo>
                  <a:lnTo>
                    <a:pt x="1633" y="0"/>
                  </a:lnTo>
                  <a:close/>
                  <a:moveTo>
                    <a:pt x="0" y="830"/>
                  </a:moveTo>
                  <a:lnTo>
                    <a:pt x="0" y="2502"/>
                  </a:lnTo>
                  <a:lnTo>
                    <a:pt x="0" y="8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23" name="Freeform 12"/>
            <p:cNvSpPr/>
            <p:nvPr/>
          </p:nvSpPr>
          <p:spPr>
            <a:xfrm>
              <a:off x="2895" y="971"/>
              <a:ext cx="1633" cy="2508"/>
            </a:xfrm>
            <a:custGeom>
              <a:avLst/>
              <a:gdLst>
                <a:gd name="txL" fmla="*/ 0 w 1633"/>
                <a:gd name="txT" fmla="*/ 0 h 2508"/>
                <a:gd name="txR" fmla="*/ 1633 w 1633"/>
                <a:gd name="txB" fmla="*/ 2508 h 2508"/>
              </a:gdLst>
              <a:ahLst/>
              <a:cxnLst>
                <a:cxn ang="0">
                  <a:pos x="1633" y="0"/>
                </a:cxn>
                <a:cxn ang="0">
                  <a:pos x="0" y="2508"/>
                </a:cxn>
                <a:cxn ang="0">
                  <a:pos x="1633" y="0"/>
                </a:cxn>
                <a:cxn ang="0">
                  <a:pos x="1633" y="0"/>
                </a:cxn>
              </a:cxnLst>
              <a:rect l="txL" t="txT" r="txR" b="txB"/>
              <a:pathLst>
                <a:path w="1633" h="2508">
                  <a:moveTo>
                    <a:pt x="1633" y="0"/>
                  </a:moveTo>
                  <a:lnTo>
                    <a:pt x="0" y="2508"/>
                  </a:lnTo>
                  <a:lnTo>
                    <a:pt x="1633"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24" name="Freeform 13"/>
            <p:cNvSpPr>
              <a:spLocks noEditPoints="1"/>
            </p:cNvSpPr>
            <p:nvPr/>
          </p:nvSpPr>
          <p:spPr>
            <a:xfrm>
              <a:off x="1238" y="971"/>
              <a:ext cx="1657" cy="2508"/>
            </a:xfrm>
            <a:custGeom>
              <a:avLst/>
              <a:gdLst>
                <a:gd name="txL" fmla="*/ 0 w 1657"/>
                <a:gd name="txT" fmla="*/ 0 h 2508"/>
                <a:gd name="txR" fmla="*/ 1657 w 1657"/>
                <a:gd name="txB" fmla="*/ 2508 h 2508"/>
              </a:gdLst>
              <a:ahLst/>
              <a:cxnLst>
                <a:cxn ang="0">
                  <a:pos x="1657" y="2508"/>
                </a:cxn>
                <a:cxn ang="0">
                  <a:pos x="0" y="0"/>
                </a:cxn>
                <a:cxn ang="0">
                  <a:pos x="1657" y="2508"/>
                </a:cxn>
                <a:cxn ang="0">
                  <a:pos x="1657" y="2508"/>
                </a:cxn>
                <a:cxn ang="0">
                  <a:pos x="1657" y="2508"/>
                </a:cxn>
                <a:cxn ang="0">
                  <a:pos x="1657" y="2508"/>
                </a:cxn>
                <a:cxn ang="0">
                  <a:pos x="1657" y="2508"/>
                </a:cxn>
              </a:cxnLst>
              <a:rect l="txL" t="txT" r="txR" b="txB"/>
              <a:pathLst>
                <a:path w="1657" h="2508">
                  <a:moveTo>
                    <a:pt x="1657" y="2508"/>
                  </a:moveTo>
                  <a:lnTo>
                    <a:pt x="0" y="0"/>
                  </a:lnTo>
                  <a:lnTo>
                    <a:pt x="1657" y="2508"/>
                  </a:lnTo>
                  <a:close/>
                  <a:moveTo>
                    <a:pt x="1657" y="2508"/>
                  </a:moveTo>
                  <a:lnTo>
                    <a:pt x="1657" y="250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25" name="Freeform 14"/>
            <p:cNvSpPr>
              <a:spLocks noEditPoints="1"/>
            </p:cNvSpPr>
            <p:nvPr/>
          </p:nvSpPr>
          <p:spPr>
            <a:xfrm>
              <a:off x="1238" y="971"/>
              <a:ext cx="3290" cy="1"/>
            </a:xfrm>
            <a:custGeom>
              <a:avLst/>
              <a:gdLst>
                <a:gd name="txL" fmla="*/ 0 w 3290"/>
                <a:gd name="txT" fmla="*/ 0 h 1"/>
                <a:gd name="txR" fmla="*/ 3290 w 3290"/>
                <a:gd name="txB" fmla="*/ 1 h 1"/>
              </a:gdLst>
              <a:ahLst/>
              <a:cxnLst>
                <a:cxn ang="0">
                  <a:pos x="0" y="0"/>
                </a:cxn>
                <a:cxn ang="0">
                  <a:pos x="3290" y="0"/>
                </a:cxn>
                <a:cxn ang="0">
                  <a:pos x="0" y="0"/>
                </a:cxn>
                <a:cxn ang="0">
                  <a:pos x="0" y="0"/>
                </a:cxn>
                <a:cxn ang="0">
                  <a:pos x="0" y="0"/>
                </a:cxn>
                <a:cxn ang="0">
                  <a:pos x="0" y="0"/>
                </a:cxn>
                <a:cxn ang="0">
                  <a:pos x="0" y="0"/>
                </a:cxn>
              </a:cxnLst>
              <a:rect l="txL" t="txT" r="txR" b="txB"/>
              <a:pathLst>
                <a:path w="3290" h="1">
                  <a:moveTo>
                    <a:pt x="0" y="0"/>
                  </a:moveTo>
                  <a:lnTo>
                    <a:pt x="3290" y="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26" name="Freeform 15"/>
            <p:cNvSpPr/>
            <p:nvPr/>
          </p:nvSpPr>
          <p:spPr>
            <a:xfrm>
              <a:off x="4528" y="971"/>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27" name="Freeform 16"/>
            <p:cNvSpPr>
              <a:spLocks noEditPoints="1"/>
            </p:cNvSpPr>
            <p:nvPr/>
          </p:nvSpPr>
          <p:spPr>
            <a:xfrm>
              <a:off x="3038" y="2560"/>
              <a:ext cx="120" cy="125"/>
            </a:xfrm>
            <a:custGeom>
              <a:avLst/>
              <a:gdLst>
                <a:gd name="txL" fmla="*/ 0 w 120"/>
                <a:gd name="txT" fmla="*/ 0 h 125"/>
                <a:gd name="txR" fmla="*/ 120 w 120"/>
                <a:gd name="txB" fmla="*/ 125 h 125"/>
              </a:gdLst>
              <a:ahLst/>
              <a:cxnLst>
                <a:cxn ang="0">
                  <a:pos x="114" y="119"/>
                </a:cxn>
                <a:cxn ang="0">
                  <a:pos x="102" y="113"/>
                </a:cxn>
                <a:cxn ang="0">
                  <a:pos x="96" y="107"/>
                </a:cxn>
                <a:cxn ang="0">
                  <a:pos x="78" y="59"/>
                </a:cxn>
                <a:cxn ang="0">
                  <a:pos x="96" y="53"/>
                </a:cxn>
                <a:cxn ang="0">
                  <a:pos x="108" y="47"/>
                </a:cxn>
                <a:cxn ang="0">
                  <a:pos x="120" y="23"/>
                </a:cxn>
                <a:cxn ang="0">
                  <a:pos x="114" y="12"/>
                </a:cxn>
                <a:cxn ang="0">
                  <a:pos x="102" y="6"/>
                </a:cxn>
                <a:cxn ang="0">
                  <a:pos x="90" y="0"/>
                </a:cxn>
                <a:cxn ang="0">
                  <a:pos x="78" y="0"/>
                </a:cxn>
                <a:cxn ang="0">
                  <a:pos x="30" y="0"/>
                </a:cxn>
                <a:cxn ang="0">
                  <a:pos x="30" y="0"/>
                </a:cxn>
                <a:cxn ang="0">
                  <a:pos x="42" y="0"/>
                </a:cxn>
                <a:cxn ang="0">
                  <a:pos x="42" y="12"/>
                </a:cxn>
                <a:cxn ang="0">
                  <a:pos x="42" y="17"/>
                </a:cxn>
                <a:cxn ang="0">
                  <a:pos x="42" y="17"/>
                </a:cxn>
                <a:cxn ang="0">
                  <a:pos x="18" y="107"/>
                </a:cxn>
                <a:cxn ang="0">
                  <a:pos x="12" y="119"/>
                </a:cxn>
                <a:cxn ang="0">
                  <a:pos x="0" y="119"/>
                </a:cxn>
                <a:cxn ang="0">
                  <a:pos x="0" y="125"/>
                </a:cxn>
                <a:cxn ang="0">
                  <a:pos x="48" y="125"/>
                </a:cxn>
                <a:cxn ang="0">
                  <a:pos x="48" y="119"/>
                </a:cxn>
                <a:cxn ang="0">
                  <a:pos x="36" y="119"/>
                </a:cxn>
                <a:cxn ang="0">
                  <a:pos x="36" y="113"/>
                </a:cxn>
                <a:cxn ang="0">
                  <a:pos x="36" y="107"/>
                </a:cxn>
                <a:cxn ang="0">
                  <a:pos x="36" y="101"/>
                </a:cxn>
                <a:cxn ang="0">
                  <a:pos x="48" y="59"/>
                </a:cxn>
                <a:cxn ang="0">
                  <a:pos x="60" y="59"/>
                </a:cxn>
                <a:cxn ang="0">
                  <a:pos x="84" y="125"/>
                </a:cxn>
                <a:cxn ang="0">
                  <a:pos x="114" y="125"/>
                </a:cxn>
                <a:cxn ang="0">
                  <a:pos x="114" y="119"/>
                </a:cxn>
                <a:cxn ang="0">
                  <a:pos x="66" y="6"/>
                </a:cxn>
                <a:cxn ang="0">
                  <a:pos x="66" y="6"/>
                </a:cxn>
                <a:cxn ang="0">
                  <a:pos x="72" y="6"/>
                </a:cxn>
                <a:cxn ang="0">
                  <a:pos x="90" y="6"/>
                </a:cxn>
                <a:cxn ang="0">
                  <a:pos x="96" y="12"/>
                </a:cxn>
                <a:cxn ang="0">
                  <a:pos x="96" y="23"/>
                </a:cxn>
                <a:cxn ang="0">
                  <a:pos x="90" y="41"/>
                </a:cxn>
                <a:cxn ang="0">
                  <a:pos x="78" y="53"/>
                </a:cxn>
                <a:cxn ang="0">
                  <a:pos x="60" y="53"/>
                </a:cxn>
                <a:cxn ang="0">
                  <a:pos x="60" y="53"/>
                </a:cxn>
                <a:cxn ang="0">
                  <a:pos x="54" y="53"/>
                </a:cxn>
                <a:cxn ang="0">
                  <a:pos x="66" y="6"/>
                </a:cxn>
              </a:cxnLst>
              <a:rect l="txL" t="txT" r="txR" b="txB"/>
              <a:pathLst>
                <a:path w="120" h="125">
                  <a:moveTo>
                    <a:pt x="114" y="119"/>
                  </a:moveTo>
                  <a:lnTo>
                    <a:pt x="102" y="113"/>
                  </a:lnTo>
                  <a:lnTo>
                    <a:pt x="96" y="107"/>
                  </a:lnTo>
                  <a:lnTo>
                    <a:pt x="78" y="59"/>
                  </a:lnTo>
                  <a:lnTo>
                    <a:pt x="96" y="53"/>
                  </a:lnTo>
                  <a:lnTo>
                    <a:pt x="108" y="47"/>
                  </a:lnTo>
                  <a:lnTo>
                    <a:pt x="120" y="23"/>
                  </a:lnTo>
                  <a:lnTo>
                    <a:pt x="114" y="12"/>
                  </a:lnTo>
                  <a:lnTo>
                    <a:pt x="102" y="6"/>
                  </a:lnTo>
                  <a:lnTo>
                    <a:pt x="90" y="0"/>
                  </a:lnTo>
                  <a:lnTo>
                    <a:pt x="78" y="0"/>
                  </a:lnTo>
                  <a:lnTo>
                    <a:pt x="30" y="0"/>
                  </a:lnTo>
                  <a:lnTo>
                    <a:pt x="42" y="0"/>
                  </a:lnTo>
                  <a:lnTo>
                    <a:pt x="42" y="12"/>
                  </a:lnTo>
                  <a:lnTo>
                    <a:pt x="42" y="17"/>
                  </a:lnTo>
                  <a:lnTo>
                    <a:pt x="18" y="107"/>
                  </a:lnTo>
                  <a:lnTo>
                    <a:pt x="12" y="119"/>
                  </a:lnTo>
                  <a:lnTo>
                    <a:pt x="0" y="119"/>
                  </a:lnTo>
                  <a:lnTo>
                    <a:pt x="0" y="125"/>
                  </a:lnTo>
                  <a:lnTo>
                    <a:pt x="48" y="125"/>
                  </a:lnTo>
                  <a:lnTo>
                    <a:pt x="48" y="119"/>
                  </a:lnTo>
                  <a:lnTo>
                    <a:pt x="36" y="119"/>
                  </a:lnTo>
                  <a:lnTo>
                    <a:pt x="36" y="113"/>
                  </a:lnTo>
                  <a:lnTo>
                    <a:pt x="36" y="107"/>
                  </a:lnTo>
                  <a:lnTo>
                    <a:pt x="36" y="101"/>
                  </a:lnTo>
                  <a:lnTo>
                    <a:pt x="48" y="59"/>
                  </a:lnTo>
                  <a:lnTo>
                    <a:pt x="60" y="59"/>
                  </a:lnTo>
                  <a:lnTo>
                    <a:pt x="84" y="125"/>
                  </a:lnTo>
                  <a:lnTo>
                    <a:pt x="114" y="125"/>
                  </a:lnTo>
                  <a:lnTo>
                    <a:pt x="114" y="119"/>
                  </a:lnTo>
                  <a:close/>
                  <a:moveTo>
                    <a:pt x="66" y="6"/>
                  </a:moveTo>
                  <a:lnTo>
                    <a:pt x="66" y="6"/>
                  </a:lnTo>
                  <a:lnTo>
                    <a:pt x="72" y="6"/>
                  </a:lnTo>
                  <a:lnTo>
                    <a:pt x="90" y="6"/>
                  </a:lnTo>
                  <a:lnTo>
                    <a:pt x="96" y="12"/>
                  </a:lnTo>
                  <a:lnTo>
                    <a:pt x="96" y="23"/>
                  </a:lnTo>
                  <a:lnTo>
                    <a:pt x="90" y="41"/>
                  </a:lnTo>
                  <a:lnTo>
                    <a:pt x="78" y="53"/>
                  </a:lnTo>
                  <a:lnTo>
                    <a:pt x="60" y="53"/>
                  </a:lnTo>
                  <a:lnTo>
                    <a:pt x="54" y="53"/>
                  </a:lnTo>
                  <a:lnTo>
                    <a:pt x="66"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28" name="Freeform 17"/>
            <p:cNvSpPr/>
            <p:nvPr/>
          </p:nvSpPr>
          <p:spPr>
            <a:xfrm>
              <a:off x="3164" y="2631"/>
              <a:ext cx="60" cy="102"/>
            </a:xfrm>
            <a:custGeom>
              <a:avLst/>
              <a:gdLst>
                <a:gd name="txL" fmla="*/ 0 w 60"/>
                <a:gd name="txT" fmla="*/ 0 h 102"/>
                <a:gd name="txR" fmla="*/ 60 w 60"/>
                <a:gd name="txB" fmla="*/ 102 h 102"/>
              </a:gdLst>
              <a:ahLst/>
              <a:cxnLst>
                <a:cxn ang="0">
                  <a:pos x="18" y="54"/>
                </a:cxn>
                <a:cxn ang="0">
                  <a:pos x="30" y="54"/>
                </a:cxn>
                <a:cxn ang="0">
                  <a:pos x="36" y="54"/>
                </a:cxn>
                <a:cxn ang="0">
                  <a:pos x="48" y="66"/>
                </a:cxn>
                <a:cxn ang="0">
                  <a:pos x="48" y="72"/>
                </a:cxn>
                <a:cxn ang="0">
                  <a:pos x="42" y="90"/>
                </a:cxn>
                <a:cxn ang="0">
                  <a:pos x="30" y="96"/>
                </a:cxn>
                <a:cxn ang="0">
                  <a:pos x="18" y="96"/>
                </a:cxn>
                <a:cxn ang="0">
                  <a:pos x="6" y="90"/>
                </a:cxn>
                <a:cxn ang="0">
                  <a:pos x="6" y="90"/>
                </a:cxn>
                <a:cxn ang="0">
                  <a:pos x="0" y="96"/>
                </a:cxn>
                <a:cxn ang="0">
                  <a:pos x="6" y="102"/>
                </a:cxn>
                <a:cxn ang="0">
                  <a:pos x="18" y="102"/>
                </a:cxn>
                <a:cxn ang="0">
                  <a:pos x="48" y="96"/>
                </a:cxn>
                <a:cxn ang="0">
                  <a:pos x="60" y="84"/>
                </a:cxn>
                <a:cxn ang="0">
                  <a:pos x="60" y="66"/>
                </a:cxn>
                <a:cxn ang="0">
                  <a:pos x="54" y="48"/>
                </a:cxn>
                <a:cxn ang="0">
                  <a:pos x="42" y="42"/>
                </a:cxn>
                <a:cxn ang="0">
                  <a:pos x="48" y="36"/>
                </a:cxn>
                <a:cxn ang="0">
                  <a:pos x="54" y="24"/>
                </a:cxn>
                <a:cxn ang="0">
                  <a:pos x="48" y="12"/>
                </a:cxn>
                <a:cxn ang="0">
                  <a:pos x="42" y="6"/>
                </a:cxn>
                <a:cxn ang="0">
                  <a:pos x="30" y="0"/>
                </a:cxn>
                <a:cxn ang="0">
                  <a:pos x="12" y="6"/>
                </a:cxn>
                <a:cxn ang="0">
                  <a:pos x="0" y="24"/>
                </a:cxn>
                <a:cxn ang="0">
                  <a:pos x="6" y="24"/>
                </a:cxn>
                <a:cxn ang="0">
                  <a:pos x="12" y="18"/>
                </a:cxn>
                <a:cxn ang="0">
                  <a:pos x="24" y="12"/>
                </a:cxn>
                <a:cxn ang="0">
                  <a:pos x="36" y="18"/>
                </a:cxn>
                <a:cxn ang="0">
                  <a:pos x="42" y="24"/>
                </a:cxn>
                <a:cxn ang="0">
                  <a:pos x="36" y="42"/>
                </a:cxn>
                <a:cxn ang="0">
                  <a:pos x="18" y="48"/>
                </a:cxn>
                <a:cxn ang="0">
                  <a:pos x="18" y="54"/>
                </a:cxn>
              </a:cxnLst>
              <a:rect l="txL" t="txT" r="txR" b="txB"/>
              <a:pathLst>
                <a:path w="60" h="102">
                  <a:moveTo>
                    <a:pt x="18" y="54"/>
                  </a:moveTo>
                  <a:lnTo>
                    <a:pt x="30" y="54"/>
                  </a:lnTo>
                  <a:lnTo>
                    <a:pt x="36" y="54"/>
                  </a:lnTo>
                  <a:lnTo>
                    <a:pt x="48" y="66"/>
                  </a:lnTo>
                  <a:lnTo>
                    <a:pt x="48" y="72"/>
                  </a:lnTo>
                  <a:lnTo>
                    <a:pt x="42" y="90"/>
                  </a:lnTo>
                  <a:lnTo>
                    <a:pt x="30" y="96"/>
                  </a:lnTo>
                  <a:lnTo>
                    <a:pt x="18" y="96"/>
                  </a:lnTo>
                  <a:lnTo>
                    <a:pt x="6" y="90"/>
                  </a:lnTo>
                  <a:lnTo>
                    <a:pt x="0" y="96"/>
                  </a:lnTo>
                  <a:lnTo>
                    <a:pt x="6" y="102"/>
                  </a:lnTo>
                  <a:lnTo>
                    <a:pt x="18" y="102"/>
                  </a:lnTo>
                  <a:lnTo>
                    <a:pt x="48" y="96"/>
                  </a:lnTo>
                  <a:lnTo>
                    <a:pt x="60" y="84"/>
                  </a:lnTo>
                  <a:lnTo>
                    <a:pt x="60" y="66"/>
                  </a:lnTo>
                  <a:lnTo>
                    <a:pt x="54" y="48"/>
                  </a:lnTo>
                  <a:lnTo>
                    <a:pt x="42" y="42"/>
                  </a:lnTo>
                  <a:lnTo>
                    <a:pt x="48" y="36"/>
                  </a:lnTo>
                  <a:lnTo>
                    <a:pt x="54" y="24"/>
                  </a:lnTo>
                  <a:lnTo>
                    <a:pt x="48" y="12"/>
                  </a:lnTo>
                  <a:lnTo>
                    <a:pt x="42" y="6"/>
                  </a:lnTo>
                  <a:lnTo>
                    <a:pt x="30" y="0"/>
                  </a:lnTo>
                  <a:lnTo>
                    <a:pt x="12" y="6"/>
                  </a:lnTo>
                  <a:lnTo>
                    <a:pt x="0" y="24"/>
                  </a:lnTo>
                  <a:lnTo>
                    <a:pt x="6" y="24"/>
                  </a:lnTo>
                  <a:lnTo>
                    <a:pt x="12" y="18"/>
                  </a:lnTo>
                  <a:lnTo>
                    <a:pt x="24" y="12"/>
                  </a:lnTo>
                  <a:lnTo>
                    <a:pt x="36" y="18"/>
                  </a:lnTo>
                  <a:lnTo>
                    <a:pt x="42" y="24"/>
                  </a:lnTo>
                  <a:lnTo>
                    <a:pt x="36" y="42"/>
                  </a:lnTo>
                  <a:lnTo>
                    <a:pt x="18" y="48"/>
                  </a:lnTo>
                  <a:lnTo>
                    <a:pt x="18" y="5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29" name="Freeform 18"/>
            <p:cNvSpPr>
              <a:spLocks noEditPoints="1"/>
            </p:cNvSpPr>
            <p:nvPr/>
          </p:nvSpPr>
          <p:spPr>
            <a:xfrm>
              <a:off x="3888" y="2195"/>
              <a:ext cx="113" cy="126"/>
            </a:xfrm>
            <a:custGeom>
              <a:avLst/>
              <a:gdLst>
                <a:gd name="txL" fmla="*/ 0 w 113"/>
                <a:gd name="txT" fmla="*/ 0 h 126"/>
                <a:gd name="txR" fmla="*/ 113 w 113"/>
                <a:gd name="txB" fmla="*/ 126 h 126"/>
              </a:gdLst>
              <a:ahLst/>
              <a:cxnLst>
                <a:cxn ang="0">
                  <a:pos x="113" y="120"/>
                </a:cxn>
                <a:cxn ang="0">
                  <a:pos x="101" y="114"/>
                </a:cxn>
                <a:cxn ang="0">
                  <a:pos x="95" y="108"/>
                </a:cxn>
                <a:cxn ang="0">
                  <a:pos x="77" y="60"/>
                </a:cxn>
                <a:cxn ang="0">
                  <a:pos x="95" y="54"/>
                </a:cxn>
                <a:cxn ang="0">
                  <a:pos x="107" y="48"/>
                </a:cxn>
                <a:cxn ang="0">
                  <a:pos x="113" y="24"/>
                </a:cxn>
                <a:cxn ang="0">
                  <a:pos x="107" y="12"/>
                </a:cxn>
                <a:cxn ang="0">
                  <a:pos x="95" y="6"/>
                </a:cxn>
                <a:cxn ang="0">
                  <a:pos x="83" y="0"/>
                </a:cxn>
                <a:cxn ang="0">
                  <a:pos x="77" y="0"/>
                </a:cxn>
                <a:cxn ang="0">
                  <a:pos x="30" y="0"/>
                </a:cxn>
                <a:cxn ang="0">
                  <a:pos x="30" y="0"/>
                </a:cxn>
                <a:cxn ang="0">
                  <a:pos x="36" y="0"/>
                </a:cxn>
                <a:cxn ang="0">
                  <a:pos x="42" y="12"/>
                </a:cxn>
                <a:cxn ang="0">
                  <a:pos x="42" y="18"/>
                </a:cxn>
                <a:cxn ang="0">
                  <a:pos x="42" y="24"/>
                </a:cxn>
                <a:cxn ang="0">
                  <a:pos x="18" y="108"/>
                </a:cxn>
                <a:cxn ang="0">
                  <a:pos x="12" y="120"/>
                </a:cxn>
                <a:cxn ang="0">
                  <a:pos x="0" y="120"/>
                </a:cxn>
                <a:cxn ang="0">
                  <a:pos x="0" y="126"/>
                </a:cxn>
                <a:cxn ang="0">
                  <a:pos x="48" y="126"/>
                </a:cxn>
                <a:cxn ang="0">
                  <a:pos x="48" y="120"/>
                </a:cxn>
                <a:cxn ang="0">
                  <a:pos x="36" y="120"/>
                </a:cxn>
                <a:cxn ang="0">
                  <a:pos x="36" y="114"/>
                </a:cxn>
                <a:cxn ang="0">
                  <a:pos x="36" y="108"/>
                </a:cxn>
                <a:cxn ang="0">
                  <a:pos x="36" y="102"/>
                </a:cxn>
                <a:cxn ang="0">
                  <a:pos x="48" y="60"/>
                </a:cxn>
                <a:cxn ang="0">
                  <a:pos x="60" y="60"/>
                </a:cxn>
                <a:cxn ang="0">
                  <a:pos x="83" y="126"/>
                </a:cxn>
                <a:cxn ang="0">
                  <a:pos x="113" y="126"/>
                </a:cxn>
                <a:cxn ang="0">
                  <a:pos x="113" y="120"/>
                </a:cxn>
                <a:cxn ang="0">
                  <a:pos x="60" y="6"/>
                </a:cxn>
                <a:cxn ang="0">
                  <a:pos x="65" y="6"/>
                </a:cxn>
                <a:cxn ang="0">
                  <a:pos x="71" y="6"/>
                </a:cxn>
                <a:cxn ang="0">
                  <a:pos x="89" y="6"/>
                </a:cxn>
                <a:cxn ang="0">
                  <a:pos x="95" y="12"/>
                </a:cxn>
                <a:cxn ang="0">
                  <a:pos x="95" y="24"/>
                </a:cxn>
                <a:cxn ang="0">
                  <a:pos x="89" y="48"/>
                </a:cxn>
                <a:cxn ang="0">
                  <a:pos x="77" y="54"/>
                </a:cxn>
                <a:cxn ang="0">
                  <a:pos x="60" y="54"/>
                </a:cxn>
                <a:cxn ang="0">
                  <a:pos x="54" y="54"/>
                </a:cxn>
                <a:cxn ang="0">
                  <a:pos x="48" y="54"/>
                </a:cxn>
                <a:cxn ang="0">
                  <a:pos x="60" y="6"/>
                </a:cxn>
              </a:cxnLst>
              <a:rect l="txL" t="txT" r="txR" b="txB"/>
              <a:pathLst>
                <a:path w="113" h="126">
                  <a:moveTo>
                    <a:pt x="113" y="120"/>
                  </a:moveTo>
                  <a:lnTo>
                    <a:pt x="101" y="114"/>
                  </a:lnTo>
                  <a:lnTo>
                    <a:pt x="95" y="108"/>
                  </a:lnTo>
                  <a:lnTo>
                    <a:pt x="77" y="60"/>
                  </a:lnTo>
                  <a:lnTo>
                    <a:pt x="95" y="54"/>
                  </a:lnTo>
                  <a:lnTo>
                    <a:pt x="107" y="48"/>
                  </a:lnTo>
                  <a:lnTo>
                    <a:pt x="113" y="24"/>
                  </a:lnTo>
                  <a:lnTo>
                    <a:pt x="107" y="12"/>
                  </a:lnTo>
                  <a:lnTo>
                    <a:pt x="95" y="6"/>
                  </a:lnTo>
                  <a:lnTo>
                    <a:pt x="83" y="0"/>
                  </a:lnTo>
                  <a:lnTo>
                    <a:pt x="77" y="0"/>
                  </a:lnTo>
                  <a:lnTo>
                    <a:pt x="30" y="0"/>
                  </a:lnTo>
                  <a:lnTo>
                    <a:pt x="36" y="0"/>
                  </a:lnTo>
                  <a:lnTo>
                    <a:pt x="42" y="12"/>
                  </a:lnTo>
                  <a:lnTo>
                    <a:pt x="42" y="18"/>
                  </a:lnTo>
                  <a:lnTo>
                    <a:pt x="42" y="24"/>
                  </a:lnTo>
                  <a:lnTo>
                    <a:pt x="18" y="108"/>
                  </a:lnTo>
                  <a:lnTo>
                    <a:pt x="12" y="120"/>
                  </a:lnTo>
                  <a:lnTo>
                    <a:pt x="0" y="120"/>
                  </a:lnTo>
                  <a:lnTo>
                    <a:pt x="0" y="126"/>
                  </a:lnTo>
                  <a:lnTo>
                    <a:pt x="48" y="126"/>
                  </a:lnTo>
                  <a:lnTo>
                    <a:pt x="48" y="120"/>
                  </a:lnTo>
                  <a:lnTo>
                    <a:pt x="36" y="120"/>
                  </a:lnTo>
                  <a:lnTo>
                    <a:pt x="36" y="114"/>
                  </a:lnTo>
                  <a:lnTo>
                    <a:pt x="36" y="108"/>
                  </a:lnTo>
                  <a:lnTo>
                    <a:pt x="36" y="102"/>
                  </a:lnTo>
                  <a:lnTo>
                    <a:pt x="48" y="60"/>
                  </a:lnTo>
                  <a:lnTo>
                    <a:pt x="60" y="60"/>
                  </a:lnTo>
                  <a:lnTo>
                    <a:pt x="83" y="126"/>
                  </a:lnTo>
                  <a:lnTo>
                    <a:pt x="113" y="126"/>
                  </a:lnTo>
                  <a:lnTo>
                    <a:pt x="113" y="120"/>
                  </a:lnTo>
                  <a:close/>
                  <a:moveTo>
                    <a:pt x="60" y="6"/>
                  </a:moveTo>
                  <a:lnTo>
                    <a:pt x="65" y="6"/>
                  </a:lnTo>
                  <a:lnTo>
                    <a:pt x="71" y="6"/>
                  </a:lnTo>
                  <a:lnTo>
                    <a:pt x="89" y="6"/>
                  </a:lnTo>
                  <a:lnTo>
                    <a:pt x="95" y="12"/>
                  </a:lnTo>
                  <a:lnTo>
                    <a:pt x="95" y="24"/>
                  </a:lnTo>
                  <a:lnTo>
                    <a:pt x="89" y="48"/>
                  </a:lnTo>
                  <a:lnTo>
                    <a:pt x="77" y="54"/>
                  </a:lnTo>
                  <a:lnTo>
                    <a:pt x="60" y="54"/>
                  </a:lnTo>
                  <a:lnTo>
                    <a:pt x="54" y="54"/>
                  </a:lnTo>
                  <a:lnTo>
                    <a:pt x="48" y="54"/>
                  </a:lnTo>
                  <a:lnTo>
                    <a:pt x="6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30" name="Freeform 19"/>
            <p:cNvSpPr>
              <a:spLocks noEditPoints="1"/>
            </p:cNvSpPr>
            <p:nvPr/>
          </p:nvSpPr>
          <p:spPr>
            <a:xfrm>
              <a:off x="4013" y="2303"/>
              <a:ext cx="66" cy="65"/>
            </a:xfrm>
            <a:custGeom>
              <a:avLst/>
              <a:gdLst>
                <a:gd name="txL" fmla="*/ 0 w 66"/>
                <a:gd name="txT" fmla="*/ 0 h 65"/>
                <a:gd name="txR" fmla="*/ 66 w 66"/>
                <a:gd name="txB" fmla="*/ 65 h 65"/>
              </a:gdLst>
              <a:ahLst/>
              <a:cxnLst>
                <a:cxn ang="0">
                  <a:pos x="60" y="48"/>
                </a:cxn>
                <a:cxn ang="0">
                  <a:pos x="54" y="54"/>
                </a:cxn>
                <a:cxn ang="0">
                  <a:pos x="48" y="60"/>
                </a:cxn>
                <a:cxn ang="0">
                  <a:pos x="48" y="60"/>
                </a:cxn>
                <a:cxn ang="0">
                  <a:pos x="48" y="54"/>
                </a:cxn>
                <a:cxn ang="0">
                  <a:pos x="48" y="48"/>
                </a:cxn>
                <a:cxn ang="0">
                  <a:pos x="54" y="30"/>
                </a:cxn>
                <a:cxn ang="0">
                  <a:pos x="60" y="6"/>
                </a:cxn>
                <a:cxn ang="0">
                  <a:pos x="60" y="0"/>
                </a:cxn>
                <a:cxn ang="0">
                  <a:pos x="60" y="0"/>
                </a:cxn>
                <a:cxn ang="0">
                  <a:pos x="54" y="0"/>
                </a:cxn>
                <a:cxn ang="0">
                  <a:pos x="54" y="0"/>
                </a:cxn>
                <a:cxn ang="0">
                  <a:pos x="48" y="6"/>
                </a:cxn>
                <a:cxn ang="0">
                  <a:pos x="48" y="6"/>
                </a:cxn>
                <a:cxn ang="0">
                  <a:pos x="42" y="6"/>
                </a:cxn>
                <a:cxn ang="0">
                  <a:pos x="36" y="0"/>
                </a:cxn>
                <a:cxn ang="0">
                  <a:pos x="24" y="6"/>
                </a:cxn>
                <a:cxn ang="0">
                  <a:pos x="12" y="18"/>
                </a:cxn>
                <a:cxn ang="0">
                  <a:pos x="6" y="36"/>
                </a:cxn>
                <a:cxn ang="0">
                  <a:pos x="0" y="48"/>
                </a:cxn>
                <a:cxn ang="0">
                  <a:pos x="0" y="60"/>
                </a:cxn>
                <a:cxn ang="0">
                  <a:pos x="12" y="65"/>
                </a:cxn>
                <a:cxn ang="0">
                  <a:pos x="24" y="60"/>
                </a:cxn>
                <a:cxn ang="0">
                  <a:pos x="42" y="42"/>
                </a:cxn>
                <a:cxn ang="0">
                  <a:pos x="42" y="42"/>
                </a:cxn>
                <a:cxn ang="0">
                  <a:pos x="36" y="54"/>
                </a:cxn>
                <a:cxn ang="0">
                  <a:pos x="36" y="60"/>
                </a:cxn>
                <a:cxn ang="0">
                  <a:pos x="36" y="65"/>
                </a:cxn>
                <a:cxn ang="0">
                  <a:pos x="42" y="65"/>
                </a:cxn>
                <a:cxn ang="0">
                  <a:pos x="54" y="60"/>
                </a:cxn>
                <a:cxn ang="0">
                  <a:pos x="66" y="48"/>
                </a:cxn>
                <a:cxn ang="0">
                  <a:pos x="60" y="48"/>
                </a:cxn>
                <a:cxn ang="0">
                  <a:pos x="12" y="48"/>
                </a:cxn>
                <a:cxn ang="0">
                  <a:pos x="12" y="36"/>
                </a:cxn>
                <a:cxn ang="0">
                  <a:pos x="18" y="24"/>
                </a:cxn>
                <a:cxn ang="0">
                  <a:pos x="30" y="12"/>
                </a:cxn>
                <a:cxn ang="0">
                  <a:pos x="42" y="6"/>
                </a:cxn>
                <a:cxn ang="0">
                  <a:pos x="48" y="6"/>
                </a:cxn>
                <a:cxn ang="0">
                  <a:pos x="48" y="12"/>
                </a:cxn>
                <a:cxn ang="0">
                  <a:pos x="42" y="42"/>
                </a:cxn>
                <a:cxn ang="0">
                  <a:pos x="30" y="54"/>
                </a:cxn>
                <a:cxn ang="0">
                  <a:pos x="18" y="60"/>
                </a:cxn>
                <a:cxn ang="0">
                  <a:pos x="12" y="54"/>
                </a:cxn>
                <a:cxn ang="0">
                  <a:pos x="12" y="48"/>
                </a:cxn>
                <a:cxn ang="0">
                  <a:pos x="12" y="48"/>
                </a:cxn>
              </a:cxnLst>
              <a:rect l="txL" t="txT" r="txR" b="txB"/>
              <a:pathLst>
                <a:path w="66" h="65">
                  <a:moveTo>
                    <a:pt x="60" y="48"/>
                  </a:moveTo>
                  <a:lnTo>
                    <a:pt x="54" y="54"/>
                  </a:lnTo>
                  <a:lnTo>
                    <a:pt x="48" y="60"/>
                  </a:lnTo>
                  <a:lnTo>
                    <a:pt x="48" y="54"/>
                  </a:lnTo>
                  <a:lnTo>
                    <a:pt x="48" y="48"/>
                  </a:lnTo>
                  <a:lnTo>
                    <a:pt x="54" y="30"/>
                  </a:lnTo>
                  <a:lnTo>
                    <a:pt x="60" y="6"/>
                  </a:lnTo>
                  <a:lnTo>
                    <a:pt x="60" y="0"/>
                  </a:lnTo>
                  <a:lnTo>
                    <a:pt x="54" y="0"/>
                  </a:lnTo>
                  <a:lnTo>
                    <a:pt x="48" y="6"/>
                  </a:lnTo>
                  <a:lnTo>
                    <a:pt x="42" y="6"/>
                  </a:lnTo>
                  <a:lnTo>
                    <a:pt x="36" y="0"/>
                  </a:lnTo>
                  <a:lnTo>
                    <a:pt x="24" y="6"/>
                  </a:lnTo>
                  <a:lnTo>
                    <a:pt x="12" y="18"/>
                  </a:lnTo>
                  <a:lnTo>
                    <a:pt x="6" y="36"/>
                  </a:lnTo>
                  <a:lnTo>
                    <a:pt x="0" y="48"/>
                  </a:lnTo>
                  <a:lnTo>
                    <a:pt x="0" y="60"/>
                  </a:lnTo>
                  <a:lnTo>
                    <a:pt x="12" y="65"/>
                  </a:lnTo>
                  <a:lnTo>
                    <a:pt x="24" y="60"/>
                  </a:lnTo>
                  <a:lnTo>
                    <a:pt x="42" y="42"/>
                  </a:lnTo>
                  <a:lnTo>
                    <a:pt x="36" y="54"/>
                  </a:lnTo>
                  <a:lnTo>
                    <a:pt x="36" y="60"/>
                  </a:lnTo>
                  <a:lnTo>
                    <a:pt x="36" y="65"/>
                  </a:lnTo>
                  <a:lnTo>
                    <a:pt x="42" y="65"/>
                  </a:lnTo>
                  <a:lnTo>
                    <a:pt x="54" y="60"/>
                  </a:lnTo>
                  <a:lnTo>
                    <a:pt x="66" y="48"/>
                  </a:lnTo>
                  <a:lnTo>
                    <a:pt x="60" y="48"/>
                  </a:lnTo>
                  <a:close/>
                  <a:moveTo>
                    <a:pt x="12" y="48"/>
                  </a:moveTo>
                  <a:lnTo>
                    <a:pt x="12" y="36"/>
                  </a:lnTo>
                  <a:lnTo>
                    <a:pt x="18" y="24"/>
                  </a:lnTo>
                  <a:lnTo>
                    <a:pt x="30" y="12"/>
                  </a:lnTo>
                  <a:lnTo>
                    <a:pt x="42" y="6"/>
                  </a:lnTo>
                  <a:lnTo>
                    <a:pt x="48" y="6"/>
                  </a:lnTo>
                  <a:lnTo>
                    <a:pt x="48" y="12"/>
                  </a:lnTo>
                  <a:lnTo>
                    <a:pt x="42" y="42"/>
                  </a:lnTo>
                  <a:lnTo>
                    <a:pt x="30" y="54"/>
                  </a:lnTo>
                  <a:lnTo>
                    <a:pt x="18" y="60"/>
                  </a:lnTo>
                  <a:lnTo>
                    <a:pt x="12" y="54"/>
                  </a:lnTo>
                  <a:lnTo>
                    <a:pt x="12"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31" name="Freeform 20"/>
            <p:cNvSpPr>
              <a:spLocks noEditPoints="1"/>
            </p:cNvSpPr>
            <p:nvPr/>
          </p:nvSpPr>
          <p:spPr>
            <a:xfrm>
              <a:off x="1741" y="2195"/>
              <a:ext cx="113" cy="126"/>
            </a:xfrm>
            <a:custGeom>
              <a:avLst/>
              <a:gdLst>
                <a:gd name="txL" fmla="*/ 0 w 113"/>
                <a:gd name="txT" fmla="*/ 0 h 126"/>
                <a:gd name="txR" fmla="*/ 113 w 113"/>
                <a:gd name="txB" fmla="*/ 126 h 126"/>
              </a:gdLst>
              <a:ahLst/>
              <a:cxnLst>
                <a:cxn ang="0">
                  <a:pos x="107" y="120"/>
                </a:cxn>
                <a:cxn ang="0">
                  <a:pos x="101" y="114"/>
                </a:cxn>
                <a:cxn ang="0">
                  <a:pos x="95" y="108"/>
                </a:cxn>
                <a:cxn ang="0">
                  <a:pos x="77" y="60"/>
                </a:cxn>
                <a:cxn ang="0">
                  <a:pos x="107" y="48"/>
                </a:cxn>
                <a:cxn ang="0">
                  <a:pos x="113" y="24"/>
                </a:cxn>
                <a:cxn ang="0">
                  <a:pos x="107" y="12"/>
                </a:cxn>
                <a:cxn ang="0">
                  <a:pos x="95" y="6"/>
                </a:cxn>
                <a:cxn ang="0">
                  <a:pos x="83" y="0"/>
                </a:cxn>
                <a:cxn ang="0">
                  <a:pos x="71" y="0"/>
                </a:cxn>
                <a:cxn ang="0">
                  <a:pos x="30" y="0"/>
                </a:cxn>
                <a:cxn ang="0">
                  <a:pos x="30" y="0"/>
                </a:cxn>
                <a:cxn ang="0">
                  <a:pos x="36" y="0"/>
                </a:cxn>
                <a:cxn ang="0">
                  <a:pos x="42" y="12"/>
                </a:cxn>
                <a:cxn ang="0">
                  <a:pos x="42" y="18"/>
                </a:cxn>
                <a:cxn ang="0">
                  <a:pos x="36" y="24"/>
                </a:cxn>
                <a:cxn ang="0">
                  <a:pos x="12" y="108"/>
                </a:cxn>
                <a:cxn ang="0">
                  <a:pos x="12" y="120"/>
                </a:cxn>
                <a:cxn ang="0">
                  <a:pos x="0" y="120"/>
                </a:cxn>
                <a:cxn ang="0">
                  <a:pos x="0" y="126"/>
                </a:cxn>
                <a:cxn ang="0">
                  <a:pos x="48" y="126"/>
                </a:cxn>
                <a:cxn ang="0">
                  <a:pos x="48" y="120"/>
                </a:cxn>
                <a:cxn ang="0">
                  <a:pos x="36" y="120"/>
                </a:cxn>
                <a:cxn ang="0">
                  <a:pos x="36" y="114"/>
                </a:cxn>
                <a:cxn ang="0">
                  <a:pos x="36" y="108"/>
                </a:cxn>
                <a:cxn ang="0">
                  <a:pos x="36" y="102"/>
                </a:cxn>
                <a:cxn ang="0">
                  <a:pos x="48" y="60"/>
                </a:cxn>
                <a:cxn ang="0">
                  <a:pos x="60" y="60"/>
                </a:cxn>
                <a:cxn ang="0">
                  <a:pos x="83" y="126"/>
                </a:cxn>
                <a:cxn ang="0">
                  <a:pos x="107" y="126"/>
                </a:cxn>
                <a:cxn ang="0">
                  <a:pos x="107" y="120"/>
                </a:cxn>
                <a:cxn ang="0">
                  <a:pos x="60" y="6"/>
                </a:cxn>
                <a:cxn ang="0">
                  <a:pos x="66" y="6"/>
                </a:cxn>
                <a:cxn ang="0">
                  <a:pos x="71" y="6"/>
                </a:cxn>
                <a:cxn ang="0">
                  <a:pos x="89" y="6"/>
                </a:cxn>
                <a:cxn ang="0">
                  <a:pos x="95" y="12"/>
                </a:cxn>
                <a:cxn ang="0">
                  <a:pos x="95" y="24"/>
                </a:cxn>
                <a:cxn ang="0">
                  <a:pos x="89" y="48"/>
                </a:cxn>
                <a:cxn ang="0">
                  <a:pos x="77" y="54"/>
                </a:cxn>
                <a:cxn ang="0">
                  <a:pos x="60" y="54"/>
                </a:cxn>
                <a:cxn ang="0">
                  <a:pos x="54" y="54"/>
                </a:cxn>
                <a:cxn ang="0">
                  <a:pos x="48" y="54"/>
                </a:cxn>
                <a:cxn ang="0">
                  <a:pos x="60" y="6"/>
                </a:cxn>
              </a:cxnLst>
              <a:rect l="txL" t="txT" r="txR" b="txB"/>
              <a:pathLst>
                <a:path w="113" h="126">
                  <a:moveTo>
                    <a:pt x="107" y="120"/>
                  </a:moveTo>
                  <a:lnTo>
                    <a:pt x="101" y="114"/>
                  </a:lnTo>
                  <a:lnTo>
                    <a:pt x="95" y="108"/>
                  </a:lnTo>
                  <a:lnTo>
                    <a:pt x="77" y="60"/>
                  </a:lnTo>
                  <a:lnTo>
                    <a:pt x="107" y="48"/>
                  </a:lnTo>
                  <a:lnTo>
                    <a:pt x="113" y="24"/>
                  </a:lnTo>
                  <a:lnTo>
                    <a:pt x="107" y="12"/>
                  </a:lnTo>
                  <a:lnTo>
                    <a:pt x="95" y="6"/>
                  </a:lnTo>
                  <a:lnTo>
                    <a:pt x="83" y="0"/>
                  </a:lnTo>
                  <a:lnTo>
                    <a:pt x="71" y="0"/>
                  </a:lnTo>
                  <a:lnTo>
                    <a:pt x="30" y="0"/>
                  </a:lnTo>
                  <a:lnTo>
                    <a:pt x="36" y="0"/>
                  </a:lnTo>
                  <a:lnTo>
                    <a:pt x="42" y="12"/>
                  </a:lnTo>
                  <a:lnTo>
                    <a:pt x="42" y="18"/>
                  </a:lnTo>
                  <a:lnTo>
                    <a:pt x="36" y="24"/>
                  </a:lnTo>
                  <a:lnTo>
                    <a:pt x="12" y="108"/>
                  </a:lnTo>
                  <a:lnTo>
                    <a:pt x="12" y="120"/>
                  </a:lnTo>
                  <a:lnTo>
                    <a:pt x="0" y="120"/>
                  </a:lnTo>
                  <a:lnTo>
                    <a:pt x="0" y="126"/>
                  </a:lnTo>
                  <a:lnTo>
                    <a:pt x="48" y="126"/>
                  </a:lnTo>
                  <a:lnTo>
                    <a:pt x="48" y="120"/>
                  </a:lnTo>
                  <a:lnTo>
                    <a:pt x="36" y="120"/>
                  </a:lnTo>
                  <a:lnTo>
                    <a:pt x="36" y="114"/>
                  </a:lnTo>
                  <a:lnTo>
                    <a:pt x="36" y="108"/>
                  </a:lnTo>
                  <a:lnTo>
                    <a:pt x="36" y="102"/>
                  </a:lnTo>
                  <a:lnTo>
                    <a:pt x="48" y="60"/>
                  </a:lnTo>
                  <a:lnTo>
                    <a:pt x="60" y="60"/>
                  </a:lnTo>
                  <a:lnTo>
                    <a:pt x="83" y="126"/>
                  </a:lnTo>
                  <a:lnTo>
                    <a:pt x="107" y="126"/>
                  </a:lnTo>
                  <a:lnTo>
                    <a:pt x="107" y="120"/>
                  </a:lnTo>
                  <a:close/>
                  <a:moveTo>
                    <a:pt x="60" y="6"/>
                  </a:moveTo>
                  <a:lnTo>
                    <a:pt x="66" y="6"/>
                  </a:lnTo>
                  <a:lnTo>
                    <a:pt x="71" y="6"/>
                  </a:lnTo>
                  <a:lnTo>
                    <a:pt x="89" y="6"/>
                  </a:lnTo>
                  <a:lnTo>
                    <a:pt x="95" y="12"/>
                  </a:lnTo>
                  <a:lnTo>
                    <a:pt x="95" y="24"/>
                  </a:lnTo>
                  <a:lnTo>
                    <a:pt x="89" y="48"/>
                  </a:lnTo>
                  <a:lnTo>
                    <a:pt x="77" y="54"/>
                  </a:lnTo>
                  <a:lnTo>
                    <a:pt x="60" y="54"/>
                  </a:lnTo>
                  <a:lnTo>
                    <a:pt x="54" y="54"/>
                  </a:lnTo>
                  <a:lnTo>
                    <a:pt x="48" y="54"/>
                  </a:lnTo>
                  <a:lnTo>
                    <a:pt x="6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32" name="Freeform 21"/>
            <p:cNvSpPr>
              <a:spLocks noEditPoints="1"/>
            </p:cNvSpPr>
            <p:nvPr/>
          </p:nvSpPr>
          <p:spPr>
            <a:xfrm>
              <a:off x="1872" y="2267"/>
              <a:ext cx="60" cy="101"/>
            </a:xfrm>
            <a:custGeom>
              <a:avLst/>
              <a:gdLst>
                <a:gd name="txL" fmla="*/ 0 w 60"/>
                <a:gd name="txT" fmla="*/ 0 h 101"/>
                <a:gd name="txR" fmla="*/ 60 w 60"/>
                <a:gd name="txB" fmla="*/ 101 h 101"/>
              </a:gdLst>
              <a:ahLst/>
              <a:cxnLst>
                <a:cxn ang="0">
                  <a:pos x="48" y="54"/>
                </a:cxn>
                <a:cxn ang="0">
                  <a:pos x="48" y="66"/>
                </a:cxn>
                <a:cxn ang="0">
                  <a:pos x="42" y="78"/>
                </a:cxn>
                <a:cxn ang="0">
                  <a:pos x="30" y="90"/>
                </a:cxn>
                <a:cxn ang="0">
                  <a:pos x="18" y="96"/>
                </a:cxn>
                <a:cxn ang="0">
                  <a:pos x="12" y="96"/>
                </a:cxn>
                <a:cxn ang="0">
                  <a:pos x="12" y="96"/>
                </a:cxn>
                <a:cxn ang="0">
                  <a:pos x="12" y="78"/>
                </a:cxn>
                <a:cxn ang="0">
                  <a:pos x="18" y="60"/>
                </a:cxn>
                <a:cxn ang="0">
                  <a:pos x="30" y="48"/>
                </a:cxn>
                <a:cxn ang="0">
                  <a:pos x="42" y="42"/>
                </a:cxn>
                <a:cxn ang="0">
                  <a:pos x="48" y="48"/>
                </a:cxn>
                <a:cxn ang="0">
                  <a:pos x="48" y="54"/>
                </a:cxn>
                <a:cxn ang="0">
                  <a:pos x="48" y="54"/>
                </a:cxn>
                <a:cxn ang="0">
                  <a:pos x="12" y="6"/>
                </a:cxn>
                <a:cxn ang="0">
                  <a:pos x="18" y="6"/>
                </a:cxn>
                <a:cxn ang="0">
                  <a:pos x="18" y="12"/>
                </a:cxn>
                <a:cxn ang="0">
                  <a:pos x="18" y="18"/>
                </a:cxn>
                <a:cxn ang="0">
                  <a:pos x="18" y="18"/>
                </a:cxn>
                <a:cxn ang="0">
                  <a:pos x="0" y="96"/>
                </a:cxn>
                <a:cxn ang="0">
                  <a:pos x="0" y="96"/>
                </a:cxn>
                <a:cxn ang="0">
                  <a:pos x="6" y="101"/>
                </a:cxn>
                <a:cxn ang="0">
                  <a:pos x="18" y="101"/>
                </a:cxn>
                <a:cxn ang="0">
                  <a:pos x="30" y="96"/>
                </a:cxn>
                <a:cxn ang="0">
                  <a:pos x="48" y="90"/>
                </a:cxn>
                <a:cxn ang="0">
                  <a:pos x="54" y="72"/>
                </a:cxn>
                <a:cxn ang="0">
                  <a:pos x="60" y="54"/>
                </a:cxn>
                <a:cxn ang="0">
                  <a:pos x="54" y="42"/>
                </a:cxn>
                <a:cxn ang="0">
                  <a:pos x="48" y="36"/>
                </a:cxn>
                <a:cxn ang="0">
                  <a:pos x="30" y="42"/>
                </a:cxn>
                <a:cxn ang="0">
                  <a:pos x="18" y="54"/>
                </a:cxn>
                <a:cxn ang="0">
                  <a:pos x="18" y="54"/>
                </a:cxn>
                <a:cxn ang="0">
                  <a:pos x="24" y="42"/>
                </a:cxn>
                <a:cxn ang="0">
                  <a:pos x="30" y="30"/>
                </a:cxn>
                <a:cxn ang="0">
                  <a:pos x="30" y="12"/>
                </a:cxn>
                <a:cxn ang="0">
                  <a:pos x="36" y="0"/>
                </a:cxn>
                <a:cxn ang="0">
                  <a:pos x="30" y="0"/>
                </a:cxn>
                <a:cxn ang="0">
                  <a:pos x="24" y="6"/>
                </a:cxn>
                <a:cxn ang="0">
                  <a:pos x="12" y="6"/>
                </a:cxn>
                <a:cxn ang="0">
                  <a:pos x="12" y="6"/>
                </a:cxn>
              </a:cxnLst>
              <a:rect l="txL" t="txT" r="txR" b="txB"/>
              <a:pathLst>
                <a:path w="60" h="101">
                  <a:moveTo>
                    <a:pt x="48" y="54"/>
                  </a:moveTo>
                  <a:lnTo>
                    <a:pt x="48" y="66"/>
                  </a:lnTo>
                  <a:lnTo>
                    <a:pt x="42" y="78"/>
                  </a:lnTo>
                  <a:lnTo>
                    <a:pt x="30" y="90"/>
                  </a:lnTo>
                  <a:lnTo>
                    <a:pt x="18" y="96"/>
                  </a:lnTo>
                  <a:lnTo>
                    <a:pt x="12" y="96"/>
                  </a:lnTo>
                  <a:lnTo>
                    <a:pt x="12" y="78"/>
                  </a:lnTo>
                  <a:lnTo>
                    <a:pt x="18" y="60"/>
                  </a:lnTo>
                  <a:lnTo>
                    <a:pt x="30" y="48"/>
                  </a:lnTo>
                  <a:lnTo>
                    <a:pt x="42" y="42"/>
                  </a:lnTo>
                  <a:lnTo>
                    <a:pt x="48" y="48"/>
                  </a:lnTo>
                  <a:lnTo>
                    <a:pt x="48" y="54"/>
                  </a:lnTo>
                  <a:close/>
                  <a:moveTo>
                    <a:pt x="12" y="6"/>
                  </a:moveTo>
                  <a:lnTo>
                    <a:pt x="18" y="6"/>
                  </a:lnTo>
                  <a:lnTo>
                    <a:pt x="18" y="12"/>
                  </a:lnTo>
                  <a:lnTo>
                    <a:pt x="18" y="18"/>
                  </a:lnTo>
                  <a:lnTo>
                    <a:pt x="0" y="96"/>
                  </a:lnTo>
                  <a:lnTo>
                    <a:pt x="6" y="101"/>
                  </a:lnTo>
                  <a:lnTo>
                    <a:pt x="18" y="101"/>
                  </a:lnTo>
                  <a:lnTo>
                    <a:pt x="30" y="96"/>
                  </a:lnTo>
                  <a:lnTo>
                    <a:pt x="48" y="90"/>
                  </a:lnTo>
                  <a:lnTo>
                    <a:pt x="54" y="72"/>
                  </a:lnTo>
                  <a:lnTo>
                    <a:pt x="60" y="54"/>
                  </a:lnTo>
                  <a:lnTo>
                    <a:pt x="54" y="42"/>
                  </a:lnTo>
                  <a:lnTo>
                    <a:pt x="48" y="36"/>
                  </a:lnTo>
                  <a:lnTo>
                    <a:pt x="30" y="42"/>
                  </a:lnTo>
                  <a:lnTo>
                    <a:pt x="18" y="54"/>
                  </a:lnTo>
                  <a:lnTo>
                    <a:pt x="24" y="42"/>
                  </a:lnTo>
                  <a:lnTo>
                    <a:pt x="30" y="30"/>
                  </a:lnTo>
                  <a:lnTo>
                    <a:pt x="30" y="12"/>
                  </a:lnTo>
                  <a:lnTo>
                    <a:pt x="36" y="0"/>
                  </a:lnTo>
                  <a:lnTo>
                    <a:pt x="30" y="0"/>
                  </a:lnTo>
                  <a:lnTo>
                    <a:pt x="24" y="6"/>
                  </a:lnTo>
                  <a:lnTo>
                    <a:pt x="12"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33" name="Freeform 22"/>
            <p:cNvSpPr>
              <a:spLocks noEditPoints="1"/>
            </p:cNvSpPr>
            <p:nvPr/>
          </p:nvSpPr>
          <p:spPr>
            <a:xfrm>
              <a:off x="2094" y="1150"/>
              <a:ext cx="113" cy="126"/>
            </a:xfrm>
            <a:custGeom>
              <a:avLst/>
              <a:gdLst>
                <a:gd name="txL" fmla="*/ 0 w 113"/>
                <a:gd name="txT" fmla="*/ 0 h 126"/>
                <a:gd name="txR" fmla="*/ 113 w 113"/>
                <a:gd name="txB" fmla="*/ 126 h 126"/>
              </a:gdLst>
              <a:ahLst/>
              <a:cxnLst>
                <a:cxn ang="0">
                  <a:pos x="107" y="120"/>
                </a:cxn>
                <a:cxn ang="0">
                  <a:pos x="95" y="114"/>
                </a:cxn>
                <a:cxn ang="0">
                  <a:pos x="95" y="108"/>
                </a:cxn>
                <a:cxn ang="0">
                  <a:pos x="77" y="60"/>
                </a:cxn>
                <a:cxn ang="0">
                  <a:pos x="107" y="48"/>
                </a:cxn>
                <a:cxn ang="0">
                  <a:pos x="113" y="24"/>
                </a:cxn>
                <a:cxn ang="0">
                  <a:pos x="107" y="12"/>
                </a:cxn>
                <a:cxn ang="0">
                  <a:pos x="95" y="6"/>
                </a:cxn>
                <a:cxn ang="0">
                  <a:pos x="83" y="0"/>
                </a:cxn>
                <a:cxn ang="0">
                  <a:pos x="71" y="0"/>
                </a:cxn>
                <a:cxn ang="0">
                  <a:pos x="23" y="0"/>
                </a:cxn>
                <a:cxn ang="0">
                  <a:pos x="23" y="0"/>
                </a:cxn>
                <a:cxn ang="0">
                  <a:pos x="35" y="6"/>
                </a:cxn>
                <a:cxn ang="0">
                  <a:pos x="41" y="12"/>
                </a:cxn>
                <a:cxn ang="0">
                  <a:pos x="41" y="18"/>
                </a:cxn>
                <a:cxn ang="0">
                  <a:pos x="35" y="24"/>
                </a:cxn>
                <a:cxn ang="0">
                  <a:pos x="12" y="108"/>
                </a:cxn>
                <a:cxn ang="0">
                  <a:pos x="6" y="120"/>
                </a:cxn>
                <a:cxn ang="0">
                  <a:pos x="0" y="120"/>
                </a:cxn>
                <a:cxn ang="0">
                  <a:pos x="0" y="126"/>
                </a:cxn>
                <a:cxn ang="0">
                  <a:pos x="41" y="126"/>
                </a:cxn>
                <a:cxn ang="0">
                  <a:pos x="41" y="120"/>
                </a:cxn>
                <a:cxn ang="0">
                  <a:pos x="35" y="120"/>
                </a:cxn>
                <a:cxn ang="0">
                  <a:pos x="29" y="114"/>
                </a:cxn>
                <a:cxn ang="0">
                  <a:pos x="29" y="108"/>
                </a:cxn>
                <a:cxn ang="0">
                  <a:pos x="35" y="102"/>
                </a:cxn>
                <a:cxn ang="0">
                  <a:pos x="41" y="60"/>
                </a:cxn>
                <a:cxn ang="0">
                  <a:pos x="59" y="60"/>
                </a:cxn>
                <a:cxn ang="0">
                  <a:pos x="77" y="126"/>
                </a:cxn>
                <a:cxn ang="0">
                  <a:pos x="107" y="126"/>
                </a:cxn>
                <a:cxn ang="0">
                  <a:pos x="107" y="120"/>
                </a:cxn>
                <a:cxn ang="0">
                  <a:pos x="59" y="12"/>
                </a:cxn>
                <a:cxn ang="0">
                  <a:pos x="59" y="6"/>
                </a:cxn>
                <a:cxn ang="0">
                  <a:pos x="71" y="6"/>
                </a:cxn>
                <a:cxn ang="0">
                  <a:pos x="89" y="6"/>
                </a:cxn>
                <a:cxn ang="0">
                  <a:pos x="95" y="12"/>
                </a:cxn>
                <a:cxn ang="0">
                  <a:pos x="95" y="24"/>
                </a:cxn>
                <a:cxn ang="0">
                  <a:pos x="89" y="48"/>
                </a:cxn>
                <a:cxn ang="0">
                  <a:pos x="59" y="54"/>
                </a:cxn>
                <a:cxn ang="0">
                  <a:pos x="53" y="54"/>
                </a:cxn>
                <a:cxn ang="0">
                  <a:pos x="47" y="54"/>
                </a:cxn>
                <a:cxn ang="0">
                  <a:pos x="59" y="12"/>
                </a:cxn>
              </a:cxnLst>
              <a:rect l="txL" t="txT" r="txR" b="txB"/>
              <a:pathLst>
                <a:path w="113" h="126">
                  <a:moveTo>
                    <a:pt x="107" y="120"/>
                  </a:moveTo>
                  <a:lnTo>
                    <a:pt x="95" y="114"/>
                  </a:lnTo>
                  <a:lnTo>
                    <a:pt x="95" y="108"/>
                  </a:lnTo>
                  <a:lnTo>
                    <a:pt x="77" y="60"/>
                  </a:lnTo>
                  <a:lnTo>
                    <a:pt x="107" y="48"/>
                  </a:lnTo>
                  <a:lnTo>
                    <a:pt x="113" y="24"/>
                  </a:lnTo>
                  <a:lnTo>
                    <a:pt x="107" y="12"/>
                  </a:lnTo>
                  <a:lnTo>
                    <a:pt x="95" y="6"/>
                  </a:lnTo>
                  <a:lnTo>
                    <a:pt x="83" y="0"/>
                  </a:lnTo>
                  <a:lnTo>
                    <a:pt x="71" y="0"/>
                  </a:lnTo>
                  <a:lnTo>
                    <a:pt x="23" y="0"/>
                  </a:lnTo>
                  <a:lnTo>
                    <a:pt x="35" y="6"/>
                  </a:lnTo>
                  <a:lnTo>
                    <a:pt x="41" y="12"/>
                  </a:lnTo>
                  <a:lnTo>
                    <a:pt x="41" y="18"/>
                  </a:lnTo>
                  <a:lnTo>
                    <a:pt x="35" y="24"/>
                  </a:lnTo>
                  <a:lnTo>
                    <a:pt x="12" y="108"/>
                  </a:lnTo>
                  <a:lnTo>
                    <a:pt x="6" y="120"/>
                  </a:lnTo>
                  <a:lnTo>
                    <a:pt x="0" y="120"/>
                  </a:lnTo>
                  <a:lnTo>
                    <a:pt x="0" y="126"/>
                  </a:lnTo>
                  <a:lnTo>
                    <a:pt x="41" y="126"/>
                  </a:lnTo>
                  <a:lnTo>
                    <a:pt x="41" y="120"/>
                  </a:lnTo>
                  <a:lnTo>
                    <a:pt x="35" y="120"/>
                  </a:lnTo>
                  <a:lnTo>
                    <a:pt x="29" y="114"/>
                  </a:lnTo>
                  <a:lnTo>
                    <a:pt x="29" y="108"/>
                  </a:lnTo>
                  <a:lnTo>
                    <a:pt x="35" y="102"/>
                  </a:lnTo>
                  <a:lnTo>
                    <a:pt x="41" y="60"/>
                  </a:lnTo>
                  <a:lnTo>
                    <a:pt x="59" y="60"/>
                  </a:lnTo>
                  <a:lnTo>
                    <a:pt x="77" y="126"/>
                  </a:lnTo>
                  <a:lnTo>
                    <a:pt x="107" y="126"/>
                  </a:lnTo>
                  <a:lnTo>
                    <a:pt x="107" y="120"/>
                  </a:lnTo>
                  <a:close/>
                  <a:moveTo>
                    <a:pt x="59" y="12"/>
                  </a:moveTo>
                  <a:lnTo>
                    <a:pt x="59" y="6"/>
                  </a:lnTo>
                  <a:lnTo>
                    <a:pt x="71" y="6"/>
                  </a:lnTo>
                  <a:lnTo>
                    <a:pt x="89" y="6"/>
                  </a:lnTo>
                  <a:lnTo>
                    <a:pt x="95" y="12"/>
                  </a:lnTo>
                  <a:lnTo>
                    <a:pt x="95" y="24"/>
                  </a:lnTo>
                  <a:lnTo>
                    <a:pt x="89" y="48"/>
                  </a:lnTo>
                  <a:lnTo>
                    <a:pt x="59" y="54"/>
                  </a:lnTo>
                  <a:lnTo>
                    <a:pt x="53" y="54"/>
                  </a:lnTo>
                  <a:lnTo>
                    <a:pt x="47" y="54"/>
                  </a:lnTo>
                  <a:lnTo>
                    <a:pt x="59"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34" name="Freeform 23"/>
            <p:cNvSpPr/>
            <p:nvPr/>
          </p:nvSpPr>
          <p:spPr>
            <a:xfrm>
              <a:off x="2225" y="1222"/>
              <a:ext cx="42" cy="102"/>
            </a:xfrm>
            <a:custGeom>
              <a:avLst/>
              <a:gdLst>
                <a:gd name="txL" fmla="*/ 0 w 42"/>
                <a:gd name="txT" fmla="*/ 0 h 102"/>
                <a:gd name="txR" fmla="*/ 42 w 42"/>
                <a:gd name="txB" fmla="*/ 102 h 102"/>
              </a:gdLst>
              <a:ahLst/>
              <a:cxnLst>
                <a:cxn ang="0">
                  <a:pos x="0" y="102"/>
                </a:cxn>
                <a:cxn ang="0">
                  <a:pos x="42" y="102"/>
                </a:cxn>
                <a:cxn ang="0">
                  <a:pos x="42" y="96"/>
                </a:cxn>
                <a:cxn ang="0">
                  <a:pos x="30" y="96"/>
                </a:cxn>
                <a:cxn ang="0">
                  <a:pos x="30" y="90"/>
                </a:cxn>
                <a:cxn ang="0">
                  <a:pos x="30" y="6"/>
                </a:cxn>
                <a:cxn ang="0">
                  <a:pos x="30" y="0"/>
                </a:cxn>
                <a:cxn ang="0">
                  <a:pos x="0" y="18"/>
                </a:cxn>
                <a:cxn ang="0">
                  <a:pos x="0" y="18"/>
                </a:cxn>
                <a:cxn ang="0">
                  <a:pos x="12" y="12"/>
                </a:cxn>
                <a:cxn ang="0">
                  <a:pos x="12" y="12"/>
                </a:cxn>
                <a:cxn ang="0">
                  <a:pos x="18" y="18"/>
                </a:cxn>
                <a:cxn ang="0">
                  <a:pos x="18" y="24"/>
                </a:cxn>
                <a:cxn ang="0">
                  <a:pos x="18" y="84"/>
                </a:cxn>
                <a:cxn ang="0">
                  <a:pos x="12" y="96"/>
                </a:cxn>
                <a:cxn ang="0">
                  <a:pos x="0" y="96"/>
                </a:cxn>
                <a:cxn ang="0">
                  <a:pos x="0" y="102"/>
                </a:cxn>
              </a:cxnLst>
              <a:rect l="txL" t="txT" r="txR" b="txB"/>
              <a:pathLst>
                <a:path w="42" h="102">
                  <a:moveTo>
                    <a:pt x="0" y="102"/>
                  </a:moveTo>
                  <a:lnTo>
                    <a:pt x="42" y="102"/>
                  </a:lnTo>
                  <a:lnTo>
                    <a:pt x="42" y="96"/>
                  </a:lnTo>
                  <a:lnTo>
                    <a:pt x="30" y="96"/>
                  </a:lnTo>
                  <a:lnTo>
                    <a:pt x="30" y="90"/>
                  </a:lnTo>
                  <a:lnTo>
                    <a:pt x="30" y="6"/>
                  </a:lnTo>
                  <a:lnTo>
                    <a:pt x="30" y="0"/>
                  </a:lnTo>
                  <a:lnTo>
                    <a:pt x="0" y="18"/>
                  </a:lnTo>
                  <a:lnTo>
                    <a:pt x="12" y="12"/>
                  </a:lnTo>
                  <a:lnTo>
                    <a:pt x="18" y="18"/>
                  </a:lnTo>
                  <a:lnTo>
                    <a:pt x="18" y="24"/>
                  </a:lnTo>
                  <a:lnTo>
                    <a:pt x="18" y="84"/>
                  </a:lnTo>
                  <a:lnTo>
                    <a:pt x="12" y="96"/>
                  </a:lnTo>
                  <a:lnTo>
                    <a:pt x="0" y="96"/>
                  </a:lnTo>
                  <a:lnTo>
                    <a:pt x="0" y="10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35" name="Freeform 24"/>
            <p:cNvSpPr>
              <a:spLocks noEditPoints="1"/>
            </p:cNvSpPr>
            <p:nvPr/>
          </p:nvSpPr>
          <p:spPr>
            <a:xfrm>
              <a:off x="3445" y="1126"/>
              <a:ext cx="114" cy="126"/>
            </a:xfrm>
            <a:custGeom>
              <a:avLst/>
              <a:gdLst>
                <a:gd name="txL" fmla="*/ 0 w 114"/>
                <a:gd name="txT" fmla="*/ 0 h 126"/>
                <a:gd name="txR" fmla="*/ 114 w 114"/>
                <a:gd name="txB" fmla="*/ 126 h 126"/>
              </a:gdLst>
              <a:ahLst/>
              <a:cxnLst>
                <a:cxn ang="0">
                  <a:pos x="114" y="126"/>
                </a:cxn>
                <a:cxn ang="0">
                  <a:pos x="102" y="120"/>
                </a:cxn>
                <a:cxn ang="0">
                  <a:pos x="96" y="108"/>
                </a:cxn>
                <a:cxn ang="0">
                  <a:pos x="78" y="66"/>
                </a:cxn>
                <a:cxn ang="0">
                  <a:pos x="96" y="60"/>
                </a:cxn>
                <a:cxn ang="0">
                  <a:pos x="108" y="48"/>
                </a:cxn>
                <a:cxn ang="0">
                  <a:pos x="114" y="30"/>
                </a:cxn>
                <a:cxn ang="0">
                  <a:pos x="108" y="12"/>
                </a:cxn>
                <a:cxn ang="0">
                  <a:pos x="96" y="6"/>
                </a:cxn>
                <a:cxn ang="0">
                  <a:pos x="84" y="0"/>
                </a:cxn>
                <a:cxn ang="0">
                  <a:pos x="78" y="0"/>
                </a:cxn>
                <a:cxn ang="0">
                  <a:pos x="30" y="0"/>
                </a:cxn>
                <a:cxn ang="0">
                  <a:pos x="30" y="6"/>
                </a:cxn>
                <a:cxn ang="0">
                  <a:pos x="36" y="6"/>
                </a:cxn>
                <a:cxn ang="0">
                  <a:pos x="42" y="12"/>
                </a:cxn>
                <a:cxn ang="0">
                  <a:pos x="42" y="18"/>
                </a:cxn>
                <a:cxn ang="0">
                  <a:pos x="42" y="24"/>
                </a:cxn>
                <a:cxn ang="0">
                  <a:pos x="18" y="108"/>
                </a:cxn>
                <a:cxn ang="0">
                  <a:pos x="12" y="120"/>
                </a:cxn>
                <a:cxn ang="0">
                  <a:pos x="0" y="126"/>
                </a:cxn>
                <a:cxn ang="0">
                  <a:pos x="0" y="126"/>
                </a:cxn>
                <a:cxn ang="0">
                  <a:pos x="48" y="126"/>
                </a:cxn>
                <a:cxn ang="0">
                  <a:pos x="48" y="126"/>
                </a:cxn>
                <a:cxn ang="0">
                  <a:pos x="36" y="120"/>
                </a:cxn>
                <a:cxn ang="0">
                  <a:pos x="36" y="114"/>
                </a:cxn>
                <a:cxn ang="0">
                  <a:pos x="36" y="114"/>
                </a:cxn>
                <a:cxn ang="0">
                  <a:pos x="36" y="102"/>
                </a:cxn>
                <a:cxn ang="0">
                  <a:pos x="48" y="66"/>
                </a:cxn>
                <a:cxn ang="0">
                  <a:pos x="60" y="66"/>
                </a:cxn>
                <a:cxn ang="0">
                  <a:pos x="84" y="126"/>
                </a:cxn>
                <a:cxn ang="0">
                  <a:pos x="114" y="126"/>
                </a:cxn>
                <a:cxn ang="0">
                  <a:pos x="114" y="126"/>
                </a:cxn>
                <a:cxn ang="0">
                  <a:pos x="66" y="12"/>
                </a:cxn>
                <a:cxn ang="0">
                  <a:pos x="66" y="12"/>
                </a:cxn>
                <a:cxn ang="0">
                  <a:pos x="72" y="6"/>
                </a:cxn>
                <a:cxn ang="0">
                  <a:pos x="90" y="12"/>
                </a:cxn>
                <a:cxn ang="0">
                  <a:pos x="96" y="30"/>
                </a:cxn>
                <a:cxn ang="0">
                  <a:pos x="90" y="48"/>
                </a:cxn>
                <a:cxn ang="0">
                  <a:pos x="78" y="60"/>
                </a:cxn>
                <a:cxn ang="0">
                  <a:pos x="60" y="60"/>
                </a:cxn>
                <a:cxn ang="0">
                  <a:pos x="54" y="60"/>
                </a:cxn>
                <a:cxn ang="0">
                  <a:pos x="48" y="54"/>
                </a:cxn>
                <a:cxn ang="0">
                  <a:pos x="66" y="12"/>
                </a:cxn>
              </a:cxnLst>
              <a:rect l="txL" t="txT" r="txR" b="txB"/>
              <a:pathLst>
                <a:path w="114" h="126">
                  <a:moveTo>
                    <a:pt x="114" y="126"/>
                  </a:moveTo>
                  <a:lnTo>
                    <a:pt x="102" y="120"/>
                  </a:lnTo>
                  <a:lnTo>
                    <a:pt x="96" y="108"/>
                  </a:lnTo>
                  <a:lnTo>
                    <a:pt x="78" y="66"/>
                  </a:lnTo>
                  <a:lnTo>
                    <a:pt x="96" y="60"/>
                  </a:lnTo>
                  <a:lnTo>
                    <a:pt x="108" y="48"/>
                  </a:lnTo>
                  <a:lnTo>
                    <a:pt x="114" y="30"/>
                  </a:lnTo>
                  <a:lnTo>
                    <a:pt x="108" y="12"/>
                  </a:lnTo>
                  <a:lnTo>
                    <a:pt x="96" y="6"/>
                  </a:lnTo>
                  <a:lnTo>
                    <a:pt x="84" y="0"/>
                  </a:lnTo>
                  <a:lnTo>
                    <a:pt x="78" y="0"/>
                  </a:lnTo>
                  <a:lnTo>
                    <a:pt x="30" y="0"/>
                  </a:lnTo>
                  <a:lnTo>
                    <a:pt x="30" y="6"/>
                  </a:lnTo>
                  <a:lnTo>
                    <a:pt x="36" y="6"/>
                  </a:lnTo>
                  <a:lnTo>
                    <a:pt x="42" y="12"/>
                  </a:lnTo>
                  <a:lnTo>
                    <a:pt x="42" y="18"/>
                  </a:lnTo>
                  <a:lnTo>
                    <a:pt x="42" y="24"/>
                  </a:lnTo>
                  <a:lnTo>
                    <a:pt x="18" y="108"/>
                  </a:lnTo>
                  <a:lnTo>
                    <a:pt x="12" y="120"/>
                  </a:lnTo>
                  <a:lnTo>
                    <a:pt x="0" y="126"/>
                  </a:lnTo>
                  <a:lnTo>
                    <a:pt x="48" y="126"/>
                  </a:lnTo>
                  <a:lnTo>
                    <a:pt x="36" y="120"/>
                  </a:lnTo>
                  <a:lnTo>
                    <a:pt x="36" y="114"/>
                  </a:lnTo>
                  <a:lnTo>
                    <a:pt x="36" y="102"/>
                  </a:lnTo>
                  <a:lnTo>
                    <a:pt x="48" y="66"/>
                  </a:lnTo>
                  <a:lnTo>
                    <a:pt x="60" y="66"/>
                  </a:lnTo>
                  <a:lnTo>
                    <a:pt x="84" y="126"/>
                  </a:lnTo>
                  <a:lnTo>
                    <a:pt x="114" y="126"/>
                  </a:lnTo>
                  <a:close/>
                  <a:moveTo>
                    <a:pt x="66" y="12"/>
                  </a:moveTo>
                  <a:lnTo>
                    <a:pt x="66" y="12"/>
                  </a:lnTo>
                  <a:lnTo>
                    <a:pt x="72" y="6"/>
                  </a:lnTo>
                  <a:lnTo>
                    <a:pt x="90" y="12"/>
                  </a:lnTo>
                  <a:lnTo>
                    <a:pt x="96" y="30"/>
                  </a:lnTo>
                  <a:lnTo>
                    <a:pt x="90" y="48"/>
                  </a:lnTo>
                  <a:lnTo>
                    <a:pt x="78" y="60"/>
                  </a:lnTo>
                  <a:lnTo>
                    <a:pt x="60" y="60"/>
                  </a:lnTo>
                  <a:lnTo>
                    <a:pt x="54" y="60"/>
                  </a:lnTo>
                  <a:lnTo>
                    <a:pt x="48" y="54"/>
                  </a:lnTo>
                  <a:lnTo>
                    <a:pt x="66"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36" name="Freeform 25"/>
            <p:cNvSpPr/>
            <p:nvPr/>
          </p:nvSpPr>
          <p:spPr>
            <a:xfrm>
              <a:off x="3571" y="1204"/>
              <a:ext cx="66" cy="96"/>
            </a:xfrm>
            <a:custGeom>
              <a:avLst/>
              <a:gdLst>
                <a:gd name="txL" fmla="*/ 0 w 66"/>
                <a:gd name="txT" fmla="*/ 0 h 96"/>
                <a:gd name="txR" fmla="*/ 66 w 66"/>
                <a:gd name="txB" fmla="*/ 96 h 96"/>
              </a:gdLst>
              <a:ahLst/>
              <a:cxnLst>
                <a:cxn ang="0">
                  <a:pos x="66" y="78"/>
                </a:cxn>
                <a:cxn ang="0">
                  <a:pos x="60" y="78"/>
                </a:cxn>
                <a:cxn ang="0">
                  <a:pos x="54" y="84"/>
                </a:cxn>
                <a:cxn ang="0">
                  <a:pos x="48" y="84"/>
                </a:cxn>
                <a:cxn ang="0">
                  <a:pos x="12" y="84"/>
                </a:cxn>
                <a:cxn ang="0">
                  <a:pos x="36" y="60"/>
                </a:cxn>
                <a:cxn ang="0">
                  <a:pos x="48" y="48"/>
                </a:cxn>
                <a:cxn ang="0">
                  <a:pos x="54" y="24"/>
                </a:cxn>
                <a:cxn ang="0">
                  <a:pos x="48" y="6"/>
                </a:cxn>
                <a:cxn ang="0">
                  <a:pos x="30" y="0"/>
                </a:cxn>
                <a:cxn ang="0">
                  <a:pos x="12" y="6"/>
                </a:cxn>
                <a:cxn ang="0">
                  <a:pos x="6" y="18"/>
                </a:cxn>
                <a:cxn ang="0">
                  <a:pos x="0" y="30"/>
                </a:cxn>
                <a:cxn ang="0">
                  <a:pos x="0" y="30"/>
                </a:cxn>
                <a:cxn ang="0">
                  <a:pos x="12" y="18"/>
                </a:cxn>
                <a:cxn ang="0">
                  <a:pos x="24" y="12"/>
                </a:cxn>
                <a:cxn ang="0">
                  <a:pos x="36" y="12"/>
                </a:cxn>
                <a:cxn ang="0">
                  <a:pos x="42" y="18"/>
                </a:cxn>
                <a:cxn ang="0">
                  <a:pos x="42" y="30"/>
                </a:cxn>
                <a:cxn ang="0">
                  <a:pos x="36" y="48"/>
                </a:cxn>
                <a:cxn ang="0">
                  <a:pos x="24" y="66"/>
                </a:cxn>
                <a:cxn ang="0">
                  <a:pos x="0" y="96"/>
                </a:cxn>
                <a:cxn ang="0">
                  <a:pos x="0" y="96"/>
                </a:cxn>
                <a:cxn ang="0">
                  <a:pos x="54" y="96"/>
                </a:cxn>
                <a:cxn ang="0">
                  <a:pos x="66" y="78"/>
                </a:cxn>
              </a:cxnLst>
              <a:rect l="txL" t="txT" r="txR" b="txB"/>
              <a:pathLst>
                <a:path w="66" h="96">
                  <a:moveTo>
                    <a:pt x="66" y="78"/>
                  </a:moveTo>
                  <a:lnTo>
                    <a:pt x="60" y="78"/>
                  </a:lnTo>
                  <a:lnTo>
                    <a:pt x="54" y="84"/>
                  </a:lnTo>
                  <a:lnTo>
                    <a:pt x="48" y="84"/>
                  </a:lnTo>
                  <a:lnTo>
                    <a:pt x="12" y="84"/>
                  </a:lnTo>
                  <a:lnTo>
                    <a:pt x="36" y="60"/>
                  </a:lnTo>
                  <a:lnTo>
                    <a:pt x="48" y="48"/>
                  </a:lnTo>
                  <a:lnTo>
                    <a:pt x="54" y="24"/>
                  </a:lnTo>
                  <a:lnTo>
                    <a:pt x="48" y="6"/>
                  </a:lnTo>
                  <a:lnTo>
                    <a:pt x="30" y="0"/>
                  </a:lnTo>
                  <a:lnTo>
                    <a:pt x="12" y="6"/>
                  </a:lnTo>
                  <a:lnTo>
                    <a:pt x="6" y="18"/>
                  </a:lnTo>
                  <a:lnTo>
                    <a:pt x="0" y="30"/>
                  </a:lnTo>
                  <a:lnTo>
                    <a:pt x="12" y="18"/>
                  </a:lnTo>
                  <a:lnTo>
                    <a:pt x="24" y="12"/>
                  </a:lnTo>
                  <a:lnTo>
                    <a:pt x="36" y="12"/>
                  </a:lnTo>
                  <a:lnTo>
                    <a:pt x="42" y="18"/>
                  </a:lnTo>
                  <a:lnTo>
                    <a:pt x="42" y="30"/>
                  </a:lnTo>
                  <a:lnTo>
                    <a:pt x="36" y="48"/>
                  </a:lnTo>
                  <a:lnTo>
                    <a:pt x="24" y="66"/>
                  </a:lnTo>
                  <a:lnTo>
                    <a:pt x="0" y="96"/>
                  </a:lnTo>
                  <a:lnTo>
                    <a:pt x="54" y="96"/>
                  </a:lnTo>
                  <a:lnTo>
                    <a:pt x="66" y="7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37" name="Freeform 26"/>
            <p:cNvSpPr>
              <a:spLocks noEditPoints="1"/>
            </p:cNvSpPr>
            <p:nvPr/>
          </p:nvSpPr>
          <p:spPr>
            <a:xfrm>
              <a:off x="2763" y="643"/>
              <a:ext cx="114" cy="125"/>
            </a:xfrm>
            <a:custGeom>
              <a:avLst/>
              <a:gdLst>
                <a:gd name="txL" fmla="*/ 0 w 114"/>
                <a:gd name="txT" fmla="*/ 0 h 125"/>
                <a:gd name="txR" fmla="*/ 114 w 114"/>
                <a:gd name="txB" fmla="*/ 125 h 125"/>
              </a:gdLst>
              <a:ahLst/>
              <a:cxnLst>
                <a:cxn ang="0">
                  <a:pos x="114" y="119"/>
                </a:cxn>
                <a:cxn ang="0">
                  <a:pos x="102" y="113"/>
                </a:cxn>
                <a:cxn ang="0">
                  <a:pos x="96" y="107"/>
                </a:cxn>
                <a:cxn ang="0">
                  <a:pos x="78" y="60"/>
                </a:cxn>
                <a:cxn ang="0">
                  <a:pos x="108" y="48"/>
                </a:cxn>
                <a:cxn ang="0">
                  <a:pos x="114" y="30"/>
                </a:cxn>
                <a:cxn ang="0">
                  <a:pos x="108" y="12"/>
                </a:cxn>
                <a:cxn ang="0">
                  <a:pos x="96" y="6"/>
                </a:cxn>
                <a:cxn ang="0">
                  <a:pos x="84" y="0"/>
                </a:cxn>
                <a:cxn ang="0">
                  <a:pos x="78" y="0"/>
                </a:cxn>
                <a:cxn ang="0">
                  <a:pos x="30" y="0"/>
                </a:cxn>
                <a:cxn ang="0">
                  <a:pos x="30" y="0"/>
                </a:cxn>
                <a:cxn ang="0">
                  <a:pos x="36" y="6"/>
                </a:cxn>
                <a:cxn ang="0">
                  <a:pos x="42" y="12"/>
                </a:cxn>
                <a:cxn ang="0">
                  <a:pos x="42" y="18"/>
                </a:cxn>
                <a:cxn ang="0">
                  <a:pos x="42" y="24"/>
                </a:cxn>
                <a:cxn ang="0">
                  <a:pos x="18" y="107"/>
                </a:cxn>
                <a:cxn ang="0">
                  <a:pos x="12" y="119"/>
                </a:cxn>
                <a:cxn ang="0">
                  <a:pos x="0" y="119"/>
                </a:cxn>
                <a:cxn ang="0">
                  <a:pos x="0" y="125"/>
                </a:cxn>
                <a:cxn ang="0">
                  <a:pos x="48" y="125"/>
                </a:cxn>
                <a:cxn ang="0">
                  <a:pos x="48" y="119"/>
                </a:cxn>
                <a:cxn ang="0">
                  <a:pos x="36" y="119"/>
                </a:cxn>
                <a:cxn ang="0">
                  <a:pos x="36" y="113"/>
                </a:cxn>
                <a:cxn ang="0">
                  <a:pos x="36" y="107"/>
                </a:cxn>
                <a:cxn ang="0">
                  <a:pos x="36" y="101"/>
                </a:cxn>
                <a:cxn ang="0">
                  <a:pos x="48" y="60"/>
                </a:cxn>
                <a:cxn ang="0">
                  <a:pos x="60" y="60"/>
                </a:cxn>
                <a:cxn ang="0">
                  <a:pos x="84" y="125"/>
                </a:cxn>
                <a:cxn ang="0">
                  <a:pos x="114" y="125"/>
                </a:cxn>
                <a:cxn ang="0">
                  <a:pos x="114" y="119"/>
                </a:cxn>
                <a:cxn ang="0">
                  <a:pos x="60" y="12"/>
                </a:cxn>
                <a:cxn ang="0">
                  <a:pos x="66" y="6"/>
                </a:cxn>
                <a:cxn ang="0">
                  <a:pos x="72" y="6"/>
                </a:cxn>
                <a:cxn ang="0">
                  <a:pos x="90" y="12"/>
                </a:cxn>
                <a:cxn ang="0">
                  <a:pos x="96" y="24"/>
                </a:cxn>
                <a:cxn ang="0">
                  <a:pos x="90" y="48"/>
                </a:cxn>
                <a:cxn ang="0">
                  <a:pos x="78" y="54"/>
                </a:cxn>
                <a:cxn ang="0">
                  <a:pos x="60" y="54"/>
                </a:cxn>
                <a:cxn ang="0">
                  <a:pos x="54" y="54"/>
                </a:cxn>
                <a:cxn ang="0">
                  <a:pos x="48" y="54"/>
                </a:cxn>
                <a:cxn ang="0">
                  <a:pos x="60" y="12"/>
                </a:cxn>
              </a:cxnLst>
              <a:rect l="txL" t="txT" r="txR" b="txB"/>
              <a:pathLst>
                <a:path w="114" h="125">
                  <a:moveTo>
                    <a:pt x="114" y="119"/>
                  </a:moveTo>
                  <a:lnTo>
                    <a:pt x="102" y="113"/>
                  </a:lnTo>
                  <a:lnTo>
                    <a:pt x="96" y="107"/>
                  </a:lnTo>
                  <a:lnTo>
                    <a:pt x="78" y="60"/>
                  </a:lnTo>
                  <a:lnTo>
                    <a:pt x="108" y="48"/>
                  </a:lnTo>
                  <a:lnTo>
                    <a:pt x="114" y="30"/>
                  </a:lnTo>
                  <a:lnTo>
                    <a:pt x="108" y="12"/>
                  </a:lnTo>
                  <a:lnTo>
                    <a:pt x="96" y="6"/>
                  </a:lnTo>
                  <a:lnTo>
                    <a:pt x="84" y="0"/>
                  </a:lnTo>
                  <a:lnTo>
                    <a:pt x="78" y="0"/>
                  </a:lnTo>
                  <a:lnTo>
                    <a:pt x="30" y="0"/>
                  </a:lnTo>
                  <a:lnTo>
                    <a:pt x="36" y="6"/>
                  </a:lnTo>
                  <a:lnTo>
                    <a:pt x="42" y="12"/>
                  </a:lnTo>
                  <a:lnTo>
                    <a:pt x="42" y="18"/>
                  </a:lnTo>
                  <a:lnTo>
                    <a:pt x="42" y="24"/>
                  </a:lnTo>
                  <a:lnTo>
                    <a:pt x="18" y="107"/>
                  </a:lnTo>
                  <a:lnTo>
                    <a:pt x="12" y="119"/>
                  </a:lnTo>
                  <a:lnTo>
                    <a:pt x="0" y="119"/>
                  </a:lnTo>
                  <a:lnTo>
                    <a:pt x="0" y="125"/>
                  </a:lnTo>
                  <a:lnTo>
                    <a:pt x="48" y="125"/>
                  </a:lnTo>
                  <a:lnTo>
                    <a:pt x="48" y="119"/>
                  </a:lnTo>
                  <a:lnTo>
                    <a:pt x="36" y="119"/>
                  </a:lnTo>
                  <a:lnTo>
                    <a:pt x="36" y="113"/>
                  </a:lnTo>
                  <a:lnTo>
                    <a:pt x="36" y="107"/>
                  </a:lnTo>
                  <a:lnTo>
                    <a:pt x="36" y="101"/>
                  </a:lnTo>
                  <a:lnTo>
                    <a:pt x="48" y="60"/>
                  </a:lnTo>
                  <a:lnTo>
                    <a:pt x="60" y="60"/>
                  </a:lnTo>
                  <a:lnTo>
                    <a:pt x="84" y="125"/>
                  </a:lnTo>
                  <a:lnTo>
                    <a:pt x="114" y="125"/>
                  </a:lnTo>
                  <a:lnTo>
                    <a:pt x="114" y="119"/>
                  </a:lnTo>
                  <a:close/>
                  <a:moveTo>
                    <a:pt x="60" y="12"/>
                  </a:moveTo>
                  <a:lnTo>
                    <a:pt x="66" y="6"/>
                  </a:lnTo>
                  <a:lnTo>
                    <a:pt x="72" y="6"/>
                  </a:lnTo>
                  <a:lnTo>
                    <a:pt x="90" y="12"/>
                  </a:lnTo>
                  <a:lnTo>
                    <a:pt x="96" y="24"/>
                  </a:lnTo>
                  <a:lnTo>
                    <a:pt x="90" y="48"/>
                  </a:lnTo>
                  <a:lnTo>
                    <a:pt x="78" y="54"/>
                  </a:lnTo>
                  <a:lnTo>
                    <a:pt x="60" y="54"/>
                  </a:lnTo>
                  <a:lnTo>
                    <a:pt x="54" y="54"/>
                  </a:lnTo>
                  <a:lnTo>
                    <a:pt x="48" y="54"/>
                  </a:lnTo>
                  <a:lnTo>
                    <a:pt x="60"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38" name="Freeform 27"/>
            <p:cNvSpPr/>
            <p:nvPr/>
          </p:nvSpPr>
          <p:spPr>
            <a:xfrm>
              <a:off x="2889" y="750"/>
              <a:ext cx="54" cy="66"/>
            </a:xfrm>
            <a:custGeom>
              <a:avLst/>
              <a:gdLst>
                <a:gd name="txL" fmla="*/ 0 w 54"/>
                <a:gd name="txT" fmla="*/ 0 h 66"/>
                <a:gd name="txR" fmla="*/ 54 w 54"/>
                <a:gd name="txB" fmla="*/ 66 h 66"/>
              </a:gdLst>
              <a:ahLst/>
              <a:cxnLst>
                <a:cxn ang="0">
                  <a:pos x="42" y="48"/>
                </a:cxn>
                <a:cxn ang="0">
                  <a:pos x="36" y="54"/>
                </a:cxn>
                <a:cxn ang="0">
                  <a:pos x="24" y="60"/>
                </a:cxn>
                <a:cxn ang="0">
                  <a:pos x="12" y="54"/>
                </a:cxn>
                <a:cxn ang="0">
                  <a:pos x="12" y="42"/>
                </a:cxn>
                <a:cxn ang="0">
                  <a:pos x="18" y="18"/>
                </a:cxn>
                <a:cxn ang="0">
                  <a:pos x="24" y="12"/>
                </a:cxn>
                <a:cxn ang="0">
                  <a:pos x="36" y="6"/>
                </a:cxn>
                <a:cxn ang="0">
                  <a:pos x="42" y="6"/>
                </a:cxn>
                <a:cxn ang="0">
                  <a:pos x="42" y="6"/>
                </a:cxn>
                <a:cxn ang="0">
                  <a:pos x="42" y="12"/>
                </a:cxn>
                <a:cxn ang="0">
                  <a:pos x="42" y="12"/>
                </a:cxn>
                <a:cxn ang="0">
                  <a:pos x="42" y="18"/>
                </a:cxn>
                <a:cxn ang="0">
                  <a:pos x="48" y="18"/>
                </a:cxn>
                <a:cxn ang="0">
                  <a:pos x="54" y="18"/>
                </a:cxn>
                <a:cxn ang="0">
                  <a:pos x="54" y="12"/>
                </a:cxn>
                <a:cxn ang="0">
                  <a:pos x="54" y="6"/>
                </a:cxn>
                <a:cxn ang="0">
                  <a:pos x="48" y="0"/>
                </a:cxn>
                <a:cxn ang="0">
                  <a:pos x="36" y="0"/>
                </a:cxn>
                <a:cxn ang="0">
                  <a:pos x="24" y="6"/>
                </a:cxn>
                <a:cxn ang="0">
                  <a:pos x="12" y="12"/>
                </a:cxn>
                <a:cxn ang="0">
                  <a:pos x="6" y="30"/>
                </a:cxn>
                <a:cxn ang="0">
                  <a:pos x="0" y="42"/>
                </a:cxn>
                <a:cxn ang="0">
                  <a:pos x="0" y="54"/>
                </a:cxn>
                <a:cxn ang="0">
                  <a:pos x="6" y="66"/>
                </a:cxn>
                <a:cxn ang="0">
                  <a:pos x="18" y="66"/>
                </a:cxn>
                <a:cxn ang="0">
                  <a:pos x="36" y="60"/>
                </a:cxn>
                <a:cxn ang="0">
                  <a:pos x="48" y="54"/>
                </a:cxn>
                <a:cxn ang="0">
                  <a:pos x="42" y="48"/>
                </a:cxn>
              </a:cxnLst>
              <a:rect l="txL" t="txT" r="txR" b="txB"/>
              <a:pathLst>
                <a:path w="54" h="66">
                  <a:moveTo>
                    <a:pt x="42" y="48"/>
                  </a:moveTo>
                  <a:lnTo>
                    <a:pt x="36" y="54"/>
                  </a:lnTo>
                  <a:lnTo>
                    <a:pt x="24" y="60"/>
                  </a:lnTo>
                  <a:lnTo>
                    <a:pt x="12" y="54"/>
                  </a:lnTo>
                  <a:lnTo>
                    <a:pt x="12" y="42"/>
                  </a:lnTo>
                  <a:lnTo>
                    <a:pt x="18" y="18"/>
                  </a:lnTo>
                  <a:lnTo>
                    <a:pt x="24" y="12"/>
                  </a:lnTo>
                  <a:lnTo>
                    <a:pt x="36" y="6"/>
                  </a:lnTo>
                  <a:lnTo>
                    <a:pt x="42" y="6"/>
                  </a:lnTo>
                  <a:lnTo>
                    <a:pt x="42" y="12"/>
                  </a:lnTo>
                  <a:lnTo>
                    <a:pt x="42" y="18"/>
                  </a:lnTo>
                  <a:lnTo>
                    <a:pt x="48" y="18"/>
                  </a:lnTo>
                  <a:lnTo>
                    <a:pt x="54" y="18"/>
                  </a:lnTo>
                  <a:lnTo>
                    <a:pt x="54" y="12"/>
                  </a:lnTo>
                  <a:lnTo>
                    <a:pt x="54" y="6"/>
                  </a:lnTo>
                  <a:lnTo>
                    <a:pt x="48" y="0"/>
                  </a:lnTo>
                  <a:lnTo>
                    <a:pt x="36" y="0"/>
                  </a:lnTo>
                  <a:lnTo>
                    <a:pt x="24" y="6"/>
                  </a:lnTo>
                  <a:lnTo>
                    <a:pt x="12" y="12"/>
                  </a:lnTo>
                  <a:lnTo>
                    <a:pt x="6" y="30"/>
                  </a:lnTo>
                  <a:lnTo>
                    <a:pt x="0" y="42"/>
                  </a:lnTo>
                  <a:lnTo>
                    <a:pt x="0" y="54"/>
                  </a:lnTo>
                  <a:lnTo>
                    <a:pt x="6" y="66"/>
                  </a:lnTo>
                  <a:lnTo>
                    <a:pt x="18" y="66"/>
                  </a:lnTo>
                  <a:lnTo>
                    <a:pt x="36" y="60"/>
                  </a:lnTo>
                  <a:lnTo>
                    <a:pt x="48" y="54"/>
                  </a:lnTo>
                  <a:lnTo>
                    <a:pt x="42"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39" name="Freeform 28"/>
            <p:cNvSpPr>
              <a:spLocks noEditPoints="1"/>
            </p:cNvSpPr>
            <p:nvPr/>
          </p:nvSpPr>
          <p:spPr>
            <a:xfrm>
              <a:off x="4617" y="900"/>
              <a:ext cx="84" cy="137"/>
            </a:xfrm>
            <a:custGeom>
              <a:avLst/>
              <a:gdLst>
                <a:gd name="txL" fmla="*/ 0 w 84"/>
                <a:gd name="txT" fmla="*/ 0 h 137"/>
                <a:gd name="txR" fmla="*/ 84 w 84"/>
                <a:gd name="txB" fmla="*/ 137 h 137"/>
              </a:gdLst>
              <a:ahLst/>
              <a:cxnLst>
                <a:cxn ang="0">
                  <a:pos x="72" y="71"/>
                </a:cxn>
                <a:cxn ang="0">
                  <a:pos x="66" y="89"/>
                </a:cxn>
                <a:cxn ang="0">
                  <a:pos x="60" y="107"/>
                </a:cxn>
                <a:cxn ang="0">
                  <a:pos x="42" y="125"/>
                </a:cxn>
                <a:cxn ang="0">
                  <a:pos x="24" y="131"/>
                </a:cxn>
                <a:cxn ang="0">
                  <a:pos x="18" y="131"/>
                </a:cxn>
                <a:cxn ang="0">
                  <a:pos x="18" y="125"/>
                </a:cxn>
                <a:cxn ang="0">
                  <a:pos x="24" y="107"/>
                </a:cxn>
                <a:cxn ang="0">
                  <a:pos x="30" y="83"/>
                </a:cxn>
                <a:cxn ang="0">
                  <a:pos x="42" y="65"/>
                </a:cxn>
                <a:cxn ang="0">
                  <a:pos x="54" y="59"/>
                </a:cxn>
                <a:cxn ang="0">
                  <a:pos x="66" y="65"/>
                </a:cxn>
                <a:cxn ang="0">
                  <a:pos x="72" y="71"/>
                </a:cxn>
                <a:cxn ang="0">
                  <a:pos x="72" y="71"/>
                </a:cxn>
                <a:cxn ang="0">
                  <a:pos x="18" y="12"/>
                </a:cxn>
                <a:cxn ang="0">
                  <a:pos x="30" y="12"/>
                </a:cxn>
                <a:cxn ang="0">
                  <a:pos x="30" y="12"/>
                </a:cxn>
                <a:cxn ang="0">
                  <a:pos x="30" y="23"/>
                </a:cxn>
                <a:cxn ang="0">
                  <a:pos x="24" y="29"/>
                </a:cxn>
                <a:cxn ang="0">
                  <a:pos x="0" y="125"/>
                </a:cxn>
                <a:cxn ang="0">
                  <a:pos x="0" y="125"/>
                </a:cxn>
                <a:cxn ang="0">
                  <a:pos x="6" y="131"/>
                </a:cxn>
                <a:cxn ang="0">
                  <a:pos x="24" y="137"/>
                </a:cxn>
                <a:cxn ang="0">
                  <a:pos x="48" y="131"/>
                </a:cxn>
                <a:cxn ang="0">
                  <a:pos x="66" y="113"/>
                </a:cxn>
                <a:cxn ang="0">
                  <a:pos x="78" y="95"/>
                </a:cxn>
                <a:cxn ang="0">
                  <a:pos x="84" y="71"/>
                </a:cxn>
                <a:cxn ang="0">
                  <a:pos x="78" y="53"/>
                </a:cxn>
                <a:cxn ang="0">
                  <a:pos x="66" y="47"/>
                </a:cxn>
                <a:cxn ang="0">
                  <a:pos x="54" y="53"/>
                </a:cxn>
                <a:cxn ang="0">
                  <a:pos x="42" y="59"/>
                </a:cxn>
                <a:cxn ang="0">
                  <a:pos x="30" y="77"/>
                </a:cxn>
                <a:cxn ang="0">
                  <a:pos x="30" y="77"/>
                </a:cxn>
                <a:cxn ang="0">
                  <a:pos x="42" y="35"/>
                </a:cxn>
                <a:cxn ang="0">
                  <a:pos x="42" y="17"/>
                </a:cxn>
                <a:cxn ang="0">
                  <a:pos x="48" y="0"/>
                </a:cxn>
                <a:cxn ang="0">
                  <a:pos x="48" y="0"/>
                </a:cxn>
                <a:cxn ang="0">
                  <a:pos x="30" y="6"/>
                </a:cxn>
                <a:cxn ang="0">
                  <a:pos x="18" y="6"/>
                </a:cxn>
                <a:cxn ang="0">
                  <a:pos x="18" y="12"/>
                </a:cxn>
              </a:cxnLst>
              <a:rect l="txL" t="txT" r="txR" b="txB"/>
              <a:pathLst>
                <a:path w="84" h="137">
                  <a:moveTo>
                    <a:pt x="72" y="71"/>
                  </a:moveTo>
                  <a:lnTo>
                    <a:pt x="66" y="89"/>
                  </a:lnTo>
                  <a:lnTo>
                    <a:pt x="60" y="107"/>
                  </a:lnTo>
                  <a:lnTo>
                    <a:pt x="42" y="125"/>
                  </a:lnTo>
                  <a:lnTo>
                    <a:pt x="24" y="131"/>
                  </a:lnTo>
                  <a:lnTo>
                    <a:pt x="18" y="131"/>
                  </a:lnTo>
                  <a:lnTo>
                    <a:pt x="18" y="125"/>
                  </a:lnTo>
                  <a:lnTo>
                    <a:pt x="24" y="107"/>
                  </a:lnTo>
                  <a:lnTo>
                    <a:pt x="30" y="83"/>
                  </a:lnTo>
                  <a:lnTo>
                    <a:pt x="42" y="65"/>
                  </a:lnTo>
                  <a:lnTo>
                    <a:pt x="54" y="59"/>
                  </a:lnTo>
                  <a:lnTo>
                    <a:pt x="66" y="65"/>
                  </a:lnTo>
                  <a:lnTo>
                    <a:pt x="72" y="71"/>
                  </a:lnTo>
                  <a:close/>
                  <a:moveTo>
                    <a:pt x="18" y="12"/>
                  </a:moveTo>
                  <a:lnTo>
                    <a:pt x="30" y="12"/>
                  </a:lnTo>
                  <a:lnTo>
                    <a:pt x="30" y="23"/>
                  </a:lnTo>
                  <a:lnTo>
                    <a:pt x="24" y="29"/>
                  </a:lnTo>
                  <a:lnTo>
                    <a:pt x="0" y="125"/>
                  </a:lnTo>
                  <a:lnTo>
                    <a:pt x="6" y="131"/>
                  </a:lnTo>
                  <a:lnTo>
                    <a:pt x="24" y="137"/>
                  </a:lnTo>
                  <a:lnTo>
                    <a:pt x="48" y="131"/>
                  </a:lnTo>
                  <a:lnTo>
                    <a:pt x="66" y="113"/>
                  </a:lnTo>
                  <a:lnTo>
                    <a:pt x="78" y="95"/>
                  </a:lnTo>
                  <a:lnTo>
                    <a:pt x="84" y="71"/>
                  </a:lnTo>
                  <a:lnTo>
                    <a:pt x="78" y="53"/>
                  </a:lnTo>
                  <a:lnTo>
                    <a:pt x="66" y="47"/>
                  </a:lnTo>
                  <a:lnTo>
                    <a:pt x="54" y="53"/>
                  </a:lnTo>
                  <a:lnTo>
                    <a:pt x="42" y="59"/>
                  </a:lnTo>
                  <a:lnTo>
                    <a:pt x="30" y="77"/>
                  </a:lnTo>
                  <a:lnTo>
                    <a:pt x="42" y="35"/>
                  </a:lnTo>
                  <a:lnTo>
                    <a:pt x="42" y="17"/>
                  </a:lnTo>
                  <a:lnTo>
                    <a:pt x="48" y="0"/>
                  </a:lnTo>
                  <a:lnTo>
                    <a:pt x="30" y="6"/>
                  </a:lnTo>
                  <a:lnTo>
                    <a:pt x="18" y="6"/>
                  </a:lnTo>
                  <a:lnTo>
                    <a:pt x="18"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40" name="Freeform 29"/>
            <p:cNvSpPr/>
            <p:nvPr/>
          </p:nvSpPr>
          <p:spPr>
            <a:xfrm>
              <a:off x="2841" y="1628"/>
              <a:ext cx="90" cy="90"/>
            </a:xfrm>
            <a:custGeom>
              <a:avLst/>
              <a:gdLst>
                <a:gd name="txL" fmla="*/ 0 w 90"/>
                <a:gd name="txT" fmla="*/ 0 h 90"/>
                <a:gd name="txR" fmla="*/ 90 w 90"/>
                <a:gd name="txB" fmla="*/ 90 h 90"/>
              </a:gdLst>
              <a:ahLst/>
              <a:cxnLst>
                <a:cxn ang="0">
                  <a:pos x="90" y="60"/>
                </a:cxn>
                <a:cxn ang="0">
                  <a:pos x="78" y="72"/>
                </a:cxn>
                <a:cxn ang="0">
                  <a:pos x="72" y="78"/>
                </a:cxn>
                <a:cxn ang="0">
                  <a:pos x="72" y="78"/>
                </a:cxn>
                <a:cxn ang="0">
                  <a:pos x="66" y="72"/>
                </a:cxn>
                <a:cxn ang="0">
                  <a:pos x="72" y="60"/>
                </a:cxn>
                <a:cxn ang="0">
                  <a:pos x="78" y="42"/>
                </a:cxn>
                <a:cxn ang="0">
                  <a:pos x="84" y="24"/>
                </a:cxn>
                <a:cxn ang="0">
                  <a:pos x="84" y="12"/>
                </a:cxn>
                <a:cxn ang="0">
                  <a:pos x="78" y="6"/>
                </a:cxn>
                <a:cxn ang="0">
                  <a:pos x="72" y="0"/>
                </a:cxn>
                <a:cxn ang="0">
                  <a:pos x="60" y="6"/>
                </a:cxn>
                <a:cxn ang="0">
                  <a:pos x="48" y="18"/>
                </a:cxn>
                <a:cxn ang="0">
                  <a:pos x="36" y="30"/>
                </a:cxn>
                <a:cxn ang="0">
                  <a:pos x="30" y="42"/>
                </a:cxn>
                <a:cxn ang="0">
                  <a:pos x="30" y="42"/>
                </a:cxn>
                <a:cxn ang="0">
                  <a:pos x="42" y="0"/>
                </a:cxn>
                <a:cxn ang="0">
                  <a:pos x="42" y="0"/>
                </a:cxn>
                <a:cxn ang="0">
                  <a:pos x="24" y="6"/>
                </a:cxn>
                <a:cxn ang="0">
                  <a:pos x="6" y="6"/>
                </a:cxn>
                <a:cxn ang="0">
                  <a:pos x="6" y="12"/>
                </a:cxn>
                <a:cxn ang="0">
                  <a:pos x="18" y="12"/>
                </a:cxn>
                <a:cxn ang="0">
                  <a:pos x="18" y="12"/>
                </a:cxn>
                <a:cxn ang="0">
                  <a:pos x="18" y="24"/>
                </a:cxn>
                <a:cxn ang="0">
                  <a:pos x="12" y="42"/>
                </a:cxn>
                <a:cxn ang="0">
                  <a:pos x="6" y="66"/>
                </a:cxn>
                <a:cxn ang="0">
                  <a:pos x="0" y="84"/>
                </a:cxn>
                <a:cxn ang="0">
                  <a:pos x="18" y="84"/>
                </a:cxn>
                <a:cxn ang="0">
                  <a:pos x="24" y="54"/>
                </a:cxn>
                <a:cxn ang="0">
                  <a:pos x="36" y="36"/>
                </a:cxn>
                <a:cxn ang="0">
                  <a:pos x="48" y="18"/>
                </a:cxn>
                <a:cxn ang="0">
                  <a:pos x="66" y="12"/>
                </a:cxn>
                <a:cxn ang="0">
                  <a:pos x="66" y="12"/>
                </a:cxn>
                <a:cxn ang="0">
                  <a:pos x="66" y="18"/>
                </a:cxn>
                <a:cxn ang="0">
                  <a:pos x="66" y="30"/>
                </a:cxn>
                <a:cxn ang="0">
                  <a:pos x="60" y="48"/>
                </a:cxn>
                <a:cxn ang="0">
                  <a:pos x="54" y="66"/>
                </a:cxn>
                <a:cxn ang="0">
                  <a:pos x="54" y="78"/>
                </a:cxn>
                <a:cxn ang="0">
                  <a:pos x="54" y="84"/>
                </a:cxn>
                <a:cxn ang="0">
                  <a:pos x="66" y="90"/>
                </a:cxn>
                <a:cxn ang="0">
                  <a:pos x="78" y="84"/>
                </a:cxn>
                <a:cxn ang="0">
                  <a:pos x="90" y="66"/>
                </a:cxn>
                <a:cxn ang="0">
                  <a:pos x="90" y="60"/>
                </a:cxn>
              </a:cxnLst>
              <a:rect l="txL" t="txT" r="txR" b="txB"/>
              <a:pathLst>
                <a:path w="90" h="90">
                  <a:moveTo>
                    <a:pt x="90" y="60"/>
                  </a:moveTo>
                  <a:lnTo>
                    <a:pt x="78" y="72"/>
                  </a:lnTo>
                  <a:lnTo>
                    <a:pt x="72" y="78"/>
                  </a:lnTo>
                  <a:lnTo>
                    <a:pt x="66" y="72"/>
                  </a:lnTo>
                  <a:lnTo>
                    <a:pt x="72" y="60"/>
                  </a:lnTo>
                  <a:lnTo>
                    <a:pt x="78" y="42"/>
                  </a:lnTo>
                  <a:lnTo>
                    <a:pt x="84" y="24"/>
                  </a:lnTo>
                  <a:lnTo>
                    <a:pt x="84" y="12"/>
                  </a:lnTo>
                  <a:lnTo>
                    <a:pt x="78" y="6"/>
                  </a:lnTo>
                  <a:lnTo>
                    <a:pt x="72" y="0"/>
                  </a:lnTo>
                  <a:lnTo>
                    <a:pt x="60" y="6"/>
                  </a:lnTo>
                  <a:lnTo>
                    <a:pt x="48" y="18"/>
                  </a:lnTo>
                  <a:lnTo>
                    <a:pt x="36" y="30"/>
                  </a:lnTo>
                  <a:lnTo>
                    <a:pt x="30" y="42"/>
                  </a:lnTo>
                  <a:lnTo>
                    <a:pt x="42" y="0"/>
                  </a:lnTo>
                  <a:lnTo>
                    <a:pt x="24" y="6"/>
                  </a:lnTo>
                  <a:lnTo>
                    <a:pt x="6" y="6"/>
                  </a:lnTo>
                  <a:lnTo>
                    <a:pt x="6" y="12"/>
                  </a:lnTo>
                  <a:lnTo>
                    <a:pt x="18" y="12"/>
                  </a:lnTo>
                  <a:lnTo>
                    <a:pt x="18" y="24"/>
                  </a:lnTo>
                  <a:lnTo>
                    <a:pt x="12" y="42"/>
                  </a:lnTo>
                  <a:lnTo>
                    <a:pt x="6" y="66"/>
                  </a:lnTo>
                  <a:lnTo>
                    <a:pt x="0" y="84"/>
                  </a:lnTo>
                  <a:lnTo>
                    <a:pt x="18" y="84"/>
                  </a:lnTo>
                  <a:lnTo>
                    <a:pt x="24" y="54"/>
                  </a:lnTo>
                  <a:lnTo>
                    <a:pt x="36" y="36"/>
                  </a:lnTo>
                  <a:lnTo>
                    <a:pt x="48" y="18"/>
                  </a:lnTo>
                  <a:lnTo>
                    <a:pt x="66" y="12"/>
                  </a:lnTo>
                  <a:lnTo>
                    <a:pt x="66" y="18"/>
                  </a:lnTo>
                  <a:lnTo>
                    <a:pt x="66" y="30"/>
                  </a:lnTo>
                  <a:lnTo>
                    <a:pt x="60" y="48"/>
                  </a:lnTo>
                  <a:lnTo>
                    <a:pt x="54" y="66"/>
                  </a:lnTo>
                  <a:lnTo>
                    <a:pt x="54" y="78"/>
                  </a:lnTo>
                  <a:lnTo>
                    <a:pt x="54" y="84"/>
                  </a:lnTo>
                  <a:lnTo>
                    <a:pt x="66" y="90"/>
                  </a:lnTo>
                  <a:lnTo>
                    <a:pt x="78" y="84"/>
                  </a:lnTo>
                  <a:lnTo>
                    <a:pt x="90" y="66"/>
                  </a:lnTo>
                  <a:lnTo>
                    <a:pt x="90" y="6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41" name="Freeform 30"/>
            <p:cNvSpPr>
              <a:spLocks noEditPoints="1"/>
            </p:cNvSpPr>
            <p:nvPr/>
          </p:nvSpPr>
          <p:spPr>
            <a:xfrm>
              <a:off x="1047" y="947"/>
              <a:ext cx="90" cy="90"/>
            </a:xfrm>
            <a:custGeom>
              <a:avLst/>
              <a:gdLst>
                <a:gd name="txL" fmla="*/ 0 w 90"/>
                <a:gd name="txT" fmla="*/ 0 h 90"/>
                <a:gd name="txR" fmla="*/ 90 w 90"/>
                <a:gd name="txB" fmla="*/ 90 h 90"/>
              </a:gdLst>
              <a:ahLst/>
              <a:cxnLst>
                <a:cxn ang="0">
                  <a:pos x="84" y="66"/>
                </a:cxn>
                <a:cxn ang="0">
                  <a:pos x="78" y="72"/>
                </a:cxn>
                <a:cxn ang="0">
                  <a:pos x="72" y="78"/>
                </a:cxn>
                <a:cxn ang="0">
                  <a:pos x="72" y="78"/>
                </a:cxn>
                <a:cxn ang="0">
                  <a:pos x="66" y="72"/>
                </a:cxn>
                <a:cxn ang="0">
                  <a:pos x="72" y="60"/>
                </a:cxn>
                <a:cxn ang="0">
                  <a:pos x="78" y="36"/>
                </a:cxn>
                <a:cxn ang="0">
                  <a:pos x="84" y="12"/>
                </a:cxn>
                <a:cxn ang="0">
                  <a:pos x="84" y="6"/>
                </a:cxn>
                <a:cxn ang="0">
                  <a:pos x="84" y="0"/>
                </a:cxn>
                <a:cxn ang="0">
                  <a:pos x="84" y="0"/>
                </a:cxn>
                <a:cxn ang="0">
                  <a:pos x="72" y="0"/>
                </a:cxn>
                <a:cxn ang="0">
                  <a:pos x="72" y="0"/>
                </a:cxn>
                <a:cxn ang="0">
                  <a:pos x="72" y="12"/>
                </a:cxn>
                <a:cxn ang="0">
                  <a:pos x="72" y="12"/>
                </a:cxn>
                <a:cxn ang="0">
                  <a:pos x="66" y="6"/>
                </a:cxn>
                <a:cxn ang="0">
                  <a:pos x="54" y="0"/>
                </a:cxn>
                <a:cxn ang="0">
                  <a:pos x="36" y="6"/>
                </a:cxn>
                <a:cxn ang="0">
                  <a:pos x="18" y="24"/>
                </a:cxn>
                <a:cxn ang="0">
                  <a:pos x="6" y="42"/>
                </a:cxn>
                <a:cxn ang="0">
                  <a:pos x="0" y="66"/>
                </a:cxn>
                <a:cxn ang="0">
                  <a:pos x="0" y="78"/>
                </a:cxn>
                <a:cxn ang="0">
                  <a:pos x="6" y="90"/>
                </a:cxn>
                <a:cxn ang="0">
                  <a:pos x="18" y="90"/>
                </a:cxn>
                <a:cxn ang="0">
                  <a:pos x="36" y="84"/>
                </a:cxn>
                <a:cxn ang="0">
                  <a:pos x="48" y="78"/>
                </a:cxn>
                <a:cxn ang="0">
                  <a:pos x="60" y="60"/>
                </a:cxn>
                <a:cxn ang="0">
                  <a:pos x="60" y="60"/>
                </a:cxn>
                <a:cxn ang="0">
                  <a:pos x="54" y="72"/>
                </a:cxn>
                <a:cxn ang="0">
                  <a:pos x="54" y="78"/>
                </a:cxn>
                <a:cxn ang="0">
                  <a:pos x="54" y="84"/>
                </a:cxn>
                <a:cxn ang="0">
                  <a:pos x="60" y="84"/>
                </a:cxn>
                <a:cxn ang="0">
                  <a:pos x="78" y="78"/>
                </a:cxn>
                <a:cxn ang="0">
                  <a:pos x="90" y="66"/>
                </a:cxn>
                <a:cxn ang="0">
                  <a:pos x="84" y="66"/>
                </a:cxn>
                <a:cxn ang="0">
                  <a:pos x="18" y="66"/>
                </a:cxn>
                <a:cxn ang="0">
                  <a:pos x="24" y="48"/>
                </a:cxn>
                <a:cxn ang="0">
                  <a:pos x="30" y="30"/>
                </a:cxn>
                <a:cxn ang="0">
                  <a:pos x="42" y="12"/>
                </a:cxn>
                <a:cxn ang="0">
                  <a:pos x="54" y="6"/>
                </a:cxn>
                <a:cxn ang="0">
                  <a:pos x="60" y="6"/>
                </a:cxn>
                <a:cxn ang="0">
                  <a:pos x="66" y="18"/>
                </a:cxn>
                <a:cxn ang="0">
                  <a:pos x="66" y="36"/>
                </a:cxn>
                <a:cxn ang="0">
                  <a:pos x="54" y="54"/>
                </a:cxn>
                <a:cxn ang="0">
                  <a:pos x="42" y="72"/>
                </a:cxn>
                <a:cxn ang="0">
                  <a:pos x="30" y="78"/>
                </a:cxn>
                <a:cxn ang="0">
                  <a:pos x="24" y="72"/>
                </a:cxn>
                <a:cxn ang="0">
                  <a:pos x="18" y="66"/>
                </a:cxn>
                <a:cxn ang="0">
                  <a:pos x="18" y="66"/>
                </a:cxn>
              </a:cxnLst>
              <a:rect l="txL" t="txT" r="txR" b="txB"/>
              <a:pathLst>
                <a:path w="90" h="90">
                  <a:moveTo>
                    <a:pt x="84" y="66"/>
                  </a:moveTo>
                  <a:lnTo>
                    <a:pt x="78" y="72"/>
                  </a:lnTo>
                  <a:lnTo>
                    <a:pt x="72" y="78"/>
                  </a:lnTo>
                  <a:lnTo>
                    <a:pt x="66" y="72"/>
                  </a:lnTo>
                  <a:lnTo>
                    <a:pt x="72" y="60"/>
                  </a:lnTo>
                  <a:lnTo>
                    <a:pt x="78" y="36"/>
                  </a:lnTo>
                  <a:lnTo>
                    <a:pt x="84" y="12"/>
                  </a:lnTo>
                  <a:lnTo>
                    <a:pt x="84" y="6"/>
                  </a:lnTo>
                  <a:lnTo>
                    <a:pt x="84" y="0"/>
                  </a:lnTo>
                  <a:lnTo>
                    <a:pt x="72" y="0"/>
                  </a:lnTo>
                  <a:lnTo>
                    <a:pt x="72" y="12"/>
                  </a:lnTo>
                  <a:lnTo>
                    <a:pt x="66" y="6"/>
                  </a:lnTo>
                  <a:lnTo>
                    <a:pt x="54" y="0"/>
                  </a:lnTo>
                  <a:lnTo>
                    <a:pt x="36" y="6"/>
                  </a:lnTo>
                  <a:lnTo>
                    <a:pt x="18" y="24"/>
                  </a:lnTo>
                  <a:lnTo>
                    <a:pt x="6" y="42"/>
                  </a:lnTo>
                  <a:lnTo>
                    <a:pt x="0" y="66"/>
                  </a:lnTo>
                  <a:lnTo>
                    <a:pt x="0" y="78"/>
                  </a:lnTo>
                  <a:lnTo>
                    <a:pt x="6" y="90"/>
                  </a:lnTo>
                  <a:lnTo>
                    <a:pt x="18" y="90"/>
                  </a:lnTo>
                  <a:lnTo>
                    <a:pt x="36" y="84"/>
                  </a:lnTo>
                  <a:lnTo>
                    <a:pt x="48" y="78"/>
                  </a:lnTo>
                  <a:lnTo>
                    <a:pt x="60" y="60"/>
                  </a:lnTo>
                  <a:lnTo>
                    <a:pt x="54" y="72"/>
                  </a:lnTo>
                  <a:lnTo>
                    <a:pt x="54" y="78"/>
                  </a:lnTo>
                  <a:lnTo>
                    <a:pt x="54" y="84"/>
                  </a:lnTo>
                  <a:lnTo>
                    <a:pt x="60" y="84"/>
                  </a:lnTo>
                  <a:lnTo>
                    <a:pt x="78" y="78"/>
                  </a:lnTo>
                  <a:lnTo>
                    <a:pt x="90" y="66"/>
                  </a:lnTo>
                  <a:lnTo>
                    <a:pt x="84" y="66"/>
                  </a:lnTo>
                  <a:close/>
                  <a:moveTo>
                    <a:pt x="18" y="66"/>
                  </a:moveTo>
                  <a:lnTo>
                    <a:pt x="24" y="48"/>
                  </a:lnTo>
                  <a:lnTo>
                    <a:pt x="30" y="30"/>
                  </a:lnTo>
                  <a:lnTo>
                    <a:pt x="42" y="12"/>
                  </a:lnTo>
                  <a:lnTo>
                    <a:pt x="54" y="6"/>
                  </a:lnTo>
                  <a:lnTo>
                    <a:pt x="60" y="6"/>
                  </a:lnTo>
                  <a:lnTo>
                    <a:pt x="66" y="18"/>
                  </a:lnTo>
                  <a:lnTo>
                    <a:pt x="66" y="36"/>
                  </a:lnTo>
                  <a:lnTo>
                    <a:pt x="54" y="54"/>
                  </a:lnTo>
                  <a:lnTo>
                    <a:pt x="42" y="72"/>
                  </a:lnTo>
                  <a:lnTo>
                    <a:pt x="30" y="78"/>
                  </a:lnTo>
                  <a:lnTo>
                    <a:pt x="24" y="72"/>
                  </a:lnTo>
                  <a:lnTo>
                    <a:pt x="18" y="6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42" name="Freeform 31"/>
            <p:cNvSpPr/>
            <p:nvPr/>
          </p:nvSpPr>
          <p:spPr>
            <a:xfrm>
              <a:off x="2859" y="3581"/>
              <a:ext cx="72" cy="89"/>
            </a:xfrm>
            <a:custGeom>
              <a:avLst/>
              <a:gdLst>
                <a:gd name="txL" fmla="*/ 0 w 72"/>
                <a:gd name="txT" fmla="*/ 0 h 89"/>
                <a:gd name="txR" fmla="*/ 72 w 72"/>
                <a:gd name="txB" fmla="*/ 89 h 89"/>
              </a:gdLst>
              <a:ahLst/>
              <a:cxnLst>
                <a:cxn ang="0">
                  <a:pos x="60" y="65"/>
                </a:cxn>
                <a:cxn ang="0">
                  <a:pos x="48" y="77"/>
                </a:cxn>
                <a:cxn ang="0">
                  <a:pos x="36" y="83"/>
                </a:cxn>
                <a:cxn ang="0">
                  <a:pos x="24" y="77"/>
                </a:cxn>
                <a:cxn ang="0">
                  <a:pos x="18" y="59"/>
                </a:cxn>
                <a:cxn ang="0">
                  <a:pos x="18" y="41"/>
                </a:cxn>
                <a:cxn ang="0">
                  <a:pos x="30" y="24"/>
                </a:cxn>
                <a:cxn ang="0">
                  <a:pos x="36" y="12"/>
                </a:cxn>
                <a:cxn ang="0">
                  <a:pos x="54" y="6"/>
                </a:cxn>
                <a:cxn ang="0">
                  <a:pos x="60" y="6"/>
                </a:cxn>
                <a:cxn ang="0">
                  <a:pos x="60" y="12"/>
                </a:cxn>
                <a:cxn ang="0">
                  <a:pos x="60" y="18"/>
                </a:cxn>
                <a:cxn ang="0">
                  <a:pos x="60" y="18"/>
                </a:cxn>
                <a:cxn ang="0">
                  <a:pos x="60" y="24"/>
                </a:cxn>
                <a:cxn ang="0">
                  <a:pos x="66" y="30"/>
                </a:cxn>
                <a:cxn ang="0">
                  <a:pos x="72" y="24"/>
                </a:cxn>
                <a:cxn ang="0">
                  <a:pos x="72" y="18"/>
                </a:cxn>
                <a:cxn ang="0">
                  <a:pos x="72" y="6"/>
                </a:cxn>
                <a:cxn ang="0">
                  <a:pos x="66" y="0"/>
                </a:cxn>
                <a:cxn ang="0">
                  <a:pos x="54" y="0"/>
                </a:cxn>
                <a:cxn ang="0">
                  <a:pos x="36" y="6"/>
                </a:cxn>
                <a:cxn ang="0">
                  <a:pos x="18" y="18"/>
                </a:cxn>
                <a:cxn ang="0">
                  <a:pos x="6" y="35"/>
                </a:cxn>
                <a:cxn ang="0">
                  <a:pos x="0" y="59"/>
                </a:cxn>
                <a:cxn ang="0">
                  <a:pos x="6" y="77"/>
                </a:cxn>
                <a:cxn ang="0">
                  <a:pos x="12" y="83"/>
                </a:cxn>
                <a:cxn ang="0">
                  <a:pos x="30" y="89"/>
                </a:cxn>
                <a:cxn ang="0">
                  <a:pos x="54" y="83"/>
                </a:cxn>
                <a:cxn ang="0">
                  <a:pos x="66" y="71"/>
                </a:cxn>
                <a:cxn ang="0">
                  <a:pos x="60" y="65"/>
                </a:cxn>
              </a:cxnLst>
              <a:rect l="txL" t="txT" r="txR" b="txB"/>
              <a:pathLst>
                <a:path w="72" h="89">
                  <a:moveTo>
                    <a:pt x="60" y="65"/>
                  </a:moveTo>
                  <a:lnTo>
                    <a:pt x="48" y="77"/>
                  </a:lnTo>
                  <a:lnTo>
                    <a:pt x="36" y="83"/>
                  </a:lnTo>
                  <a:lnTo>
                    <a:pt x="24" y="77"/>
                  </a:lnTo>
                  <a:lnTo>
                    <a:pt x="18" y="59"/>
                  </a:lnTo>
                  <a:lnTo>
                    <a:pt x="18" y="41"/>
                  </a:lnTo>
                  <a:lnTo>
                    <a:pt x="30" y="24"/>
                  </a:lnTo>
                  <a:lnTo>
                    <a:pt x="36" y="12"/>
                  </a:lnTo>
                  <a:lnTo>
                    <a:pt x="54" y="6"/>
                  </a:lnTo>
                  <a:lnTo>
                    <a:pt x="60" y="6"/>
                  </a:lnTo>
                  <a:lnTo>
                    <a:pt x="60" y="12"/>
                  </a:lnTo>
                  <a:lnTo>
                    <a:pt x="60" y="18"/>
                  </a:lnTo>
                  <a:lnTo>
                    <a:pt x="60" y="24"/>
                  </a:lnTo>
                  <a:lnTo>
                    <a:pt x="66" y="30"/>
                  </a:lnTo>
                  <a:lnTo>
                    <a:pt x="72" y="24"/>
                  </a:lnTo>
                  <a:lnTo>
                    <a:pt x="72" y="18"/>
                  </a:lnTo>
                  <a:lnTo>
                    <a:pt x="72" y="6"/>
                  </a:lnTo>
                  <a:lnTo>
                    <a:pt x="66" y="0"/>
                  </a:lnTo>
                  <a:lnTo>
                    <a:pt x="54" y="0"/>
                  </a:lnTo>
                  <a:lnTo>
                    <a:pt x="36" y="6"/>
                  </a:lnTo>
                  <a:lnTo>
                    <a:pt x="18" y="18"/>
                  </a:lnTo>
                  <a:lnTo>
                    <a:pt x="6" y="35"/>
                  </a:lnTo>
                  <a:lnTo>
                    <a:pt x="0" y="59"/>
                  </a:lnTo>
                  <a:lnTo>
                    <a:pt x="6" y="77"/>
                  </a:lnTo>
                  <a:lnTo>
                    <a:pt x="12" y="83"/>
                  </a:lnTo>
                  <a:lnTo>
                    <a:pt x="30" y="89"/>
                  </a:lnTo>
                  <a:lnTo>
                    <a:pt x="54" y="83"/>
                  </a:lnTo>
                  <a:lnTo>
                    <a:pt x="66" y="71"/>
                  </a:lnTo>
                  <a:lnTo>
                    <a:pt x="60" y="6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4543" name="Freeform 32"/>
            <p:cNvSpPr/>
            <p:nvPr/>
          </p:nvSpPr>
          <p:spPr>
            <a:xfrm>
              <a:off x="3523" y="1294"/>
              <a:ext cx="347" cy="209"/>
            </a:xfrm>
            <a:custGeom>
              <a:avLst/>
              <a:gdLst>
                <a:gd name="txL" fmla="*/ 0 w 347"/>
                <a:gd name="txT" fmla="*/ 0 h 209"/>
                <a:gd name="txR" fmla="*/ 347 w 347"/>
                <a:gd name="txB" fmla="*/ 209 h 209"/>
              </a:gdLst>
              <a:ahLst/>
              <a:cxnLst>
                <a:cxn ang="0">
                  <a:pos x="0" y="167"/>
                </a:cxn>
                <a:cxn ang="0">
                  <a:pos x="18" y="209"/>
                </a:cxn>
                <a:cxn ang="0">
                  <a:pos x="347" y="41"/>
                </a:cxn>
                <a:cxn ang="0">
                  <a:pos x="329" y="0"/>
                </a:cxn>
                <a:cxn ang="0">
                  <a:pos x="0" y="167"/>
                </a:cxn>
                <a:cxn ang="0">
                  <a:pos x="0" y="167"/>
                </a:cxn>
              </a:cxnLst>
              <a:rect l="txL" t="txT" r="txR" b="txB"/>
              <a:pathLst>
                <a:path w="347" h="209">
                  <a:moveTo>
                    <a:pt x="0" y="167"/>
                  </a:moveTo>
                  <a:lnTo>
                    <a:pt x="18" y="209"/>
                  </a:lnTo>
                  <a:lnTo>
                    <a:pt x="347" y="41"/>
                  </a:lnTo>
                  <a:lnTo>
                    <a:pt x="329" y="0"/>
                  </a:lnTo>
                  <a:lnTo>
                    <a:pt x="0" y="167"/>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4544" name="Freeform 33"/>
            <p:cNvSpPr/>
            <p:nvPr/>
          </p:nvSpPr>
          <p:spPr>
            <a:xfrm>
              <a:off x="3822" y="1270"/>
              <a:ext cx="48" cy="42"/>
            </a:xfrm>
            <a:custGeom>
              <a:avLst/>
              <a:gdLst>
                <a:gd name="txL" fmla="*/ 0 w 48"/>
                <a:gd name="txT" fmla="*/ 0 h 42"/>
                <a:gd name="txR" fmla="*/ 48 w 48"/>
                <a:gd name="txB" fmla="*/ 42 h 42"/>
              </a:gdLst>
              <a:ahLst/>
              <a:cxnLst>
                <a:cxn ang="0">
                  <a:pos x="48" y="42"/>
                </a:cxn>
                <a:cxn ang="0">
                  <a:pos x="0" y="0"/>
                </a:cxn>
                <a:cxn ang="0">
                  <a:pos x="48" y="42"/>
                </a:cxn>
                <a:cxn ang="0">
                  <a:pos x="48" y="42"/>
                </a:cxn>
              </a:cxnLst>
              <a:rect l="txL" t="txT" r="txR" b="txB"/>
              <a:pathLst>
                <a:path w="48" h="42">
                  <a:moveTo>
                    <a:pt x="48" y="42"/>
                  </a:moveTo>
                  <a:lnTo>
                    <a:pt x="0" y="0"/>
                  </a:lnTo>
                  <a:lnTo>
                    <a:pt x="48"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45" name="Freeform 34"/>
            <p:cNvSpPr>
              <a:spLocks noEditPoints="1"/>
            </p:cNvSpPr>
            <p:nvPr/>
          </p:nvSpPr>
          <p:spPr>
            <a:xfrm>
              <a:off x="3822" y="1270"/>
              <a:ext cx="6" cy="65"/>
            </a:xfrm>
            <a:custGeom>
              <a:avLst/>
              <a:gdLst>
                <a:gd name="txL" fmla="*/ 0 w 6"/>
                <a:gd name="txT" fmla="*/ 0 h 65"/>
                <a:gd name="txR" fmla="*/ 6 w 6"/>
                <a:gd name="txB" fmla="*/ 65 h 65"/>
              </a:gdLst>
              <a:ahLst/>
              <a:cxnLst>
                <a:cxn ang="0">
                  <a:pos x="0" y="0"/>
                </a:cxn>
                <a:cxn ang="0">
                  <a:pos x="6" y="65"/>
                </a:cxn>
                <a:cxn ang="0">
                  <a:pos x="0" y="0"/>
                </a:cxn>
                <a:cxn ang="0">
                  <a:pos x="0" y="0"/>
                </a:cxn>
                <a:cxn ang="0">
                  <a:pos x="0" y="0"/>
                </a:cxn>
                <a:cxn ang="0">
                  <a:pos x="0" y="0"/>
                </a:cxn>
                <a:cxn ang="0">
                  <a:pos x="0" y="0"/>
                </a:cxn>
              </a:cxnLst>
              <a:rect l="txL" t="txT" r="txR" b="txB"/>
              <a:pathLst>
                <a:path w="6" h="65">
                  <a:moveTo>
                    <a:pt x="0" y="0"/>
                  </a:moveTo>
                  <a:lnTo>
                    <a:pt x="6" y="65"/>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46" name="Freeform 35"/>
            <p:cNvSpPr>
              <a:spLocks noEditPoints="1"/>
            </p:cNvSpPr>
            <p:nvPr/>
          </p:nvSpPr>
          <p:spPr>
            <a:xfrm>
              <a:off x="3828" y="1335"/>
              <a:ext cx="1" cy="60"/>
            </a:xfrm>
            <a:custGeom>
              <a:avLst/>
              <a:gdLst>
                <a:gd name="txL" fmla="*/ 0 w 1"/>
                <a:gd name="txT" fmla="*/ 0 h 60"/>
                <a:gd name="txR" fmla="*/ 1 w 1"/>
                <a:gd name="txB" fmla="*/ 60 h 60"/>
              </a:gdLst>
              <a:ahLst/>
              <a:cxnLst>
                <a:cxn ang="0">
                  <a:pos x="0" y="0"/>
                </a:cxn>
                <a:cxn ang="0">
                  <a:pos x="0" y="60"/>
                </a:cxn>
                <a:cxn ang="0">
                  <a:pos x="0" y="0"/>
                </a:cxn>
                <a:cxn ang="0">
                  <a:pos x="0" y="0"/>
                </a:cxn>
                <a:cxn ang="0">
                  <a:pos x="0" y="0"/>
                </a:cxn>
                <a:cxn ang="0">
                  <a:pos x="0" y="0"/>
                </a:cxn>
                <a:cxn ang="0">
                  <a:pos x="0" y="0"/>
                </a:cxn>
              </a:cxnLst>
              <a:rect l="txL" t="txT" r="txR" b="txB"/>
              <a:pathLst>
                <a:path w="1" h="60">
                  <a:moveTo>
                    <a:pt x="0" y="0"/>
                  </a:moveTo>
                  <a:lnTo>
                    <a:pt x="0"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47" name="Freeform 36"/>
            <p:cNvSpPr>
              <a:spLocks noEditPoints="1"/>
            </p:cNvSpPr>
            <p:nvPr/>
          </p:nvSpPr>
          <p:spPr>
            <a:xfrm>
              <a:off x="3780" y="1353"/>
              <a:ext cx="48" cy="42"/>
            </a:xfrm>
            <a:custGeom>
              <a:avLst/>
              <a:gdLst>
                <a:gd name="txL" fmla="*/ 0 w 48"/>
                <a:gd name="txT" fmla="*/ 0 h 42"/>
                <a:gd name="txR" fmla="*/ 48 w 48"/>
                <a:gd name="txB" fmla="*/ 42 h 42"/>
              </a:gdLst>
              <a:ahLst/>
              <a:cxnLst>
                <a:cxn ang="0">
                  <a:pos x="48" y="42"/>
                </a:cxn>
                <a:cxn ang="0">
                  <a:pos x="0" y="0"/>
                </a:cxn>
                <a:cxn ang="0">
                  <a:pos x="48" y="42"/>
                </a:cxn>
                <a:cxn ang="0">
                  <a:pos x="48" y="42"/>
                </a:cxn>
                <a:cxn ang="0">
                  <a:pos x="48" y="42"/>
                </a:cxn>
                <a:cxn ang="0">
                  <a:pos x="48" y="42"/>
                </a:cxn>
                <a:cxn ang="0">
                  <a:pos x="48" y="42"/>
                </a:cxn>
              </a:cxnLst>
              <a:rect l="txL" t="txT" r="txR" b="txB"/>
              <a:pathLst>
                <a:path w="48" h="42">
                  <a:moveTo>
                    <a:pt x="48" y="42"/>
                  </a:moveTo>
                  <a:lnTo>
                    <a:pt x="0" y="0"/>
                  </a:lnTo>
                  <a:lnTo>
                    <a:pt x="48" y="42"/>
                  </a:lnTo>
                  <a:close/>
                  <a:moveTo>
                    <a:pt x="48" y="42"/>
                  </a:moveTo>
                  <a:lnTo>
                    <a:pt x="48"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48" name="Freeform 37"/>
            <p:cNvSpPr>
              <a:spLocks noEditPoints="1"/>
            </p:cNvSpPr>
            <p:nvPr/>
          </p:nvSpPr>
          <p:spPr>
            <a:xfrm>
              <a:off x="3780" y="1353"/>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49" name="Freeform 38"/>
            <p:cNvSpPr>
              <a:spLocks noEditPoints="1"/>
            </p:cNvSpPr>
            <p:nvPr/>
          </p:nvSpPr>
          <p:spPr>
            <a:xfrm>
              <a:off x="3738" y="1318"/>
              <a:ext cx="42" cy="35"/>
            </a:xfrm>
            <a:custGeom>
              <a:avLst/>
              <a:gdLst>
                <a:gd name="txL" fmla="*/ 0 w 42"/>
                <a:gd name="txT" fmla="*/ 0 h 35"/>
                <a:gd name="txR" fmla="*/ 42 w 42"/>
                <a:gd name="txB" fmla="*/ 35 h 35"/>
              </a:gdLst>
              <a:ahLst/>
              <a:cxnLst>
                <a:cxn ang="0">
                  <a:pos x="42" y="35"/>
                </a:cxn>
                <a:cxn ang="0">
                  <a:pos x="0" y="0"/>
                </a:cxn>
                <a:cxn ang="0">
                  <a:pos x="42" y="35"/>
                </a:cxn>
                <a:cxn ang="0">
                  <a:pos x="42" y="35"/>
                </a:cxn>
                <a:cxn ang="0">
                  <a:pos x="42" y="35"/>
                </a:cxn>
                <a:cxn ang="0">
                  <a:pos x="42" y="35"/>
                </a:cxn>
                <a:cxn ang="0">
                  <a:pos x="42" y="35"/>
                </a:cxn>
              </a:cxnLst>
              <a:rect l="txL" t="txT" r="txR" b="txB"/>
              <a:pathLst>
                <a:path w="42" h="35">
                  <a:moveTo>
                    <a:pt x="42" y="35"/>
                  </a:moveTo>
                  <a:lnTo>
                    <a:pt x="0" y="0"/>
                  </a:lnTo>
                  <a:lnTo>
                    <a:pt x="42" y="35"/>
                  </a:lnTo>
                  <a:close/>
                  <a:moveTo>
                    <a:pt x="42" y="35"/>
                  </a:moveTo>
                  <a:lnTo>
                    <a:pt x="42" y="35"/>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50" name="Freeform 39"/>
            <p:cNvSpPr>
              <a:spLocks noEditPoints="1"/>
            </p:cNvSpPr>
            <p:nvPr/>
          </p:nvSpPr>
          <p:spPr>
            <a:xfrm>
              <a:off x="3738" y="1318"/>
              <a:ext cx="1" cy="59"/>
            </a:xfrm>
            <a:custGeom>
              <a:avLst/>
              <a:gdLst>
                <a:gd name="txL" fmla="*/ 0 w 1"/>
                <a:gd name="txT" fmla="*/ 0 h 59"/>
                <a:gd name="txR" fmla="*/ 1 w 1"/>
                <a:gd name="txB" fmla="*/ 59 h 59"/>
              </a:gdLst>
              <a:ahLst/>
              <a:cxnLst>
                <a:cxn ang="0">
                  <a:pos x="0" y="0"/>
                </a:cxn>
                <a:cxn ang="0">
                  <a:pos x="0" y="59"/>
                </a:cxn>
                <a:cxn ang="0">
                  <a:pos x="0" y="0"/>
                </a:cxn>
                <a:cxn ang="0">
                  <a:pos x="0" y="0"/>
                </a:cxn>
                <a:cxn ang="0">
                  <a:pos x="0" y="0"/>
                </a:cxn>
                <a:cxn ang="0">
                  <a:pos x="0" y="0"/>
                </a:cxn>
                <a:cxn ang="0">
                  <a:pos x="0" y="0"/>
                </a:cxn>
              </a:cxnLst>
              <a:rect l="txL" t="txT" r="txR" b="txB"/>
              <a:pathLst>
                <a:path w="1" h="59">
                  <a:moveTo>
                    <a:pt x="0" y="0"/>
                  </a:moveTo>
                  <a:lnTo>
                    <a:pt x="0" y="59"/>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51" name="Freeform 40"/>
            <p:cNvSpPr>
              <a:spLocks noEditPoints="1"/>
            </p:cNvSpPr>
            <p:nvPr/>
          </p:nvSpPr>
          <p:spPr>
            <a:xfrm>
              <a:off x="3738" y="1377"/>
              <a:ext cx="6" cy="60"/>
            </a:xfrm>
            <a:custGeom>
              <a:avLst/>
              <a:gdLst>
                <a:gd name="txL" fmla="*/ 0 w 6"/>
                <a:gd name="txT" fmla="*/ 0 h 60"/>
                <a:gd name="txR" fmla="*/ 6 w 6"/>
                <a:gd name="txB" fmla="*/ 60 h 60"/>
              </a:gdLst>
              <a:ahLst/>
              <a:cxnLst>
                <a:cxn ang="0">
                  <a:pos x="0" y="0"/>
                </a:cxn>
                <a:cxn ang="0">
                  <a:pos x="6" y="60"/>
                </a:cxn>
                <a:cxn ang="0">
                  <a:pos x="0" y="0"/>
                </a:cxn>
                <a:cxn ang="0">
                  <a:pos x="0" y="0"/>
                </a:cxn>
                <a:cxn ang="0">
                  <a:pos x="0" y="0"/>
                </a:cxn>
                <a:cxn ang="0">
                  <a:pos x="0" y="0"/>
                </a:cxn>
                <a:cxn ang="0">
                  <a:pos x="0" y="0"/>
                </a:cxn>
              </a:cxnLst>
              <a:rect l="txL" t="txT" r="txR" b="txB"/>
              <a:pathLst>
                <a:path w="6" h="60">
                  <a:moveTo>
                    <a:pt x="0" y="0"/>
                  </a:moveTo>
                  <a:lnTo>
                    <a:pt x="6"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52" name="Freeform 41"/>
            <p:cNvSpPr>
              <a:spLocks noEditPoints="1"/>
            </p:cNvSpPr>
            <p:nvPr/>
          </p:nvSpPr>
          <p:spPr>
            <a:xfrm>
              <a:off x="3696" y="1395"/>
              <a:ext cx="48" cy="42"/>
            </a:xfrm>
            <a:custGeom>
              <a:avLst/>
              <a:gdLst>
                <a:gd name="txL" fmla="*/ 0 w 48"/>
                <a:gd name="txT" fmla="*/ 0 h 42"/>
                <a:gd name="txR" fmla="*/ 48 w 48"/>
                <a:gd name="txB" fmla="*/ 42 h 42"/>
              </a:gdLst>
              <a:ahLst/>
              <a:cxnLst>
                <a:cxn ang="0">
                  <a:pos x="48" y="42"/>
                </a:cxn>
                <a:cxn ang="0">
                  <a:pos x="0" y="0"/>
                </a:cxn>
                <a:cxn ang="0">
                  <a:pos x="48" y="42"/>
                </a:cxn>
                <a:cxn ang="0">
                  <a:pos x="48" y="42"/>
                </a:cxn>
                <a:cxn ang="0">
                  <a:pos x="48" y="42"/>
                </a:cxn>
                <a:cxn ang="0">
                  <a:pos x="48" y="42"/>
                </a:cxn>
                <a:cxn ang="0">
                  <a:pos x="48" y="42"/>
                </a:cxn>
              </a:cxnLst>
              <a:rect l="txL" t="txT" r="txR" b="txB"/>
              <a:pathLst>
                <a:path w="48" h="42">
                  <a:moveTo>
                    <a:pt x="48" y="42"/>
                  </a:moveTo>
                  <a:lnTo>
                    <a:pt x="0" y="0"/>
                  </a:lnTo>
                  <a:lnTo>
                    <a:pt x="48" y="42"/>
                  </a:lnTo>
                  <a:close/>
                  <a:moveTo>
                    <a:pt x="48" y="42"/>
                  </a:moveTo>
                  <a:lnTo>
                    <a:pt x="48"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53" name="Freeform 42"/>
            <p:cNvSpPr>
              <a:spLocks noEditPoints="1"/>
            </p:cNvSpPr>
            <p:nvPr/>
          </p:nvSpPr>
          <p:spPr>
            <a:xfrm>
              <a:off x="3654" y="1359"/>
              <a:ext cx="42" cy="36"/>
            </a:xfrm>
            <a:custGeom>
              <a:avLst/>
              <a:gdLst>
                <a:gd name="txL" fmla="*/ 0 w 42"/>
                <a:gd name="txT" fmla="*/ 0 h 36"/>
                <a:gd name="txR" fmla="*/ 42 w 42"/>
                <a:gd name="txB" fmla="*/ 36 h 36"/>
              </a:gdLst>
              <a:ahLst/>
              <a:cxnLst>
                <a:cxn ang="0">
                  <a:pos x="42" y="36"/>
                </a:cxn>
                <a:cxn ang="0">
                  <a:pos x="0" y="0"/>
                </a:cxn>
                <a:cxn ang="0">
                  <a:pos x="42" y="36"/>
                </a:cxn>
                <a:cxn ang="0">
                  <a:pos x="42" y="36"/>
                </a:cxn>
                <a:cxn ang="0">
                  <a:pos x="42" y="36"/>
                </a:cxn>
                <a:cxn ang="0">
                  <a:pos x="42" y="36"/>
                </a:cxn>
                <a:cxn ang="0">
                  <a:pos x="42" y="36"/>
                </a:cxn>
              </a:cxnLst>
              <a:rect l="txL" t="txT" r="txR" b="txB"/>
              <a:pathLst>
                <a:path w="42" h="36">
                  <a:moveTo>
                    <a:pt x="42" y="36"/>
                  </a:moveTo>
                  <a:lnTo>
                    <a:pt x="0" y="0"/>
                  </a:lnTo>
                  <a:lnTo>
                    <a:pt x="42" y="36"/>
                  </a:lnTo>
                  <a:close/>
                  <a:moveTo>
                    <a:pt x="42" y="36"/>
                  </a:moveTo>
                  <a:lnTo>
                    <a:pt x="42"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54" name="Freeform 43"/>
            <p:cNvSpPr>
              <a:spLocks noEditPoints="1"/>
            </p:cNvSpPr>
            <p:nvPr/>
          </p:nvSpPr>
          <p:spPr>
            <a:xfrm>
              <a:off x="3654" y="1359"/>
              <a:ext cx="1" cy="60"/>
            </a:xfrm>
            <a:custGeom>
              <a:avLst/>
              <a:gdLst>
                <a:gd name="txL" fmla="*/ 0 w 1"/>
                <a:gd name="txT" fmla="*/ 0 h 60"/>
                <a:gd name="txR" fmla="*/ 1 w 1"/>
                <a:gd name="txB" fmla="*/ 60 h 60"/>
              </a:gdLst>
              <a:ahLst/>
              <a:cxnLst>
                <a:cxn ang="0">
                  <a:pos x="0" y="0"/>
                </a:cxn>
                <a:cxn ang="0">
                  <a:pos x="0" y="60"/>
                </a:cxn>
                <a:cxn ang="0">
                  <a:pos x="0" y="0"/>
                </a:cxn>
                <a:cxn ang="0">
                  <a:pos x="0" y="0"/>
                </a:cxn>
                <a:cxn ang="0">
                  <a:pos x="0" y="0"/>
                </a:cxn>
                <a:cxn ang="0">
                  <a:pos x="0" y="0"/>
                </a:cxn>
                <a:cxn ang="0">
                  <a:pos x="0" y="0"/>
                </a:cxn>
              </a:cxnLst>
              <a:rect l="txL" t="txT" r="txR" b="txB"/>
              <a:pathLst>
                <a:path w="1" h="60">
                  <a:moveTo>
                    <a:pt x="0" y="0"/>
                  </a:moveTo>
                  <a:lnTo>
                    <a:pt x="0"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55" name="Freeform 44"/>
            <p:cNvSpPr>
              <a:spLocks noEditPoints="1"/>
            </p:cNvSpPr>
            <p:nvPr/>
          </p:nvSpPr>
          <p:spPr>
            <a:xfrm>
              <a:off x="3654" y="1419"/>
              <a:ext cx="6" cy="60"/>
            </a:xfrm>
            <a:custGeom>
              <a:avLst/>
              <a:gdLst>
                <a:gd name="txL" fmla="*/ 0 w 6"/>
                <a:gd name="txT" fmla="*/ 0 h 60"/>
                <a:gd name="txR" fmla="*/ 6 w 6"/>
                <a:gd name="txB" fmla="*/ 60 h 60"/>
              </a:gdLst>
              <a:ahLst/>
              <a:cxnLst>
                <a:cxn ang="0">
                  <a:pos x="0" y="0"/>
                </a:cxn>
                <a:cxn ang="0">
                  <a:pos x="6" y="60"/>
                </a:cxn>
                <a:cxn ang="0">
                  <a:pos x="0" y="0"/>
                </a:cxn>
                <a:cxn ang="0">
                  <a:pos x="0" y="0"/>
                </a:cxn>
                <a:cxn ang="0">
                  <a:pos x="0" y="0"/>
                </a:cxn>
                <a:cxn ang="0">
                  <a:pos x="0" y="0"/>
                </a:cxn>
                <a:cxn ang="0">
                  <a:pos x="0" y="0"/>
                </a:cxn>
              </a:cxnLst>
              <a:rect l="txL" t="txT" r="txR" b="txB"/>
              <a:pathLst>
                <a:path w="6" h="60">
                  <a:moveTo>
                    <a:pt x="0" y="0"/>
                  </a:moveTo>
                  <a:lnTo>
                    <a:pt x="6"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56" name="Freeform 45"/>
            <p:cNvSpPr>
              <a:spLocks noEditPoints="1"/>
            </p:cNvSpPr>
            <p:nvPr/>
          </p:nvSpPr>
          <p:spPr>
            <a:xfrm>
              <a:off x="3613" y="1443"/>
              <a:ext cx="47" cy="36"/>
            </a:xfrm>
            <a:custGeom>
              <a:avLst/>
              <a:gdLst>
                <a:gd name="txL" fmla="*/ 0 w 47"/>
                <a:gd name="txT" fmla="*/ 0 h 36"/>
                <a:gd name="txR" fmla="*/ 47 w 47"/>
                <a:gd name="txB" fmla="*/ 36 h 36"/>
              </a:gdLst>
              <a:ahLst/>
              <a:cxnLst>
                <a:cxn ang="0">
                  <a:pos x="47" y="36"/>
                </a:cxn>
                <a:cxn ang="0">
                  <a:pos x="0" y="0"/>
                </a:cxn>
                <a:cxn ang="0">
                  <a:pos x="47" y="36"/>
                </a:cxn>
                <a:cxn ang="0">
                  <a:pos x="47" y="36"/>
                </a:cxn>
                <a:cxn ang="0">
                  <a:pos x="47" y="36"/>
                </a:cxn>
                <a:cxn ang="0">
                  <a:pos x="47" y="36"/>
                </a:cxn>
                <a:cxn ang="0">
                  <a:pos x="47" y="36"/>
                </a:cxn>
              </a:cxnLst>
              <a:rect l="txL" t="txT" r="txR" b="txB"/>
              <a:pathLst>
                <a:path w="47" h="36">
                  <a:moveTo>
                    <a:pt x="47" y="36"/>
                  </a:moveTo>
                  <a:lnTo>
                    <a:pt x="0" y="0"/>
                  </a:lnTo>
                  <a:lnTo>
                    <a:pt x="47" y="36"/>
                  </a:lnTo>
                  <a:close/>
                  <a:moveTo>
                    <a:pt x="47" y="36"/>
                  </a:moveTo>
                  <a:lnTo>
                    <a:pt x="47"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57" name="Freeform 46"/>
            <p:cNvSpPr>
              <a:spLocks noEditPoints="1"/>
            </p:cNvSpPr>
            <p:nvPr/>
          </p:nvSpPr>
          <p:spPr>
            <a:xfrm>
              <a:off x="3571" y="1401"/>
              <a:ext cx="42" cy="42"/>
            </a:xfrm>
            <a:custGeom>
              <a:avLst/>
              <a:gdLst>
                <a:gd name="txL" fmla="*/ 0 w 42"/>
                <a:gd name="txT" fmla="*/ 0 h 42"/>
                <a:gd name="txR" fmla="*/ 42 w 42"/>
                <a:gd name="txB" fmla="*/ 42 h 42"/>
              </a:gdLst>
              <a:ahLst/>
              <a:cxnLst>
                <a:cxn ang="0">
                  <a:pos x="42" y="42"/>
                </a:cxn>
                <a:cxn ang="0">
                  <a:pos x="0" y="0"/>
                </a:cxn>
                <a:cxn ang="0">
                  <a:pos x="42" y="42"/>
                </a:cxn>
                <a:cxn ang="0">
                  <a:pos x="42" y="42"/>
                </a:cxn>
                <a:cxn ang="0">
                  <a:pos x="42" y="42"/>
                </a:cxn>
                <a:cxn ang="0">
                  <a:pos x="42" y="42"/>
                </a:cxn>
                <a:cxn ang="0">
                  <a:pos x="42" y="42"/>
                </a:cxn>
              </a:cxnLst>
              <a:rect l="txL" t="txT" r="txR" b="txB"/>
              <a:pathLst>
                <a:path w="42" h="42">
                  <a:moveTo>
                    <a:pt x="42" y="42"/>
                  </a:moveTo>
                  <a:lnTo>
                    <a:pt x="0" y="0"/>
                  </a:lnTo>
                  <a:lnTo>
                    <a:pt x="42" y="42"/>
                  </a:lnTo>
                  <a:close/>
                  <a:moveTo>
                    <a:pt x="42" y="42"/>
                  </a:moveTo>
                  <a:lnTo>
                    <a:pt x="42"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58" name="Freeform 47"/>
            <p:cNvSpPr>
              <a:spLocks noEditPoints="1"/>
            </p:cNvSpPr>
            <p:nvPr/>
          </p:nvSpPr>
          <p:spPr>
            <a:xfrm>
              <a:off x="3571" y="1401"/>
              <a:ext cx="1" cy="60"/>
            </a:xfrm>
            <a:custGeom>
              <a:avLst/>
              <a:gdLst>
                <a:gd name="txL" fmla="*/ 0 w 1"/>
                <a:gd name="txT" fmla="*/ 0 h 60"/>
                <a:gd name="txR" fmla="*/ 1 w 1"/>
                <a:gd name="txB" fmla="*/ 60 h 60"/>
              </a:gdLst>
              <a:ahLst/>
              <a:cxnLst>
                <a:cxn ang="0">
                  <a:pos x="0" y="0"/>
                </a:cxn>
                <a:cxn ang="0">
                  <a:pos x="0" y="60"/>
                </a:cxn>
                <a:cxn ang="0">
                  <a:pos x="0" y="0"/>
                </a:cxn>
                <a:cxn ang="0">
                  <a:pos x="0" y="0"/>
                </a:cxn>
                <a:cxn ang="0">
                  <a:pos x="0" y="0"/>
                </a:cxn>
                <a:cxn ang="0">
                  <a:pos x="0" y="0"/>
                </a:cxn>
                <a:cxn ang="0">
                  <a:pos x="0" y="0"/>
                </a:cxn>
              </a:cxnLst>
              <a:rect l="txL" t="txT" r="txR" b="txB"/>
              <a:pathLst>
                <a:path w="1" h="60">
                  <a:moveTo>
                    <a:pt x="0" y="0"/>
                  </a:moveTo>
                  <a:lnTo>
                    <a:pt x="0"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59" name="Freeform 48"/>
            <p:cNvSpPr>
              <a:spLocks noEditPoints="1"/>
            </p:cNvSpPr>
            <p:nvPr/>
          </p:nvSpPr>
          <p:spPr>
            <a:xfrm>
              <a:off x="3571" y="1461"/>
              <a:ext cx="6" cy="60"/>
            </a:xfrm>
            <a:custGeom>
              <a:avLst/>
              <a:gdLst>
                <a:gd name="txL" fmla="*/ 0 w 6"/>
                <a:gd name="txT" fmla="*/ 0 h 60"/>
                <a:gd name="txR" fmla="*/ 6 w 6"/>
                <a:gd name="txB" fmla="*/ 60 h 60"/>
              </a:gdLst>
              <a:ahLst/>
              <a:cxnLst>
                <a:cxn ang="0">
                  <a:pos x="0" y="0"/>
                </a:cxn>
                <a:cxn ang="0">
                  <a:pos x="6" y="60"/>
                </a:cxn>
                <a:cxn ang="0">
                  <a:pos x="0" y="0"/>
                </a:cxn>
                <a:cxn ang="0">
                  <a:pos x="0" y="0"/>
                </a:cxn>
                <a:cxn ang="0">
                  <a:pos x="0" y="0"/>
                </a:cxn>
                <a:cxn ang="0">
                  <a:pos x="0" y="0"/>
                </a:cxn>
                <a:cxn ang="0">
                  <a:pos x="0" y="0"/>
                </a:cxn>
              </a:cxnLst>
              <a:rect l="txL" t="txT" r="txR" b="txB"/>
              <a:pathLst>
                <a:path w="6" h="60">
                  <a:moveTo>
                    <a:pt x="0" y="0"/>
                  </a:moveTo>
                  <a:lnTo>
                    <a:pt x="6" y="6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60" name="Freeform 49"/>
            <p:cNvSpPr>
              <a:spLocks noEditPoints="1"/>
            </p:cNvSpPr>
            <p:nvPr/>
          </p:nvSpPr>
          <p:spPr>
            <a:xfrm>
              <a:off x="3529" y="1479"/>
              <a:ext cx="48" cy="42"/>
            </a:xfrm>
            <a:custGeom>
              <a:avLst/>
              <a:gdLst>
                <a:gd name="txL" fmla="*/ 0 w 48"/>
                <a:gd name="txT" fmla="*/ 0 h 42"/>
                <a:gd name="txR" fmla="*/ 48 w 48"/>
                <a:gd name="txB" fmla="*/ 42 h 42"/>
              </a:gdLst>
              <a:ahLst/>
              <a:cxnLst>
                <a:cxn ang="0">
                  <a:pos x="48" y="42"/>
                </a:cxn>
                <a:cxn ang="0">
                  <a:pos x="0" y="0"/>
                </a:cxn>
                <a:cxn ang="0">
                  <a:pos x="48" y="42"/>
                </a:cxn>
                <a:cxn ang="0">
                  <a:pos x="48" y="42"/>
                </a:cxn>
                <a:cxn ang="0">
                  <a:pos x="48" y="42"/>
                </a:cxn>
                <a:cxn ang="0">
                  <a:pos x="48" y="42"/>
                </a:cxn>
                <a:cxn ang="0">
                  <a:pos x="48" y="42"/>
                </a:cxn>
              </a:cxnLst>
              <a:rect l="txL" t="txT" r="txR" b="txB"/>
              <a:pathLst>
                <a:path w="48" h="42">
                  <a:moveTo>
                    <a:pt x="48" y="42"/>
                  </a:moveTo>
                  <a:lnTo>
                    <a:pt x="0" y="0"/>
                  </a:lnTo>
                  <a:lnTo>
                    <a:pt x="48" y="42"/>
                  </a:lnTo>
                  <a:close/>
                  <a:moveTo>
                    <a:pt x="48" y="42"/>
                  </a:moveTo>
                  <a:lnTo>
                    <a:pt x="48"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61" name="Freeform 50"/>
            <p:cNvSpPr/>
            <p:nvPr/>
          </p:nvSpPr>
          <p:spPr>
            <a:xfrm>
              <a:off x="1896" y="1288"/>
              <a:ext cx="347" cy="209"/>
            </a:xfrm>
            <a:custGeom>
              <a:avLst/>
              <a:gdLst>
                <a:gd name="txL" fmla="*/ 0 w 347"/>
                <a:gd name="txT" fmla="*/ 0 h 209"/>
                <a:gd name="txR" fmla="*/ 347 w 347"/>
                <a:gd name="txB" fmla="*/ 209 h 209"/>
              </a:gdLst>
              <a:ahLst/>
              <a:cxnLst>
                <a:cxn ang="0">
                  <a:pos x="347" y="167"/>
                </a:cxn>
                <a:cxn ang="0">
                  <a:pos x="329" y="209"/>
                </a:cxn>
                <a:cxn ang="0">
                  <a:pos x="0" y="41"/>
                </a:cxn>
                <a:cxn ang="0">
                  <a:pos x="18" y="0"/>
                </a:cxn>
                <a:cxn ang="0">
                  <a:pos x="347" y="167"/>
                </a:cxn>
                <a:cxn ang="0">
                  <a:pos x="347" y="167"/>
                </a:cxn>
              </a:cxnLst>
              <a:rect l="txL" t="txT" r="txR" b="txB"/>
              <a:pathLst>
                <a:path w="347" h="209">
                  <a:moveTo>
                    <a:pt x="347" y="167"/>
                  </a:moveTo>
                  <a:lnTo>
                    <a:pt x="329" y="209"/>
                  </a:lnTo>
                  <a:lnTo>
                    <a:pt x="0" y="41"/>
                  </a:lnTo>
                  <a:lnTo>
                    <a:pt x="18" y="0"/>
                  </a:lnTo>
                  <a:lnTo>
                    <a:pt x="347" y="167"/>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4562" name="Freeform 51"/>
            <p:cNvSpPr/>
            <p:nvPr/>
          </p:nvSpPr>
          <p:spPr>
            <a:xfrm>
              <a:off x="1902" y="1270"/>
              <a:ext cx="42" cy="42"/>
            </a:xfrm>
            <a:custGeom>
              <a:avLst/>
              <a:gdLst>
                <a:gd name="txL" fmla="*/ 0 w 42"/>
                <a:gd name="txT" fmla="*/ 0 h 42"/>
                <a:gd name="txR" fmla="*/ 42 w 42"/>
                <a:gd name="txB" fmla="*/ 42 h 42"/>
              </a:gdLst>
              <a:ahLst/>
              <a:cxnLst>
                <a:cxn ang="0">
                  <a:pos x="0" y="42"/>
                </a:cxn>
                <a:cxn ang="0">
                  <a:pos x="42" y="0"/>
                </a:cxn>
                <a:cxn ang="0">
                  <a:pos x="0" y="42"/>
                </a:cxn>
                <a:cxn ang="0">
                  <a:pos x="0" y="42"/>
                </a:cxn>
              </a:cxnLst>
              <a:rect l="txL" t="txT" r="txR" b="txB"/>
              <a:pathLst>
                <a:path w="42" h="42">
                  <a:moveTo>
                    <a:pt x="0" y="42"/>
                  </a:moveTo>
                  <a:lnTo>
                    <a:pt x="42" y="0"/>
                  </a:ln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63" name="Freeform 52"/>
            <p:cNvSpPr>
              <a:spLocks noEditPoints="1"/>
            </p:cNvSpPr>
            <p:nvPr/>
          </p:nvSpPr>
          <p:spPr>
            <a:xfrm>
              <a:off x="1944" y="1270"/>
              <a:ext cx="1" cy="59"/>
            </a:xfrm>
            <a:custGeom>
              <a:avLst/>
              <a:gdLst>
                <a:gd name="txL" fmla="*/ 0 w 1"/>
                <a:gd name="txT" fmla="*/ 0 h 59"/>
                <a:gd name="txR" fmla="*/ 1 w 1"/>
                <a:gd name="txB" fmla="*/ 59 h 59"/>
              </a:gdLst>
              <a:ahLst/>
              <a:cxnLst>
                <a:cxn ang="0">
                  <a:pos x="0" y="0"/>
                </a:cxn>
                <a:cxn ang="0">
                  <a:pos x="0" y="59"/>
                </a:cxn>
                <a:cxn ang="0">
                  <a:pos x="0" y="0"/>
                </a:cxn>
                <a:cxn ang="0">
                  <a:pos x="0" y="0"/>
                </a:cxn>
                <a:cxn ang="0">
                  <a:pos x="0" y="0"/>
                </a:cxn>
                <a:cxn ang="0">
                  <a:pos x="0" y="0"/>
                </a:cxn>
                <a:cxn ang="0">
                  <a:pos x="0" y="0"/>
                </a:cxn>
              </a:cxnLst>
              <a:rect l="txL" t="txT" r="txR" b="txB"/>
              <a:pathLst>
                <a:path w="1" h="59">
                  <a:moveTo>
                    <a:pt x="0" y="0"/>
                  </a:moveTo>
                  <a:lnTo>
                    <a:pt x="0" y="59"/>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64" name="Freeform 53"/>
            <p:cNvSpPr>
              <a:spLocks noEditPoints="1"/>
            </p:cNvSpPr>
            <p:nvPr/>
          </p:nvSpPr>
          <p:spPr>
            <a:xfrm>
              <a:off x="1938" y="1329"/>
              <a:ext cx="6" cy="60"/>
            </a:xfrm>
            <a:custGeom>
              <a:avLst/>
              <a:gdLst>
                <a:gd name="txL" fmla="*/ 0 w 6"/>
                <a:gd name="txT" fmla="*/ 0 h 60"/>
                <a:gd name="txR" fmla="*/ 6 w 6"/>
                <a:gd name="txB" fmla="*/ 60 h 60"/>
              </a:gdLst>
              <a:ahLst/>
              <a:cxnLst>
                <a:cxn ang="0">
                  <a:pos x="6" y="0"/>
                </a:cxn>
                <a:cxn ang="0">
                  <a:pos x="0" y="60"/>
                </a:cxn>
                <a:cxn ang="0">
                  <a:pos x="6" y="0"/>
                </a:cxn>
                <a:cxn ang="0">
                  <a:pos x="6" y="0"/>
                </a:cxn>
                <a:cxn ang="0">
                  <a:pos x="6" y="0"/>
                </a:cxn>
                <a:cxn ang="0">
                  <a:pos x="6" y="0"/>
                </a:cxn>
                <a:cxn ang="0">
                  <a:pos x="6" y="0"/>
                </a:cxn>
              </a:cxnLst>
              <a:rect l="txL" t="txT" r="txR" b="txB"/>
              <a:pathLst>
                <a:path w="6" h="60">
                  <a:moveTo>
                    <a:pt x="6" y="0"/>
                  </a:moveTo>
                  <a:lnTo>
                    <a:pt x="0" y="60"/>
                  </a:lnTo>
                  <a:lnTo>
                    <a:pt x="6" y="0"/>
                  </a:lnTo>
                  <a:close/>
                  <a:moveTo>
                    <a:pt x="6" y="0"/>
                  </a:moveTo>
                  <a:lnTo>
                    <a:pt x="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65" name="Freeform 54"/>
            <p:cNvSpPr>
              <a:spLocks noEditPoints="1"/>
            </p:cNvSpPr>
            <p:nvPr/>
          </p:nvSpPr>
          <p:spPr>
            <a:xfrm>
              <a:off x="1938" y="1353"/>
              <a:ext cx="48" cy="36"/>
            </a:xfrm>
            <a:custGeom>
              <a:avLst/>
              <a:gdLst>
                <a:gd name="txL" fmla="*/ 0 w 48"/>
                <a:gd name="txT" fmla="*/ 0 h 36"/>
                <a:gd name="txR" fmla="*/ 48 w 48"/>
                <a:gd name="txB" fmla="*/ 36 h 36"/>
              </a:gdLst>
              <a:ahLst/>
              <a:cxnLst>
                <a:cxn ang="0">
                  <a:pos x="0" y="36"/>
                </a:cxn>
                <a:cxn ang="0">
                  <a:pos x="48" y="0"/>
                </a:cxn>
                <a:cxn ang="0">
                  <a:pos x="0" y="36"/>
                </a:cxn>
                <a:cxn ang="0">
                  <a:pos x="0" y="36"/>
                </a:cxn>
                <a:cxn ang="0">
                  <a:pos x="0" y="36"/>
                </a:cxn>
                <a:cxn ang="0">
                  <a:pos x="0" y="36"/>
                </a:cxn>
                <a:cxn ang="0">
                  <a:pos x="0" y="36"/>
                </a:cxn>
              </a:cxnLst>
              <a:rect l="txL" t="txT" r="txR" b="txB"/>
              <a:pathLst>
                <a:path w="48" h="36">
                  <a:moveTo>
                    <a:pt x="0" y="36"/>
                  </a:moveTo>
                  <a:lnTo>
                    <a:pt x="48" y="0"/>
                  </a:lnTo>
                  <a:lnTo>
                    <a:pt x="0" y="36"/>
                  </a:lnTo>
                  <a:close/>
                  <a:moveTo>
                    <a:pt x="0" y="36"/>
                  </a:moveTo>
                  <a:lnTo>
                    <a:pt x="0"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66" name="Freeform 55"/>
            <p:cNvSpPr>
              <a:spLocks noEditPoints="1"/>
            </p:cNvSpPr>
            <p:nvPr/>
          </p:nvSpPr>
          <p:spPr>
            <a:xfrm>
              <a:off x="1986" y="1353"/>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67" name="Freeform 56"/>
            <p:cNvSpPr>
              <a:spLocks noEditPoints="1"/>
            </p:cNvSpPr>
            <p:nvPr/>
          </p:nvSpPr>
          <p:spPr>
            <a:xfrm>
              <a:off x="1986" y="1312"/>
              <a:ext cx="42" cy="41"/>
            </a:xfrm>
            <a:custGeom>
              <a:avLst/>
              <a:gdLst>
                <a:gd name="txL" fmla="*/ 0 w 42"/>
                <a:gd name="txT" fmla="*/ 0 h 41"/>
                <a:gd name="txR" fmla="*/ 42 w 42"/>
                <a:gd name="txB" fmla="*/ 41 h 41"/>
              </a:gdLst>
              <a:ahLst/>
              <a:cxnLst>
                <a:cxn ang="0">
                  <a:pos x="0" y="41"/>
                </a:cxn>
                <a:cxn ang="0">
                  <a:pos x="42" y="0"/>
                </a:cxn>
                <a:cxn ang="0">
                  <a:pos x="0" y="41"/>
                </a:cxn>
                <a:cxn ang="0">
                  <a:pos x="0" y="41"/>
                </a:cxn>
                <a:cxn ang="0">
                  <a:pos x="0" y="41"/>
                </a:cxn>
                <a:cxn ang="0">
                  <a:pos x="0" y="41"/>
                </a:cxn>
                <a:cxn ang="0">
                  <a:pos x="0" y="41"/>
                </a:cxn>
              </a:cxnLst>
              <a:rect l="txL" t="txT" r="txR" b="txB"/>
              <a:pathLst>
                <a:path w="42" h="41">
                  <a:moveTo>
                    <a:pt x="0" y="41"/>
                  </a:moveTo>
                  <a:lnTo>
                    <a:pt x="42" y="0"/>
                  </a:lnTo>
                  <a:lnTo>
                    <a:pt x="0" y="41"/>
                  </a:lnTo>
                  <a:close/>
                  <a:moveTo>
                    <a:pt x="0" y="41"/>
                  </a:moveTo>
                  <a:lnTo>
                    <a:pt x="0" y="41"/>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68" name="Freeform 57"/>
            <p:cNvSpPr>
              <a:spLocks noEditPoints="1"/>
            </p:cNvSpPr>
            <p:nvPr/>
          </p:nvSpPr>
          <p:spPr>
            <a:xfrm>
              <a:off x="2028" y="1312"/>
              <a:ext cx="1" cy="59"/>
            </a:xfrm>
            <a:custGeom>
              <a:avLst/>
              <a:gdLst>
                <a:gd name="txL" fmla="*/ 0 w 1"/>
                <a:gd name="txT" fmla="*/ 0 h 59"/>
                <a:gd name="txR" fmla="*/ 1 w 1"/>
                <a:gd name="txB" fmla="*/ 59 h 59"/>
              </a:gdLst>
              <a:ahLst/>
              <a:cxnLst>
                <a:cxn ang="0">
                  <a:pos x="0" y="0"/>
                </a:cxn>
                <a:cxn ang="0">
                  <a:pos x="0" y="59"/>
                </a:cxn>
                <a:cxn ang="0">
                  <a:pos x="0" y="0"/>
                </a:cxn>
                <a:cxn ang="0">
                  <a:pos x="0" y="0"/>
                </a:cxn>
                <a:cxn ang="0">
                  <a:pos x="0" y="0"/>
                </a:cxn>
                <a:cxn ang="0">
                  <a:pos x="0" y="0"/>
                </a:cxn>
                <a:cxn ang="0">
                  <a:pos x="0" y="0"/>
                </a:cxn>
              </a:cxnLst>
              <a:rect l="txL" t="txT" r="txR" b="txB"/>
              <a:pathLst>
                <a:path w="1" h="59">
                  <a:moveTo>
                    <a:pt x="0" y="0"/>
                  </a:moveTo>
                  <a:lnTo>
                    <a:pt x="0" y="59"/>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69" name="Freeform 58"/>
            <p:cNvSpPr>
              <a:spLocks noEditPoints="1"/>
            </p:cNvSpPr>
            <p:nvPr/>
          </p:nvSpPr>
          <p:spPr>
            <a:xfrm>
              <a:off x="2022" y="1371"/>
              <a:ext cx="6" cy="66"/>
            </a:xfrm>
            <a:custGeom>
              <a:avLst/>
              <a:gdLst>
                <a:gd name="txL" fmla="*/ 0 w 6"/>
                <a:gd name="txT" fmla="*/ 0 h 66"/>
                <a:gd name="txR" fmla="*/ 6 w 6"/>
                <a:gd name="txB" fmla="*/ 66 h 66"/>
              </a:gdLst>
              <a:ahLst/>
              <a:cxnLst>
                <a:cxn ang="0">
                  <a:pos x="6" y="0"/>
                </a:cxn>
                <a:cxn ang="0">
                  <a:pos x="0" y="66"/>
                </a:cxn>
                <a:cxn ang="0">
                  <a:pos x="6" y="0"/>
                </a:cxn>
                <a:cxn ang="0">
                  <a:pos x="6" y="0"/>
                </a:cxn>
                <a:cxn ang="0">
                  <a:pos x="6" y="0"/>
                </a:cxn>
                <a:cxn ang="0">
                  <a:pos x="6" y="0"/>
                </a:cxn>
                <a:cxn ang="0">
                  <a:pos x="6" y="0"/>
                </a:cxn>
              </a:cxnLst>
              <a:rect l="txL" t="txT" r="txR" b="txB"/>
              <a:pathLst>
                <a:path w="6" h="66">
                  <a:moveTo>
                    <a:pt x="6" y="0"/>
                  </a:moveTo>
                  <a:lnTo>
                    <a:pt x="0" y="66"/>
                  </a:lnTo>
                  <a:lnTo>
                    <a:pt x="6" y="0"/>
                  </a:lnTo>
                  <a:close/>
                  <a:moveTo>
                    <a:pt x="6" y="0"/>
                  </a:moveTo>
                  <a:lnTo>
                    <a:pt x="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70" name="Freeform 59"/>
            <p:cNvSpPr>
              <a:spLocks noEditPoints="1"/>
            </p:cNvSpPr>
            <p:nvPr/>
          </p:nvSpPr>
          <p:spPr>
            <a:xfrm>
              <a:off x="2022" y="1395"/>
              <a:ext cx="48" cy="42"/>
            </a:xfrm>
            <a:custGeom>
              <a:avLst/>
              <a:gdLst>
                <a:gd name="txL" fmla="*/ 0 w 48"/>
                <a:gd name="txT" fmla="*/ 0 h 42"/>
                <a:gd name="txR" fmla="*/ 48 w 48"/>
                <a:gd name="txB" fmla="*/ 42 h 42"/>
              </a:gdLst>
              <a:ahLst/>
              <a:cxnLst>
                <a:cxn ang="0">
                  <a:pos x="0" y="42"/>
                </a:cxn>
                <a:cxn ang="0">
                  <a:pos x="48" y="0"/>
                </a:cxn>
                <a:cxn ang="0">
                  <a:pos x="0" y="42"/>
                </a:cxn>
                <a:cxn ang="0">
                  <a:pos x="0" y="42"/>
                </a:cxn>
                <a:cxn ang="0">
                  <a:pos x="0" y="42"/>
                </a:cxn>
                <a:cxn ang="0">
                  <a:pos x="0" y="42"/>
                </a:cxn>
                <a:cxn ang="0">
                  <a:pos x="0" y="42"/>
                </a:cxn>
              </a:cxnLst>
              <a:rect l="txL" t="txT" r="txR" b="txB"/>
              <a:pathLst>
                <a:path w="48" h="42">
                  <a:moveTo>
                    <a:pt x="0" y="42"/>
                  </a:moveTo>
                  <a:lnTo>
                    <a:pt x="48" y="0"/>
                  </a:lnTo>
                  <a:lnTo>
                    <a:pt x="0" y="42"/>
                  </a:lnTo>
                  <a:close/>
                  <a:moveTo>
                    <a:pt x="0" y="42"/>
                  </a:move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71" name="Freeform 60"/>
            <p:cNvSpPr>
              <a:spLocks noEditPoints="1"/>
            </p:cNvSpPr>
            <p:nvPr/>
          </p:nvSpPr>
          <p:spPr>
            <a:xfrm>
              <a:off x="2070" y="1359"/>
              <a:ext cx="47" cy="36"/>
            </a:xfrm>
            <a:custGeom>
              <a:avLst/>
              <a:gdLst>
                <a:gd name="txL" fmla="*/ 0 w 47"/>
                <a:gd name="txT" fmla="*/ 0 h 36"/>
                <a:gd name="txR" fmla="*/ 47 w 47"/>
                <a:gd name="txB" fmla="*/ 36 h 36"/>
              </a:gdLst>
              <a:ahLst/>
              <a:cxnLst>
                <a:cxn ang="0">
                  <a:pos x="0" y="36"/>
                </a:cxn>
                <a:cxn ang="0">
                  <a:pos x="47" y="0"/>
                </a:cxn>
                <a:cxn ang="0">
                  <a:pos x="0" y="36"/>
                </a:cxn>
                <a:cxn ang="0">
                  <a:pos x="0" y="36"/>
                </a:cxn>
                <a:cxn ang="0">
                  <a:pos x="0" y="36"/>
                </a:cxn>
                <a:cxn ang="0">
                  <a:pos x="0" y="36"/>
                </a:cxn>
                <a:cxn ang="0">
                  <a:pos x="0" y="36"/>
                </a:cxn>
              </a:cxnLst>
              <a:rect l="txL" t="txT" r="txR" b="txB"/>
              <a:pathLst>
                <a:path w="47" h="36">
                  <a:moveTo>
                    <a:pt x="0" y="36"/>
                  </a:moveTo>
                  <a:lnTo>
                    <a:pt x="47" y="0"/>
                  </a:lnTo>
                  <a:lnTo>
                    <a:pt x="0" y="36"/>
                  </a:lnTo>
                  <a:close/>
                  <a:moveTo>
                    <a:pt x="0" y="36"/>
                  </a:moveTo>
                  <a:lnTo>
                    <a:pt x="0"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72" name="Freeform 61"/>
            <p:cNvSpPr>
              <a:spLocks noEditPoints="1"/>
            </p:cNvSpPr>
            <p:nvPr/>
          </p:nvSpPr>
          <p:spPr>
            <a:xfrm>
              <a:off x="2112" y="1359"/>
              <a:ext cx="5" cy="60"/>
            </a:xfrm>
            <a:custGeom>
              <a:avLst/>
              <a:gdLst>
                <a:gd name="txL" fmla="*/ 0 w 5"/>
                <a:gd name="txT" fmla="*/ 0 h 60"/>
                <a:gd name="txR" fmla="*/ 5 w 5"/>
                <a:gd name="txB" fmla="*/ 60 h 60"/>
              </a:gdLst>
              <a:ahLst/>
              <a:cxnLst>
                <a:cxn ang="0">
                  <a:pos x="5" y="0"/>
                </a:cxn>
                <a:cxn ang="0">
                  <a:pos x="0" y="60"/>
                </a:cxn>
                <a:cxn ang="0">
                  <a:pos x="5" y="0"/>
                </a:cxn>
                <a:cxn ang="0">
                  <a:pos x="5" y="0"/>
                </a:cxn>
                <a:cxn ang="0">
                  <a:pos x="5" y="0"/>
                </a:cxn>
                <a:cxn ang="0">
                  <a:pos x="5" y="0"/>
                </a:cxn>
                <a:cxn ang="0">
                  <a:pos x="5" y="0"/>
                </a:cxn>
              </a:cxnLst>
              <a:rect l="txL" t="txT" r="txR" b="txB"/>
              <a:pathLst>
                <a:path w="5" h="60">
                  <a:moveTo>
                    <a:pt x="5" y="0"/>
                  </a:moveTo>
                  <a:lnTo>
                    <a:pt x="0" y="60"/>
                  </a:lnTo>
                  <a:lnTo>
                    <a:pt x="5" y="0"/>
                  </a:lnTo>
                  <a:close/>
                  <a:moveTo>
                    <a:pt x="5" y="0"/>
                  </a:moveTo>
                  <a:lnTo>
                    <a:pt x="5"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73" name="Freeform 62"/>
            <p:cNvSpPr>
              <a:spLocks noEditPoints="1"/>
            </p:cNvSpPr>
            <p:nvPr/>
          </p:nvSpPr>
          <p:spPr>
            <a:xfrm>
              <a:off x="2106" y="1419"/>
              <a:ext cx="6" cy="60"/>
            </a:xfrm>
            <a:custGeom>
              <a:avLst/>
              <a:gdLst>
                <a:gd name="txL" fmla="*/ 0 w 6"/>
                <a:gd name="txT" fmla="*/ 0 h 60"/>
                <a:gd name="txR" fmla="*/ 6 w 6"/>
                <a:gd name="txB" fmla="*/ 60 h 60"/>
              </a:gdLst>
              <a:ahLst/>
              <a:cxnLst>
                <a:cxn ang="0">
                  <a:pos x="6" y="0"/>
                </a:cxn>
                <a:cxn ang="0">
                  <a:pos x="0" y="60"/>
                </a:cxn>
                <a:cxn ang="0">
                  <a:pos x="6" y="0"/>
                </a:cxn>
                <a:cxn ang="0">
                  <a:pos x="6" y="0"/>
                </a:cxn>
                <a:cxn ang="0">
                  <a:pos x="6" y="0"/>
                </a:cxn>
                <a:cxn ang="0">
                  <a:pos x="6" y="0"/>
                </a:cxn>
                <a:cxn ang="0">
                  <a:pos x="6" y="0"/>
                </a:cxn>
              </a:cxnLst>
              <a:rect l="txL" t="txT" r="txR" b="txB"/>
              <a:pathLst>
                <a:path w="6" h="60">
                  <a:moveTo>
                    <a:pt x="6" y="0"/>
                  </a:moveTo>
                  <a:lnTo>
                    <a:pt x="0" y="60"/>
                  </a:lnTo>
                  <a:lnTo>
                    <a:pt x="6" y="0"/>
                  </a:lnTo>
                  <a:close/>
                  <a:moveTo>
                    <a:pt x="6" y="0"/>
                  </a:moveTo>
                  <a:lnTo>
                    <a:pt x="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74" name="Freeform 63"/>
            <p:cNvSpPr>
              <a:spLocks noEditPoints="1"/>
            </p:cNvSpPr>
            <p:nvPr/>
          </p:nvSpPr>
          <p:spPr>
            <a:xfrm>
              <a:off x="2106" y="1437"/>
              <a:ext cx="47" cy="42"/>
            </a:xfrm>
            <a:custGeom>
              <a:avLst/>
              <a:gdLst>
                <a:gd name="txL" fmla="*/ 0 w 47"/>
                <a:gd name="txT" fmla="*/ 0 h 42"/>
                <a:gd name="txR" fmla="*/ 47 w 47"/>
                <a:gd name="txB" fmla="*/ 42 h 42"/>
              </a:gdLst>
              <a:ahLst/>
              <a:cxnLst>
                <a:cxn ang="0">
                  <a:pos x="0" y="42"/>
                </a:cxn>
                <a:cxn ang="0">
                  <a:pos x="47" y="0"/>
                </a:cxn>
                <a:cxn ang="0">
                  <a:pos x="0" y="42"/>
                </a:cxn>
                <a:cxn ang="0">
                  <a:pos x="0" y="42"/>
                </a:cxn>
                <a:cxn ang="0">
                  <a:pos x="0" y="42"/>
                </a:cxn>
                <a:cxn ang="0">
                  <a:pos x="0" y="42"/>
                </a:cxn>
                <a:cxn ang="0">
                  <a:pos x="0" y="42"/>
                </a:cxn>
              </a:cxnLst>
              <a:rect l="txL" t="txT" r="txR" b="txB"/>
              <a:pathLst>
                <a:path w="47" h="42">
                  <a:moveTo>
                    <a:pt x="0" y="42"/>
                  </a:moveTo>
                  <a:lnTo>
                    <a:pt x="47" y="0"/>
                  </a:lnTo>
                  <a:lnTo>
                    <a:pt x="0" y="42"/>
                  </a:lnTo>
                  <a:close/>
                  <a:moveTo>
                    <a:pt x="0" y="42"/>
                  </a:move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75" name="Freeform 64"/>
            <p:cNvSpPr>
              <a:spLocks noEditPoints="1"/>
            </p:cNvSpPr>
            <p:nvPr/>
          </p:nvSpPr>
          <p:spPr>
            <a:xfrm>
              <a:off x="2153" y="1401"/>
              <a:ext cx="48" cy="36"/>
            </a:xfrm>
            <a:custGeom>
              <a:avLst/>
              <a:gdLst>
                <a:gd name="txL" fmla="*/ 0 w 48"/>
                <a:gd name="txT" fmla="*/ 0 h 36"/>
                <a:gd name="txR" fmla="*/ 48 w 48"/>
                <a:gd name="txB" fmla="*/ 36 h 36"/>
              </a:gdLst>
              <a:ahLst/>
              <a:cxnLst>
                <a:cxn ang="0">
                  <a:pos x="0" y="36"/>
                </a:cxn>
                <a:cxn ang="0">
                  <a:pos x="48" y="0"/>
                </a:cxn>
                <a:cxn ang="0">
                  <a:pos x="0" y="36"/>
                </a:cxn>
                <a:cxn ang="0">
                  <a:pos x="0" y="36"/>
                </a:cxn>
                <a:cxn ang="0">
                  <a:pos x="0" y="36"/>
                </a:cxn>
                <a:cxn ang="0">
                  <a:pos x="0" y="36"/>
                </a:cxn>
                <a:cxn ang="0">
                  <a:pos x="0" y="36"/>
                </a:cxn>
              </a:cxnLst>
              <a:rect l="txL" t="txT" r="txR" b="txB"/>
              <a:pathLst>
                <a:path w="48" h="36">
                  <a:moveTo>
                    <a:pt x="0" y="36"/>
                  </a:moveTo>
                  <a:lnTo>
                    <a:pt x="48" y="0"/>
                  </a:lnTo>
                  <a:lnTo>
                    <a:pt x="0" y="36"/>
                  </a:lnTo>
                  <a:close/>
                  <a:moveTo>
                    <a:pt x="0" y="36"/>
                  </a:moveTo>
                  <a:lnTo>
                    <a:pt x="0" y="36"/>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76" name="Freeform 65"/>
            <p:cNvSpPr>
              <a:spLocks noEditPoints="1"/>
            </p:cNvSpPr>
            <p:nvPr/>
          </p:nvSpPr>
          <p:spPr>
            <a:xfrm>
              <a:off x="2195" y="1401"/>
              <a:ext cx="6" cy="60"/>
            </a:xfrm>
            <a:custGeom>
              <a:avLst/>
              <a:gdLst>
                <a:gd name="txL" fmla="*/ 0 w 6"/>
                <a:gd name="txT" fmla="*/ 0 h 60"/>
                <a:gd name="txR" fmla="*/ 6 w 6"/>
                <a:gd name="txB" fmla="*/ 60 h 60"/>
              </a:gdLst>
              <a:ahLst/>
              <a:cxnLst>
                <a:cxn ang="0">
                  <a:pos x="6" y="0"/>
                </a:cxn>
                <a:cxn ang="0">
                  <a:pos x="0" y="60"/>
                </a:cxn>
                <a:cxn ang="0">
                  <a:pos x="6" y="0"/>
                </a:cxn>
                <a:cxn ang="0">
                  <a:pos x="6" y="0"/>
                </a:cxn>
                <a:cxn ang="0">
                  <a:pos x="6" y="0"/>
                </a:cxn>
                <a:cxn ang="0">
                  <a:pos x="6" y="0"/>
                </a:cxn>
                <a:cxn ang="0">
                  <a:pos x="6" y="0"/>
                </a:cxn>
              </a:cxnLst>
              <a:rect l="txL" t="txT" r="txR" b="txB"/>
              <a:pathLst>
                <a:path w="6" h="60">
                  <a:moveTo>
                    <a:pt x="6" y="0"/>
                  </a:moveTo>
                  <a:lnTo>
                    <a:pt x="0" y="60"/>
                  </a:lnTo>
                  <a:lnTo>
                    <a:pt x="6" y="0"/>
                  </a:lnTo>
                  <a:close/>
                  <a:moveTo>
                    <a:pt x="6" y="0"/>
                  </a:moveTo>
                  <a:lnTo>
                    <a:pt x="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77" name="Freeform 66"/>
            <p:cNvSpPr>
              <a:spLocks noEditPoints="1"/>
            </p:cNvSpPr>
            <p:nvPr/>
          </p:nvSpPr>
          <p:spPr>
            <a:xfrm>
              <a:off x="2189" y="1461"/>
              <a:ext cx="6" cy="60"/>
            </a:xfrm>
            <a:custGeom>
              <a:avLst/>
              <a:gdLst>
                <a:gd name="txL" fmla="*/ 0 w 6"/>
                <a:gd name="txT" fmla="*/ 0 h 60"/>
                <a:gd name="txR" fmla="*/ 6 w 6"/>
                <a:gd name="txB" fmla="*/ 60 h 60"/>
              </a:gdLst>
              <a:ahLst/>
              <a:cxnLst>
                <a:cxn ang="0">
                  <a:pos x="6" y="0"/>
                </a:cxn>
                <a:cxn ang="0">
                  <a:pos x="0" y="60"/>
                </a:cxn>
                <a:cxn ang="0">
                  <a:pos x="6" y="0"/>
                </a:cxn>
                <a:cxn ang="0">
                  <a:pos x="6" y="0"/>
                </a:cxn>
                <a:cxn ang="0">
                  <a:pos x="6" y="0"/>
                </a:cxn>
                <a:cxn ang="0">
                  <a:pos x="6" y="0"/>
                </a:cxn>
                <a:cxn ang="0">
                  <a:pos x="6" y="0"/>
                </a:cxn>
              </a:cxnLst>
              <a:rect l="txL" t="txT" r="txR" b="txB"/>
              <a:pathLst>
                <a:path w="6" h="60">
                  <a:moveTo>
                    <a:pt x="6" y="0"/>
                  </a:moveTo>
                  <a:lnTo>
                    <a:pt x="0" y="60"/>
                  </a:lnTo>
                  <a:lnTo>
                    <a:pt x="6" y="0"/>
                  </a:lnTo>
                  <a:close/>
                  <a:moveTo>
                    <a:pt x="6" y="0"/>
                  </a:moveTo>
                  <a:lnTo>
                    <a:pt x="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78" name="Freeform 67"/>
            <p:cNvSpPr>
              <a:spLocks noEditPoints="1"/>
            </p:cNvSpPr>
            <p:nvPr/>
          </p:nvSpPr>
          <p:spPr>
            <a:xfrm>
              <a:off x="2189" y="1479"/>
              <a:ext cx="54" cy="42"/>
            </a:xfrm>
            <a:custGeom>
              <a:avLst/>
              <a:gdLst>
                <a:gd name="txL" fmla="*/ 0 w 54"/>
                <a:gd name="txT" fmla="*/ 0 h 42"/>
                <a:gd name="txR" fmla="*/ 54 w 54"/>
                <a:gd name="txB" fmla="*/ 42 h 42"/>
              </a:gdLst>
              <a:ahLst/>
              <a:cxnLst>
                <a:cxn ang="0">
                  <a:pos x="0" y="42"/>
                </a:cxn>
                <a:cxn ang="0">
                  <a:pos x="54" y="0"/>
                </a:cxn>
                <a:cxn ang="0">
                  <a:pos x="0" y="42"/>
                </a:cxn>
                <a:cxn ang="0">
                  <a:pos x="0" y="42"/>
                </a:cxn>
                <a:cxn ang="0">
                  <a:pos x="0" y="42"/>
                </a:cxn>
                <a:cxn ang="0">
                  <a:pos x="0" y="42"/>
                </a:cxn>
                <a:cxn ang="0">
                  <a:pos x="0" y="42"/>
                </a:cxn>
              </a:cxnLst>
              <a:rect l="txL" t="txT" r="txR" b="txB"/>
              <a:pathLst>
                <a:path w="54" h="42">
                  <a:moveTo>
                    <a:pt x="0" y="42"/>
                  </a:moveTo>
                  <a:lnTo>
                    <a:pt x="54" y="0"/>
                  </a:lnTo>
                  <a:lnTo>
                    <a:pt x="0" y="42"/>
                  </a:lnTo>
                  <a:close/>
                  <a:moveTo>
                    <a:pt x="0" y="42"/>
                  </a:moveTo>
                  <a:lnTo>
                    <a:pt x="0" y="4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79" name="Freeform 68"/>
            <p:cNvSpPr/>
            <p:nvPr/>
          </p:nvSpPr>
          <p:spPr>
            <a:xfrm>
              <a:off x="2865" y="2446"/>
              <a:ext cx="48" cy="388"/>
            </a:xfrm>
            <a:custGeom>
              <a:avLst/>
              <a:gdLst>
                <a:gd name="txL" fmla="*/ 0 w 48"/>
                <a:gd name="txT" fmla="*/ 0 h 388"/>
                <a:gd name="txR" fmla="*/ 48 w 48"/>
                <a:gd name="txB" fmla="*/ 388 h 388"/>
              </a:gdLst>
              <a:ahLst/>
              <a:cxnLst>
                <a:cxn ang="0">
                  <a:pos x="48" y="0"/>
                </a:cxn>
                <a:cxn ang="0">
                  <a:pos x="0" y="0"/>
                </a:cxn>
                <a:cxn ang="0">
                  <a:pos x="0" y="388"/>
                </a:cxn>
                <a:cxn ang="0">
                  <a:pos x="48" y="388"/>
                </a:cxn>
                <a:cxn ang="0">
                  <a:pos x="48" y="0"/>
                </a:cxn>
                <a:cxn ang="0">
                  <a:pos x="48" y="0"/>
                </a:cxn>
              </a:cxnLst>
              <a:rect l="txL" t="txT" r="txR" b="txB"/>
              <a:pathLst>
                <a:path w="48" h="388">
                  <a:moveTo>
                    <a:pt x="48" y="0"/>
                  </a:moveTo>
                  <a:lnTo>
                    <a:pt x="0" y="0"/>
                  </a:lnTo>
                  <a:lnTo>
                    <a:pt x="0" y="388"/>
                  </a:lnTo>
                  <a:lnTo>
                    <a:pt x="48" y="388"/>
                  </a:lnTo>
                  <a:lnTo>
                    <a:pt x="48" y="0"/>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4580" name="Freeform 69"/>
            <p:cNvSpPr/>
            <p:nvPr/>
          </p:nvSpPr>
          <p:spPr>
            <a:xfrm>
              <a:off x="2889" y="2816"/>
              <a:ext cx="60" cy="24"/>
            </a:xfrm>
            <a:custGeom>
              <a:avLst/>
              <a:gdLst>
                <a:gd name="txL" fmla="*/ 0 w 60"/>
                <a:gd name="txT" fmla="*/ 0 h 24"/>
                <a:gd name="txR" fmla="*/ 60 w 60"/>
                <a:gd name="txB" fmla="*/ 24 h 24"/>
              </a:gdLst>
              <a:ahLst/>
              <a:cxnLst>
                <a:cxn ang="0">
                  <a:pos x="0" y="24"/>
                </a:cxn>
                <a:cxn ang="0">
                  <a:pos x="60" y="0"/>
                </a:cxn>
                <a:cxn ang="0">
                  <a:pos x="0" y="24"/>
                </a:cxn>
                <a:cxn ang="0">
                  <a:pos x="0" y="24"/>
                </a:cxn>
              </a:cxnLst>
              <a:rect l="txL" t="txT" r="txR" b="txB"/>
              <a:pathLst>
                <a:path w="60" h="24">
                  <a:moveTo>
                    <a:pt x="0" y="24"/>
                  </a:moveTo>
                  <a:lnTo>
                    <a:pt x="60" y="0"/>
                  </a:ln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81" name="Freeform 70"/>
            <p:cNvSpPr>
              <a:spLocks noEditPoints="1"/>
            </p:cNvSpPr>
            <p:nvPr/>
          </p:nvSpPr>
          <p:spPr>
            <a:xfrm>
              <a:off x="2889" y="2786"/>
              <a:ext cx="60" cy="30"/>
            </a:xfrm>
            <a:custGeom>
              <a:avLst/>
              <a:gdLst>
                <a:gd name="txL" fmla="*/ 0 w 60"/>
                <a:gd name="txT" fmla="*/ 0 h 30"/>
                <a:gd name="txR" fmla="*/ 60 w 60"/>
                <a:gd name="txB" fmla="*/ 30 h 30"/>
              </a:gdLst>
              <a:ahLst/>
              <a:cxnLst>
                <a:cxn ang="0">
                  <a:pos x="60" y="30"/>
                </a:cxn>
                <a:cxn ang="0">
                  <a:pos x="0" y="0"/>
                </a:cxn>
                <a:cxn ang="0">
                  <a:pos x="60" y="30"/>
                </a:cxn>
                <a:cxn ang="0">
                  <a:pos x="60" y="30"/>
                </a:cxn>
                <a:cxn ang="0">
                  <a:pos x="60" y="30"/>
                </a:cxn>
                <a:cxn ang="0">
                  <a:pos x="60" y="30"/>
                </a:cxn>
                <a:cxn ang="0">
                  <a:pos x="60" y="30"/>
                </a:cxn>
              </a:cxnLst>
              <a:rect l="txL" t="txT" r="txR" b="txB"/>
              <a:pathLst>
                <a:path w="60" h="30">
                  <a:moveTo>
                    <a:pt x="60" y="30"/>
                  </a:moveTo>
                  <a:lnTo>
                    <a:pt x="0" y="0"/>
                  </a:lnTo>
                  <a:lnTo>
                    <a:pt x="60" y="30"/>
                  </a:lnTo>
                  <a:close/>
                  <a:moveTo>
                    <a:pt x="60" y="30"/>
                  </a:moveTo>
                  <a:lnTo>
                    <a:pt x="6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82" name="Freeform 71"/>
            <p:cNvSpPr>
              <a:spLocks noEditPoints="1"/>
            </p:cNvSpPr>
            <p:nvPr/>
          </p:nvSpPr>
          <p:spPr>
            <a:xfrm>
              <a:off x="2829" y="2763"/>
              <a:ext cx="60" cy="23"/>
            </a:xfrm>
            <a:custGeom>
              <a:avLst/>
              <a:gdLst>
                <a:gd name="txL" fmla="*/ 0 w 60"/>
                <a:gd name="txT" fmla="*/ 0 h 23"/>
                <a:gd name="txR" fmla="*/ 60 w 60"/>
                <a:gd name="txB" fmla="*/ 23 h 23"/>
              </a:gdLst>
              <a:ahLst/>
              <a:cxnLst>
                <a:cxn ang="0">
                  <a:pos x="60" y="23"/>
                </a:cxn>
                <a:cxn ang="0">
                  <a:pos x="0" y="0"/>
                </a:cxn>
                <a:cxn ang="0">
                  <a:pos x="60" y="23"/>
                </a:cxn>
                <a:cxn ang="0">
                  <a:pos x="60" y="23"/>
                </a:cxn>
                <a:cxn ang="0">
                  <a:pos x="60" y="23"/>
                </a:cxn>
                <a:cxn ang="0">
                  <a:pos x="60" y="23"/>
                </a:cxn>
                <a:cxn ang="0">
                  <a:pos x="60" y="23"/>
                </a:cxn>
              </a:cxnLst>
              <a:rect l="txL" t="txT" r="txR" b="txB"/>
              <a:pathLst>
                <a:path w="60" h="23">
                  <a:moveTo>
                    <a:pt x="60" y="23"/>
                  </a:moveTo>
                  <a:lnTo>
                    <a:pt x="0" y="0"/>
                  </a:lnTo>
                  <a:lnTo>
                    <a:pt x="60" y="23"/>
                  </a:lnTo>
                  <a:close/>
                  <a:moveTo>
                    <a:pt x="60" y="23"/>
                  </a:moveTo>
                  <a:lnTo>
                    <a:pt x="60" y="2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83" name="Freeform 72"/>
            <p:cNvSpPr>
              <a:spLocks noEditPoints="1"/>
            </p:cNvSpPr>
            <p:nvPr/>
          </p:nvSpPr>
          <p:spPr>
            <a:xfrm>
              <a:off x="2829" y="2739"/>
              <a:ext cx="60" cy="24"/>
            </a:xfrm>
            <a:custGeom>
              <a:avLst/>
              <a:gdLst>
                <a:gd name="txL" fmla="*/ 0 w 60"/>
                <a:gd name="txT" fmla="*/ 0 h 24"/>
                <a:gd name="txR" fmla="*/ 60 w 60"/>
                <a:gd name="txB" fmla="*/ 24 h 24"/>
              </a:gdLst>
              <a:ahLst/>
              <a:cxnLst>
                <a:cxn ang="0">
                  <a:pos x="0" y="24"/>
                </a:cxn>
                <a:cxn ang="0">
                  <a:pos x="60" y="0"/>
                </a:cxn>
                <a:cxn ang="0">
                  <a:pos x="0" y="24"/>
                </a:cxn>
                <a:cxn ang="0">
                  <a:pos x="0" y="24"/>
                </a:cxn>
                <a:cxn ang="0">
                  <a:pos x="0" y="24"/>
                </a:cxn>
                <a:cxn ang="0">
                  <a:pos x="0" y="24"/>
                </a:cxn>
                <a:cxn ang="0">
                  <a:pos x="0" y="24"/>
                </a:cxn>
              </a:cxnLst>
              <a:rect l="txL" t="txT" r="txR" b="txB"/>
              <a:pathLst>
                <a:path w="60" h="24">
                  <a:moveTo>
                    <a:pt x="0" y="24"/>
                  </a:moveTo>
                  <a:lnTo>
                    <a:pt x="60"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84" name="Freeform 73"/>
            <p:cNvSpPr>
              <a:spLocks noEditPoints="1"/>
            </p:cNvSpPr>
            <p:nvPr/>
          </p:nvSpPr>
          <p:spPr>
            <a:xfrm>
              <a:off x="2889" y="2739"/>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85" name="Freeform 74"/>
            <p:cNvSpPr>
              <a:spLocks noEditPoints="1"/>
            </p:cNvSpPr>
            <p:nvPr/>
          </p:nvSpPr>
          <p:spPr>
            <a:xfrm>
              <a:off x="2889" y="2715"/>
              <a:ext cx="60" cy="24"/>
            </a:xfrm>
            <a:custGeom>
              <a:avLst/>
              <a:gdLst>
                <a:gd name="txL" fmla="*/ 0 w 60"/>
                <a:gd name="txT" fmla="*/ 0 h 24"/>
                <a:gd name="txR" fmla="*/ 60 w 60"/>
                <a:gd name="txB" fmla="*/ 24 h 24"/>
              </a:gdLst>
              <a:ahLst/>
              <a:cxnLst>
                <a:cxn ang="0">
                  <a:pos x="0" y="24"/>
                </a:cxn>
                <a:cxn ang="0">
                  <a:pos x="60" y="0"/>
                </a:cxn>
                <a:cxn ang="0">
                  <a:pos x="0" y="24"/>
                </a:cxn>
                <a:cxn ang="0">
                  <a:pos x="0" y="24"/>
                </a:cxn>
                <a:cxn ang="0">
                  <a:pos x="0" y="24"/>
                </a:cxn>
                <a:cxn ang="0">
                  <a:pos x="0" y="24"/>
                </a:cxn>
                <a:cxn ang="0">
                  <a:pos x="0" y="24"/>
                </a:cxn>
              </a:cxnLst>
              <a:rect l="txL" t="txT" r="txR" b="txB"/>
              <a:pathLst>
                <a:path w="60" h="24">
                  <a:moveTo>
                    <a:pt x="0" y="24"/>
                  </a:moveTo>
                  <a:lnTo>
                    <a:pt x="60"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86" name="Freeform 75"/>
            <p:cNvSpPr>
              <a:spLocks noEditPoints="1"/>
            </p:cNvSpPr>
            <p:nvPr/>
          </p:nvSpPr>
          <p:spPr>
            <a:xfrm>
              <a:off x="2889" y="2691"/>
              <a:ext cx="60" cy="24"/>
            </a:xfrm>
            <a:custGeom>
              <a:avLst/>
              <a:gdLst>
                <a:gd name="txL" fmla="*/ 0 w 60"/>
                <a:gd name="txT" fmla="*/ 0 h 24"/>
                <a:gd name="txR" fmla="*/ 60 w 60"/>
                <a:gd name="txB" fmla="*/ 24 h 24"/>
              </a:gdLst>
              <a:ahLst/>
              <a:cxnLst>
                <a:cxn ang="0">
                  <a:pos x="60" y="24"/>
                </a:cxn>
                <a:cxn ang="0">
                  <a:pos x="0" y="0"/>
                </a:cxn>
                <a:cxn ang="0">
                  <a:pos x="60" y="24"/>
                </a:cxn>
                <a:cxn ang="0">
                  <a:pos x="60" y="24"/>
                </a:cxn>
                <a:cxn ang="0">
                  <a:pos x="60" y="24"/>
                </a:cxn>
                <a:cxn ang="0">
                  <a:pos x="60" y="24"/>
                </a:cxn>
                <a:cxn ang="0">
                  <a:pos x="60" y="24"/>
                </a:cxn>
              </a:cxnLst>
              <a:rect l="txL" t="txT" r="txR" b="txB"/>
              <a:pathLst>
                <a:path w="60" h="24">
                  <a:moveTo>
                    <a:pt x="60" y="24"/>
                  </a:moveTo>
                  <a:lnTo>
                    <a:pt x="0" y="0"/>
                  </a:lnTo>
                  <a:lnTo>
                    <a:pt x="60" y="24"/>
                  </a:lnTo>
                  <a:close/>
                  <a:moveTo>
                    <a:pt x="60" y="24"/>
                  </a:moveTo>
                  <a:lnTo>
                    <a:pt x="6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87" name="Freeform 76"/>
            <p:cNvSpPr>
              <a:spLocks noEditPoints="1"/>
            </p:cNvSpPr>
            <p:nvPr/>
          </p:nvSpPr>
          <p:spPr>
            <a:xfrm>
              <a:off x="2829" y="2667"/>
              <a:ext cx="60" cy="24"/>
            </a:xfrm>
            <a:custGeom>
              <a:avLst/>
              <a:gdLst>
                <a:gd name="txL" fmla="*/ 0 w 60"/>
                <a:gd name="txT" fmla="*/ 0 h 24"/>
                <a:gd name="txR" fmla="*/ 60 w 60"/>
                <a:gd name="txB" fmla="*/ 24 h 24"/>
              </a:gdLst>
              <a:ahLst/>
              <a:cxnLst>
                <a:cxn ang="0">
                  <a:pos x="60" y="24"/>
                </a:cxn>
                <a:cxn ang="0">
                  <a:pos x="0" y="0"/>
                </a:cxn>
                <a:cxn ang="0">
                  <a:pos x="60" y="24"/>
                </a:cxn>
                <a:cxn ang="0">
                  <a:pos x="60" y="24"/>
                </a:cxn>
                <a:cxn ang="0">
                  <a:pos x="60" y="24"/>
                </a:cxn>
                <a:cxn ang="0">
                  <a:pos x="60" y="24"/>
                </a:cxn>
                <a:cxn ang="0">
                  <a:pos x="60" y="24"/>
                </a:cxn>
              </a:cxnLst>
              <a:rect l="txL" t="txT" r="txR" b="txB"/>
              <a:pathLst>
                <a:path w="60" h="24">
                  <a:moveTo>
                    <a:pt x="60" y="24"/>
                  </a:moveTo>
                  <a:lnTo>
                    <a:pt x="0" y="0"/>
                  </a:lnTo>
                  <a:lnTo>
                    <a:pt x="60" y="24"/>
                  </a:lnTo>
                  <a:close/>
                  <a:moveTo>
                    <a:pt x="60" y="24"/>
                  </a:moveTo>
                  <a:lnTo>
                    <a:pt x="6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88" name="Freeform 77"/>
            <p:cNvSpPr>
              <a:spLocks noEditPoints="1"/>
            </p:cNvSpPr>
            <p:nvPr/>
          </p:nvSpPr>
          <p:spPr>
            <a:xfrm>
              <a:off x="2829" y="2637"/>
              <a:ext cx="60" cy="30"/>
            </a:xfrm>
            <a:custGeom>
              <a:avLst/>
              <a:gdLst>
                <a:gd name="txL" fmla="*/ 0 w 60"/>
                <a:gd name="txT" fmla="*/ 0 h 30"/>
                <a:gd name="txR" fmla="*/ 60 w 60"/>
                <a:gd name="txB" fmla="*/ 30 h 30"/>
              </a:gdLst>
              <a:ahLst/>
              <a:cxnLst>
                <a:cxn ang="0">
                  <a:pos x="0" y="30"/>
                </a:cxn>
                <a:cxn ang="0">
                  <a:pos x="60" y="0"/>
                </a:cxn>
                <a:cxn ang="0">
                  <a:pos x="0" y="30"/>
                </a:cxn>
                <a:cxn ang="0">
                  <a:pos x="0" y="30"/>
                </a:cxn>
                <a:cxn ang="0">
                  <a:pos x="0" y="30"/>
                </a:cxn>
                <a:cxn ang="0">
                  <a:pos x="0" y="30"/>
                </a:cxn>
                <a:cxn ang="0">
                  <a:pos x="0" y="30"/>
                </a:cxn>
              </a:cxnLst>
              <a:rect l="txL" t="txT" r="txR" b="txB"/>
              <a:pathLst>
                <a:path w="60" h="30">
                  <a:moveTo>
                    <a:pt x="0" y="30"/>
                  </a:moveTo>
                  <a:lnTo>
                    <a:pt x="60" y="0"/>
                  </a:lnTo>
                  <a:lnTo>
                    <a:pt x="0" y="30"/>
                  </a:lnTo>
                  <a:close/>
                  <a:moveTo>
                    <a:pt x="0" y="30"/>
                  </a:moveTo>
                  <a:lnTo>
                    <a:pt x="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89" name="Freeform 78"/>
            <p:cNvSpPr>
              <a:spLocks noEditPoints="1"/>
            </p:cNvSpPr>
            <p:nvPr/>
          </p:nvSpPr>
          <p:spPr>
            <a:xfrm>
              <a:off x="2889" y="2613"/>
              <a:ext cx="60" cy="24"/>
            </a:xfrm>
            <a:custGeom>
              <a:avLst/>
              <a:gdLst>
                <a:gd name="txL" fmla="*/ 0 w 60"/>
                <a:gd name="txT" fmla="*/ 0 h 24"/>
                <a:gd name="txR" fmla="*/ 60 w 60"/>
                <a:gd name="txB" fmla="*/ 24 h 24"/>
              </a:gdLst>
              <a:ahLst/>
              <a:cxnLst>
                <a:cxn ang="0">
                  <a:pos x="0" y="24"/>
                </a:cxn>
                <a:cxn ang="0">
                  <a:pos x="60" y="0"/>
                </a:cxn>
                <a:cxn ang="0">
                  <a:pos x="0" y="24"/>
                </a:cxn>
                <a:cxn ang="0">
                  <a:pos x="0" y="24"/>
                </a:cxn>
                <a:cxn ang="0">
                  <a:pos x="0" y="24"/>
                </a:cxn>
                <a:cxn ang="0">
                  <a:pos x="0" y="24"/>
                </a:cxn>
                <a:cxn ang="0">
                  <a:pos x="0" y="24"/>
                </a:cxn>
              </a:cxnLst>
              <a:rect l="txL" t="txT" r="txR" b="txB"/>
              <a:pathLst>
                <a:path w="60" h="24">
                  <a:moveTo>
                    <a:pt x="0" y="24"/>
                  </a:moveTo>
                  <a:lnTo>
                    <a:pt x="60"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90" name="Freeform 79"/>
            <p:cNvSpPr>
              <a:spLocks noEditPoints="1"/>
            </p:cNvSpPr>
            <p:nvPr/>
          </p:nvSpPr>
          <p:spPr>
            <a:xfrm>
              <a:off x="2889" y="2589"/>
              <a:ext cx="60" cy="24"/>
            </a:xfrm>
            <a:custGeom>
              <a:avLst/>
              <a:gdLst>
                <a:gd name="txL" fmla="*/ 0 w 60"/>
                <a:gd name="txT" fmla="*/ 0 h 24"/>
                <a:gd name="txR" fmla="*/ 60 w 60"/>
                <a:gd name="txB" fmla="*/ 24 h 24"/>
              </a:gdLst>
              <a:ahLst/>
              <a:cxnLst>
                <a:cxn ang="0">
                  <a:pos x="60" y="24"/>
                </a:cxn>
                <a:cxn ang="0">
                  <a:pos x="0" y="0"/>
                </a:cxn>
                <a:cxn ang="0">
                  <a:pos x="60" y="24"/>
                </a:cxn>
                <a:cxn ang="0">
                  <a:pos x="60" y="24"/>
                </a:cxn>
                <a:cxn ang="0">
                  <a:pos x="60" y="24"/>
                </a:cxn>
                <a:cxn ang="0">
                  <a:pos x="60" y="24"/>
                </a:cxn>
                <a:cxn ang="0">
                  <a:pos x="60" y="24"/>
                </a:cxn>
              </a:cxnLst>
              <a:rect l="txL" t="txT" r="txR" b="txB"/>
              <a:pathLst>
                <a:path w="60" h="24">
                  <a:moveTo>
                    <a:pt x="60" y="24"/>
                  </a:moveTo>
                  <a:lnTo>
                    <a:pt x="0" y="0"/>
                  </a:lnTo>
                  <a:lnTo>
                    <a:pt x="60" y="24"/>
                  </a:lnTo>
                  <a:close/>
                  <a:moveTo>
                    <a:pt x="60" y="24"/>
                  </a:moveTo>
                  <a:lnTo>
                    <a:pt x="6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91" name="Freeform 80"/>
            <p:cNvSpPr>
              <a:spLocks noEditPoints="1"/>
            </p:cNvSpPr>
            <p:nvPr/>
          </p:nvSpPr>
          <p:spPr>
            <a:xfrm>
              <a:off x="2829" y="2566"/>
              <a:ext cx="60" cy="23"/>
            </a:xfrm>
            <a:custGeom>
              <a:avLst/>
              <a:gdLst>
                <a:gd name="txL" fmla="*/ 0 w 60"/>
                <a:gd name="txT" fmla="*/ 0 h 23"/>
                <a:gd name="txR" fmla="*/ 60 w 60"/>
                <a:gd name="txB" fmla="*/ 23 h 23"/>
              </a:gdLst>
              <a:ahLst/>
              <a:cxnLst>
                <a:cxn ang="0">
                  <a:pos x="60" y="23"/>
                </a:cxn>
                <a:cxn ang="0">
                  <a:pos x="0" y="0"/>
                </a:cxn>
                <a:cxn ang="0">
                  <a:pos x="60" y="23"/>
                </a:cxn>
                <a:cxn ang="0">
                  <a:pos x="60" y="23"/>
                </a:cxn>
                <a:cxn ang="0">
                  <a:pos x="60" y="23"/>
                </a:cxn>
                <a:cxn ang="0">
                  <a:pos x="60" y="23"/>
                </a:cxn>
                <a:cxn ang="0">
                  <a:pos x="60" y="23"/>
                </a:cxn>
              </a:cxnLst>
              <a:rect l="txL" t="txT" r="txR" b="txB"/>
              <a:pathLst>
                <a:path w="60" h="23">
                  <a:moveTo>
                    <a:pt x="60" y="23"/>
                  </a:moveTo>
                  <a:lnTo>
                    <a:pt x="0" y="0"/>
                  </a:lnTo>
                  <a:lnTo>
                    <a:pt x="60" y="23"/>
                  </a:lnTo>
                  <a:close/>
                  <a:moveTo>
                    <a:pt x="60" y="23"/>
                  </a:moveTo>
                  <a:lnTo>
                    <a:pt x="60" y="2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92" name="Freeform 81"/>
            <p:cNvSpPr>
              <a:spLocks noEditPoints="1"/>
            </p:cNvSpPr>
            <p:nvPr/>
          </p:nvSpPr>
          <p:spPr>
            <a:xfrm>
              <a:off x="2829" y="2542"/>
              <a:ext cx="60" cy="24"/>
            </a:xfrm>
            <a:custGeom>
              <a:avLst/>
              <a:gdLst>
                <a:gd name="txL" fmla="*/ 0 w 60"/>
                <a:gd name="txT" fmla="*/ 0 h 24"/>
                <a:gd name="txR" fmla="*/ 60 w 60"/>
                <a:gd name="txB" fmla="*/ 24 h 24"/>
              </a:gdLst>
              <a:ahLst/>
              <a:cxnLst>
                <a:cxn ang="0">
                  <a:pos x="0" y="24"/>
                </a:cxn>
                <a:cxn ang="0">
                  <a:pos x="60" y="0"/>
                </a:cxn>
                <a:cxn ang="0">
                  <a:pos x="0" y="24"/>
                </a:cxn>
                <a:cxn ang="0">
                  <a:pos x="0" y="24"/>
                </a:cxn>
                <a:cxn ang="0">
                  <a:pos x="0" y="24"/>
                </a:cxn>
                <a:cxn ang="0">
                  <a:pos x="0" y="24"/>
                </a:cxn>
                <a:cxn ang="0">
                  <a:pos x="0" y="24"/>
                </a:cxn>
              </a:cxnLst>
              <a:rect l="txL" t="txT" r="txR" b="txB"/>
              <a:pathLst>
                <a:path w="60" h="24">
                  <a:moveTo>
                    <a:pt x="0" y="24"/>
                  </a:moveTo>
                  <a:lnTo>
                    <a:pt x="60"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93" name="Freeform 82"/>
            <p:cNvSpPr>
              <a:spLocks noEditPoints="1"/>
            </p:cNvSpPr>
            <p:nvPr/>
          </p:nvSpPr>
          <p:spPr>
            <a:xfrm>
              <a:off x="2889" y="2518"/>
              <a:ext cx="60" cy="24"/>
            </a:xfrm>
            <a:custGeom>
              <a:avLst/>
              <a:gdLst>
                <a:gd name="txL" fmla="*/ 0 w 60"/>
                <a:gd name="txT" fmla="*/ 0 h 24"/>
                <a:gd name="txR" fmla="*/ 60 w 60"/>
                <a:gd name="txB" fmla="*/ 24 h 24"/>
              </a:gdLst>
              <a:ahLst/>
              <a:cxnLst>
                <a:cxn ang="0">
                  <a:pos x="0" y="24"/>
                </a:cxn>
                <a:cxn ang="0">
                  <a:pos x="60" y="0"/>
                </a:cxn>
                <a:cxn ang="0">
                  <a:pos x="0" y="24"/>
                </a:cxn>
                <a:cxn ang="0">
                  <a:pos x="0" y="24"/>
                </a:cxn>
                <a:cxn ang="0">
                  <a:pos x="0" y="24"/>
                </a:cxn>
                <a:cxn ang="0">
                  <a:pos x="0" y="24"/>
                </a:cxn>
                <a:cxn ang="0">
                  <a:pos x="0" y="24"/>
                </a:cxn>
              </a:cxnLst>
              <a:rect l="txL" t="txT" r="txR" b="txB"/>
              <a:pathLst>
                <a:path w="60" h="24">
                  <a:moveTo>
                    <a:pt x="0" y="24"/>
                  </a:moveTo>
                  <a:lnTo>
                    <a:pt x="60"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94" name="Freeform 83"/>
            <p:cNvSpPr>
              <a:spLocks noEditPoints="1"/>
            </p:cNvSpPr>
            <p:nvPr/>
          </p:nvSpPr>
          <p:spPr>
            <a:xfrm>
              <a:off x="2889" y="2494"/>
              <a:ext cx="60" cy="24"/>
            </a:xfrm>
            <a:custGeom>
              <a:avLst/>
              <a:gdLst>
                <a:gd name="txL" fmla="*/ 0 w 60"/>
                <a:gd name="txT" fmla="*/ 0 h 24"/>
                <a:gd name="txR" fmla="*/ 60 w 60"/>
                <a:gd name="txB" fmla="*/ 24 h 24"/>
              </a:gdLst>
              <a:ahLst/>
              <a:cxnLst>
                <a:cxn ang="0">
                  <a:pos x="60" y="24"/>
                </a:cxn>
                <a:cxn ang="0">
                  <a:pos x="0" y="0"/>
                </a:cxn>
                <a:cxn ang="0">
                  <a:pos x="60" y="24"/>
                </a:cxn>
                <a:cxn ang="0">
                  <a:pos x="60" y="24"/>
                </a:cxn>
                <a:cxn ang="0">
                  <a:pos x="60" y="24"/>
                </a:cxn>
                <a:cxn ang="0">
                  <a:pos x="60" y="24"/>
                </a:cxn>
                <a:cxn ang="0">
                  <a:pos x="60" y="24"/>
                </a:cxn>
              </a:cxnLst>
              <a:rect l="txL" t="txT" r="txR" b="txB"/>
              <a:pathLst>
                <a:path w="60" h="24">
                  <a:moveTo>
                    <a:pt x="60" y="24"/>
                  </a:moveTo>
                  <a:lnTo>
                    <a:pt x="0" y="0"/>
                  </a:lnTo>
                  <a:lnTo>
                    <a:pt x="60" y="24"/>
                  </a:lnTo>
                  <a:close/>
                  <a:moveTo>
                    <a:pt x="60" y="24"/>
                  </a:moveTo>
                  <a:lnTo>
                    <a:pt x="6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95" name="Freeform 84"/>
            <p:cNvSpPr>
              <a:spLocks noEditPoints="1"/>
            </p:cNvSpPr>
            <p:nvPr/>
          </p:nvSpPr>
          <p:spPr>
            <a:xfrm>
              <a:off x="2829" y="2464"/>
              <a:ext cx="60" cy="30"/>
            </a:xfrm>
            <a:custGeom>
              <a:avLst/>
              <a:gdLst>
                <a:gd name="txL" fmla="*/ 0 w 60"/>
                <a:gd name="txT" fmla="*/ 0 h 30"/>
                <a:gd name="txR" fmla="*/ 60 w 60"/>
                <a:gd name="txB" fmla="*/ 30 h 30"/>
              </a:gdLst>
              <a:ahLst/>
              <a:cxnLst>
                <a:cxn ang="0">
                  <a:pos x="60" y="30"/>
                </a:cxn>
                <a:cxn ang="0">
                  <a:pos x="0" y="0"/>
                </a:cxn>
                <a:cxn ang="0">
                  <a:pos x="60" y="30"/>
                </a:cxn>
                <a:cxn ang="0">
                  <a:pos x="60" y="30"/>
                </a:cxn>
                <a:cxn ang="0">
                  <a:pos x="60" y="30"/>
                </a:cxn>
                <a:cxn ang="0">
                  <a:pos x="60" y="30"/>
                </a:cxn>
                <a:cxn ang="0">
                  <a:pos x="60" y="30"/>
                </a:cxn>
              </a:cxnLst>
              <a:rect l="txL" t="txT" r="txR" b="txB"/>
              <a:pathLst>
                <a:path w="60" h="30">
                  <a:moveTo>
                    <a:pt x="60" y="30"/>
                  </a:moveTo>
                  <a:lnTo>
                    <a:pt x="0" y="0"/>
                  </a:lnTo>
                  <a:lnTo>
                    <a:pt x="60" y="30"/>
                  </a:lnTo>
                  <a:close/>
                  <a:moveTo>
                    <a:pt x="60" y="30"/>
                  </a:moveTo>
                  <a:lnTo>
                    <a:pt x="60" y="3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96" name="Freeform 85"/>
            <p:cNvSpPr>
              <a:spLocks noEditPoints="1"/>
            </p:cNvSpPr>
            <p:nvPr/>
          </p:nvSpPr>
          <p:spPr>
            <a:xfrm>
              <a:off x="2829" y="2440"/>
              <a:ext cx="66" cy="24"/>
            </a:xfrm>
            <a:custGeom>
              <a:avLst/>
              <a:gdLst>
                <a:gd name="txL" fmla="*/ 0 w 66"/>
                <a:gd name="txT" fmla="*/ 0 h 24"/>
                <a:gd name="txR" fmla="*/ 66 w 66"/>
                <a:gd name="txB" fmla="*/ 24 h 24"/>
              </a:gdLst>
              <a:ahLst/>
              <a:cxnLst>
                <a:cxn ang="0">
                  <a:pos x="0" y="24"/>
                </a:cxn>
                <a:cxn ang="0">
                  <a:pos x="66" y="0"/>
                </a:cxn>
                <a:cxn ang="0">
                  <a:pos x="0" y="24"/>
                </a:cxn>
                <a:cxn ang="0">
                  <a:pos x="0" y="24"/>
                </a:cxn>
                <a:cxn ang="0">
                  <a:pos x="0" y="24"/>
                </a:cxn>
                <a:cxn ang="0">
                  <a:pos x="0" y="24"/>
                </a:cxn>
                <a:cxn ang="0">
                  <a:pos x="0" y="24"/>
                </a:cxn>
              </a:cxnLst>
              <a:rect l="txL" t="txT" r="txR" b="txB"/>
              <a:pathLst>
                <a:path w="66" h="24">
                  <a:moveTo>
                    <a:pt x="0" y="24"/>
                  </a:moveTo>
                  <a:lnTo>
                    <a:pt x="66" y="0"/>
                  </a:lnTo>
                  <a:lnTo>
                    <a:pt x="0" y="24"/>
                  </a:lnTo>
                  <a:close/>
                  <a:moveTo>
                    <a:pt x="0" y="24"/>
                  </a:moveTo>
                  <a:lnTo>
                    <a:pt x="0" y="2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97" name="Freeform 86"/>
            <p:cNvSpPr/>
            <p:nvPr/>
          </p:nvSpPr>
          <p:spPr>
            <a:xfrm>
              <a:off x="2662" y="947"/>
              <a:ext cx="388" cy="48"/>
            </a:xfrm>
            <a:custGeom>
              <a:avLst/>
              <a:gdLst>
                <a:gd name="txL" fmla="*/ 0 w 388"/>
                <a:gd name="txT" fmla="*/ 0 h 48"/>
                <a:gd name="txR" fmla="*/ 388 w 388"/>
                <a:gd name="txB" fmla="*/ 48 h 48"/>
              </a:gdLst>
              <a:ahLst/>
              <a:cxnLst>
                <a:cxn ang="0">
                  <a:pos x="0" y="48"/>
                </a:cxn>
                <a:cxn ang="0">
                  <a:pos x="0" y="0"/>
                </a:cxn>
                <a:cxn ang="0">
                  <a:pos x="388" y="0"/>
                </a:cxn>
                <a:cxn ang="0">
                  <a:pos x="388" y="48"/>
                </a:cxn>
                <a:cxn ang="0">
                  <a:pos x="0" y="48"/>
                </a:cxn>
                <a:cxn ang="0">
                  <a:pos x="0" y="48"/>
                </a:cxn>
              </a:cxnLst>
              <a:rect l="txL" t="txT" r="txR" b="txB"/>
              <a:pathLst>
                <a:path w="388" h="48">
                  <a:moveTo>
                    <a:pt x="0" y="48"/>
                  </a:moveTo>
                  <a:lnTo>
                    <a:pt x="0" y="0"/>
                  </a:lnTo>
                  <a:lnTo>
                    <a:pt x="388" y="0"/>
                  </a:lnTo>
                  <a:lnTo>
                    <a:pt x="388" y="48"/>
                  </a:lnTo>
                  <a:lnTo>
                    <a:pt x="0" y="48"/>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4598" name="Freeform 87"/>
            <p:cNvSpPr/>
            <p:nvPr/>
          </p:nvSpPr>
          <p:spPr>
            <a:xfrm>
              <a:off x="3033" y="971"/>
              <a:ext cx="23" cy="60"/>
            </a:xfrm>
            <a:custGeom>
              <a:avLst/>
              <a:gdLst>
                <a:gd name="txL" fmla="*/ 0 w 23"/>
                <a:gd name="txT" fmla="*/ 0 h 60"/>
                <a:gd name="txR" fmla="*/ 23 w 23"/>
                <a:gd name="txB" fmla="*/ 60 h 60"/>
              </a:gdLst>
              <a:ahLst/>
              <a:cxnLst>
                <a:cxn ang="0">
                  <a:pos x="23" y="0"/>
                </a:cxn>
                <a:cxn ang="0">
                  <a:pos x="0" y="60"/>
                </a:cxn>
                <a:cxn ang="0">
                  <a:pos x="23" y="0"/>
                </a:cxn>
                <a:cxn ang="0">
                  <a:pos x="23" y="0"/>
                </a:cxn>
              </a:cxnLst>
              <a:rect l="txL" t="txT" r="txR" b="txB"/>
              <a:pathLst>
                <a:path w="23" h="60">
                  <a:moveTo>
                    <a:pt x="23" y="0"/>
                  </a:moveTo>
                  <a:lnTo>
                    <a:pt x="0" y="60"/>
                  </a:lnTo>
                  <a:lnTo>
                    <a:pt x="23"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599" name="Freeform 88"/>
            <p:cNvSpPr>
              <a:spLocks noEditPoints="1"/>
            </p:cNvSpPr>
            <p:nvPr/>
          </p:nvSpPr>
          <p:spPr>
            <a:xfrm>
              <a:off x="3003" y="971"/>
              <a:ext cx="30" cy="60"/>
            </a:xfrm>
            <a:custGeom>
              <a:avLst/>
              <a:gdLst>
                <a:gd name="txL" fmla="*/ 0 w 30"/>
                <a:gd name="txT" fmla="*/ 0 h 60"/>
                <a:gd name="txR" fmla="*/ 30 w 30"/>
                <a:gd name="txB" fmla="*/ 60 h 60"/>
              </a:gdLst>
              <a:ahLst/>
              <a:cxnLst>
                <a:cxn ang="0">
                  <a:pos x="30" y="60"/>
                </a:cxn>
                <a:cxn ang="0">
                  <a:pos x="0" y="0"/>
                </a:cxn>
                <a:cxn ang="0">
                  <a:pos x="30" y="60"/>
                </a:cxn>
                <a:cxn ang="0">
                  <a:pos x="30" y="60"/>
                </a:cxn>
                <a:cxn ang="0">
                  <a:pos x="30" y="60"/>
                </a:cxn>
                <a:cxn ang="0">
                  <a:pos x="30" y="60"/>
                </a:cxn>
                <a:cxn ang="0">
                  <a:pos x="30" y="60"/>
                </a:cxn>
              </a:cxnLst>
              <a:rect l="txL" t="txT" r="txR" b="txB"/>
              <a:pathLst>
                <a:path w="30" h="60">
                  <a:moveTo>
                    <a:pt x="30" y="60"/>
                  </a:moveTo>
                  <a:lnTo>
                    <a:pt x="0" y="0"/>
                  </a:lnTo>
                  <a:lnTo>
                    <a:pt x="30" y="60"/>
                  </a:lnTo>
                  <a:close/>
                  <a:moveTo>
                    <a:pt x="30" y="60"/>
                  </a:moveTo>
                  <a:lnTo>
                    <a:pt x="30"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00" name="Freeform 89"/>
            <p:cNvSpPr>
              <a:spLocks noEditPoints="1"/>
            </p:cNvSpPr>
            <p:nvPr/>
          </p:nvSpPr>
          <p:spPr>
            <a:xfrm>
              <a:off x="2979" y="912"/>
              <a:ext cx="24" cy="59"/>
            </a:xfrm>
            <a:custGeom>
              <a:avLst/>
              <a:gdLst>
                <a:gd name="txL" fmla="*/ 0 w 24"/>
                <a:gd name="txT" fmla="*/ 0 h 59"/>
                <a:gd name="txR" fmla="*/ 24 w 24"/>
                <a:gd name="txB" fmla="*/ 59 h 59"/>
              </a:gdLst>
              <a:ahLst/>
              <a:cxnLst>
                <a:cxn ang="0">
                  <a:pos x="24" y="59"/>
                </a:cxn>
                <a:cxn ang="0">
                  <a:pos x="0" y="0"/>
                </a:cxn>
                <a:cxn ang="0">
                  <a:pos x="24" y="59"/>
                </a:cxn>
                <a:cxn ang="0">
                  <a:pos x="24" y="59"/>
                </a:cxn>
                <a:cxn ang="0">
                  <a:pos x="24" y="59"/>
                </a:cxn>
                <a:cxn ang="0">
                  <a:pos x="24" y="59"/>
                </a:cxn>
                <a:cxn ang="0">
                  <a:pos x="24" y="59"/>
                </a:cxn>
              </a:cxnLst>
              <a:rect l="txL" t="txT" r="txR" b="txB"/>
              <a:pathLst>
                <a:path w="24" h="59">
                  <a:moveTo>
                    <a:pt x="24" y="59"/>
                  </a:moveTo>
                  <a:lnTo>
                    <a:pt x="0" y="0"/>
                  </a:lnTo>
                  <a:lnTo>
                    <a:pt x="24" y="59"/>
                  </a:lnTo>
                  <a:close/>
                  <a:moveTo>
                    <a:pt x="24" y="59"/>
                  </a:moveTo>
                  <a:lnTo>
                    <a:pt x="24"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01" name="Freeform 90"/>
            <p:cNvSpPr>
              <a:spLocks noEditPoints="1"/>
            </p:cNvSpPr>
            <p:nvPr/>
          </p:nvSpPr>
          <p:spPr>
            <a:xfrm>
              <a:off x="2955" y="912"/>
              <a:ext cx="24" cy="59"/>
            </a:xfrm>
            <a:custGeom>
              <a:avLst/>
              <a:gdLst>
                <a:gd name="txL" fmla="*/ 0 w 24"/>
                <a:gd name="txT" fmla="*/ 0 h 59"/>
                <a:gd name="txR" fmla="*/ 24 w 24"/>
                <a:gd name="txB" fmla="*/ 59 h 59"/>
              </a:gdLst>
              <a:ahLst/>
              <a:cxnLst>
                <a:cxn ang="0">
                  <a:pos x="24" y="0"/>
                </a:cxn>
                <a:cxn ang="0">
                  <a:pos x="0" y="59"/>
                </a:cxn>
                <a:cxn ang="0">
                  <a:pos x="24" y="0"/>
                </a:cxn>
                <a:cxn ang="0">
                  <a:pos x="24" y="0"/>
                </a:cxn>
                <a:cxn ang="0">
                  <a:pos x="24" y="0"/>
                </a:cxn>
                <a:cxn ang="0">
                  <a:pos x="24" y="0"/>
                </a:cxn>
                <a:cxn ang="0">
                  <a:pos x="24" y="0"/>
                </a:cxn>
              </a:cxnLst>
              <a:rect l="txL" t="txT" r="txR" b="txB"/>
              <a:pathLst>
                <a:path w="24" h="59">
                  <a:moveTo>
                    <a:pt x="24" y="0"/>
                  </a:moveTo>
                  <a:lnTo>
                    <a:pt x="0" y="59"/>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02" name="Freeform 91"/>
            <p:cNvSpPr>
              <a:spLocks noEditPoints="1"/>
            </p:cNvSpPr>
            <p:nvPr/>
          </p:nvSpPr>
          <p:spPr>
            <a:xfrm>
              <a:off x="2955" y="971"/>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03" name="Freeform 92"/>
            <p:cNvSpPr>
              <a:spLocks noEditPoints="1"/>
            </p:cNvSpPr>
            <p:nvPr/>
          </p:nvSpPr>
          <p:spPr>
            <a:xfrm>
              <a:off x="2931" y="971"/>
              <a:ext cx="24" cy="60"/>
            </a:xfrm>
            <a:custGeom>
              <a:avLst/>
              <a:gdLst>
                <a:gd name="txL" fmla="*/ 0 w 24"/>
                <a:gd name="txT" fmla="*/ 0 h 60"/>
                <a:gd name="txR" fmla="*/ 24 w 24"/>
                <a:gd name="txB" fmla="*/ 60 h 60"/>
              </a:gdLst>
              <a:ahLst/>
              <a:cxnLst>
                <a:cxn ang="0">
                  <a:pos x="24" y="0"/>
                </a:cxn>
                <a:cxn ang="0">
                  <a:pos x="0" y="60"/>
                </a:cxn>
                <a:cxn ang="0">
                  <a:pos x="24" y="0"/>
                </a:cxn>
                <a:cxn ang="0">
                  <a:pos x="24" y="0"/>
                </a:cxn>
                <a:cxn ang="0">
                  <a:pos x="24" y="0"/>
                </a:cxn>
                <a:cxn ang="0">
                  <a:pos x="24" y="0"/>
                </a:cxn>
                <a:cxn ang="0">
                  <a:pos x="24" y="0"/>
                </a:cxn>
              </a:cxnLst>
              <a:rect l="txL" t="txT" r="txR" b="txB"/>
              <a:pathLst>
                <a:path w="24" h="60">
                  <a:moveTo>
                    <a:pt x="24" y="0"/>
                  </a:moveTo>
                  <a:lnTo>
                    <a:pt x="0" y="60"/>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04" name="Freeform 93"/>
            <p:cNvSpPr>
              <a:spLocks noEditPoints="1"/>
            </p:cNvSpPr>
            <p:nvPr/>
          </p:nvSpPr>
          <p:spPr>
            <a:xfrm>
              <a:off x="2907" y="971"/>
              <a:ext cx="24" cy="60"/>
            </a:xfrm>
            <a:custGeom>
              <a:avLst/>
              <a:gdLst>
                <a:gd name="txL" fmla="*/ 0 w 24"/>
                <a:gd name="txT" fmla="*/ 0 h 60"/>
                <a:gd name="txR" fmla="*/ 24 w 24"/>
                <a:gd name="txB" fmla="*/ 60 h 60"/>
              </a:gdLst>
              <a:ahLst/>
              <a:cxnLst>
                <a:cxn ang="0">
                  <a:pos x="24" y="60"/>
                </a:cxn>
                <a:cxn ang="0">
                  <a:pos x="0" y="0"/>
                </a:cxn>
                <a:cxn ang="0">
                  <a:pos x="24" y="60"/>
                </a:cxn>
                <a:cxn ang="0">
                  <a:pos x="24" y="60"/>
                </a:cxn>
                <a:cxn ang="0">
                  <a:pos x="24" y="60"/>
                </a:cxn>
                <a:cxn ang="0">
                  <a:pos x="24" y="60"/>
                </a:cxn>
                <a:cxn ang="0">
                  <a:pos x="24" y="60"/>
                </a:cxn>
              </a:cxnLst>
              <a:rect l="txL" t="txT" r="txR" b="txB"/>
              <a:pathLst>
                <a:path w="24" h="60">
                  <a:moveTo>
                    <a:pt x="24" y="60"/>
                  </a:moveTo>
                  <a:lnTo>
                    <a:pt x="0" y="0"/>
                  </a:lnTo>
                  <a:lnTo>
                    <a:pt x="24" y="60"/>
                  </a:lnTo>
                  <a:close/>
                  <a:moveTo>
                    <a:pt x="24" y="60"/>
                  </a:moveTo>
                  <a:lnTo>
                    <a:pt x="24"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05" name="Freeform 94"/>
            <p:cNvSpPr>
              <a:spLocks noEditPoints="1"/>
            </p:cNvSpPr>
            <p:nvPr/>
          </p:nvSpPr>
          <p:spPr>
            <a:xfrm>
              <a:off x="2883" y="912"/>
              <a:ext cx="24" cy="59"/>
            </a:xfrm>
            <a:custGeom>
              <a:avLst/>
              <a:gdLst>
                <a:gd name="txL" fmla="*/ 0 w 24"/>
                <a:gd name="txT" fmla="*/ 0 h 59"/>
                <a:gd name="txR" fmla="*/ 24 w 24"/>
                <a:gd name="txB" fmla="*/ 59 h 59"/>
              </a:gdLst>
              <a:ahLst/>
              <a:cxnLst>
                <a:cxn ang="0">
                  <a:pos x="24" y="59"/>
                </a:cxn>
                <a:cxn ang="0">
                  <a:pos x="0" y="0"/>
                </a:cxn>
                <a:cxn ang="0">
                  <a:pos x="24" y="59"/>
                </a:cxn>
                <a:cxn ang="0">
                  <a:pos x="24" y="59"/>
                </a:cxn>
                <a:cxn ang="0">
                  <a:pos x="24" y="59"/>
                </a:cxn>
                <a:cxn ang="0">
                  <a:pos x="24" y="59"/>
                </a:cxn>
                <a:cxn ang="0">
                  <a:pos x="24" y="59"/>
                </a:cxn>
              </a:cxnLst>
              <a:rect l="txL" t="txT" r="txR" b="txB"/>
              <a:pathLst>
                <a:path w="24" h="59">
                  <a:moveTo>
                    <a:pt x="24" y="59"/>
                  </a:moveTo>
                  <a:lnTo>
                    <a:pt x="0" y="0"/>
                  </a:lnTo>
                  <a:lnTo>
                    <a:pt x="24" y="59"/>
                  </a:lnTo>
                  <a:close/>
                  <a:moveTo>
                    <a:pt x="24" y="59"/>
                  </a:moveTo>
                  <a:lnTo>
                    <a:pt x="24"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06" name="Freeform 95"/>
            <p:cNvSpPr>
              <a:spLocks noEditPoints="1"/>
            </p:cNvSpPr>
            <p:nvPr/>
          </p:nvSpPr>
          <p:spPr>
            <a:xfrm>
              <a:off x="2859" y="912"/>
              <a:ext cx="24" cy="59"/>
            </a:xfrm>
            <a:custGeom>
              <a:avLst/>
              <a:gdLst>
                <a:gd name="txL" fmla="*/ 0 w 24"/>
                <a:gd name="txT" fmla="*/ 0 h 59"/>
                <a:gd name="txR" fmla="*/ 24 w 24"/>
                <a:gd name="txB" fmla="*/ 59 h 59"/>
              </a:gdLst>
              <a:ahLst/>
              <a:cxnLst>
                <a:cxn ang="0">
                  <a:pos x="24" y="0"/>
                </a:cxn>
                <a:cxn ang="0">
                  <a:pos x="0" y="59"/>
                </a:cxn>
                <a:cxn ang="0">
                  <a:pos x="24" y="0"/>
                </a:cxn>
                <a:cxn ang="0">
                  <a:pos x="24" y="0"/>
                </a:cxn>
                <a:cxn ang="0">
                  <a:pos x="24" y="0"/>
                </a:cxn>
                <a:cxn ang="0">
                  <a:pos x="24" y="0"/>
                </a:cxn>
                <a:cxn ang="0">
                  <a:pos x="24" y="0"/>
                </a:cxn>
              </a:cxnLst>
              <a:rect l="txL" t="txT" r="txR" b="txB"/>
              <a:pathLst>
                <a:path w="24" h="59">
                  <a:moveTo>
                    <a:pt x="24" y="0"/>
                  </a:moveTo>
                  <a:lnTo>
                    <a:pt x="0" y="59"/>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07" name="Freeform 96"/>
            <p:cNvSpPr>
              <a:spLocks noEditPoints="1"/>
            </p:cNvSpPr>
            <p:nvPr/>
          </p:nvSpPr>
          <p:spPr>
            <a:xfrm>
              <a:off x="2829" y="971"/>
              <a:ext cx="30" cy="60"/>
            </a:xfrm>
            <a:custGeom>
              <a:avLst/>
              <a:gdLst>
                <a:gd name="txL" fmla="*/ 0 w 30"/>
                <a:gd name="txT" fmla="*/ 0 h 60"/>
                <a:gd name="txR" fmla="*/ 30 w 30"/>
                <a:gd name="txB" fmla="*/ 60 h 60"/>
              </a:gdLst>
              <a:ahLst/>
              <a:cxnLst>
                <a:cxn ang="0">
                  <a:pos x="30" y="0"/>
                </a:cxn>
                <a:cxn ang="0">
                  <a:pos x="0" y="60"/>
                </a:cxn>
                <a:cxn ang="0">
                  <a:pos x="30" y="0"/>
                </a:cxn>
                <a:cxn ang="0">
                  <a:pos x="30" y="0"/>
                </a:cxn>
                <a:cxn ang="0">
                  <a:pos x="30" y="0"/>
                </a:cxn>
                <a:cxn ang="0">
                  <a:pos x="30" y="0"/>
                </a:cxn>
                <a:cxn ang="0">
                  <a:pos x="30" y="0"/>
                </a:cxn>
              </a:cxnLst>
              <a:rect l="txL" t="txT" r="txR" b="txB"/>
              <a:pathLst>
                <a:path w="30" h="60">
                  <a:moveTo>
                    <a:pt x="30" y="0"/>
                  </a:moveTo>
                  <a:lnTo>
                    <a:pt x="0" y="60"/>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08" name="Freeform 97"/>
            <p:cNvSpPr>
              <a:spLocks noEditPoints="1"/>
            </p:cNvSpPr>
            <p:nvPr/>
          </p:nvSpPr>
          <p:spPr>
            <a:xfrm>
              <a:off x="2805" y="971"/>
              <a:ext cx="24" cy="60"/>
            </a:xfrm>
            <a:custGeom>
              <a:avLst/>
              <a:gdLst>
                <a:gd name="txL" fmla="*/ 0 w 24"/>
                <a:gd name="txT" fmla="*/ 0 h 60"/>
                <a:gd name="txR" fmla="*/ 24 w 24"/>
                <a:gd name="txB" fmla="*/ 60 h 60"/>
              </a:gdLst>
              <a:ahLst/>
              <a:cxnLst>
                <a:cxn ang="0">
                  <a:pos x="24" y="60"/>
                </a:cxn>
                <a:cxn ang="0">
                  <a:pos x="0" y="0"/>
                </a:cxn>
                <a:cxn ang="0">
                  <a:pos x="24" y="60"/>
                </a:cxn>
                <a:cxn ang="0">
                  <a:pos x="24" y="60"/>
                </a:cxn>
                <a:cxn ang="0">
                  <a:pos x="24" y="60"/>
                </a:cxn>
                <a:cxn ang="0">
                  <a:pos x="24" y="60"/>
                </a:cxn>
                <a:cxn ang="0">
                  <a:pos x="24" y="60"/>
                </a:cxn>
              </a:cxnLst>
              <a:rect l="txL" t="txT" r="txR" b="txB"/>
              <a:pathLst>
                <a:path w="24" h="60">
                  <a:moveTo>
                    <a:pt x="24" y="60"/>
                  </a:moveTo>
                  <a:lnTo>
                    <a:pt x="0" y="0"/>
                  </a:lnTo>
                  <a:lnTo>
                    <a:pt x="24" y="60"/>
                  </a:lnTo>
                  <a:close/>
                  <a:moveTo>
                    <a:pt x="24" y="60"/>
                  </a:moveTo>
                  <a:lnTo>
                    <a:pt x="24"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09" name="Freeform 98"/>
            <p:cNvSpPr>
              <a:spLocks noEditPoints="1"/>
            </p:cNvSpPr>
            <p:nvPr/>
          </p:nvSpPr>
          <p:spPr>
            <a:xfrm>
              <a:off x="2781" y="912"/>
              <a:ext cx="24" cy="59"/>
            </a:xfrm>
            <a:custGeom>
              <a:avLst/>
              <a:gdLst>
                <a:gd name="txL" fmla="*/ 0 w 24"/>
                <a:gd name="txT" fmla="*/ 0 h 59"/>
                <a:gd name="txR" fmla="*/ 24 w 24"/>
                <a:gd name="txB" fmla="*/ 59 h 59"/>
              </a:gdLst>
              <a:ahLst/>
              <a:cxnLst>
                <a:cxn ang="0">
                  <a:pos x="24" y="59"/>
                </a:cxn>
                <a:cxn ang="0">
                  <a:pos x="0" y="0"/>
                </a:cxn>
                <a:cxn ang="0">
                  <a:pos x="24" y="59"/>
                </a:cxn>
                <a:cxn ang="0">
                  <a:pos x="24" y="59"/>
                </a:cxn>
                <a:cxn ang="0">
                  <a:pos x="24" y="59"/>
                </a:cxn>
                <a:cxn ang="0">
                  <a:pos x="24" y="59"/>
                </a:cxn>
                <a:cxn ang="0">
                  <a:pos x="24" y="59"/>
                </a:cxn>
              </a:cxnLst>
              <a:rect l="txL" t="txT" r="txR" b="txB"/>
              <a:pathLst>
                <a:path w="24" h="59">
                  <a:moveTo>
                    <a:pt x="24" y="59"/>
                  </a:moveTo>
                  <a:lnTo>
                    <a:pt x="0" y="0"/>
                  </a:lnTo>
                  <a:lnTo>
                    <a:pt x="24" y="59"/>
                  </a:lnTo>
                  <a:close/>
                  <a:moveTo>
                    <a:pt x="24" y="59"/>
                  </a:moveTo>
                  <a:lnTo>
                    <a:pt x="24"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10" name="Freeform 99"/>
            <p:cNvSpPr>
              <a:spLocks noEditPoints="1"/>
            </p:cNvSpPr>
            <p:nvPr/>
          </p:nvSpPr>
          <p:spPr>
            <a:xfrm>
              <a:off x="2757" y="912"/>
              <a:ext cx="24" cy="59"/>
            </a:xfrm>
            <a:custGeom>
              <a:avLst/>
              <a:gdLst>
                <a:gd name="txL" fmla="*/ 0 w 24"/>
                <a:gd name="txT" fmla="*/ 0 h 59"/>
                <a:gd name="txR" fmla="*/ 24 w 24"/>
                <a:gd name="txB" fmla="*/ 59 h 59"/>
              </a:gdLst>
              <a:ahLst/>
              <a:cxnLst>
                <a:cxn ang="0">
                  <a:pos x="24" y="0"/>
                </a:cxn>
                <a:cxn ang="0">
                  <a:pos x="0" y="59"/>
                </a:cxn>
                <a:cxn ang="0">
                  <a:pos x="24" y="0"/>
                </a:cxn>
                <a:cxn ang="0">
                  <a:pos x="24" y="0"/>
                </a:cxn>
                <a:cxn ang="0">
                  <a:pos x="24" y="0"/>
                </a:cxn>
                <a:cxn ang="0">
                  <a:pos x="24" y="0"/>
                </a:cxn>
                <a:cxn ang="0">
                  <a:pos x="24" y="0"/>
                </a:cxn>
              </a:cxnLst>
              <a:rect l="txL" t="txT" r="txR" b="txB"/>
              <a:pathLst>
                <a:path w="24" h="59">
                  <a:moveTo>
                    <a:pt x="24" y="0"/>
                  </a:moveTo>
                  <a:lnTo>
                    <a:pt x="0" y="59"/>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11" name="Freeform 100"/>
            <p:cNvSpPr>
              <a:spLocks noEditPoints="1"/>
            </p:cNvSpPr>
            <p:nvPr/>
          </p:nvSpPr>
          <p:spPr>
            <a:xfrm>
              <a:off x="2733" y="971"/>
              <a:ext cx="24" cy="60"/>
            </a:xfrm>
            <a:custGeom>
              <a:avLst/>
              <a:gdLst>
                <a:gd name="txL" fmla="*/ 0 w 24"/>
                <a:gd name="txT" fmla="*/ 0 h 60"/>
                <a:gd name="txR" fmla="*/ 24 w 24"/>
                <a:gd name="txB" fmla="*/ 60 h 60"/>
              </a:gdLst>
              <a:ahLst/>
              <a:cxnLst>
                <a:cxn ang="0">
                  <a:pos x="24" y="0"/>
                </a:cxn>
                <a:cxn ang="0">
                  <a:pos x="0" y="60"/>
                </a:cxn>
                <a:cxn ang="0">
                  <a:pos x="24" y="0"/>
                </a:cxn>
                <a:cxn ang="0">
                  <a:pos x="24" y="0"/>
                </a:cxn>
                <a:cxn ang="0">
                  <a:pos x="24" y="0"/>
                </a:cxn>
                <a:cxn ang="0">
                  <a:pos x="24" y="0"/>
                </a:cxn>
                <a:cxn ang="0">
                  <a:pos x="24" y="0"/>
                </a:cxn>
              </a:cxnLst>
              <a:rect l="txL" t="txT" r="txR" b="txB"/>
              <a:pathLst>
                <a:path w="24" h="60">
                  <a:moveTo>
                    <a:pt x="24" y="0"/>
                  </a:moveTo>
                  <a:lnTo>
                    <a:pt x="0" y="60"/>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12" name="Freeform 101"/>
            <p:cNvSpPr>
              <a:spLocks noEditPoints="1"/>
            </p:cNvSpPr>
            <p:nvPr/>
          </p:nvSpPr>
          <p:spPr>
            <a:xfrm>
              <a:off x="2710" y="971"/>
              <a:ext cx="23" cy="60"/>
            </a:xfrm>
            <a:custGeom>
              <a:avLst/>
              <a:gdLst>
                <a:gd name="txL" fmla="*/ 0 w 23"/>
                <a:gd name="txT" fmla="*/ 0 h 60"/>
                <a:gd name="txR" fmla="*/ 23 w 23"/>
                <a:gd name="txB" fmla="*/ 60 h 60"/>
              </a:gdLst>
              <a:ahLst/>
              <a:cxnLst>
                <a:cxn ang="0">
                  <a:pos x="23" y="60"/>
                </a:cxn>
                <a:cxn ang="0">
                  <a:pos x="0" y="0"/>
                </a:cxn>
                <a:cxn ang="0">
                  <a:pos x="23" y="60"/>
                </a:cxn>
                <a:cxn ang="0">
                  <a:pos x="23" y="60"/>
                </a:cxn>
                <a:cxn ang="0">
                  <a:pos x="23" y="60"/>
                </a:cxn>
                <a:cxn ang="0">
                  <a:pos x="23" y="60"/>
                </a:cxn>
                <a:cxn ang="0">
                  <a:pos x="23" y="60"/>
                </a:cxn>
              </a:cxnLst>
              <a:rect l="txL" t="txT" r="txR" b="txB"/>
              <a:pathLst>
                <a:path w="23" h="60">
                  <a:moveTo>
                    <a:pt x="23" y="60"/>
                  </a:moveTo>
                  <a:lnTo>
                    <a:pt x="0" y="0"/>
                  </a:lnTo>
                  <a:lnTo>
                    <a:pt x="23" y="60"/>
                  </a:lnTo>
                  <a:close/>
                  <a:moveTo>
                    <a:pt x="23" y="60"/>
                  </a:moveTo>
                  <a:lnTo>
                    <a:pt x="23"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13" name="Freeform 102"/>
            <p:cNvSpPr>
              <a:spLocks noEditPoints="1"/>
            </p:cNvSpPr>
            <p:nvPr/>
          </p:nvSpPr>
          <p:spPr>
            <a:xfrm>
              <a:off x="2686" y="912"/>
              <a:ext cx="24" cy="59"/>
            </a:xfrm>
            <a:custGeom>
              <a:avLst/>
              <a:gdLst>
                <a:gd name="txL" fmla="*/ 0 w 24"/>
                <a:gd name="txT" fmla="*/ 0 h 59"/>
                <a:gd name="txR" fmla="*/ 24 w 24"/>
                <a:gd name="txB" fmla="*/ 59 h 59"/>
              </a:gdLst>
              <a:ahLst/>
              <a:cxnLst>
                <a:cxn ang="0">
                  <a:pos x="24" y="59"/>
                </a:cxn>
                <a:cxn ang="0">
                  <a:pos x="0" y="0"/>
                </a:cxn>
                <a:cxn ang="0">
                  <a:pos x="24" y="59"/>
                </a:cxn>
                <a:cxn ang="0">
                  <a:pos x="24" y="59"/>
                </a:cxn>
                <a:cxn ang="0">
                  <a:pos x="24" y="59"/>
                </a:cxn>
                <a:cxn ang="0">
                  <a:pos x="24" y="59"/>
                </a:cxn>
                <a:cxn ang="0">
                  <a:pos x="24" y="59"/>
                </a:cxn>
              </a:cxnLst>
              <a:rect l="txL" t="txT" r="txR" b="txB"/>
              <a:pathLst>
                <a:path w="24" h="59">
                  <a:moveTo>
                    <a:pt x="24" y="59"/>
                  </a:moveTo>
                  <a:lnTo>
                    <a:pt x="0" y="0"/>
                  </a:lnTo>
                  <a:lnTo>
                    <a:pt x="24" y="59"/>
                  </a:lnTo>
                  <a:close/>
                  <a:moveTo>
                    <a:pt x="24" y="59"/>
                  </a:moveTo>
                  <a:lnTo>
                    <a:pt x="24" y="5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14" name="Freeform 103"/>
            <p:cNvSpPr>
              <a:spLocks noEditPoints="1"/>
            </p:cNvSpPr>
            <p:nvPr/>
          </p:nvSpPr>
          <p:spPr>
            <a:xfrm>
              <a:off x="2656" y="912"/>
              <a:ext cx="30" cy="65"/>
            </a:xfrm>
            <a:custGeom>
              <a:avLst/>
              <a:gdLst>
                <a:gd name="txL" fmla="*/ 0 w 30"/>
                <a:gd name="txT" fmla="*/ 0 h 65"/>
                <a:gd name="txR" fmla="*/ 30 w 30"/>
                <a:gd name="txB" fmla="*/ 65 h 65"/>
              </a:gdLst>
              <a:ahLst/>
              <a:cxnLst>
                <a:cxn ang="0">
                  <a:pos x="30" y="0"/>
                </a:cxn>
                <a:cxn ang="0">
                  <a:pos x="0" y="65"/>
                </a:cxn>
                <a:cxn ang="0">
                  <a:pos x="30" y="0"/>
                </a:cxn>
                <a:cxn ang="0">
                  <a:pos x="30" y="0"/>
                </a:cxn>
                <a:cxn ang="0">
                  <a:pos x="30" y="0"/>
                </a:cxn>
                <a:cxn ang="0">
                  <a:pos x="30" y="0"/>
                </a:cxn>
                <a:cxn ang="0">
                  <a:pos x="30" y="0"/>
                </a:cxn>
              </a:cxnLst>
              <a:rect l="txL" t="txT" r="txR" b="txB"/>
              <a:pathLst>
                <a:path w="30" h="65">
                  <a:moveTo>
                    <a:pt x="30" y="0"/>
                  </a:moveTo>
                  <a:lnTo>
                    <a:pt x="0" y="65"/>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15" name="Freeform 104"/>
            <p:cNvSpPr/>
            <p:nvPr/>
          </p:nvSpPr>
          <p:spPr>
            <a:xfrm>
              <a:off x="3583" y="2052"/>
              <a:ext cx="251" cy="352"/>
            </a:xfrm>
            <a:custGeom>
              <a:avLst/>
              <a:gdLst>
                <a:gd name="txL" fmla="*/ 0 w 251"/>
                <a:gd name="txT" fmla="*/ 0 h 352"/>
                <a:gd name="txR" fmla="*/ 251 w 251"/>
                <a:gd name="txB" fmla="*/ 352 h 352"/>
              </a:gdLst>
              <a:ahLst/>
              <a:cxnLst>
                <a:cxn ang="0">
                  <a:pos x="42" y="352"/>
                </a:cxn>
                <a:cxn ang="0">
                  <a:pos x="0" y="322"/>
                </a:cxn>
                <a:cxn ang="0">
                  <a:pos x="215" y="0"/>
                </a:cxn>
                <a:cxn ang="0">
                  <a:pos x="251" y="24"/>
                </a:cxn>
                <a:cxn ang="0">
                  <a:pos x="42" y="352"/>
                </a:cxn>
                <a:cxn ang="0">
                  <a:pos x="42" y="352"/>
                </a:cxn>
              </a:cxnLst>
              <a:rect l="txL" t="txT" r="txR" b="txB"/>
              <a:pathLst>
                <a:path w="251" h="352">
                  <a:moveTo>
                    <a:pt x="42" y="352"/>
                  </a:moveTo>
                  <a:lnTo>
                    <a:pt x="0" y="322"/>
                  </a:lnTo>
                  <a:lnTo>
                    <a:pt x="215" y="0"/>
                  </a:lnTo>
                  <a:lnTo>
                    <a:pt x="251" y="24"/>
                  </a:lnTo>
                  <a:lnTo>
                    <a:pt x="42" y="352"/>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4616" name="Freeform 105"/>
            <p:cNvSpPr/>
            <p:nvPr/>
          </p:nvSpPr>
          <p:spPr>
            <a:xfrm>
              <a:off x="3816" y="2058"/>
              <a:ext cx="36" cy="54"/>
            </a:xfrm>
            <a:custGeom>
              <a:avLst/>
              <a:gdLst>
                <a:gd name="txL" fmla="*/ 0 w 36"/>
                <a:gd name="txT" fmla="*/ 0 h 54"/>
                <a:gd name="txR" fmla="*/ 36 w 36"/>
                <a:gd name="txB" fmla="*/ 54 h 54"/>
              </a:gdLst>
              <a:ahLst/>
              <a:cxnLst>
                <a:cxn ang="0">
                  <a:pos x="0" y="0"/>
                </a:cxn>
                <a:cxn ang="0">
                  <a:pos x="36" y="54"/>
                </a:cxn>
                <a:cxn ang="0">
                  <a:pos x="0" y="0"/>
                </a:cxn>
                <a:cxn ang="0">
                  <a:pos x="0" y="0"/>
                </a:cxn>
              </a:cxnLst>
              <a:rect l="txL" t="txT" r="txR" b="txB"/>
              <a:pathLst>
                <a:path w="36" h="54">
                  <a:moveTo>
                    <a:pt x="0" y="0"/>
                  </a:moveTo>
                  <a:lnTo>
                    <a:pt x="36" y="54"/>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17" name="Freeform 106"/>
            <p:cNvSpPr>
              <a:spLocks noEditPoints="1"/>
            </p:cNvSpPr>
            <p:nvPr/>
          </p:nvSpPr>
          <p:spPr>
            <a:xfrm>
              <a:off x="3792" y="2100"/>
              <a:ext cx="60" cy="12"/>
            </a:xfrm>
            <a:custGeom>
              <a:avLst/>
              <a:gdLst>
                <a:gd name="txL" fmla="*/ 0 w 60"/>
                <a:gd name="txT" fmla="*/ 0 h 12"/>
                <a:gd name="txR" fmla="*/ 60 w 60"/>
                <a:gd name="txB" fmla="*/ 12 h 12"/>
              </a:gdLst>
              <a:ahLst/>
              <a:cxnLst>
                <a:cxn ang="0">
                  <a:pos x="60" y="12"/>
                </a:cxn>
                <a:cxn ang="0">
                  <a:pos x="0" y="0"/>
                </a:cxn>
                <a:cxn ang="0">
                  <a:pos x="60" y="12"/>
                </a:cxn>
                <a:cxn ang="0">
                  <a:pos x="60" y="12"/>
                </a:cxn>
                <a:cxn ang="0">
                  <a:pos x="60" y="12"/>
                </a:cxn>
                <a:cxn ang="0">
                  <a:pos x="60" y="12"/>
                </a:cxn>
                <a:cxn ang="0">
                  <a:pos x="60" y="12"/>
                </a:cxn>
              </a:cxnLst>
              <a:rect l="txL" t="txT" r="txR" b="txB"/>
              <a:pathLst>
                <a:path w="60" h="12">
                  <a:moveTo>
                    <a:pt x="60" y="12"/>
                  </a:moveTo>
                  <a:lnTo>
                    <a:pt x="0" y="0"/>
                  </a:lnTo>
                  <a:lnTo>
                    <a:pt x="60" y="12"/>
                  </a:lnTo>
                  <a:close/>
                  <a:moveTo>
                    <a:pt x="60" y="12"/>
                  </a:moveTo>
                  <a:lnTo>
                    <a:pt x="6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18" name="Freeform 107"/>
            <p:cNvSpPr>
              <a:spLocks noEditPoints="1"/>
            </p:cNvSpPr>
            <p:nvPr/>
          </p:nvSpPr>
          <p:spPr>
            <a:xfrm>
              <a:off x="3726" y="2088"/>
              <a:ext cx="66" cy="12"/>
            </a:xfrm>
            <a:custGeom>
              <a:avLst/>
              <a:gdLst>
                <a:gd name="txL" fmla="*/ 0 w 66"/>
                <a:gd name="txT" fmla="*/ 0 h 12"/>
                <a:gd name="txR" fmla="*/ 66 w 66"/>
                <a:gd name="txB" fmla="*/ 12 h 12"/>
              </a:gdLst>
              <a:ahLst/>
              <a:cxnLst>
                <a:cxn ang="0">
                  <a:pos x="66" y="12"/>
                </a:cxn>
                <a:cxn ang="0">
                  <a:pos x="0" y="0"/>
                </a:cxn>
                <a:cxn ang="0">
                  <a:pos x="66" y="12"/>
                </a:cxn>
                <a:cxn ang="0">
                  <a:pos x="66" y="12"/>
                </a:cxn>
                <a:cxn ang="0">
                  <a:pos x="66" y="12"/>
                </a:cxn>
                <a:cxn ang="0">
                  <a:pos x="66" y="12"/>
                </a:cxn>
                <a:cxn ang="0">
                  <a:pos x="66" y="12"/>
                </a:cxn>
              </a:cxnLst>
              <a:rect l="txL" t="txT" r="txR" b="txB"/>
              <a:pathLst>
                <a:path w="66" h="12">
                  <a:moveTo>
                    <a:pt x="66" y="12"/>
                  </a:moveTo>
                  <a:lnTo>
                    <a:pt x="0" y="0"/>
                  </a:lnTo>
                  <a:lnTo>
                    <a:pt x="66" y="12"/>
                  </a:lnTo>
                  <a:close/>
                  <a:moveTo>
                    <a:pt x="66" y="12"/>
                  </a:moveTo>
                  <a:lnTo>
                    <a:pt x="66"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19" name="Freeform 108"/>
            <p:cNvSpPr>
              <a:spLocks noEditPoints="1"/>
            </p:cNvSpPr>
            <p:nvPr/>
          </p:nvSpPr>
          <p:spPr>
            <a:xfrm>
              <a:off x="3726" y="2088"/>
              <a:ext cx="36" cy="54"/>
            </a:xfrm>
            <a:custGeom>
              <a:avLst/>
              <a:gdLst>
                <a:gd name="txL" fmla="*/ 0 w 36"/>
                <a:gd name="txT" fmla="*/ 0 h 54"/>
                <a:gd name="txR" fmla="*/ 36 w 36"/>
                <a:gd name="txB" fmla="*/ 54 h 54"/>
              </a:gdLst>
              <a:ahLst/>
              <a:cxnLst>
                <a:cxn ang="0">
                  <a:pos x="0" y="0"/>
                </a:cxn>
                <a:cxn ang="0">
                  <a:pos x="36" y="54"/>
                </a:cxn>
                <a:cxn ang="0">
                  <a:pos x="0" y="0"/>
                </a:cxn>
                <a:cxn ang="0">
                  <a:pos x="0" y="0"/>
                </a:cxn>
                <a:cxn ang="0">
                  <a:pos x="0" y="0"/>
                </a:cxn>
                <a:cxn ang="0">
                  <a:pos x="0" y="0"/>
                </a:cxn>
                <a:cxn ang="0">
                  <a:pos x="0" y="0"/>
                </a:cxn>
              </a:cxnLst>
              <a:rect l="txL" t="txT" r="txR" b="txB"/>
              <a:pathLst>
                <a:path w="36" h="54">
                  <a:moveTo>
                    <a:pt x="0" y="0"/>
                  </a:moveTo>
                  <a:lnTo>
                    <a:pt x="36" y="54"/>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20" name="Freeform 109"/>
            <p:cNvSpPr>
              <a:spLocks noEditPoints="1"/>
            </p:cNvSpPr>
            <p:nvPr/>
          </p:nvSpPr>
          <p:spPr>
            <a:xfrm>
              <a:off x="3762" y="2142"/>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21" name="Freeform 110"/>
            <p:cNvSpPr>
              <a:spLocks noEditPoints="1"/>
            </p:cNvSpPr>
            <p:nvPr/>
          </p:nvSpPr>
          <p:spPr>
            <a:xfrm>
              <a:off x="3762" y="2142"/>
              <a:ext cx="36" cy="53"/>
            </a:xfrm>
            <a:custGeom>
              <a:avLst/>
              <a:gdLst>
                <a:gd name="txL" fmla="*/ 0 w 36"/>
                <a:gd name="txT" fmla="*/ 0 h 53"/>
                <a:gd name="txR" fmla="*/ 36 w 36"/>
                <a:gd name="txB" fmla="*/ 53 h 53"/>
              </a:gdLst>
              <a:ahLst/>
              <a:cxnLst>
                <a:cxn ang="0">
                  <a:pos x="0" y="0"/>
                </a:cxn>
                <a:cxn ang="0">
                  <a:pos x="36" y="53"/>
                </a:cxn>
                <a:cxn ang="0">
                  <a:pos x="0" y="0"/>
                </a:cxn>
                <a:cxn ang="0">
                  <a:pos x="0" y="0"/>
                </a:cxn>
                <a:cxn ang="0">
                  <a:pos x="0" y="0"/>
                </a:cxn>
                <a:cxn ang="0">
                  <a:pos x="0" y="0"/>
                </a:cxn>
                <a:cxn ang="0">
                  <a:pos x="0" y="0"/>
                </a:cxn>
              </a:cxnLst>
              <a:rect l="txL" t="txT" r="txR" b="txB"/>
              <a:pathLst>
                <a:path w="36" h="53">
                  <a:moveTo>
                    <a:pt x="0" y="0"/>
                  </a:moveTo>
                  <a:lnTo>
                    <a:pt x="36" y="53"/>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22" name="Freeform 111"/>
            <p:cNvSpPr>
              <a:spLocks noEditPoints="1"/>
            </p:cNvSpPr>
            <p:nvPr/>
          </p:nvSpPr>
          <p:spPr>
            <a:xfrm>
              <a:off x="3738" y="2183"/>
              <a:ext cx="60" cy="12"/>
            </a:xfrm>
            <a:custGeom>
              <a:avLst/>
              <a:gdLst>
                <a:gd name="txL" fmla="*/ 0 w 60"/>
                <a:gd name="txT" fmla="*/ 0 h 12"/>
                <a:gd name="txR" fmla="*/ 60 w 60"/>
                <a:gd name="txB" fmla="*/ 12 h 12"/>
              </a:gdLst>
              <a:ahLst/>
              <a:cxnLst>
                <a:cxn ang="0">
                  <a:pos x="60" y="12"/>
                </a:cxn>
                <a:cxn ang="0">
                  <a:pos x="0" y="0"/>
                </a:cxn>
                <a:cxn ang="0">
                  <a:pos x="60" y="12"/>
                </a:cxn>
                <a:cxn ang="0">
                  <a:pos x="60" y="12"/>
                </a:cxn>
                <a:cxn ang="0">
                  <a:pos x="60" y="12"/>
                </a:cxn>
                <a:cxn ang="0">
                  <a:pos x="60" y="12"/>
                </a:cxn>
                <a:cxn ang="0">
                  <a:pos x="60" y="12"/>
                </a:cxn>
              </a:cxnLst>
              <a:rect l="txL" t="txT" r="txR" b="txB"/>
              <a:pathLst>
                <a:path w="60" h="12">
                  <a:moveTo>
                    <a:pt x="60" y="12"/>
                  </a:moveTo>
                  <a:lnTo>
                    <a:pt x="0" y="0"/>
                  </a:lnTo>
                  <a:lnTo>
                    <a:pt x="60" y="12"/>
                  </a:lnTo>
                  <a:close/>
                  <a:moveTo>
                    <a:pt x="60" y="12"/>
                  </a:moveTo>
                  <a:lnTo>
                    <a:pt x="6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23" name="Freeform 112"/>
            <p:cNvSpPr>
              <a:spLocks noEditPoints="1"/>
            </p:cNvSpPr>
            <p:nvPr/>
          </p:nvSpPr>
          <p:spPr>
            <a:xfrm>
              <a:off x="3672" y="2171"/>
              <a:ext cx="66" cy="12"/>
            </a:xfrm>
            <a:custGeom>
              <a:avLst/>
              <a:gdLst>
                <a:gd name="txL" fmla="*/ 0 w 66"/>
                <a:gd name="txT" fmla="*/ 0 h 12"/>
                <a:gd name="txR" fmla="*/ 66 w 66"/>
                <a:gd name="txB" fmla="*/ 12 h 12"/>
              </a:gdLst>
              <a:ahLst/>
              <a:cxnLst>
                <a:cxn ang="0">
                  <a:pos x="66" y="12"/>
                </a:cxn>
                <a:cxn ang="0">
                  <a:pos x="0" y="0"/>
                </a:cxn>
                <a:cxn ang="0">
                  <a:pos x="66" y="12"/>
                </a:cxn>
                <a:cxn ang="0">
                  <a:pos x="66" y="12"/>
                </a:cxn>
                <a:cxn ang="0">
                  <a:pos x="66" y="12"/>
                </a:cxn>
                <a:cxn ang="0">
                  <a:pos x="66" y="12"/>
                </a:cxn>
                <a:cxn ang="0">
                  <a:pos x="66" y="12"/>
                </a:cxn>
              </a:cxnLst>
              <a:rect l="txL" t="txT" r="txR" b="txB"/>
              <a:pathLst>
                <a:path w="66" h="12">
                  <a:moveTo>
                    <a:pt x="66" y="12"/>
                  </a:moveTo>
                  <a:lnTo>
                    <a:pt x="0" y="0"/>
                  </a:lnTo>
                  <a:lnTo>
                    <a:pt x="66" y="12"/>
                  </a:lnTo>
                  <a:close/>
                  <a:moveTo>
                    <a:pt x="66" y="12"/>
                  </a:moveTo>
                  <a:lnTo>
                    <a:pt x="66"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24" name="Freeform 113"/>
            <p:cNvSpPr>
              <a:spLocks noEditPoints="1"/>
            </p:cNvSpPr>
            <p:nvPr/>
          </p:nvSpPr>
          <p:spPr>
            <a:xfrm>
              <a:off x="3672" y="2171"/>
              <a:ext cx="36" cy="54"/>
            </a:xfrm>
            <a:custGeom>
              <a:avLst/>
              <a:gdLst>
                <a:gd name="txL" fmla="*/ 0 w 36"/>
                <a:gd name="txT" fmla="*/ 0 h 54"/>
                <a:gd name="txR" fmla="*/ 36 w 36"/>
                <a:gd name="txB" fmla="*/ 54 h 54"/>
              </a:gdLst>
              <a:ahLst/>
              <a:cxnLst>
                <a:cxn ang="0">
                  <a:pos x="0" y="0"/>
                </a:cxn>
                <a:cxn ang="0">
                  <a:pos x="36" y="54"/>
                </a:cxn>
                <a:cxn ang="0">
                  <a:pos x="0" y="0"/>
                </a:cxn>
                <a:cxn ang="0">
                  <a:pos x="0" y="0"/>
                </a:cxn>
                <a:cxn ang="0">
                  <a:pos x="0" y="0"/>
                </a:cxn>
                <a:cxn ang="0">
                  <a:pos x="0" y="0"/>
                </a:cxn>
                <a:cxn ang="0">
                  <a:pos x="0" y="0"/>
                </a:cxn>
              </a:cxnLst>
              <a:rect l="txL" t="txT" r="txR" b="txB"/>
              <a:pathLst>
                <a:path w="36" h="54">
                  <a:moveTo>
                    <a:pt x="0" y="0"/>
                  </a:moveTo>
                  <a:lnTo>
                    <a:pt x="36" y="54"/>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25" name="Freeform 114"/>
            <p:cNvSpPr>
              <a:spLocks noEditPoints="1"/>
            </p:cNvSpPr>
            <p:nvPr/>
          </p:nvSpPr>
          <p:spPr>
            <a:xfrm>
              <a:off x="3708" y="2225"/>
              <a:ext cx="36" cy="54"/>
            </a:xfrm>
            <a:custGeom>
              <a:avLst/>
              <a:gdLst>
                <a:gd name="txL" fmla="*/ 0 w 36"/>
                <a:gd name="txT" fmla="*/ 0 h 54"/>
                <a:gd name="txR" fmla="*/ 36 w 36"/>
                <a:gd name="txB" fmla="*/ 54 h 54"/>
              </a:gdLst>
              <a:ahLst/>
              <a:cxnLst>
                <a:cxn ang="0">
                  <a:pos x="0" y="0"/>
                </a:cxn>
                <a:cxn ang="0">
                  <a:pos x="36" y="54"/>
                </a:cxn>
                <a:cxn ang="0">
                  <a:pos x="0" y="0"/>
                </a:cxn>
                <a:cxn ang="0">
                  <a:pos x="0" y="0"/>
                </a:cxn>
                <a:cxn ang="0">
                  <a:pos x="0" y="0"/>
                </a:cxn>
                <a:cxn ang="0">
                  <a:pos x="0" y="0"/>
                </a:cxn>
                <a:cxn ang="0">
                  <a:pos x="0" y="0"/>
                </a:cxn>
              </a:cxnLst>
              <a:rect l="txL" t="txT" r="txR" b="txB"/>
              <a:pathLst>
                <a:path w="36" h="54">
                  <a:moveTo>
                    <a:pt x="0" y="0"/>
                  </a:moveTo>
                  <a:lnTo>
                    <a:pt x="36" y="54"/>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26" name="Freeform 115"/>
            <p:cNvSpPr>
              <a:spLocks noEditPoints="1"/>
            </p:cNvSpPr>
            <p:nvPr/>
          </p:nvSpPr>
          <p:spPr>
            <a:xfrm>
              <a:off x="3684" y="2267"/>
              <a:ext cx="60" cy="12"/>
            </a:xfrm>
            <a:custGeom>
              <a:avLst/>
              <a:gdLst>
                <a:gd name="txL" fmla="*/ 0 w 60"/>
                <a:gd name="txT" fmla="*/ 0 h 12"/>
                <a:gd name="txR" fmla="*/ 60 w 60"/>
                <a:gd name="txB" fmla="*/ 12 h 12"/>
              </a:gdLst>
              <a:ahLst/>
              <a:cxnLst>
                <a:cxn ang="0">
                  <a:pos x="60" y="12"/>
                </a:cxn>
                <a:cxn ang="0">
                  <a:pos x="0" y="0"/>
                </a:cxn>
                <a:cxn ang="0">
                  <a:pos x="60" y="12"/>
                </a:cxn>
                <a:cxn ang="0">
                  <a:pos x="60" y="12"/>
                </a:cxn>
                <a:cxn ang="0">
                  <a:pos x="60" y="12"/>
                </a:cxn>
                <a:cxn ang="0">
                  <a:pos x="60" y="12"/>
                </a:cxn>
                <a:cxn ang="0">
                  <a:pos x="60" y="12"/>
                </a:cxn>
              </a:cxnLst>
              <a:rect l="txL" t="txT" r="txR" b="txB"/>
              <a:pathLst>
                <a:path w="60" h="12">
                  <a:moveTo>
                    <a:pt x="60" y="12"/>
                  </a:moveTo>
                  <a:lnTo>
                    <a:pt x="0" y="0"/>
                  </a:lnTo>
                  <a:lnTo>
                    <a:pt x="60" y="12"/>
                  </a:lnTo>
                  <a:close/>
                  <a:moveTo>
                    <a:pt x="60" y="12"/>
                  </a:moveTo>
                  <a:lnTo>
                    <a:pt x="6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27" name="Freeform 116"/>
            <p:cNvSpPr>
              <a:spLocks noEditPoints="1"/>
            </p:cNvSpPr>
            <p:nvPr/>
          </p:nvSpPr>
          <p:spPr>
            <a:xfrm>
              <a:off x="3619" y="2255"/>
              <a:ext cx="65" cy="12"/>
            </a:xfrm>
            <a:custGeom>
              <a:avLst/>
              <a:gdLst>
                <a:gd name="txL" fmla="*/ 0 w 65"/>
                <a:gd name="txT" fmla="*/ 0 h 12"/>
                <a:gd name="txR" fmla="*/ 65 w 65"/>
                <a:gd name="txB" fmla="*/ 12 h 12"/>
              </a:gdLst>
              <a:ahLst/>
              <a:cxnLst>
                <a:cxn ang="0">
                  <a:pos x="65" y="12"/>
                </a:cxn>
                <a:cxn ang="0">
                  <a:pos x="0" y="0"/>
                </a:cxn>
                <a:cxn ang="0">
                  <a:pos x="65" y="12"/>
                </a:cxn>
                <a:cxn ang="0">
                  <a:pos x="65" y="12"/>
                </a:cxn>
                <a:cxn ang="0">
                  <a:pos x="65" y="12"/>
                </a:cxn>
                <a:cxn ang="0">
                  <a:pos x="65" y="12"/>
                </a:cxn>
                <a:cxn ang="0">
                  <a:pos x="65" y="12"/>
                </a:cxn>
              </a:cxnLst>
              <a:rect l="txL" t="txT" r="txR" b="txB"/>
              <a:pathLst>
                <a:path w="65" h="12">
                  <a:moveTo>
                    <a:pt x="65" y="12"/>
                  </a:moveTo>
                  <a:lnTo>
                    <a:pt x="0" y="0"/>
                  </a:lnTo>
                  <a:lnTo>
                    <a:pt x="65" y="12"/>
                  </a:lnTo>
                  <a:close/>
                  <a:moveTo>
                    <a:pt x="65" y="12"/>
                  </a:moveTo>
                  <a:lnTo>
                    <a:pt x="65"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28" name="Freeform 117"/>
            <p:cNvSpPr>
              <a:spLocks noEditPoints="1"/>
            </p:cNvSpPr>
            <p:nvPr/>
          </p:nvSpPr>
          <p:spPr>
            <a:xfrm>
              <a:off x="3619" y="2255"/>
              <a:ext cx="35" cy="54"/>
            </a:xfrm>
            <a:custGeom>
              <a:avLst/>
              <a:gdLst>
                <a:gd name="txL" fmla="*/ 0 w 35"/>
                <a:gd name="txT" fmla="*/ 0 h 54"/>
                <a:gd name="txR" fmla="*/ 35 w 35"/>
                <a:gd name="txB" fmla="*/ 54 h 54"/>
              </a:gdLst>
              <a:ahLst/>
              <a:cxnLst>
                <a:cxn ang="0">
                  <a:pos x="0" y="0"/>
                </a:cxn>
                <a:cxn ang="0">
                  <a:pos x="35" y="54"/>
                </a:cxn>
                <a:cxn ang="0">
                  <a:pos x="0" y="0"/>
                </a:cxn>
                <a:cxn ang="0">
                  <a:pos x="0" y="0"/>
                </a:cxn>
                <a:cxn ang="0">
                  <a:pos x="0" y="0"/>
                </a:cxn>
                <a:cxn ang="0">
                  <a:pos x="0" y="0"/>
                </a:cxn>
                <a:cxn ang="0">
                  <a:pos x="0" y="0"/>
                </a:cxn>
              </a:cxnLst>
              <a:rect l="txL" t="txT" r="txR" b="txB"/>
              <a:pathLst>
                <a:path w="35" h="54">
                  <a:moveTo>
                    <a:pt x="0" y="0"/>
                  </a:moveTo>
                  <a:lnTo>
                    <a:pt x="35" y="54"/>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29" name="Freeform 118"/>
            <p:cNvSpPr>
              <a:spLocks noEditPoints="1"/>
            </p:cNvSpPr>
            <p:nvPr/>
          </p:nvSpPr>
          <p:spPr>
            <a:xfrm>
              <a:off x="3654" y="2309"/>
              <a:ext cx="36" cy="54"/>
            </a:xfrm>
            <a:custGeom>
              <a:avLst/>
              <a:gdLst>
                <a:gd name="txL" fmla="*/ 0 w 36"/>
                <a:gd name="txT" fmla="*/ 0 h 54"/>
                <a:gd name="txR" fmla="*/ 36 w 36"/>
                <a:gd name="txB" fmla="*/ 54 h 54"/>
              </a:gdLst>
              <a:ahLst/>
              <a:cxnLst>
                <a:cxn ang="0">
                  <a:pos x="0" y="0"/>
                </a:cxn>
                <a:cxn ang="0">
                  <a:pos x="36" y="54"/>
                </a:cxn>
                <a:cxn ang="0">
                  <a:pos x="0" y="0"/>
                </a:cxn>
                <a:cxn ang="0">
                  <a:pos x="0" y="0"/>
                </a:cxn>
                <a:cxn ang="0">
                  <a:pos x="0" y="0"/>
                </a:cxn>
                <a:cxn ang="0">
                  <a:pos x="0" y="0"/>
                </a:cxn>
                <a:cxn ang="0">
                  <a:pos x="0" y="0"/>
                </a:cxn>
              </a:cxnLst>
              <a:rect l="txL" t="txT" r="txR" b="txB"/>
              <a:pathLst>
                <a:path w="36" h="54">
                  <a:moveTo>
                    <a:pt x="0" y="0"/>
                  </a:moveTo>
                  <a:lnTo>
                    <a:pt x="36" y="54"/>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30" name="Freeform 119"/>
            <p:cNvSpPr>
              <a:spLocks noEditPoints="1"/>
            </p:cNvSpPr>
            <p:nvPr/>
          </p:nvSpPr>
          <p:spPr>
            <a:xfrm>
              <a:off x="3631" y="2351"/>
              <a:ext cx="59" cy="12"/>
            </a:xfrm>
            <a:custGeom>
              <a:avLst/>
              <a:gdLst>
                <a:gd name="txL" fmla="*/ 0 w 59"/>
                <a:gd name="txT" fmla="*/ 0 h 12"/>
                <a:gd name="txR" fmla="*/ 59 w 59"/>
                <a:gd name="txB" fmla="*/ 12 h 12"/>
              </a:gdLst>
              <a:ahLst/>
              <a:cxnLst>
                <a:cxn ang="0">
                  <a:pos x="59" y="12"/>
                </a:cxn>
                <a:cxn ang="0">
                  <a:pos x="0" y="0"/>
                </a:cxn>
                <a:cxn ang="0">
                  <a:pos x="59" y="12"/>
                </a:cxn>
                <a:cxn ang="0">
                  <a:pos x="59" y="12"/>
                </a:cxn>
                <a:cxn ang="0">
                  <a:pos x="59" y="12"/>
                </a:cxn>
                <a:cxn ang="0">
                  <a:pos x="59" y="12"/>
                </a:cxn>
                <a:cxn ang="0">
                  <a:pos x="59" y="12"/>
                </a:cxn>
              </a:cxnLst>
              <a:rect l="txL" t="txT" r="txR" b="txB"/>
              <a:pathLst>
                <a:path w="59" h="12">
                  <a:moveTo>
                    <a:pt x="59" y="12"/>
                  </a:moveTo>
                  <a:lnTo>
                    <a:pt x="0" y="0"/>
                  </a:lnTo>
                  <a:lnTo>
                    <a:pt x="59" y="12"/>
                  </a:lnTo>
                  <a:close/>
                  <a:moveTo>
                    <a:pt x="59" y="12"/>
                  </a:moveTo>
                  <a:lnTo>
                    <a:pt x="59"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31" name="Freeform 120"/>
            <p:cNvSpPr>
              <a:spLocks noEditPoints="1"/>
            </p:cNvSpPr>
            <p:nvPr/>
          </p:nvSpPr>
          <p:spPr>
            <a:xfrm>
              <a:off x="3565" y="2339"/>
              <a:ext cx="66" cy="12"/>
            </a:xfrm>
            <a:custGeom>
              <a:avLst/>
              <a:gdLst>
                <a:gd name="txL" fmla="*/ 0 w 66"/>
                <a:gd name="txT" fmla="*/ 0 h 12"/>
                <a:gd name="txR" fmla="*/ 66 w 66"/>
                <a:gd name="txB" fmla="*/ 12 h 12"/>
              </a:gdLst>
              <a:ahLst/>
              <a:cxnLst>
                <a:cxn ang="0">
                  <a:pos x="66" y="12"/>
                </a:cxn>
                <a:cxn ang="0">
                  <a:pos x="0" y="0"/>
                </a:cxn>
                <a:cxn ang="0">
                  <a:pos x="66" y="12"/>
                </a:cxn>
                <a:cxn ang="0">
                  <a:pos x="66" y="12"/>
                </a:cxn>
                <a:cxn ang="0">
                  <a:pos x="66" y="12"/>
                </a:cxn>
                <a:cxn ang="0">
                  <a:pos x="66" y="12"/>
                </a:cxn>
                <a:cxn ang="0">
                  <a:pos x="66" y="12"/>
                </a:cxn>
              </a:cxnLst>
              <a:rect l="txL" t="txT" r="txR" b="txB"/>
              <a:pathLst>
                <a:path w="66" h="12">
                  <a:moveTo>
                    <a:pt x="66" y="12"/>
                  </a:moveTo>
                  <a:lnTo>
                    <a:pt x="0" y="0"/>
                  </a:lnTo>
                  <a:lnTo>
                    <a:pt x="66" y="12"/>
                  </a:lnTo>
                  <a:close/>
                  <a:moveTo>
                    <a:pt x="66" y="12"/>
                  </a:moveTo>
                  <a:lnTo>
                    <a:pt x="66"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32" name="Freeform 121"/>
            <p:cNvSpPr>
              <a:spLocks noEditPoints="1"/>
            </p:cNvSpPr>
            <p:nvPr/>
          </p:nvSpPr>
          <p:spPr>
            <a:xfrm>
              <a:off x="3565" y="2339"/>
              <a:ext cx="42" cy="59"/>
            </a:xfrm>
            <a:custGeom>
              <a:avLst/>
              <a:gdLst>
                <a:gd name="txL" fmla="*/ 0 w 42"/>
                <a:gd name="txT" fmla="*/ 0 h 59"/>
                <a:gd name="txR" fmla="*/ 42 w 42"/>
                <a:gd name="txB" fmla="*/ 59 h 59"/>
              </a:gdLst>
              <a:ahLst/>
              <a:cxnLst>
                <a:cxn ang="0">
                  <a:pos x="0" y="0"/>
                </a:cxn>
                <a:cxn ang="0">
                  <a:pos x="42" y="59"/>
                </a:cxn>
                <a:cxn ang="0">
                  <a:pos x="0" y="0"/>
                </a:cxn>
                <a:cxn ang="0">
                  <a:pos x="0" y="0"/>
                </a:cxn>
                <a:cxn ang="0">
                  <a:pos x="0" y="0"/>
                </a:cxn>
                <a:cxn ang="0">
                  <a:pos x="0" y="0"/>
                </a:cxn>
                <a:cxn ang="0">
                  <a:pos x="0" y="0"/>
                </a:cxn>
              </a:cxnLst>
              <a:rect l="txL" t="txT" r="txR" b="txB"/>
              <a:pathLst>
                <a:path w="42" h="59">
                  <a:moveTo>
                    <a:pt x="0" y="0"/>
                  </a:moveTo>
                  <a:lnTo>
                    <a:pt x="42" y="59"/>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33" name="Freeform 122"/>
            <p:cNvSpPr/>
            <p:nvPr/>
          </p:nvSpPr>
          <p:spPr>
            <a:xfrm>
              <a:off x="1938" y="2052"/>
              <a:ext cx="251" cy="346"/>
            </a:xfrm>
            <a:custGeom>
              <a:avLst/>
              <a:gdLst>
                <a:gd name="txL" fmla="*/ 0 w 251"/>
                <a:gd name="txT" fmla="*/ 0 h 346"/>
                <a:gd name="txR" fmla="*/ 251 w 251"/>
                <a:gd name="txB" fmla="*/ 346 h 346"/>
              </a:gdLst>
              <a:ahLst/>
              <a:cxnLst>
                <a:cxn ang="0">
                  <a:pos x="215" y="346"/>
                </a:cxn>
                <a:cxn ang="0">
                  <a:pos x="251" y="322"/>
                </a:cxn>
                <a:cxn ang="0">
                  <a:pos x="42" y="0"/>
                </a:cxn>
                <a:cxn ang="0">
                  <a:pos x="0" y="24"/>
                </a:cxn>
                <a:cxn ang="0">
                  <a:pos x="215" y="346"/>
                </a:cxn>
                <a:cxn ang="0">
                  <a:pos x="215" y="346"/>
                </a:cxn>
              </a:cxnLst>
              <a:rect l="txL" t="txT" r="txR" b="txB"/>
              <a:pathLst>
                <a:path w="251" h="346">
                  <a:moveTo>
                    <a:pt x="215" y="346"/>
                  </a:moveTo>
                  <a:lnTo>
                    <a:pt x="251" y="322"/>
                  </a:lnTo>
                  <a:lnTo>
                    <a:pt x="42" y="0"/>
                  </a:lnTo>
                  <a:lnTo>
                    <a:pt x="0" y="24"/>
                  </a:lnTo>
                  <a:lnTo>
                    <a:pt x="215" y="346"/>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p>
              <a:endParaRPr lang="zh-CN" altLang="en-US"/>
            </a:p>
          </p:txBody>
        </p:sp>
        <p:sp>
          <p:nvSpPr>
            <p:cNvPr id="64634" name="Freeform 123"/>
            <p:cNvSpPr/>
            <p:nvPr/>
          </p:nvSpPr>
          <p:spPr>
            <a:xfrm>
              <a:off x="1920" y="2058"/>
              <a:ext cx="36" cy="54"/>
            </a:xfrm>
            <a:custGeom>
              <a:avLst/>
              <a:gdLst>
                <a:gd name="txL" fmla="*/ 0 w 36"/>
                <a:gd name="txT" fmla="*/ 0 h 54"/>
                <a:gd name="txR" fmla="*/ 36 w 36"/>
                <a:gd name="txB" fmla="*/ 54 h 54"/>
              </a:gdLst>
              <a:ahLst/>
              <a:cxnLst>
                <a:cxn ang="0">
                  <a:pos x="36" y="0"/>
                </a:cxn>
                <a:cxn ang="0">
                  <a:pos x="0" y="54"/>
                </a:cxn>
                <a:cxn ang="0">
                  <a:pos x="36" y="0"/>
                </a:cxn>
                <a:cxn ang="0">
                  <a:pos x="36" y="0"/>
                </a:cxn>
              </a:cxnLst>
              <a:rect l="txL" t="txT" r="txR" b="txB"/>
              <a:pathLst>
                <a:path w="36" h="54">
                  <a:moveTo>
                    <a:pt x="36" y="0"/>
                  </a:moveTo>
                  <a:lnTo>
                    <a:pt x="0" y="54"/>
                  </a:ln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35" name="Freeform 124"/>
            <p:cNvSpPr>
              <a:spLocks noEditPoints="1"/>
            </p:cNvSpPr>
            <p:nvPr/>
          </p:nvSpPr>
          <p:spPr>
            <a:xfrm>
              <a:off x="1920" y="2100"/>
              <a:ext cx="66" cy="12"/>
            </a:xfrm>
            <a:custGeom>
              <a:avLst/>
              <a:gdLst>
                <a:gd name="txL" fmla="*/ 0 w 66"/>
                <a:gd name="txT" fmla="*/ 0 h 12"/>
                <a:gd name="txR" fmla="*/ 66 w 66"/>
                <a:gd name="txB" fmla="*/ 12 h 12"/>
              </a:gdLst>
              <a:ahLst/>
              <a:cxnLst>
                <a:cxn ang="0">
                  <a:pos x="0" y="12"/>
                </a:cxn>
                <a:cxn ang="0">
                  <a:pos x="66" y="0"/>
                </a:cxn>
                <a:cxn ang="0">
                  <a:pos x="0" y="12"/>
                </a:cxn>
                <a:cxn ang="0">
                  <a:pos x="0" y="12"/>
                </a:cxn>
                <a:cxn ang="0">
                  <a:pos x="0" y="12"/>
                </a:cxn>
                <a:cxn ang="0">
                  <a:pos x="0" y="12"/>
                </a:cxn>
                <a:cxn ang="0">
                  <a:pos x="0" y="12"/>
                </a:cxn>
              </a:cxnLst>
              <a:rect l="txL" t="txT" r="txR" b="txB"/>
              <a:pathLst>
                <a:path w="66" h="12">
                  <a:moveTo>
                    <a:pt x="0" y="12"/>
                  </a:moveTo>
                  <a:lnTo>
                    <a:pt x="66"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36" name="Freeform 125"/>
            <p:cNvSpPr>
              <a:spLocks noEditPoints="1"/>
            </p:cNvSpPr>
            <p:nvPr/>
          </p:nvSpPr>
          <p:spPr>
            <a:xfrm>
              <a:off x="1986" y="2088"/>
              <a:ext cx="60" cy="12"/>
            </a:xfrm>
            <a:custGeom>
              <a:avLst/>
              <a:gdLst>
                <a:gd name="txL" fmla="*/ 0 w 60"/>
                <a:gd name="txT" fmla="*/ 0 h 12"/>
                <a:gd name="txR" fmla="*/ 60 w 60"/>
                <a:gd name="txB" fmla="*/ 12 h 12"/>
              </a:gdLst>
              <a:ahLst/>
              <a:cxnLst>
                <a:cxn ang="0">
                  <a:pos x="0" y="12"/>
                </a:cxn>
                <a:cxn ang="0">
                  <a:pos x="60" y="0"/>
                </a:cxn>
                <a:cxn ang="0">
                  <a:pos x="0" y="12"/>
                </a:cxn>
                <a:cxn ang="0">
                  <a:pos x="0" y="12"/>
                </a:cxn>
                <a:cxn ang="0">
                  <a:pos x="0" y="12"/>
                </a:cxn>
                <a:cxn ang="0">
                  <a:pos x="0" y="12"/>
                </a:cxn>
                <a:cxn ang="0">
                  <a:pos x="0" y="12"/>
                </a:cxn>
              </a:cxnLst>
              <a:rect l="txL" t="txT" r="txR" b="txB"/>
              <a:pathLst>
                <a:path w="60" h="12">
                  <a:moveTo>
                    <a:pt x="0" y="12"/>
                  </a:moveTo>
                  <a:lnTo>
                    <a:pt x="60"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37" name="Freeform 126"/>
            <p:cNvSpPr>
              <a:spLocks noEditPoints="1"/>
            </p:cNvSpPr>
            <p:nvPr/>
          </p:nvSpPr>
          <p:spPr>
            <a:xfrm>
              <a:off x="2010" y="2088"/>
              <a:ext cx="36" cy="54"/>
            </a:xfrm>
            <a:custGeom>
              <a:avLst/>
              <a:gdLst>
                <a:gd name="txL" fmla="*/ 0 w 36"/>
                <a:gd name="txT" fmla="*/ 0 h 54"/>
                <a:gd name="txR" fmla="*/ 36 w 36"/>
                <a:gd name="txB" fmla="*/ 54 h 54"/>
              </a:gdLst>
              <a:ahLst/>
              <a:cxnLst>
                <a:cxn ang="0">
                  <a:pos x="36" y="0"/>
                </a:cxn>
                <a:cxn ang="0">
                  <a:pos x="0" y="54"/>
                </a:cxn>
                <a:cxn ang="0">
                  <a:pos x="36" y="0"/>
                </a:cxn>
                <a:cxn ang="0">
                  <a:pos x="36" y="0"/>
                </a:cxn>
                <a:cxn ang="0">
                  <a:pos x="36" y="0"/>
                </a:cxn>
                <a:cxn ang="0">
                  <a:pos x="36" y="0"/>
                </a:cxn>
                <a:cxn ang="0">
                  <a:pos x="36" y="0"/>
                </a:cxn>
              </a:cxnLst>
              <a:rect l="txL" t="txT" r="txR" b="txB"/>
              <a:pathLst>
                <a:path w="36" h="54">
                  <a:moveTo>
                    <a:pt x="36" y="0"/>
                  </a:moveTo>
                  <a:lnTo>
                    <a:pt x="0" y="54"/>
                  </a:lnTo>
                  <a:lnTo>
                    <a:pt x="36" y="0"/>
                  </a:lnTo>
                  <a:close/>
                  <a:moveTo>
                    <a:pt x="36" y="0"/>
                  </a:move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38" name="Freeform 127"/>
            <p:cNvSpPr>
              <a:spLocks noEditPoints="1"/>
            </p:cNvSpPr>
            <p:nvPr/>
          </p:nvSpPr>
          <p:spPr>
            <a:xfrm>
              <a:off x="2010" y="2142"/>
              <a:ext cx="1" cy="1"/>
            </a:xfrm>
            <a:custGeom>
              <a:avLst/>
              <a:gdLst>
                <a:gd name="txL" fmla="*/ 0 w 1"/>
                <a:gd name="txT" fmla="*/ 0 h 1"/>
                <a:gd name="txR" fmla="*/ 1 w 1"/>
                <a:gd name="txB" fmla="*/ 1 h 1"/>
              </a:gdLst>
              <a:ahLst/>
              <a:cxnLst>
                <a:cxn ang="0">
                  <a:pos x="0" y="0"/>
                </a:cxn>
                <a:cxn ang="0">
                  <a:pos x="0" y="0"/>
                </a:cxn>
                <a:cxn ang="0">
                  <a:pos x="0" y="0"/>
                </a:cxn>
                <a:cxn ang="0">
                  <a:pos x="0" y="0"/>
                </a:cxn>
                <a:cxn ang="0">
                  <a:pos x="0" y="0"/>
                </a:cxn>
                <a:cxn ang="0">
                  <a:pos x="0" y="0"/>
                </a:cxn>
                <a:cxn ang="0">
                  <a:pos x="0" y="0"/>
                </a:cxn>
              </a:cxnLst>
              <a:rect l="txL" t="txT" r="txR" b="txB"/>
              <a:pathLst>
                <a:path w="1" h="1">
                  <a:moveTo>
                    <a:pt x="0" y="0"/>
                  </a:move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39" name="Freeform 128"/>
            <p:cNvSpPr>
              <a:spLocks noEditPoints="1"/>
            </p:cNvSpPr>
            <p:nvPr/>
          </p:nvSpPr>
          <p:spPr>
            <a:xfrm>
              <a:off x="1974" y="2142"/>
              <a:ext cx="36" cy="53"/>
            </a:xfrm>
            <a:custGeom>
              <a:avLst/>
              <a:gdLst>
                <a:gd name="txL" fmla="*/ 0 w 36"/>
                <a:gd name="txT" fmla="*/ 0 h 53"/>
                <a:gd name="txR" fmla="*/ 36 w 36"/>
                <a:gd name="txB" fmla="*/ 53 h 53"/>
              </a:gdLst>
              <a:ahLst/>
              <a:cxnLst>
                <a:cxn ang="0">
                  <a:pos x="36" y="0"/>
                </a:cxn>
                <a:cxn ang="0">
                  <a:pos x="0" y="53"/>
                </a:cxn>
                <a:cxn ang="0">
                  <a:pos x="36" y="0"/>
                </a:cxn>
                <a:cxn ang="0">
                  <a:pos x="36" y="0"/>
                </a:cxn>
                <a:cxn ang="0">
                  <a:pos x="36" y="0"/>
                </a:cxn>
                <a:cxn ang="0">
                  <a:pos x="36" y="0"/>
                </a:cxn>
                <a:cxn ang="0">
                  <a:pos x="36" y="0"/>
                </a:cxn>
              </a:cxnLst>
              <a:rect l="txL" t="txT" r="txR" b="txB"/>
              <a:pathLst>
                <a:path w="36" h="53">
                  <a:moveTo>
                    <a:pt x="36" y="0"/>
                  </a:moveTo>
                  <a:lnTo>
                    <a:pt x="0" y="53"/>
                  </a:lnTo>
                  <a:lnTo>
                    <a:pt x="36" y="0"/>
                  </a:lnTo>
                  <a:close/>
                  <a:moveTo>
                    <a:pt x="36" y="0"/>
                  </a:move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40" name="Freeform 129"/>
            <p:cNvSpPr>
              <a:spLocks noEditPoints="1"/>
            </p:cNvSpPr>
            <p:nvPr/>
          </p:nvSpPr>
          <p:spPr>
            <a:xfrm>
              <a:off x="1974" y="2183"/>
              <a:ext cx="66" cy="12"/>
            </a:xfrm>
            <a:custGeom>
              <a:avLst/>
              <a:gdLst>
                <a:gd name="txL" fmla="*/ 0 w 66"/>
                <a:gd name="txT" fmla="*/ 0 h 12"/>
                <a:gd name="txR" fmla="*/ 66 w 66"/>
                <a:gd name="txB" fmla="*/ 12 h 12"/>
              </a:gdLst>
              <a:ahLst/>
              <a:cxnLst>
                <a:cxn ang="0">
                  <a:pos x="0" y="12"/>
                </a:cxn>
                <a:cxn ang="0">
                  <a:pos x="66" y="0"/>
                </a:cxn>
                <a:cxn ang="0">
                  <a:pos x="0" y="12"/>
                </a:cxn>
                <a:cxn ang="0">
                  <a:pos x="0" y="12"/>
                </a:cxn>
                <a:cxn ang="0">
                  <a:pos x="0" y="12"/>
                </a:cxn>
                <a:cxn ang="0">
                  <a:pos x="0" y="12"/>
                </a:cxn>
                <a:cxn ang="0">
                  <a:pos x="0" y="12"/>
                </a:cxn>
              </a:cxnLst>
              <a:rect l="txL" t="txT" r="txR" b="txB"/>
              <a:pathLst>
                <a:path w="66" h="12">
                  <a:moveTo>
                    <a:pt x="0" y="12"/>
                  </a:moveTo>
                  <a:lnTo>
                    <a:pt x="66"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41" name="Freeform 130"/>
            <p:cNvSpPr>
              <a:spLocks noEditPoints="1"/>
            </p:cNvSpPr>
            <p:nvPr/>
          </p:nvSpPr>
          <p:spPr>
            <a:xfrm>
              <a:off x="2040" y="2171"/>
              <a:ext cx="60" cy="12"/>
            </a:xfrm>
            <a:custGeom>
              <a:avLst/>
              <a:gdLst>
                <a:gd name="txL" fmla="*/ 0 w 60"/>
                <a:gd name="txT" fmla="*/ 0 h 12"/>
                <a:gd name="txR" fmla="*/ 60 w 60"/>
                <a:gd name="txB" fmla="*/ 12 h 12"/>
              </a:gdLst>
              <a:ahLst/>
              <a:cxnLst>
                <a:cxn ang="0">
                  <a:pos x="0" y="12"/>
                </a:cxn>
                <a:cxn ang="0">
                  <a:pos x="60" y="0"/>
                </a:cxn>
                <a:cxn ang="0">
                  <a:pos x="0" y="12"/>
                </a:cxn>
                <a:cxn ang="0">
                  <a:pos x="0" y="12"/>
                </a:cxn>
                <a:cxn ang="0">
                  <a:pos x="0" y="12"/>
                </a:cxn>
                <a:cxn ang="0">
                  <a:pos x="0" y="12"/>
                </a:cxn>
                <a:cxn ang="0">
                  <a:pos x="0" y="12"/>
                </a:cxn>
              </a:cxnLst>
              <a:rect l="txL" t="txT" r="txR" b="txB"/>
              <a:pathLst>
                <a:path w="60" h="12">
                  <a:moveTo>
                    <a:pt x="0" y="12"/>
                  </a:moveTo>
                  <a:lnTo>
                    <a:pt x="60"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42" name="Freeform 131"/>
            <p:cNvSpPr>
              <a:spLocks noEditPoints="1"/>
            </p:cNvSpPr>
            <p:nvPr/>
          </p:nvSpPr>
          <p:spPr>
            <a:xfrm>
              <a:off x="2064" y="2171"/>
              <a:ext cx="36" cy="54"/>
            </a:xfrm>
            <a:custGeom>
              <a:avLst/>
              <a:gdLst>
                <a:gd name="txL" fmla="*/ 0 w 36"/>
                <a:gd name="txT" fmla="*/ 0 h 54"/>
                <a:gd name="txR" fmla="*/ 36 w 36"/>
                <a:gd name="txB" fmla="*/ 54 h 54"/>
              </a:gdLst>
              <a:ahLst/>
              <a:cxnLst>
                <a:cxn ang="0">
                  <a:pos x="36" y="0"/>
                </a:cxn>
                <a:cxn ang="0">
                  <a:pos x="0" y="54"/>
                </a:cxn>
                <a:cxn ang="0">
                  <a:pos x="36" y="0"/>
                </a:cxn>
                <a:cxn ang="0">
                  <a:pos x="36" y="0"/>
                </a:cxn>
                <a:cxn ang="0">
                  <a:pos x="36" y="0"/>
                </a:cxn>
                <a:cxn ang="0">
                  <a:pos x="36" y="0"/>
                </a:cxn>
                <a:cxn ang="0">
                  <a:pos x="36" y="0"/>
                </a:cxn>
              </a:cxnLst>
              <a:rect l="txL" t="txT" r="txR" b="txB"/>
              <a:pathLst>
                <a:path w="36" h="54">
                  <a:moveTo>
                    <a:pt x="36" y="0"/>
                  </a:moveTo>
                  <a:lnTo>
                    <a:pt x="0" y="54"/>
                  </a:lnTo>
                  <a:lnTo>
                    <a:pt x="36" y="0"/>
                  </a:lnTo>
                  <a:close/>
                  <a:moveTo>
                    <a:pt x="36" y="0"/>
                  </a:move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43" name="Freeform 132"/>
            <p:cNvSpPr>
              <a:spLocks noEditPoints="1"/>
            </p:cNvSpPr>
            <p:nvPr/>
          </p:nvSpPr>
          <p:spPr>
            <a:xfrm>
              <a:off x="2034" y="2225"/>
              <a:ext cx="30" cy="54"/>
            </a:xfrm>
            <a:custGeom>
              <a:avLst/>
              <a:gdLst>
                <a:gd name="txL" fmla="*/ 0 w 30"/>
                <a:gd name="txT" fmla="*/ 0 h 54"/>
                <a:gd name="txR" fmla="*/ 30 w 30"/>
                <a:gd name="txB" fmla="*/ 54 h 54"/>
              </a:gdLst>
              <a:ahLst/>
              <a:cxnLst>
                <a:cxn ang="0">
                  <a:pos x="30" y="0"/>
                </a:cxn>
                <a:cxn ang="0">
                  <a:pos x="0" y="54"/>
                </a:cxn>
                <a:cxn ang="0">
                  <a:pos x="30" y="0"/>
                </a:cxn>
                <a:cxn ang="0">
                  <a:pos x="30" y="0"/>
                </a:cxn>
                <a:cxn ang="0">
                  <a:pos x="30" y="0"/>
                </a:cxn>
                <a:cxn ang="0">
                  <a:pos x="30" y="0"/>
                </a:cxn>
                <a:cxn ang="0">
                  <a:pos x="30" y="0"/>
                </a:cxn>
              </a:cxnLst>
              <a:rect l="txL" t="txT" r="txR" b="txB"/>
              <a:pathLst>
                <a:path w="30" h="54">
                  <a:moveTo>
                    <a:pt x="30" y="0"/>
                  </a:moveTo>
                  <a:lnTo>
                    <a:pt x="0" y="54"/>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44" name="Freeform 133"/>
            <p:cNvSpPr>
              <a:spLocks noEditPoints="1"/>
            </p:cNvSpPr>
            <p:nvPr/>
          </p:nvSpPr>
          <p:spPr>
            <a:xfrm>
              <a:off x="2034" y="2267"/>
              <a:ext cx="60" cy="12"/>
            </a:xfrm>
            <a:custGeom>
              <a:avLst/>
              <a:gdLst>
                <a:gd name="txL" fmla="*/ 0 w 60"/>
                <a:gd name="txT" fmla="*/ 0 h 12"/>
                <a:gd name="txR" fmla="*/ 60 w 60"/>
                <a:gd name="txB" fmla="*/ 12 h 12"/>
              </a:gdLst>
              <a:ahLst/>
              <a:cxnLst>
                <a:cxn ang="0">
                  <a:pos x="0" y="12"/>
                </a:cxn>
                <a:cxn ang="0">
                  <a:pos x="60" y="0"/>
                </a:cxn>
                <a:cxn ang="0">
                  <a:pos x="0" y="12"/>
                </a:cxn>
                <a:cxn ang="0">
                  <a:pos x="0" y="12"/>
                </a:cxn>
                <a:cxn ang="0">
                  <a:pos x="0" y="12"/>
                </a:cxn>
                <a:cxn ang="0">
                  <a:pos x="0" y="12"/>
                </a:cxn>
                <a:cxn ang="0">
                  <a:pos x="0" y="12"/>
                </a:cxn>
              </a:cxnLst>
              <a:rect l="txL" t="txT" r="txR" b="txB"/>
              <a:pathLst>
                <a:path w="60" h="12">
                  <a:moveTo>
                    <a:pt x="0" y="12"/>
                  </a:moveTo>
                  <a:lnTo>
                    <a:pt x="60"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45" name="Freeform 134"/>
            <p:cNvSpPr>
              <a:spLocks noEditPoints="1"/>
            </p:cNvSpPr>
            <p:nvPr/>
          </p:nvSpPr>
          <p:spPr>
            <a:xfrm>
              <a:off x="2094" y="2255"/>
              <a:ext cx="59" cy="12"/>
            </a:xfrm>
            <a:custGeom>
              <a:avLst/>
              <a:gdLst>
                <a:gd name="txL" fmla="*/ 0 w 59"/>
                <a:gd name="txT" fmla="*/ 0 h 12"/>
                <a:gd name="txR" fmla="*/ 59 w 59"/>
                <a:gd name="txB" fmla="*/ 12 h 12"/>
              </a:gdLst>
              <a:ahLst/>
              <a:cxnLst>
                <a:cxn ang="0">
                  <a:pos x="0" y="12"/>
                </a:cxn>
                <a:cxn ang="0">
                  <a:pos x="59" y="0"/>
                </a:cxn>
                <a:cxn ang="0">
                  <a:pos x="0" y="12"/>
                </a:cxn>
                <a:cxn ang="0">
                  <a:pos x="0" y="12"/>
                </a:cxn>
                <a:cxn ang="0">
                  <a:pos x="0" y="12"/>
                </a:cxn>
                <a:cxn ang="0">
                  <a:pos x="0" y="12"/>
                </a:cxn>
                <a:cxn ang="0">
                  <a:pos x="0" y="12"/>
                </a:cxn>
              </a:cxnLst>
              <a:rect l="txL" t="txT" r="txR" b="txB"/>
              <a:pathLst>
                <a:path w="59" h="12">
                  <a:moveTo>
                    <a:pt x="0" y="12"/>
                  </a:moveTo>
                  <a:lnTo>
                    <a:pt x="59"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46" name="Freeform 135"/>
            <p:cNvSpPr>
              <a:spLocks noEditPoints="1"/>
            </p:cNvSpPr>
            <p:nvPr/>
          </p:nvSpPr>
          <p:spPr>
            <a:xfrm>
              <a:off x="2123" y="2255"/>
              <a:ext cx="30" cy="54"/>
            </a:xfrm>
            <a:custGeom>
              <a:avLst/>
              <a:gdLst>
                <a:gd name="txL" fmla="*/ 0 w 30"/>
                <a:gd name="txT" fmla="*/ 0 h 54"/>
                <a:gd name="txR" fmla="*/ 30 w 30"/>
                <a:gd name="txB" fmla="*/ 54 h 54"/>
              </a:gdLst>
              <a:ahLst/>
              <a:cxnLst>
                <a:cxn ang="0">
                  <a:pos x="30" y="0"/>
                </a:cxn>
                <a:cxn ang="0">
                  <a:pos x="0" y="54"/>
                </a:cxn>
                <a:cxn ang="0">
                  <a:pos x="30" y="0"/>
                </a:cxn>
                <a:cxn ang="0">
                  <a:pos x="30" y="0"/>
                </a:cxn>
                <a:cxn ang="0">
                  <a:pos x="30" y="0"/>
                </a:cxn>
                <a:cxn ang="0">
                  <a:pos x="30" y="0"/>
                </a:cxn>
                <a:cxn ang="0">
                  <a:pos x="30" y="0"/>
                </a:cxn>
              </a:cxnLst>
              <a:rect l="txL" t="txT" r="txR" b="txB"/>
              <a:pathLst>
                <a:path w="30" h="54">
                  <a:moveTo>
                    <a:pt x="30" y="0"/>
                  </a:moveTo>
                  <a:lnTo>
                    <a:pt x="0" y="54"/>
                  </a:lnTo>
                  <a:lnTo>
                    <a:pt x="30" y="0"/>
                  </a:lnTo>
                  <a:close/>
                  <a:moveTo>
                    <a:pt x="30" y="0"/>
                  </a:moveTo>
                  <a:lnTo>
                    <a:pt x="3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47" name="Freeform 136"/>
            <p:cNvSpPr>
              <a:spLocks noEditPoints="1"/>
            </p:cNvSpPr>
            <p:nvPr/>
          </p:nvSpPr>
          <p:spPr>
            <a:xfrm>
              <a:off x="2088" y="2309"/>
              <a:ext cx="35" cy="54"/>
            </a:xfrm>
            <a:custGeom>
              <a:avLst/>
              <a:gdLst>
                <a:gd name="txL" fmla="*/ 0 w 35"/>
                <a:gd name="txT" fmla="*/ 0 h 54"/>
                <a:gd name="txR" fmla="*/ 35 w 35"/>
                <a:gd name="txB" fmla="*/ 54 h 54"/>
              </a:gdLst>
              <a:ahLst/>
              <a:cxnLst>
                <a:cxn ang="0">
                  <a:pos x="35" y="0"/>
                </a:cxn>
                <a:cxn ang="0">
                  <a:pos x="0" y="54"/>
                </a:cxn>
                <a:cxn ang="0">
                  <a:pos x="35" y="0"/>
                </a:cxn>
                <a:cxn ang="0">
                  <a:pos x="35" y="0"/>
                </a:cxn>
                <a:cxn ang="0">
                  <a:pos x="35" y="0"/>
                </a:cxn>
                <a:cxn ang="0">
                  <a:pos x="35" y="0"/>
                </a:cxn>
                <a:cxn ang="0">
                  <a:pos x="35" y="0"/>
                </a:cxn>
              </a:cxnLst>
              <a:rect l="txL" t="txT" r="txR" b="txB"/>
              <a:pathLst>
                <a:path w="35" h="54">
                  <a:moveTo>
                    <a:pt x="35" y="0"/>
                  </a:moveTo>
                  <a:lnTo>
                    <a:pt x="0" y="54"/>
                  </a:lnTo>
                  <a:lnTo>
                    <a:pt x="35" y="0"/>
                  </a:lnTo>
                  <a:close/>
                  <a:moveTo>
                    <a:pt x="35" y="0"/>
                  </a:moveTo>
                  <a:lnTo>
                    <a:pt x="35"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48" name="Freeform 137"/>
            <p:cNvSpPr>
              <a:spLocks noEditPoints="1"/>
            </p:cNvSpPr>
            <p:nvPr/>
          </p:nvSpPr>
          <p:spPr>
            <a:xfrm>
              <a:off x="2088" y="2351"/>
              <a:ext cx="59" cy="12"/>
            </a:xfrm>
            <a:custGeom>
              <a:avLst/>
              <a:gdLst>
                <a:gd name="txL" fmla="*/ 0 w 59"/>
                <a:gd name="txT" fmla="*/ 0 h 12"/>
                <a:gd name="txR" fmla="*/ 59 w 59"/>
                <a:gd name="txB" fmla="*/ 12 h 12"/>
              </a:gdLst>
              <a:ahLst/>
              <a:cxnLst>
                <a:cxn ang="0">
                  <a:pos x="0" y="12"/>
                </a:cxn>
                <a:cxn ang="0">
                  <a:pos x="59" y="0"/>
                </a:cxn>
                <a:cxn ang="0">
                  <a:pos x="0" y="12"/>
                </a:cxn>
                <a:cxn ang="0">
                  <a:pos x="0" y="12"/>
                </a:cxn>
                <a:cxn ang="0">
                  <a:pos x="0" y="12"/>
                </a:cxn>
                <a:cxn ang="0">
                  <a:pos x="0" y="12"/>
                </a:cxn>
                <a:cxn ang="0">
                  <a:pos x="0" y="12"/>
                </a:cxn>
              </a:cxnLst>
              <a:rect l="txL" t="txT" r="txR" b="txB"/>
              <a:pathLst>
                <a:path w="59" h="12">
                  <a:moveTo>
                    <a:pt x="0" y="12"/>
                  </a:moveTo>
                  <a:lnTo>
                    <a:pt x="59"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49" name="Freeform 138"/>
            <p:cNvSpPr>
              <a:spLocks noEditPoints="1"/>
            </p:cNvSpPr>
            <p:nvPr/>
          </p:nvSpPr>
          <p:spPr>
            <a:xfrm>
              <a:off x="2147" y="2339"/>
              <a:ext cx="60" cy="12"/>
            </a:xfrm>
            <a:custGeom>
              <a:avLst/>
              <a:gdLst>
                <a:gd name="txL" fmla="*/ 0 w 60"/>
                <a:gd name="txT" fmla="*/ 0 h 12"/>
                <a:gd name="txR" fmla="*/ 60 w 60"/>
                <a:gd name="txB" fmla="*/ 12 h 12"/>
              </a:gdLst>
              <a:ahLst/>
              <a:cxnLst>
                <a:cxn ang="0">
                  <a:pos x="0" y="12"/>
                </a:cxn>
                <a:cxn ang="0">
                  <a:pos x="60" y="0"/>
                </a:cxn>
                <a:cxn ang="0">
                  <a:pos x="0" y="12"/>
                </a:cxn>
                <a:cxn ang="0">
                  <a:pos x="0" y="12"/>
                </a:cxn>
                <a:cxn ang="0">
                  <a:pos x="0" y="12"/>
                </a:cxn>
                <a:cxn ang="0">
                  <a:pos x="0" y="12"/>
                </a:cxn>
                <a:cxn ang="0">
                  <a:pos x="0" y="12"/>
                </a:cxn>
              </a:cxnLst>
              <a:rect l="txL" t="txT" r="txR" b="txB"/>
              <a:pathLst>
                <a:path w="60" h="12">
                  <a:moveTo>
                    <a:pt x="0" y="12"/>
                  </a:moveTo>
                  <a:lnTo>
                    <a:pt x="60" y="0"/>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4650" name="Freeform 139"/>
            <p:cNvSpPr>
              <a:spLocks noEditPoints="1"/>
            </p:cNvSpPr>
            <p:nvPr/>
          </p:nvSpPr>
          <p:spPr>
            <a:xfrm>
              <a:off x="2171" y="2339"/>
              <a:ext cx="36" cy="53"/>
            </a:xfrm>
            <a:custGeom>
              <a:avLst/>
              <a:gdLst>
                <a:gd name="txL" fmla="*/ 0 w 36"/>
                <a:gd name="txT" fmla="*/ 0 h 53"/>
                <a:gd name="txR" fmla="*/ 36 w 36"/>
                <a:gd name="txB" fmla="*/ 53 h 53"/>
              </a:gdLst>
              <a:ahLst/>
              <a:cxnLst>
                <a:cxn ang="0">
                  <a:pos x="36" y="0"/>
                </a:cxn>
                <a:cxn ang="0">
                  <a:pos x="0" y="53"/>
                </a:cxn>
                <a:cxn ang="0">
                  <a:pos x="36" y="0"/>
                </a:cxn>
                <a:cxn ang="0">
                  <a:pos x="36" y="0"/>
                </a:cxn>
                <a:cxn ang="0">
                  <a:pos x="36" y="0"/>
                </a:cxn>
                <a:cxn ang="0">
                  <a:pos x="36" y="0"/>
                </a:cxn>
                <a:cxn ang="0">
                  <a:pos x="36" y="0"/>
                </a:cxn>
              </a:cxnLst>
              <a:rect l="txL" t="txT" r="txR" b="txB"/>
              <a:pathLst>
                <a:path w="36" h="53">
                  <a:moveTo>
                    <a:pt x="36" y="0"/>
                  </a:moveTo>
                  <a:lnTo>
                    <a:pt x="0" y="53"/>
                  </a:lnTo>
                  <a:lnTo>
                    <a:pt x="36" y="0"/>
                  </a:lnTo>
                  <a:close/>
                  <a:moveTo>
                    <a:pt x="36" y="0"/>
                  </a:moveTo>
                  <a:lnTo>
                    <a:pt x="36"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grpSp>
      <p:graphicFrame>
        <p:nvGraphicFramePr>
          <p:cNvPr id="64520" name="Object 7"/>
          <p:cNvGraphicFramePr>
            <a:graphicFrameLocks noChangeAspect="1"/>
          </p:cNvGraphicFramePr>
          <p:nvPr/>
        </p:nvGraphicFramePr>
        <p:xfrm>
          <a:off x="2795588" y="3933825"/>
          <a:ext cx="1362075" cy="1393825"/>
        </p:xfrm>
        <a:graphic>
          <a:graphicData uri="http://schemas.openxmlformats.org/presentationml/2006/ole">
            <mc:AlternateContent xmlns:mc="http://schemas.openxmlformats.org/markup-compatibility/2006">
              <mc:Choice xmlns:v="urn:schemas-microsoft-com:vml" Requires="v">
                <p:oleObj spid="_x0000_s3162" name="" r:id="rId7" imgW="622300" imgH="635000" progId="Equation.DSMT4">
                  <p:embed/>
                </p:oleObj>
              </mc:Choice>
              <mc:Fallback>
                <p:oleObj name="" r:id="rId7" imgW="622300" imgH="635000" progId="Equation.DSMT4">
                  <p:embed/>
                  <p:pic>
                    <p:nvPicPr>
                      <p:cNvPr id="0" name="图片 3161"/>
                      <p:cNvPicPr/>
                      <p:nvPr/>
                    </p:nvPicPr>
                    <p:blipFill>
                      <a:blip r:embed="rId8"/>
                      <a:stretch>
                        <a:fillRect/>
                      </a:stretch>
                    </p:blipFill>
                    <p:spPr>
                      <a:xfrm>
                        <a:off x="2795588" y="3933825"/>
                        <a:ext cx="1362075" cy="1393825"/>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tretch>
            <a:fillRect/>
          </a:stretch>
        </p:blipFill>
        <p:spPr>
          <a:xfrm>
            <a:off x="793750" y="344170"/>
            <a:ext cx="6934200" cy="3415030"/>
          </a:xfrm>
          <a:prstGeom prst="rect">
            <a:avLst/>
          </a:prstGeom>
        </p:spPr>
      </p:pic>
      <p:pic>
        <p:nvPicPr>
          <p:cNvPr id="8" name="图片 7"/>
          <p:cNvPicPr>
            <a:picLocks noChangeAspect="1"/>
          </p:cNvPicPr>
          <p:nvPr/>
        </p:nvPicPr>
        <p:blipFill>
          <a:blip r:embed="rId2"/>
          <a:stretch>
            <a:fillRect/>
          </a:stretch>
        </p:blipFill>
        <p:spPr>
          <a:xfrm>
            <a:off x="1361440" y="3759200"/>
            <a:ext cx="6062980" cy="948055"/>
          </a:xfrm>
          <a:prstGeom prst="rect">
            <a:avLst/>
          </a:prstGeom>
        </p:spPr>
      </p:pic>
      <p:pic>
        <p:nvPicPr>
          <p:cNvPr id="9" name="图片 8"/>
          <p:cNvPicPr>
            <a:picLocks noChangeAspect="1"/>
          </p:cNvPicPr>
          <p:nvPr/>
        </p:nvPicPr>
        <p:blipFill>
          <a:blip r:embed="rId3"/>
          <a:srcRect l="34727"/>
          <a:stretch>
            <a:fillRect/>
          </a:stretch>
        </p:blipFill>
        <p:spPr>
          <a:xfrm>
            <a:off x="2666365" y="4547870"/>
            <a:ext cx="3876675" cy="114808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tretch>
            <a:fillRect/>
          </a:stretch>
        </p:blipFill>
        <p:spPr>
          <a:xfrm>
            <a:off x="621665" y="862965"/>
            <a:ext cx="4419600" cy="552450"/>
          </a:xfrm>
          <a:prstGeom prst="rect">
            <a:avLst/>
          </a:prstGeom>
        </p:spPr>
      </p:pic>
      <p:pic>
        <p:nvPicPr>
          <p:cNvPr id="8" name="图片 7"/>
          <p:cNvPicPr>
            <a:picLocks noChangeAspect="1"/>
          </p:cNvPicPr>
          <p:nvPr/>
        </p:nvPicPr>
        <p:blipFill>
          <a:blip r:embed="rId2"/>
          <a:stretch>
            <a:fillRect/>
          </a:stretch>
        </p:blipFill>
        <p:spPr>
          <a:xfrm>
            <a:off x="5474970" y="649605"/>
            <a:ext cx="2710180" cy="1971675"/>
          </a:xfrm>
          <a:prstGeom prst="rect">
            <a:avLst/>
          </a:prstGeom>
        </p:spPr>
      </p:pic>
      <p:pic>
        <p:nvPicPr>
          <p:cNvPr id="9" name="图片 8"/>
          <p:cNvPicPr>
            <a:picLocks noChangeAspect="1"/>
          </p:cNvPicPr>
          <p:nvPr/>
        </p:nvPicPr>
        <p:blipFill>
          <a:blip r:embed="rId3"/>
          <a:stretch>
            <a:fillRect/>
          </a:stretch>
        </p:blipFill>
        <p:spPr>
          <a:xfrm>
            <a:off x="1070610" y="1578610"/>
            <a:ext cx="3347720" cy="492379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Text Box 10"/>
          <p:cNvSpPr txBox="1"/>
          <p:nvPr/>
        </p:nvSpPr>
        <p:spPr>
          <a:xfrm>
            <a:off x="179388" y="765175"/>
            <a:ext cx="8569325" cy="1384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FF0000"/>
                </a:solidFill>
                <a:cs typeface="Arial" panose="020B0604020202020204" pitchFamily="34" charset="0"/>
              </a:rPr>
              <a:t>EXAMPLE</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     Obtain the equivalent resistance </a:t>
            </a:r>
            <a:r>
              <a:rPr lang="en-US" altLang="zh-CN" sz="2400" b="1" i="1" dirty="0">
                <a:latin typeface="Times New Roman" panose="02020603050405020304" pitchFamily="18" charset="0"/>
                <a:cs typeface="Arial" panose="020B0604020202020204" pitchFamily="34" charset="0"/>
              </a:rPr>
              <a:t>R</a:t>
            </a:r>
            <a:r>
              <a:rPr lang="en-US" altLang="zh-CN" sz="2400" b="1" baseline="-25000" dirty="0">
                <a:latin typeface="Times New Roman" panose="02020603050405020304" pitchFamily="18" charset="0"/>
                <a:cs typeface="Arial" panose="020B0604020202020204" pitchFamily="34" charset="0"/>
              </a:rPr>
              <a:t>ab</a:t>
            </a:r>
            <a:r>
              <a:rPr lang="en-US" altLang="zh-CN" sz="2400" b="1" dirty="0">
                <a:latin typeface="Times New Roman" panose="02020603050405020304" pitchFamily="18" charset="0"/>
                <a:cs typeface="Arial" panose="020B0604020202020204" pitchFamily="34" charset="0"/>
              </a:rPr>
              <a:t> for the circuit in Fig.2.52 and use it to find current </a:t>
            </a:r>
            <a:r>
              <a:rPr lang="en-US" altLang="zh-CN" sz="2400" b="1" i="1" dirty="0">
                <a:latin typeface="Times New Roman" panose="02020603050405020304" pitchFamily="18" charset="0"/>
                <a:cs typeface="Arial" panose="020B0604020202020204" pitchFamily="34" charset="0"/>
              </a:rPr>
              <a:t>i</a:t>
            </a:r>
            <a:r>
              <a:rPr lang="en-US" altLang="zh-CN" sz="2400" b="1" dirty="0">
                <a:latin typeface="Times New Roman" panose="02020603050405020304" pitchFamily="18" charset="0"/>
                <a:cs typeface="Arial" panose="020B0604020202020204" pitchFamily="34" charset="0"/>
              </a:rPr>
              <a:t> .</a:t>
            </a:r>
            <a:endParaRPr lang="en-US" altLang="zh-CN" sz="2400" b="1" dirty="0">
              <a:latin typeface="Times New Roman" panose="02020603050405020304" pitchFamily="18" charset="0"/>
              <a:ea typeface="Arial" panose="020B0604020202020204" pitchFamily="34" charset="0"/>
            </a:endParaRPr>
          </a:p>
        </p:txBody>
      </p:sp>
      <p:pic>
        <p:nvPicPr>
          <p:cNvPr id="65539" name="图片 7"/>
          <p:cNvPicPr>
            <a:picLocks noChangeAspect="1"/>
          </p:cNvPicPr>
          <p:nvPr/>
        </p:nvPicPr>
        <p:blipFill>
          <a:blip r:embed="rId1"/>
          <a:stretch>
            <a:fillRect/>
          </a:stretch>
        </p:blipFill>
        <p:spPr>
          <a:xfrm>
            <a:off x="1825625" y="2379663"/>
            <a:ext cx="5492750" cy="3643312"/>
          </a:xfrm>
          <a:prstGeom prst="rect">
            <a:avLst/>
          </a:prstGeom>
          <a:noFill/>
          <a:ln w="9525">
            <a:noFill/>
          </a:ln>
        </p:spPr>
      </p:pic>
      <p:sp>
        <p:nvSpPr>
          <p:cNvPr id="65540"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Text Box 2"/>
          <p:cNvSpPr txBox="1"/>
          <p:nvPr/>
        </p:nvSpPr>
        <p:spPr>
          <a:xfrm>
            <a:off x="282575" y="1801813"/>
            <a:ext cx="9183688" cy="16319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solidFill>
                  <a:schemeClr val="bg2"/>
                </a:solidFill>
                <a:latin typeface="Times New Roman" panose="02020603050405020304" pitchFamily="18" charset="0"/>
                <a:cs typeface="Arial" panose="020B0604020202020204" pitchFamily="34" charset="0"/>
              </a:rPr>
              <a:t>Solution</a:t>
            </a:r>
            <a:r>
              <a:rPr lang="en-US" altLang="zh-CN" sz="2800" dirty="0">
                <a:solidFill>
                  <a:schemeClr val="bg2"/>
                </a:solidFill>
                <a:latin typeface="Times New Roman" panose="02020603050405020304" pitchFamily="18" charset="0"/>
                <a:cs typeface="Arial" panose="020B0604020202020204" pitchFamily="34" charset="0"/>
              </a:rPr>
              <a:t> :</a:t>
            </a:r>
            <a:endParaRPr lang="en-US" altLang="zh-CN" sz="2800" dirty="0">
              <a:solidFill>
                <a:schemeClr val="bg2"/>
              </a:solidFill>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select   R</a:t>
            </a:r>
            <a:r>
              <a:rPr lang="en-US" altLang="zh-CN" sz="2400" b="1" baseline="-25000" dirty="0">
                <a:latin typeface="Times New Roman" panose="02020603050405020304" pitchFamily="18" charset="0"/>
                <a:cs typeface="Arial" panose="020B0604020202020204" pitchFamily="34" charset="0"/>
              </a:rPr>
              <a:t>1</a:t>
            </a:r>
            <a:r>
              <a:rPr lang="en-US" altLang="zh-CN" sz="2400" b="1" dirty="0">
                <a:latin typeface="Times New Roman" panose="02020603050405020304" pitchFamily="18" charset="0"/>
                <a:cs typeface="Arial" panose="020B0604020202020204" pitchFamily="34" charset="0"/>
              </a:rPr>
              <a:t>=10 , R</a:t>
            </a:r>
            <a:r>
              <a:rPr lang="en-US" altLang="zh-CN" sz="2400" b="1" baseline="-25000" dirty="0">
                <a:latin typeface="Times New Roman" panose="02020603050405020304" pitchFamily="18" charset="0"/>
                <a:cs typeface="Arial" panose="020B0604020202020204" pitchFamily="34" charset="0"/>
              </a:rPr>
              <a:t>2</a:t>
            </a:r>
            <a:r>
              <a:rPr lang="en-US" altLang="zh-CN" sz="2400" b="1" dirty="0">
                <a:latin typeface="Times New Roman" panose="02020603050405020304" pitchFamily="18" charset="0"/>
                <a:cs typeface="Arial" panose="020B0604020202020204" pitchFamily="34" charset="0"/>
              </a:rPr>
              <a:t>=20 , R</a:t>
            </a:r>
            <a:r>
              <a:rPr lang="en-US" altLang="zh-CN" sz="2400" b="1" baseline="-25000" dirty="0">
                <a:latin typeface="Times New Roman" panose="02020603050405020304" pitchFamily="18" charset="0"/>
                <a:cs typeface="Arial" panose="020B0604020202020204" pitchFamily="34" charset="0"/>
              </a:rPr>
              <a:t>3</a:t>
            </a:r>
            <a:r>
              <a:rPr lang="en-US" altLang="zh-CN" sz="2400" b="1" dirty="0">
                <a:latin typeface="Times New Roman" panose="02020603050405020304" pitchFamily="18" charset="0"/>
                <a:cs typeface="Arial" panose="020B0604020202020204" pitchFamily="34" charset="0"/>
              </a:rPr>
              <a:t>=5                             </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ea typeface="Arial" panose="020B0604020202020204" pitchFamily="34" charset="0"/>
            </a:endParaRPr>
          </a:p>
        </p:txBody>
      </p:sp>
      <p:graphicFrame>
        <p:nvGraphicFramePr>
          <p:cNvPr id="66563" name="Object 6"/>
          <p:cNvGraphicFramePr>
            <a:graphicFrameLocks noGrp="1" noChangeAspect="1"/>
          </p:cNvGraphicFramePr>
          <p:nvPr>
            <p:ph sz="quarter" idx="4"/>
          </p:nvPr>
        </p:nvGraphicFramePr>
        <p:xfrm>
          <a:off x="250825" y="3125788"/>
          <a:ext cx="5834063" cy="3351212"/>
        </p:xfrm>
        <a:graphic>
          <a:graphicData uri="http://schemas.openxmlformats.org/presentationml/2006/ole">
            <mc:AlternateContent xmlns:mc="http://schemas.openxmlformats.org/markup-compatibility/2006">
              <mc:Choice xmlns:v="urn:schemas-microsoft-com:vml" Requires="v">
                <p:oleObj spid="_x0000_s3164" name="" r:id="rId1" imgW="3073400" imgH="1803400" progId="Equation.3">
                  <p:embed/>
                </p:oleObj>
              </mc:Choice>
              <mc:Fallback>
                <p:oleObj name="" r:id="rId1" imgW="3073400" imgH="1803400" progId="Equation.3">
                  <p:embed/>
                  <p:pic>
                    <p:nvPicPr>
                      <p:cNvPr id="0" name="图片 3163"/>
                      <p:cNvPicPr/>
                      <p:nvPr/>
                    </p:nvPicPr>
                    <p:blipFill>
                      <a:blip r:embed="rId2"/>
                      <a:srcRect/>
                      <a:stretch>
                        <a:fillRect/>
                      </a:stretch>
                    </p:blipFill>
                    <p:spPr>
                      <a:xfrm>
                        <a:off x="250825" y="3125788"/>
                        <a:ext cx="5834063" cy="3351212"/>
                      </a:xfrm>
                      <a:prstGeom prst="rect">
                        <a:avLst/>
                      </a:prstGeom>
                      <a:noFill/>
                      <a:ln w="38100">
                        <a:miter/>
                      </a:ln>
                    </p:spPr>
                  </p:pic>
                </p:oleObj>
              </mc:Fallback>
            </mc:AlternateContent>
          </a:graphicData>
        </a:graphic>
      </p:graphicFrame>
      <p:sp>
        <p:nvSpPr>
          <p:cNvPr id="66564"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pic>
        <p:nvPicPr>
          <p:cNvPr id="66565" name="Picture 9"/>
          <p:cNvPicPr>
            <a:picLocks noChangeAspect="1"/>
          </p:cNvPicPr>
          <p:nvPr/>
        </p:nvPicPr>
        <p:blipFill>
          <a:blip r:embed="rId3"/>
          <a:stretch>
            <a:fillRect/>
          </a:stretch>
        </p:blipFill>
        <p:spPr>
          <a:xfrm>
            <a:off x="5581650" y="3998913"/>
            <a:ext cx="3436938" cy="2338387"/>
          </a:xfrm>
          <a:prstGeom prst="rect">
            <a:avLst/>
          </a:prstGeom>
          <a:noFill/>
          <a:ln w="9525">
            <a:noFill/>
          </a:ln>
        </p:spPr>
      </p:pic>
      <p:pic>
        <p:nvPicPr>
          <p:cNvPr id="66566" name="图片 7"/>
          <p:cNvPicPr>
            <a:picLocks noChangeAspect="1"/>
          </p:cNvPicPr>
          <p:nvPr/>
        </p:nvPicPr>
        <p:blipFill>
          <a:blip r:embed="rId4"/>
          <a:stretch>
            <a:fillRect/>
          </a:stretch>
        </p:blipFill>
        <p:spPr>
          <a:xfrm>
            <a:off x="4760913" y="66675"/>
            <a:ext cx="4257675" cy="2824163"/>
          </a:xfrm>
          <a:prstGeom prst="rect">
            <a:avLst/>
          </a:prstGeom>
          <a:noFill/>
          <a:ln w="9525">
            <a:noFill/>
          </a:ln>
        </p:spPr>
      </p:pic>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Text Box 2"/>
          <p:cNvSpPr txBox="1"/>
          <p:nvPr/>
        </p:nvSpPr>
        <p:spPr>
          <a:xfrm>
            <a:off x="539750" y="692150"/>
            <a:ext cx="7993063"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zh-CN" altLang="zh-CN" sz="1800" dirty="0">
              <a:ea typeface="Arial" panose="020B0604020202020204" pitchFamily="34" charset="0"/>
            </a:endParaRPr>
          </a:p>
        </p:txBody>
      </p:sp>
      <p:graphicFrame>
        <p:nvGraphicFramePr>
          <p:cNvPr id="67587" name="Object 3"/>
          <p:cNvGraphicFramePr>
            <a:graphicFrameLocks noGrp="1" noChangeAspect="1"/>
          </p:cNvGraphicFramePr>
          <p:nvPr>
            <p:ph sz="half" idx="1"/>
          </p:nvPr>
        </p:nvGraphicFramePr>
        <p:xfrm>
          <a:off x="755650" y="1058863"/>
          <a:ext cx="4105275" cy="2168525"/>
        </p:xfrm>
        <a:graphic>
          <a:graphicData uri="http://schemas.openxmlformats.org/presentationml/2006/ole">
            <mc:AlternateContent xmlns:mc="http://schemas.openxmlformats.org/markup-compatibility/2006">
              <mc:Choice xmlns:v="urn:schemas-microsoft-com:vml" Requires="v">
                <p:oleObj spid="_x0000_s3165" name="" r:id="rId1" imgW="2082800" imgH="1206500" progId="Equation.3">
                  <p:embed/>
                </p:oleObj>
              </mc:Choice>
              <mc:Fallback>
                <p:oleObj name="" r:id="rId1" imgW="2082800" imgH="1206500" progId="Equation.3">
                  <p:embed/>
                  <p:pic>
                    <p:nvPicPr>
                      <p:cNvPr id="0" name="图片 3164"/>
                      <p:cNvPicPr/>
                      <p:nvPr/>
                    </p:nvPicPr>
                    <p:blipFill>
                      <a:blip r:embed="rId2"/>
                      <a:srcRect/>
                      <a:stretch>
                        <a:fillRect/>
                      </a:stretch>
                    </p:blipFill>
                    <p:spPr>
                      <a:xfrm>
                        <a:off x="755650" y="1058863"/>
                        <a:ext cx="4105275" cy="2168525"/>
                      </a:xfrm>
                      <a:prstGeom prst="rect">
                        <a:avLst/>
                      </a:prstGeom>
                      <a:noFill/>
                      <a:ln w="38100">
                        <a:miter/>
                      </a:ln>
                    </p:spPr>
                  </p:pic>
                </p:oleObj>
              </mc:Fallback>
            </mc:AlternateContent>
          </a:graphicData>
        </a:graphic>
      </p:graphicFrame>
      <p:sp>
        <p:nvSpPr>
          <p:cNvPr id="67588" name="Text Box 4"/>
          <p:cNvSpPr txBox="1"/>
          <p:nvPr/>
        </p:nvSpPr>
        <p:spPr>
          <a:xfrm>
            <a:off x="190500" y="3998913"/>
            <a:ext cx="84963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Hence</a:t>
            </a:r>
            <a:endParaRPr lang="en-US" altLang="zh-CN" sz="2000" b="1" dirty="0">
              <a:latin typeface="Times New Roman" panose="02020603050405020304" pitchFamily="18" charset="0"/>
              <a:ea typeface="Arial" panose="020B0604020202020204" pitchFamily="34" charset="0"/>
            </a:endParaRPr>
          </a:p>
        </p:txBody>
      </p:sp>
      <p:graphicFrame>
        <p:nvGraphicFramePr>
          <p:cNvPr id="67589" name="Object 5"/>
          <p:cNvGraphicFramePr>
            <a:graphicFrameLocks noGrp="1" noChangeAspect="1"/>
          </p:cNvGraphicFramePr>
          <p:nvPr>
            <p:ph sz="half" idx="2"/>
          </p:nvPr>
        </p:nvGraphicFramePr>
        <p:xfrm>
          <a:off x="422275" y="4462463"/>
          <a:ext cx="4768850" cy="1822450"/>
        </p:xfrm>
        <a:graphic>
          <a:graphicData uri="http://schemas.openxmlformats.org/presentationml/2006/ole">
            <mc:AlternateContent xmlns:mc="http://schemas.openxmlformats.org/markup-compatibility/2006">
              <mc:Choice xmlns:v="urn:schemas-microsoft-com:vml" Requires="v">
                <p:oleObj spid="_x0000_s3163" name="" r:id="rId3" imgW="2933700" imgH="1066800" progId="Equation.3">
                  <p:embed/>
                </p:oleObj>
              </mc:Choice>
              <mc:Fallback>
                <p:oleObj name="" r:id="rId3" imgW="2933700" imgH="1066800" progId="Equation.3">
                  <p:embed/>
                  <p:pic>
                    <p:nvPicPr>
                      <p:cNvPr id="0" name="图片 3162"/>
                      <p:cNvPicPr/>
                      <p:nvPr/>
                    </p:nvPicPr>
                    <p:blipFill>
                      <a:blip r:embed="rId4"/>
                      <a:srcRect/>
                      <a:stretch>
                        <a:fillRect/>
                      </a:stretch>
                    </p:blipFill>
                    <p:spPr>
                      <a:xfrm>
                        <a:off x="422275" y="4462463"/>
                        <a:ext cx="4768850" cy="1822450"/>
                      </a:xfrm>
                      <a:prstGeom prst="rect">
                        <a:avLst/>
                      </a:prstGeom>
                      <a:noFill/>
                      <a:ln w="38100">
                        <a:miter/>
                      </a:ln>
                    </p:spPr>
                  </p:pic>
                </p:oleObj>
              </mc:Fallback>
            </mc:AlternateContent>
          </a:graphicData>
        </a:graphic>
      </p:graphicFrame>
      <p:sp>
        <p:nvSpPr>
          <p:cNvPr id="67590"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pic>
        <p:nvPicPr>
          <p:cNvPr id="67591" name="Picture 9"/>
          <p:cNvPicPr>
            <a:picLocks noChangeAspect="1"/>
          </p:cNvPicPr>
          <p:nvPr/>
        </p:nvPicPr>
        <p:blipFill>
          <a:blip r:embed="rId5"/>
          <a:stretch>
            <a:fillRect/>
          </a:stretch>
        </p:blipFill>
        <p:spPr>
          <a:xfrm>
            <a:off x="5213350" y="874713"/>
            <a:ext cx="3719513" cy="2533650"/>
          </a:xfrm>
          <a:prstGeom prst="rect">
            <a:avLst/>
          </a:prstGeom>
          <a:noFill/>
          <a:ln w="9525">
            <a:noFill/>
          </a:ln>
        </p:spPr>
      </p:pic>
      <p:pic>
        <p:nvPicPr>
          <p:cNvPr id="67592" name="图片 7"/>
          <p:cNvPicPr>
            <a:picLocks noChangeAspect="1"/>
          </p:cNvPicPr>
          <p:nvPr/>
        </p:nvPicPr>
        <p:blipFill>
          <a:blip r:embed="rId6"/>
          <a:stretch>
            <a:fillRect/>
          </a:stretch>
        </p:blipFill>
        <p:spPr>
          <a:xfrm>
            <a:off x="5191125" y="3913188"/>
            <a:ext cx="4086225" cy="2711450"/>
          </a:xfrm>
          <a:prstGeom prst="rect">
            <a:avLst/>
          </a:prstGeom>
          <a:noFill/>
          <a:ln w="9525">
            <a:noFill/>
          </a:ln>
        </p:spPr>
      </p:pic>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Text Box 10"/>
          <p:cNvSpPr txBox="1"/>
          <p:nvPr/>
        </p:nvSpPr>
        <p:spPr>
          <a:xfrm>
            <a:off x="179388" y="765175"/>
            <a:ext cx="8569325" cy="13836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FF0000"/>
                </a:solidFill>
                <a:cs typeface="Arial" panose="020B0604020202020204" pitchFamily="34" charset="0"/>
              </a:rPr>
              <a:t>EXAMPLE  (</a:t>
            </a:r>
            <a:r>
              <a:rPr lang="zh-CN" altLang="en-US" sz="2400" b="1" dirty="0">
                <a:solidFill>
                  <a:srgbClr val="FF0000"/>
                </a:solidFill>
                <a:cs typeface="Arial" panose="020B0604020202020204" pitchFamily="34" charset="0"/>
              </a:rPr>
              <a:t>还有别的解法吗？）</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     Obtain the equivalent resistance </a:t>
            </a:r>
            <a:r>
              <a:rPr lang="en-US" altLang="zh-CN" sz="2400" b="1" i="1" dirty="0">
                <a:latin typeface="Times New Roman" panose="02020603050405020304" pitchFamily="18" charset="0"/>
                <a:cs typeface="Arial" panose="020B0604020202020204" pitchFamily="34" charset="0"/>
              </a:rPr>
              <a:t>R</a:t>
            </a:r>
            <a:r>
              <a:rPr lang="en-US" altLang="zh-CN" sz="2400" b="1" baseline="-25000" dirty="0">
                <a:latin typeface="Times New Roman" panose="02020603050405020304" pitchFamily="18" charset="0"/>
                <a:cs typeface="Arial" panose="020B0604020202020204" pitchFamily="34" charset="0"/>
              </a:rPr>
              <a:t>ab</a:t>
            </a:r>
            <a:r>
              <a:rPr lang="en-US" altLang="zh-CN" sz="2400" b="1" dirty="0">
                <a:latin typeface="Times New Roman" panose="02020603050405020304" pitchFamily="18" charset="0"/>
                <a:cs typeface="Arial" panose="020B0604020202020204" pitchFamily="34" charset="0"/>
              </a:rPr>
              <a:t> for the circuit in Fig.2.52 and use it to find current </a:t>
            </a:r>
            <a:r>
              <a:rPr lang="en-US" altLang="zh-CN" sz="2400" b="1" i="1" dirty="0">
                <a:latin typeface="Times New Roman" panose="02020603050405020304" pitchFamily="18" charset="0"/>
                <a:cs typeface="Arial" panose="020B0604020202020204" pitchFamily="34" charset="0"/>
              </a:rPr>
              <a:t>i</a:t>
            </a:r>
            <a:r>
              <a:rPr lang="en-US" altLang="zh-CN" sz="2400" b="1" dirty="0">
                <a:latin typeface="Times New Roman" panose="02020603050405020304" pitchFamily="18" charset="0"/>
                <a:cs typeface="Arial" panose="020B0604020202020204" pitchFamily="34" charset="0"/>
              </a:rPr>
              <a:t> .</a:t>
            </a:r>
            <a:endParaRPr lang="en-US" altLang="zh-CN" sz="2400" b="1" dirty="0">
              <a:latin typeface="Times New Roman" panose="02020603050405020304" pitchFamily="18" charset="0"/>
              <a:ea typeface="Arial" panose="020B0604020202020204" pitchFamily="34" charset="0"/>
            </a:endParaRPr>
          </a:p>
        </p:txBody>
      </p:sp>
      <p:pic>
        <p:nvPicPr>
          <p:cNvPr id="65539" name="图片 7"/>
          <p:cNvPicPr>
            <a:picLocks noChangeAspect="1"/>
          </p:cNvPicPr>
          <p:nvPr/>
        </p:nvPicPr>
        <p:blipFill>
          <a:blip r:embed="rId1"/>
          <a:stretch>
            <a:fillRect/>
          </a:stretch>
        </p:blipFill>
        <p:spPr>
          <a:xfrm>
            <a:off x="1825625" y="2379663"/>
            <a:ext cx="5492750" cy="3643312"/>
          </a:xfrm>
          <a:prstGeom prst="rect">
            <a:avLst/>
          </a:prstGeom>
          <a:noFill/>
          <a:ln w="9525">
            <a:noFill/>
          </a:ln>
        </p:spPr>
      </p:pic>
      <p:sp>
        <p:nvSpPr>
          <p:cNvPr id="65540"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2" name="文本框 1"/>
          <p:cNvSpPr txBox="1"/>
          <p:nvPr/>
        </p:nvSpPr>
        <p:spPr>
          <a:xfrm>
            <a:off x="6623685" y="2341880"/>
            <a:ext cx="1692910" cy="368300"/>
          </a:xfrm>
          <a:prstGeom prst="rect">
            <a:avLst/>
          </a:prstGeom>
          <a:noFill/>
          <a:ln>
            <a:solidFill>
              <a:schemeClr val="accent1"/>
            </a:solidFill>
          </a:ln>
        </p:spPr>
        <p:txBody>
          <a:bodyPr wrap="square" rtlCol="0">
            <a:spAutoFit/>
          </a:bodyPr>
          <a:p>
            <a:r>
              <a:rPr lang="zh-CN" altLang="en-US"/>
              <a:t>还可以把</a:t>
            </a:r>
            <a:r>
              <a:rPr lang="zh-CN" altLang="en-US">
                <a:cs typeface="Arial" panose="020B0604020202020204" pitchFamily="34" charset="0"/>
              </a:rPr>
              <a:t>∆转</a:t>
            </a:r>
            <a:r>
              <a:rPr lang="en-US" altLang="zh-CN">
                <a:cs typeface="Arial" panose="020B0604020202020204" pitchFamily="34" charset="0"/>
              </a:rPr>
              <a:t>Y</a:t>
            </a:r>
            <a:endParaRPr lang="en-US" altLang="zh-CN">
              <a:ea typeface="微软雅黑" panose="020B0503020204020204" charset="-122"/>
              <a:cs typeface="Arial" panose="020B0604020202020204" pitchFamily="34" charset="0"/>
            </a:endParaRPr>
          </a:p>
        </p:txBody>
      </p:sp>
      <p:sp>
        <p:nvSpPr>
          <p:cNvPr id="3" name="文本框 2"/>
          <p:cNvSpPr txBox="1"/>
          <p:nvPr/>
        </p:nvSpPr>
        <p:spPr>
          <a:xfrm>
            <a:off x="6634480" y="3143885"/>
            <a:ext cx="1908175" cy="6451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r>
              <a:rPr lang="zh-CN" altLang="en-US"/>
              <a:t>图中有两个</a:t>
            </a:r>
            <a:r>
              <a:rPr lang="zh-CN" altLang="en-US">
                <a:cs typeface="Arial" panose="020B0604020202020204" pitchFamily="34" charset="0"/>
                <a:sym typeface="+mn-ea"/>
              </a:rPr>
              <a:t>∆，转</a:t>
            </a:r>
            <a:r>
              <a:rPr lang="en-US" altLang="zh-CN">
                <a:cs typeface="Arial" panose="020B0604020202020204" pitchFamily="34" charset="0"/>
                <a:sym typeface="+mn-ea"/>
              </a:rPr>
              <a:t>2</a:t>
            </a:r>
            <a:r>
              <a:rPr lang="zh-CN" altLang="en-US">
                <a:cs typeface="Arial" panose="020B0604020202020204" pitchFamily="34" charset="0"/>
                <a:sym typeface="+mn-ea"/>
              </a:rPr>
              <a:t>一个就行</a:t>
            </a:r>
            <a:endParaRPr lang="zh-CN" altLang="en-US">
              <a:cs typeface="Arial" panose="020B0604020202020204" pitchFamily="34" charset="0"/>
              <a:sym typeface="+mn-ea"/>
            </a:endParaRPr>
          </a:p>
        </p:txBody>
      </p:sp>
      <p:sp>
        <p:nvSpPr>
          <p:cNvPr id="4" name="文本框 3"/>
          <p:cNvSpPr txBox="1"/>
          <p:nvPr/>
        </p:nvSpPr>
        <p:spPr>
          <a:xfrm>
            <a:off x="6729095" y="4631055"/>
            <a:ext cx="2096135" cy="9220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r>
              <a:rPr lang="zh-CN" altLang="en-US"/>
              <a:t>教材上做了</a:t>
            </a:r>
            <a:r>
              <a:rPr lang="zh-CN" altLang="en-US">
                <a:cs typeface="Arial" panose="020B0604020202020204" pitchFamily="34" charset="0"/>
                <a:sym typeface="+mn-ea"/>
              </a:rPr>
              <a:t>∆</a:t>
            </a:r>
            <a:r>
              <a:rPr lang="en-US" altLang="zh-CN">
                <a:cs typeface="Arial" panose="020B0604020202020204" pitchFamily="34" charset="0"/>
                <a:sym typeface="+mn-ea"/>
              </a:rPr>
              <a:t>acn</a:t>
            </a:r>
            <a:r>
              <a:rPr lang="zh-CN" altLang="zh-CN">
                <a:cs typeface="Arial" panose="020B0604020202020204" pitchFamily="34" charset="0"/>
                <a:sym typeface="+mn-ea"/>
              </a:rPr>
              <a:t>转</a:t>
            </a:r>
            <a:r>
              <a:rPr lang="en-US" altLang="zh-CN">
                <a:cs typeface="Arial" panose="020B0604020202020204" pitchFamily="34" charset="0"/>
                <a:sym typeface="+mn-ea"/>
              </a:rPr>
              <a:t>Y</a:t>
            </a:r>
            <a:r>
              <a:rPr lang="zh-CN" altLang="en-US">
                <a:cs typeface="Arial" panose="020B0604020202020204" pitchFamily="34" charset="0"/>
                <a:sym typeface="+mn-ea"/>
              </a:rPr>
              <a:t>，大家可以练习一下</a:t>
            </a:r>
            <a:r>
              <a:rPr lang="zh-CN" altLang="en-US">
                <a:cs typeface="Arial" panose="020B0604020202020204" pitchFamily="34" charset="0"/>
                <a:sym typeface="+mn-ea"/>
              </a:rPr>
              <a:t>∆</a:t>
            </a:r>
            <a:r>
              <a:rPr lang="en-US" altLang="zh-CN">
                <a:cs typeface="Arial" panose="020B0604020202020204" pitchFamily="34" charset="0"/>
                <a:sym typeface="+mn-ea"/>
              </a:rPr>
              <a:t>acn</a:t>
            </a:r>
            <a:r>
              <a:rPr lang="zh-CN" altLang="en-US">
                <a:cs typeface="Arial" panose="020B0604020202020204" pitchFamily="34" charset="0"/>
                <a:sym typeface="+mn-ea"/>
              </a:rPr>
              <a:t>转</a:t>
            </a:r>
            <a:r>
              <a:rPr lang="en-US" altLang="zh-CN">
                <a:cs typeface="Arial" panose="020B0604020202020204" pitchFamily="34" charset="0"/>
                <a:sym typeface="+mn-ea"/>
              </a:rPr>
              <a:t>Y</a:t>
            </a:r>
            <a:endParaRPr lang="en-US" altLang="zh-CN">
              <a:cs typeface="Arial" panose="020B060402020202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linds(horizontal)">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rcRect t="2170" b="17790"/>
          <a:stretch>
            <a:fillRect/>
          </a:stretch>
        </p:blipFill>
        <p:spPr>
          <a:xfrm>
            <a:off x="1524000" y="438150"/>
            <a:ext cx="5194935" cy="611378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Text Box 2"/>
          <p:cNvSpPr txBox="1"/>
          <p:nvPr/>
        </p:nvSpPr>
        <p:spPr>
          <a:xfrm>
            <a:off x="539750" y="620713"/>
            <a:ext cx="6408738" cy="762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4400" dirty="0">
                <a:solidFill>
                  <a:srgbClr val="0000FF"/>
                </a:solidFill>
                <a:latin typeface="Franklin Gothic Medium" panose="020B0603020102020204" pitchFamily="34" charset="0"/>
                <a:cs typeface="Arial" panose="020B0604020202020204" pitchFamily="34" charset="0"/>
              </a:rPr>
              <a:t>2.8 </a:t>
            </a:r>
            <a:r>
              <a:rPr lang="zh-CN" altLang="en-US" sz="4400" b="1" dirty="0">
                <a:solidFill>
                  <a:srgbClr val="0000FF"/>
                </a:solidFill>
                <a:latin typeface="Franklin Gothic Medium" panose="020B0603020102020204" pitchFamily="34" charset="0"/>
                <a:cs typeface="Arial" panose="020B0604020202020204" pitchFamily="34" charset="0"/>
              </a:rPr>
              <a:t>应用</a:t>
            </a:r>
            <a:endParaRPr lang="en-US" altLang="zh-CN" sz="4400" b="1" dirty="0">
              <a:solidFill>
                <a:srgbClr val="0000FF"/>
              </a:solidFill>
              <a:latin typeface="Franklin Gothic Medium" panose="020B0603020102020204" pitchFamily="34" charset="0"/>
              <a:ea typeface="Arial" panose="020B0604020202020204" pitchFamily="34" charset="0"/>
            </a:endParaRPr>
          </a:p>
        </p:txBody>
      </p:sp>
      <p:sp>
        <p:nvSpPr>
          <p:cNvPr id="68611" name="Text Box 3"/>
          <p:cNvSpPr txBox="1"/>
          <p:nvPr/>
        </p:nvSpPr>
        <p:spPr>
          <a:xfrm>
            <a:off x="5794375" y="4357688"/>
            <a:ext cx="298450"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dirty="0">
                <a:cs typeface="Arial" panose="020B0604020202020204" pitchFamily="34" charset="0"/>
              </a:rPr>
              <a:t>N</a:t>
            </a:r>
            <a:endParaRPr lang="en-US" altLang="zh-CN" sz="1800" dirty="0">
              <a:ea typeface="Arial" panose="020B0604020202020204" pitchFamily="34" charset="0"/>
            </a:endParaRPr>
          </a:p>
        </p:txBody>
      </p:sp>
      <p:grpSp>
        <p:nvGrpSpPr>
          <p:cNvPr id="68612" name="Group 4"/>
          <p:cNvGrpSpPr/>
          <p:nvPr/>
        </p:nvGrpSpPr>
        <p:grpSpPr>
          <a:xfrm>
            <a:off x="4500563" y="2020888"/>
            <a:ext cx="3600450" cy="2632075"/>
            <a:chOff x="2835" y="1273"/>
            <a:chExt cx="2131" cy="1537"/>
          </a:xfrm>
        </p:grpSpPr>
        <p:sp>
          <p:nvSpPr>
            <p:cNvPr id="68657" name="Text Box 5"/>
            <p:cNvSpPr txBox="1"/>
            <p:nvPr/>
          </p:nvSpPr>
          <p:spPr>
            <a:xfrm>
              <a:off x="2835" y="1995"/>
              <a:ext cx="283" cy="21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i="1" dirty="0">
                  <a:cs typeface="Arial" panose="020B0604020202020204" pitchFamily="34" charset="0"/>
                </a:rPr>
                <a:t>V</a:t>
              </a:r>
              <a:r>
                <a:rPr lang="en-US" altLang="zh-CN" sz="1800" i="1" baseline="-25000" dirty="0">
                  <a:cs typeface="Arial" panose="020B0604020202020204" pitchFamily="34" charset="0"/>
                </a:rPr>
                <a:t>0</a:t>
              </a:r>
              <a:endParaRPr lang="en-US" altLang="zh-CN" sz="1800" i="1" baseline="-25000" dirty="0">
                <a:ea typeface="Arial" panose="020B0604020202020204" pitchFamily="34" charset="0"/>
              </a:endParaRPr>
            </a:p>
          </p:txBody>
        </p:sp>
        <p:sp>
          <p:nvSpPr>
            <p:cNvPr id="68658" name="Oval 6"/>
            <p:cNvSpPr/>
            <p:nvPr/>
          </p:nvSpPr>
          <p:spPr>
            <a:xfrm>
              <a:off x="3399" y="1399"/>
              <a:ext cx="1347" cy="1348"/>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grpSp>
          <p:nvGrpSpPr>
            <p:cNvPr id="68659" name="Group 7"/>
            <p:cNvGrpSpPr/>
            <p:nvPr/>
          </p:nvGrpSpPr>
          <p:grpSpPr>
            <a:xfrm>
              <a:off x="3524" y="1493"/>
              <a:ext cx="189" cy="188"/>
              <a:chOff x="3061" y="1797"/>
              <a:chExt cx="1724" cy="1724"/>
            </a:xfrm>
          </p:grpSpPr>
          <p:sp>
            <p:nvSpPr>
              <p:cNvPr id="68682" name="Oval 8"/>
              <p:cNvSpPr/>
              <p:nvPr/>
            </p:nvSpPr>
            <p:spPr>
              <a:xfrm>
                <a:off x="3061" y="1797"/>
                <a:ext cx="1724" cy="172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68683" name="Freeform 9"/>
              <p:cNvSpPr/>
              <p:nvPr/>
            </p:nvSpPr>
            <p:spPr>
              <a:xfrm>
                <a:off x="3259" y="2065"/>
                <a:ext cx="1275" cy="1144"/>
              </a:xfrm>
              <a:custGeom>
                <a:avLst/>
                <a:gdLst>
                  <a:gd name="txL" fmla="*/ 0 w 1275"/>
                  <a:gd name="txT" fmla="*/ 0 h 1144"/>
                  <a:gd name="txR" fmla="*/ 1275 w 1275"/>
                  <a:gd name="txB" fmla="*/ 1144 h 1144"/>
                </a:gdLst>
                <a:ahLst/>
                <a:cxnLst>
                  <a:cxn ang="0">
                    <a:pos x="0" y="1144"/>
                  </a:cxn>
                  <a:cxn ang="0">
                    <a:pos x="185" y="812"/>
                  </a:cxn>
                  <a:cxn ang="0">
                    <a:pos x="452" y="486"/>
                  </a:cxn>
                  <a:cxn ang="0">
                    <a:pos x="767" y="491"/>
                  </a:cxn>
                  <a:cxn ang="0">
                    <a:pos x="872" y="625"/>
                  </a:cxn>
                  <a:cxn ang="0">
                    <a:pos x="732" y="774"/>
                  </a:cxn>
                  <a:cxn ang="0">
                    <a:pos x="567" y="692"/>
                  </a:cxn>
                  <a:cxn ang="0">
                    <a:pos x="592" y="387"/>
                  </a:cxn>
                  <a:cxn ang="0">
                    <a:pos x="910" y="161"/>
                  </a:cxn>
                  <a:cxn ang="0">
                    <a:pos x="1275" y="0"/>
                  </a:cxn>
                </a:cxnLst>
                <a:rect l="txL" t="txT" r="txR" b="txB"/>
                <a:pathLst>
                  <a:path w="1275" h="1144">
                    <a:moveTo>
                      <a:pt x="0" y="1144"/>
                    </a:moveTo>
                    <a:cubicBezTo>
                      <a:pt x="31" y="1090"/>
                      <a:pt x="110" y="922"/>
                      <a:pt x="185" y="812"/>
                    </a:cubicBezTo>
                    <a:cubicBezTo>
                      <a:pt x="260" y="702"/>
                      <a:pt x="355" y="540"/>
                      <a:pt x="452" y="486"/>
                    </a:cubicBezTo>
                    <a:cubicBezTo>
                      <a:pt x="549" y="432"/>
                      <a:pt x="697" y="468"/>
                      <a:pt x="767" y="491"/>
                    </a:cubicBezTo>
                    <a:cubicBezTo>
                      <a:pt x="837" y="514"/>
                      <a:pt x="878" y="578"/>
                      <a:pt x="872" y="625"/>
                    </a:cubicBezTo>
                    <a:cubicBezTo>
                      <a:pt x="866" y="672"/>
                      <a:pt x="783" y="763"/>
                      <a:pt x="732" y="774"/>
                    </a:cubicBezTo>
                    <a:cubicBezTo>
                      <a:pt x="681" y="785"/>
                      <a:pt x="590" y="757"/>
                      <a:pt x="567" y="692"/>
                    </a:cubicBezTo>
                    <a:cubicBezTo>
                      <a:pt x="544" y="627"/>
                      <a:pt x="535" y="476"/>
                      <a:pt x="592" y="387"/>
                    </a:cubicBezTo>
                    <a:cubicBezTo>
                      <a:pt x="649" y="298"/>
                      <a:pt x="796" y="225"/>
                      <a:pt x="910" y="161"/>
                    </a:cubicBezTo>
                    <a:cubicBezTo>
                      <a:pt x="1024" y="97"/>
                      <a:pt x="1199" y="34"/>
                      <a:pt x="1275" y="0"/>
                    </a:cubicBez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grpSp>
          <p:nvGrpSpPr>
            <p:cNvPr id="68660" name="Group 10"/>
            <p:cNvGrpSpPr/>
            <p:nvPr/>
          </p:nvGrpSpPr>
          <p:grpSpPr>
            <a:xfrm rot="4579583">
              <a:off x="4369" y="1430"/>
              <a:ext cx="189" cy="188"/>
              <a:chOff x="3061" y="1797"/>
              <a:chExt cx="1724" cy="1724"/>
            </a:xfrm>
          </p:grpSpPr>
          <p:sp>
            <p:nvSpPr>
              <p:cNvPr id="68680" name="Oval 11"/>
              <p:cNvSpPr/>
              <p:nvPr/>
            </p:nvSpPr>
            <p:spPr>
              <a:xfrm>
                <a:off x="3061" y="1797"/>
                <a:ext cx="1724" cy="1724"/>
              </a:xfrm>
              <a:prstGeom prst="ellipse">
                <a:avLst/>
              </a:prstGeom>
              <a:solidFill>
                <a:schemeClr val="accent1"/>
              </a:solidFill>
              <a:ln w="9525" cap="flat" cmpd="sng">
                <a:solidFill>
                  <a:schemeClr val="tx1"/>
                </a:solidFill>
                <a:prstDash val="solid"/>
                <a:headEnd type="none" w="med" len="med"/>
                <a:tailEnd type="none" w="med" len="med"/>
              </a:ln>
            </p:spPr>
            <p:txBody>
              <a:bodyPr rot="10800000" vert="eaVert"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68681" name="Freeform 12"/>
              <p:cNvSpPr/>
              <p:nvPr/>
            </p:nvSpPr>
            <p:spPr>
              <a:xfrm>
                <a:off x="3259" y="2065"/>
                <a:ext cx="1275" cy="1144"/>
              </a:xfrm>
              <a:custGeom>
                <a:avLst/>
                <a:gdLst>
                  <a:gd name="txL" fmla="*/ 0 w 1275"/>
                  <a:gd name="txT" fmla="*/ 0 h 1144"/>
                  <a:gd name="txR" fmla="*/ 1275 w 1275"/>
                  <a:gd name="txB" fmla="*/ 1144 h 1144"/>
                </a:gdLst>
                <a:ahLst/>
                <a:cxnLst>
                  <a:cxn ang="0">
                    <a:pos x="0" y="1144"/>
                  </a:cxn>
                  <a:cxn ang="0">
                    <a:pos x="185" y="812"/>
                  </a:cxn>
                  <a:cxn ang="0">
                    <a:pos x="452" y="486"/>
                  </a:cxn>
                  <a:cxn ang="0">
                    <a:pos x="767" y="491"/>
                  </a:cxn>
                  <a:cxn ang="0">
                    <a:pos x="872" y="625"/>
                  </a:cxn>
                  <a:cxn ang="0">
                    <a:pos x="732" y="774"/>
                  </a:cxn>
                  <a:cxn ang="0">
                    <a:pos x="567" y="692"/>
                  </a:cxn>
                  <a:cxn ang="0">
                    <a:pos x="592" y="387"/>
                  </a:cxn>
                  <a:cxn ang="0">
                    <a:pos x="910" y="161"/>
                  </a:cxn>
                  <a:cxn ang="0">
                    <a:pos x="1275" y="0"/>
                  </a:cxn>
                </a:cxnLst>
                <a:rect l="txL" t="txT" r="txR" b="txB"/>
                <a:pathLst>
                  <a:path w="1275" h="1144">
                    <a:moveTo>
                      <a:pt x="0" y="1144"/>
                    </a:moveTo>
                    <a:cubicBezTo>
                      <a:pt x="31" y="1090"/>
                      <a:pt x="110" y="922"/>
                      <a:pt x="185" y="812"/>
                    </a:cubicBezTo>
                    <a:cubicBezTo>
                      <a:pt x="260" y="702"/>
                      <a:pt x="355" y="540"/>
                      <a:pt x="452" y="486"/>
                    </a:cubicBezTo>
                    <a:cubicBezTo>
                      <a:pt x="549" y="432"/>
                      <a:pt x="697" y="468"/>
                      <a:pt x="767" y="491"/>
                    </a:cubicBezTo>
                    <a:cubicBezTo>
                      <a:pt x="837" y="514"/>
                      <a:pt x="878" y="578"/>
                      <a:pt x="872" y="625"/>
                    </a:cubicBezTo>
                    <a:cubicBezTo>
                      <a:pt x="866" y="672"/>
                      <a:pt x="783" y="763"/>
                      <a:pt x="732" y="774"/>
                    </a:cubicBezTo>
                    <a:cubicBezTo>
                      <a:pt x="681" y="785"/>
                      <a:pt x="590" y="757"/>
                      <a:pt x="567" y="692"/>
                    </a:cubicBezTo>
                    <a:cubicBezTo>
                      <a:pt x="544" y="627"/>
                      <a:pt x="535" y="476"/>
                      <a:pt x="592" y="387"/>
                    </a:cubicBezTo>
                    <a:cubicBezTo>
                      <a:pt x="649" y="298"/>
                      <a:pt x="796" y="225"/>
                      <a:pt x="910" y="161"/>
                    </a:cubicBezTo>
                    <a:cubicBezTo>
                      <a:pt x="1024" y="97"/>
                      <a:pt x="1199" y="34"/>
                      <a:pt x="1275" y="0"/>
                    </a:cubicBez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grpSp>
          <p:nvGrpSpPr>
            <p:cNvPr id="68661" name="Group 13"/>
            <p:cNvGrpSpPr/>
            <p:nvPr/>
          </p:nvGrpSpPr>
          <p:grpSpPr>
            <a:xfrm rot="9523501">
              <a:off x="4558" y="2307"/>
              <a:ext cx="189" cy="189"/>
              <a:chOff x="3061" y="1797"/>
              <a:chExt cx="1724" cy="1724"/>
            </a:xfrm>
          </p:grpSpPr>
          <p:sp>
            <p:nvSpPr>
              <p:cNvPr id="68678" name="Oval 14"/>
              <p:cNvSpPr/>
              <p:nvPr/>
            </p:nvSpPr>
            <p:spPr>
              <a:xfrm>
                <a:off x="3061" y="1797"/>
                <a:ext cx="1724" cy="1724"/>
              </a:xfrm>
              <a:prstGeom prst="ellipse">
                <a:avLst/>
              </a:prstGeom>
              <a:solidFill>
                <a:schemeClr val="accent1"/>
              </a:solidFill>
              <a:ln w="9525" cap="flat" cmpd="sng">
                <a:solidFill>
                  <a:schemeClr val="tx1"/>
                </a:solidFill>
                <a:prstDash val="solid"/>
                <a:headEnd type="none" w="med" len="med"/>
                <a:tailEnd type="none" w="med" len="med"/>
              </a:ln>
            </p:spPr>
            <p:txBody>
              <a:bodyPr rot="10800000"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68679" name="Freeform 15"/>
              <p:cNvSpPr/>
              <p:nvPr/>
            </p:nvSpPr>
            <p:spPr>
              <a:xfrm>
                <a:off x="3259" y="2065"/>
                <a:ext cx="1275" cy="1144"/>
              </a:xfrm>
              <a:custGeom>
                <a:avLst/>
                <a:gdLst>
                  <a:gd name="txL" fmla="*/ 0 w 1275"/>
                  <a:gd name="txT" fmla="*/ 0 h 1144"/>
                  <a:gd name="txR" fmla="*/ 1275 w 1275"/>
                  <a:gd name="txB" fmla="*/ 1144 h 1144"/>
                </a:gdLst>
                <a:ahLst/>
                <a:cxnLst>
                  <a:cxn ang="0">
                    <a:pos x="0" y="1144"/>
                  </a:cxn>
                  <a:cxn ang="0">
                    <a:pos x="185" y="812"/>
                  </a:cxn>
                  <a:cxn ang="0">
                    <a:pos x="452" y="486"/>
                  </a:cxn>
                  <a:cxn ang="0">
                    <a:pos x="767" y="491"/>
                  </a:cxn>
                  <a:cxn ang="0">
                    <a:pos x="872" y="625"/>
                  </a:cxn>
                  <a:cxn ang="0">
                    <a:pos x="732" y="774"/>
                  </a:cxn>
                  <a:cxn ang="0">
                    <a:pos x="567" y="692"/>
                  </a:cxn>
                  <a:cxn ang="0">
                    <a:pos x="592" y="387"/>
                  </a:cxn>
                  <a:cxn ang="0">
                    <a:pos x="910" y="161"/>
                  </a:cxn>
                  <a:cxn ang="0">
                    <a:pos x="1275" y="0"/>
                  </a:cxn>
                </a:cxnLst>
                <a:rect l="txL" t="txT" r="txR" b="txB"/>
                <a:pathLst>
                  <a:path w="1275" h="1144">
                    <a:moveTo>
                      <a:pt x="0" y="1144"/>
                    </a:moveTo>
                    <a:cubicBezTo>
                      <a:pt x="31" y="1090"/>
                      <a:pt x="110" y="922"/>
                      <a:pt x="185" y="812"/>
                    </a:cubicBezTo>
                    <a:cubicBezTo>
                      <a:pt x="260" y="702"/>
                      <a:pt x="355" y="540"/>
                      <a:pt x="452" y="486"/>
                    </a:cubicBezTo>
                    <a:cubicBezTo>
                      <a:pt x="549" y="432"/>
                      <a:pt x="697" y="468"/>
                      <a:pt x="767" y="491"/>
                    </a:cubicBezTo>
                    <a:cubicBezTo>
                      <a:pt x="837" y="514"/>
                      <a:pt x="878" y="578"/>
                      <a:pt x="872" y="625"/>
                    </a:cubicBezTo>
                    <a:cubicBezTo>
                      <a:pt x="866" y="672"/>
                      <a:pt x="783" y="763"/>
                      <a:pt x="732" y="774"/>
                    </a:cubicBezTo>
                    <a:cubicBezTo>
                      <a:pt x="681" y="785"/>
                      <a:pt x="590" y="757"/>
                      <a:pt x="567" y="692"/>
                    </a:cubicBezTo>
                    <a:cubicBezTo>
                      <a:pt x="544" y="627"/>
                      <a:pt x="535" y="476"/>
                      <a:pt x="592" y="387"/>
                    </a:cubicBezTo>
                    <a:cubicBezTo>
                      <a:pt x="649" y="298"/>
                      <a:pt x="796" y="225"/>
                      <a:pt x="910" y="161"/>
                    </a:cubicBezTo>
                    <a:cubicBezTo>
                      <a:pt x="1024" y="97"/>
                      <a:pt x="1199" y="34"/>
                      <a:pt x="1275" y="0"/>
                    </a:cubicBez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grpSp>
          <p:nvGrpSpPr>
            <p:cNvPr id="68662" name="Group 16"/>
            <p:cNvGrpSpPr/>
            <p:nvPr/>
          </p:nvGrpSpPr>
          <p:grpSpPr>
            <a:xfrm rot="-7624351">
              <a:off x="3838" y="2621"/>
              <a:ext cx="189" cy="189"/>
              <a:chOff x="3061" y="1797"/>
              <a:chExt cx="1724" cy="1724"/>
            </a:xfrm>
          </p:grpSpPr>
          <p:sp>
            <p:nvSpPr>
              <p:cNvPr id="68676" name="Oval 17"/>
              <p:cNvSpPr/>
              <p:nvPr/>
            </p:nvSpPr>
            <p:spPr>
              <a:xfrm>
                <a:off x="3061" y="1797"/>
                <a:ext cx="1724" cy="1724"/>
              </a:xfrm>
              <a:prstGeom prst="ellipse">
                <a:avLst/>
              </a:prstGeom>
              <a:solidFill>
                <a:schemeClr val="accent1"/>
              </a:solidFill>
              <a:ln w="9525" cap="flat" cmpd="sng">
                <a:solidFill>
                  <a:schemeClr val="tx1"/>
                </a:solidFill>
                <a:prstDash val="solid"/>
                <a:headEnd type="none" w="med" len="med"/>
                <a:tailEnd type="none" w="med" len="med"/>
              </a:ln>
            </p:spPr>
            <p:txBody>
              <a:bodyPr vert="eaVert"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68677" name="Freeform 18"/>
              <p:cNvSpPr/>
              <p:nvPr/>
            </p:nvSpPr>
            <p:spPr>
              <a:xfrm>
                <a:off x="3259" y="2065"/>
                <a:ext cx="1275" cy="1144"/>
              </a:xfrm>
              <a:custGeom>
                <a:avLst/>
                <a:gdLst>
                  <a:gd name="txL" fmla="*/ 0 w 1275"/>
                  <a:gd name="txT" fmla="*/ 0 h 1144"/>
                  <a:gd name="txR" fmla="*/ 1275 w 1275"/>
                  <a:gd name="txB" fmla="*/ 1144 h 1144"/>
                </a:gdLst>
                <a:ahLst/>
                <a:cxnLst>
                  <a:cxn ang="0">
                    <a:pos x="0" y="1144"/>
                  </a:cxn>
                  <a:cxn ang="0">
                    <a:pos x="185" y="812"/>
                  </a:cxn>
                  <a:cxn ang="0">
                    <a:pos x="452" y="486"/>
                  </a:cxn>
                  <a:cxn ang="0">
                    <a:pos x="767" y="491"/>
                  </a:cxn>
                  <a:cxn ang="0">
                    <a:pos x="872" y="625"/>
                  </a:cxn>
                  <a:cxn ang="0">
                    <a:pos x="732" y="774"/>
                  </a:cxn>
                  <a:cxn ang="0">
                    <a:pos x="567" y="692"/>
                  </a:cxn>
                  <a:cxn ang="0">
                    <a:pos x="592" y="387"/>
                  </a:cxn>
                  <a:cxn ang="0">
                    <a:pos x="910" y="161"/>
                  </a:cxn>
                  <a:cxn ang="0">
                    <a:pos x="1275" y="0"/>
                  </a:cxn>
                </a:cxnLst>
                <a:rect l="txL" t="txT" r="txR" b="txB"/>
                <a:pathLst>
                  <a:path w="1275" h="1144">
                    <a:moveTo>
                      <a:pt x="0" y="1144"/>
                    </a:moveTo>
                    <a:cubicBezTo>
                      <a:pt x="31" y="1090"/>
                      <a:pt x="110" y="922"/>
                      <a:pt x="185" y="812"/>
                    </a:cubicBezTo>
                    <a:cubicBezTo>
                      <a:pt x="260" y="702"/>
                      <a:pt x="355" y="540"/>
                      <a:pt x="452" y="486"/>
                    </a:cubicBezTo>
                    <a:cubicBezTo>
                      <a:pt x="549" y="432"/>
                      <a:pt x="697" y="468"/>
                      <a:pt x="767" y="491"/>
                    </a:cubicBezTo>
                    <a:cubicBezTo>
                      <a:pt x="837" y="514"/>
                      <a:pt x="878" y="578"/>
                      <a:pt x="872" y="625"/>
                    </a:cubicBezTo>
                    <a:cubicBezTo>
                      <a:pt x="866" y="672"/>
                      <a:pt x="783" y="763"/>
                      <a:pt x="732" y="774"/>
                    </a:cubicBezTo>
                    <a:cubicBezTo>
                      <a:pt x="681" y="785"/>
                      <a:pt x="590" y="757"/>
                      <a:pt x="567" y="692"/>
                    </a:cubicBezTo>
                    <a:cubicBezTo>
                      <a:pt x="544" y="627"/>
                      <a:pt x="535" y="476"/>
                      <a:pt x="592" y="387"/>
                    </a:cubicBezTo>
                    <a:cubicBezTo>
                      <a:pt x="649" y="298"/>
                      <a:pt x="796" y="225"/>
                      <a:pt x="910" y="161"/>
                    </a:cubicBezTo>
                    <a:cubicBezTo>
                      <a:pt x="1024" y="97"/>
                      <a:pt x="1199" y="34"/>
                      <a:pt x="1275" y="0"/>
                    </a:cubicBez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grpSp>
          <p:nvGrpSpPr>
            <p:cNvPr id="68663" name="Group 19"/>
            <p:cNvGrpSpPr/>
            <p:nvPr/>
          </p:nvGrpSpPr>
          <p:grpSpPr>
            <a:xfrm>
              <a:off x="2960" y="1900"/>
              <a:ext cx="445" cy="455"/>
              <a:chOff x="2960" y="1900"/>
              <a:chExt cx="445" cy="455"/>
            </a:xfrm>
          </p:grpSpPr>
          <p:grpSp>
            <p:nvGrpSpPr>
              <p:cNvPr id="68668" name="Group 20"/>
              <p:cNvGrpSpPr/>
              <p:nvPr/>
            </p:nvGrpSpPr>
            <p:grpSpPr>
              <a:xfrm>
                <a:off x="3122" y="1995"/>
                <a:ext cx="183" cy="225"/>
                <a:chOff x="1605" y="2378"/>
                <a:chExt cx="311" cy="387"/>
              </a:xfrm>
            </p:grpSpPr>
            <p:sp>
              <p:nvSpPr>
                <p:cNvPr id="68674" name="Line 21"/>
                <p:cNvSpPr/>
                <p:nvPr/>
              </p:nvSpPr>
              <p:spPr>
                <a:xfrm>
                  <a:off x="1610" y="2387"/>
                  <a:ext cx="0" cy="363"/>
                </a:xfrm>
                <a:prstGeom prst="line">
                  <a:avLst/>
                </a:prstGeom>
                <a:ln w="9525" cap="flat" cmpd="sng">
                  <a:solidFill>
                    <a:schemeClr val="tx1"/>
                  </a:solidFill>
                  <a:prstDash val="solid"/>
                  <a:headEnd type="none" w="med" len="med"/>
                  <a:tailEnd type="none" w="med" len="med"/>
                </a:ln>
              </p:spPr>
            </p:sp>
            <p:sp>
              <p:nvSpPr>
                <p:cNvPr id="68675" name="Freeform 22"/>
                <p:cNvSpPr/>
                <p:nvPr/>
              </p:nvSpPr>
              <p:spPr>
                <a:xfrm>
                  <a:off x="1605" y="2378"/>
                  <a:ext cx="311" cy="387"/>
                </a:xfrm>
                <a:custGeom>
                  <a:avLst/>
                  <a:gdLst>
                    <a:gd name="txL" fmla="*/ 0 w 311"/>
                    <a:gd name="txT" fmla="*/ 0 h 387"/>
                    <a:gd name="txR" fmla="*/ 311 w 311"/>
                    <a:gd name="txB" fmla="*/ 387 h 387"/>
                  </a:gdLst>
                  <a:ahLst/>
                  <a:cxnLst>
                    <a:cxn ang="0">
                      <a:pos x="0" y="0"/>
                    </a:cxn>
                    <a:cxn ang="0">
                      <a:pos x="131" y="33"/>
                    </a:cxn>
                    <a:cxn ang="0">
                      <a:pos x="288" y="123"/>
                    </a:cxn>
                    <a:cxn ang="0">
                      <a:pos x="271" y="288"/>
                    </a:cxn>
                    <a:cxn ang="0">
                      <a:pos x="131" y="362"/>
                    </a:cxn>
                    <a:cxn ang="0">
                      <a:pos x="5" y="387"/>
                    </a:cxn>
                  </a:cxnLst>
                  <a:rect l="txL" t="txT" r="txR" b="txB"/>
                  <a:pathLst>
                    <a:path w="311" h="387">
                      <a:moveTo>
                        <a:pt x="0" y="0"/>
                      </a:moveTo>
                      <a:cubicBezTo>
                        <a:pt x="22" y="4"/>
                        <a:pt x="83" y="12"/>
                        <a:pt x="131" y="33"/>
                      </a:cubicBezTo>
                      <a:cubicBezTo>
                        <a:pt x="179" y="54"/>
                        <a:pt x="265" y="81"/>
                        <a:pt x="288" y="123"/>
                      </a:cubicBezTo>
                      <a:cubicBezTo>
                        <a:pt x="311" y="165"/>
                        <a:pt x="297" y="248"/>
                        <a:pt x="271" y="288"/>
                      </a:cubicBezTo>
                      <a:cubicBezTo>
                        <a:pt x="245" y="328"/>
                        <a:pt x="175" y="346"/>
                        <a:pt x="131" y="362"/>
                      </a:cubicBezTo>
                      <a:cubicBezTo>
                        <a:pt x="87" y="378"/>
                        <a:pt x="31" y="382"/>
                        <a:pt x="5" y="387"/>
                      </a:cubicBezTo>
                    </a:path>
                  </a:pathLst>
                </a:custGeom>
                <a:solidFill>
                  <a:schemeClr val="accent1">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grpSp>
          <p:sp>
            <p:nvSpPr>
              <p:cNvPr id="68669" name="Line 23"/>
              <p:cNvSpPr/>
              <p:nvPr/>
            </p:nvSpPr>
            <p:spPr>
              <a:xfrm>
                <a:off x="3055" y="2057"/>
                <a:ext cx="63" cy="0"/>
              </a:xfrm>
              <a:prstGeom prst="line">
                <a:avLst/>
              </a:prstGeom>
              <a:ln w="9525" cap="flat" cmpd="sng">
                <a:solidFill>
                  <a:schemeClr val="tx1"/>
                </a:solidFill>
                <a:prstDash val="solid"/>
                <a:headEnd type="none" w="med" len="med"/>
                <a:tailEnd type="none" w="med" len="med"/>
              </a:ln>
            </p:spPr>
          </p:sp>
          <p:sp>
            <p:nvSpPr>
              <p:cNvPr id="68670" name="Line 24"/>
              <p:cNvSpPr/>
              <p:nvPr/>
            </p:nvSpPr>
            <p:spPr>
              <a:xfrm>
                <a:off x="3055" y="2151"/>
                <a:ext cx="63" cy="0"/>
              </a:xfrm>
              <a:prstGeom prst="line">
                <a:avLst/>
              </a:prstGeom>
              <a:ln w="9525" cap="flat" cmpd="sng">
                <a:solidFill>
                  <a:schemeClr val="tx1"/>
                </a:solidFill>
                <a:prstDash val="solid"/>
                <a:headEnd type="none" w="med" len="med"/>
                <a:tailEnd type="none" w="med" len="med"/>
              </a:ln>
            </p:spPr>
          </p:sp>
          <p:sp>
            <p:nvSpPr>
              <p:cNvPr id="68671" name="Line 25"/>
              <p:cNvSpPr/>
              <p:nvPr/>
            </p:nvSpPr>
            <p:spPr>
              <a:xfrm>
                <a:off x="3305" y="2089"/>
                <a:ext cx="94" cy="0"/>
              </a:xfrm>
              <a:prstGeom prst="line">
                <a:avLst/>
              </a:prstGeom>
              <a:ln w="9525" cap="flat" cmpd="sng">
                <a:solidFill>
                  <a:schemeClr val="tx1"/>
                </a:solidFill>
                <a:prstDash val="solid"/>
                <a:headEnd type="none" w="med" len="med"/>
                <a:tailEnd type="none" w="med" len="med"/>
              </a:ln>
            </p:spPr>
          </p:sp>
          <p:sp>
            <p:nvSpPr>
              <p:cNvPr id="68672" name="Freeform 26"/>
              <p:cNvSpPr/>
              <p:nvPr/>
            </p:nvSpPr>
            <p:spPr>
              <a:xfrm>
                <a:off x="3303" y="2136"/>
                <a:ext cx="102" cy="1"/>
              </a:xfrm>
              <a:custGeom>
                <a:avLst/>
                <a:gdLst>
                  <a:gd name="txL" fmla="*/ 0 w 148"/>
                  <a:gd name="txT" fmla="*/ 0 h 1"/>
                  <a:gd name="txR" fmla="*/ 148 w 148"/>
                  <a:gd name="txB" fmla="*/ 1 h 1"/>
                </a:gdLst>
                <a:ahLst/>
                <a:cxnLst>
                  <a:cxn ang="0">
                    <a:pos x="0" y="0"/>
                  </a:cxn>
                  <a:cxn ang="0">
                    <a:pos x="1" y="0"/>
                  </a:cxn>
                </a:cxnLst>
                <a:rect l="txL" t="txT" r="txR" b="txB"/>
                <a:pathLst>
                  <a:path w="148" h="1">
                    <a:moveTo>
                      <a:pt x="0" y="0"/>
                    </a:moveTo>
                    <a:lnTo>
                      <a:pt x="148"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8673" name="Text Box 27"/>
              <p:cNvSpPr txBox="1"/>
              <p:nvPr/>
            </p:nvSpPr>
            <p:spPr>
              <a:xfrm>
                <a:off x="2960" y="1900"/>
                <a:ext cx="158" cy="4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dirty="0">
                    <a:cs typeface="Arial" panose="020B0604020202020204" pitchFamily="34" charset="0"/>
                  </a:rPr>
                  <a:t>+</a:t>
                </a:r>
                <a:endParaRPr lang="en-US" altLang="zh-CN" sz="1800" dirty="0">
                  <a:cs typeface="Arial" panose="020B0604020202020204" pitchFamily="34" charset="0"/>
                </a:endParaRPr>
              </a:p>
              <a:p>
                <a:pPr marL="0" lvl="0" indent="0" eaLnBrk="1" hangingPunct="1">
                  <a:spcBef>
                    <a:spcPct val="50000"/>
                  </a:spcBef>
                  <a:buClrTx/>
                  <a:buSzTx/>
                  <a:buFontTx/>
                  <a:buNone/>
                </a:pPr>
                <a:r>
                  <a:rPr lang="en-US" altLang="zh-CN" sz="1800" dirty="0">
                    <a:cs typeface="Arial" panose="020B0604020202020204" pitchFamily="34" charset="0"/>
                  </a:rPr>
                  <a:t>_</a:t>
                </a:r>
                <a:endParaRPr lang="en-US" altLang="zh-CN" sz="1800" dirty="0">
                  <a:ea typeface="Arial" panose="020B0604020202020204" pitchFamily="34" charset="0"/>
                </a:endParaRPr>
              </a:p>
            </p:txBody>
          </p:sp>
        </p:grpSp>
        <p:sp>
          <p:nvSpPr>
            <p:cNvPr id="68664" name="Text Box 28"/>
            <p:cNvSpPr txBox="1"/>
            <p:nvPr/>
          </p:nvSpPr>
          <p:spPr>
            <a:xfrm>
              <a:off x="3494" y="1302"/>
              <a:ext cx="186" cy="21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dirty="0">
                  <a:cs typeface="Arial" panose="020B0604020202020204" pitchFamily="34" charset="0"/>
                </a:rPr>
                <a:t>1</a:t>
              </a:r>
              <a:endParaRPr lang="en-US" altLang="zh-CN" sz="1800" dirty="0">
                <a:ea typeface="Arial" panose="020B0604020202020204" pitchFamily="34" charset="0"/>
              </a:endParaRPr>
            </a:p>
          </p:txBody>
        </p:sp>
        <p:sp>
          <p:nvSpPr>
            <p:cNvPr id="68665" name="Text Box 29"/>
            <p:cNvSpPr txBox="1"/>
            <p:nvPr/>
          </p:nvSpPr>
          <p:spPr>
            <a:xfrm>
              <a:off x="4527" y="1273"/>
              <a:ext cx="188" cy="21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dirty="0">
                  <a:cs typeface="Arial" panose="020B0604020202020204" pitchFamily="34" charset="0"/>
                </a:rPr>
                <a:t>2</a:t>
              </a:r>
              <a:endParaRPr lang="en-US" altLang="zh-CN" sz="1800" dirty="0">
                <a:ea typeface="Arial" panose="020B0604020202020204" pitchFamily="34" charset="0"/>
              </a:endParaRPr>
            </a:p>
          </p:txBody>
        </p:sp>
        <p:sp>
          <p:nvSpPr>
            <p:cNvPr id="68666" name="Text Box 30"/>
            <p:cNvSpPr txBox="1"/>
            <p:nvPr/>
          </p:nvSpPr>
          <p:spPr>
            <a:xfrm>
              <a:off x="4778" y="2430"/>
              <a:ext cx="188" cy="21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dirty="0">
                  <a:cs typeface="Arial" panose="020B0604020202020204" pitchFamily="34" charset="0"/>
                </a:rPr>
                <a:t>3</a:t>
              </a:r>
              <a:endParaRPr lang="en-US" altLang="zh-CN" sz="1800" dirty="0">
                <a:ea typeface="Arial" panose="020B0604020202020204" pitchFamily="34" charset="0"/>
              </a:endParaRPr>
            </a:p>
          </p:txBody>
        </p:sp>
        <p:sp>
          <p:nvSpPr>
            <p:cNvPr id="68667" name="Freeform 31"/>
            <p:cNvSpPr/>
            <p:nvPr/>
          </p:nvSpPr>
          <p:spPr>
            <a:xfrm>
              <a:off x="4246" y="2621"/>
              <a:ext cx="125" cy="63"/>
            </a:xfrm>
            <a:custGeom>
              <a:avLst/>
              <a:gdLst>
                <a:gd name="txL" fmla="*/ 0 w 289"/>
                <a:gd name="txT" fmla="*/ 0 h 192"/>
                <a:gd name="txR" fmla="*/ 289 w 289"/>
                <a:gd name="txB" fmla="*/ 192 h 192"/>
              </a:gdLst>
              <a:ahLst/>
              <a:cxnLst>
                <a:cxn ang="0">
                  <a:pos x="0" y="0"/>
                </a:cxn>
                <a:cxn ang="0">
                  <a:pos x="0" y="0"/>
                </a:cxn>
                <a:cxn ang="0">
                  <a:pos x="0" y="0"/>
                </a:cxn>
              </a:cxnLst>
              <a:rect l="txL" t="txT" r="txR" b="txB"/>
              <a:pathLst>
                <a:path w="289" h="192">
                  <a:moveTo>
                    <a:pt x="0" y="192"/>
                  </a:moveTo>
                  <a:cubicBezTo>
                    <a:pt x="26" y="178"/>
                    <a:pt x="109" y="139"/>
                    <a:pt x="157" y="107"/>
                  </a:cubicBezTo>
                  <a:cubicBezTo>
                    <a:pt x="205" y="75"/>
                    <a:pt x="262" y="22"/>
                    <a:pt x="289" y="0"/>
                  </a:cubicBezTo>
                </a:path>
              </a:pathLst>
            </a:custGeom>
            <a:noFill/>
            <a:ln w="9525" cap="flat" cmpd="sng">
              <a:solidFill>
                <a:schemeClr val="tx1">
                  <a:alpha val="100000"/>
                </a:schemeClr>
              </a:solidFill>
              <a:prstDash val="lgDash"/>
              <a:round/>
              <a:headEnd type="none" w="med" len="med"/>
              <a:tailEnd type="none" w="med" len="med"/>
            </a:ln>
          </p:spPr>
          <p:txBody>
            <a:bodyPr/>
            <a:p>
              <a:endParaRPr lang="zh-CN" altLang="en-US"/>
            </a:p>
          </p:txBody>
        </p:sp>
      </p:grpSp>
      <p:grpSp>
        <p:nvGrpSpPr>
          <p:cNvPr id="68613" name="Group 32"/>
          <p:cNvGrpSpPr/>
          <p:nvPr/>
        </p:nvGrpSpPr>
        <p:grpSpPr>
          <a:xfrm>
            <a:off x="552450" y="2708275"/>
            <a:ext cx="4524375" cy="2155825"/>
            <a:chOff x="348" y="1797"/>
            <a:chExt cx="2850" cy="1268"/>
          </a:xfrm>
        </p:grpSpPr>
        <p:sp>
          <p:nvSpPr>
            <p:cNvPr id="68617" name="Rectangle 33"/>
            <p:cNvSpPr/>
            <p:nvPr/>
          </p:nvSpPr>
          <p:spPr>
            <a:xfrm>
              <a:off x="793" y="1797"/>
              <a:ext cx="1769" cy="953"/>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grpSp>
          <p:nvGrpSpPr>
            <p:cNvPr id="68618" name="Group 34"/>
            <p:cNvGrpSpPr/>
            <p:nvPr/>
          </p:nvGrpSpPr>
          <p:grpSpPr>
            <a:xfrm>
              <a:off x="1111" y="1798"/>
              <a:ext cx="238" cy="952"/>
              <a:chOff x="1565" y="1752"/>
              <a:chExt cx="532" cy="2132"/>
            </a:xfrm>
          </p:grpSpPr>
          <p:grpSp>
            <p:nvGrpSpPr>
              <p:cNvPr id="68652" name="Group 35"/>
              <p:cNvGrpSpPr/>
              <p:nvPr/>
            </p:nvGrpSpPr>
            <p:grpSpPr>
              <a:xfrm>
                <a:off x="1565" y="1752"/>
                <a:ext cx="532" cy="2132"/>
                <a:chOff x="1565" y="3158"/>
                <a:chExt cx="181" cy="726"/>
              </a:xfrm>
            </p:grpSpPr>
            <p:sp>
              <p:nvSpPr>
                <p:cNvPr id="68654" name="Oval 36"/>
                <p:cNvSpPr/>
                <p:nvPr/>
              </p:nvSpPr>
              <p:spPr>
                <a:xfrm>
                  <a:off x="1565" y="3430"/>
                  <a:ext cx="181" cy="182"/>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68655" name="Freeform 37"/>
                <p:cNvSpPr/>
                <p:nvPr/>
              </p:nvSpPr>
              <p:spPr>
                <a:xfrm>
                  <a:off x="1655" y="3158"/>
                  <a:ext cx="1" cy="272"/>
                </a:xfrm>
                <a:custGeom>
                  <a:avLst/>
                  <a:gdLst>
                    <a:gd name="txL" fmla="*/ 0 w 1"/>
                    <a:gd name="txT" fmla="*/ 0 h 272"/>
                    <a:gd name="txR" fmla="*/ 1 w 1"/>
                    <a:gd name="txB" fmla="*/ 272 h 272"/>
                  </a:gdLst>
                  <a:ahLst/>
                  <a:cxnLst>
                    <a:cxn ang="0">
                      <a:pos x="0" y="272"/>
                    </a:cxn>
                    <a:cxn ang="0">
                      <a:pos x="0" y="0"/>
                    </a:cxn>
                  </a:cxnLst>
                  <a:rect l="txL" t="txT" r="txR" b="txB"/>
                  <a:pathLst>
                    <a:path w="1" h="272">
                      <a:moveTo>
                        <a:pt x="0" y="272"/>
                      </a:moveTo>
                      <a:lnTo>
                        <a:pt x="0"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8656" name="Freeform 38"/>
                <p:cNvSpPr/>
                <p:nvPr/>
              </p:nvSpPr>
              <p:spPr>
                <a:xfrm>
                  <a:off x="1655" y="3612"/>
                  <a:ext cx="1" cy="272"/>
                </a:xfrm>
                <a:custGeom>
                  <a:avLst/>
                  <a:gdLst>
                    <a:gd name="txL" fmla="*/ 0 w 1"/>
                    <a:gd name="txT" fmla="*/ 0 h 272"/>
                    <a:gd name="txR" fmla="*/ 1 w 1"/>
                    <a:gd name="txB" fmla="*/ 272 h 272"/>
                  </a:gdLst>
                  <a:ahLst/>
                  <a:cxnLst>
                    <a:cxn ang="0">
                      <a:pos x="0" y="272"/>
                    </a:cxn>
                    <a:cxn ang="0">
                      <a:pos x="0" y="0"/>
                    </a:cxn>
                  </a:cxnLst>
                  <a:rect l="txL" t="txT" r="txR" b="txB"/>
                  <a:pathLst>
                    <a:path w="1" h="272">
                      <a:moveTo>
                        <a:pt x="0" y="272"/>
                      </a:moveTo>
                      <a:lnTo>
                        <a:pt x="0"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sp>
            <p:nvSpPr>
              <p:cNvPr id="68653" name="Freeform 39"/>
              <p:cNvSpPr/>
              <p:nvPr/>
            </p:nvSpPr>
            <p:spPr>
              <a:xfrm>
                <a:off x="1818" y="2568"/>
                <a:ext cx="155" cy="499"/>
              </a:xfrm>
              <a:custGeom>
                <a:avLst/>
                <a:gdLst>
                  <a:gd name="txL" fmla="*/ 0 w 140"/>
                  <a:gd name="txT" fmla="*/ 0 h 499"/>
                  <a:gd name="txR" fmla="*/ 140 w 140"/>
                  <a:gd name="txB" fmla="*/ 499 h 499"/>
                </a:gdLst>
                <a:ahLst/>
                <a:cxnLst>
                  <a:cxn ang="0">
                    <a:pos x="324" y="0"/>
                  </a:cxn>
                  <a:cxn ang="0">
                    <a:pos x="324" y="182"/>
                  </a:cxn>
                  <a:cxn ang="0">
                    <a:pos x="324" y="272"/>
                  </a:cxn>
                  <a:cxn ang="0">
                    <a:pos x="2004" y="287"/>
                  </a:cxn>
                  <a:cxn ang="0">
                    <a:pos x="2143" y="197"/>
                  </a:cxn>
                  <a:cxn ang="0">
                    <a:pos x="293" y="230"/>
                  </a:cxn>
                  <a:cxn ang="0">
                    <a:pos x="324" y="499"/>
                  </a:cxn>
                </a:cxnLst>
                <a:rect l="txL" t="txT" r="txR" b="txB"/>
                <a:pathLst>
                  <a:path w="140" h="499">
                    <a:moveTo>
                      <a:pt x="19" y="0"/>
                    </a:moveTo>
                    <a:cubicBezTo>
                      <a:pt x="19" y="68"/>
                      <a:pt x="19" y="137"/>
                      <a:pt x="19" y="182"/>
                    </a:cubicBezTo>
                    <a:cubicBezTo>
                      <a:pt x="19" y="227"/>
                      <a:pt x="3" y="255"/>
                      <a:pt x="19" y="272"/>
                    </a:cubicBezTo>
                    <a:cubicBezTo>
                      <a:pt x="35" y="289"/>
                      <a:pt x="99" y="299"/>
                      <a:pt x="116" y="287"/>
                    </a:cubicBezTo>
                    <a:cubicBezTo>
                      <a:pt x="133" y="275"/>
                      <a:pt x="140" y="206"/>
                      <a:pt x="124" y="197"/>
                    </a:cubicBezTo>
                    <a:cubicBezTo>
                      <a:pt x="108" y="188"/>
                      <a:pt x="34" y="180"/>
                      <a:pt x="17" y="230"/>
                    </a:cubicBezTo>
                    <a:cubicBezTo>
                      <a:pt x="0" y="280"/>
                      <a:pt x="19" y="443"/>
                      <a:pt x="19" y="499"/>
                    </a:cubicBez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grpSp>
          <p:nvGrpSpPr>
            <p:cNvPr id="68619" name="Group 40"/>
            <p:cNvGrpSpPr/>
            <p:nvPr/>
          </p:nvGrpSpPr>
          <p:grpSpPr>
            <a:xfrm>
              <a:off x="1463" y="1798"/>
              <a:ext cx="238" cy="952"/>
              <a:chOff x="1565" y="1752"/>
              <a:chExt cx="532" cy="2132"/>
            </a:xfrm>
          </p:grpSpPr>
          <p:grpSp>
            <p:nvGrpSpPr>
              <p:cNvPr id="68647" name="Group 41"/>
              <p:cNvGrpSpPr/>
              <p:nvPr/>
            </p:nvGrpSpPr>
            <p:grpSpPr>
              <a:xfrm>
                <a:off x="1565" y="1752"/>
                <a:ext cx="532" cy="2132"/>
                <a:chOff x="1565" y="3158"/>
                <a:chExt cx="181" cy="726"/>
              </a:xfrm>
            </p:grpSpPr>
            <p:sp>
              <p:nvSpPr>
                <p:cNvPr id="68649" name="Oval 42"/>
                <p:cNvSpPr/>
                <p:nvPr/>
              </p:nvSpPr>
              <p:spPr>
                <a:xfrm>
                  <a:off x="1565" y="3430"/>
                  <a:ext cx="181" cy="182"/>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68650" name="Freeform 43"/>
                <p:cNvSpPr/>
                <p:nvPr/>
              </p:nvSpPr>
              <p:spPr>
                <a:xfrm>
                  <a:off x="1655" y="3158"/>
                  <a:ext cx="1" cy="272"/>
                </a:xfrm>
                <a:custGeom>
                  <a:avLst/>
                  <a:gdLst>
                    <a:gd name="txL" fmla="*/ 0 w 1"/>
                    <a:gd name="txT" fmla="*/ 0 h 272"/>
                    <a:gd name="txR" fmla="*/ 1 w 1"/>
                    <a:gd name="txB" fmla="*/ 272 h 272"/>
                  </a:gdLst>
                  <a:ahLst/>
                  <a:cxnLst>
                    <a:cxn ang="0">
                      <a:pos x="0" y="272"/>
                    </a:cxn>
                    <a:cxn ang="0">
                      <a:pos x="0" y="0"/>
                    </a:cxn>
                  </a:cxnLst>
                  <a:rect l="txL" t="txT" r="txR" b="txB"/>
                  <a:pathLst>
                    <a:path w="1" h="272">
                      <a:moveTo>
                        <a:pt x="0" y="272"/>
                      </a:moveTo>
                      <a:lnTo>
                        <a:pt x="0"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8651" name="Freeform 44"/>
                <p:cNvSpPr/>
                <p:nvPr/>
              </p:nvSpPr>
              <p:spPr>
                <a:xfrm>
                  <a:off x="1655" y="3612"/>
                  <a:ext cx="1" cy="272"/>
                </a:xfrm>
                <a:custGeom>
                  <a:avLst/>
                  <a:gdLst>
                    <a:gd name="txL" fmla="*/ 0 w 1"/>
                    <a:gd name="txT" fmla="*/ 0 h 272"/>
                    <a:gd name="txR" fmla="*/ 1 w 1"/>
                    <a:gd name="txB" fmla="*/ 272 h 272"/>
                  </a:gdLst>
                  <a:ahLst/>
                  <a:cxnLst>
                    <a:cxn ang="0">
                      <a:pos x="0" y="272"/>
                    </a:cxn>
                    <a:cxn ang="0">
                      <a:pos x="0" y="0"/>
                    </a:cxn>
                  </a:cxnLst>
                  <a:rect l="txL" t="txT" r="txR" b="txB"/>
                  <a:pathLst>
                    <a:path w="1" h="272">
                      <a:moveTo>
                        <a:pt x="0" y="272"/>
                      </a:moveTo>
                      <a:lnTo>
                        <a:pt x="0"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sp>
            <p:nvSpPr>
              <p:cNvPr id="68648" name="Freeform 45"/>
              <p:cNvSpPr/>
              <p:nvPr/>
            </p:nvSpPr>
            <p:spPr>
              <a:xfrm>
                <a:off x="1818" y="2568"/>
                <a:ext cx="155" cy="499"/>
              </a:xfrm>
              <a:custGeom>
                <a:avLst/>
                <a:gdLst>
                  <a:gd name="txL" fmla="*/ 0 w 140"/>
                  <a:gd name="txT" fmla="*/ 0 h 499"/>
                  <a:gd name="txR" fmla="*/ 140 w 140"/>
                  <a:gd name="txB" fmla="*/ 499 h 499"/>
                </a:gdLst>
                <a:ahLst/>
                <a:cxnLst>
                  <a:cxn ang="0">
                    <a:pos x="324" y="0"/>
                  </a:cxn>
                  <a:cxn ang="0">
                    <a:pos x="324" y="182"/>
                  </a:cxn>
                  <a:cxn ang="0">
                    <a:pos x="324" y="272"/>
                  </a:cxn>
                  <a:cxn ang="0">
                    <a:pos x="2004" y="287"/>
                  </a:cxn>
                  <a:cxn ang="0">
                    <a:pos x="2143" y="197"/>
                  </a:cxn>
                  <a:cxn ang="0">
                    <a:pos x="293" y="230"/>
                  </a:cxn>
                  <a:cxn ang="0">
                    <a:pos x="324" y="499"/>
                  </a:cxn>
                </a:cxnLst>
                <a:rect l="txL" t="txT" r="txR" b="txB"/>
                <a:pathLst>
                  <a:path w="140" h="499">
                    <a:moveTo>
                      <a:pt x="19" y="0"/>
                    </a:moveTo>
                    <a:cubicBezTo>
                      <a:pt x="19" y="68"/>
                      <a:pt x="19" y="137"/>
                      <a:pt x="19" y="182"/>
                    </a:cubicBezTo>
                    <a:cubicBezTo>
                      <a:pt x="19" y="227"/>
                      <a:pt x="3" y="255"/>
                      <a:pt x="19" y="272"/>
                    </a:cubicBezTo>
                    <a:cubicBezTo>
                      <a:pt x="35" y="289"/>
                      <a:pt x="99" y="299"/>
                      <a:pt x="116" y="287"/>
                    </a:cubicBezTo>
                    <a:cubicBezTo>
                      <a:pt x="133" y="275"/>
                      <a:pt x="140" y="206"/>
                      <a:pt x="124" y="197"/>
                    </a:cubicBezTo>
                    <a:cubicBezTo>
                      <a:pt x="108" y="188"/>
                      <a:pt x="34" y="180"/>
                      <a:pt x="17" y="230"/>
                    </a:cubicBezTo>
                    <a:cubicBezTo>
                      <a:pt x="0" y="280"/>
                      <a:pt x="19" y="443"/>
                      <a:pt x="19" y="499"/>
                    </a:cubicBez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grpSp>
          <p:nvGrpSpPr>
            <p:cNvPr id="68620" name="Group 46"/>
            <p:cNvGrpSpPr/>
            <p:nvPr/>
          </p:nvGrpSpPr>
          <p:grpSpPr>
            <a:xfrm>
              <a:off x="1826" y="1797"/>
              <a:ext cx="238" cy="952"/>
              <a:chOff x="1565" y="1752"/>
              <a:chExt cx="532" cy="2132"/>
            </a:xfrm>
          </p:grpSpPr>
          <p:grpSp>
            <p:nvGrpSpPr>
              <p:cNvPr id="68642" name="Group 47"/>
              <p:cNvGrpSpPr/>
              <p:nvPr/>
            </p:nvGrpSpPr>
            <p:grpSpPr>
              <a:xfrm>
                <a:off x="1565" y="1752"/>
                <a:ext cx="532" cy="2132"/>
                <a:chOff x="1565" y="3158"/>
                <a:chExt cx="181" cy="726"/>
              </a:xfrm>
            </p:grpSpPr>
            <p:sp>
              <p:nvSpPr>
                <p:cNvPr id="68644" name="Oval 48"/>
                <p:cNvSpPr/>
                <p:nvPr/>
              </p:nvSpPr>
              <p:spPr>
                <a:xfrm>
                  <a:off x="1565" y="3430"/>
                  <a:ext cx="181" cy="182"/>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68645" name="Freeform 49"/>
                <p:cNvSpPr/>
                <p:nvPr/>
              </p:nvSpPr>
              <p:spPr>
                <a:xfrm>
                  <a:off x="1655" y="3158"/>
                  <a:ext cx="1" cy="272"/>
                </a:xfrm>
                <a:custGeom>
                  <a:avLst/>
                  <a:gdLst>
                    <a:gd name="txL" fmla="*/ 0 w 1"/>
                    <a:gd name="txT" fmla="*/ 0 h 272"/>
                    <a:gd name="txR" fmla="*/ 1 w 1"/>
                    <a:gd name="txB" fmla="*/ 272 h 272"/>
                  </a:gdLst>
                  <a:ahLst/>
                  <a:cxnLst>
                    <a:cxn ang="0">
                      <a:pos x="0" y="272"/>
                    </a:cxn>
                    <a:cxn ang="0">
                      <a:pos x="0" y="0"/>
                    </a:cxn>
                  </a:cxnLst>
                  <a:rect l="txL" t="txT" r="txR" b="txB"/>
                  <a:pathLst>
                    <a:path w="1" h="272">
                      <a:moveTo>
                        <a:pt x="0" y="272"/>
                      </a:moveTo>
                      <a:lnTo>
                        <a:pt x="0"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8646" name="Freeform 50"/>
                <p:cNvSpPr/>
                <p:nvPr/>
              </p:nvSpPr>
              <p:spPr>
                <a:xfrm>
                  <a:off x="1655" y="3612"/>
                  <a:ext cx="1" cy="272"/>
                </a:xfrm>
                <a:custGeom>
                  <a:avLst/>
                  <a:gdLst>
                    <a:gd name="txL" fmla="*/ 0 w 1"/>
                    <a:gd name="txT" fmla="*/ 0 h 272"/>
                    <a:gd name="txR" fmla="*/ 1 w 1"/>
                    <a:gd name="txB" fmla="*/ 272 h 272"/>
                  </a:gdLst>
                  <a:ahLst/>
                  <a:cxnLst>
                    <a:cxn ang="0">
                      <a:pos x="0" y="272"/>
                    </a:cxn>
                    <a:cxn ang="0">
                      <a:pos x="0" y="0"/>
                    </a:cxn>
                  </a:cxnLst>
                  <a:rect l="txL" t="txT" r="txR" b="txB"/>
                  <a:pathLst>
                    <a:path w="1" h="272">
                      <a:moveTo>
                        <a:pt x="0" y="272"/>
                      </a:moveTo>
                      <a:lnTo>
                        <a:pt x="0"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sp>
            <p:nvSpPr>
              <p:cNvPr id="68643" name="Freeform 51"/>
              <p:cNvSpPr/>
              <p:nvPr/>
            </p:nvSpPr>
            <p:spPr>
              <a:xfrm>
                <a:off x="1818" y="2568"/>
                <a:ext cx="155" cy="499"/>
              </a:xfrm>
              <a:custGeom>
                <a:avLst/>
                <a:gdLst>
                  <a:gd name="txL" fmla="*/ 0 w 140"/>
                  <a:gd name="txT" fmla="*/ 0 h 499"/>
                  <a:gd name="txR" fmla="*/ 140 w 140"/>
                  <a:gd name="txB" fmla="*/ 499 h 499"/>
                </a:gdLst>
                <a:ahLst/>
                <a:cxnLst>
                  <a:cxn ang="0">
                    <a:pos x="324" y="0"/>
                  </a:cxn>
                  <a:cxn ang="0">
                    <a:pos x="324" y="182"/>
                  </a:cxn>
                  <a:cxn ang="0">
                    <a:pos x="324" y="272"/>
                  </a:cxn>
                  <a:cxn ang="0">
                    <a:pos x="2004" y="287"/>
                  </a:cxn>
                  <a:cxn ang="0">
                    <a:pos x="2143" y="197"/>
                  </a:cxn>
                  <a:cxn ang="0">
                    <a:pos x="293" y="230"/>
                  </a:cxn>
                  <a:cxn ang="0">
                    <a:pos x="324" y="499"/>
                  </a:cxn>
                </a:cxnLst>
                <a:rect l="txL" t="txT" r="txR" b="txB"/>
                <a:pathLst>
                  <a:path w="140" h="499">
                    <a:moveTo>
                      <a:pt x="19" y="0"/>
                    </a:moveTo>
                    <a:cubicBezTo>
                      <a:pt x="19" y="68"/>
                      <a:pt x="19" y="137"/>
                      <a:pt x="19" y="182"/>
                    </a:cubicBezTo>
                    <a:cubicBezTo>
                      <a:pt x="19" y="227"/>
                      <a:pt x="3" y="255"/>
                      <a:pt x="19" y="272"/>
                    </a:cubicBezTo>
                    <a:cubicBezTo>
                      <a:pt x="35" y="289"/>
                      <a:pt x="99" y="299"/>
                      <a:pt x="116" y="287"/>
                    </a:cubicBezTo>
                    <a:cubicBezTo>
                      <a:pt x="133" y="275"/>
                      <a:pt x="140" y="206"/>
                      <a:pt x="124" y="197"/>
                    </a:cubicBezTo>
                    <a:cubicBezTo>
                      <a:pt x="108" y="188"/>
                      <a:pt x="34" y="180"/>
                      <a:pt x="17" y="230"/>
                    </a:cubicBezTo>
                    <a:cubicBezTo>
                      <a:pt x="0" y="280"/>
                      <a:pt x="19" y="443"/>
                      <a:pt x="19" y="499"/>
                    </a:cubicBez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sp>
          <p:nvSpPr>
            <p:cNvPr id="68621" name="Text Box 52"/>
            <p:cNvSpPr txBox="1"/>
            <p:nvPr/>
          </p:nvSpPr>
          <p:spPr>
            <a:xfrm>
              <a:off x="2064" y="2160"/>
              <a:ext cx="226" cy="21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dirty="0">
                  <a:cs typeface="Arial" panose="020B0604020202020204" pitchFamily="34" charset="0"/>
                </a:rPr>
                <a:t>…</a:t>
              </a:r>
              <a:endParaRPr lang="en-US" altLang="zh-CN" sz="1800" dirty="0">
                <a:ea typeface="Arial" panose="020B0604020202020204" pitchFamily="34" charset="0"/>
              </a:endParaRPr>
            </a:p>
          </p:txBody>
        </p:sp>
        <p:grpSp>
          <p:nvGrpSpPr>
            <p:cNvPr id="68622" name="Group 53"/>
            <p:cNvGrpSpPr/>
            <p:nvPr/>
          </p:nvGrpSpPr>
          <p:grpSpPr>
            <a:xfrm rot="-3037310">
              <a:off x="2459" y="2170"/>
              <a:ext cx="217" cy="217"/>
              <a:chOff x="3061" y="1797"/>
              <a:chExt cx="1724" cy="1724"/>
            </a:xfrm>
          </p:grpSpPr>
          <p:sp>
            <p:nvSpPr>
              <p:cNvPr id="68640" name="Oval 54"/>
              <p:cNvSpPr/>
              <p:nvPr/>
            </p:nvSpPr>
            <p:spPr>
              <a:xfrm>
                <a:off x="3061" y="1797"/>
                <a:ext cx="1724" cy="1724"/>
              </a:xfrm>
              <a:prstGeom prst="ellipse">
                <a:avLst/>
              </a:prstGeom>
              <a:solidFill>
                <a:schemeClr val="accent1"/>
              </a:solidFill>
              <a:ln w="9525" cap="flat" cmpd="sng">
                <a:solidFill>
                  <a:schemeClr val="tx1"/>
                </a:solidFill>
                <a:prstDash val="solid"/>
                <a:headEnd type="none" w="med" len="med"/>
                <a:tailEnd type="none" w="med" len="med"/>
              </a:ln>
            </p:spPr>
            <p:txBody>
              <a:bodyPr vert="eaVert" wrap="none"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68641" name="Freeform 55"/>
              <p:cNvSpPr/>
              <p:nvPr/>
            </p:nvSpPr>
            <p:spPr>
              <a:xfrm>
                <a:off x="3259" y="2065"/>
                <a:ext cx="1275" cy="1144"/>
              </a:xfrm>
              <a:custGeom>
                <a:avLst/>
                <a:gdLst>
                  <a:gd name="txL" fmla="*/ 0 w 1275"/>
                  <a:gd name="txT" fmla="*/ 0 h 1144"/>
                  <a:gd name="txR" fmla="*/ 1275 w 1275"/>
                  <a:gd name="txB" fmla="*/ 1144 h 1144"/>
                </a:gdLst>
                <a:ahLst/>
                <a:cxnLst>
                  <a:cxn ang="0">
                    <a:pos x="0" y="1144"/>
                  </a:cxn>
                  <a:cxn ang="0">
                    <a:pos x="185" y="812"/>
                  </a:cxn>
                  <a:cxn ang="0">
                    <a:pos x="452" y="486"/>
                  </a:cxn>
                  <a:cxn ang="0">
                    <a:pos x="767" y="491"/>
                  </a:cxn>
                  <a:cxn ang="0">
                    <a:pos x="872" y="625"/>
                  </a:cxn>
                  <a:cxn ang="0">
                    <a:pos x="732" y="774"/>
                  </a:cxn>
                  <a:cxn ang="0">
                    <a:pos x="567" y="692"/>
                  </a:cxn>
                  <a:cxn ang="0">
                    <a:pos x="592" y="387"/>
                  </a:cxn>
                  <a:cxn ang="0">
                    <a:pos x="910" y="161"/>
                  </a:cxn>
                  <a:cxn ang="0">
                    <a:pos x="1275" y="0"/>
                  </a:cxn>
                </a:cxnLst>
                <a:rect l="txL" t="txT" r="txR" b="txB"/>
                <a:pathLst>
                  <a:path w="1275" h="1144">
                    <a:moveTo>
                      <a:pt x="0" y="1144"/>
                    </a:moveTo>
                    <a:cubicBezTo>
                      <a:pt x="31" y="1090"/>
                      <a:pt x="110" y="922"/>
                      <a:pt x="185" y="812"/>
                    </a:cubicBezTo>
                    <a:cubicBezTo>
                      <a:pt x="260" y="702"/>
                      <a:pt x="355" y="540"/>
                      <a:pt x="452" y="486"/>
                    </a:cubicBezTo>
                    <a:cubicBezTo>
                      <a:pt x="549" y="432"/>
                      <a:pt x="697" y="468"/>
                      <a:pt x="767" y="491"/>
                    </a:cubicBezTo>
                    <a:cubicBezTo>
                      <a:pt x="837" y="514"/>
                      <a:pt x="878" y="578"/>
                      <a:pt x="872" y="625"/>
                    </a:cubicBezTo>
                    <a:cubicBezTo>
                      <a:pt x="866" y="672"/>
                      <a:pt x="783" y="763"/>
                      <a:pt x="732" y="774"/>
                    </a:cubicBezTo>
                    <a:cubicBezTo>
                      <a:pt x="681" y="785"/>
                      <a:pt x="590" y="757"/>
                      <a:pt x="567" y="692"/>
                    </a:cubicBezTo>
                    <a:cubicBezTo>
                      <a:pt x="544" y="627"/>
                      <a:pt x="535" y="476"/>
                      <a:pt x="592" y="387"/>
                    </a:cubicBezTo>
                    <a:cubicBezTo>
                      <a:pt x="649" y="298"/>
                      <a:pt x="796" y="225"/>
                      <a:pt x="910" y="161"/>
                    </a:cubicBezTo>
                    <a:cubicBezTo>
                      <a:pt x="1024" y="97"/>
                      <a:pt x="1199" y="34"/>
                      <a:pt x="1275" y="0"/>
                    </a:cubicBez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sp>
          <p:nvSpPr>
            <p:cNvPr id="68623" name="Text Box 56"/>
            <p:cNvSpPr txBox="1"/>
            <p:nvPr/>
          </p:nvSpPr>
          <p:spPr>
            <a:xfrm>
              <a:off x="1066" y="1979"/>
              <a:ext cx="181" cy="21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dirty="0">
                  <a:cs typeface="Arial" panose="020B0604020202020204" pitchFamily="34" charset="0"/>
                </a:rPr>
                <a:t>1</a:t>
              </a:r>
              <a:endParaRPr lang="en-US" altLang="zh-CN" sz="1800" dirty="0">
                <a:ea typeface="Arial" panose="020B0604020202020204" pitchFamily="34" charset="0"/>
              </a:endParaRPr>
            </a:p>
          </p:txBody>
        </p:sp>
        <p:sp>
          <p:nvSpPr>
            <p:cNvPr id="68624" name="Text Box 57"/>
            <p:cNvSpPr txBox="1"/>
            <p:nvPr/>
          </p:nvSpPr>
          <p:spPr>
            <a:xfrm>
              <a:off x="1429" y="1974"/>
              <a:ext cx="181" cy="21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dirty="0">
                  <a:cs typeface="Arial" panose="020B0604020202020204" pitchFamily="34" charset="0"/>
                </a:rPr>
                <a:t>2</a:t>
              </a:r>
              <a:endParaRPr lang="en-US" altLang="zh-CN" sz="1800" dirty="0">
                <a:ea typeface="Arial" panose="020B0604020202020204" pitchFamily="34" charset="0"/>
              </a:endParaRPr>
            </a:p>
          </p:txBody>
        </p:sp>
        <p:sp>
          <p:nvSpPr>
            <p:cNvPr id="68625" name="Text Box 58"/>
            <p:cNvSpPr txBox="1"/>
            <p:nvPr/>
          </p:nvSpPr>
          <p:spPr>
            <a:xfrm>
              <a:off x="1791" y="1979"/>
              <a:ext cx="182" cy="21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dirty="0">
                  <a:cs typeface="Arial" panose="020B0604020202020204" pitchFamily="34" charset="0"/>
                </a:rPr>
                <a:t>3</a:t>
              </a:r>
              <a:endParaRPr lang="en-US" altLang="zh-CN" sz="1800" dirty="0">
                <a:ea typeface="Arial" panose="020B0604020202020204" pitchFamily="34" charset="0"/>
              </a:endParaRPr>
            </a:p>
          </p:txBody>
        </p:sp>
        <p:sp>
          <p:nvSpPr>
            <p:cNvPr id="68626" name="Text Box 59"/>
            <p:cNvSpPr txBox="1"/>
            <p:nvPr/>
          </p:nvSpPr>
          <p:spPr>
            <a:xfrm>
              <a:off x="2517" y="1979"/>
              <a:ext cx="227" cy="21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dirty="0">
                  <a:cs typeface="Arial" panose="020B0604020202020204" pitchFamily="34" charset="0"/>
                </a:rPr>
                <a:t>N</a:t>
              </a:r>
              <a:endParaRPr lang="en-US" altLang="zh-CN" sz="1800" dirty="0">
                <a:ea typeface="Arial" panose="020B0604020202020204" pitchFamily="34" charset="0"/>
              </a:endParaRPr>
            </a:p>
          </p:txBody>
        </p:sp>
        <p:sp>
          <p:nvSpPr>
            <p:cNvPr id="68627" name="Line 60"/>
            <p:cNvSpPr/>
            <p:nvPr/>
          </p:nvSpPr>
          <p:spPr>
            <a:xfrm flipH="1" flipV="1">
              <a:off x="2699" y="2432"/>
              <a:ext cx="181" cy="454"/>
            </a:xfrm>
            <a:prstGeom prst="line">
              <a:avLst/>
            </a:prstGeom>
            <a:ln w="9525" cap="flat" cmpd="sng">
              <a:solidFill>
                <a:schemeClr val="tx1"/>
              </a:solidFill>
              <a:prstDash val="solid"/>
              <a:headEnd type="none" w="med" len="med"/>
              <a:tailEnd type="triangle" w="med" len="med"/>
            </a:ln>
          </p:spPr>
        </p:sp>
        <p:sp>
          <p:nvSpPr>
            <p:cNvPr id="68628" name="Text Box 61"/>
            <p:cNvSpPr txBox="1"/>
            <p:nvPr/>
          </p:nvSpPr>
          <p:spPr>
            <a:xfrm>
              <a:off x="2608" y="2886"/>
              <a:ext cx="590" cy="17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400" dirty="0">
                  <a:cs typeface="Arial" panose="020B0604020202020204" pitchFamily="34" charset="0"/>
                </a:rPr>
                <a:t>Lamp</a:t>
              </a:r>
              <a:endParaRPr lang="en-US" altLang="zh-CN" sz="1400" dirty="0">
                <a:ea typeface="Arial" panose="020B0604020202020204" pitchFamily="34" charset="0"/>
              </a:endParaRPr>
            </a:p>
          </p:txBody>
        </p:sp>
        <p:grpSp>
          <p:nvGrpSpPr>
            <p:cNvPr id="68629" name="Group 62"/>
            <p:cNvGrpSpPr/>
            <p:nvPr/>
          </p:nvGrpSpPr>
          <p:grpSpPr>
            <a:xfrm>
              <a:off x="348" y="2024"/>
              <a:ext cx="445" cy="458"/>
              <a:chOff x="348" y="2077"/>
              <a:chExt cx="445" cy="458"/>
            </a:xfrm>
          </p:grpSpPr>
          <p:grpSp>
            <p:nvGrpSpPr>
              <p:cNvPr id="68630" name="Group 63"/>
              <p:cNvGrpSpPr/>
              <p:nvPr/>
            </p:nvGrpSpPr>
            <p:grpSpPr>
              <a:xfrm>
                <a:off x="348" y="2077"/>
                <a:ext cx="445" cy="458"/>
                <a:chOff x="2960" y="1900"/>
                <a:chExt cx="445" cy="458"/>
              </a:xfrm>
            </p:grpSpPr>
            <p:grpSp>
              <p:nvGrpSpPr>
                <p:cNvPr id="68632" name="Group 64"/>
                <p:cNvGrpSpPr/>
                <p:nvPr/>
              </p:nvGrpSpPr>
              <p:grpSpPr>
                <a:xfrm>
                  <a:off x="3122" y="1995"/>
                  <a:ext cx="183" cy="225"/>
                  <a:chOff x="1605" y="2378"/>
                  <a:chExt cx="311" cy="387"/>
                </a:xfrm>
              </p:grpSpPr>
              <p:sp>
                <p:nvSpPr>
                  <p:cNvPr id="68638" name="Line 65"/>
                  <p:cNvSpPr/>
                  <p:nvPr/>
                </p:nvSpPr>
                <p:spPr>
                  <a:xfrm>
                    <a:off x="1610" y="2387"/>
                    <a:ext cx="0" cy="363"/>
                  </a:xfrm>
                  <a:prstGeom prst="line">
                    <a:avLst/>
                  </a:prstGeom>
                  <a:ln w="9525" cap="flat" cmpd="sng">
                    <a:solidFill>
                      <a:schemeClr val="tx1"/>
                    </a:solidFill>
                    <a:prstDash val="solid"/>
                    <a:headEnd type="none" w="med" len="med"/>
                    <a:tailEnd type="none" w="med" len="med"/>
                  </a:ln>
                </p:spPr>
              </p:sp>
              <p:sp>
                <p:nvSpPr>
                  <p:cNvPr id="68639" name="Freeform 66"/>
                  <p:cNvSpPr/>
                  <p:nvPr/>
                </p:nvSpPr>
                <p:spPr>
                  <a:xfrm>
                    <a:off x="1605" y="2378"/>
                    <a:ext cx="311" cy="387"/>
                  </a:xfrm>
                  <a:custGeom>
                    <a:avLst/>
                    <a:gdLst>
                      <a:gd name="txL" fmla="*/ 0 w 311"/>
                      <a:gd name="txT" fmla="*/ 0 h 387"/>
                      <a:gd name="txR" fmla="*/ 311 w 311"/>
                      <a:gd name="txB" fmla="*/ 387 h 387"/>
                    </a:gdLst>
                    <a:ahLst/>
                    <a:cxnLst>
                      <a:cxn ang="0">
                        <a:pos x="0" y="0"/>
                      </a:cxn>
                      <a:cxn ang="0">
                        <a:pos x="131" y="33"/>
                      </a:cxn>
                      <a:cxn ang="0">
                        <a:pos x="288" y="123"/>
                      </a:cxn>
                      <a:cxn ang="0">
                        <a:pos x="271" y="288"/>
                      </a:cxn>
                      <a:cxn ang="0">
                        <a:pos x="131" y="362"/>
                      </a:cxn>
                      <a:cxn ang="0">
                        <a:pos x="5" y="387"/>
                      </a:cxn>
                    </a:cxnLst>
                    <a:rect l="txL" t="txT" r="txR" b="txB"/>
                    <a:pathLst>
                      <a:path w="311" h="387">
                        <a:moveTo>
                          <a:pt x="0" y="0"/>
                        </a:moveTo>
                        <a:cubicBezTo>
                          <a:pt x="22" y="4"/>
                          <a:pt x="83" y="12"/>
                          <a:pt x="131" y="33"/>
                        </a:cubicBezTo>
                        <a:cubicBezTo>
                          <a:pt x="179" y="54"/>
                          <a:pt x="265" y="81"/>
                          <a:pt x="288" y="123"/>
                        </a:cubicBezTo>
                        <a:cubicBezTo>
                          <a:pt x="311" y="165"/>
                          <a:pt x="297" y="248"/>
                          <a:pt x="271" y="288"/>
                        </a:cubicBezTo>
                        <a:cubicBezTo>
                          <a:pt x="245" y="328"/>
                          <a:pt x="175" y="346"/>
                          <a:pt x="131" y="362"/>
                        </a:cubicBezTo>
                        <a:cubicBezTo>
                          <a:pt x="87" y="378"/>
                          <a:pt x="31" y="382"/>
                          <a:pt x="5" y="387"/>
                        </a:cubicBezTo>
                      </a:path>
                    </a:pathLst>
                  </a:custGeom>
                  <a:solidFill>
                    <a:schemeClr val="accent1">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grpSp>
            <p:sp>
              <p:nvSpPr>
                <p:cNvPr id="68633" name="Line 67"/>
                <p:cNvSpPr/>
                <p:nvPr/>
              </p:nvSpPr>
              <p:spPr>
                <a:xfrm>
                  <a:off x="3055" y="2057"/>
                  <a:ext cx="63" cy="0"/>
                </a:xfrm>
                <a:prstGeom prst="line">
                  <a:avLst/>
                </a:prstGeom>
                <a:ln w="9525" cap="flat" cmpd="sng">
                  <a:solidFill>
                    <a:schemeClr val="tx1"/>
                  </a:solidFill>
                  <a:prstDash val="solid"/>
                  <a:headEnd type="none" w="med" len="med"/>
                  <a:tailEnd type="none" w="med" len="med"/>
                </a:ln>
              </p:spPr>
            </p:sp>
            <p:sp>
              <p:nvSpPr>
                <p:cNvPr id="68634" name="Line 68"/>
                <p:cNvSpPr/>
                <p:nvPr/>
              </p:nvSpPr>
              <p:spPr>
                <a:xfrm>
                  <a:off x="3055" y="2151"/>
                  <a:ext cx="63" cy="0"/>
                </a:xfrm>
                <a:prstGeom prst="line">
                  <a:avLst/>
                </a:prstGeom>
                <a:ln w="9525" cap="flat" cmpd="sng">
                  <a:solidFill>
                    <a:schemeClr val="tx1"/>
                  </a:solidFill>
                  <a:prstDash val="solid"/>
                  <a:headEnd type="none" w="med" len="med"/>
                  <a:tailEnd type="none" w="med" len="med"/>
                </a:ln>
              </p:spPr>
            </p:sp>
            <p:sp>
              <p:nvSpPr>
                <p:cNvPr id="68635" name="Line 69"/>
                <p:cNvSpPr/>
                <p:nvPr/>
              </p:nvSpPr>
              <p:spPr>
                <a:xfrm>
                  <a:off x="3305" y="2089"/>
                  <a:ext cx="94" cy="0"/>
                </a:xfrm>
                <a:prstGeom prst="line">
                  <a:avLst/>
                </a:prstGeom>
                <a:ln w="9525" cap="flat" cmpd="sng">
                  <a:solidFill>
                    <a:schemeClr val="tx1"/>
                  </a:solidFill>
                  <a:prstDash val="solid"/>
                  <a:headEnd type="none" w="med" len="med"/>
                  <a:tailEnd type="none" w="med" len="med"/>
                </a:ln>
              </p:spPr>
            </p:sp>
            <p:sp>
              <p:nvSpPr>
                <p:cNvPr id="68636" name="Freeform 70"/>
                <p:cNvSpPr/>
                <p:nvPr/>
              </p:nvSpPr>
              <p:spPr>
                <a:xfrm>
                  <a:off x="3303" y="2136"/>
                  <a:ext cx="102" cy="1"/>
                </a:xfrm>
                <a:custGeom>
                  <a:avLst/>
                  <a:gdLst>
                    <a:gd name="txL" fmla="*/ 0 w 148"/>
                    <a:gd name="txT" fmla="*/ 0 h 1"/>
                    <a:gd name="txR" fmla="*/ 148 w 148"/>
                    <a:gd name="txB" fmla="*/ 1 h 1"/>
                  </a:gdLst>
                  <a:ahLst/>
                  <a:cxnLst>
                    <a:cxn ang="0">
                      <a:pos x="0" y="0"/>
                    </a:cxn>
                    <a:cxn ang="0">
                      <a:pos x="1" y="0"/>
                    </a:cxn>
                  </a:cxnLst>
                  <a:rect l="txL" t="txT" r="txR" b="txB"/>
                  <a:pathLst>
                    <a:path w="148" h="1">
                      <a:moveTo>
                        <a:pt x="0" y="0"/>
                      </a:moveTo>
                      <a:lnTo>
                        <a:pt x="148"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8637" name="Text Box 71"/>
                <p:cNvSpPr txBox="1"/>
                <p:nvPr/>
              </p:nvSpPr>
              <p:spPr>
                <a:xfrm>
                  <a:off x="2960" y="1900"/>
                  <a:ext cx="158" cy="45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dirty="0">
                      <a:cs typeface="Arial" panose="020B0604020202020204" pitchFamily="34" charset="0"/>
                    </a:rPr>
                    <a:t>+</a:t>
                  </a:r>
                  <a:endParaRPr lang="en-US" altLang="zh-CN" sz="1800" dirty="0">
                    <a:cs typeface="Arial" panose="020B0604020202020204" pitchFamily="34" charset="0"/>
                  </a:endParaRPr>
                </a:p>
                <a:p>
                  <a:pPr marL="0" lvl="0" indent="0" eaLnBrk="1" hangingPunct="1">
                    <a:spcBef>
                      <a:spcPct val="50000"/>
                    </a:spcBef>
                    <a:buClrTx/>
                    <a:buSzTx/>
                    <a:buFontTx/>
                    <a:buNone/>
                  </a:pPr>
                  <a:r>
                    <a:rPr lang="en-US" altLang="zh-CN" sz="1800" dirty="0">
                      <a:cs typeface="Arial" panose="020B0604020202020204" pitchFamily="34" charset="0"/>
                    </a:rPr>
                    <a:t>_</a:t>
                  </a:r>
                  <a:endParaRPr lang="en-US" altLang="zh-CN" sz="1800" dirty="0">
                    <a:ea typeface="Arial" panose="020B0604020202020204" pitchFamily="34" charset="0"/>
                  </a:endParaRPr>
                </a:p>
              </p:txBody>
            </p:sp>
          </p:grpSp>
          <p:sp>
            <p:nvSpPr>
              <p:cNvPr id="68631" name="Line 72"/>
              <p:cNvSpPr/>
              <p:nvPr/>
            </p:nvSpPr>
            <p:spPr>
              <a:xfrm>
                <a:off x="793" y="2251"/>
                <a:ext cx="0" cy="45"/>
              </a:xfrm>
              <a:prstGeom prst="line">
                <a:avLst/>
              </a:prstGeom>
              <a:ln w="9525" cap="flat" cmpd="sng">
                <a:solidFill>
                  <a:schemeClr val="bg1"/>
                </a:solidFill>
                <a:prstDash val="solid"/>
                <a:headEnd type="none" w="med" len="med"/>
                <a:tailEnd type="none" w="med" len="med"/>
              </a:ln>
            </p:spPr>
          </p:sp>
        </p:grpSp>
      </p:grpSp>
      <p:sp>
        <p:nvSpPr>
          <p:cNvPr id="68614" name="Text Box 73"/>
          <p:cNvSpPr txBox="1"/>
          <p:nvPr/>
        </p:nvSpPr>
        <p:spPr>
          <a:xfrm>
            <a:off x="323850" y="3933825"/>
            <a:ext cx="935038"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400" dirty="0">
                <a:cs typeface="Arial" panose="020B0604020202020204" pitchFamily="34" charset="0"/>
              </a:rPr>
              <a:t>Power plug</a:t>
            </a:r>
            <a:endParaRPr lang="en-US" altLang="zh-CN" sz="1400" dirty="0">
              <a:ea typeface="Arial" panose="020B0604020202020204" pitchFamily="34" charset="0"/>
            </a:endParaRPr>
          </a:p>
        </p:txBody>
      </p:sp>
      <p:sp>
        <p:nvSpPr>
          <p:cNvPr id="68615" name="Text Box 74"/>
          <p:cNvSpPr txBox="1"/>
          <p:nvPr/>
        </p:nvSpPr>
        <p:spPr>
          <a:xfrm>
            <a:off x="1249363" y="5470525"/>
            <a:ext cx="7345362"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cs typeface="Arial" panose="020B0604020202020204" pitchFamily="34" charset="0"/>
              </a:rPr>
              <a:t>(a)</a:t>
            </a:r>
            <a:r>
              <a:rPr lang="zh-CN" altLang="en-US" sz="2400" dirty="0">
                <a:cs typeface="Arial" panose="020B0604020202020204" pitchFamily="34" charset="0"/>
              </a:rPr>
              <a:t>并联连接的灯泡</a:t>
            </a:r>
            <a:r>
              <a:rPr lang="en-US" altLang="zh-CN" sz="2400" dirty="0">
                <a:cs typeface="Arial" panose="020B0604020202020204" pitchFamily="34" charset="0"/>
              </a:rPr>
              <a:t>               (b)</a:t>
            </a:r>
            <a:r>
              <a:rPr lang="zh-CN" altLang="en-US" sz="2400" dirty="0">
                <a:cs typeface="Arial" panose="020B0604020202020204" pitchFamily="34" charset="0"/>
              </a:rPr>
              <a:t>串联连接的灯泡</a:t>
            </a:r>
            <a:endParaRPr lang="en-US" altLang="zh-CN" dirty="0">
              <a:ea typeface="Arial" panose="020B0604020202020204" pitchFamily="34" charset="0"/>
            </a:endParaRPr>
          </a:p>
        </p:txBody>
      </p:sp>
      <p:sp>
        <p:nvSpPr>
          <p:cNvPr id="68616"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graphicFrame>
        <p:nvGraphicFramePr>
          <p:cNvPr id="2" name="对象 1"/>
          <p:cNvGraphicFramePr/>
          <p:nvPr/>
        </p:nvGraphicFramePr>
        <p:xfrm>
          <a:off x="3275965" y="332740"/>
          <a:ext cx="5231130" cy="1602740"/>
        </p:xfrm>
        <a:graphic>
          <a:graphicData uri="http://schemas.openxmlformats.org/presentationml/2006/ole">
            <mc:AlternateContent xmlns:mc="http://schemas.openxmlformats.org/markup-compatibility/2006">
              <mc:Choice xmlns:v="urn:schemas-microsoft-com:vml" Requires="v">
                <p:oleObj spid="_x0000_s3" name="" r:id="rId1" imgW="3619500" imgH="769620" progId="Paint.Picture">
                  <p:embed/>
                </p:oleObj>
              </mc:Choice>
              <mc:Fallback>
                <p:oleObj name="" r:id="rId1" imgW="3619500" imgH="769620" progId="Paint.Picture">
                  <p:embed/>
                  <p:pic>
                    <p:nvPicPr>
                      <p:cNvPr id="0" name="图片 2"/>
                      <p:cNvPicPr/>
                      <p:nvPr/>
                    </p:nvPicPr>
                    <p:blipFill>
                      <a:blip r:embed="rId2"/>
                      <a:stretch>
                        <a:fillRect/>
                      </a:stretch>
                    </p:blipFill>
                    <p:spPr>
                      <a:xfrm>
                        <a:off x="3275965" y="332740"/>
                        <a:ext cx="5231130" cy="1602740"/>
                      </a:xfrm>
                      <a:prstGeom prst="rect">
                        <a:avLst/>
                      </a:prstGeom>
                      <a:ln>
                        <a:solidFill>
                          <a:schemeClr val="bg2">
                            <a:lumMod val="40000"/>
                            <a:lumOff val="60000"/>
                          </a:schemeClr>
                        </a:solid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755650" y="764540"/>
            <a:ext cx="6042660" cy="1066800"/>
          </a:xfrm>
          <a:prstGeom prst="rect">
            <a:avLst/>
          </a:prstGeom>
        </p:spPr>
      </p:pic>
      <p:sp>
        <p:nvSpPr>
          <p:cNvPr id="6" name="文本框 5"/>
          <p:cNvSpPr txBox="1"/>
          <p:nvPr/>
        </p:nvSpPr>
        <p:spPr>
          <a:xfrm>
            <a:off x="551815" y="2058035"/>
            <a:ext cx="3732530" cy="4605020"/>
          </a:xfrm>
          <a:prstGeom prst="rect">
            <a:avLst/>
          </a:prstGeom>
          <a:noFill/>
        </p:spPr>
        <p:txBody>
          <a:bodyPr wrap="square" rtlCol="0">
            <a:spAutoFit/>
          </a:bodyPr>
          <a:p>
            <a:r>
              <a:rPr lang="zh-CN" altLang="en-US"/>
              <a:t>解：</a:t>
            </a:r>
            <a:r>
              <a:rPr lang="en-US" altLang="zh-CN"/>
              <a:t>I=9/R</a:t>
            </a:r>
            <a:endParaRPr lang="en-US" altLang="zh-CN"/>
          </a:p>
          <a:p>
            <a:endParaRPr lang="en-US" altLang="zh-CN"/>
          </a:p>
          <a:p>
            <a:r>
              <a:rPr lang="en-US" altLang="zh-CN"/>
              <a:t>P=45W</a:t>
            </a:r>
            <a:endParaRPr lang="en-US" altLang="zh-CN"/>
          </a:p>
          <a:p>
            <a:endParaRPr lang="en-US" altLang="zh-CN"/>
          </a:p>
          <a:p>
            <a:r>
              <a:rPr lang="en-US" altLang="zh-CN"/>
              <a:t>I= P/V=45/9=5 (A)</a:t>
            </a:r>
            <a:endParaRPr lang="en-US" altLang="zh-CN"/>
          </a:p>
          <a:p>
            <a:endParaRPr lang="en-US" altLang="zh-CN"/>
          </a:p>
          <a:p>
            <a:r>
              <a:rPr lang="en-US" altLang="zh-CN"/>
              <a:t>I</a:t>
            </a:r>
            <a:r>
              <a:rPr lang="en-US" altLang="zh-CN" baseline="-25000">
                <a:solidFill>
                  <a:schemeClr val="tx1"/>
                </a:solidFill>
                <a:uFillTx/>
              </a:rPr>
              <a:t>1</a:t>
            </a:r>
            <a:r>
              <a:rPr lang="en-US" altLang="zh-CN">
                <a:sym typeface="+mn-ea"/>
              </a:rPr>
              <a:t>= P/V=20/9= 2.22</a:t>
            </a:r>
            <a:r>
              <a:rPr lang="zh-CN" altLang="en-US">
                <a:sym typeface="+mn-ea"/>
              </a:rPr>
              <a:t>（</a:t>
            </a:r>
            <a:r>
              <a:rPr lang="en-US" altLang="zh-CN">
                <a:sym typeface="+mn-ea"/>
              </a:rPr>
              <a:t>A)</a:t>
            </a:r>
            <a:endParaRPr lang="en-US" altLang="zh-CN">
              <a:sym typeface="+mn-ea"/>
            </a:endParaRPr>
          </a:p>
          <a:p>
            <a:endParaRPr lang="en-US" altLang="zh-CN">
              <a:sym typeface="+mn-ea"/>
            </a:endParaRPr>
          </a:p>
          <a:p>
            <a:r>
              <a:rPr lang="en-US" altLang="zh-CN">
                <a:sym typeface="+mn-ea"/>
              </a:rPr>
              <a:t>I2=I-I1=5-2.22=2.78 </a:t>
            </a:r>
            <a:r>
              <a:rPr lang="zh-CN" altLang="en-US">
                <a:sym typeface="+mn-ea"/>
              </a:rPr>
              <a:t>（</a:t>
            </a:r>
            <a:r>
              <a:rPr lang="en-US" altLang="zh-CN">
                <a:sym typeface="+mn-ea"/>
              </a:rPr>
              <a:t>A)</a:t>
            </a:r>
            <a:endParaRPr lang="en-US" altLang="zh-CN">
              <a:sym typeface="+mn-ea"/>
            </a:endParaRPr>
          </a:p>
          <a:p>
            <a:endParaRPr lang="en-US" altLang="zh-CN">
              <a:sym typeface="+mn-ea"/>
            </a:endParaRPr>
          </a:p>
          <a:p>
            <a:r>
              <a:rPr lang="en-US" altLang="zh-CN">
                <a:sym typeface="+mn-ea"/>
              </a:rPr>
              <a:t>R</a:t>
            </a:r>
            <a:r>
              <a:rPr lang="en-US" altLang="zh-CN" baseline="-25000">
                <a:uFillTx/>
                <a:sym typeface="+mn-ea"/>
              </a:rPr>
              <a:t>1</a:t>
            </a:r>
            <a:r>
              <a:rPr lang="en-US" altLang="zh-CN">
                <a:sym typeface="+mn-ea"/>
              </a:rPr>
              <a:t>=P/I</a:t>
            </a:r>
            <a:r>
              <a:rPr lang="en-US" altLang="zh-CN" baseline="30000">
                <a:solidFill>
                  <a:schemeClr val="tx1"/>
                </a:solidFill>
                <a:uFillTx/>
                <a:sym typeface="+mn-ea"/>
              </a:rPr>
              <a:t>2</a:t>
            </a:r>
            <a:r>
              <a:rPr lang="en-US" altLang="zh-CN">
                <a:sym typeface="+mn-ea"/>
              </a:rPr>
              <a:t>=</a:t>
            </a:r>
            <a:r>
              <a:rPr lang="en-US" altLang="zh-CN">
                <a:sym typeface="+mn-ea"/>
              </a:rPr>
              <a:t>20/(2.22)</a:t>
            </a:r>
            <a:r>
              <a:rPr lang="en-US" altLang="zh-CN" baseline="30000">
                <a:uFillTx/>
                <a:sym typeface="+mn-ea"/>
              </a:rPr>
              <a:t>2</a:t>
            </a:r>
            <a:r>
              <a:rPr lang="en-US" altLang="zh-CN">
                <a:sym typeface="+mn-ea"/>
              </a:rPr>
              <a:t>=4.05(</a:t>
            </a:r>
            <a:r>
              <a:rPr lang="zh-CN" altLang="en-US">
                <a:sym typeface="+mn-ea"/>
              </a:rPr>
              <a:t>欧姆）</a:t>
            </a:r>
            <a:endParaRPr lang="zh-CN" altLang="en-US">
              <a:sym typeface="+mn-ea"/>
            </a:endParaRPr>
          </a:p>
          <a:p>
            <a:endParaRPr lang="zh-CN" altLang="en-US">
              <a:sym typeface="+mn-ea"/>
            </a:endParaRPr>
          </a:p>
          <a:p>
            <a:r>
              <a:rPr lang="en-US" altLang="zh-CN">
                <a:sym typeface="+mn-ea"/>
              </a:rPr>
              <a:t>R</a:t>
            </a:r>
            <a:r>
              <a:rPr lang="en-US" altLang="zh-CN" baseline="-25000">
                <a:uFillTx/>
                <a:sym typeface="+mn-ea"/>
              </a:rPr>
              <a:t>2</a:t>
            </a:r>
            <a:r>
              <a:rPr lang="en-US" altLang="zh-CN">
                <a:sym typeface="+mn-ea"/>
              </a:rPr>
              <a:t>=P/I</a:t>
            </a:r>
            <a:r>
              <a:rPr lang="en-US" altLang="zh-CN" baseline="30000">
                <a:uFillTx/>
                <a:sym typeface="+mn-ea"/>
              </a:rPr>
              <a:t>2</a:t>
            </a:r>
            <a:r>
              <a:rPr lang="en-US" altLang="zh-CN">
                <a:sym typeface="+mn-ea"/>
              </a:rPr>
              <a:t>=15/(2.78)</a:t>
            </a:r>
            <a:r>
              <a:rPr lang="en-US" altLang="zh-CN" baseline="30000">
                <a:uFillTx/>
                <a:sym typeface="+mn-ea"/>
              </a:rPr>
              <a:t>2</a:t>
            </a:r>
            <a:r>
              <a:rPr lang="en-US" altLang="zh-CN">
                <a:sym typeface="+mn-ea"/>
              </a:rPr>
              <a:t>=1.94(</a:t>
            </a:r>
            <a:r>
              <a:rPr lang="zh-CN" altLang="en-US">
                <a:sym typeface="+mn-ea"/>
              </a:rPr>
              <a:t>欧姆）</a:t>
            </a:r>
            <a:endParaRPr lang="zh-CN" altLang="en-US">
              <a:sym typeface="+mn-ea"/>
            </a:endParaRPr>
          </a:p>
          <a:p>
            <a:endParaRPr lang="en-US" altLang="zh-CN">
              <a:sym typeface="+mn-ea"/>
            </a:endParaRPr>
          </a:p>
          <a:p>
            <a:r>
              <a:rPr lang="en-US" altLang="zh-CN">
                <a:sym typeface="+mn-ea"/>
              </a:rPr>
              <a:t>R</a:t>
            </a:r>
            <a:r>
              <a:rPr lang="en-US" altLang="zh-CN" baseline="-25000">
                <a:uFillTx/>
                <a:sym typeface="+mn-ea"/>
              </a:rPr>
              <a:t>3</a:t>
            </a:r>
            <a:r>
              <a:rPr lang="en-US" altLang="zh-CN">
                <a:sym typeface="+mn-ea"/>
              </a:rPr>
              <a:t>=P/I</a:t>
            </a:r>
            <a:r>
              <a:rPr lang="en-US" altLang="zh-CN" baseline="30000">
                <a:uFillTx/>
                <a:sym typeface="+mn-ea"/>
              </a:rPr>
              <a:t>2</a:t>
            </a:r>
            <a:r>
              <a:rPr lang="en-US" altLang="zh-CN">
                <a:sym typeface="+mn-ea"/>
              </a:rPr>
              <a:t>=10/(2.78)</a:t>
            </a:r>
            <a:r>
              <a:rPr lang="en-US" altLang="zh-CN" baseline="30000">
                <a:uFillTx/>
                <a:sym typeface="+mn-ea"/>
              </a:rPr>
              <a:t>2</a:t>
            </a:r>
            <a:r>
              <a:rPr lang="en-US" altLang="zh-CN">
                <a:sym typeface="+mn-ea"/>
              </a:rPr>
              <a:t>=1.294(</a:t>
            </a:r>
            <a:r>
              <a:rPr lang="zh-CN" altLang="en-US">
                <a:sym typeface="+mn-ea"/>
              </a:rPr>
              <a:t>欧姆）</a:t>
            </a:r>
            <a:endParaRPr lang="zh-CN" altLang="en-US">
              <a:sym typeface="+mn-ea"/>
            </a:endParaRPr>
          </a:p>
          <a:p>
            <a:endParaRPr lang="en-US" altLang="zh-CN" baseline="-25000">
              <a:solidFill>
                <a:schemeClr val="tx1"/>
              </a:solidFill>
              <a:uFillTx/>
              <a:sym typeface="+mn-ea"/>
            </a:endParaRPr>
          </a:p>
          <a:p>
            <a:endParaRPr lang="en-US" altLang="zh-CN" baseline="-25000">
              <a:solidFill>
                <a:schemeClr val="tx1"/>
              </a:solidFill>
              <a:uFillTx/>
              <a:sym typeface="+mn-ea"/>
            </a:endParaRPr>
          </a:p>
        </p:txBody>
      </p:sp>
      <p:pic>
        <p:nvPicPr>
          <p:cNvPr id="8" name="图片 7"/>
          <p:cNvPicPr>
            <a:picLocks noChangeAspect="1"/>
          </p:cNvPicPr>
          <p:nvPr/>
        </p:nvPicPr>
        <p:blipFill>
          <a:blip r:embed="rId2"/>
          <a:srcRect t="3982"/>
          <a:stretch>
            <a:fillRect/>
          </a:stretch>
        </p:blipFill>
        <p:spPr>
          <a:xfrm>
            <a:off x="5652135" y="1617980"/>
            <a:ext cx="3002280" cy="49460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5868035" y="1628775"/>
            <a:ext cx="3048000" cy="5006340"/>
          </a:xfrm>
          <a:prstGeom prst="rect">
            <a:avLst/>
          </a:prstGeom>
        </p:spPr>
      </p:pic>
      <p:graphicFrame>
        <p:nvGraphicFramePr>
          <p:cNvPr id="10" name="对象 9"/>
          <p:cNvGraphicFramePr/>
          <p:nvPr/>
        </p:nvGraphicFramePr>
        <p:xfrm>
          <a:off x="80010" y="188595"/>
          <a:ext cx="8983345" cy="1418590"/>
        </p:xfrm>
        <a:graphic>
          <a:graphicData uri="http://schemas.openxmlformats.org/presentationml/2006/ole">
            <mc:AlternateContent xmlns:mc="http://schemas.openxmlformats.org/markup-compatibility/2006">
              <mc:Choice xmlns:v="urn:schemas-microsoft-com:vml" Requires="v">
                <p:oleObj spid="_x0000_s11" name="" r:id="rId2" imgW="8976360" imgH="1417320" progId="Paint.Picture">
                  <p:embed/>
                </p:oleObj>
              </mc:Choice>
              <mc:Fallback>
                <p:oleObj name="" r:id="rId2" imgW="8976360" imgH="1417320" progId="Paint.Picture">
                  <p:embed/>
                  <p:pic>
                    <p:nvPicPr>
                      <p:cNvPr id="0" name="图片 10"/>
                      <p:cNvPicPr/>
                      <p:nvPr/>
                    </p:nvPicPr>
                    <p:blipFill>
                      <a:blip r:embed="rId3"/>
                      <a:stretch>
                        <a:fillRect/>
                      </a:stretch>
                    </p:blipFill>
                    <p:spPr>
                      <a:xfrm>
                        <a:off x="80010" y="188595"/>
                        <a:ext cx="8983345" cy="1418590"/>
                      </a:xfrm>
                      <a:prstGeom prst="rect">
                        <a:avLst/>
                      </a:prstGeom>
                    </p:spPr>
                  </p:pic>
                </p:oleObj>
              </mc:Fallback>
            </mc:AlternateContent>
          </a:graphicData>
        </a:graphic>
      </p:graphicFrame>
      <p:sp>
        <p:nvSpPr>
          <p:cNvPr id="12" name="文本框 11"/>
          <p:cNvSpPr txBox="1"/>
          <p:nvPr/>
        </p:nvSpPr>
        <p:spPr>
          <a:xfrm>
            <a:off x="6376670" y="116840"/>
            <a:ext cx="2686685" cy="6451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r>
              <a:rPr lang="zh-CN" altLang="en-US"/>
              <a:t>注意：书上红笔所画部分有</a:t>
            </a:r>
            <a:r>
              <a:rPr lang="zh-CN" altLang="en-US"/>
              <a:t>错误。</a:t>
            </a:r>
            <a:endParaRPr lang="zh-CN" altLang="en-US"/>
          </a:p>
        </p:txBody>
      </p:sp>
      <p:sp>
        <p:nvSpPr>
          <p:cNvPr id="13" name="文本框 12"/>
          <p:cNvSpPr txBox="1"/>
          <p:nvPr/>
        </p:nvSpPr>
        <p:spPr>
          <a:xfrm>
            <a:off x="208915" y="1863090"/>
            <a:ext cx="5514975" cy="3830955"/>
          </a:xfrm>
          <a:prstGeom prst="rect">
            <a:avLst/>
          </a:prstGeom>
          <a:noFill/>
        </p:spPr>
        <p:txBody>
          <a:bodyPr wrap="square" rtlCol="0">
            <a:spAutoFit/>
          </a:bodyPr>
          <a:p>
            <a:pPr>
              <a:lnSpc>
                <a:spcPct val="150000"/>
              </a:lnSpc>
            </a:pPr>
            <a:r>
              <a:rPr lang="zh-CN" altLang="en-US"/>
              <a:t>解：（</a:t>
            </a:r>
            <a:r>
              <a:rPr lang="en-US" altLang="zh-CN"/>
              <a:t>1</a:t>
            </a:r>
            <a:r>
              <a:rPr lang="zh-CN" altLang="en-US"/>
              <a:t>）并联，</a:t>
            </a:r>
            <a:endParaRPr lang="zh-CN" altLang="en-US"/>
          </a:p>
          <a:p>
            <a:pPr>
              <a:lnSpc>
                <a:spcPct val="150000"/>
              </a:lnSpc>
            </a:pPr>
            <a:r>
              <a:rPr lang="zh-CN" altLang="en-US"/>
              <a:t>每个灯泡的电压都是</a:t>
            </a:r>
            <a:r>
              <a:rPr lang="en-US" altLang="zh-CN"/>
              <a:t>115V</a:t>
            </a:r>
            <a:r>
              <a:rPr lang="zh-CN" altLang="en-US"/>
              <a:t>；</a:t>
            </a:r>
            <a:endParaRPr lang="zh-CN" altLang="en-US"/>
          </a:p>
          <a:p>
            <a:pPr>
              <a:lnSpc>
                <a:spcPct val="150000"/>
              </a:lnSpc>
            </a:pPr>
            <a:r>
              <a:rPr lang="en-US" altLang="zh-CN"/>
              <a:t> P=40X6=240W</a:t>
            </a:r>
            <a:endParaRPr lang="en-US" altLang="zh-CN"/>
          </a:p>
          <a:p>
            <a:pPr>
              <a:lnSpc>
                <a:spcPct val="150000"/>
              </a:lnSpc>
            </a:pPr>
            <a:r>
              <a:rPr lang="en-US" altLang="zh-CN"/>
              <a:t>I=P/V=240/115=2.09(A)</a:t>
            </a:r>
            <a:endParaRPr lang="en-US" altLang="zh-CN"/>
          </a:p>
          <a:p>
            <a:pPr>
              <a:lnSpc>
                <a:spcPct val="150000"/>
              </a:lnSpc>
            </a:pPr>
            <a:r>
              <a:rPr lang="zh-CN" altLang="en-US"/>
              <a:t>每个灯泡的电流</a:t>
            </a:r>
            <a:r>
              <a:rPr lang="en-US" altLang="zh-CN"/>
              <a:t>=2.09/6=0.35(A)</a:t>
            </a:r>
            <a:endParaRPr lang="en-US" altLang="zh-CN"/>
          </a:p>
          <a:p>
            <a:endParaRPr lang="en-US" altLang="zh-CN"/>
          </a:p>
          <a:p>
            <a:r>
              <a:rPr lang="en-US" altLang="zh-CN"/>
              <a:t>(2) </a:t>
            </a:r>
            <a:r>
              <a:rPr lang="zh-CN" altLang="en-US"/>
              <a:t>串联</a:t>
            </a:r>
            <a:endParaRPr lang="zh-CN" altLang="en-US"/>
          </a:p>
          <a:p>
            <a:endParaRPr lang="zh-CN" altLang="en-US"/>
          </a:p>
          <a:p>
            <a:r>
              <a:rPr lang="zh-CN" altLang="en-US"/>
              <a:t>每个电阻上的电压</a:t>
            </a:r>
            <a:r>
              <a:rPr lang="en-US" altLang="zh-CN"/>
              <a:t>=115/6=19.167V</a:t>
            </a:r>
            <a:endParaRPr lang="en-US" altLang="zh-CN"/>
          </a:p>
          <a:p>
            <a:endParaRPr lang="en-US" altLang="zh-CN"/>
          </a:p>
          <a:p>
            <a:r>
              <a:rPr lang="zh-CN" altLang="en-US"/>
              <a:t>电流</a:t>
            </a:r>
            <a:r>
              <a:rPr lang="en-US" altLang="zh-CN"/>
              <a:t>I=P/V=40/19.167=2.087(A)</a:t>
            </a:r>
            <a:endParaRPr lang="en-US" altLang="zh-CN"/>
          </a:p>
        </p:txBody>
      </p:sp>
      <p:sp>
        <p:nvSpPr>
          <p:cNvPr id="14" name="文本框 13"/>
          <p:cNvSpPr txBox="1"/>
          <p:nvPr/>
        </p:nvSpPr>
        <p:spPr>
          <a:xfrm>
            <a:off x="4676775" y="6009005"/>
            <a:ext cx="309880" cy="368300"/>
          </a:xfrm>
          <a:prstGeom prst="rect">
            <a:avLst/>
          </a:prstGeom>
          <a:noFill/>
        </p:spPr>
        <p:txBody>
          <a:bodyPr wrap="none" rtlCol="0">
            <a:spAutoFit/>
          </a:bodyPr>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9634" name="Group 2"/>
          <p:cNvGrpSpPr/>
          <p:nvPr/>
        </p:nvGrpSpPr>
        <p:grpSpPr>
          <a:xfrm>
            <a:off x="682625" y="1989138"/>
            <a:ext cx="3876675" cy="2681287"/>
            <a:chOff x="521" y="1616"/>
            <a:chExt cx="2949" cy="1969"/>
          </a:xfrm>
        </p:grpSpPr>
        <p:pic>
          <p:nvPicPr>
            <p:cNvPr id="69708" name="Picture 3"/>
            <p:cNvPicPr>
              <a:picLocks noChangeAspect="1"/>
            </p:cNvPicPr>
            <p:nvPr/>
          </p:nvPicPr>
          <p:blipFill>
            <a:blip r:embed="rId1"/>
            <a:stretch>
              <a:fillRect/>
            </a:stretch>
          </p:blipFill>
          <p:spPr>
            <a:xfrm>
              <a:off x="521" y="1616"/>
              <a:ext cx="2486" cy="1684"/>
            </a:xfrm>
            <a:prstGeom prst="rect">
              <a:avLst/>
            </a:prstGeom>
            <a:noFill/>
            <a:ln w="9525">
              <a:noFill/>
            </a:ln>
          </p:spPr>
        </p:pic>
        <p:sp>
          <p:nvSpPr>
            <p:cNvPr id="69709" name="Text Box 4"/>
            <p:cNvSpPr txBox="1"/>
            <p:nvPr/>
          </p:nvSpPr>
          <p:spPr>
            <a:xfrm>
              <a:off x="690" y="2171"/>
              <a:ext cx="380" cy="17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200" b="1" dirty="0">
                  <a:cs typeface="Arial" panose="020B0604020202020204" pitchFamily="34" charset="0"/>
                </a:rPr>
                <a:t>scale</a:t>
              </a:r>
              <a:endParaRPr lang="en-US" altLang="zh-CN" sz="1200" b="1" dirty="0">
                <a:ea typeface="Arial" panose="020B0604020202020204" pitchFamily="34" charset="0"/>
              </a:endParaRPr>
            </a:p>
          </p:txBody>
        </p:sp>
        <p:sp>
          <p:nvSpPr>
            <p:cNvPr id="69710" name="Text Box 5"/>
            <p:cNvSpPr txBox="1"/>
            <p:nvPr/>
          </p:nvSpPr>
          <p:spPr>
            <a:xfrm>
              <a:off x="1912" y="2001"/>
              <a:ext cx="547" cy="17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200" b="1" dirty="0">
                  <a:cs typeface="Arial" panose="020B0604020202020204" pitchFamily="34" charset="0"/>
                </a:rPr>
                <a:t>spring</a:t>
              </a:r>
              <a:endParaRPr lang="en-US" altLang="zh-CN" sz="1200" b="1" dirty="0">
                <a:ea typeface="Arial" panose="020B0604020202020204" pitchFamily="34" charset="0"/>
              </a:endParaRPr>
            </a:p>
          </p:txBody>
        </p:sp>
        <p:sp>
          <p:nvSpPr>
            <p:cNvPr id="69711" name="Line 6"/>
            <p:cNvSpPr/>
            <p:nvPr/>
          </p:nvSpPr>
          <p:spPr>
            <a:xfrm flipV="1">
              <a:off x="2838" y="2429"/>
              <a:ext cx="1" cy="469"/>
            </a:xfrm>
            <a:prstGeom prst="line">
              <a:avLst/>
            </a:prstGeom>
            <a:ln w="9525" cap="flat" cmpd="sng">
              <a:solidFill>
                <a:schemeClr val="tx1"/>
              </a:solidFill>
              <a:prstDash val="solid"/>
              <a:headEnd type="none" w="med" len="med"/>
              <a:tailEnd type="triangle" w="med" len="med"/>
            </a:ln>
          </p:spPr>
        </p:sp>
        <p:sp>
          <p:nvSpPr>
            <p:cNvPr id="69712" name="Text Box 7"/>
            <p:cNvSpPr txBox="1"/>
            <p:nvPr/>
          </p:nvSpPr>
          <p:spPr>
            <a:xfrm>
              <a:off x="2670" y="2898"/>
              <a:ext cx="800" cy="28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200" b="1" dirty="0">
                  <a:cs typeface="Arial" panose="020B0604020202020204" pitchFamily="34" charset="0"/>
                </a:rPr>
                <a:t>Permanent magnet</a:t>
              </a:r>
              <a:endParaRPr lang="en-US" altLang="zh-CN" sz="1200" b="1" dirty="0">
                <a:ea typeface="Arial" panose="020B0604020202020204" pitchFamily="34" charset="0"/>
              </a:endParaRPr>
            </a:p>
          </p:txBody>
        </p:sp>
        <p:sp>
          <p:nvSpPr>
            <p:cNvPr id="69713" name="Line 8"/>
            <p:cNvSpPr/>
            <p:nvPr/>
          </p:nvSpPr>
          <p:spPr>
            <a:xfrm flipH="1" flipV="1">
              <a:off x="2207" y="2728"/>
              <a:ext cx="210" cy="684"/>
            </a:xfrm>
            <a:prstGeom prst="line">
              <a:avLst/>
            </a:prstGeom>
            <a:ln w="9525" cap="flat" cmpd="sng">
              <a:solidFill>
                <a:schemeClr val="tx1"/>
              </a:solidFill>
              <a:prstDash val="solid"/>
              <a:headEnd type="none" w="med" len="med"/>
              <a:tailEnd type="triangle" w="med" len="med"/>
            </a:ln>
          </p:spPr>
        </p:sp>
        <p:sp>
          <p:nvSpPr>
            <p:cNvPr id="69714" name="Text Box 9"/>
            <p:cNvSpPr txBox="1"/>
            <p:nvPr/>
          </p:nvSpPr>
          <p:spPr>
            <a:xfrm>
              <a:off x="2081" y="3412"/>
              <a:ext cx="1071" cy="17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200" b="1" dirty="0">
                  <a:cs typeface="Arial" panose="020B0604020202020204" pitchFamily="34" charset="0"/>
                </a:rPr>
                <a:t>stationary iron core</a:t>
              </a:r>
              <a:endParaRPr lang="en-US" altLang="zh-CN" sz="1200" b="1" dirty="0">
                <a:ea typeface="Arial" panose="020B0604020202020204" pitchFamily="34" charset="0"/>
              </a:endParaRPr>
            </a:p>
          </p:txBody>
        </p:sp>
        <p:sp>
          <p:nvSpPr>
            <p:cNvPr id="69715" name="Text Box 10"/>
            <p:cNvSpPr txBox="1"/>
            <p:nvPr/>
          </p:nvSpPr>
          <p:spPr>
            <a:xfrm>
              <a:off x="1280" y="2171"/>
              <a:ext cx="506" cy="17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200" b="1" dirty="0">
                  <a:cs typeface="Arial" panose="020B0604020202020204" pitchFamily="34" charset="0"/>
                </a:rPr>
                <a:t>pointer</a:t>
              </a:r>
              <a:endParaRPr lang="en-US" altLang="zh-CN" sz="1200" b="1" dirty="0">
                <a:ea typeface="Arial" panose="020B0604020202020204" pitchFamily="34" charset="0"/>
              </a:endParaRPr>
            </a:p>
          </p:txBody>
        </p:sp>
        <p:sp>
          <p:nvSpPr>
            <p:cNvPr id="69716" name="Text Box 11"/>
            <p:cNvSpPr txBox="1"/>
            <p:nvPr/>
          </p:nvSpPr>
          <p:spPr>
            <a:xfrm>
              <a:off x="1870" y="2856"/>
              <a:ext cx="211"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dirty="0">
                  <a:cs typeface="Arial" panose="020B0604020202020204" pitchFamily="34" charset="0"/>
                </a:rPr>
                <a:t>N</a:t>
              </a:r>
              <a:endParaRPr lang="en-US" altLang="zh-CN" sz="1800" dirty="0">
                <a:ea typeface="Arial" panose="020B0604020202020204" pitchFamily="34" charset="0"/>
              </a:endParaRPr>
            </a:p>
          </p:txBody>
        </p:sp>
        <p:sp>
          <p:nvSpPr>
            <p:cNvPr id="69717" name="Text Box 12"/>
            <p:cNvSpPr txBox="1"/>
            <p:nvPr/>
          </p:nvSpPr>
          <p:spPr>
            <a:xfrm>
              <a:off x="2500" y="2385"/>
              <a:ext cx="211" cy="23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dirty="0">
                  <a:cs typeface="Arial" panose="020B0604020202020204" pitchFamily="34" charset="0"/>
                </a:rPr>
                <a:t>S</a:t>
              </a:r>
              <a:endParaRPr lang="en-US" altLang="zh-CN" sz="1800" dirty="0">
                <a:ea typeface="Arial" panose="020B0604020202020204" pitchFamily="34" charset="0"/>
              </a:endParaRPr>
            </a:p>
          </p:txBody>
        </p:sp>
      </p:grpSp>
      <p:grpSp>
        <p:nvGrpSpPr>
          <p:cNvPr id="69635" name="Group 13"/>
          <p:cNvGrpSpPr/>
          <p:nvPr/>
        </p:nvGrpSpPr>
        <p:grpSpPr>
          <a:xfrm>
            <a:off x="5268913" y="1844675"/>
            <a:ext cx="3767137" cy="2809875"/>
            <a:chOff x="842" y="812"/>
            <a:chExt cx="4078" cy="2692"/>
          </a:xfrm>
        </p:grpSpPr>
        <p:sp>
          <p:nvSpPr>
            <p:cNvPr id="69640" name="Freeform 14"/>
            <p:cNvSpPr/>
            <p:nvPr/>
          </p:nvSpPr>
          <p:spPr>
            <a:xfrm>
              <a:off x="3782" y="1382"/>
              <a:ext cx="1" cy="2053"/>
            </a:xfrm>
            <a:custGeom>
              <a:avLst/>
              <a:gdLst>
                <a:gd name="txL" fmla="*/ 0 w 1"/>
                <a:gd name="txT" fmla="*/ 0 h 1612"/>
                <a:gd name="txR" fmla="*/ 1 w 1"/>
                <a:gd name="txB" fmla="*/ 1612 h 1612"/>
              </a:gdLst>
              <a:ahLst/>
              <a:cxnLst>
                <a:cxn ang="0">
                  <a:pos x="0" y="1406299"/>
                </a:cxn>
                <a:cxn ang="0">
                  <a:pos x="0" y="0"/>
                </a:cxn>
                <a:cxn ang="0">
                  <a:pos x="0" y="1406299"/>
                </a:cxn>
                <a:cxn ang="0">
                  <a:pos x="0" y="1406299"/>
                </a:cxn>
              </a:cxnLst>
              <a:rect l="txL" t="txT" r="txR" b="txB"/>
              <a:pathLst>
                <a:path w="1" h="1612">
                  <a:moveTo>
                    <a:pt x="0" y="1612"/>
                  </a:moveTo>
                  <a:lnTo>
                    <a:pt x="0" y="0"/>
                  </a:lnTo>
                  <a:lnTo>
                    <a:pt x="0" y="16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41" name="Freeform 15"/>
            <p:cNvSpPr>
              <a:spLocks noEditPoints="1"/>
            </p:cNvSpPr>
            <p:nvPr/>
          </p:nvSpPr>
          <p:spPr>
            <a:xfrm>
              <a:off x="2212" y="1382"/>
              <a:ext cx="1570" cy="2"/>
            </a:xfrm>
            <a:custGeom>
              <a:avLst/>
              <a:gdLst>
                <a:gd name="txL" fmla="*/ 0 w 1220"/>
                <a:gd name="txT" fmla="*/ 0 h 2"/>
                <a:gd name="txR" fmla="*/ 1220 w 1220"/>
                <a:gd name="txB" fmla="*/ 2 h 2"/>
              </a:gdLst>
              <a:ahLst/>
              <a:cxnLst>
                <a:cxn ang="0">
                  <a:pos x="1424004" y="0"/>
                </a:cxn>
                <a:cxn ang="0">
                  <a:pos x="0" y="0"/>
                </a:cxn>
                <a:cxn ang="0">
                  <a:pos x="1424004" y="0"/>
                </a:cxn>
                <a:cxn ang="0">
                  <a:pos x="1424004" y="0"/>
                </a:cxn>
                <a:cxn ang="0">
                  <a:pos x="1424004" y="0"/>
                </a:cxn>
                <a:cxn ang="0">
                  <a:pos x="1424004" y="0"/>
                </a:cxn>
                <a:cxn ang="0">
                  <a:pos x="1424004" y="0"/>
                </a:cxn>
              </a:cxnLst>
              <a:rect l="txL" t="txT" r="txR" b="txB"/>
              <a:pathLst>
                <a:path w="1220" h="2">
                  <a:moveTo>
                    <a:pt x="1220" y="0"/>
                  </a:moveTo>
                  <a:lnTo>
                    <a:pt x="0" y="0"/>
                  </a:lnTo>
                  <a:lnTo>
                    <a:pt x="1220" y="0"/>
                  </a:lnTo>
                  <a:close/>
                  <a:moveTo>
                    <a:pt x="1220" y="0"/>
                  </a:moveTo>
                  <a:lnTo>
                    <a:pt x="122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42" name="Freeform 16"/>
            <p:cNvSpPr>
              <a:spLocks noEditPoints="1"/>
            </p:cNvSpPr>
            <p:nvPr/>
          </p:nvSpPr>
          <p:spPr>
            <a:xfrm>
              <a:off x="2212" y="1382"/>
              <a:ext cx="1" cy="2053"/>
            </a:xfrm>
            <a:custGeom>
              <a:avLst/>
              <a:gdLst>
                <a:gd name="txL" fmla="*/ 0 w 1"/>
                <a:gd name="txT" fmla="*/ 0 h 1612"/>
                <a:gd name="txR" fmla="*/ 1 w 1"/>
                <a:gd name="txB" fmla="*/ 1612 h 1612"/>
              </a:gdLst>
              <a:ahLst/>
              <a:cxnLst>
                <a:cxn ang="0">
                  <a:pos x="0" y="0"/>
                </a:cxn>
                <a:cxn ang="0">
                  <a:pos x="0" y="1406299"/>
                </a:cxn>
                <a:cxn ang="0">
                  <a:pos x="0" y="0"/>
                </a:cxn>
                <a:cxn ang="0">
                  <a:pos x="0" y="0"/>
                </a:cxn>
                <a:cxn ang="0">
                  <a:pos x="0" y="0"/>
                </a:cxn>
                <a:cxn ang="0">
                  <a:pos x="0" y="0"/>
                </a:cxn>
                <a:cxn ang="0">
                  <a:pos x="0" y="0"/>
                </a:cxn>
              </a:cxnLst>
              <a:rect l="txL" t="txT" r="txR" b="txB"/>
              <a:pathLst>
                <a:path w="1" h="1612">
                  <a:moveTo>
                    <a:pt x="0" y="0"/>
                  </a:moveTo>
                  <a:lnTo>
                    <a:pt x="0" y="1612"/>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43" name="Freeform 17"/>
            <p:cNvSpPr>
              <a:spLocks noEditPoints="1"/>
            </p:cNvSpPr>
            <p:nvPr/>
          </p:nvSpPr>
          <p:spPr>
            <a:xfrm>
              <a:off x="2212" y="3435"/>
              <a:ext cx="1570" cy="2"/>
            </a:xfrm>
            <a:custGeom>
              <a:avLst/>
              <a:gdLst>
                <a:gd name="txL" fmla="*/ 0 w 1220"/>
                <a:gd name="txT" fmla="*/ 0 h 2"/>
                <a:gd name="txR" fmla="*/ 1220 w 1220"/>
                <a:gd name="txB" fmla="*/ 2 h 2"/>
              </a:gdLst>
              <a:ahLst/>
              <a:cxnLst>
                <a:cxn ang="0">
                  <a:pos x="0" y="0"/>
                </a:cxn>
                <a:cxn ang="0">
                  <a:pos x="1424004" y="0"/>
                </a:cxn>
                <a:cxn ang="0">
                  <a:pos x="0" y="0"/>
                </a:cxn>
                <a:cxn ang="0">
                  <a:pos x="0" y="0"/>
                </a:cxn>
                <a:cxn ang="0">
                  <a:pos x="0" y="0"/>
                </a:cxn>
                <a:cxn ang="0">
                  <a:pos x="0" y="0"/>
                </a:cxn>
                <a:cxn ang="0">
                  <a:pos x="0" y="0"/>
                </a:cxn>
              </a:cxnLst>
              <a:rect l="txL" t="txT" r="txR" b="txB"/>
              <a:pathLst>
                <a:path w="1220" h="2">
                  <a:moveTo>
                    <a:pt x="0" y="0"/>
                  </a:moveTo>
                  <a:lnTo>
                    <a:pt x="1220" y="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44" name="Freeform 18"/>
            <p:cNvSpPr/>
            <p:nvPr/>
          </p:nvSpPr>
          <p:spPr>
            <a:xfrm>
              <a:off x="3782" y="3435"/>
              <a:ext cx="1" cy="2"/>
            </a:xfrm>
            <a:custGeom>
              <a:avLst/>
              <a:gdLst>
                <a:gd name="txL" fmla="*/ 0 w 1"/>
                <a:gd name="txT" fmla="*/ 0 h 2"/>
                <a:gd name="txR" fmla="*/ 1 w 1"/>
                <a:gd name="txB" fmla="*/ 2 h 2"/>
              </a:gdLst>
              <a:ahLst/>
              <a:cxnLst>
                <a:cxn ang="0">
                  <a:pos x="0" y="0"/>
                </a:cxn>
                <a:cxn ang="0">
                  <a:pos x="0" y="0"/>
                </a:cxn>
                <a:cxn ang="0">
                  <a:pos x="0" y="0"/>
                </a:cxn>
              </a:cxnLst>
              <a:rect l="txL" t="txT" r="txR" b="txB"/>
              <a:pathLst>
                <a:path w="1" h="2">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45" name="Freeform 19"/>
            <p:cNvSpPr/>
            <p:nvPr/>
          </p:nvSpPr>
          <p:spPr>
            <a:xfrm>
              <a:off x="1149" y="3435"/>
              <a:ext cx="1063" cy="2"/>
            </a:xfrm>
            <a:custGeom>
              <a:avLst/>
              <a:gdLst>
                <a:gd name="txL" fmla="*/ 0 w 826"/>
                <a:gd name="txT" fmla="*/ 0 h 2"/>
                <a:gd name="txR" fmla="*/ 826 w 826"/>
                <a:gd name="txB" fmla="*/ 2 h 2"/>
              </a:gdLst>
              <a:ahLst/>
              <a:cxnLst>
                <a:cxn ang="0">
                  <a:pos x="0" y="0"/>
                </a:cxn>
                <a:cxn ang="0">
                  <a:pos x="965118" y="0"/>
                </a:cxn>
                <a:cxn ang="0">
                  <a:pos x="0" y="0"/>
                </a:cxn>
                <a:cxn ang="0">
                  <a:pos x="0" y="0"/>
                </a:cxn>
              </a:cxnLst>
              <a:rect l="txL" t="txT" r="txR" b="txB"/>
              <a:pathLst>
                <a:path w="826" h="2">
                  <a:moveTo>
                    <a:pt x="0" y="0"/>
                  </a:moveTo>
                  <a:lnTo>
                    <a:pt x="826"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46" name="Freeform 20"/>
            <p:cNvSpPr/>
            <p:nvPr/>
          </p:nvSpPr>
          <p:spPr>
            <a:xfrm>
              <a:off x="1027" y="3375"/>
              <a:ext cx="122" cy="129"/>
            </a:xfrm>
            <a:custGeom>
              <a:avLst/>
              <a:gdLst>
                <a:gd name="txL" fmla="*/ 0 w 95"/>
                <a:gd name="txT" fmla="*/ 0 h 101"/>
                <a:gd name="txR" fmla="*/ 95 w 95"/>
                <a:gd name="txB" fmla="*/ 101 h 101"/>
              </a:gdLst>
              <a:ahLst/>
              <a:cxnLst>
                <a:cxn ang="0">
                  <a:pos x="105124" y="44456"/>
                </a:cxn>
                <a:cxn ang="0">
                  <a:pos x="97405" y="28358"/>
                </a:cxn>
                <a:cxn ang="0">
                  <a:pos x="91447" y="16706"/>
                </a:cxn>
                <a:cxn ang="0">
                  <a:pos x="71209" y="6177"/>
                </a:cxn>
                <a:cxn ang="0">
                  <a:pos x="51249" y="0"/>
                </a:cxn>
                <a:cxn ang="0">
                  <a:pos x="32483" y="6177"/>
                </a:cxn>
                <a:cxn ang="0">
                  <a:pos x="18749" y="16706"/>
                </a:cxn>
                <a:cxn ang="0">
                  <a:pos x="6894" y="28358"/>
                </a:cxn>
                <a:cxn ang="0">
                  <a:pos x="0" y="44456"/>
                </a:cxn>
                <a:cxn ang="0">
                  <a:pos x="6894" y="67005"/>
                </a:cxn>
                <a:cxn ang="0">
                  <a:pos x="18749" y="78146"/>
                </a:cxn>
                <a:cxn ang="0">
                  <a:pos x="32483" y="89848"/>
                </a:cxn>
                <a:cxn ang="0">
                  <a:pos x="51249" y="95703"/>
                </a:cxn>
                <a:cxn ang="0">
                  <a:pos x="71209" y="89848"/>
                </a:cxn>
                <a:cxn ang="0">
                  <a:pos x="91447" y="78146"/>
                </a:cxn>
                <a:cxn ang="0">
                  <a:pos x="97405" y="67005"/>
                </a:cxn>
                <a:cxn ang="0">
                  <a:pos x="105124" y="44456"/>
                </a:cxn>
                <a:cxn ang="0">
                  <a:pos x="105124" y="44456"/>
                </a:cxn>
              </a:cxnLst>
              <a:rect l="txL" t="txT" r="txR" b="txB"/>
              <a:pathLst>
                <a:path w="95" h="101">
                  <a:moveTo>
                    <a:pt x="95" y="47"/>
                  </a:moveTo>
                  <a:lnTo>
                    <a:pt x="89" y="30"/>
                  </a:lnTo>
                  <a:lnTo>
                    <a:pt x="83" y="18"/>
                  </a:lnTo>
                  <a:lnTo>
                    <a:pt x="65" y="6"/>
                  </a:lnTo>
                  <a:lnTo>
                    <a:pt x="47" y="0"/>
                  </a:lnTo>
                  <a:lnTo>
                    <a:pt x="29" y="6"/>
                  </a:lnTo>
                  <a:lnTo>
                    <a:pt x="17" y="18"/>
                  </a:lnTo>
                  <a:lnTo>
                    <a:pt x="6" y="30"/>
                  </a:lnTo>
                  <a:lnTo>
                    <a:pt x="0" y="47"/>
                  </a:lnTo>
                  <a:lnTo>
                    <a:pt x="6" y="71"/>
                  </a:lnTo>
                  <a:lnTo>
                    <a:pt x="17" y="83"/>
                  </a:lnTo>
                  <a:lnTo>
                    <a:pt x="29" y="95"/>
                  </a:lnTo>
                  <a:lnTo>
                    <a:pt x="47" y="101"/>
                  </a:lnTo>
                  <a:lnTo>
                    <a:pt x="65" y="95"/>
                  </a:lnTo>
                  <a:lnTo>
                    <a:pt x="83" y="83"/>
                  </a:lnTo>
                  <a:lnTo>
                    <a:pt x="89" y="71"/>
                  </a:lnTo>
                  <a:lnTo>
                    <a:pt x="95" y="47"/>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47" name="Freeform 21"/>
            <p:cNvSpPr/>
            <p:nvPr/>
          </p:nvSpPr>
          <p:spPr>
            <a:xfrm>
              <a:off x="1088" y="3375"/>
              <a:ext cx="61" cy="60"/>
            </a:xfrm>
            <a:custGeom>
              <a:avLst/>
              <a:gdLst>
                <a:gd name="txL" fmla="*/ 0 w 48"/>
                <a:gd name="txT" fmla="*/ 0 h 47"/>
                <a:gd name="txR" fmla="*/ 48 w 48"/>
                <a:gd name="txB" fmla="*/ 47 h 47"/>
              </a:gdLst>
              <a:ahLst/>
              <a:cxnLst>
                <a:cxn ang="0">
                  <a:pos x="39647" y="43861"/>
                </a:cxn>
                <a:cxn ang="0">
                  <a:pos x="33940" y="28056"/>
                </a:cxn>
                <a:cxn ang="0">
                  <a:pos x="29492" y="16515"/>
                </a:cxn>
                <a:cxn ang="0">
                  <a:pos x="14810" y="6115"/>
                </a:cxn>
                <a:cxn ang="0">
                  <a:pos x="0" y="0"/>
                </a:cxn>
                <a:cxn ang="0">
                  <a:pos x="0" y="0"/>
                </a:cxn>
                <a:cxn ang="0">
                  <a:pos x="14810" y="6115"/>
                </a:cxn>
                <a:cxn ang="0">
                  <a:pos x="29492" y="16515"/>
                </a:cxn>
                <a:cxn ang="0">
                  <a:pos x="33940" y="28056"/>
                </a:cxn>
                <a:cxn ang="0">
                  <a:pos x="39647" y="43861"/>
                </a:cxn>
                <a:cxn ang="0">
                  <a:pos x="39647" y="43861"/>
                </a:cxn>
              </a:cxnLst>
              <a:rect l="txL" t="txT" r="txR" b="txB"/>
              <a:pathLst>
                <a:path w="48" h="47">
                  <a:moveTo>
                    <a:pt x="48" y="47"/>
                  </a:moveTo>
                  <a:lnTo>
                    <a:pt x="42" y="30"/>
                  </a:lnTo>
                  <a:lnTo>
                    <a:pt x="36" y="18"/>
                  </a:lnTo>
                  <a:lnTo>
                    <a:pt x="18" y="6"/>
                  </a:lnTo>
                  <a:lnTo>
                    <a:pt x="0" y="0"/>
                  </a:lnTo>
                  <a:lnTo>
                    <a:pt x="18" y="6"/>
                  </a:lnTo>
                  <a:lnTo>
                    <a:pt x="36" y="18"/>
                  </a:lnTo>
                  <a:lnTo>
                    <a:pt x="42" y="30"/>
                  </a:lnTo>
                  <a:lnTo>
                    <a:pt x="48" y="4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48" name="Freeform 22"/>
            <p:cNvSpPr>
              <a:spLocks noEditPoints="1"/>
            </p:cNvSpPr>
            <p:nvPr/>
          </p:nvSpPr>
          <p:spPr>
            <a:xfrm>
              <a:off x="1027" y="3375"/>
              <a:ext cx="61" cy="60"/>
            </a:xfrm>
            <a:custGeom>
              <a:avLst/>
              <a:gdLst>
                <a:gd name="txL" fmla="*/ 0 w 47"/>
                <a:gd name="txT" fmla="*/ 0 h 47"/>
                <a:gd name="txR" fmla="*/ 47 w 47"/>
                <a:gd name="txB" fmla="*/ 47 h 47"/>
              </a:gdLst>
              <a:ahLst/>
              <a:cxnLst>
                <a:cxn ang="0">
                  <a:pos x="69892" y="0"/>
                </a:cxn>
                <a:cxn ang="0">
                  <a:pos x="43279" y="6115"/>
                </a:cxn>
                <a:cxn ang="0">
                  <a:pos x="25693" y="16515"/>
                </a:cxn>
                <a:cxn ang="0">
                  <a:pos x="9055" y="28056"/>
                </a:cxn>
                <a:cxn ang="0">
                  <a:pos x="0" y="43861"/>
                </a:cxn>
                <a:cxn ang="0">
                  <a:pos x="0" y="43861"/>
                </a:cxn>
                <a:cxn ang="0">
                  <a:pos x="9055" y="28056"/>
                </a:cxn>
                <a:cxn ang="0">
                  <a:pos x="25693" y="16515"/>
                </a:cxn>
                <a:cxn ang="0">
                  <a:pos x="43279" y="6115"/>
                </a:cxn>
                <a:cxn ang="0">
                  <a:pos x="69892" y="0"/>
                </a:cxn>
                <a:cxn ang="0">
                  <a:pos x="69892" y="0"/>
                </a:cxn>
                <a:cxn ang="0">
                  <a:pos x="69892" y="0"/>
                </a:cxn>
                <a:cxn ang="0">
                  <a:pos x="69892" y="0"/>
                </a:cxn>
                <a:cxn ang="0">
                  <a:pos x="69892" y="0"/>
                </a:cxn>
              </a:cxnLst>
              <a:rect l="txL" t="txT" r="txR" b="txB"/>
              <a:pathLst>
                <a:path w="47" h="47">
                  <a:moveTo>
                    <a:pt x="47" y="0"/>
                  </a:moveTo>
                  <a:lnTo>
                    <a:pt x="29" y="6"/>
                  </a:lnTo>
                  <a:lnTo>
                    <a:pt x="17" y="18"/>
                  </a:lnTo>
                  <a:lnTo>
                    <a:pt x="6" y="30"/>
                  </a:lnTo>
                  <a:lnTo>
                    <a:pt x="0" y="47"/>
                  </a:lnTo>
                  <a:lnTo>
                    <a:pt x="6" y="30"/>
                  </a:lnTo>
                  <a:lnTo>
                    <a:pt x="17" y="18"/>
                  </a:lnTo>
                  <a:lnTo>
                    <a:pt x="29" y="6"/>
                  </a:lnTo>
                  <a:lnTo>
                    <a:pt x="47" y="0"/>
                  </a:lnTo>
                  <a:close/>
                  <a:moveTo>
                    <a:pt x="47" y="0"/>
                  </a:moveTo>
                  <a:lnTo>
                    <a:pt x="47"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49" name="Freeform 23"/>
            <p:cNvSpPr>
              <a:spLocks noEditPoints="1"/>
            </p:cNvSpPr>
            <p:nvPr/>
          </p:nvSpPr>
          <p:spPr>
            <a:xfrm>
              <a:off x="1027" y="3435"/>
              <a:ext cx="61" cy="69"/>
            </a:xfrm>
            <a:custGeom>
              <a:avLst/>
              <a:gdLst>
                <a:gd name="txL" fmla="*/ 0 w 47"/>
                <a:gd name="txT" fmla="*/ 0 h 54"/>
                <a:gd name="txR" fmla="*/ 47 w 47"/>
                <a:gd name="txB" fmla="*/ 54 h 54"/>
              </a:gdLst>
              <a:ahLst/>
              <a:cxnLst>
                <a:cxn ang="0">
                  <a:pos x="0" y="0"/>
                </a:cxn>
                <a:cxn ang="0">
                  <a:pos x="9055" y="23252"/>
                </a:cxn>
                <a:cxn ang="0">
                  <a:pos x="25693" y="34532"/>
                </a:cxn>
                <a:cxn ang="0">
                  <a:pos x="43279" y="45994"/>
                </a:cxn>
                <a:cxn ang="0">
                  <a:pos x="69892" y="51414"/>
                </a:cxn>
                <a:cxn ang="0">
                  <a:pos x="69892" y="51414"/>
                </a:cxn>
                <a:cxn ang="0">
                  <a:pos x="43279" y="45994"/>
                </a:cxn>
                <a:cxn ang="0">
                  <a:pos x="25693" y="34532"/>
                </a:cxn>
                <a:cxn ang="0">
                  <a:pos x="9055" y="23252"/>
                </a:cxn>
                <a:cxn ang="0">
                  <a:pos x="0" y="0"/>
                </a:cxn>
                <a:cxn ang="0">
                  <a:pos x="0" y="0"/>
                </a:cxn>
                <a:cxn ang="0">
                  <a:pos x="0" y="0"/>
                </a:cxn>
                <a:cxn ang="0">
                  <a:pos x="0" y="0"/>
                </a:cxn>
                <a:cxn ang="0">
                  <a:pos x="0" y="0"/>
                </a:cxn>
              </a:cxnLst>
              <a:rect l="txL" t="txT" r="txR" b="txB"/>
              <a:pathLst>
                <a:path w="47" h="54">
                  <a:moveTo>
                    <a:pt x="0" y="0"/>
                  </a:moveTo>
                  <a:lnTo>
                    <a:pt x="6" y="24"/>
                  </a:lnTo>
                  <a:lnTo>
                    <a:pt x="17" y="36"/>
                  </a:lnTo>
                  <a:lnTo>
                    <a:pt x="29" y="48"/>
                  </a:lnTo>
                  <a:lnTo>
                    <a:pt x="47" y="54"/>
                  </a:lnTo>
                  <a:lnTo>
                    <a:pt x="29" y="48"/>
                  </a:lnTo>
                  <a:lnTo>
                    <a:pt x="17" y="36"/>
                  </a:lnTo>
                  <a:lnTo>
                    <a:pt x="6" y="24"/>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50" name="Freeform 24"/>
            <p:cNvSpPr>
              <a:spLocks noEditPoints="1"/>
            </p:cNvSpPr>
            <p:nvPr/>
          </p:nvSpPr>
          <p:spPr>
            <a:xfrm>
              <a:off x="1088" y="3435"/>
              <a:ext cx="61" cy="69"/>
            </a:xfrm>
            <a:custGeom>
              <a:avLst/>
              <a:gdLst>
                <a:gd name="txL" fmla="*/ 0 w 48"/>
                <a:gd name="txT" fmla="*/ 0 h 54"/>
                <a:gd name="txR" fmla="*/ 48 w 48"/>
                <a:gd name="txB" fmla="*/ 54 h 54"/>
              </a:gdLst>
              <a:ahLst/>
              <a:cxnLst>
                <a:cxn ang="0">
                  <a:pos x="0" y="51414"/>
                </a:cxn>
                <a:cxn ang="0">
                  <a:pos x="14810" y="45994"/>
                </a:cxn>
                <a:cxn ang="0">
                  <a:pos x="29492" y="34532"/>
                </a:cxn>
                <a:cxn ang="0">
                  <a:pos x="33940" y="23252"/>
                </a:cxn>
                <a:cxn ang="0">
                  <a:pos x="39647" y="0"/>
                </a:cxn>
                <a:cxn ang="0">
                  <a:pos x="39647" y="0"/>
                </a:cxn>
                <a:cxn ang="0">
                  <a:pos x="33940" y="23252"/>
                </a:cxn>
                <a:cxn ang="0">
                  <a:pos x="29492" y="34532"/>
                </a:cxn>
                <a:cxn ang="0">
                  <a:pos x="14810" y="45994"/>
                </a:cxn>
                <a:cxn ang="0">
                  <a:pos x="0" y="51414"/>
                </a:cxn>
                <a:cxn ang="0">
                  <a:pos x="0" y="51414"/>
                </a:cxn>
                <a:cxn ang="0">
                  <a:pos x="0" y="51414"/>
                </a:cxn>
                <a:cxn ang="0">
                  <a:pos x="0" y="51414"/>
                </a:cxn>
                <a:cxn ang="0">
                  <a:pos x="0" y="51414"/>
                </a:cxn>
              </a:cxnLst>
              <a:rect l="txL" t="txT" r="txR" b="txB"/>
              <a:pathLst>
                <a:path w="48" h="54">
                  <a:moveTo>
                    <a:pt x="0" y="54"/>
                  </a:moveTo>
                  <a:lnTo>
                    <a:pt x="18" y="48"/>
                  </a:lnTo>
                  <a:lnTo>
                    <a:pt x="36" y="36"/>
                  </a:lnTo>
                  <a:lnTo>
                    <a:pt x="42" y="24"/>
                  </a:lnTo>
                  <a:lnTo>
                    <a:pt x="48" y="0"/>
                  </a:lnTo>
                  <a:lnTo>
                    <a:pt x="42" y="24"/>
                  </a:lnTo>
                  <a:lnTo>
                    <a:pt x="36" y="36"/>
                  </a:lnTo>
                  <a:lnTo>
                    <a:pt x="18" y="48"/>
                  </a:lnTo>
                  <a:lnTo>
                    <a:pt x="0" y="54"/>
                  </a:lnTo>
                  <a:close/>
                  <a:moveTo>
                    <a:pt x="0" y="54"/>
                  </a:moveTo>
                  <a:lnTo>
                    <a:pt x="0" y="5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51" name="Freeform 25"/>
            <p:cNvSpPr/>
            <p:nvPr/>
          </p:nvSpPr>
          <p:spPr>
            <a:xfrm>
              <a:off x="1149" y="3435"/>
              <a:ext cx="2" cy="2"/>
            </a:xfrm>
            <a:custGeom>
              <a:avLst/>
              <a:gdLst>
                <a:gd name="txL" fmla="*/ 0 w 2"/>
                <a:gd name="txT" fmla="*/ 0 h 2"/>
                <a:gd name="txR" fmla="*/ 2 w 2"/>
                <a:gd name="txB" fmla="*/ 2 h 2"/>
              </a:gdLst>
              <a:ahLst/>
              <a:cxnLst>
                <a:cxn ang="0">
                  <a:pos x="0" y="0"/>
                </a:cxn>
                <a:cxn ang="0">
                  <a:pos x="0" y="0"/>
                </a:cxn>
                <a:cxn ang="0">
                  <a:pos x="0" y="0"/>
                </a:cxn>
              </a:cxnLst>
              <a:rect l="txL" t="txT" r="txR" b="txB"/>
              <a:pathLst>
                <a:path w="2" h="2">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52" name="Freeform 26"/>
            <p:cNvSpPr/>
            <p:nvPr/>
          </p:nvSpPr>
          <p:spPr>
            <a:xfrm>
              <a:off x="1149" y="1382"/>
              <a:ext cx="1063" cy="2"/>
            </a:xfrm>
            <a:custGeom>
              <a:avLst/>
              <a:gdLst>
                <a:gd name="txL" fmla="*/ 0 w 826"/>
                <a:gd name="txT" fmla="*/ 0 h 2"/>
                <a:gd name="txR" fmla="*/ 826 w 826"/>
                <a:gd name="txB" fmla="*/ 2 h 2"/>
              </a:gdLst>
              <a:ahLst/>
              <a:cxnLst>
                <a:cxn ang="0">
                  <a:pos x="0" y="0"/>
                </a:cxn>
                <a:cxn ang="0">
                  <a:pos x="965118" y="0"/>
                </a:cxn>
                <a:cxn ang="0">
                  <a:pos x="0" y="0"/>
                </a:cxn>
                <a:cxn ang="0">
                  <a:pos x="0" y="0"/>
                </a:cxn>
              </a:cxnLst>
              <a:rect l="txL" t="txT" r="txR" b="txB"/>
              <a:pathLst>
                <a:path w="826" h="2">
                  <a:moveTo>
                    <a:pt x="0" y="0"/>
                  </a:moveTo>
                  <a:lnTo>
                    <a:pt x="826"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53" name="Freeform 27"/>
            <p:cNvSpPr/>
            <p:nvPr/>
          </p:nvSpPr>
          <p:spPr>
            <a:xfrm>
              <a:off x="1035" y="1321"/>
              <a:ext cx="114" cy="130"/>
            </a:xfrm>
            <a:custGeom>
              <a:avLst/>
              <a:gdLst>
                <a:gd name="txL" fmla="*/ 0 w 89"/>
                <a:gd name="txT" fmla="*/ 0 h 102"/>
                <a:gd name="txR" fmla="*/ 89 w 89"/>
                <a:gd name="txB" fmla="*/ 102 h 102"/>
              </a:gdLst>
              <a:ahLst/>
              <a:cxnLst>
                <a:cxn ang="0">
                  <a:pos x="91042" y="42518"/>
                </a:cxn>
                <a:cxn ang="0">
                  <a:pos x="91042" y="26175"/>
                </a:cxn>
                <a:cxn ang="0">
                  <a:pos x="79432" y="15782"/>
                </a:cxn>
                <a:cxn ang="0">
                  <a:pos x="66322" y="5890"/>
                </a:cxn>
                <a:cxn ang="0">
                  <a:pos x="48414" y="0"/>
                </a:cxn>
                <a:cxn ang="0">
                  <a:pos x="29508" y="5890"/>
                </a:cxn>
                <a:cxn ang="0">
                  <a:pos x="10962" y="15782"/>
                </a:cxn>
                <a:cxn ang="0">
                  <a:pos x="6518" y="26175"/>
                </a:cxn>
                <a:cxn ang="0">
                  <a:pos x="0" y="42518"/>
                </a:cxn>
                <a:cxn ang="0">
                  <a:pos x="6518" y="64110"/>
                </a:cxn>
                <a:cxn ang="0">
                  <a:pos x="10962" y="74211"/>
                </a:cxn>
                <a:cxn ang="0">
                  <a:pos x="29508" y="84907"/>
                </a:cxn>
                <a:cxn ang="0">
                  <a:pos x="48414" y="90922"/>
                </a:cxn>
                <a:cxn ang="0">
                  <a:pos x="66322" y="84907"/>
                </a:cxn>
                <a:cxn ang="0">
                  <a:pos x="79432" y="74211"/>
                </a:cxn>
                <a:cxn ang="0">
                  <a:pos x="91042" y="64110"/>
                </a:cxn>
                <a:cxn ang="0">
                  <a:pos x="91042" y="42518"/>
                </a:cxn>
                <a:cxn ang="0">
                  <a:pos x="91042" y="42518"/>
                </a:cxn>
              </a:cxnLst>
              <a:rect l="txL" t="txT" r="txR" b="txB"/>
              <a:pathLst>
                <a:path w="89" h="102">
                  <a:moveTo>
                    <a:pt x="89" y="48"/>
                  </a:moveTo>
                  <a:lnTo>
                    <a:pt x="89" y="30"/>
                  </a:lnTo>
                  <a:lnTo>
                    <a:pt x="77" y="18"/>
                  </a:lnTo>
                  <a:lnTo>
                    <a:pt x="65" y="6"/>
                  </a:lnTo>
                  <a:lnTo>
                    <a:pt x="47" y="0"/>
                  </a:lnTo>
                  <a:lnTo>
                    <a:pt x="29" y="6"/>
                  </a:lnTo>
                  <a:lnTo>
                    <a:pt x="11" y="18"/>
                  </a:lnTo>
                  <a:lnTo>
                    <a:pt x="6" y="30"/>
                  </a:lnTo>
                  <a:lnTo>
                    <a:pt x="0" y="48"/>
                  </a:lnTo>
                  <a:lnTo>
                    <a:pt x="6" y="72"/>
                  </a:lnTo>
                  <a:lnTo>
                    <a:pt x="11" y="84"/>
                  </a:lnTo>
                  <a:lnTo>
                    <a:pt x="29" y="96"/>
                  </a:lnTo>
                  <a:lnTo>
                    <a:pt x="47" y="102"/>
                  </a:lnTo>
                  <a:lnTo>
                    <a:pt x="65" y="96"/>
                  </a:lnTo>
                  <a:lnTo>
                    <a:pt x="77" y="84"/>
                  </a:lnTo>
                  <a:lnTo>
                    <a:pt x="89" y="72"/>
                  </a:lnTo>
                  <a:lnTo>
                    <a:pt x="89" y="48"/>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54" name="Freeform 28"/>
            <p:cNvSpPr/>
            <p:nvPr/>
          </p:nvSpPr>
          <p:spPr>
            <a:xfrm>
              <a:off x="1095" y="1321"/>
              <a:ext cx="54" cy="61"/>
            </a:xfrm>
            <a:custGeom>
              <a:avLst/>
              <a:gdLst>
                <a:gd name="txL" fmla="*/ 0 w 42"/>
                <a:gd name="txT" fmla="*/ 0 h 48"/>
                <a:gd name="txR" fmla="*/ 42 w 42"/>
                <a:gd name="txB" fmla="*/ 48 h 48"/>
              </a:gdLst>
              <a:ahLst/>
              <a:cxnLst>
                <a:cxn ang="0">
                  <a:pos x="47483" y="39647"/>
                </a:cxn>
                <a:cxn ang="0">
                  <a:pos x="47483" y="24549"/>
                </a:cxn>
                <a:cxn ang="0">
                  <a:pos x="34136" y="14810"/>
                </a:cxn>
                <a:cxn ang="0">
                  <a:pos x="20650" y="5509"/>
                </a:cxn>
                <a:cxn ang="0">
                  <a:pos x="0" y="0"/>
                </a:cxn>
                <a:cxn ang="0">
                  <a:pos x="0" y="0"/>
                </a:cxn>
                <a:cxn ang="0">
                  <a:pos x="20650" y="5509"/>
                </a:cxn>
                <a:cxn ang="0">
                  <a:pos x="34136" y="14810"/>
                </a:cxn>
                <a:cxn ang="0">
                  <a:pos x="47483" y="24549"/>
                </a:cxn>
                <a:cxn ang="0">
                  <a:pos x="47483" y="39647"/>
                </a:cxn>
                <a:cxn ang="0">
                  <a:pos x="47483" y="39647"/>
                </a:cxn>
              </a:cxnLst>
              <a:rect l="txL" t="txT" r="txR" b="txB"/>
              <a:pathLst>
                <a:path w="42" h="48">
                  <a:moveTo>
                    <a:pt x="42" y="48"/>
                  </a:moveTo>
                  <a:lnTo>
                    <a:pt x="42" y="30"/>
                  </a:lnTo>
                  <a:lnTo>
                    <a:pt x="30" y="18"/>
                  </a:lnTo>
                  <a:lnTo>
                    <a:pt x="18" y="6"/>
                  </a:lnTo>
                  <a:lnTo>
                    <a:pt x="0" y="0"/>
                  </a:lnTo>
                  <a:lnTo>
                    <a:pt x="18" y="6"/>
                  </a:lnTo>
                  <a:lnTo>
                    <a:pt x="30" y="18"/>
                  </a:lnTo>
                  <a:lnTo>
                    <a:pt x="42" y="30"/>
                  </a:lnTo>
                  <a:lnTo>
                    <a:pt x="42"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55" name="Freeform 29"/>
            <p:cNvSpPr>
              <a:spLocks noEditPoints="1"/>
            </p:cNvSpPr>
            <p:nvPr/>
          </p:nvSpPr>
          <p:spPr>
            <a:xfrm>
              <a:off x="1035" y="1321"/>
              <a:ext cx="60" cy="61"/>
            </a:xfrm>
            <a:custGeom>
              <a:avLst/>
              <a:gdLst>
                <a:gd name="txL" fmla="*/ 0 w 47"/>
                <a:gd name="txT" fmla="*/ 0 h 48"/>
                <a:gd name="txR" fmla="*/ 47 w 47"/>
                <a:gd name="txB" fmla="*/ 48 h 48"/>
              </a:gdLst>
              <a:ahLst/>
              <a:cxnLst>
                <a:cxn ang="0">
                  <a:pos x="43861" y="0"/>
                </a:cxn>
                <a:cxn ang="0">
                  <a:pos x="26914" y="5509"/>
                </a:cxn>
                <a:cxn ang="0">
                  <a:pos x="10134" y="14810"/>
                </a:cxn>
                <a:cxn ang="0">
                  <a:pos x="6115" y="24549"/>
                </a:cxn>
                <a:cxn ang="0">
                  <a:pos x="0" y="39647"/>
                </a:cxn>
                <a:cxn ang="0">
                  <a:pos x="0" y="39647"/>
                </a:cxn>
                <a:cxn ang="0">
                  <a:pos x="6115" y="24549"/>
                </a:cxn>
                <a:cxn ang="0">
                  <a:pos x="10134" y="14810"/>
                </a:cxn>
                <a:cxn ang="0">
                  <a:pos x="26914" y="5509"/>
                </a:cxn>
                <a:cxn ang="0">
                  <a:pos x="43861" y="0"/>
                </a:cxn>
                <a:cxn ang="0">
                  <a:pos x="43861" y="0"/>
                </a:cxn>
                <a:cxn ang="0">
                  <a:pos x="43861" y="0"/>
                </a:cxn>
                <a:cxn ang="0">
                  <a:pos x="43861" y="0"/>
                </a:cxn>
                <a:cxn ang="0">
                  <a:pos x="43861" y="0"/>
                </a:cxn>
              </a:cxnLst>
              <a:rect l="txL" t="txT" r="txR" b="txB"/>
              <a:pathLst>
                <a:path w="47" h="48">
                  <a:moveTo>
                    <a:pt x="47" y="0"/>
                  </a:moveTo>
                  <a:lnTo>
                    <a:pt x="29" y="6"/>
                  </a:lnTo>
                  <a:lnTo>
                    <a:pt x="11" y="18"/>
                  </a:lnTo>
                  <a:lnTo>
                    <a:pt x="6" y="30"/>
                  </a:lnTo>
                  <a:lnTo>
                    <a:pt x="0" y="48"/>
                  </a:lnTo>
                  <a:lnTo>
                    <a:pt x="6" y="30"/>
                  </a:lnTo>
                  <a:lnTo>
                    <a:pt x="11" y="18"/>
                  </a:lnTo>
                  <a:lnTo>
                    <a:pt x="29" y="6"/>
                  </a:lnTo>
                  <a:lnTo>
                    <a:pt x="47" y="0"/>
                  </a:lnTo>
                  <a:close/>
                  <a:moveTo>
                    <a:pt x="47" y="0"/>
                  </a:moveTo>
                  <a:lnTo>
                    <a:pt x="47"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56" name="Freeform 30"/>
            <p:cNvSpPr>
              <a:spLocks noEditPoints="1"/>
            </p:cNvSpPr>
            <p:nvPr/>
          </p:nvSpPr>
          <p:spPr>
            <a:xfrm>
              <a:off x="1035" y="1382"/>
              <a:ext cx="60" cy="69"/>
            </a:xfrm>
            <a:custGeom>
              <a:avLst/>
              <a:gdLst>
                <a:gd name="txL" fmla="*/ 0 w 47"/>
                <a:gd name="txT" fmla="*/ 0 h 54"/>
                <a:gd name="txR" fmla="*/ 47 w 47"/>
                <a:gd name="txB" fmla="*/ 54 h 54"/>
              </a:gdLst>
              <a:ahLst/>
              <a:cxnLst>
                <a:cxn ang="0">
                  <a:pos x="0" y="0"/>
                </a:cxn>
                <a:cxn ang="0">
                  <a:pos x="6115" y="23252"/>
                </a:cxn>
                <a:cxn ang="0">
                  <a:pos x="10134" y="34532"/>
                </a:cxn>
                <a:cxn ang="0">
                  <a:pos x="26914" y="45994"/>
                </a:cxn>
                <a:cxn ang="0">
                  <a:pos x="43861" y="51414"/>
                </a:cxn>
                <a:cxn ang="0">
                  <a:pos x="43861" y="51414"/>
                </a:cxn>
                <a:cxn ang="0">
                  <a:pos x="26914" y="45994"/>
                </a:cxn>
                <a:cxn ang="0">
                  <a:pos x="10134" y="34532"/>
                </a:cxn>
                <a:cxn ang="0">
                  <a:pos x="6115" y="23252"/>
                </a:cxn>
                <a:cxn ang="0">
                  <a:pos x="0" y="0"/>
                </a:cxn>
                <a:cxn ang="0">
                  <a:pos x="0" y="0"/>
                </a:cxn>
                <a:cxn ang="0">
                  <a:pos x="0" y="0"/>
                </a:cxn>
                <a:cxn ang="0">
                  <a:pos x="0" y="0"/>
                </a:cxn>
                <a:cxn ang="0">
                  <a:pos x="0" y="0"/>
                </a:cxn>
              </a:cxnLst>
              <a:rect l="txL" t="txT" r="txR" b="txB"/>
              <a:pathLst>
                <a:path w="47" h="54">
                  <a:moveTo>
                    <a:pt x="0" y="0"/>
                  </a:moveTo>
                  <a:lnTo>
                    <a:pt x="6" y="24"/>
                  </a:lnTo>
                  <a:lnTo>
                    <a:pt x="11" y="36"/>
                  </a:lnTo>
                  <a:lnTo>
                    <a:pt x="29" y="48"/>
                  </a:lnTo>
                  <a:lnTo>
                    <a:pt x="47" y="54"/>
                  </a:lnTo>
                  <a:lnTo>
                    <a:pt x="29" y="48"/>
                  </a:lnTo>
                  <a:lnTo>
                    <a:pt x="11" y="36"/>
                  </a:lnTo>
                  <a:lnTo>
                    <a:pt x="6" y="24"/>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57" name="Freeform 31"/>
            <p:cNvSpPr>
              <a:spLocks noEditPoints="1"/>
            </p:cNvSpPr>
            <p:nvPr/>
          </p:nvSpPr>
          <p:spPr>
            <a:xfrm>
              <a:off x="1095" y="1382"/>
              <a:ext cx="54" cy="69"/>
            </a:xfrm>
            <a:custGeom>
              <a:avLst/>
              <a:gdLst>
                <a:gd name="txL" fmla="*/ 0 w 42"/>
                <a:gd name="txT" fmla="*/ 0 h 54"/>
                <a:gd name="txR" fmla="*/ 42 w 42"/>
                <a:gd name="txB" fmla="*/ 54 h 54"/>
              </a:gdLst>
              <a:ahLst/>
              <a:cxnLst>
                <a:cxn ang="0">
                  <a:pos x="0" y="51414"/>
                </a:cxn>
                <a:cxn ang="0">
                  <a:pos x="20650" y="45994"/>
                </a:cxn>
                <a:cxn ang="0">
                  <a:pos x="34136" y="34532"/>
                </a:cxn>
                <a:cxn ang="0">
                  <a:pos x="47483" y="23252"/>
                </a:cxn>
                <a:cxn ang="0">
                  <a:pos x="47483" y="0"/>
                </a:cxn>
                <a:cxn ang="0">
                  <a:pos x="47483" y="0"/>
                </a:cxn>
                <a:cxn ang="0">
                  <a:pos x="47483" y="23252"/>
                </a:cxn>
                <a:cxn ang="0">
                  <a:pos x="34136" y="34532"/>
                </a:cxn>
                <a:cxn ang="0">
                  <a:pos x="20650" y="45994"/>
                </a:cxn>
                <a:cxn ang="0">
                  <a:pos x="0" y="51414"/>
                </a:cxn>
                <a:cxn ang="0">
                  <a:pos x="0" y="51414"/>
                </a:cxn>
                <a:cxn ang="0">
                  <a:pos x="0" y="51414"/>
                </a:cxn>
                <a:cxn ang="0">
                  <a:pos x="0" y="51414"/>
                </a:cxn>
                <a:cxn ang="0">
                  <a:pos x="0" y="51414"/>
                </a:cxn>
              </a:cxnLst>
              <a:rect l="txL" t="txT" r="txR" b="txB"/>
              <a:pathLst>
                <a:path w="42" h="54">
                  <a:moveTo>
                    <a:pt x="0" y="54"/>
                  </a:moveTo>
                  <a:lnTo>
                    <a:pt x="18" y="48"/>
                  </a:lnTo>
                  <a:lnTo>
                    <a:pt x="30" y="36"/>
                  </a:lnTo>
                  <a:lnTo>
                    <a:pt x="42" y="24"/>
                  </a:lnTo>
                  <a:lnTo>
                    <a:pt x="42" y="0"/>
                  </a:lnTo>
                  <a:lnTo>
                    <a:pt x="42" y="24"/>
                  </a:lnTo>
                  <a:lnTo>
                    <a:pt x="30" y="36"/>
                  </a:lnTo>
                  <a:lnTo>
                    <a:pt x="18" y="48"/>
                  </a:lnTo>
                  <a:lnTo>
                    <a:pt x="0" y="54"/>
                  </a:lnTo>
                  <a:close/>
                  <a:moveTo>
                    <a:pt x="0" y="54"/>
                  </a:moveTo>
                  <a:lnTo>
                    <a:pt x="0" y="5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58" name="Freeform 32"/>
            <p:cNvSpPr/>
            <p:nvPr/>
          </p:nvSpPr>
          <p:spPr>
            <a:xfrm>
              <a:off x="1149" y="1382"/>
              <a:ext cx="2" cy="2"/>
            </a:xfrm>
            <a:custGeom>
              <a:avLst/>
              <a:gdLst>
                <a:gd name="txL" fmla="*/ 0 w 2"/>
                <a:gd name="txT" fmla="*/ 0 h 2"/>
                <a:gd name="txR" fmla="*/ 2 w 2"/>
                <a:gd name="txB" fmla="*/ 2 h 2"/>
              </a:gdLst>
              <a:ahLst/>
              <a:cxnLst>
                <a:cxn ang="0">
                  <a:pos x="0" y="0"/>
                </a:cxn>
                <a:cxn ang="0">
                  <a:pos x="0" y="0"/>
                </a:cxn>
                <a:cxn ang="0">
                  <a:pos x="0" y="0"/>
                </a:cxn>
              </a:cxnLst>
              <a:rect l="txL" t="txT" r="txR" b="txB"/>
              <a:pathLst>
                <a:path w="2" h="2">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59" name="Freeform 33"/>
            <p:cNvSpPr/>
            <p:nvPr/>
          </p:nvSpPr>
          <p:spPr>
            <a:xfrm>
              <a:off x="3643" y="2006"/>
              <a:ext cx="276" cy="814"/>
            </a:xfrm>
            <a:custGeom>
              <a:avLst/>
              <a:gdLst>
                <a:gd name="txL" fmla="*/ 0 w 215"/>
                <a:gd name="txT" fmla="*/ 0 h 639"/>
                <a:gd name="txR" fmla="*/ 215 w 215"/>
                <a:gd name="txB" fmla="*/ 639 h 639"/>
              </a:gdLst>
              <a:ahLst/>
              <a:cxnLst>
                <a:cxn ang="0">
                  <a:pos x="233716" y="561172"/>
                </a:cxn>
                <a:cxn ang="0">
                  <a:pos x="233716" y="0"/>
                </a:cxn>
                <a:cxn ang="0">
                  <a:pos x="0" y="0"/>
                </a:cxn>
                <a:cxn ang="0">
                  <a:pos x="0" y="561172"/>
                </a:cxn>
                <a:cxn ang="0">
                  <a:pos x="233716" y="561172"/>
                </a:cxn>
                <a:cxn ang="0">
                  <a:pos x="233716" y="561172"/>
                </a:cxn>
              </a:cxnLst>
              <a:rect l="txL" t="txT" r="txR" b="txB"/>
              <a:pathLst>
                <a:path w="215" h="639">
                  <a:moveTo>
                    <a:pt x="215" y="639"/>
                  </a:moveTo>
                  <a:lnTo>
                    <a:pt x="215" y="0"/>
                  </a:lnTo>
                  <a:lnTo>
                    <a:pt x="0" y="0"/>
                  </a:lnTo>
                  <a:lnTo>
                    <a:pt x="0" y="639"/>
                  </a:lnTo>
                  <a:lnTo>
                    <a:pt x="215" y="639"/>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60" name="Freeform 34"/>
            <p:cNvSpPr/>
            <p:nvPr/>
          </p:nvSpPr>
          <p:spPr>
            <a:xfrm>
              <a:off x="3919" y="2006"/>
              <a:ext cx="1" cy="814"/>
            </a:xfrm>
            <a:custGeom>
              <a:avLst/>
              <a:gdLst>
                <a:gd name="txL" fmla="*/ 0 w 1"/>
                <a:gd name="txT" fmla="*/ 0 h 639"/>
                <a:gd name="txR" fmla="*/ 1 w 1"/>
                <a:gd name="txB" fmla="*/ 639 h 639"/>
              </a:gdLst>
              <a:ahLst/>
              <a:cxnLst>
                <a:cxn ang="0">
                  <a:pos x="0" y="561172"/>
                </a:cxn>
                <a:cxn ang="0">
                  <a:pos x="0" y="0"/>
                </a:cxn>
                <a:cxn ang="0">
                  <a:pos x="0" y="561172"/>
                </a:cxn>
                <a:cxn ang="0">
                  <a:pos x="0" y="561172"/>
                </a:cxn>
              </a:cxnLst>
              <a:rect l="txL" t="txT" r="txR" b="txB"/>
              <a:pathLst>
                <a:path w="1" h="639">
                  <a:moveTo>
                    <a:pt x="0" y="639"/>
                  </a:moveTo>
                  <a:lnTo>
                    <a:pt x="0" y="0"/>
                  </a:lnTo>
                  <a:lnTo>
                    <a:pt x="0" y="63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61" name="Freeform 35"/>
            <p:cNvSpPr>
              <a:spLocks noEditPoints="1"/>
            </p:cNvSpPr>
            <p:nvPr/>
          </p:nvSpPr>
          <p:spPr>
            <a:xfrm>
              <a:off x="3643" y="2006"/>
              <a:ext cx="276" cy="2"/>
            </a:xfrm>
            <a:custGeom>
              <a:avLst/>
              <a:gdLst>
                <a:gd name="txL" fmla="*/ 0 w 215"/>
                <a:gd name="txT" fmla="*/ 0 h 2"/>
                <a:gd name="txR" fmla="*/ 215 w 215"/>
                <a:gd name="txB" fmla="*/ 2 h 2"/>
              </a:gdLst>
              <a:ahLst/>
              <a:cxnLst>
                <a:cxn ang="0">
                  <a:pos x="233716" y="0"/>
                </a:cxn>
                <a:cxn ang="0">
                  <a:pos x="0" y="0"/>
                </a:cxn>
                <a:cxn ang="0">
                  <a:pos x="233716" y="0"/>
                </a:cxn>
                <a:cxn ang="0">
                  <a:pos x="233716" y="0"/>
                </a:cxn>
                <a:cxn ang="0">
                  <a:pos x="233716" y="0"/>
                </a:cxn>
                <a:cxn ang="0">
                  <a:pos x="233716" y="0"/>
                </a:cxn>
                <a:cxn ang="0">
                  <a:pos x="233716" y="0"/>
                </a:cxn>
              </a:cxnLst>
              <a:rect l="txL" t="txT" r="txR" b="txB"/>
              <a:pathLst>
                <a:path w="215" h="2">
                  <a:moveTo>
                    <a:pt x="215" y="0"/>
                  </a:moveTo>
                  <a:lnTo>
                    <a:pt x="0" y="0"/>
                  </a:lnTo>
                  <a:lnTo>
                    <a:pt x="215" y="0"/>
                  </a:lnTo>
                  <a:close/>
                  <a:moveTo>
                    <a:pt x="215" y="0"/>
                  </a:moveTo>
                  <a:lnTo>
                    <a:pt x="215"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62" name="Freeform 36"/>
            <p:cNvSpPr>
              <a:spLocks noEditPoints="1"/>
            </p:cNvSpPr>
            <p:nvPr/>
          </p:nvSpPr>
          <p:spPr>
            <a:xfrm>
              <a:off x="3643" y="2006"/>
              <a:ext cx="1" cy="814"/>
            </a:xfrm>
            <a:custGeom>
              <a:avLst/>
              <a:gdLst>
                <a:gd name="txL" fmla="*/ 0 w 1"/>
                <a:gd name="txT" fmla="*/ 0 h 639"/>
                <a:gd name="txR" fmla="*/ 1 w 1"/>
                <a:gd name="txB" fmla="*/ 639 h 639"/>
              </a:gdLst>
              <a:ahLst/>
              <a:cxnLst>
                <a:cxn ang="0">
                  <a:pos x="0" y="0"/>
                </a:cxn>
                <a:cxn ang="0">
                  <a:pos x="0" y="561172"/>
                </a:cxn>
                <a:cxn ang="0">
                  <a:pos x="0" y="0"/>
                </a:cxn>
                <a:cxn ang="0">
                  <a:pos x="0" y="0"/>
                </a:cxn>
                <a:cxn ang="0">
                  <a:pos x="0" y="0"/>
                </a:cxn>
                <a:cxn ang="0">
                  <a:pos x="0" y="0"/>
                </a:cxn>
                <a:cxn ang="0">
                  <a:pos x="0" y="0"/>
                </a:cxn>
              </a:cxnLst>
              <a:rect l="txL" t="txT" r="txR" b="txB"/>
              <a:pathLst>
                <a:path w="1" h="639">
                  <a:moveTo>
                    <a:pt x="0" y="0"/>
                  </a:moveTo>
                  <a:lnTo>
                    <a:pt x="0" y="639"/>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63" name="Freeform 37"/>
            <p:cNvSpPr>
              <a:spLocks noEditPoints="1"/>
            </p:cNvSpPr>
            <p:nvPr/>
          </p:nvSpPr>
          <p:spPr>
            <a:xfrm>
              <a:off x="3643" y="2820"/>
              <a:ext cx="276" cy="1"/>
            </a:xfrm>
            <a:custGeom>
              <a:avLst/>
              <a:gdLst>
                <a:gd name="txL" fmla="*/ 0 w 215"/>
                <a:gd name="txT" fmla="*/ 0 h 1"/>
                <a:gd name="txR" fmla="*/ 215 w 215"/>
                <a:gd name="txB" fmla="*/ 1 h 1"/>
              </a:gdLst>
              <a:ahLst/>
              <a:cxnLst>
                <a:cxn ang="0">
                  <a:pos x="0" y="0"/>
                </a:cxn>
                <a:cxn ang="0">
                  <a:pos x="233716" y="0"/>
                </a:cxn>
                <a:cxn ang="0">
                  <a:pos x="0" y="0"/>
                </a:cxn>
                <a:cxn ang="0">
                  <a:pos x="0" y="0"/>
                </a:cxn>
                <a:cxn ang="0">
                  <a:pos x="0" y="0"/>
                </a:cxn>
                <a:cxn ang="0">
                  <a:pos x="0" y="0"/>
                </a:cxn>
                <a:cxn ang="0">
                  <a:pos x="0" y="0"/>
                </a:cxn>
              </a:cxnLst>
              <a:rect l="txL" t="txT" r="txR" b="txB"/>
              <a:pathLst>
                <a:path w="215" h="1">
                  <a:moveTo>
                    <a:pt x="0" y="0"/>
                  </a:moveTo>
                  <a:lnTo>
                    <a:pt x="215" y="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64" name="Freeform 38"/>
            <p:cNvSpPr/>
            <p:nvPr/>
          </p:nvSpPr>
          <p:spPr>
            <a:xfrm>
              <a:off x="3919" y="2820"/>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65" name="Freeform 39"/>
            <p:cNvSpPr/>
            <p:nvPr/>
          </p:nvSpPr>
          <p:spPr>
            <a:xfrm>
              <a:off x="1996" y="2189"/>
              <a:ext cx="439" cy="463"/>
            </a:xfrm>
            <a:custGeom>
              <a:avLst/>
              <a:gdLst>
                <a:gd name="txL" fmla="*/ 0 w 341"/>
                <a:gd name="txT" fmla="*/ 0 h 364"/>
                <a:gd name="txR" fmla="*/ 341 w 341"/>
                <a:gd name="txB" fmla="*/ 364 h 364"/>
              </a:gdLst>
              <a:ahLst/>
              <a:cxnLst>
                <a:cxn ang="0">
                  <a:pos x="197693" y="306486"/>
                </a:cxn>
                <a:cxn ang="0">
                  <a:pos x="240940" y="301306"/>
                </a:cxn>
                <a:cxn ang="0">
                  <a:pos x="275159" y="296718"/>
                </a:cxn>
                <a:cxn ang="0">
                  <a:pos x="310184" y="281599"/>
                </a:cxn>
                <a:cxn ang="0">
                  <a:pos x="345100" y="260384"/>
                </a:cxn>
                <a:cxn ang="0">
                  <a:pos x="388712" y="211062"/>
                </a:cxn>
                <a:cxn ang="0">
                  <a:pos x="395051" y="180538"/>
                </a:cxn>
                <a:cxn ang="0">
                  <a:pos x="402116" y="150888"/>
                </a:cxn>
                <a:cxn ang="0">
                  <a:pos x="395051" y="120701"/>
                </a:cxn>
                <a:cxn ang="0">
                  <a:pos x="388712" y="95506"/>
                </a:cxn>
                <a:cxn ang="0">
                  <a:pos x="345100" y="45823"/>
                </a:cxn>
                <a:cxn ang="0">
                  <a:pos x="310184" y="24992"/>
                </a:cxn>
                <a:cxn ang="0">
                  <a:pos x="275159" y="9955"/>
                </a:cxn>
                <a:cxn ang="0">
                  <a:pos x="240940" y="5695"/>
                </a:cxn>
                <a:cxn ang="0">
                  <a:pos x="197693" y="0"/>
                </a:cxn>
                <a:cxn ang="0">
                  <a:pos x="163229" y="5695"/>
                </a:cxn>
                <a:cxn ang="0">
                  <a:pos x="120807" y="9955"/>
                </a:cxn>
                <a:cxn ang="0">
                  <a:pos x="92002" y="24992"/>
                </a:cxn>
                <a:cxn ang="0">
                  <a:pos x="57043" y="45823"/>
                </a:cxn>
                <a:cxn ang="0">
                  <a:pos x="13258" y="95506"/>
                </a:cxn>
                <a:cxn ang="0">
                  <a:pos x="7164" y="120701"/>
                </a:cxn>
                <a:cxn ang="0">
                  <a:pos x="0" y="150888"/>
                </a:cxn>
                <a:cxn ang="0">
                  <a:pos x="7164" y="180538"/>
                </a:cxn>
                <a:cxn ang="0">
                  <a:pos x="13258" y="211062"/>
                </a:cxn>
                <a:cxn ang="0">
                  <a:pos x="57043" y="260384"/>
                </a:cxn>
                <a:cxn ang="0">
                  <a:pos x="92002" y="281599"/>
                </a:cxn>
                <a:cxn ang="0">
                  <a:pos x="120807" y="296718"/>
                </a:cxn>
                <a:cxn ang="0">
                  <a:pos x="163229" y="301306"/>
                </a:cxn>
                <a:cxn ang="0">
                  <a:pos x="197693" y="306486"/>
                </a:cxn>
                <a:cxn ang="0">
                  <a:pos x="197693" y="306486"/>
                </a:cxn>
              </a:cxnLst>
              <a:rect l="txL" t="txT" r="txR" b="txB"/>
              <a:pathLst>
                <a:path w="341" h="364">
                  <a:moveTo>
                    <a:pt x="168" y="364"/>
                  </a:moveTo>
                  <a:lnTo>
                    <a:pt x="204" y="358"/>
                  </a:lnTo>
                  <a:lnTo>
                    <a:pt x="233" y="352"/>
                  </a:lnTo>
                  <a:lnTo>
                    <a:pt x="263" y="334"/>
                  </a:lnTo>
                  <a:lnTo>
                    <a:pt x="293" y="310"/>
                  </a:lnTo>
                  <a:lnTo>
                    <a:pt x="329" y="251"/>
                  </a:lnTo>
                  <a:lnTo>
                    <a:pt x="335" y="215"/>
                  </a:lnTo>
                  <a:lnTo>
                    <a:pt x="341" y="179"/>
                  </a:lnTo>
                  <a:lnTo>
                    <a:pt x="335" y="143"/>
                  </a:lnTo>
                  <a:lnTo>
                    <a:pt x="329" y="113"/>
                  </a:lnTo>
                  <a:lnTo>
                    <a:pt x="293" y="54"/>
                  </a:lnTo>
                  <a:lnTo>
                    <a:pt x="263" y="30"/>
                  </a:lnTo>
                  <a:lnTo>
                    <a:pt x="233" y="12"/>
                  </a:lnTo>
                  <a:lnTo>
                    <a:pt x="204" y="6"/>
                  </a:lnTo>
                  <a:lnTo>
                    <a:pt x="168" y="0"/>
                  </a:lnTo>
                  <a:lnTo>
                    <a:pt x="138" y="6"/>
                  </a:lnTo>
                  <a:lnTo>
                    <a:pt x="102" y="12"/>
                  </a:lnTo>
                  <a:lnTo>
                    <a:pt x="78" y="30"/>
                  </a:lnTo>
                  <a:lnTo>
                    <a:pt x="48" y="54"/>
                  </a:lnTo>
                  <a:lnTo>
                    <a:pt x="12" y="113"/>
                  </a:lnTo>
                  <a:lnTo>
                    <a:pt x="6" y="143"/>
                  </a:lnTo>
                  <a:lnTo>
                    <a:pt x="0" y="179"/>
                  </a:lnTo>
                  <a:lnTo>
                    <a:pt x="6" y="215"/>
                  </a:lnTo>
                  <a:lnTo>
                    <a:pt x="12" y="251"/>
                  </a:lnTo>
                  <a:lnTo>
                    <a:pt x="48" y="310"/>
                  </a:lnTo>
                  <a:lnTo>
                    <a:pt x="78" y="334"/>
                  </a:lnTo>
                  <a:lnTo>
                    <a:pt x="102" y="352"/>
                  </a:lnTo>
                  <a:lnTo>
                    <a:pt x="138" y="358"/>
                  </a:lnTo>
                  <a:lnTo>
                    <a:pt x="168" y="364"/>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66" name="Freeform 40"/>
            <p:cNvSpPr/>
            <p:nvPr/>
          </p:nvSpPr>
          <p:spPr>
            <a:xfrm>
              <a:off x="2212" y="2417"/>
              <a:ext cx="223" cy="235"/>
            </a:xfrm>
            <a:custGeom>
              <a:avLst/>
              <a:gdLst>
                <a:gd name="txL" fmla="*/ 0 w 173"/>
                <a:gd name="txT" fmla="*/ 0 h 185"/>
                <a:gd name="txR" fmla="*/ 173 w 173"/>
                <a:gd name="txB" fmla="*/ 185 h 185"/>
              </a:gdLst>
              <a:ahLst/>
              <a:cxnLst>
                <a:cxn ang="0">
                  <a:pos x="0" y="150592"/>
                </a:cxn>
                <a:cxn ang="0">
                  <a:pos x="43083" y="145094"/>
                </a:cxn>
                <a:cxn ang="0">
                  <a:pos x="79370" y="140254"/>
                </a:cxn>
                <a:cxn ang="0">
                  <a:pos x="115248" y="125846"/>
                </a:cxn>
                <a:cxn ang="0">
                  <a:pos x="152969" y="105876"/>
                </a:cxn>
                <a:cxn ang="0">
                  <a:pos x="197180" y="58467"/>
                </a:cxn>
                <a:cxn ang="0">
                  <a:pos x="203670" y="29190"/>
                </a:cxn>
                <a:cxn ang="0">
                  <a:pos x="211345" y="0"/>
                </a:cxn>
                <a:cxn ang="0">
                  <a:pos x="211345" y="0"/>
                </a:cxn>
                <a:cxn ang="0">
                  <a:pos x="203670" y="29190"/>
                </a:cxn>
                <a:cxn ang="0">
                  <a:pos x="197180" y="58467"/>
                </a:cxn>
                <a:cxn ang="0">
                  <a:pos x="152969" y="105876"/>
                </a:cxn>
                <a:cxn ang="0">
                  <a:pos x="115248" y="125846"/>
                </a:cxn>
                <a:cxn ang="0">
                  <a:pos x="79370" y="140254"/>
                </a:cxn>
                <a:cxn ang="0">
                  <a:pos x="43083" y="145094"/>
                </a:cxn>
                <a:cxn ang="0">
                  <a:pos x="0" y="150592"/>
                </a:cxn>
                <a:cxn ang="0">
                  <a:pos x="0" y="150592"/>
                </a:cxn>
              </a:cxnLst>
              <a:rect l="txL" t="txT" r="txR" b="txB"/>
              <a:pathLst>
                <a:path w="173" h="185">
                  <a:moveTo>
                    <a:pt x="0" y="185"/>
                  </a:moveTo>
                  <a:lnTo>
                    <a:pt x="36" y="179"/>
                  </a:lnTo>
                  <a:lnTo>
                    <a:pt x="65" y="173"/>
                  </a:lnTo>
                  <a:lnTo>
                    <a:pt x="95" y="155"/>
                  </a:lnTo>
                  <a:lnTo>
                    <a:pt x="125" y="131"/>
                  </a:lnTo>
                  <a:lnTo>
                    <a:pt x="161" y="72"/>
                  </a:lnTo>
                  <a:lnTo>
                    <a:pt x="167" y="36"/>
                  </a:lnTo>
                  <a:lnTo>
                    <a:pt x="173" y="0"/>
                  </a:lnTo>
                  <a:lnTo>
                    <a:pt x="167" y="36"/>
                  </a:lnTo>
                  <a:lnTo>
                    <a:pt x="161" y="72"/>
                  </a:lnTo>
                  <a:lnTo>
                    <a:pt x="125" y="131"/>
                  </a:lnTo>
                  <a:lnTo>
                    <a:pt x="95" y="155"/>
                  </a:lnTo>
                  <a:lnTo>
                    <a:pt x="65" y="173"/>
                  </a:lnTo>
                  <a:lnTo>
                    <a:pt x="36" y="179"/>
                  </a:lnTo>
                  <a:lnTo>
                    <a:pt x="0" y="18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67" name="Freeform 41"/>
            <p:cNvSpPr>
              <a:spLocks noEditPoints="1"/>
            </p:cNvSpPr>
            <p:nvPr/>
          </p:nvSpPr>
          <p:spPr>
            <a:xfrm>
              <a:off x="2212" y="2189"/>
              <a:ext cx="223" cy="228"/>
            </a:xfrm>
            <a:custGeom>
              <a:avLst/>
              <a:gdLst>
                <a:gd name="txL" fmla="*/ 0 w 173"/>
                <a:gd name="txT" fmla="*/ 0 h 179"/>
                <a:gd name="txR" fmla="*/ 173 w 173"/>
                <a:gd name="txB" fmla="*/ 179 h 179"/>
              </a:gdLst>
              <a:ahLst/>
              <a:cxnLst>
                <a:cxn ang="0">
                  <a:pos x="211345" y="156504"/>
                </a:cxn>
                <a:cxn ang="0">
                  <a:pos x="203670" y="125167"/>
                </a:cxn>
                <a:cxn ang="0">
                  <a:pos x="197180" y="98693"/>
                </a:cxn>
                <a:cxn ang="0">
                  <a:pos x="152969" y="47551"/>
                </a:cxn>
                <a:cxn ang="0">
                  <a:pos x="115248" y="25834"/>
                </a:cxn>
                <a:cxn ang="0">
                  <a:pos x="79370" y="10279"/>
                </a:cxn>
                <a:cxn ang="0">
                  <a:pos x="43083" y="5840"/>
                </a:cxn>
                <a:cxn ang="0">
                  <a:pos x="0" y="0"/>
                </a:cxn>
                <a:cxn ang="0">
                  <a:pos x="0" y="0"/>
                </a:cxn>
                <a:cxn ang="0">
                  <a:pos x="43083" y="5840"/>
                </a:cxn>
                <a:cxn ang="0">
                  <a:pos x="79370" y="10279"/>
                </a:cxn>
                <a:cxn ang="0">
                  <a:pos x="115248" y="25834"/>
                </a:cxn>
                <a:cxn ang="0">
                  <a:pos x="152969" y="47551"/>
                </a:cxn>
                <a:cxn ang="0">
                  <a:pos x="197180" y="98693"/>
                </a:cxn>
                <a:cxn ang="0">
                  <a:pos x="203670" y="125167"/>
                </a:cxn>
                <a:cxn ang="0">
                  <a:pos x="211345" y="156504"/>
                </a:cxn>
                <a:cxn ang="0">
                  <a:pos x="211345" y="156504"/>
                </a:cxn>
                <a:cxn ang="0">
                  <a:pos x="211345" y="156504"/>
                </a:cxn>
                <a:cxn ang="0">
                  <a:pos x="211345" y="156504"/>
                </a:cxn>
                <a:cxn ang="0">
                  <a:pos x="211345" y="156504"/>
                </a:cxn>
              </a:cxnLst>
              <a:rect l="txL" t="txT" r="txR" b="txB"/>
              <a:pathLst>
                <a:path w="173" h="179">
                  <a:moveTo>
                    <a:pt x="173" y="179"/>
                  </a:moveTo>
                  <a:lnTo>
                    <a:pt x="167" y="143"/>
                  </a:lnTo>
                  <a:lnTo>
                    <a:pt x="161" y="113"/>
                  </a:lnTo>
                  <a:lnTo>
                    <a:pt x="125" y="54"/>
                  </a:lnTo>
                  <a:lnTo>
                    <a:pt x="95" y="30"/>
                  </a:lnTo>
                  <a:lnTo>
                    <a:pt x="65" y="12"/>
                  </a:lnTo>
                  <a:lnTo>
                    <a:pt x="36" y="6"/>
                  </a:lnTo>
                  <a:lnTo>
                    <a:pt x="0" y="0"/>
                  </a:lnTo>
                  <a:lnTo>
                    <a:pt x="36" y="6"/>
                  </a:lnTo>
                  <a:lnTo>
                    <a:pt x="65" y="12"/>
                  </a:lnTo>
                  <a:lnTo>
                    <a:pt x="95" y="30"/>
                  </a:lnTo>
                  <a:lnTo>
                    <a:pt x="125" y="54"/>
                  </a:lnTo>
                  <a:lnTo>
                    <a:pt x="161" y="113"/>
                  </a:lnTo>
                  <a:lnTo>
                    <a:pt x="167" y="143"/>
                  </a:lnTo>
                  <a:lnTo>
                    <a:pt x="173" y="179"/>
                  </a:lnTo>
                  <a:close/>
                  <a:moveTo>
                    <a:pt x="173" y="179"/>
                  </a:moveTo>
                  <a:lnTo>
                    <a:pt x="173" y="17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68" name="Freeform 42"/>
            <p:cNvSpPr>
              <a:spLocks noEditPoints="1"/>
            </p:cNvSpPr>
            <p:nvPr/>
          </p:nvSpPr>
          <p:spPr>
            <a:xfrm>
              <a:off x="1996" y="2189"/>
              <a:ext cx="216" cy="228"/>
            </a:xfrm>
            <a:custGeom>
              <a:avLst/>
              <a:gdLst>
                <a:gd name="txL" fmla="*/ 0 w 168"/>
                <a:gd name="txT" fmla="*/ 0 h 179"/>
                <a:gd name="txR" fmla="*/ 168 w 168"/>
                <a:gd name="txB" fmla="*/ 179 h 179"/>
              </a:gdLst>
              <a:ahLst/>
              <a:cxnLst>
                <a:cxn ang="0">
                  <a:pos x="191256" y="0"/>
                </a:cxn>
                <a:cxn ang="0">
                  <a:pos x="157127" y="5840"/>
                </a:cxn>
                <a:cxn ang="0">
                  <a:pos x="115698" y="10279"/>
                </a:cxn>
                <a:cxn ang="0">
                  <a:pos x="88647" y="25834"/>
                </a:cxn>
                <a:cxn ang="0">
                  <a:pos x="55270" y="47551"/>
                </a:cxn>
                <a:cxn ang="0">
                  <a:pos x="12874" y="98693"/>
                </a:cxn>
                <a:cxn ang="0">
                  <a:pos x="6999" y="125167"/>
                </a:cxn>
                <a:cxn ang="0">
                  <a:pos x="0" y="156504"/>
                </a:cxn>
                <a:cxn ang="0">
                  <a:pos x="0" y="156504"/>
                </a:cxn>
                <a:cxn ang="0">
                  <a:pos x="6999" y="125167"/>
                </a:cxn>
                <a:cxn ang="0">
                  <a:pos x="12874" y="98693"/>
                </a:cxn>
                <a:cxn ang="0">
                  <a:pos x="55270" y="47551"/>
                </a:cxn>
                <a:cxn ang="0">
                  <a:pos x="88647" y="25834"/>
                </a:cxn>
                <a:cxn ang="0">
                  <a:pos x="115698" y="10279"/>
                </a:cxn>
                <a:cxn ang="0">
                  <a:pos x="157127" y="5840"/>
                </a:cxn>
                <a:cxn ang="0">
                  <a:pos x="191256" y="0"/>
                </a:cxn>
                <a:cxn ang="0">
                  <a:pos x="191256" y="0"/>
                </a:cxn>
                <a:cxn ang="0">
                  <a:pos x="191256" y="0"/>
                </a:cxn>
                <a:cxn ang="0">
                  <a:pos x="191256" y="0"/>
                </a:cxn>
                <a:cxn ang="0">
                  <a:pos x="191256" y="0"/>
                </a:cxn>
              </a:cxnLst>
              <a:rect l="txL" t="txT" r="txR" b="txB"/>
              <a:pathLst>
                <a:path w="168" h="179">
                  <a:moveTo>
                    <a:pt x="168" y="0"/>
                  </a:moveTo>
                  <a:lnTo>
                    <a:pt x="138" y="6"/>
                  </a:lnTo>
                  <a:lnTo>
                    <a:pt x="102" y="12"/>
                  </a:lnTo>
                  <a:lnTo>
                    <a:pt x="78" y="30"/>
                  </a:lnTo>
                  <a:lnTo>
                    <a:pt x="48" y="54"/>
                  </a:lnTo>
                  <a:lnTo>
                    <a:pt x="12" y="113"/>
                  </a:lnTo>
                  <a:lnTo>
                    <a:pt x="6" y="143"/>
                  </a:lnTo>
                  <a:lnTo>
                    <a:pt x="0" y="179"/>
                  </a:lnTo>
                  <a:lnTo>
                    <a:pt x="6" y="143"/>
                  </a:lnTo>
                  <a:lnTo>
                    <a:pt x="12" y="113"/>
                  </a:lnTo>
                  <a:lnTo>
                    <a:pt x="48" y="54"/>
                  </a:lnTo>
                  <a:lnTo>
                    <a:pt x="78" y="30"/>
                  </a:lnTo>
                  <a:lnTo>
                    <a:pt x="102" y="12"/>
                  </a:lnTo>
                  <a:lnTo>
                    <a:pt x="138" y="6"/>
                  </a:lnTo>
                  <a:lnTo>
                    <a:pt x="168" y="0"/>
                  </a:lnTo>
                  <a:close/>
                  <a:moveTo>
                    <a:pt x="168" y="0"/>
                  </a:moveTo>
                  <a:lnTo>
                    <a:pt x="16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69" name="Freeform 43"/>
            <p:cNvSpPr>
              <a:spLocks noEditPoints="1"/>
            </p:cNvSpPr>
            <p:nvPr/>
          </p:nvSpPr>
          <p:spPr>
            <a:xfrm>
              <a:off x="1996" y="2417"/>
              <a:ext cx="216" cy="235"/>
            </a:xfrm>
            <a:custGeom>
              <a:avLst/>
              <a:gdLst>
                <a:gd name="txL" fmla="*/ 0 w 168"/>
                <a:gd name="txT" fmla="*/ 0 h 185"/>
                <a:gd name="txR" fmla="*/ 168 w 168"/>
                <a:gd name="txB" fmla="*/ 185 h 185"/>
              </a:gdLst>
              <a:ahLst/>
              <a:cxnLst>
                <a:cxn ang="0">
                  <a:pos x="0" y="0"/>
                </a:cxn>
                <a:cxn ang="0">
                  <a:pos x="6999" y="29190"/>
                </a:cxn>
                <a:cxn ang="0">
                  <a:pos x="12874" y="58467"/>
                </a:cxn>
                <a:cxn ang="0">
                  <a:pos x="55270" y="105876"/>
                </a:cxn>
                <a:cxn ang="0">
                  <a:pos x="88647" y="125846"/>
                </a:cxn>
                <a:cxn ang="0">
                  <a:pos x="115698" y="140254"/>
                </a:cxn>
                <a:cxn ang="0">
                  <a:pos x="157127" y="145094"/>
                </a:cxn>
                <a:cxn ang="0">
                  <a:pos x="191256" y="150592"/>
                </a:cxn>
                <a:cxn ang="0">
                  <a:pos x="191256" y="150592"/>
                </a:cxn>
                <a:cxn ang="0">
                  <a:pos x="157127" y="145094"/>
                </a:cxn>
                <a:cxn ang="0">
                  <a:pos x="115698" y="140254"/>
                </a:cxn>
                <a:cxn ang="0">
                  <a:pos x="88647" y="125846"/>
                </a:cxn>
                <a:cxn ang="0">
                  <a:pos x="55270" y="105876"/>
                </a:cxn>
                <a:cxn ang="0">
                  <a:pos x="12874" y="58467"/>
                </a:cxn>
                <a:cxn ang="0">
                  <a:pos x="6999" y="29190"/>
                </a:cxn>
                <a:cxn ang="0">
                  <a:pos x="0" y="0"/>
                </a:cxn>
                <a:cxn ang="0">
                  <a:pos x="0" y="0"/>
                </a:cxn>
                <a:cxn ang="0">
                  <a:pos x="0" y="0"/>
                </a:cxn>
                <a:cxn ang="0">
                  <a:pos x="0" y="0"/>
                </a:cxn>
                <a:cxn ang="0">
                  <a:pos x="0" y="0"/>
                </a:cxn>
              </a:cxnLst>
              <a:rect l="txL" t="txT" r="txR" b="txB"/>
              <a:pathLst>
                <a:path w="168" h="185">
                  <a:moveTo>
                    <a:pt x="0" y="0"/>
                  </a:moveTo>
                  <a:lnTo>
                    <a:pt x="6" y="36"/>
                  </a:lnTo>
                  <a:lnTo>
                    <a:pt x="12" y="72"/>
                  </a:lnTo>
                  <a:lnTo>
                    <a:pt x="48" y="131"/>
                  </a:lnTo>
                  <a:lnTo>
                    <a:pt x="78" y="155"/>
                  </a:lnTo>
                  <a:lnTo>
                    <a:pt x="102" y="173"/>
                  </a:lnTo>
                  <a:lnTo>
                    <a:pt x="138" y="179"/>
                  </a:lnTo>
                  <a:lnTo>
                    <a:pt x="168" y="185"/>
                  </a:lnTo>
                  <a:lnTo>
                    <a:pt x="138" y="179"/>
                  </a:lnTo>
                  <a:lnTo>
                    <a:pt x="102" y="173"/>
                  </a:lnTo>
                  <a:lnTo>
                    <a:pt x="78" y="155"/>
                  </a:lnTo>
                  <a:lnTo>
                    <a:pt x="48" y="131"/>
                  </a:lnTo>
                  <a:lnTo>
                    <a:pt x="12" y="72"/>
                  </a:lnTo>
                  <a:lnTo>
                    <a:pt x="6" y="36"/>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70" name="Freeform 44"/>
            <p:cNvSpPr/>
            <p:nvPr/>
          </p:nvSpPr>
          <p:spPr>
            <a:xfrm>
              <a:off x="2212" y="2652"/>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71" name="Freeform 45"/>
            <p:cNvSpPr/>
            <p:nvPr/>
          </p:nvSpPr>
          <p:spPr>
            <a:xfrm>
              <a:off x="2112" y="2332"/>
              <a:ext cx="184" cy="191"/>
            </a:xfrm>
            <a:custGeom>
              <a:avLst/>
              <a:gdLst>
                <a:gd name="txL" fmla="*/ 0 w 143"/>
                <a:gd name="txT" fmla="*/ 0 h 150"/>
                <a:gd name="txR" fmla="*/ 143 w 143"/>
                <a:gd name="txB" fmla="*/ 150 h 150"/>
              </a:gdLst>
              <a:ahLst/>
              <a:cxnLst>
                <a:cxn ang="0">
                  <a:pos x="166180" y="0"/>
                </a:cxn>
                <a:cxn ang="0">
                  <a:pos x="118313" y="0"/>
                </a:cxn>
                <a:cxn ang="0">
                  <a:pos x="118313" y="5806"/>
                </a:cxn>
                <a:cxn ang="0">
                  <a:pos x="125497" y="5806"/>
                </a:cxn>
                <a:cxn ang="0">
                  <a:pos x="133101" y="15551"/>
                </a:cxn>
                <a:cxn ang="0">
                  <a:pos x="133101" y="20988"/>
                </a:cxn>
                <a:cxn ang="0">
                  <a:pos x="125497" y="25633"/>
                </a:cxn>
                <a:cxn ang="0">
                  <a:pos x="97533" y="99245"/>
                </a:cxn>
                <a:cxn ang="0">
                  <a:pos x="56290" y="31511"/>
                </a:cxn>
                <a:cxn ang="0">
                  <a:pos x="56290" y="20988"/>
                </a:cxn>
                <a:cxn ang="0">
                  <a:pos x="48631" y="10166"/>
                </a:cxn>
                <a:cxn ang="0">
                  <a:pos x="56290" y="5806"/>
                </a:cxn>
                <a:cxn ang="0">
                  <a:pos x="69121" y="5806"/>
                </a:cxn>
                <a:cxn ang="0">
                  <a:pos x="69121" y="0"/>
                </a:cxn>
                <a:cxn ang="0">
                  <a:pos x="0" y="0"/>
                </a:cxn>
                <a:cxn ang="0">
                  <a:pos x="0" y="5806"/>
                </a:cxn>
                <a:cxn ang="0">
                  <a:pos x="13121" y="10166"/>
                </a:cxn>
                <a:cxn ang="0">
                  <a:pos x="27953" y="25633"/>
                </a:cxn>
                <a:cxn ang="0">
                  <a:pos x="84055" y="129669"/>
                </a:cxn>
                <a:cxn ang="0">
                  <a:pos x="90597" y="129669"/>
                </a:cxn>
                <a:cxn ang="0">
                  <a:pos x="145098" y="20988"/>
                </a:cxn>
                <a:cxn ang="0">
                  <a:pos x="152235" y="10166"/>
                </a:cxn>
                <a:cxn ang="0">
                  <a:pos x="166180" y="5806"/>
                </a:cxn>
                <a:cxn ang="0">
                  <a:pos x="166180" y="0"/>
                </a:cxn>
              </a:cxnLst>
              <a:rect l="txL" t="txT" r="txR" b="txB"/>
              <a:pathLst>
                <a:path w="143" h="150">
                  <a:moveTo>
                    <a:pt x="143" y="0"/>
                  </a:moveTo>
                  <a:lnTo>
                    <a:pt x="102" y="0"/>
                  </a:lnTo>
                  <a:lnTo>
                    <a:pt x="102" y="6"/>
                  </a:lnTo>
                  <a:lnTo>
                    <a:pt x="108" y="6"/>
                  </a:lnTo>
                  <a:lnTo>
                    <a:pt x="114" y="18"/>
                  </a:lnTo>
                  <a:lnTo>
                    <a:pt x="114" y="24"/>
                  </a:lnTo>
                  <a:lnTo>
                    <a:pt x="108" y="30"/>
                  </a:lnTo>
                  <a:lnTo>
                    <a:pt x="84" y="114"/>
                  </a:lnTo>
                  <a:lnTo>
                    <a:pt x="48" y="36"/>
                  </a:lnTo>
                  <a:lnTo>
                    <a:pt x="48" y="24"/>
                  </a:lnTo>
                  <a:lnTo>
                    <a:pt x="42" y="12"/>
                  </a:lnTo>
                  <a:lnTo>
                    <a:pt x="48" y="6"/>
                  </a:lnTo>
                  <a:lnTo>
                    <a:pt x="60" y="6"/>
                  </a:lnTo>
                  <a:lnTo>
                    <a:pt x="60" y="0"/>
                  </a:lnTo>
                  <a:lnTo>
                    <a:pt x="0" y="0"/>
                  </a:lnTo>
                  <a:lnTo>
                    <a:pt x="0" y="6"/>
                  </a:lnTo>
                  <a:lnTo>
                    <a:pt x="12" y="12"/>
                  </a:lnTo>
                  <a:lnTo>
                    <a:pt x="24" y="30"/>
                  </a:lnTo>
                  <a:lnTo>
                    <a:pt x="72" y="150"/>
                  </a:lnTo>
                  <a:lnTo>
                    <a:pt x="78" y="150"/>
                  </a:lnTo>
                  <a:lnTo>
                    <a:pt x="125" y="24"/>
                  </a:lnTo>
                  <a:lnTo>
                    <a:pt x="131" y="12"/>
                  </a:lnTo>
                  <a:lnTo>
                    <a:pt x="143" y="6"/>
                  </a:lnTo>
                  <a:lnTo>
                    <a:pt x="143"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72" name="Freeform 46"/>
            <p:cNvSpPr/>
            <p:nvPr/>
          </p:nvSpPr>
          <p:spPr>
            <a:xfrm>
              <a:off x="2781" y="1162"/>
              <a:ext cx="438" cy="464"/>
            </a:xfrm>
            <a:custGeom>
              <a:avLst/>
              <a:gdLst>
                <a:gd name="txL" fmla="*/ 0 w 341"/>
                <a:gd name="txT" fmla="*/ 0 h 364"/>
                <a:gd name="txR" fmla="*/ 341 w 341"/>
                <a:gd name="txB" fmla="*/ 364 h 364"/>
              </a:gdLst>
              <a:ahLst/>
              <a:cxnLst>
                <a:cxn ang="0">
                  <a:pos x="185685" y="325332"/>
                </a:cxn>
                <a:cxn ang="0">
                  <a:pos x="226018" y="320277"/>
                </a:cxn>
                <a:cxn ang="0">
                  <a:pos x="259246" y="314776"/>
                </a:cxn>
                <a:cxn ang="0">
                  <a:pos x="290665" y="298961"/>
                </a:cxn>
                <a:cxn ang="0">
                  <a:pos x="323570" y="277393"/>
                </a:cxn>
                <a:cxn ang="0">
                  <a:pos x="364127" y="224322"/>
                </a:cxn>
                <a:cxn ang="0">
                  <a:pos x="370511" y="192323"/>
                </a:cxn>
                <a:cxn ang="0">
                  <a:pos x="377710" y="160158"/>
                </a:cxn>
                <a:cxn ang="0">
                  <a:pos x="370511" y="127852"/>
                </a:cxn>
                <a:cxn ang="0">
                  <a:pos x="364127" y="101703"/>
                </a:cxn>
                <a:cxn ang="0">
                  <a:pos x="323570" y="47718"/>
                </a:cxn>
                <a:cxn ang="0">
                  <a:pos x="290665" y="25802"/>
                </a:cxn>
                <a:cxn ang="0">
                  <a:pos x="259246" y="9772"/>
                </a:cxn>
                <a:cxn ang="0">
                  <a:pos x="226018" y="5962"/>
                </a:cxn>
                <a:cxn ang="0">
                  <a:pos x="185685" y="0"/>
                </a:cxn>
                <a:cxn ang="0">
                  <a:pos x="146229" y="5962"/>
                </a:cxn>
                <a:cxn ang="0">
                  <a:pos x="112548" y="9772"/>
                </a:cxn>
                <a:cxn ang="0">
                  <a:pos x="78981" y="25802"/>
                </a:cxn>
                <a:cxn ang="0">
                  <a:pos x="53722" y="47718"/>
                </a:cxn>
                <a:cxn ang="0">
                  <a:pos x="12678" y="101703"/>
                </a:cxn>
                <a:cxn ang="0">
                  <a:pos x="6919" y="127852"/>
                </a:cxn>
                <a:cxn ang="0">
                  <a:pos x="0" y="160158"/>
                </a:cxn>
                <a:cxn ang="0">
                  <a:pos x="6919" y="192323"/>
                </a:cxn>
                <a:cxn ang="0">
                  <a:pos x="12678" y="224322"/>
                </a:cxn>
                <a:cxn ang="0">
                  <a:pos x="53722" y="277393"/>
                </a:cxn>
                <a:cxn ang="0">
                  <a:pos x="78981" y="298961"/>
                </a:cxn>
                <a:cxn ang="0">
                  <a:pos x="112548" y="314776"/>
                </a:cxn>
                <a:cxn ang="0">
                  <a:pos x="146229" y="320277"/>
                </a:cxn>
                <a:cxn ang="0">
                  <a:pos x="185685" y="325332"/>
                </a:cxn>
                <a:cxn ang="0">
                  <a:pos x="185685" y="325332"/>
                </a:cxn>
              </a:cxnLst>
              <a:rect l="txL" t="txT" r="txR" b="txB"/>
              <a:pathLst>
                <a:path w="341" h="364">
                  <a:moveTo>
                    <a:pt x="168" y="364"/>
                  </a:moveTo>
                  <a:lnTo>
                    <a:pt x="204" y="358"/>
                  </a:lnTo>
                  <a:lnTo>
                    <a:pt x="234" y="352"/>
                  </a:lnTo>
                  <a:lnTo>
                    <a:pt x="263" y="334"/>
                  </a:lnTo>
                  <a:lnTo>
                    <a:pt x="293" y="310"/>
                  </a:lnTo>
                  <a:lnTo>
                    <a:pt x="329" y="250"/>
                  </a:lnTo>
                  <a:lnTo>
                    <a:pt x="335" y="215"/>
                  </a:lnTo>
                  <a:lnTo>
                    <a:pt x="341" y="179"/>
                  </a:lnTo>
                  <a:lnTo>
                    <a:pt x="335" y="143"/>
                  </a:lnTo>
                  <a:lnTo>
                    <a:pt x="329" y="113"/>
                  </a:lnTo>
                  <a:lnTo>
                    <a:pt x="293" y="53"/>
                  </a:lnTo>
                  <a:lnTo>
                    <a:pt x="263" y="29"/>
                  </a:lnTo>
                  <a:lnTo>
                    <a:pt x="234" y="11"/>
                  </a:lnTo>
                  <a:lnTo>
                    <a:pt x="204" y="6"/>
                  </a:lnTo>
                  <a:lnTo>
                    <a:pt x="168" y="0"/>
                  </a:lnTo>
                  <a:lnTo>
                    <a:pt x="132" y="6"/>
                  </a:lnTo>
                  <a:lnTo>
                    <a:pt x="102" y="11"/>
                  </a:lnTo>
                  <a:lnTo>
                    <a:pt x="72" y="29"/>
                  </a:lnTo>
                  <a:lnTo>
                    <a:pt x="48" y="53"/>
                  </a:lnTo>
                  <a:lnTo>
                    <a:pt x="12" y="113"/>
                  </a:lnTo>
                  <a:lnTo>
                    <a:pt x="6" y="143"/>
                  </a:lnTo>
                  <a:lnTo>
                    <a:pt x="0" y="179"/>
                  </a:lnTo>
                  <a:lnTo>
                    <a:pt x="6" y="215"/>
                  </a:lnTo>
                  <a:lnTo>
                    <a:pt x="12" y="250"/>
                  </a:lnTo>
                  <a:lnTo>
                    <a:pt x="48" y="310"/>
                  </a:lnTo>
                  <a:lnTo>
                    <a:pt x="72" y="334"/>
                  </a:lnTo>
                  <a:lnTo>
                    <a:pt x="102" y="352"/>
                  </a:lnTo>
                  <a:lnTo>
                    <a:pt x="132" y="358"/>
                  </a:lnTo>
                  <a:lnTo>
                    <a:pt x="168" y="364"/>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73" name="Freeform 47"/>
            <p:cNvSpPr/>
            <p:nvPr/>
          </p:nvSpPr>
          <p:spPr>
            <a:xfrm>
              <a:off x="2997" y="1390"/>
              <a:ext cx="222" cy="236"/>
            </a:xfrm>
            <a:custGeom>
              <a:avLst/>
              <a:gdLst>
                <a:gd name="txL" fmla="*/ 0 w 173"/>
                <a:gd name="txT" fmla="*/ 0 h 185"/>
                <a:gd name="txR" fmla="*/ 173 w 173"/>
                <a:gd name="txB" fmla="*/ 185 h 185"/>
              </a:gdLst>
              <a:ahLst/>
              <a:cxnLst>
                <a:cxn ang="0">
                  <a:pos x="0" y="168956"/>
                </a:cxn>
                <a:cxn ang="0">
                  <a:pos x="39179" y="162946"/>
                </a:cxn>
                <a:cxn ang="0">
                  <a:pos x="71435" y="158447"/>
                </a:cxn>
                <a:cxn ang="0">
                  <a:pos x="102469" y="142216"/>
                </a:cxn>
                <a:cxn ang="0">
                  <a:pos x="133621" y="119902"/>
                </a:cxn>
                <a:cxn ang="0">
                  <a:pos x="173898" y="65131"/>
                </a:cxn>
                <a:cxn ang="0">
                  <a:pos x="180015" y="33027"/>
                </a:cxn>
                <a:cxn ang="0">
                  <a:pos x="186724" y="0"/>
                </a:cxn>
                <a:cxn ang="0">
                  <a:pos x="186724" y="0"/>
                </a:cxn>
                <a:cxn ang="0">
                  <a:pos x="180015" y="33027"/>
                </a:cxn>
                <a:cxn ang="0">
                  <a:pos x="173898" y="65131"/>
                </a:cxn>
                <a:cxn ang="0">
                  <a:pos x="133621" y="119902"/>
                </a:cxn>
                <a:cxn ang="0">
                  <a:pos x="102469" y="142216"/>
                </a:cxn>
                <a:cxn ang="0">
                  <a:pos x="71435" y="158447"/>
                </a:cxn>
                <a:cxn ang="0">
                  <a:pos x="39179" y="162946"/>
                </a:cxn>
                <a:cxn ang="0">
                  <a:pos x="0" y="168956"/>
                </a:cxn>
                <a:cxn ang="0">
                  <a:pos x="0" y="168956"/>
                </a:cxn>
              </a:cxnLst>
              <a:rect l="txL" t="txT" r="txR" b="txB"/>
              <a:pathLst>
                <a:path w="173" h="185">
                  <a:moveTo>
                    <a:pt x="0" y="185"/>
                  </a:moveTo>
                  <a:lnTo>
                    <a:pt x="36" y="179"/>
                  </a:lnTo>
                  <a:lnTo>
                    <a:pt x="66" y="173"/>
                  </a:lnTo>
                  <a:lnTo>
                    <a:pt x="95" y="155"/>
                  </a:lnTo>
                  <a:lnTo>
                    <a:pt x="125" y="131"/>
                  </a:lnTo>
                  <a:lnTo>
                    <a:pt x="161" y="71"/>
                  </a:lnTo>
                  <a:lnTo>
                    <a:pt x="167" y="36"/>
                  </a:lnTo>
                  <a:lnTo>
                    <a:pt x="173" y="0"/>
                  </a:lnTo>
                  <a:lnTo>
                    <a:pt x="167" y="36"/>
                  </a:lnTo>
                  <a:lnTo>
                    <a:pt x="161" y="71"/>
                  </a:lnTo>
                  <a:lnTo>
                    <a:pt x="125" y="131"/>
                  </a:lnTo>
                  <a:lnTo>
                    <a:pt x="95" y="155"/>
                  </a:lnTo>
                  <a:lnTo>
                    <a:pt x="66" y="173"/>
                  </a:lnTo>
                  <a:lnTo>
                    <a:pt x="36" y="179"/>
                  </a:lnTo>
                  <a:lnTo>
                    <a:pt x="0" y="18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74" name="Freeform 48"/>
            <p:cNvSpPr>
              <a:spLocks noEditPoints="1"/>
            </p:cNvSpPr>
            <p:nvPr/>
          </p:nvSpPr>
          <p:spPr>
            <a:xfrm>
              <a:off x="2997" y="1162"/>
              <a:ext cx="222" cy="228"/>
            </a:xfrm>
            <a:custGeom>
              <a:avLst/>
              <a:gdLst>
                <a:gd name="txL" fmla="*/ 0 w 173"/>
                <a:gd name="txT" fmla="*/ 0 h 179"/>
                <a:gd name="txR" fmla="*/ 173 w 173"/>
                <a:gd name="txB" fmla="*/ 179 h 179"/>
              </a:gdLst>
              <a:ahLst/>
              <a:cxnLst>
                <a:cxn ang="0">
                  <a:pos x="186724" y="156504"/>
                </a:cxn>
                <a:cxn ang="0">
                  <a:pos x="180015" y="125167"/>
                </a:cxn>
                <a:cxn ang="0">
                  <a:pos x="173898" y="98693"/>
                </a:cxn>
                <a:cxn ang="0">
                  <a:pos x="133621" y="47033"/>
                </a:cxn>
                <a:cxn ang="0">
                  <a:pos x="102469" y="25412"/>
                </a:cxn>
                <a:cxn ang="0">
                  <a:pos x="71435" y="9654"/>
                </a:cxn>
                <a:cxn ang="0">
                  <a:pos x="39179" y="5840"/>
                </a:cxn>
                <a:cxn ang="0">
                  <a:pos x="0" y="0"/>
                </a:cxn>
                <a:cxn ang="0">
                  <a:pos x="0" y="0"/>
                </a:cxn>
                <a:cxn ang="0">
                  <a:pos x="39179" y="5840"/>
                </a:cxn>
                <a:cxn ang="0">
                  <a:pos x="71435" y="9654"/>
                </a:cxn>
                <a:cxn ang="0">
                  <a:pos x="102469" y="25412"/>
                </a:cxn>
                <a:cxn ang="0">
                  <a:pos x="133621" y="47033"/>
                </a:cxn>
                <a:cxn ang="0">
                  <a:pos x="173898" y="98693"/>
                </a:cxn>
                <a:cxn ang="0">
                  <a:pos x="180015" y="125167"/>
                </a:cxn>
                <a:cxn ang="0">
                  <a:pos x="186724" y="156504"/>
                </a:cxn>
                <a:cxn ang="0">
                  <a:pos x="186724" y="156504"/>
                </a:cxn>
                <a:cxn ang="0">
                  <a:pos x="186724" y="156504"/>
                </a:cxn>
                <a:cxn ang="0">
                  <a:pos x="186724" y="156504"/>
                </a:cxn>
                <a:cxn ang="0">
                  <a:pos x="186724" y="156504"/>
                </a:cxn>
              </a:cxnLst>
              <a:rect l="txL" t="txT" r="txR" b="txB"/>
              <a:pathLst>
                <a:path w="173" h="179">
                  <a:moveTo>
                    <a:pt x="173" y="179"/>
                  </a:moveTo>
                  <a:lnTo>
                    <a:pt x="167" y="143"/>
                  </a:lnTo>
                  <a:lnTo>
                    <a:pt x="161" y="113"/>
                  </a:lnTo>
                  <a:lnTo>
                    <a:pt x="125" y="53"/>
                  </a:lnTo>
                  <a:lnTo>
                    <a:pt x="95" y="29"/>
                  </a:lnTo>
                  <a:lnTo>
                    <a:pt x="66" y="11"/>
                  </a:lnTo>
                  <a:lnTo>
                    <a:pt x="36" y="6"/>
                  </a:lnTo>
                  <a:lnTo>
                    <a:pt x="0" y="0"/>
                  </a:lnTo>
                  <a:lnTo>
                    <a:pt x="36" y="6"/>
                  </a:lnTo>
                  <a:lnTo>
                    <a:pt x="66" y="11"/>
                  </a:lnTo>
                  <a:lnTo>
                    <a:pt x="95" y="29"/>
                  </a:lnTo>
                  <a:lnTo>
                    <a:pt x="125" y="53"/>
                  </a:lnTo>
                  <a:lnTo>
                    <a:pt x="161" y="113"/>
                  </a:lnTo>
                  <a:lnTo>
                    <a:pt x="167" y="143"/>
                  </a:lnTo>
                  <a:lnTo>
                    <a:pt x="173" y="179"/>
                  </a:lnTo>
                  <a:close/>
                  <a:moveTo>
                    <a:pt x="173" y="179"/>
                  </a:moveTo>
                  <a:lnTo>
                    <a:pt x="173" y="17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75" name="Freeform 49"/>
            <p:cNvSpPr>
              <a:spLocks noEditPoints="1"/>
            </p:cNvSpPr>
            <p:nvPr/>
          </p:nvSpPr>
          <p:spPr>
            <a:xfrm>
              <a:off x="2781" y="1162"/>
              <a:ext cx="216" cy="228"/>
            </a:xfrm>
            <a:custGeom>
              <a:avLst/>
              <a:gdLst>
                <a:gd name="txL" fmla="*/ 0 w 168"/>
                <a:gd name="txT" fmla="*/ 0 h 179"/>
                <a:gd name="txR" fmla="*/ 168 w 168"/>
                <a:gd name="txB" fmla="*/ 179 h 179"/>
              </a:gdLst>
              <a:ahLst/>
              <a:cxnLst>
                <a:cxn ang="0">
                  <a:pos x="191256" y="0"/>
                </a:cxn>
                <a:cxn ang="0">
                  <a:pos x="151030" y="5840"/>
                </a:cxn>
                <a:cxn ang="0">
                  <a:pos x="115698" y="9654"/>
                </a:cxn>
                <a:cxn ang="0">
                  <a:pos x="82614" y="25412"/>
                </a:cxn>
                <a:cxn ang="0">
                  <a:pos x="55270" y="47033"/>
                </a:cxn>
                <a:cxn ang="0">
                  <a:pos x="12874" y="98693"/>
                </a:cxn>
                <a:cxn ang="0">
                  <a:pos x="6999" y="125167"/>
                </a:cxn>
                <a:cxn ang="0">
                  <a:pos x="0" y="156504"/>
                </a:cxn>
                <a:cxn ang="0">
                  <a:pos x="0" y="156504"/>
                </a:cxn>
                <a:cxn ang="0">
                  <a:pos x="6999" y="125167"/>
                </a:cxn>
                <a:cxn ang="0">
                  <a:pos x="12874" y="98693"/>
                </a:cxn>
                <a:cxn ang="0">
                  <a:pos x="55270" y="47033"/>
                </a:cxn>
                <a:cxn ang="0">
                  <a:pos x="82614" y="25412"/>
                </a:cxn>
                <a:cxn ang="0">
                  <a:pos x="115698" y="9654"/>
                </a:cxn>
                <a:cxn ang="0">
                  <a:pos x="151030" y="5840"/>
                </a:cxn>
                <a:cxn ang="0">
                  <a:pos x="191256" y="0"/>
                </a:cxn>
                <a:cxn ang="0">
                  <a:pos x="191256" y="0"/>
                </a:cxn>
                <a:cxn ang="0">
                  <a:pos x="191256" y="0"/>
                </a:cxn>
                <a:cxn ang="0">
                  <a:pos x="191256" y="0"/>
                </a:cxn>
                <a:cxn ang="0">
                  <a:pos x="191256" y="0"/>
                </a:cxn>
              </a:cxnLst>
              <a:rect l="txL" t="txT" r="txR" b="txB"/>
              <a:pathLst>
                <a:path w="168" h="179">
                  <a:moveTo>
                    <a:pt x="168" y="0"/>
                  </a:moveTo>
                  <a:lnTo>
                    <a:pt x="132" y="6"/>
                  </a:lnTo>
                  <a:lnTo>
                    <a:pt x="102" y="11"/>
                  </a:lnTo>
                  <a:lnTo>
                    <a:pt x="72" y="29"/>
                  </a:lnTo>
                  <a:lnTo>
                    <a:pt x="48" y="53"/>
                  </a:lnTo>
                  <a:lnTo>
                    <a:pt x="12" y="113"/>
                  </a:lnTo>
                  <a:lnTo>
                    <a:pt x="6" y="143"/>
                  </a:lnTo>
                  <a:lnTo>
                    <a:pt x="0" y="179"/>
                  </a:lnTo>
                  <a:lnTo>
                    <a:pt x="6" y="143"/>
                  </a:lnTo>
                  <a:lnTo>
                    <a:pt x="12" y="113"/>
                  </a:lnTo>
                  <a:lnTo>
                    <a:pt x="48" y="53"/>
                  </a:lnTo>
                  <a:lnTo>
                    <a:pt x="72" y="29"/>
                  </a:lnTo>
                  <a:lnTo>
                    <a:pt x="102" y="11"/>
                  </a:lnTo>
                  <a:lnTo>
                    <a:pt x="132" y="6"/>
                  </a:lnTo>
                  <a:lnTo>
                    <a:pt x="168" y="0"/>
                  </a:lnTo>
                  <a:close/>
                  <a:moveTo>
                    <a:pt x="168" y="0"/>
                  </a:moveTo>
                  <a:lnTo>
                    <a:pt x="16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76" name="Freeform 50"/>
            <p:cNvSpPr>
              <a:spLocks noEditPoints="1"/>
            </p:cNvSpPr>
            <p:nvPr/>
          </p:nvSpPr>
          <p:spPr>
            <a:xfrm>
              <a:off x="2781" y="1390"/>
              <a:ext cx="216" cy="236"/>
            </a:xfrm>
            <a:custGeom>
              <a:avLst/>
              <a:gdLst>
                <a:gd name="txL" fmla="*/ 0 w 168"/>
                <a:gd name="txT" fmla="*/ 0 h 185"/>
                <a:gd name="txR" fmla="*/ 168 w 168"/>
                <a:gd name="txB" fmla="*/ 185 h 185"/>
              </a:gdLst>
              <a:ahLst/>
              <a:cxnLst>
                <a:cxn ang="0">
                  <a:pos x="0" y="0"/>
                </a:cxn>
                <a:cxn ang="0">
                  <a:pos x="6999" y="33027"/>
                </a:cxn>
                <a:cxn ang="0">
                  <a:pos x="12874" y="65131"/>
                </a:cxn>
                <a:cxn ang="0">
                  <a:pos x="55270" y="119902"/>
                </a:cxn>
                <a:cxn ang="0">
                  <a:pos x="82614" y="142216"/>
                </a:cxn>
                <a:cxn ang="0">
                  <a:pos x="115698" y="158447"/>
                </a:cxn>
                <a:cxn ang="0">
                  <a:pos x="151030" y="162946"/>
                </a:cxn>
                <a:cxn ang="0">
                  <a:pos x="191256" y="168956"/>
                </a:cxn>
                <a:cxn ang="0">
                  <a:pos x="191256" y="168956"/>
                </a:cxn>
                <a:cxn ang="0">
                  <a:pos x="151030" y="162946"/>
                </a:cxn>
                <a:cxn ang="0">
                  <a:pos x="115698" y="158447"/>
                </a:cxn>
                <a:cxn ang="0">
                  <a:pos x="82614" y="142216"/>
                </a:cxn>
                <a:cxn ang="0">
                  <a:pos x="55270" y="119902"/>
                </a:cxn>
                <a:cxn ang="0">
                  <a:pos x="12874" y="65131"/>
                </a:cxn>
                <a:cxn ang="0">
                  <a:pos x="6999" y="33027"/>
                </a:cxn>
                <a:cxn ang="0">
                  <a:pos x="0" y="0"/>
                </a:cxn>
                <a:cxn ang="0">
                  <a:pos x="0" y="0"/>
                </a:cxn>
                <a:cxn ang="0">
                  <a:pos x="0" y="0"/>
                </a:cxn>
                <a:cxn ang="0">
                  <a:pos x="0" y="0"/>
                </a:cxn>
                <a:cxn ang="0">
                  <a:pos x="0" y="0"/>
                </a:cxn>
              </a:cxnLst>
              <a:rect l="txL" t="txT" r="txR" b="txB"/>
              <a:pathLst>
                <a:path w="168" h="185">
                  <a:moveTo>
                    <a:pt x="0" y="0"/>
                  </a:moveTo>
                  <a:lnTo>
                    <a:pt x="6" y="36"/>
                  </a:lnTo>
                  <a:lnTo>
                    <a:pt x="12" y="71"/>
                  </a:lnTo>
                  <a:lnTo>
                    <a:pt x="48" y="131"/>
                  </a:lnTo>
                  <a:lnTo>
                    <a:pt x="72" y="155"/>
                  </a:lnTo>
                  <a:lnTo>
                    <a:pt x="102" y="173"/>
                  </a:lnTo>
                  <a:lnTo>
                    <a:pt x="132" y="179"/>
                  </a:lnTo>
                  <a:lnTo>
                    <a:pt x="168" y="185"/>
                  </a:lnTo>
                  <a:lnTo>
                    <a:pt x="132" y="179"/>
                  </a:lnTo>
                  <a:lnTo>
                    <a:pt x="102" y="173"/>
                  </a:lnTo>
                  <a:lnTo>
                    <a:pt x="72" y="155"/>
                  </a:lnTo>
                  <a:lnTo>
                    <a:pt x="48" y="131"/>
                  </a:lnTo>
                  <a:lnTo>
                    <a:pt x="12" y="71"/>
                  </a:lnTo>
                  <a:lnTo>
                    <a:pt x="6" y="36"/>
                  </a:lnTo>
                  <a:lnTo>
                    <a:pt x="0" y="0"/>
                  </a:lnTo>
                  <a:close/>
                  <a:moveTo>
                    <a:pt x="0" y="0"/>
                  </a:moveTo>
                  <a:lnTo>
                    <a:pt x="0" y="0"/>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77" name="Freeform 51"/>
            <p:cNvSpPr/>
            <p:nvPr/>
          </p:nvSpPr>
          <p:spPr>
            <a:xfrm>
              <a:off x="2997" y="1626"/>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78" name="Freeform 52"/>
            <p:cNvSpPr>
              <a:spLocks noEditPoints="1"/>
            </p:cNvSpPr>
            <p:nvPr/>
          </p:nvSpPr>
          <p:spPr>
            <a:xfrm>
              <a:off x="2904" y="1268"/>
              <a:ext cx="185" cy="190"/>
            </a:xfrm>
            <a:custGeom>
              <a:avLst/>
              <a:gdLst>
                <a:gd name="txL" fmla="*/ 0 w 144"/>
                <a:gd name="txT" fmla="*/ 0 h 149"/>
                <a:gd name="txR" fmla="*/ 144 w 144"/>
                <a:gd name="txB" fmla="*/ 149 h 149"/>
              </a:gdLst>
              <a:ahLst/>
              <a:cxnLst>
                <a:cxn ang="0">
                  <a:pos x="160708" y="130655"/>
                </a:cxn>
                <a:cxn ang="0">
                  <a:pos x="146962" y="130655"/>
                </a:cxn>
                <a:cxn ang="0">
                  <a:pos x="146962" y="124529"/>
                </a:cxn>
                <a:cxn ang="0">
                  <a:pos x="140206" y="113806"/>
                </a:cxn>
                <a:cxn ang="0">
                  <a:pos x="80526" y="0"/>
                </a:cxn>
                <a:cxn ang="0">
                  <a:pos x="73730" y="0"/>
                </a:cxn>
                <a:cxn ang="0">
                  <a:pos x="27065" y="97657"/>
                </a:cxn>
                <a:cxn ang="0">
                  <a:pos x="20168" y="113806"/>
                </a:cxn>
                <a:cxn ang="0">
                  <a:pos x="12764" y="124529"/>
                </a:cxn>
                <a:cxn ang="0">
                  <a:pos x="6935" y="130655"/>
                </a:cxn>
                <a:cxn ang="0">
                  <a:pos x="0" y="130655"/>
                </a:cxn>
                <a:cxn ang="0">
                  <a:pos x="0" y="134492"/>
                </a:cxn>
                <a:cxn ang="0">
                  <a:pos x="46675" y="134492"/>
                </a:cxn>
                <a:cxn ang="0">
                  <a:pos x="46675" y="130655"/>
                </a:cxn>
                <a:cxn ang="0">
                  <a:pos x="40061" y="130655"/>
                </a:cxn>
                <a:cxn ang="0">
                  <a:pos x="33287" y="124529"/>
                </a:cxn>
                <a:cxn ang="0">
                  <a:pos x="33287" y="118967"/>
                </a:cxn>
                <a:cxn ang="0">
                  <a:pos x="33287" y="113806"/>
                </a:cxn>
                <a:cxn ang="0">
                  <a:pos x="40061" y="92174"/>
                </a:cxn>
                <a:cxn ang="0">
                  <a:pos x="100184" y="92174"/>
                </a:cxn>
                <a:cxn ang="0">
                  <a:pos x="113730" y="108939"/>
                </a:cxn>
                <a:cxn ang="0">
                  <a:pos x="113730" y="124529"/>
                </a:cxn>
                <a:cxn ang="0">
                  <a:pos x="106348" y="130655"/>
                </a:cxn>
                <a:cxn ang="0">
                  <a:pos x="100184" y="130655"/>
                </a:cxn>
                <a:cxn ang="0">
                  <a:pos x="100184" y="134492"/>
                </a:cxn>
                <a:cxn ang="0">
                  <a:pos x="160708" y="134492"/>
                </a:cxn>
                <a:cxn ang="0">
                  <a:pos x="160708" y="130655"/>
                </a:cxn>
                <a:cxn ang="0">
                  <a:pos x="46675" y="86921"/>
                </a:cxn>
                <a:cxn ang="0">
                  <a:pos x="73730" y="32874"/>
                </a:cxn>
                <a:cxn ang="0">
                  <a:pos x="100184" y="86921"/>
                </a:cxn>
                <a:cxn ang="0">
                  <a:pos x="46675" y="86921"/>
                </a:cxn>
              </a:cxnLst>
              <a:rect l="txL" t="txT" r="txR" b="txB"/>
              <a:pathLst>
                <a:path w="144" h="149">
                  <a:moveTo>
                    <a:pt x="144" y="144"/>
                  </a:moveTo>
                  <a:lnTo>
                    <a:pt x="132" y="144"/>
                  </a:lnTo>
                  <a:lnTo>
                    <a:pt x="132" y="138"/>
                  </a:lnTo>
                  <a:lnTo>
                    <a:pt x="126" y="126"/>
                  </a:lnTo>
                  <a:lnTo>
                    <a:pt x="72" y="0"/>
                  </a:lnTo>
                  <a:lnTo>
                    <a:pt x="66" y="0"/>
                  </a:lnTo>
                  <a:lnTo>
                    <a:pt x="24" y="108"/>
                  </a:lnTo>
                  <a:lnTo>
                    <a:pt x="18" y="126"/>
                  </a:lnTo>
                  <a:lnTo>
                    <a:pt x="12" y="138"/>
                  </a:lnTo>
                  <a:lnTo>
                    <a:pt x="6" y="144"/>
                  </a:lnTo>
                  <a:lnTo>
                    <a:pt x="0" y="144"/>
                  </a:lnTo>
                  <a:lnTo>
                    <a:pt x="0" y="149"/>
                  </a:lnTo>
                  <a:lnTo>
                    <a:pt x="42" y="149"/>
                  </a:lnTo>
                  <a:lnTo>
                    <a:pt x="42" y="144"/>
                  </a:lnTo>
                  <a:lnTo>
                    <a:pt x="36" y="144"/>
                  </a:lnTo>
                  <a:lnTo>
                    <a:pt x="30" y="138"/>
                  </a:lnTo>
                  <a:lnTo>
                    <a:pt x="30" y="132"/>
                  </a:lnTo>
                  <a:lnTo>
                    <a:pt x="30" y="126"/>
                  </a:lnTo>
                  <a:lnTo>
                    <a:pt x="36" y="102"/>
                  </a:lnTo>
                  <a:lnTo>
                    <a:pt x="90" y="102"/>
                  </a:lnTo>
                  <a:lnTo>
                    <a:pt x="102" y="120"/>
                  </a:lnTo>
                  <a:lnTo>
                    <a:pt x="102" y="138"/>
                  </a:lnTo>
                  <a:lnTo>
                    <a:pt x="96" y="144"/>
                  </a:lnTo>
                  <a:lnTo>
                    <a:pt x="90" y="144"/>
                  </a:lnTo>
                  <a:lnTo>
                    <a:pt x="90" y="149"/>
                  </a:lnTo>
                  <a:lnTo>
                    <a:pt x="144" y="149"/>
                  </a:lnTo>
                  <a:lnTo>
                    <a:pt x="144" y="144"/>
                  </a:lnTo>
                  <a:close/>
                  <a:moveTo>
                    <a:pt x="42" y="96"/>
                  </a:moveTo>
                  <a:lnTo>
                    <a:pt x="66" y="36"/>
                  </a:lnTo>
                  <a:lnTo>
                    <a:pt x="90" y="96"/>
                  </a:lnTo>
                  <a:lnTo>
                    <a:pt x="42" y="9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79" name="Freeform 53"/>
            <p:cNvSpPr/>
            <p:nvPr/>
          </p:nvSpPr>
          <p:spPr>
            <a:xfrm>
              <a:off x="2558" y="2340"/>
              <a:ext cx="161" cy="183"/>
            </a:xfrm>
            <a:custGeom>
              <a:avLst/>
              <a:gdLst>
                <a:gd name="txL" fmla="*/ 0 w 125"/>
                <a:gd name="txT" fmla="*/ 0 h 144"/>
                <a:gd name="txR" fmla="*/ 125 w 125"/>
                <a:gd name="txB" fmla="*/ 144 h 144"/>
              </a:gdLst>
              <a:ahLst/>
              <a:cxnLst>
                <a:cxn ang="0">
                  <a:pos x="149519" y="0"/>
                </a:cxn>
                <a:cxn ang="0">
                  <a:pos x="107334" y="0"/>
                </a:cxn>
                <a:cxn ang="0">
                  <a:pos x="107334" y="0"/>
                </a:cxn>
                <a:cxn ang="0">
                  <a:pos x="112900" y="5509"/>
                </a:cxn>
                <a:cxn ang="0">
                  <a:pos x="120310" y="9766"/>
                </a:cxn>
                <a:cxn ang="0">
                  <a:pos x="112900" y="19317"/>
                </a:cxn>
                <a:cxn ang="0">
                  <a:pos x="107334" y="29492"/>
                </a:cxn>
                <a:cxn ang="0">
                  <a:pos x="57543" y="93538"/>
                </a:cxn>
                <a:cxn ang="0">
                  <a:pos x="57543" y="93538"/>
                </a:cxn>
                <a:cxn ang="0">
                  <a:pos x="42409" y="14810"/>
                </a:cxn>
                <a:cxn ang="0">
                  <a:pos x="50233" y="5509"/>
                </a:cxn>
                <a:cxn ang="0">
                  <a:pos x="64700" y="0"/>
                </a:cxn>
                <a:cxn ang="0">
                  <a:pos x="64700" y="0"/>
                </a:cxn>
                <a:cxn ang="0">
                  <a:pos x="0" y="0"/>
                </a:cxn>
                <a:cxn ang="0">
                  <a:pos x="0" y="0"/>
                </a:cxn>
                <a:cxn ang="0">
                  <a:pos x="13599" y="5509"/>
                </a:cxn>
                <a:cxn ang="0">
                  <a:pos x="13599" y="14810"/>
                </a:cxn>
                <a:cxn ang="0">
                  <a:pos x="21539" y="24549"/>
                </a:cxn>
                <a:cxn ang="0">
                  <a:pos x="42409" y="118213"/>
                </a:cxn>
                <a:cxn ang="0">
                  <a:pos x="50233" y="118213"/>
                </a:cxn>
                <a:cxn ang="0">
                  <a:pos x="135577" y="9766"/>
                </a:cxn>
                <a:cxn ang="0">
                  <a:pos x="142019" y="5509"/>
                </a:cxn>
                <a:cxn ang="0">
                  <a:pos x="149519" y="0"/>
                </a:cxn>
                <a:cxn ang="0">
                  <a:pos x="149519" y="0"/>
                </a:cxn>
              </a:cxnLst>
              <a:rect l="txL" t="txT" r="txR" b="txB"/>
              <a:pathLst>
                <a:path w="125" h="144">
                  <a:moveTo>
                    <a:pt x="125" y="0"/>
                  </a:moveTo>
                  <a:lnTo>
                    <a:pt x="90" y="0"/>
                  </a:lnTo>
                  <a:lnTo>
                    <a:pt x="95" y="6"/>
                  </a:lnTo>
                  <a:lnTo>
                    <a:pt x="101" y="12"/>
                  </a:lnTo>
                  <a:lnTo>
                    <a:pt x="95" y="24"/>
                  </a:lnTo>
                  <a:lnTo>
                    <a:pt x="90" y="36"/>
                  </a:lnTo>
                  <a:lnTo>
                    <a:pt x="48" y="114"/>
                  </a:lnTo>
                  <a:lnTo>
                    <a:pt x="36" y="18"/>
                  </a:lnTo>
                  <a:lnTo>
                    <a:pt x="42" y="6"/>
                  </a:lnTo>
                  <a:lnTo>
                    <a:pt x="54" y="0"/>
                  </a:lnTo>
                  <a:lnTo>
                    <a:pt x="0" y="0"/>
                  </a:lnTo>
                  <a:lnTo>
                    <a:pt x="12" y="6"/>
                  </a:lnTo>
                  <a:lnTo>
                    <a:pt x="12" y="18"/>
                  </a:lnTo>
                  <a:lnTo>
                    <a:pt x="18" y="30"/>
                  </a:lnTo>
                  <a:lnTo>
                    <a:pt x="36" y="144"/>
                  </a:lnTo>
                  <a:lnTo>
                    <a:pt x="42" y="144"/>
                  </a:lnTo>
                  <a:lnTo>
                    <a:pt x="113" y="12"/>
                  </a:lnTo>
                  <a:lnTo>
                    <a:pt x="119" y="6"/>
                  </a:lnTo>
                  <a:lnTo>
                    <a:pt x="125"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80" name="Freeform 54"/>
            <p:cNvSpPr/>
            <p:nvPr/>
          </p:nvSpPr>
          <p:spPr>
            <a:xfrm>
              <a:off x="3504" y="812"/>
              <a:ext cx="100" cy="182"/>
            </a:xfrm>
            <a:custGeom>
              <a:avLst/>
              <a:gdLst>
                <a:gd name="txL" fmla="*/ 0 w 78"/>
                <a:gd name="txT" fmla="*/ 0 h 143"/>
                <a:gd name="txR" fmla="*/ 78 w 78"/>
                <a:gd name="txB" fmla="*/ 143 h 143"/>
              </a:gdLst>
              <a:ahLst/>
              <a:cxnLst>
                <a:cxn ang="0">
                  <a:pos x="0" y="122314"/>
                </a:cxn>
                <a:cxn ang="0">
                  <a:pos x="50200" y="122314"/>
                </a:cxn>
                <a:cxn ang="0">
                  <a:pos x="50200" y="116777"/>
                </a:cxn>
                <a:cxn ang="0">
                  <a:pos x="37758" y="116777"/>
                </a:cxn>
                <a:cxn ang="0">
                  <a:pos x="37758" y="112563"/>
                </a:cxn>
                <a:cxn ang="0">
                  <a:pos x="37758" y="96811"/>
                </a:cxn>
                <a:cxn ang="0">
                  <a:pos x="63401" y="15425"/>
                </a:cxn>
                <a:cxn ang="0">
                  <a:pos x="69533" y="5723"/>
                </a:cxn>
                <a:cxn ang="0">
                  <a:pos x="81586" y="0"/>
                </a:cxn>
                <a:cxn ang="0">
                  <a:pos x="81586" y="0"/>
                </a:cxn>
                <a:cxn ang="0">
                  <a:pos x="31522" y="0"/>
                </a:cxn>
                <a:cxn ang="0">
                  <a:pos x="31522" y="0"/>
                </a:cxn>
                <a:cxn ang="0">
                  <a:pos x="37758" y="5723"/>
                </a:cxn>
                <a:cxn ang="0">
                  <a:pos x="43856" y="10093"/>
                </a:cxn>
                <a:cxn ang="0">
                  <a:pos x="43856" y="15425"/>
                </a:cxn>
                <a:cxn ang="0">
                  <a:pos x="43856" y="20808"/>
                </a:cxn>
                <a:cxn ang="0">
                  <a:pos x="11904" y="101497"/>
                </a:cxn>
                <a:cxn ang="0">
                  <a:pos x="11904" y="112563"/>
                </a:cxn>
                <a:cxn ang="0">
                  <a:pos x="6632" y="116777"/>
                </a:cxn>
                <a:cxn ang="0">
                  <a:pos x="0" y="116777"/>
                </a:cxn>
                <a:cxn ang="0">
                  <a:pos x="0" y="122314"/>
                </a:cxn>
              </a:cxnLst>
              <a:rect l="txL" t="txT" r="txR" b="txB"/>
              <a:pathLst>
                <a:path w="78" h="143">
                  <a:moveTo>
                    <a:pt x="0" y="143"/>
                  </a:moveTo>
                  <a:lnTo>
                    <a:pt x="48" y="143"/>
                  </a:lnTo>
                  <a:lnTo>
                    <a:pt x="48" y="137"/>
                  </a:lnTo>
                  <a:lnTo>
                    <a:pt x="36" y="137"/>
                  </a:lnTo>
                  <a:lnTo>
                    <a:pt x="36" y="131"/>
                  </a:lnTo>
                  <a:lnTo>
                    <a:pt x="36" y="113"/>
                  </a:lnTo>
                  <a:lnTo>
                    <a:pt x="60" y="18"/>
                  </a:lnTo>
                  <a:lnTo>
                    <a:pt x="66" y="6"/>
                  </a:lnTo>
                  <a:lnTo>
                    <a:pt x="78" y="0"/>
                  </a:lnTo>
                  <a:lnTo>
                    <a:pt x="30" y="0"/>
                  </a:lnTo>
                  <a:lnTo>
                    <a:pt x="36" y="6"/>
                  </a:lnTo>
                  <a:lnTo>
                    <a:pt x="42" y="12"/>
                  </a:lnTo>
                  <a:lnTo>
                    <a:pt x="42" y="18"/>
                  </a:lnTo>
                  <a:lnTo>
                    <a:pt x="42" y="24"/>
                  </a:lnTo>
                  <a:lnTo>
                    <a:pt x="12" y="119"/>
                  </a:lnTo>
                  <a:lnTo>
                    <a:pt x="12" y="131"/>
                  </a:lnTo>
                  <a:lnTo>
                    <a:pt x="6" y="137"/>
                  </a:lnTo>
                  <a:lnTo>
                    <a:pt x="0" y="137"/>
                  </a:lnTo>
                  <a:lnTo>
                    <a:pt x="0" y="14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81" name="Freeform 55"/>
            <p:cNvSpPr/>
            <p:nvPr/>
          </p:nvSpPr>
          <p:spPr>
            <a:xfrm>
              <a:off x="3327" y="1184"/>
              <a:ext cx="292" cy="1"/>
            </a:xfrm>
            <a:custGeom>
              <a:avLst/>
              <a:gdLst>
                <a:gd name="txL" fmla="*/ 0 w 227"/>
                <a:gd name="txT" fmla="*/ 0 h 1"/>
                <a:gd name="txR" fmla="*/ 227 w 227"/>
                <a:gd name="txB" fmla="*/ 1 h 1"/>
              </a:gdLst>
              <a:ahLst/>
              <a:cxnLst>
                <a:cxn ang="0">
                  <a:pos x="0" y="0"/>
                </a:cxn>
                <a:cxn ang="0">
                  <a:pos x="262224" y="0"/>
                </a:cxn>
                <a:cxn ang="0">
                  <a:pos x="0" y="0"/>
                </a:cxn>
                <a:cxn ang="0">
                  <a:pos x="0" y="0"/>
                </a:cxn>
              </a:cxnLst>
              <a:rect l="txL" t="txT" r="txR" b="txB"/>
              <a:pathLst>
                <a:path w="227" h="1">
                  <a:moveTo>
                    <a:pt x="0" y="0"/>
                  </a:moveTo>
                  <a:lnTo>
                    <a:pt x="227" y="0"/>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9682" name="Freeform 56"/>
            <p:cNvSpPr/>
            <p:nvPr/>
          </p:nvSpPr>
          <p:spPr>
            <a:xfrm>
              <a:off x="3581" y="1132"/>
              <a:ext cx="201" cy="113"/>
            </a:xfrm>
            <a:custGeom>
              <a:avLst/>
              <a:gdLst>
                <a:gd name="txL" fmla="*/ 0 w 156"/>
                <a:gd name="txT" fmla="*/ 0 h 89"/>
                <a:gd name="txR" fmla="*/ 156 w 156"/>
                <a:gd name="txB" fmla="*/ 89 h 89"/>
              </a:gdLst>
              <a:ahLst/>
              <a:cxnLst>
                <a:cxn ang="0">
                  <a:pos x="0" y="71005"/>
                </a:cxn>
                <a:cxn ang="0">
                  <a:pos x="188407" y="33033"/>
                </a:cxn>
                <a:cxn ang="0">
                  <a:pos x="0" y="0"/>
                </a:cxn>
                <a:cxn ang="0">
                  <a:pos x="0" y="71005"/>
                </a:cxn>
                <a:cxn ang="0">
                  <a:pos x="0" y="71005"/>
                </a:cxn>
              </a:cxnLst>
              <a:rect l="txL" t="txT" r="txR" b="txB"/>
              <a:pathLst>
                <a:path w="156" h="89">
                  <a:moveTo>
                    <a:pt x="0" y="89"/>
                  </a:moveTo>
                  <a:lnTo>
                    <a:pt x="156" y="41"/>
                  </a:lnTo>
                  <a:lnTo>
                    <a:pt x="0" y="0"/>
                  </a:lnTo>
                  <a:lnTo>
                    <a:pt x="0" y="89"/>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p>
              <a:endParaRPr lang="zh-CN" altLang="en-US"/>
            </a:p>
          </p:txBody>
        </p:sp>
        <p:sp>
          <p:nvSpPr>
            <p:cNvPr id="69683" name="Freeform 57"/>
            <p:cNvSpPr/>
            <p:nvPr/>
          </p:nvSpPr>
          <p:spPr>
            <a:xfrm>
              <a:off x="2342" y="1907"/>
              <a:ext cx="131" cy="144"/>
            </a:xfrm>
            <a:custGeom>
              <a:avLst/>
              <a:gdLst>
                <a:gd name="txL" fmla="*/ 0 w 102"/>
                <a:gd name="txT" fmla="*/ 0 h 113"/>
                <a:gd name="txR" fmla="*/ 102 w 102"/>
                <a:gd name="txB" fmla="*/ 113 h 113"/>
              </a:gdLst>
              <a:ahLst/>
              <a:cxnLst>
                <a:cxn ang="0">
                  <a:pos x="46203" y="42444"/>
                </a:cxn>
                <a:cxn ang="0">
                  <a:pos x="0" y="42444"/>
                </a:cxn>
                <a:cxn ang="0">
                  <a:pos x="0" y="58015"/>
                </a:cxn>
                <a:cxn ang="0">
                  <a:pos x="46203" y="58015"/>
                </a:cxn>
                <a:cxn ang="0">
                  <a:pos x="46203" y="100283"/>
                </a:cxn>
                <a:cxn ang="0">
                  <a:pos x="65872" y="100283"/>
                </a:cxn>
                <a:cxn ang="0">
                  <a:pos x="65872" y="58015"/>
                </a:cxn>
                <a:cxn ang="0">
                  <a:pos x="112353" y="58015"/>
                </a:cxn>
                <a:cxn ang="0">
                  <a:pos x="112353" y="42444"/>
                </a:cxn>
                <a:cxn ang="0">
                  <a:pos x="65872" y="42444"/>
                </a:cxn>
                <a:cxn ang="0">
                  <a:pos x="65872" y="0"/>
                </a:cxn>
                <a:cxn ang="0">
                  <a:pos x="46203" y="0"/>
                </a:cxn>
                <a:cxn ang="0">
                  <a:pos x="46203" y="42444"/>
                </a:cxn>
              </a:cxnLst>
              <a:rect l="txL" t="txT" r="txR" b="txB"/>
              <a:pathLst>
                <a:path w="102" h="113">
                  <a:moveTo>
                    <a:pt x="42" y="48"/>
                  </a:moveTo>
                  <a:lnTo>
                    <a:pt x="0" y="48"/>
                  </a:lnTo>
                  <a:lnTo>
                    <a:pt x="0" y="66"/>
                  </a:lnTo>
                  <a:lnTo>
                    <a:pt x="42" y="66"/>
                  </a:lnTo>
                  <a:lnTo>
                    <a:pt x="42" y="113"/>
                  </a:lnTo>
                  <a:lnTo>
                    <a:pt x="60" y="113"/>
                  </a:lnTo>
                  <a:lnTo>
                    <a:pt x="60" y="66"/>
                  </a:lnTo>
                  <a:lnTo>
                    <a:pt x="102" y="66"/>
                  </a:lnTo>
                  <a:lnTo>
                    <a:pt x="102" y="48"/>
                  </a:lnTo>
                  <a:lnTo>
                    <a:pt x="60" y="48"/>
                  </a:lnTo>
                  <a:lnTo>
                    <a:pt x="60" y="0"/>
                  </a:lnTo>
                  <a:lnTo>
                    <a:pt x="42" y="0"/>
                  </a:lnTo>
                  <a:lnTo>
                    <a:pt x="42"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84" name="Rectangle 58"/>
            <p:cNvSpPr/>
            <p:nvPr/>
          </p:nvSpPr>
          <p:spPr>
            <a:xfrm>
              <a:off x="2342" y="2790"/>
              <a:ext cx="139" cy="15"/>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69685" name="Freeform 59"/>
            <p:cNvSpPr/>
            <p:nvPr/>
          </p:nvSpPr>
          <p:spPr>
            <a:xfrm>
              <a:off x="842" y="2302"/>
              <a:ext cx="178" cy="183"/>
            </a:xfrm>
            <a:custGeom>
              <a:avLst/>
              <a:gdLst>
                <a:gd name="txL" fmla="*/ 0 w 138"/>
                <a:gd name="txT" fmla="*/ 0 h 144"/>
                <a:gd name="txR" fmla="*/ 138 w 138"/>
                <a:gd name="txB" fmla="*/ 144 h 144"/>
              </a:gdLst>
              <a:ahLst/>
              <a:cxnLst>
                <a:cxn ang="0">
                  <a:pos x="172162" y="0"/>
                </a:cxn>
                <a:cxn ang="0">
                  <a:pos x="119442" y="0"/>
                </a:cxn>
                <a:cxn ang="0">
                  <a:pos x="119442" y="5509"/>
                </a:cxn>
                <a:cxn ang="0">
                  <a:pos x="133810" y="5509"/>
                </a:cxn>
                <a:cxn ang="0">
                  <a:pos x="142183" y="9766"/>
                </a:cxn>
                <a:cxn ang="0">
                  <a:pos x="142183" y="19317"/>
                </a:cxn>
                <a:cxn ang="0">
                  <a:pos x="133810" y="24549"/>
                </a:cxn>
                <a:cxn ang="0">
                  <a:pos x="97674" y="88525"/>
                </a:cxn>
                <a:cxn ang="0">
                  <a:pos x="60000" y="29492"/>
                </a:cxn>
                <a:cxn ang="0">
                  <a:pos x="52189" y="14810"/>
                </a:cxn>
                <a:cxn ang="0">
                  <a:pos x="52189" y="9766"/>
                </a:cxn>
                <a:cxn ang="0">
                  <a:pos x="52189" y="5509"/>
                </a:cxn>
                <a:cxn ang="0">
                  <a:pos x="67316" y="5509"/>
                </a:cxn>
                <a:cxn ang="0">
                  <a:pos x="67316" y="0"/>
                </a:cxn>
                <a:cxn ang="0">
                  <a:pos x="0" y="0"/>
                </a:cxn>
                <a:cxn ang="0">
                  <a:pos x="0" y="5509"/>
                </a:cxn>
                <a:cxn ang="0">
                  <a:pos x="14388" y="5509"/>
                </a:cxn>
                <a:cxn ang="0">
                  <a:pos x="22471" y="9766"/>
                </a:cxn>
                <a:cxn ang="0">
                  <a:pos x="29903" y="19317"/>
                </a:cxn>
                <a:cxn ang="0">
                  <a:pos x="90292" y="118213"/>
                </a:cxn>
                <a:cxn ang="0">
                  <a:pos x="97674" y="118213"/>
                </a:cxn>
                <a:cxn ang="0">
                  <a:pos x="150222" y="19317"/>
                </a:cxn>
                <a:cxn ang="0">
                  <a:pos x="157431" y="9766"/>
                </a:cxn>
                <a:cxn ang="0">
                  <a:pos x="163823" y="5509"/>
                </a:cxn>
                <a:cxn ang="0">
                  <a:pos x="172162" y="5509"/>
                </a:cxn>
                <a:cxn ang="0">
                  <a:pos x="172162" y="0"/>
                </a:cxn>
              </a:cxnLst>
              <a:rect l="txL" t="txT" r="txR" b="txB"/>
              <a:pathLst>
                <a:path w="138" h="144">
                  <a:moveTo>
                    <a:pt x="138" y="0"/>
                  </a:moveTo>
                  <a:lnTo>
                    <a:pt x="96" y="0"/>
                  </a:lnTo>
                  <a:lnTo>
                    <a:pt x="96" y="6"/>
                  </a:lnTo>
                  <a:lnTo>
                    <a:pt x="108" y="6"/>
                  </a:lnTo>
                  <a:lnTo>
                    <a:pt x="114" y="12"/>
                  </a:lnTo>
                  <a:lnTo>
                    <a:pt x="114" y="24"/>
                  </a:lnTo>
                  <a:lnTo>
                    <a:pt x="108" y="30"/>
                  </a:lnTo>
                  <a:lnTo>
                    <a:pt x="78" y="108"/>
                  </a:lnTo>
                  <a:lnTo>
                    <a:pt x="48" y="36"/>
                  </a:lnTo>
                  <a:lnTo>
                    <a:pt x="42" y="18"/>
                  </a:lnTo>
                  <a:lnTo>
                    <a:pt x="42" y="12"/>
                  </a:lnTo>
                  <a:lnTo>
                    <a:pt x="42" y="6"/>
                  </a:lnTo>
                  <a:lnTo>
                    <a:pt x="54" y="6"/>
                  </a:lnTo>
                  <a:lnTo>
                    <a:pt x="54" y="0"/>
                  </a:lnTo>
                  <a:lnTo>
                    <a:pt x="0" y="0"/>
                  </a:lnTo>
                  <a:lnTo>
                    <a:pt x="0" y="6"/>
                  </a:lnTo>
                  <a:lnTo>
                    <a:pt x="12" y="6"/>
                  </a:lnTo>
                  <a:lnTo>
                    <a:pt x="18" y="12"/>
                  </a:lnTo>
                  <a:lnTo>
                    <a:pt x="24" y="24"/>
                  </a:lnTo>
                  <a:lnTo>
                    <a:pt x="72" y="144"/>
                  </a:lnTo>
                  <a:lnTo>
                    <a:pt x="78" y="144"/>
                  </a:lnTo>
                  <a:lnTo>
                    <a:pt x="120" y="24"/>
                  </a:lnTo>
                  <a:lnTo>
                    <a:pt x="126" y="12"/>
                  </a:lnTo>
                  <a:lnTo>
                    <a:pt x="132" y="6"/>
                  </a:lnTo>
                  <a:lnTo>
                    <a:pt x="138" y="6"/>
                  </a:lnTo>
                  <a:lnTo>
                    <a:pt x="13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86" name="Freeform 60"/>
            <p:cNvSpPr>
              <a:spLocks noEditPoints="1"/>
            </p:cNvSpPr>
            <p:nvPr/>
          </p:nvSpPr>
          <p:spPr>
            <a:xfrm>
              <a:off x="1004" y="2355"/>
              <a:ext cx="115" cy="130"/>
            </a:xfrm>
            <a:custGeom>
              <a:avLst/>
              <a:gdLst>
                <a:gd name="txL" fmla="*/ 0 w 89"/>
                <a:gd name="txT" fmla="*/ 0 h 102"/>
                <a:gd name="txR" fmla="*/ 89 w 89"/>
                <a:gd name="txB" fmla="*/ 102 h 102"/>
              </a:gdLst>
              <a:ahLst/>
              <a:cxnLst>
                <a:cxn ang="0">
                  <a:pos x="53476" y="0"/>
                </a:cxn>
                <a:cxn ang="0">
                  <a:pos x="31496" y="5890"/>
                </a:cxn>
                <a:cxn ang="0">
                  <a:pos x="16300" y="15782"/>
                </a:cxn>
                <a:cxn ang="0">
                  <a:pos x="0" y="48193"/>
                </a:cxn>
                <a:cxn ang="0">
                  <a:pos x="8014" y="64110"/>
                </a:cxn>
                <a:cxn ang="0">
                  <a:pos x="16300" y="80117"/>
                </a:cxn>
                <a:cxn ang="0">
                  <a:pos x="31496" y="84907"/>
                </a:cxn>
                <a:cxn ang="0">
                  <a:pos x="53476" y="90922"/>
                </a:cxn>
                <a:cxn ang="0">
                  <a:pos x="76956" y="84907"/>
                </a:cxn>
                <a:cxn ang="0">
                  <a:pos x="99808" y="74211"/>
                </a:cxn>
                <a:cxn ang="0">
                  <a:pos x="107913" y="64110"/>
                </a:cxn>
                <a:cxn ang="0">
                  <a:pos x="116989" y="48193"/>
                </a:cxn>
                <a:cxn ang="0">
                  <a:pos x="107913" y="26175"/>
                </a:cxn>
                <a:cxn ang="0">
                  <a:pos x="99808" y="10633"/>
                </a:cxn>
                <a:cxn ang="0">
                  <a:pos x="76956" y="5890"/>
                </a:cxn>
                <a:cxn ang="0">
                  <a:pos x="53476" y="0"/>
                </a:cxn>
                <a:cxn ang="0">
                  <a:pos x="53476" y="0"/>
                </a:cxn>
                <a:cxn ang="0">
                  <a:pos x="62274" y="84907"/>
                </a:cxn>
                <a:cxn ang="0">
                  <a:pos x="39654" y="80117"/>
                </a:cxn>
                <a:cxn ang="0">
                  <a:pos x="31496" y="69066"/>
                </a:cxn>
                <a:cxn ang="0">
                  <a:pos x="23751" y="53072"/>
                </a:cxn>
                <a:cxn ang="0">
                  <a:pos x="23751" y="37813"/>
                </a:cxn>
                <a:cxn ang="0">
                  <a:pos x="31496" y="15782"/>
                </a:cxn>
                <a:cxn ang="0">
                  <a:pos x="53476" y="5890"/>
                </a:cxn>
                <a:cxn ang="0">
                  <a:pos x="69098" y="10633"/>
                </a:cxn>
                <a:cxn ang="0">
                  <a:pos x="85547" y="22013"/>
                </a:cxn>
                <a:cxn ang="0">
                  <a:pos x="93228" y="53072"/>
                </a:cxn>
                <a:cxn ang="0">
                  <a:pos x="93228" y="69066"/>
                </a:cxn>
                <a:cxn ang="0">
                  <a:pos x="76956" y="80117"/>
                </a:cxn>
                <a:cxn ang="0">
                  <a:pos x="62274" y="84907"/>
                </a:cxn>
                <a:cxn ang="0">
                  <a:pos x="62274" y="84907"/>
                </a:cxn>
              </a:cxnLst>
              <a:rect l="txL" t="txT" r="txR" b="txB"/>
              <a:pathLst>
                <a:path w="89" h="102">
                  <a:moveTo>
                    <a:pt x="41" y="0"/>
                  </a:moveTo>
                  <a:lnTo>
                    <a:pt x="24" y="6"/>
                  </a:lnTo>
                  <a:lnTo>
                    <a:pt x="12" y="18"/>
                  </a:lnTo>
                  <a:lnTo>
                    <a:pt x="0" y="54"/>
                  </a:lnTo>
                  <a:lnTo>
                    <a:pt x="6" y="72"/>
                  </a:lnTo>
                  <a:lnTo>
                    <a:pt x="12" y="90"/>
                  </a:lnTo>
                  <a:lnTo>
                    <a:pt x="24" y="96"/>
                  </a:lnTo>
                  <a:lnTo>
                    <a:pt x="41" y="102"/>
                  </a:lnTo>
                  <a:lnTo>
                    <a:pt x="59" y="96"/>
                  </a:lnTo>
                  <a:lnTo>
                    <a:pt x="77" y="84"/>
                  </a:lnTo>
                  <a:lnTo>
                    <a:pt x="83" y="72"/>
                  </a:lnTo>
                  <a:lnTo>
                    <a:pt x="89" y="54"/>
                  </a:lnTo>
                  <a:lnTo>
                    <a:pt x="83" y="30"/>
                  </a:lnTo>
                  <a:lnTo>
                    <a:pt x="77" y="12"/>
                  </a:lnTo>
                  <a:lnTo>
                    <a:pt x="59" y="6"/>
                  </a:lnTo>
                  <a:lnTo>
                    <a:pt x="41" y="0"/>
                  </a:lnTo>
                  <a:close/>
                  <a:moveTo>
                    <a:pt x="47" y="96"/>
                  </a:moveTo>
                  <a:lnTo>
                    <a:pt x="30" y="90"/>
                  </a:lnTo>
                  <a:lnTo>
                    <a:pt x="24" y="78"/>
                  </a:lnTo>
                  <a:lnTo>
                    <a:pt x="18" y="60"/>
                  </a:lnTo>
                  <a:lnTo>
                    <a:pt x="18" y="42"/>
                  </a:lnTo>
                  <a:lnTo>
                    <a:pt x="24" y="18"/>
                  </a:lnTo>
                  <a:lnTo>
                    <a:pt x="41" y="6"/>
                  </a:lnTo>
                  <a:lnTo>
                    <a:pt x="53" y="12"/>
                  </a:lnTo>
                  <a:lnTo>
                    <a:pt x="65" y="24"/>
                  </a:lnTo>
                  <a:lnTo>
                    <a:pt x="71" y="60"/>
                  </a:lnTo>
                  <a:lnTo>
                    <a:pt x="71" y="78"/>
                  </a:lnTo>
                  <a:lnTo>
                    <a:pt x="59" y="90"/>
                  </a:lnTo>
                  <a:lnTo>
                    <a:pt x="47" y="9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87" name="Freeform 61"/>
            <p:cNvSpPr/>
            <p:nvPr/>
          </p:nvSpPr>
          <p:spPr>
            <a:xfrm>
              <a:off x="1126" y="2294"/>
              <a:ext cx="62" cy="191"/>
            </a:xfrm>
            <a:custGeom>
              <a:avLst/>
              <a:gdLst>
                <a:gd name="txL" fmla="*/ 0 w 48"/>
                <a:gd name="txT" fmla="*/ 0 h 150"/>
                <a:gd name="txR" fmla="*/ 48 w 48"/>
                <a:gd name="txB" fmla="*/ 150 h 150"/>
              </a:gdLst>
              <a:ahLst/>
              <a:cxnLst>
                <a:cxn ang="0">
                  <a:pos x="0" y="129669"/>
                </a:cxn>
                <a:cxn ang="0">
                  <a:pos x="62006" y="129669"/>
                </a:cxn>
                <a:cxn ang="0">
                  <a:pos x="62006" y="124570"/>
                </a:cxn>
                <a:cxn ang="0">
                  <a:pos x="47606" y="124570"/>
                </a:cxn>
                <a:cxn ang="0">
                  <a:pos x="47606" y="114445"/>
                </a:cxn>
                <a:cxn ang="0">
                  <a:pos x="47606" y="0"/>
                </a:cxn>
                <a:cxn ang="0">
                  <a:pos x="47606" y="0"/>
                </a:cxn>
                <a:cxn ang="0">
                  <a:pos x="23585" y="5806"/>
                </a:cxn>
                <a:cxn ang="0">
                  <a:pos x="0" y="10166"/>
                </a:cxn>
                <a:cxn ang="0">
                  <a:pos x="0" y="10166"/>
                </a:cxn>
                <a:cxn ang="0">
                  <a:pos x="7936" y="10166"/>
                </a:cxn>
                <a:cxn ang="0">
                  <a:pos x="7936" y="10166"/>
                </a:cxn>
                <a:cxn ang="0">
                  <a:pos x="23585" y="15551"/>
                </a:cxn>
                <a:cxn ang="0">
                  <a:pos x="23585" y="20988"/>
                </a:cxn>
                <a:cxn ang="0">
                  <a:pos x="23585" y="114445"/>
                </a:cxn>
                <a:cxn ang="0">
                  <a:pos x="16129" y="124570"/>
                </a:cxn>
                <a:cxn ang="0">
                  <a:pos x="0" y="124570"/>
                </a:cxn>
                <a:cxn ang="0">
                  <a:pos x="0" y="129669"/>
                </a:cxn>
              </a:cxnLst>
              <a:rect l="txL" t="txT" r="txR" b="txB"/>
              <a:pathLst>
                <a:path w="48" h="150">
                  <a:moveTo>
                    <a:pt x="0" y="150"/>
                  </a:moveTo>
                  <a:lnTo>
                    <a:pt x="48" y="150"/>
                  </a:lnTo>
                  <a:lnTo>
                    <a:pt x="48" y="144"/>
                  </a:lnTo>
                  <a:lnTo>
                    <a:pt x="36" y="144"/>
                  </a:lnTo>
                  <a:lnTo>
                    <a:pt x="36" y="132"/>
                  </a:lnTo>
                  <a:lnTo>
                    <a:pt x="36" y="0"/>
                  </a:lnTo>
                  <a:lnTo>
                    <a:pt x="18" y="6"/>
                  </a:lnTo>
                  <a:lnTo>
                    <a:pt x="0" y="12"/>
                  </a:lnTo>
                  <a:lnTo>
                    <a:pt x="6" y="12"/>
                  </a:lnTo>
                  <a:lnTo>
                    <a:pt x="18" y="18"/>
                  </a:lnTo>
                  <a:lnTo>
                    <a:pt x="18" y="24"/>
                  </a:lnTo>
                  <a:lnTo>
                    <a:pt x="18" y="132"/>
                  </a:lnTo>
                  <a:lnTo>
                    <a:pt x="12" y="144"/>
                  </a:lnTo>
                  <a:lnTo>
                    <a:pt x="0" y="144"/>
                  </a:lnTo>
                  <a:lnTo>
                    <a:pt x="0" y="15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88" name="Freeform 62"/>
            <p:cNvSpPr/>
            <p:nvPr/>
          </p:nvSpPr>
          <p:spPr>
            <a:xfrm>
              <a:off x="1203" y="2325"/>
              <a:ext cx="70" cy="160"/>
            </a:xfrm>
            <a:custGeom>
              <a:avLst/>
              <a:gdLst>
                <a:gd name="txL" fmla="*/ 0 w 54"/>
                <a:gd name="txT" fmla="*/ 0 h 126"/>
                <a:gd name="txR" fmla="*/ 54 w 54"/>
                <a:gd name="txB" fmla="*/ 126 h 126"/>
              </a:gdLst>
              <a:ahLst/>
              <a:cxnLst>
                <a:cxn ang="0">
                  <a:pos x="68407" y="23712"/>
                </a:cxn>
                <a:cxn ang="0">
                  <a:pos x="33953" y="23712"/>
                </a:cxn>
                <a:cxn ang="0">
                  <a:pos x="33953" y="0"/>
                </a:cxn>
                <a:cxn ang="0">
                  <a:pos x="33953" y="0"/>
                </a:cxn>
                <a:cxn ang="0">
                  <a:pos x="25908" y="9119"/>
                </a:cxn>
                <a:cxn ang="0">
                  <a:pos x="8903" y="18673"/>
                </a:cxn>
                <a:cxn ang="0">
                  <a:pos x="0" y="23712"/>
                </a:cxn>
                <a:cxn ang="0">
                  <a:pos x="0" y="23712"/>
                </a:cxn>
                <a:cxn ang="0">
                  <a:pos x="0" y="29007"/>
                </a:cxn>
                <a:cxn ang="0">
                  <a:pos x="0" y="29007"/>
                </a:cxn>
                <a:cxn ang="0">
                  <a:pos x="8903" y="29007"/>
                </a:cxn>
                <a:cxn ang="0">
                  <a:pos x="8903" y="82334"/>
                </a:cxn>
                <a:cxn ang="0">
                  <a:pos x="17409" y="96105"/>
                </a:cxn>
                <a:cxn ang="0">
                  <a:pos x="43535" y="101617"/>
                </a:cxn>
                <a:cxn ang="0">
                  <a:pos x="59792" y="96105"/>
                </a:cxn>
                <a:cxn ang="0">
                  <a:pos x="77508" y="91672"/>
                </a:cxn>
                <a:cxn ang="0">
                  <a:pos x="68407" y="86757"/>
                </a:cxn>
                <a:cxn ang="0">
                  <a:pos x="59792" y="91672"/>
                </a:cxn>
                <a:cxn ang="0">
                  <a:pos x="51690" y="91672"/>
                </a:cxn>
                <a:cxn ang="0">
                  <a:pos x="33953" y="86757"/>
                </a:cxn>
                <a:cxn ang="0">
                  <a:pos x="33953" y="77248"/>
                </a:cxn>
                <a:cxn ang="0">
                  <a:pos x="33953" y="29007"/>
                </a:cxn>
                <a:cxn ang="0">
                  <a:pos x="68407" y="29007"/>
                </a:cxn>
                <a:cxn ang="0">
                  <a:pos x="68407" y="23712"/>
                </a:cxn>
              </a:cxnLst>
              <a:rect l="txL" t="txT" r="txR" b="txB"/>
              <a:pathLst>
                <a:path w="54" h="126">
                  <a:moveTo>
                    <a:pt x="48" y="30"/>
                  </a:moveTo>
                  <a:lnTo>
                    <a:pt x="24" y="30"/>
                  </a:lnTo>
                  <a:lnTo>
                    <a:pt x="24" y="0"/>
                  </a:lnTo>
                  <a:lnTo>
                    <a:pt x="18" y="12"/>
                  </a:lnTo>
                  <a:lnTo>
                    <a:pt x="6" y="24"/>
                  </a:lnTo>
                  <a:lnTo>
                    <a:pt x="0" y="30"/>
                  </a:lnTo>
                  <a:lnTo>
                    <a:pt x="0" y="36"/>
                  </a:lnTo>
                  <a:lnTo>
                    <a:pt x="6" y="36"/>
                  </a:lnTo>
                  <a:lnTo>
                    <a:pt x="6" y="102"/>
                  </a:lnTo>
                  <a:lnTo>
                    <a:pt x="12" y="120"/>
                  </a:lnTo>
                  <a:lnTo>
                    <a:pt x="30" y="126"/>
                  </a:lnTo>
                  <a:lnTo>
                    <a:pt x="42" y="120"/>
                  </a:lnTo>
                  <a:lnTo>
                    <a:pt x="54" y="114"/>
                  </a:lnTo>
                  <a:lnTo>
                    <a:pt x="48" y="108"/>
                  </a:lnTo>
                  <a:lnTo>
                    <a:pt x="42" y="114"/>
                  </a:lnTo>
                  <a:lnTo>
                    <a:pt x="36" y="114"/>
                  </a:lnTo>
                  <a:lnTo>
                    <a:pt x="24" y="108"/>
                  </a:lnTo>
                  <a:lnTo>
                    <a:pt x="24" y="96"/>
                  </a:lnTo>
                  <a:lnTo>
                    <a:pt x="24" y="36"/>
                  </a:lnTo>
                  <a:lnTo>
                    <a:pt x="48" y="36"/>
                  </a:lnTo>
                  <a:lnTo>
                    <a:pt x="48"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89" name="Freeform 63"/>
            <p:cNvSpPr/>
            <p:nvPr/>
          </p:nvSpPr>
          <p:spPr>
            <a:xfrm>
              <a:off x="1273" y="2355"/>
              <a:ext cx="199" cy="130"/>
            </a:xfrm>
            <a:custGeom>
              <a:avLst/>
              <a:gdLst>
                <a:gd name="txL" fmla="*/ 0 w 155"/>
                <a:gd name="txT" fmla="*/ 0 h 102"/>
                <a:gd name="txR" fmla="*/ 155 w 155"/>
                <a:gd name="txB" fmla="*/ 102 h 102"/>
              </a:gdLst>
              <a:ahLst/>
              <a:cxnLst>
                <a:cxn ang="0">
                  <a:pos x="12310" y="74211"/>
                </a:cxn>
                <a:cxn ang="0">
                  <a:pos x="6869" y="84907"/>
                </a:cxn>
                <a:cxn ang="0">
                  <a:pos x="0" y="84907"/>
                </a:cxn>
                <a:cxn ang="0">
                  <a:pos x="0" y="90922"/>
                </a:cxn>
                <a:cxn ang="0">
                  <a:pos x="53060" y="90922"/>
                </a:cxn>
                <a:cxn ang="0">
                  <a:pos x="53060" y="84907"/>
                </a:cxn>
                <a:cxn ang="0">
                  <a:pos x="39494" y="84907"/>
                </a:cxn>
                <a:cxn ang="0">
                  <a:pos x="32848" y="74211"/>
                </a:cxn>
                <a:cxn ang="0">
                  <a:pos x="32848" y="22013"/>
                </a:cxn>
                <a:cxn ang="0">
                  <a:pos x="39494" y="15782"/>
                </a:cxn>
                <a:cxn ang="0">
                  <a:pos x="58492" y="10633"/>
                </a:cxn>
                <a:cxn ang="0">
                  <a:pos x="72409" y="15782"/>
                </a:cxn>
                <a:cxn ang="0">
                  <a:pos x="78151" y="32179"/>
                </a:cxn>
                <a:cxn ang="0">
                  <a:pos x="78151" y="74211"/>
                </a:cxn>
                <a:cxn ang="0">
                  <a:pos x="72409" y="84907"/>
                </a:cxn>
                <a:cxn ang="0">
                  <a:pos x="58492" y="84907"/>
                </a:cxn>
                <a:cxn ang="0">
                  <a:pos x="58492" y="90922"/>
                </a:cxn>
                <a:cxn ang="0">
                  <a:pos x="111669" y="90922"/>
                </a:cxn>
                <a:cxn ang="0">
                  <a:pos x="111669" y="84907"/>
                </a:cxn>
                <a:cxn ang="0">
                  <a:pos x="98660" y="84907"/>
                </a:cxn>
                <a:cxn ang="0">
                  <a:pos x="91902" y="80117"/>
                </a:cxn>
                <a:cxn ang="0">
                  <a:pos x="91902" y="69066"/>
                </a:cxn>
                <a:cxn ang="0">
                  <a:pos x="91902" y="22013"/>
                </a:cxn>
                <a:cxn ang="0">
                  <a:pos x="104944" y="15782"/>
                </a:cxn>
                <a:cxn ang="0">
                  <a:pos x="117990" y="10633"/>
                </a:cxn>
                <a:cxn ang="0">
                  <a:pos x="131339" y="10633"/>
                </a:cxn>
                <a:cxn ang="0">
                  <a:pos x="137766" y="15782"/>
                </a:cxn>
                <a:cxn ang="0">
                  <a:pos x="137766" y="32179"/>
                </a:cxn>
                <a:cxn ang="0">
                  <a:pos x="137766" y="74211"/>
                </a:cxn>
                <a:cxn ang="0">
                  <a:pos x="131339" y="84907"/>
                </a:cxn>
                <a:cxn ang="0">
                  <a:pos x="117990" y="84907"/>
                </a:cxn>
                <a:cxn ang="0">
                  <a:pos x="117990" y="90922"/>
                </a:cxn>
                <a:cxn ang="0">
                  <a:pos x="168891" y="90922"/>
                </a:cxn>
                <a:cxn ang="0">
                  <a:pos x="168891" y="84907"/>
                </a:cxn>
                <a:cxn ang="0">
                  <a:pos x="162624" y="84907"/>
                </a:cxn>
                <a:cxn ang="0">
                  <a:pos x="156504" y="80117"/>
                </a:cxn>
                <a:cxn ang="0">
                  <a:pos x="156504" y="74211"/>
                </a:cxn>
                <a:cxn ang="0">
                  <a:pos x="156504" y="37813"/>
                </a:cxn>
                <a:cxn ang="0">
                  <a:pos x="150334" y="10633"/>
                </a:cxn>
                <a:cxn ang="0">
                  <a:pos x="144162" y="5890"/>
                </a:cxn>
                <a:cxn ang="0">
                  <a:pos x="131339" y="0"/>
                </a:cxn>
                <a:cxn ang="0">
                  <a:pos x="104944" y="5890"/>
                </a:cxn>
                <a:cxn ang="0">
                  <a:pos x="91902" y="15782"/>
                </a:cxn>
                <a:cxn ang="0">
                  <a:pos x="85009" y="5890"/>
                </a:cxn>
                <a:cxn ang="0">
                  <a:pos x="65377" y="0"/>
                </a:cxn>
                <a:cxn ang="0">
                  <a:pos x="53060" y="5890"/>
                </a:cxn>
                <a:cxn ang="0">
                  <a:pos x="32848" y="15782"/>
                </a:cxn>
                <a:cxn ang="0">
                  <a:pos x="32848" y="0"/>
                </a:cxn>
                <a:cxn ang="0">
                  <a:pos x="32848" y="0"/>
                </a:cxn>
                <a:cxn ang="0">
                  <a:pos x="19928" y="5890"/>
                </a:cxn>
                <a:cxn ang="0">
                  <a:pos x="0" y="10633"/>
                </a:cxn>
                <a:cxn ang="0">
                  <a:pos x="0" y="10633"/>
                </a:cxn>
                <a:cxn ang="0">
                  <a:pos x="6869" y="10633"/>
                </a:cxn>
                <a:cxn ang="0">
                  <a:pos x="6869" y="10633"/>
                </a:cxn>
                <a:cxn ang="0">
                  <a:pos x="12310" y="10633"/>
                </a:cxn>
                <a:cxn ang="0">
                  <a:pos x="12310" y="15782"/>
                </a:cxn>
                <a:cxn ang="0">
                  <a:pos x="12310" y="26175"/>
                </a:cxn>
                <a:cxn ang="0">
                  <a:pos x="12310" y="74211"/>
                </a:cxn>
              </a:cxnLst>
              <a:rect l="txL" t="txT" r="txR" b="txB"/>
              <a:pathLst>
                <a:path w="155" h="102">
                  <a:moveTo>
                    <a:pt x="12" y="84"/>
                  </a:moveTo>
                  <a:lnTo>
                    <a:pt x="6" y="96"/>
                  </a:lnTo>
                  <a:lnTo>
                    <a:pt x="0" y="96"/>
                  </a:lnTo>
                  <a:lnTo>
                    <a:pt x="0" y="102"/>
                  </a:lnTo>
                  <a:lnTo>
                    <a:pt x="48" y="102"/>
                  </a:lnTo>
                  <a:lnTo>
                    <a:pt x="48" y="96"/>
                  </a:lnTo>
                  <a:lnTo>
                    <a:pt x="36" y="96"/>
                  </a:lnTo>
                  <a:lnTo>
                    <a:pt x="30" y="84"/>
                  </a:lnTo>
                  <a:lnTo>
                    <a:pt x="30" y="24"/>
                  </a:lnTo>
                  <a:lnTo>
                    <a:pt x="36" y="18"/>
                  </a:lnTo>
                  <a:lnTo>
                    <a:pt x="54" y="12"/>
                  </a:lnTo>
                  <a:lnTo>
                    <a:pt x="66" y="18"/>
                  </a:lnTo>
                  <a:lnTo>
                    <a:pt x="72" y="36"/>
                  </a:lnTo>
                  <a:lnTo>
                    <a:pt x="72" y="84"/>
                  </a:lnTo>
                  <a:lnTo>
                    <a:pt x="66" y="96"/>
                  </a:lnTo>
                  <a:lnTo>
                    <a:pt x="54" y="96"/>
                  </a:lnTo>
                  <a:lnTo>
                    <a:pt x="54" y="102"/>
                  </a:lnTo>
                  <a:lnTo>
                    <a:pt x="102" y="102"/>
                  </a:lnTo>
                  <a:lnTo>
                    <a:pt x="102" y="96"/>
                  </a:lnTo>
                  <a:lnTo>
                    <a:pt x="90" y="96"/>
                  </a:lnTo>
                  <a:lnTo>
                    <a:pt x="84" y="90"/>
                  </a:lnTo>
                  <a:lnTo>
                    <a:pt x="84" y="78"/>
                  </a:lnTo>
                  <a:lnTo>
                    <a:pt x="84" y="24"/>
                  </a:lnTo>
                  <a:lnTo>
                    <a:pt x="96" y="18"/>
                  </a:lnTo>
                  <a:lnTo>
                    <a:pt x="108" y="12"/>
                  </a:lnTo>
                  <a:lnTo>
                    <a:pt x="120" y="12"/>
                  </a:lnTo>
                  <a:lnTo>
                    <a:pt x="126" y="18"/>
                  </a:lnTo>
                  <a:lnTo>
                    <a:pt x="126" y="36"/>
                  </a:lnTo>
                  <a:lnTo>
                    <a:pt x="126" y="84"/>
                  </a:lnTo>
                  <a:lnTo>
                    <a:pt x="120" y="96"/>
                  </a:lnTo>
                  <a:lnTo>
                    <a:pt x="108" y="96"/>
                  </a:lnTo>
                  <a:lnTo>
                    <a:pt x="108" y="102"/>
                  </a:lnTo>
                  <a:lnTo>
                    <a:pt x="155" y="102"/>
                  </a:lnTo>
                  <a:lnTo>
                    <a:pt x="155" y="96"/>
                  </a:lnTo>
                  <a:lnTo>
                    <a:pt x="149" y="96"/>
                  </a:lnTo>
                  <a:lnTo>
                    <a:pt x="143" y="90"/>
                  </a:lnTo>
                  <a:lnTo>
                    <a:pt x="143" y="84"/>
                  </a:lnTo>
                  <a:lnTo>
                    <a:pt x="143" y="42"/>
                  </a:lnTo>
                  <a:lnTo>
                    <a:pt x="138" y="12"/>
                  </a:lnTo>
                  <a:lnTo>
                    <a:pt x="132" y="6"/>
                  </a:lnTo>
                  <a:lnTo>
                    <a:pt x="120" y="0"/>
                  </a:lnTo>
                  <a:lnTo>
                    <a:pt x="96" y="6"/>
                  </a:lnTo>
                  <a:lnTo>
                    <a:pt x="84" y="18"/>
                  </a:lnTo>
                  <a:lnTo>
                    <a:pt x="78" y="6"/>
                  </a:lnTo>
                  <a:lnTo>
                    <a:pt x="60" y="0"/>
                  </a:lnTo>
                  <a:lnTo>
                    <a:pt x="48" y="6"/>
                  </a:lnTo>
                  <a:lnTo>
                    <a:pt x="30" y="18"/>
                  </a:lnTo>
                  <a:lnTo>
                    <a:pt x="30" y="0"/>
                  </a:lnTo>
                  <a:lnTo>
                    <a:pt x="18" y="6"/>
                  </a:lnTo>
                  <a:lnTo>
                    <a:pt x="0" y="12"/>
                  </a:lnTo>
                  <a:lnTo>
                    <a:pt x="6" y="12"/>
                  </a:lnTo>
                  <a:lnTo>
                    <a:pt x="12" y="12"/>
                  </a:lnTo>
                  <a:lnTo>
                    <a:pt x="12" y="18"/>
                  </a:lnTo>
                  <a:lnTo>
                    <a:pt x="12" y="30"/>
                  </a:lnTo>
                  <a:lnTo>
                    <a:pt x="12" y="8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90" name="Freeform 64"/>
            <p:cNvSpPr>
              <a:spLocks noEditPoints="1"/>
            </p:cNvSpPr>
            <p:nvPr/>
          </p:nvSpPr>
          <p:spPr>
            <a:xfrm>
              <a:off x="1480" y="2355"/>
              <a:ext cx="100" cy="130"/>
            </a:xfrm>
            <a:custGeom>
              <a:avLst/>
              <a:gdLst>
                <a:gd name="txL" fmla="*/ 0 w 78"/>
                <a:gd name="txT" fmla="*/ 0 h 102"/>
                <a:gd name="txR" fmla="*/ 78 w 78"/>
                <a:gd name="txB" fmla="*/ 102 h 102"/>
              </a:gdLst>
              <a:ahLst/>
              <a:cxnLst>
                <a:cxn ang="0">
                  <a:pos x="81586" y="58227"/>
                </a:cxn>
                <a:cxn ang="0">
                  <a:pos x="69533" y="69066"/>
                </a:cxn>
                <a:cxn ang="0">
                  <a:pos x="63401" y="80117"/>
                </a:cxn>
                <a:cxn ang="0">
                  <a:pos x="50200" y="80117"/>
                </a:cxn>
                <a:cxn ang="0">
                  <a:pos x="37758" y="80117"/>
                </a:cxn>
                <a:cxn ang="0">
                  <a:pos x="25086" y="69066"/>
                </a:cxn>
                <a:cxn ang="0">
                  <a:pos x="18305" y="58227"/>
                </a:cxn>
                <a:cxn ang="0">
                  <a:pos x="11904" y="37813"/>
                </a:cxn>
                <a:cxn ang="0">
                  <a:pos x="81586" y="37813"/>
                </a:cxn>
                <a:cxn ang="0">
                  <a:pos x="75486" y="22013"/>
                </a:cxn>
                <a:cxn ang="0">
                  <a:pos x="69533" y="10633"/>
                </a:cxn>
                <a:cxn ang="0">
                  <a:pos x="43856" y="0"/>
                </a:cxn>
                <a:cxn ang="0">
                  <a:pos x="31522" y="0"/>
                </a:cxn>
                <a:cxn ang="0">
                  <a:pos x="11904" y="10633"/>
                </a:cxn>
                <a:cxn ang="0">
                  <a:pos x="6632" y="26175"/>
                </a:cxn>
                <a:cxn ang="0">
                  <a:pos x="0" y="48193"/>
                </a:cxn>
                <a:cxn ang="0">
                  <a:pos x="11904" y="80117"/>
                </a:cxn>
                <a:cxn ang="0">
                  <a:pos x="18305" y="84907"/>
                </a:cxn>
                <a:cxn ang="0">
                  <a:pos x="37758" y="90922"/>
                </a:cxn>
                <a:cxn ang="0">
                  <a:pos x="56226" y="84907"/>
                </a:cxn>
                <a:cxn ang="0">
                  <a:pos x="69533" y="74211"/>
                </a:cxn>
                <a:cxn ang="0">
                  <a:pos x="81586" y="64110"/>
                </a:cxn>
                <a:cxn ang="0">
                  <a:pos x="81586" y="58227"/>
                </a:cxn>
                <a:cxn ang="0">
                  <a:pos x="81586" y="58227"/>
                </a:cxn>
                <a:cxn ang="0">
                  <a:pos x="11904" y="32179"/>
                </a:cxn>
                <a:cxn ang="0">
                  <a:pos x="18305" y="22013"/>
                </a:cxn>
                <a:cxn ang="0">
                  <a:pos x="25086" y="15782"/>
                </a:cxn>
                <a:cxn ang="0">
                  <a:pos x="37758" y="10633"/>
                </a:cxn>
                <a:cxn ang="0">
                  <a:pos x="50200" y="10633"/>
                </a:cxn>
                <a:cxn ang="0">
                  <a:pos x="56226" y="15782"/>
                </a:cxn>
                <a:cxn ang="0">
                  <a:pos x="56226" y="32179"/>
                </a:cxn>
                <a:cxn ang="0">
                  <a:pos x="11904" y="32179"/>
                </a:cxn>
              </a:cxnLst>
              <a:rect l="txL" t="txT" r="txR" b="txB"/>
              <a:pathLst>
                <a:path w="78" h="102">
                  <a:moveTo>
                    <a:pt x="78" y="66"/>
                  </a:moveTo>
                  <a:lnTo>
                    <a:pt x="66" y="78"/>
                  </a:lnTo>
                  <a:lnTo>
                    <a:pt x="60" y="90"/>
                  </a:lnTo>
                  <a:lnTo>
                    <a:pt x="48" y="90"/>
                  </a:lnTo>
                  <a:lnTo>
                    <a:pt x="36" y="90"/>
                  </a:lnTo>
                  <a:lnTo>
                    <a:pt x="24" y="78"/>
                  </a:lnTo>
                  <a:lnTo>
                    <a:pt x="18" y="66"/>
                  </a:lnTo>
                  <a:lnTo>
                    <a:pt x="12" y="42"/>
                  </a:lnTo>
                  <a:lnTo>
                    <a:pt x="78" y="42"/>
                  </a:lnTo>
                  <a:lnTo>
                    <a:pt x="72" y="24"/>
                  </a:lnTo>
                  <a:lnTo>
                    <a:pt x="66" y="12"/>
                  </a:lnTo>
                  <a:lnTo>
                    <a:pt x="42" y="0"/>
                  </a:lnTo>
                  <a:lnTo>
                    <a:pt x="30" y="0"/>
                  </a:lnTo>
                  <a:lnTo>
                    <a:pt x="12" y="12"/>
                  </a:lnTo>
                  <a:lnTo>
                    <a:pt x="6" y="30"/>
                  </a:lnTo>
                  <a:lnTo>
                    <a:pt x="0" y="54"/>
                  </a:lnTo>
                  <a:lnTo>
                    <a:pt x="12" y="90"/>
                  </a:lnTo>
                  <a:lnTo>
                    <a:pt x="18" y="96"/>
                  </a:lnTo>
                  <a:lnTo>
                    <a:pt x="36" y="102"/>
                  </a:lnTo>
                  <a:lnTo>
                    <a:pt x="54" y="96"/>
                  </a:lnTo>
                  <a:lnTo>
                    <a:pt x="66" y="84"/>
                  </a:lnTo>
                  <a:lnTo>
                    <a:pt x="78" y="72"/>
                  </a:lnTo>
                  <a:lnTo>
                    <a:pt x="78" y="66"/>
                  </a:lnTo>
                  <a:close/>
                  <a:moveTo>
                    <a:pt x="12" y="36"/>
                  </a:moveTo>
                  <a:lnTo>
                    <a:pt x="18" y="24"/>
                  </a:lnTo>
                  <a:lnTo>
                    <a:pt x="24" y="18"/>
                  </a:lnTo>
                  <a:lnTo>
                    <a:pt x="36" y="12"/>
                  </a:lnTo>
                  <a:lnTo>
                    <a:pt x="48" y="12"/>
                  </a:lnTo>
                  <a:lnTo>
                    <a:pt x="54" y="18"/>
                  </a:lnTo>
                  <a:lnTo>
                    <a:pt x="54" y="36"/>
                  </a:lnTo>
                  <a:lnTo>
                    <a:pt x="12" y="3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91" name="Freeform 65"/>
            <p:cNvSpPr/>
            <p:nvPr/>
          </p:nvSpPr>
          <p:spPr>
            <a:xfrm>
              <a:off x="1596" y="2325"/>
              <a:ext cx="69" cy="160"/>
            </a:xfrm>
            <a:custGeom>
              <a:avLst/>
              <a:gdLst>
                <a:gd name="txL" fmla="*/ 0 w 54"/>
                <a:gd name="txT" fmla="*/ 0 h 126"/>
                <a:gd name="txR" fmla="*/ 54 w 54"/>
                <a:gd name="txB" fmla="*/ 126 h 126"/>
              </a:gdLst>
              <a:ahLst/>
              <a:cxnLst>
                <a:cxn ang="0">
                  <a:pos x="45994" y="23712"/>
                </a:cxn>
                <a:cxn ang="0">
                  <a:pos x="23252" y="23712"/>
                </a:cxn>
                <a:cxn ang="0">
                  <a:pos x="23252" y="0"/>
                </a:cxn>
                <a:cxn ang="0">
                  <a:pos x="23252" y="0"/>
                </a:cxn>
                <a:cxn ang="0">
                  <a:pos x="16906" y="9119"/>
                </a:cxn>
                <a:cxn ang="0">
                  <a:pos x="6209" y="18673"/>
                </a:cxn>
                <a:cxn ang="0">
                  <a:pos x="0" y="23712"/>
                </a:cxn>
                <a:cxn ang="0">
                  <a:pos x="0" y="23712"/>
                </a:cxn>
                <a:cxn ang="0">
                  <a:pos x="0" y="29007"/>
                </a:cxn>
                <a:cxn ang="0">
                  <a:pos x="0" y="29007"/>
                </a:cxn>
                <a:cxn ang="0">
                  <a:pos x="6209" y="29007"/>
                </a:cxn>
                <a:cxn ang="0">
                  <a:pos x="6209" y="82334"/>
                </a:cxn>
                <a:cxn ang="0">
                  <a:pos x="11145" y="96105"/>
                </a:cxn>
                <a:cxn ang="0">
                  <a:pos x="29193" y="101617"/>
                </a:cxn>
                <a:cxn ang="0">
                  <a:pos x="40237" y="96105"/>
                </a:cxn>
                <a:cxn ang="0">
                  <a:pos x="51414" y="91672"/>
                </a:cxn>
                <a:cxn ang="0">
                  <a:pos x="45994" y="86757"/>
                </a:cxn>
                <a:cxn ang="0">
                  <a:pos x="40237" y="91672"/>
                </a:cxn>
                <a:cxn ang="0">
                  <a:pos x="34532" y="91672"/>
                </a:cxn>
                <a:cxn ang="0">
                  <a:pos x="23252" y="86757"/>
                </a:cxn>
                <a:cxn ang="0">
                  <a:pos x="23252" y="77248"/>
                </a:cxn>
                <a:cxn ang="0">
                  <a:pos x="23252" y="29007"/>
                </a:cxn>
                <a:cxn ang="0">
                  <a:pos x="45994" y="29007"/>
                </a:cxn>
                <a:cxn ang="0">
                  <a:pos x="45994" y="23712"/>
                </a:cxn>
              </a:cxnLst>
              <a:rect l="txL" t="txT" r="txR" b="txB"/>
              <a:pathLst>
                <a:path w="54" h="126">
                  <a:moveTo>
                    <a:pt x="48" y="30"/>
                  </a:moveTo>
                  <a:lnTo>
                    <a:pt x="24" y="30"/>
                  </a:lnTo>
                  <a:lnTo>
                    <a:pt x="24" y="0"/>
                  </a:lnTo>
                  <a:lnTo>
                    <a:pt x="18" y="12"/>
                  </a:lnTo>
                  <a:lnTo>
                    <a:pt x="6" y="24"/>
                  </a:lnTo>
                  <a:lnTo>
                    <a:pt x="0" y="30"/>
                  </a:lnTo>
                  <a:lnTo>
                    <a:pt x="0" y="36"/>
                  </a:lnTo>
                  <a:lnTo>
                    <a:pt x="6" y="36"/>
                  </a:lnTo>
                  <a:lnTo>
                    <a:pt x="6" y="102"/>
                  </a:lnTo>
                  <a:lnTo>
                    <a:pt x="12" y="120"/>
                  </a:lnTo>
                  <a:lnTo>
                    <a:pt x="30" y="126"/>
                  </a:lnTo>
                  <a:lnTo>
                    <a:pt x="42" y="120"/>
                  </a:lnTo>
                  <a:lnTo>
                    <a:pt x="54" y="114"/>
                  </a:lnTo>
                  <a:lnTo>
                    <a:pt x="48" y="108"/>
                  </a:lnTo>
                  <a:lnTo>
                    <a:pt x="42" y="114"/>
                  </a:lnTo>
                  <a:lnTo>
                    <a:pt x="36" y="114"/>
                  </a:lnTo>
                  <a:lnTo>
                    <a:pt x="24" y="108"/>
                  </a:lnTo>
                  <a:lnTo>
                    <a:pt x="24" y="96"/>
                  </a:lnTo>
                  <a:lnTo>
                    <a:pt x="24" y="36"/>
                  </a:lnTo>
                  <a:lnTo>
                    <a:pt x="48" y="36"/>
                  </a:lnTo>
                  <a:lnTo>
                    <a:pt x="48"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92" name="Freeform 66"/>
            <p:cNvSpPr>
              <a:spLocks noEditPoints="1"/>
            </p:cNvSpPr>
            <p:nvPr/>
          </p:nvSpPr>
          <p:spPr>
            <a:xfrm>
              <a:off x="1665" y="2355"/>
              <a:ext cx="108" cy="130"/>
            </a:xfrm>
            <a:custGeom>
              <a:avLst/>
              <a:gdLst>
                <a:gd name="txL" fmla="*/ 0 w 84"/>
                <a:gd name="txT" fmla="*/ 0 h 102"/>
                <a:gd name="txR" fmla="*/ 84 w 84"/>
                <a:gd name="txB" fmla="*/ 102 h 102"/>
              </a:gdLst>
              <a:ahLst/>
              <a:cxnLst>
                <a:cxn ang="0">
                  <a:pos x="88647" y="58227"/>
                </a:cxn>
                <a:cxn ang="0">
                  <a:pos x="82614" y="69066"/>
                </a:cxn>
                <a:cxn ang="0">
                  <a:pos x="67974" y="80117"/>
                </a:cxn>
                <a:cxn ang="0">
                  <a:pos x="55270" y="80117"/>
                </a:cxn>
                <a:cxn ang="0">
                  <a:pos x="40650" y="80117"/>
                </a:cxn>
                <a:cxn ang="0">
                  <a:pos x="34136" y="69066"/>
                </a:cxn>
                <a:cxn ang="0">
                  <a:pos x="27361" y="58227"/>
                </a:cxn>
                <a:cxn ang="0">
                  <a:pos x="20650" y="37813"/>
                </a:cxn>
                <a:cxn ang="0">
                  <a:pos x="88647" y="37813"/>
                </a:cxn>
                <a:cxn ang="0">
                  <a:pos x="88647" y="22013"/>
                </a:cxn>
                <a:cxn ang="0">
                  <a:pos x="82614" y="10633"/>
                </a:cxn>
                <a:cxn ang="0">
                  <a:pos x="47483" y="0"/>
                </a:cxn>
                <a:cxn ang="0">
                  <a:pos x="34136" y="0"/>
                </a:cxn>
                <a:cxn ang="0">
                  <a:pos x="20650" y="10633"/>
                </a:cxn>
                <a:cxn ang="0">
                  <a:pos x="6999" y="26175"/>
                </a:cxn>
                <a:cxn ang="0">
                  <a:pos x="0" y="48193"/>
                </a:cxn>
                <a:cxn ang="0">
                  <a:pos x="6999" y="64110"/>
                </a:cxn>
                <a:cxn ang="0">
                  <a:pos x="12874" y="80117"/>
                </a:cxn>
                <a:cxn ang="0">
                  <a:pos x="27361" y="84907"/>
                </a:cxn>
                <a:cxn ang="0">
                  <a:pos x="47483" y="90922"/>
                </a:cxn>
                <a:cxn ang="0">
                  <a:pos x="67974" y="84907"/>
                </a:cxn>
                <a:cxn ang="0">
                  <a:pos x="82614" y="74211"/>
                </a:cxn>
                <a:cxn ang="0">
                  <a:pos x="95881" y="64110"/>
                </a:cxn>
                <a:cxn ang="0">
                  <a:pos x="95881" y="58227"/>
                </a:cxn>
                <a:cxn ang="0">
                  <a:pos x="88647" y="58227"/>
                </a:cxn>
                <a:cxn ang="0">
                  <a:pos x="20650" y="32179"/>
                </a:cxn>
                <a:cxn ang="0">
                  <a:pos x="20650" y="22013"/>
                </a:cxn>
                <a:cxn ang="0">
                  <a:pos x="27361" y="15782"/>
                </a:cxn>
                <a:cxn ang="0">
                  <a:pos x="47483" y="10633"/>
                </a:cxn>
                <a:cxn ang="0">
                  <a:pos x="61050" y="15782"/>
                </a:cxn>
                <a:cxn ang="0">
                  <a:pos x="67974" y="32179"/>
                </a:cxn>
                <a:cxn ang="0">
                  <a:pos x="20650" y="32179"/>
                </a:cxn>
              </a:cxnLst>
              <a:rect l="txL" t="txT" r="txR" b="txB"/>
              <a:pathLst>
                <a:path w="84" h="102">
                  <a:moveTo>
                    <a:pt x="78" y="66"/>
                  </a:moveTo>
                  <a:lnTo>
                    <a:pt x="72" y="78"/>
                  </a:lnTo>
                  <a:lnTo>
                    <a:pt x="60" y="90"/>
                  </a:lnTo>
                  <a:lnTo>
                    <a:pt x="48" y="90"/>
                  </a:lnTo>
                  <a:lnTo>
                    <a:pt x="36" y="90"/>
                  </a:lnTo>
                  <a:lnTo>
                    <a:pt x="30" y="78"/>
                  </a:lnTo>
                  <a:lnTo>
                    <a:pt x="24" y="66"/>
                  </a:lnTo>
                  <a:lnTo>
                    <a:pt x="18" y="42"/>
                  </a:lnTo>
                  <a:lnTo>
                    <a:pt x="78" y="42"/>
                  </a:lnTo>
                  <a:lnTo>
                    <a:pt x="78" y="24"/>
                  </a:lnTo>
                  <a:lnTo>
                    <a:pt x="72" y="12"/>
                  </a:lnTo>
                  <a:lnTo>
                    <a:pt x="42" y="0"/>
                  </a:lnTo>
                  <a:lnTo>
                    <a:pt x="30" y="0"/>
                  </a:lnTo>
                  <a:lnTo>
                    <a:pt x="18" y="12"/>
                  </a:lnTo>
                  <a:lnTo>
                    <a:pt x="6" y="30"/>
                  </a:lnTo>
                  <a:lnTo>
                    <a:pt x="0" y="54"/>
                  </a:lnTo>
                  <a:lnTo>
                    <a:pt x="6" y="72"/>
                  </a:lnTo>
                  <a:lnTo>
                    <a:pt x="12" y="90"/>
                  </a:lnTo>
                  <a:lnTo>
                    <a:pt x="24" y="96"/>
                  </a:lnTo>
                  <a:lnTo>
                    <a:pt x="42" y="102"/>
                  </a:lnTo>
                  <a:lnTo>
                    <a:pt x="60" y="96"/>
                  </a:lnTo>
                  <a:lnTo>
                    <a:pt x="72" y="84"/>
                  </a:lnTo>
                  <a:lnTo>
                    <a:pt x="84" y="72"/>
                  </a:lnTo>
                  <a:lnTo>
                    <a:pt x="84" y="66"/>
                  </a:lnTo>
                  <a:lnTo>
                    <a:pt x="78" y="66"/>
                  </a:lnTo>
                  <a:close/>
                  <a:moveTo>
                    <a:pt x="18" y="36"/>
                  </a:moveTo>
                  <a:lnTo>
                    <a:pt x="18" y="24"/>
                  </a:lnTo>
                  <a:lnTo>
                    <a:pt x="24" y="18"/>
                  </a:lnTo>
                  <a:lnTo>
                    <a:pt x="42" y="12"/>
                  </a:lnTo>
                  <a:lnTo>
                    <a:pt x="54" y="18"/>
                  </a:lnTo>
                  <a:lnTo>
                    <a:pt x="60" y="36"/>
                  </a:lnTo>
                  <a:lnTo>
                    <a:pt x="18" y="3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93" name="Freeform 67"/>
            <p:cNvSpPr/>
            <p:nvPr/>
          </p:nvSpPr>
          <p:spPr>
            <a:xfrm>
              <a:off x="1781" y="2355"/>
              <a:ext cx="84" cy="130"/>
            </a:xfrm>
            <a:custGeom>
              <a:avLst/>
              <a:gdLst>
                <a:gd name="txL" fmla="*/ 0 w 65"/>
                <a:gd name="txT" fmla="*/ 0 h 102"/>
                <a:gd name="txR" fmla="*/ 65 w 65"/>
                <a:gd name="txB" fmla="*/ 102 h 102"/>
              </a:gdLst>
              <a:ahLst/>
              <a:cxnLst>
                <a:cxn ang="0">
                  <a:pos x="16330" y="74211"/>
                </a:cxn>
                <a:cxn ang="0">
                  <a:pos x="16330" y="84907"/>
                </a:cxn>
                <a:cxn ang="0">
                  <a:pos x="0" y="84907"/>
                </a:cxn>
                <a:cxn ang="0">
                  <a:pos x="0" y="90922"/>
                </a:cxn>
                <a:cxn ang="0">
                  <a:pos x="62566" y="90922"/>
                </a:cxn>
                <a:cxn ang="0">
                  <a:pos x="62566" y="84907"/>
                </a:cxn>
                <a:cxn ang="0">
                  <a:pos x="48359" y="84907"/>
                </a:cxn>
                <a:cxn ang="0">
                  <a:pos x="39696" y="74211"/>
                </a:cxn>
                <a:cxn ang="0">
                  <a:pos x="39696" y="26175"/>
                </a:cxn>
                <a:cxn ang="0">
                  <a:pos x="48359" y="15782"/>
                </a:cxn>
                <a:cxn ang="0">
                  <a:pos x="54637" y="10633"/>
                </a:cxn>
                <a:cxn ang="0">
                  <a:pos x="70608" y="15782"/>
                </a:cxn>
                <a:cxn ang="0">
                  <a:pos x="79246" y="22013"/>
                </a:cxn>
                <a:cxn ang="0">
                  <a:pos x="85672" y="15782"/>
                </a:cxn>
                <a:cxn ang="0">
                  <a:pos x="85672" y="10633"/>
                </a:cxn>
                <a:cxn ang="0">
                  <a:pos x="79246" y="5890"/>
                </a:cxn>
                <a:cxn ang="0">
                  <a:pos x="70608" y="0"/>
                </a:cxn>
                <a:cxn ang="0">
                  <a:pos x="54637" y="5890"/>
                </a:cxn>
                <a:cxn ang="0">
                  <a:pos x="39696" y="22013"/>
                </a:cxn>
                <a:cxn ang="0">
                  <a:pos x="39696" y="22013"/>
                </a:cxn>
                <a:cxn ang="0">
                  <a:pos x="39696" y="0"/>
                </a:cxn>
                <a:cxn ang="0">
                  <a:pos x="39696" y="0"/>
                </a:cxn>
                <a:cxn ang="0">
                  <a:pos x="23769" y="5890"/>
                </a:cxn>
                <a:cxn ang="0">
                  <a:pos x="0" y="10633"/>
                </a:cxn>
                <a:cxn ang="0">
                  <a:pos x="0" y="15782"/>
                </a:cxn>
                <a:cxn ang="0">
                  <a:pos x="8034" y="15782"/>
                </a:cxn>
                <a:cxn ang="0">
                  <a:pos x="8034" y="15782"/>
                </a:cxn>
                <a:cxn ang="0">
                  <a:pos x="16330" y="15782"/>
                </a:cxn>
                <a:cxn ang="0">
                  <a:pos x="16330" y="26175"/>
                </a:cxn>
                <a:cxn ang="0">
                  <a:pos x="16330" y="74211"/>
                </a:cxn>
              </a:cxnLst>
              <a:rect l="txL" t="txT" r="txR" b="txB"/>
              <a:pathLst>
                <a:path w="65" h="102">
                  <a:moveTo>
                    <a:pt x="12" y="84"/>
                  </a:moveTo>
                  <a:lnTo>
                    <a:pt x="12" y="96"/>
                  </a:lnTo>
                  <a:lnTo>
                    <a:pt x="0" y="96"/>
                  </a:lnTo>
                  <a:lnTo>
                    <a:pt x="0" y="102"/>
                  </a:lnTo>
                  <a:lnTo>
                    <a:pt x="48" y="102"/>
                  </a:lnTo>
                  <a:lnTo>
                    <a:pt x="48" y="96"/>
                  </a:lnTo>
                  <a:lnTo>
                    <a:pt x="36" y="96"/>
                  </a:lnTo>
                  <a:lnTo>
                    <a:pt x="30" y="84"/>
                  </a:lnTo>
                  <a:lnTo>
                    <a:pt x="30" y="30"/>
                  </a:lnTo>
                  <a:lnTo>
                    <a:pt x="36" y="18"/>
                  </a:lnTo>
                  <a:lnTo>
                    <a:pt x="42" y="12"/>
                  </a:lnTo>
                  <a:lnTo>
                    <a:pt x="54" y="18"/>
                  </a:lnTo>
                  <a:lnTo>
                    <a:pt x="60" y="24"/>
                  </a:lnTo>
                  <a:lnTo>
                    <a:pt x="65" y="18"/>
                  </a:lnTo>
                  <a:lnTo>
                    <a:pt x="65" y="12"/>
                  </a:lnTo>
                  <a:lnTo>
                    <a:pt x="60" y="6"/>
                  </a:lnTo>
                  <a:lnTo>
                    <a:pt x="54" y="0"/>
                  </a:lnTo>
                  <a:lnTo>
                    <a:pt x="42" y="6"/>
                  </a:lnTo>
                  <a:lnTo>
                    <a:pt x="30" y="24"/>
                  </a:lnTo>
                  <a:lnTo>
                    <a:pt x="30" y="0"/>
                  </a:lnTo>
                  <a:lnTo>
                    <a:pt x="18" y="6"/>
                  </a:lnTo>
                  <a:lnTo>
                    <a:pt x="0" y="12"/>
                  </a:lnTo>
                  <a:lnTo>
                    <a:pt x="0" y="18"/>
                  </a:lnTo>
                  <a:lnTo>
                    <a:pt x="6" y="18"/>
                  </a:lnTo>
                  <a:lnTo>
                    <a:pt x="12" y="18"/>
                  </a:lnTo>
                  <a:lnTo>
                    <a:pt x="12" y="30"/>
                  </a:lnTo>
                  <a:lnTo>
                    <a:pt x="12" y="8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94" name="Freeform 68"/>
            <p:cNvSpPr>
              <a:spLocks noEditPoints="1"/>
            </p:cNvSpPr>
            <p:nvPr/>
          </p:nvSpPr>
          <p:spPr>
            <a:xfrm>
              <a:off x="2212" y="835"/>
              <a:ext cx="176" cy="182"/>
            </a:xfrm>
            <a:custGeom>
              <a:avLst/>
              <a:gdLst>
                <a:gd name="txL" fmla="*/ 0 w 137"/>
                <a:gd name="txT" fmla="*/ 0 h 143"/>
                <a:gd name="txR" fmla="*/ 137 w 137"/>
                <a:gd name="txB" fmla="*/ 143 h 143"/>
              </a:gdLst>
              <a:ahLst/>
              <a:cxnLst>
                <a:cxn ang="0">
                  <a:pos x="152173" y="122314"/>
                </a:cxn>
                <a:cxn ang="0">
                  <a:pos x="145244" y="116777"/>
                </a:cxn>
                <a:cxn ang="0">
                  <a:pos x="132804" y="106647"/>
                </a:cxn>
                <a:cxn ang="0">
                  <a:pos x="79051" y="0"/>
                </a:cxn>
                <a:cxn ang="0">
                  <a:pos x="73031" y="0"/>
                </a:cxn>
                <a:cxn ang="0">
                  <a:pos x="27056" y="91276"/>
                </a:cxn>
                <a:cxn ang="0">
                  <a:pos x="20156" y="106647"/>
                </a:cxn>
                <a:cxn ang="0">
                  <a:pos x="12761" y="116777"/>
                </a:cxn>
                <a:cxn ang="0">
                  <a:pos x="6935" y="122314"/>
                </a:cxn>
                <a:cxn ang="0">
                  <a:pos x="0" y="122314"/>
                </a:cxn>
                <a:cxn ang="0">
                  <a:pos x="0" y="122314"/>
                </a:cxn>
                <a:cxn ang="0">
                  <a:pos x="46652" y="122314"/>
                </a:cxn>
                <a:cxn ang="0">
                  <a:pos x="46652" y="122314"/>
                </a:cxn>
                <a:cxn ang="0">
                  <a:pos x="33265" y="122314"/>
                </a:cxn>
                <a:cxn ang="0">
                  <a:pos x="27056" y="112563"/>
                </a:cxn>
                <a:cxn ang="0">
                  <a:pos x="27056" y="112563"/>
                </a:cxn>
                <a:cxn ang="0">
                  <a:pos x="33265" y="106647"/>
                </a:cxn>
                <a:cxn ang="0">
                  <a:pos x="40048" y="86974"/>
                </a:cxn>
                <a:cxn ang="0">
                  <a:pos x="98911" y="86974"/>
                </a:cxn>
                <a:cxn ang="0">
                  <a:pos x="106237" y="101497"/>
                </a:cxn>
                <a:cxn ang="0">
                  <a:pos x="112848" y="106647"/>
                </a:cxn>
                <a:cxn ang="0">
                  <a:pos x="112848" y="112563"/>
                </a:cxn>
                <a:cxn ang="0">
                  <a:pos x="106237" y="122314"/>
                </a:cxn>
                <a:cxn ang="0">
                  <a:pos x="98911" y="122314"/>
                </a:cxn>
                <a:cxn ang="0">
                  <a:pos x="98911" y="122314"/>
                </a:cxn>
                <a:cxn ang="0">
                  <a:pos x="152173" y="122314"/>
                </a:cxn>
                <a:cxn ang="0">
                  <a:pos x="152173" y="122314"/>
                </a:cxn>
                <a:cxn ang="0">
                  <a:pos x="46652" y="76066"/>
                </a:cxn>
                <a:cxn ang="0">
                  <a:pos x="73031" y="25391"/>
                </a:cxn>
                <a:cxn ang="0">
                  <a:pos x="98911" y="76066"/>
                </a:cxn>
                <a:cxn ang="0">
                  <a:pos x="46652" y="76066"/>
                </a:cxn>
              </a:cxnLst>
              <a:rect l="txL" t="txT" r="txR" b="txB"/>
              <a:pathLst>
                <a:path w="137" h="143">
                  <a:moveTo>
                    <a:pt x="137" y="143"/>
                  </a:moveTo>
                  <a:lnTo>
                    <a:pt x="131" y="137"/>
                  </a:lnTo>
                  <a:lnTo>
                    <a:pt x="119" y="125"/>
                  </a:lnTo>
                  <a:lnTo>
                    <a:pt x="71" y="0"/>
                  </a:lnTo>
                  <a:lnTo>
                    <a:pt x="65" y="0"/>
                  </a:lnTo>
                  <a:lnTo>
                    <a:pt x="24" y="107"/>
                  </a:lnTo>
                  <a:lnTo>
                    <a:pt x="18" y="125"/>
                  </a:lnTo>
                  <a:lnTo>
                    <a:pt x="12" y="137"/>
                  </a:lnTo>
                  <a:lnTo>
                    <a:pt x="6" y="143"/>
                  </a:lnTo>
                  <a:lnTo>
                    <a:pt x="0" y="143"/>
                  </a:lnTo>
                  <a:lnTo>
                    <a:pt x="42" y="143"/>
                  </a:lnTo>
                  <a:lnTo>
                    <a:pt x="30" y="143"/>
                  </a:lnTo>
                  <a:lnTo>
                    <a:pt x="24" y="131"/>
                  </a:lnTo>
                  <a:lnTo>
                    <a:pt x="30" y="125"/>
                  </a:lnTo>
                  <a:lnTo>
                    <a:pt x="36" y="101"/>
                  </a:lnTo>
                  <a:lnTo>
                    <a:pt x="89" y="101"/>
                  </a:lnTo>
                  <a:lnTo>
                    <a:pt x="95" y="119"/>
                  </a:lnTo>
                  <a:lnTo>
                    <a:pt x="101" y="125"/>
                  </a:lnTo>
                  <a:lnTo>
                    <a:pt x="101" y="131"/>
                  </a:lnTo>
                  <a:lnTo>
                    <a:pt x="95" y="143"/>
                  </a:lnTo>
                  <a:lnTo>
                    <a:pt x="89" y="143"/>
                  </a:lnTo>
                  <a:lnTo>
                    <a:pt x="137" y="143"/>
                  </a:lnTo>
                  <a:close/>
                  <a:moveTo>
                    <a:pt x="42" y="89"/>
                  </a:moveTo>
                  <a:lnTo>
                    <a:pt x="65" y="30"/>
                  </a:lnTo>
                  <a:lnTo>
                    <a:pt x="89" y="89"/>
                  </a:lnTo>
                  <a:lnTo>
                    <a:pt x="42" y="8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95" name="Freeform 69"/>
            <p:cNvSpPr/>
            <p:nvPr/>
          </p:nvSpPr>
          <p:spPr>
            <a:xfrm>
              <a:off x="2396" y="895"/>
              <a:ext cx="201" cy="122"/>
            </a:xfrm>
            <a:custGeom>
              <a:avLst/>
              <a:gdLst>
                <a:gd name="txL" fmla="*/ 0 w 156"/>
                <a:gd name="txT" fmla="*/ 0 h 96"/>
                <a:gd name="txR" fmla="*/ 156 w 156"/>
                <a:gd name="txB" fmla="*/ 96 h 96"/>
              </a:gdLst>
              <a:ahLst/>
              <a:cxnLst>
                <a:cxn ang="0">
                  <a:pos x="21852" y="64031"/>
                </a:cxn>
                <a:cxn ang="0">
                  <a:pos x="21852" y="73604"/>
                </a:cxn>
                <a:cxn ang="0">
                  <a:pos x="13644" y="78790"/>
                </a:cxn>
                <a:cxn ang="0">
                  <a:pos x="0" y="78790"/>
                </a:cxn>
                <a:cxn ang="0">
                  <a:pos x="0" y="78790"/>
                </a:cxn>
                <a:cxn ang="0">
                  <a:pos x="58056" y="78790"/>
                </a:cxn>
                <a:cxn ang="0">
                  <a:pos x="58056" y="78790"/>
                </a:cxn>
                <a:cxn ang="0">
                  <a:pos x="50581" y="78790"/>
                </a:cxn>
                <a:cxn ang="0">
                  <a:pos x="42813" y="69234"/>
                </a:cxn>
                <a:cxn ang="0">
                  <a:pos x="42813" y="20044"/>
                </a:cxn>
                <a:cxn ang="0">
                  <a:pos x="50581" y="14810"/>
                </a:cxn>
                <a:cxn ang="0">
                  <a:pos x="72364" y="9766"/>
                </a:cxn>
                <a:cxn ang="0">
                  <a:pos x="80387" y="14810"/>
                </a:cxn>
                <a:cxn ang="0">
                  <a:pos x="87679" y="24549"/>
                </a:cxn>
                <a:cxn ang="0">
                  <a:pos x="87679" y="64031"/>
                </a:cxn>
                <a:cxn ang="0">
                  <a:pos x="87679" y="73604"/>
                </a:cxn>
                <a:cxn ang="0">
                  <a:pos x="80387" y="78790"/>
                </a:cxn>
                <a:cxn ang="0">
                  <a:pos x="72364" y="78790"/>
                </a:cxn>
                <a:cxn ang="0">
                  <a:pos x="72364" y="78790"/>
                </a:cxn>
                <a:cxn ang="0">
                  <a:pos x="122888" y="78790"/>
                </a:cxn>
                <a:cxn ang="0">
                  <a:pos x="122888" y="78790"/>
                </a:cxn>
                <a:cxn ang="0">
                  <a:pos x="115936" y="78790"/>
                </a:cxn>
                <a:cxn ang="0">
                  <a:pos x="108195" y="73604"/>
                </a:cxn>
                <a:cxn ang="0">
                  <a:pos x="108195" y="64031"/>
                </a:cxn>
                <a:cxn ang="0">
                  <a:pos x="108195" y="20044"/>
                </a:cxn>
                <a:cxn ang="0">
                  <a:pos x="122888" y="14810"/>
                </a:cxn>
                <a:cxn ang="0">
                  <a:pos x="137823" y="9766"/>
                </a:cxn>
                <a:cxn ang="0">
                  <a:pos x="152029" y="14810"/>
                </a:cxn>
                <a:cxn ang="0">
                  <a:pos x="152029" y="29492"/>
                </a:cxn>
                <a:cxn ang="0">
                  <a:pos x="152029" y="64031"/>
                </a:cxn>
                <a:cxn ang="0">
                  <a:pos x="152029" y="73604"/>
                </a:cxn>
                <a:cxn ang="0">
                  <a:pos x="145559" y="78790"/>
                </a:cxn>
                <a:cxn ang="0">
                  <a:pos x="137823" y="78790"/>
                </a:cxn>
                <a:cxn ang="0">
                  <a:pos x="137823" y="78790"/>
                </a:cxn>
                <a:cxn ang="0">
                  <a:pos x="188407" y="78790"/>
                </a:cxn>
                <a:cxn ang="0">
                  <a:pos x="188407" y="78790"/>
                </a:cxn>
                <a:cxn ang="0">
                  <a:pos x="181342" y="78790"/>
                </a:cxn>
                <a:cxn ang="0">
                  <a:pos x="174655" y="73604"/>
                </a:cxn>
                <a:cxn ang="0">
                  <a:pos x="174655" y="69234"/>
                </a:cxn>
                <a:cxn ang="0">
                  <a:pos x="174655" y="29492"/>
                </a:cxn>
                <a:cxn ang="0">
                  <a:pos x="166598" y="9766"/>
                </a:cxn>
                <a:cxn ang="0">
                  <a:pos x="159159" y="5509"/>
                </a:cxn>
                <a:cxn ang="0">
                  <a:pos x="145559" y="0"/>
                </a:cxn>
                <a:cxn ang="0">
                  <a:pos x="115936" y="5509"/>
                </a:cxn>
                <a:cxn ang="0">
                  <a:pos x="101372" y="14810"/>
                </a:cxn>
                <a:cxn ang="0">
                  <a:pos x="94360" y="5509"/>
                </a:cxn>
                <a:cxn ang="0">
                  <a:pos x="80387" y="0"/>
                </a:cxn>
                <a:cxn ang="0">
                  <a:pos x="65172" y="5509"/>
                </a:cxn>
                <a:cxn ang="0">
                  <a:pos x="42813" y="14810"/>
                </a:cxn>
                <a:cxn ang="0">
                  <a:pos x="42813" y="0"/>
                </a:cxn>
                <a:cxn ang="0">
                  <a:pos x="36277" y="0"/>
                </a:cxn>
                <a:cxn ang="0">
                  <a:pos x="21852" y="5509"/>
                </a:cxn>
                <a:cxn ang="0">
                  <a:pos x="7262" y="5509"/>
                </a:cxn>
                <a:cxn ang="0">
                  <a:pos x="7262" y="9766"/>
                </a:cxn>
                <a:cxn ang="0">
                  <a:pos x="7262" y="9766"/>
                </a:cxn>
                <a:cxn ang="0">
                  <a:pos x="13644" y="9766"/>
                </a:cxn>
                <a:cxn ang="0">
                  <a:pos x="21852" y="9766"/>
                </a:cxn>
                <a:cxn ang="0">
                  <a:pos x="21852" y="20044"/>
                </a:cxn>
                <a:cxn ang="0">
                  <a:pos x="21852" y="64031"/>
                </a:cxn>
              </a:cxnLst>
              <a:rect l="txL" t="txT" r="txR" b="txB"/>
              <a:pathLst>
                <a:path w="156" h="96">
                  <a:moveTo>
                    <a:pt x="18" y="78"/>
                  </a:moveTo>
                  <a:lnTo>
                    <a:pt x="18" y="90"/>
                  </a:lnTo>
                  <a:lnTo>
                    <a:pt x="12" y="96"/>
                  </a:lnTo>
                  <a:lnTo>
                    <a:pt x="0" y="96"/>
                  </a:lnTo>
                  <a:lnTo>
                    <a:pt x="48" y="96"/>
                  </a:lnTo>
                  <a:lnTo>
                    <a:pt x="42" y="96"/>
                  </a:lnTo>
                  <a:lnTo>
                    <a:pt x="36" y="84"/>
                  </a:lnTo>
                  <a:lnTo>
                    <a:pt x="36" y="24"/>
                  </a:lnTo>
                  <a:lnTo>
                    <a:pt x="42" y="18"/>
                  </a:lnTo>
                  <a:lnTo>
                    <a:pt x="60" y="12"/>
                  </a:lnTo>
                  <a:lnTo>
                    <a:pt x="66" y="18"/>
                  </a:lnTo>
                  <a:lnTo>
                    <a:pt x="72" y="30"/>
                  </a:lnTo>
                  <a:lnTo>
                    <a:pt x="72" y="78"/>
                  </a:lnTo>
                  <a:lnTo>
                    <a:pt x="72" y="90"/>
                  </a:lnTo>
                  <a:lnTo>
                    <a:pt x="66" y="96"/>
                  </a:lnTo>
                  <a:lnTo>
                    <a:pt x="60" y="96"/>
                  </a:lnTo>
                  <a:lnTo>
                    <a:pt x="102" y="96"/>
                  </a:lnTo>
                  <a:lnTo>
                    <a:pt x="96" y="96"/>
                  </a:lnTo>
                  <a:lnTo>
                    <a:pt x="90" y="90"/>
                  </a:lnTo>
                  <a:lnTo>
                    <a:pt x="90" y="78"/>
                  </a:lnTo>
                  <a:lnTo>
                    <a:pt x="90" y="24"/>
                  </a:lnTo>
                  <a:lnTo>
                    <a:pt x="102" y="18"/>
                  </a:lnTo>
                  <a:lnTo>
                    <a:pt x="114" y="12"/>
                  </a:lnTo>
                  <a:lnTo>
                    <a:pt x="126" y="18"/>
                  </a:lnTo>
                  <a:lnTo>
                    <a:pt x="126" y="36"/>
                  </a:lnTo>
                  <a:lnTo>
                    <a:pt x="126" y="78"/>
                  </a:lnTo>
                  <a:lnTo>
                    <a:pt x="126" y="90"/>
                  </a:lnTo>
                  <a:lnTo>
                    <a:pt x="120" y="96"/>
                  </a:lnTo>
                  <a:lnTo>
                    <a:pt x="114" y="96"/>
                  </a:lnTo>
                  <a:lnTo>
                    <a:pt x="156" y="96"/>
                  </a:lnTo>
                  <a:lnTo>
                    <a:pt x="150" y="96"/>
                  </a:lnTo>
                  <a:lnTo>
                    <a:pt x="144" y="90"/>
                  </a:lnTo>
                  <a:lnTo>
                    <a:pt x="144" y="84"/>
                  </a:lnTo>
                  <a:lnTo>
                    <a:pt x="144" y="36"/>
                  </a:lnTo>
                  <a:lnTo>
                    <a:pt x="138" y="12"/>
                  </a:lnTo>
                  <a:lnTo>
                    <a:pt x="132" y="6"/>
                  </a:lnTo>
                  <a:lnTo>
                    <a:pt x="120" y="0"/>
                  </a:lnTo>
                  <a:lnTo>
                    <a:pt x="96" y="6"/>
                  </a:lnTo>
                  <a:lnTo>
                    <a:pt x="84" y="18"/>
                  </a:lnTo>
                  <a:lnTo>
                    <a:pt x="78" y="6"/>
                  </a:lnTo>
                  <a:lnTo>
                    <a:pt x="66" y="0"/>
                  </a:lnTo>
                  <a:lnTo>
                    <a:pt x="54" y="6"/>
                  </a:lnTo>
                  <a:lnTo>
                    <a:pt x="36" y="18"/>
                  </a:lnTo>
                  <a:lnTo>
                    <a:pt x="36" y="0"/>
                  </a:lnTo>
                  <a:lnTo>
                    <a:pt x="30" y="0"/>
                  </a:lnTo>
                  <a:lnTo>
                    <a:pt x="18" y="6"/>
                  </a:lnTo>
                  <a:lnTo>
                    <a:pt x="6" y="6"/>
                  </a:lnTo>
                  <a:lnTo>
                    <a:pt x="6" y="12"/>
                  </a:lnTo>
                  <a:lnTo>
                    <a:pt x="12" y="12"/>
                  </a:lnTo>
                  <a:lnTo>
                    <a:pt x="18" y="12"/>
                  </a:lnTo>
                  <a:lnTo>
                    <a:pt x="18" y="24"/>
                  </a:lnTo>
                  <a:lnTo>
                    <a:pt x="18" y="7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96" name="Freeform 70"/>
            <p:cNvSpPr/>
            <p:nvPr/>
          </p:nvSpPr>
          <p:spPr>
            <a:xfrm>
              <a:off x="2604" y="895"/>
              <a:ext cx="200" cy="122"/>
            </a:xfrm>
            <a:custGeom>
              <a:avLst/>
              <a:gdLst>
                <a:gd name="txL" fmla="*/ 0 w 155"/>
                <a:gd name="txT" fmla="*/ 0 h 96"/>
                <a:gd name="txR" fmla="*/ 155 w 155"/>
                <a:gd name="txB" fmla="*/ 96 h 96"/>
              </a:gdLst>
              <a:ahLst/>
              <a:cxnLst>
                <a:cxn ang="0">
                  <a:pos x="14453" y="64031"/>
                </a:cxn>
                <a:cxn ang="0">
                  <a:pos x="14453" y="73604"/>
                </a:cxn>
                <a:cxn ang="0">
                  <a:pos x="7454" y="78790"/>
                </a:cxn>
                <a:cxn ang="0">
                  <a:pos x="0" y="78790"/>
                </a:cxn>
                <a:cxn ang="0">
                  <a:pos x="0" y="78790"/>
                </a:cxn>
                <a:cxn ang="0">
                  <a:pos x="52836" y="78790"/>
                </a:cxn>
                <a:cxn ang="0">
                  <a:pos x="52836" y="78790"/>
                </a:cxn>
                <a:cxn ang="0">
                  <a:pos x="44388" y="78790"/>
                </a:cxn>
                <a:cxn ang="0">
                  <a:pos x="37849" y="69234"/>
                </a:cxn>
                <a:cxn ang="0">
                  <a:pos x="37849" y="20044"/>
                </a:cxn>
                <a:cxn ang="0">
                  <a:pos x="44388" y="14810"/>
                </a:cxn>
                <a:cxn ang="0">
                  <a:pos x="68175" y="9766"/>
                </a:cxn>
                <a:cxn ang="0">
                  <a:pos x="81310" y="14810"/>
                </a:cxn>
                <a:cxn ang="0">
                  <a:pos x="81310" y="24549"/>
                </a:cxn>
                <a:cxn ang="0">
                  <a:pos x="81310" y="64031"/>
                </a:cxn>
                <a:cxn ang="0">
                  <a:pos x="81310" y="73604"/>
                </a:cxn>
                <a:cxn ang="0">
                  <a:pos x="81310" y="78790"/>
                </a:cxn>
                <a:cxn ang="0">
                  <a:pos x="68175" y="78790"/>
                </a:cxn>
                <a:cxn ang="0">
                  <a:pos x="68175" y="78790"/>
                </a:cxn>
                <a:cxn ang="0">
                  <a:pos x="126848" y="78790"/>
                </a:cxn>
                <a:cxn ang="0">
                  <a:pos x="126848" y="78790"/>
                </a:cxn>
                <a:cxn ang="0">
                  <a:pos x="111443" y="78790"/>
                </a:cxn>
                <a:cxn ang="0">
                  <a:pos x="104311" y="73604"/>
                </a:cxn>
                <a:cxn ang="0">
                  <a:pos x="104311" y="64031"/>
                </a:cxn>
                <a:cxn ang="0">
                  <a:pos x="104311" y="20044"/>
                </a:cxn>
                <a:cxn ang="0">
                  <a:pos x="120159" y="14810"/>
                </a:cxn>
                <a:cxn ang="0">
                  <a:pos x="134595" y="9766"/>
                </a:cxn>
                <a:cxn ang="0">
                  <a:pos x="150341" y="14810"/>
                </a:cxn>
                <a:cxn ang="0">
                  <a:pos x="150341" y="29492"/>
                </a:cxn>
                <a:cxn ang="0">
                  <a:pos x="150341" y="64031"/>
                </a:cxn>
                <a:cxn ang="0">
                  <a:pos x="150341" y="73604"/>
                </a:cxn>
                <a:cxn ang="0">
                  <a:pos x="150341" y="78790"/>
                </a:cxn>
                <a:cxn ang="0">
                  <a:pos x="134595" y="78790"/>
                </a:cxn>
                <a:cxn ang="0">
                  <a:pos x="134595" y="78790"/>
                </a:cxn>
                <a:cxn ang="0">
                  <a:pos x="195165" y="78790"/>
                </a:cxn>
                <a:cxn ang="0">
                  <a:pos x="195165" y="78790"/>
                </a:cxn>
                <a:cxn ang="0">
                  <a:pos x="187581" y="78790"/>
                </a:cxn>
                <a:cxn ang="0">
                  <a:pos x="171826" y="73604"/>
                </a:cxn>
                <a:cxn ang="0">
                  <a:pos x="171826" y="69234"/>
                </a:cxn>
                <a:cxn ang="0">
                  <a:pos x="171826" y="29492"/>
                </a:cxn>
                <a:cxn ang="0">
                  <a:pos x="171826" y="9766"/>
                </a:cxn>
                <a:cxn ang="0">
                  <a:pos x="156710" y="5509"/>
                </a:cxn>
                <a:cxn ang="0">
                  <a:pos x="142543" y="0"/>
                </a:cxn>
                <a:cxn ang="0">
                  <a:pos x="120159" y="5509"/>
                </a:cxn>
                <a:cxn ang="0">
                  <a:pos x="104311" y="14810"/>
                </a:cxn>
                <a:cxn ang="0">
                  <a:pos x="90298" y="5509"/>
                </a:cxn>
                <a:cxn ang="0">
                  <a:pos x="73903" y="0"/>
                </a:cxn>
                <a:cxn ang="0">
                  <a:pos x="60372" y="5509"/>
                </a:cxn>
                <a:cxn ang="0">
                  <a:pos x="37849" y="14810"/>
                </a:cxn>
                <a:cxn ang="0">
                  <a:pos x="37849" y="0"/>
                </a:cxn>
                <a:cxn ang="0">
                  <a:pos x="37849" y="0"/>
                </a:cxn>
                <a:cxn ang="0">
                  <a:pos x="22733" y="5509"/>
                </a:cxn>
                <a:cxn ang="0">
                  <a:pos x="0" y="5509"/>
                </a:cxn>
                <a:cxn ang="0">
                  <a:pos x="0" y="9766"/>
                </a:cxn>
                <a:cxn ang="0">
                  <a:pos x="7454" y="9766"/>
                </a:cxn>
                <a:cxn ang="0">
                  <a:pos x="7454" y="9766"/>
                </a:cxn>
                <a:cxn ang="0">
                  <a:pos x="14453" y="9766"/>
                </a:cxn>
                <a:cxn ang="0">
                  <a:pos x="14453" y="20044"/>
                </a:cxn>
                <a:cxn ang="0">
                  <a:pos x="14453" y="64031"/>
                </a:cxn>
              </a:cxnLst>
              <a:rect l="txL" t="txT" r="txR" b="txB"/>
              <a:pathLst>
                <a:path w="155" h="96">
                  <a:moveTo>
                    <a:pt x="12" y="78"/>
                  </a:moveTo>
                  <a:lnTo>
                    <a:pt x="12" y="90"/>
                  </a:lnTo>
                  <a:lnTo>
                    <a:pt x="6" y="96"/>
                  </a:lnTo>
                  <a:lnTo>
                    <a:pt x="0" y="96"/>
                  </a:lnTo>
                  <a:lnTo>
                    <a:pt x="42" y="96"/>
                  </a:lnTo>
                  <a:lnTo>
                    <a:pt x="36" y="96"/>
                  </a:lnTo>
                  <a:lnTo>
                    <a:pt x="30" y="84"/>
                  </a:lnTo>
                  <a:lnTo>
                    <a:pt x="30" y="24"/>
                  </a:lnTo>
                  <a:lnTo>
                    <a:pt x="36" y="18"/>
                  </a:lnTo>
                  <a:lnTo>
                    <a:pt x="54" y="12"/>
                  </a:lnTo>
                  <a:lnTo>
                    <a:pt x="65" y="18"/>
                  </a:lnTo>
                  <a:lnTo>
                    <a:pt x="65" y="30"/>
                  </a:lnTo>
                  <a:lnTo>
                    <a:pt x="65" y="78"/>
                  </a:lnTo>
                  <a:lnTo>
                    <a:pt x="65" y="90"/>
                  </a:lnTo>
                  <a:lnTo>
                    <a:pt x="65" y="96"/>
                  </a:lnTo>
                  <a:lnTo>
                    <a:pt x="54" y="96"/>
                  </a:lnTo>
                  <a:lnTo>
                    <a:pt x="101" y="96"/>
                  </a:lnTo>
                  <a:lnTo>
                    <a:pt x="89" y="96"/>
                  </a:lnTo>
                  <a:lnTo>
                    <a:pt x="83" y="90"/>
                  </a:lnTo>
                  <a:lnTo>
                    <a:pt x="83" y="78"/>
                  </a:lnTo>
                  <a:lnTo>
                    <a:pt x="83" y="24"/>
                  </a:lnTo>
                  <a:lnTo>
                    <a:pt x="95" y="18"/>
                  </a:lnTo>
                  <a:lnTo>
                    <a:pt x="107" y="12"/>
                  </a:lnTo>
                  <a:lnTo>
                    <a:pt x="119" y="18"/>
                  </a:lnTo>
                  <a:lnTo>
                    <a:pt x="119" y="36"/>
                  </a:lnTo>
                  <a:lnTo>
                    <a:pt x="119" y="78"/>
                  </a:lnTo>
                  <a:lnTo>
                    <a:pt x="119" y="90"/>
                  </a:lnTo>
                  <a:lnTo>
                    <a:pt x="119" y="96"/>
                  </a:lnTo>
                  <a:lnTo>
                    <a:pt x="107" y="96"/>
                  </a:lnTo>
                  <a:lnTo>
                    <a:pt x="155" y="96"/>
                  </a:lnTo>
                  <a:lnTo>
                    <a:pt x="149" y="96"/>
                  </a:lnTo>
                  <a:lnTo>
                    <a:pt x="137" y="90"/>
                  </a:lnTo>
                  <a:lnTo>
                    <a:pt x="137" y="84"/>
                  </a:lnTo>
                  <a:lnTo>
                    <a:pt x="137" y="36"/>
                  </a:lnTo>
                  <a:lnTo>
                    <a:pt x="137" y="12"/>
                  </a:lnTo>
                  <a:lnTo>
                    <a:pt x="125" y="6"/>
                  </a:lnTo>
                  <a:lnTo>
                    <a:pt x="113" y="0"/>
                  </a:lnTo>
                  <a:lnTo>
                    <a:pt x="95" y="6"/>
                  </a:lnTo>
                  <a:lnTo>
                    <a:pt x="83" y="18"/>
                  </a:lnTo>
                  <a:lnTo>
                    <a:pt x="71" y="6"/>
                  </a:lnTo>
                  <a:lnTo>
                    <a:pt x="59" y="0"/>
                  </a:lnTo>
                  <a:lnTo>
                    <a:pt x="48" y="6"/>
                  </a:lnTo>
                  <a:lnTo>
                    <a:pt x="30" y="18"/>
                  </a:lnTo>
                  <a:lnTo>
                    <a:pt x="30" y="0"/>
                  </a:lnTo>
                  <a:lnTo>
                    <a:pt x="18" y="6"/>
                  </a:lnTo>
                  <a:lnTo>
                    <a:pt x="0" y="6"/>
                  </a:lnTo>
                  <a:lnTo>
                    <a:pt x="0" y="12"/>
                  </a:lnTo>
                  <a:lnTo>
                    <a:pt x="6" y="12"/>
                  </a:lnTo>
                  <a:lnTo>
                    <a:pt x="12" y="12"/>
                  </a:lnTo>
                  <a:lnTo>
                    <a:pt x="12" y="24"/>
                  </a:lnTo>
                  <a:lnTo>
                    <a:pt x="12" y="7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97" name="Freeform 71"/>
            <p:cNvSpPr>
              <a:spLocks noEditPoints="1"/>
            </p:cNvSpPr>
            <p:nvPr/>
          </p:nvSpPr>
          <p:spPr>
            <a:xfrm>
              <a:off x="2812" y="895"/>
              <a:ext cx="100" cy="130"/>
            </a:xfrm>
            <a:custGeom>
              <a:avLst/>
              <a:gdLst>
                <a:gd name="txL" fmla="*/ 0 w 78"/>
                <a:gd name="txT" fmla="*/ 0 h 102"/>
                <a:gd name="txR" fmla="*/ 78 w 78"/>
                <a:gd name="txB" fmla="*/ 102 h 102"/>
              </a:gdLst>
              <a:ahLst/>
              <a:cxnLst>
                <a:cxn ang="0">
                  <a:pos x="81586" y="58227"/>
                </a:cxn>
                <a:cxn ang="0">
                  <a:pos x="69533" y="69066"/>
                </a:cxn>
                <a:cxn ang="0">
                  <a:pos x="43856" y="74211"/>
                </a:cxn>
                <a:cxn ang="0">
                  <a:pos x="31522" y="74211"/>
                </a:cxn>
                <a:cxn ang="0">
                  <a:pos x="25086" y="69066"/>
                </a:cxn>
                <a:cxn ang="0">
                  <a:pos x="18305" y="53072"/>
                </a:cxn>
                <a:cxn ang="0">
                  <a:pos x="11904" y="32179"/>
                </a:cxn>
                <a:cxn ang="0">
                  <a:pos x="81586" y="32179"/>
                </a:cxn>
                <a:cxn ang="0">
                  <a:pos x="69533" y="10633"/>
                </a:cxn>
                <a:cxn ang="0">
                  <a:pos x="43856" y="0"/>
                </a:cxn>
                <a:cxn ang="0">
                  <a:pos x="31522" y="0"/>
                </a:cxn>
                <a:cxn ang="0">
                  <a:pos x="11904" y="10633"/>
                </a:cxn>
                <a:cxn ang="0">
                  <a:pos x="6632" y="26175"/>
                </a:cxn>
                <a:cxn ang="0">
                  <a:pos x="0" y="48193"/>
                </a:cxn>
                <a:cxn ang="0">
                  <a:pos x="11904" y="80117"/>
                </a:cxn>
                <a:cxn ang="0">
                  <a:pos x="18305" y="84907"/>
                </a:cxn>
                <a:cxn ang="0">
                  <a:pos x="37758" y="90922"/>
                </a:cxn>
                <a:cxn ang="0">
                  <a:pos x="56226" y="84907"/>
                </a:cxn>
                <a:cxn ang="0">
                  <a:pos x="69533" y="74211"/>
                </a:cxn>
                <a:cxn ang="0">
                  <a:pos x="81586" y="64110"/>
                </a:cxn>
                <a:cxn ang="0">
                  <a:pos x="81586" y="58227"/>
                </a:cxn>
                <a:cxn ang="0">
                  <a:pos x="81586" y="58227"/>
                </a:cxn>
                <a:cxn ang="0">
                  <a:pos x="11904" y="26175"/>
                </a:cxn>
                <a:cxn ang="0">
                  <a:pos x="25086" y="10633"/>
                </a:cxn>
                <a:cxn ang="0">
                  <a:pos x="37758" y="5890"/>
                </a:cxn>
                <a:cxn ang="0">
                  <a:pos x="50200" y="10633"/>
                </a:cxn>
                <a:cxn ang="0">
                  <a:pos x="56226" y="15782"/>
                </a:cxn>
                <a:cxn ang="0">
                  <a:pos x="56226" y="26175"/>
                </a:cxn>
                <a:cxn ang="0">
                  <a:pos x="11904" y="26175"/>
                </a:cxn>
              </a:cxnLst>
              <a:rect l="txL" t="txT" r="txR" b="txB"/>
              <a:pathLst>
                <a:path w="78" h="102">
                  <a:moveTo>
                    <a:pt x="78" y="66"/>
                  </a:moveTo>
                  <a:lnTo>
                    <a:pt x="66" y="78"/>
                  </a:lnTo>
                  <a:lnTo>
                    <a:pt x="42" y="84"/>
                  </a:lnTo>
                  <a:lnTo>
                    <a:pt x="30" y="84"/>
                  </a:lnTo>
                  <a:lnTo>
                    <a:pt x="24" y="78"/>
                  </a:lnTo>
                  <a:lnTo>
                    <a:pt x="18" y="60"/>
                  </a:lnTo>
                  <a:lnTo>
                    <a:pt x="12" y="36"/>
                  </a:lnTo>
                  <a:lnTo>
                    <a:pt x="78" y="36"/>
                  </a:lnTo>
                  <a:lnTo>
                    <a:pt x="66" y="12"/>
                  </a:lnTo>
                  <a:lnTo>
                    <a:pt x="42" y="0"/>
                  </a:lnTo>
                  <a:lnTo>
                    <a:pt x="30" y="0"/>
                  </a:lnTo>
                  <a:lnTo>
                    <a:pt x="12" y="12"/>
                  </a:lnTo>
                  <a:lnTo>
                    <a:pt x="6" y="30"/>
                  </a:lnTo>
                  <a:lnTo>
                    <a:pt x="0" y="54"/>
                  </a:lnTo>
                  <a:lnTo>
                    <a:pt x="12" y="90"/>
                  </a:lnTo>
                  <a:lnTo>
                    <a:pt x="18" y="96"/>
                  </a:lnTo>
                  <a:lnTo>
                    <a:pt x="36" y="102"/>
                  </a:lnTo>
                  <a:lnTo>
                    <a:pt x="54" y="96"/>
                  </a:lnTo>
                  <a:lnTo>
                    <a:pt x="66" y="84"/>
                  </a:lnTo>
                  <a:lnTo>
                    <a:pt x="78" y="72"/>
                  </a:lnTo>
                  <a:lnTo>
                    <a:pt x="78" y="66"/>
                  </a:lnTo>
                  <a:close/>
                  <a:moveTo>
                    <a:pt x="12" y="30"/>
                  </a:moveTo>
                  <a:lnTo>
                    <a:pt x="24" y="12"/>
                  </a:lnTo>
                  <a:lnTo>
                    <a:pt x="36" y="6"/>
                  </a:lnTo>
                  <a:lnTo>
                    <a:pt x="48" y="12"/>
                  </a:lnTo>
                  <a:lnTo>
                    <a:pt x="54" y="18"/>
                  </a:lnTo>
                  <a:lnTo>
                    <a:pt x="54" y="30"/>
                  </a:lnTo>
                  <a:lnTo>
                    <a:pt x="12"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98" name="Freeform 72"/>
            <p:cNvSpPr/>
            <p:nvPr/>
          </p:nvSpPr>
          <p:spPr>
            <a:xfrm>
              <a:off x="2920" y="858"/>
              <a:ext cx="69" cy="167"/>
            </a:xfrm>
            <a:custGeom>
              <a:avLst/>
              <a:gdLst>
                <a:gd name="txL" fmla="*/ 0 w 54"/>
                <a:gd name="txT" fmla="*/ 0 h 131"/>
                <a:gd name="txR" fmla="*/ 54 w 54"/>
                <a:gd name="txB" fmla="*/ 131 h 131"/>
              </a:gdLst>
              <a:ahLst/>
              <a:cxnLst>
                <a:cxn ang="0">
                  <a:pos x="51414" y="25815"/>
                </a:cxn>
                <a:cxn ang="0">
                  <a:pos x="29193" y="25815"/>
                </a:cxn>
                <a:cxn ang="0">
                  <a:pos x="29193" y="5966"/>
                </a:cxn>
                <a:cxn ang="0">
                  <a:pos x="29193" y="5966"/>
                </a:cxn>
                <a:cxn ang="0">
                  <a:pos x="29193" y="0"/>
                </a:cxn>
                <a:cxn ang="0">
                  <a:pos x="23252" y="15885"/>
                </a:cxn>
                <a:cxn ang="0">
                  <a:pos x="11145" y="25815"/>
                </a:cxn>
                <a:cxn ang="0">
                  <a:pos x="6209" y="31772"/>
                </a:cxn>
                <a:cxn ang="0">
                  <a:pos x="0" y="31772"/>
                </a:cxn>
                <a:cxn ang="0">
                  <a:pos x="0" y="31772"/>
                </a:cxn>
                <a:cxn ang="0">
                  <a:pos x="11145" y="31772"/>
                </a:cxn>
                <a:cxn ang="0">
                  <a:pos x="11145" y="90279"/>
                </a:cxn>
                <a:cxn ang="0">
                  <a:pos x="11145" y="106972"/>
                </a:cxn>
                <a:cxn ang="0">
                  <a:pos x="16906" y="112214"/>
                </a:cxn>
                <a:cxn ang="0">
                  <a:pos x="29193" y="117434"/>
                </a:cxn>
                <a:cxn ang="0">
                  <a:pos x="45994" y="112214"/>
                </a:cxn>
                <a:cxn ang="0">
                  <a:pos x="51414" y="101836"/>
                </a:cxn>
                <a:cxn ang="0">
                  <a:pos x="51414" y="101836"/>
                </a:cxn>
                <a:cxn ang="0">
                  <a:pos x="45994" y="106972"/>
                </a:cxn>
                <a:cxn ang="0">
                  <a:pos x="40237" y="106972"/>
                </a:cxn>
                <a:cxn ang="0">
                  <a:pos x="29193" y="101836"/>
                </a:cxn>
                <a:cxn ang="0">
                  <a:pos x="29193" y="90279"/>
                </a:cxn>
                <a:cxn ang="0">
                  <a:pos x="29193" y="31772"/>
                </a:cxn>
                <a:cxn ang="0">
                  <a:pos x="51414" y="31772"/>
                </a:cxn>
                <a:cxn ang="0">
                  <a:pos x="51414" y="25815"/>
                </a:cxn>
              </a:cxnLst>
              <a:rect l="txL" t="txT" r="txR" b="txB"/>
              <a:pathLst>
                <a:path w="54" h="131">
                  <a:moveTo>
                    <a:pt x="54" y="29"/>
                  </a:moveTo>
                  <a:lnTo>
                    <a:pt x="30" y="29"/>
                  </a:lnTo>
                  <a:lnTo>
                    <a:pt x="30" y="6"/>
                  </a:lnTo>
                  <a:lnTo>
                    <a:pt x="30" y="0"/>
                  </a:lnTo>
                  <a:lnTo>
                    <a:pt x="24" y="18"/>
                  </a:lnTo>
                  <a:lnTo>
                    <a:pt x="12" y="29"/>
                  </a:lnTo>
                  <a:lnTo>
                    <a:pt x="6" y="35"/>
                  </a:lnTo>
                  <a:lnTo>
                    <a:pt x="0" y="35"/>
                  </a:lnTo>
                  <a:lnTo>
                    <a:pt x="12" y="35"/>
                  </a:lnTo>
                  <a:lnTo>
                    <a:pt x="12" y="101"/>
                  </a:lnTo>
                  <a:lnTo>
                    <a:pt x="12" y="119"/>
                  </a:lnTo>
                  <a:lnTo>
                    <a:pt x="18" y="125"/>
                  </a:lnTo>
                  <a:lnTo>
                    <a:pt x="30" y="131"/>
                  </a:lnTo>
                  <a:lnTo>
                    <a:pt x="48" y="125"/>
                  </a:lnTo>
                  <a:lnTo>
                    <a:pt x="54" y="113"/>
                  </a:lnTo>
                  <a:lnTo>
                    <a:pt x="48" y="119"/>
                  </a:lnTo>
                  <a:lnTo>
                    <a:pt x="42" y="119"/>
                  </a:lnTo>
                  <a:lnTo>
                    <a:pt x="30" y="113"/>
                  </a:lnTo>
                  <a:lnTo>
                    <a:pt x="30" y="101"/>
                  </a:lnTo>
                  <a:lnTo>
                    <a:pt x="30" y="35"/>
                  </a:lnTo>
                  <a:lnTo>
                    <a:pt x="54" y="35"/>
                  </a:lnTo>
                  <a:lnTo>
                    <a:pt x="54" y="2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699" name="Freeform 73"/>
            <p:cNvSpPr>
              <a:spLocks noEditPoints="1"/>
            </p:cNvSpPr>
            <p:nvPr/>
          </p:nvSpPr>
          <p:spPr>
            <a:xfrm>
              <a:off x="2997" y="895"/>
              <a:ext cx="107" cy="130"/>
            </a:xfrm>
            <a:custGeom>
              <a:avLst/>
              <a:gdLst>
                <a:gd name="txL" fmla="*/ 0 w 83"/>
                <a:gd name="txT" fmla="*/ 0 h 102"/>
                <a:gd name="txR" fmla="*/ 83 w 83"/>
                <a:gd name="txB" fmla="*/ 102 h 102"/>
              </a:gdLst>
              <a:ahLst/>
              <a:cxnLst>
                <a:cxn ang="0">
                  <a:pos x="94949" y="58227"/>
                </a:cxn>
                <a:cxn ang="0">
                  <a:pos x="81161" y="69066"/>
                </a:cxn>
                <a:cxn ang="0">
                  <a:pos x="58832" y="74211"/>
                </a:cxn>
                <a:cxn ang="0">
                  <a:pos x="43234" y="74211"/>
                </a:cxn>
                <a:cxn ang="0">
                  <a:pos x="36796" y="69066"/>
                </a:cxn>
                <a:cxn ang="0">
                  <a:pos x="29555" y="53072"/>
                </a:cxn>
                <a:cxn ang="0">
                  <a:pos x="22141" y="32179"/>
                </a:cxn>
                <a:cxn ang="0">
                  <a:pos x="94949" y="32179"/>
                </a:cxn>
                <a:cxn ang="0">
                  <a:pos x="94949" y="15782"/>
                </a:cxn>
                <a:cxn ang="0">
                  <a:pos x="81161" y="10633"/>
                </a:cxn>
                <a:cxn ang="0">
                  <a:pos x="51597" y="0"/>
                </a:cxn>
                <a:cxn ang="0">
                  <a:pos x="36796" y="0"/>
                </a:cxn>
                <a:cxn ang="0">
                  <a:pos x="13795" y="10633"/>
                </a:cxn>
                <a:cxn ang="0">
                  <a:pos x="7306" y="26175"/>
                </a:cxn>
                <a:cxn ang="0">
                  <a:pos x="0" y="48193"/>
                </a:cxn>
                <a:cxn ang="0">
                  <a:pos x="7306" y="64110"/>
                </a:cxn>
                <a:cxn ang="0">
                  <a:pos x="13795" y="80117"/>
                </a:cxn>
                <a:cxn ang="0">
                  <a:pos x="29555" y="84907"/>
                </a:cxn>
                <a:cxn ang="0">
                  <a:pos x="51597" y="90922"/>
                </a:cxn>
                <a:cxn ang="0">
                  <a:pos x="73652" y="84907"/>
                </a:cxn>
                <a:cxn ang="0">
                  <a:pos x="88956" y="74211"/>
                </a:cxn>
                <a:cxn ang="0">
                  <a:pos x="94949" y="64110"/>
                </a:cxn>
                <a:cxn ang="0">
                  <a:pos x="101631" y="58227"/>
                </a:cxn>
                <a:cxn ang="0">
                  <a:pos x="94949" y="58227"/>
                </a:cxn>
                <a:cxn ang="0">
                  <a:pos x="22141" y="26175"/>
                </a:cxn>
                <a:cxn ang="0">
                  <a:pos x="29555" y="10633"/>
                </a:cxn>
                <a:cxn ang="0">
                  <a:pos x="43234" y="5890"/>
                </a:cxn>
                <a:cxn ang="0">
                  <a:pos x="58832" y="10633"/>
                </a:cxn>
                <a:cxn ang="0">
                  <a:pos x="66517" y="15782"/>
                </a:cxn>
                <a:cxn ang="0">
                  <a:pos x="73652" y="26175"/>
                </a:cxn>
                <a:cxn ang="0">
                  <a:pos x="22141" y="26175"/>
                </a:cxn>
              </a:cxnLst>
              <a:rect l="txL" t="txT" r="txR" b="txB"/>
              <a:pathLst>
                <a:path w="83" h="102">
                  <a:moveTo>
                    <a:pt x="77" y="66"/>
                  </a:moveTo>
                  <a:lnTo>
                    <a:pt x="66" y="78"/>
                  </a:lnTo>
                  <a:lnTo>
                    <a:pt x="48" y="84"/>
                  </a:lnTo>
                  <a:lnTo>
                    <a:pt x="36" y="84"/>
                  </a:lnTo>
                  <a:lnTo>
                    <a:pt x="30" y="78"/>
                  </a:lnTo>
                  <a:lnTo>
                    <a:pt x="24" y="60"/>
                  </a:lnTo>
                  <a:lnTo>
                    <a:pt x="18" y="36"/>
                  </a:lnTo>
                  <a:lnTo>
                    <a:pt x="77" y="36"/>
                  </a:lnTo>
                  <a:lnTo>
                    <a:pt x="77" y="18"/>
                  </a:lnTo>
                  <a:lnTo>
                    <a:pt x="66" y="12"/>
                  </a:lnTo>
                  <a:lnTo>
                    <a:pt x="42" y="0"/>
                  </a:lnTo>
                  <a:lnTo>
                    <a:pt x="30" y="0"/>
                  </a:lnTo>
                  <a:lnTo>
                    <a:pt x="12" y="12"/>
                  </a:lnTo>
                  <a:lnTo>
                    <a:pt x="6" y="30"/>
                  </a:lnTo>
                  <a:lnTo>
                    <a:pt x="0" y="54"/>
                  </a:lnTo>
                  <a:lnTo>
                    <a:pt x="6" y="72"/>
                  </a:lnTo>
                  <a:lnTo>
                    <a:pt x="12" y="90"/>
                  </a:lnTo>
                  <a:lnTo>
                    <a:pt x="24" y="96"/>
                  </a:lnTo>
                  <a:lnTo>
                    <a:pt x="42" y="102"/>
                  </a:lnTo>
                  <a:lnTo>
                    <a:pt x="60" y="96"/>
                  </a:lnTo>
                  <a:lnTo>
                    <a:pt x="72" y="84"/>
                  </a:lnTo>
                  <a:lnTo>
                    <a:pt x="77" y="72"/>
                  </a:lnTo>
                  <a:lnTo>
                    <a:pt x="83" y="66"/>
                  </a:lnTo>
                  <a:lnTo>
                    <a:pt x="77" y="66"/>
                  </a:lnTo>
                  <a:close/>
                  <a:moveTo>
                    <a:pt x="18" y="30"/>
                  </a:moveTo>
                  <a:lnTo>
                    <a:pt x="24" y="12"/>
                  </a:lnTo>
                  <a:lnTo>
                    <a:pt x="36" y="6"/>
                  </a:lnTo>
                  <a:lnTo>
                    <a:pt x="48" y="12"/>
                  </a:lnTo>
                  <a:lnTo>
                    <a:pt x="54" y="18"/>
                  </a:lnTo>
                  <a:lnTo>
                    <a:pt x="60" y="30"/>
                  </a:lnTo>
                  <a:lnTo>
                    <a:pt x="18"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700" name="Freeform 74"/>
            <p:cNvSpPr/>
            <p:nvPr/>
          </p:nvSpPr>
          <p:spPr>
            <a:xfrm>
              <a:off x="3111" y="895"/>
              <a:ext cx="85" cy="122"/>
            </a:xfrm>
            <a:custGeom>
              <a:avLst/>
              <a:gdLst>
                <a:gd name="txL" fmla="*/ 0 w 66"/>
                <a:gd name="txT" fmla="*/ 0 h 96"/>
                <a:gd name="txR" fmla="*/ 66 w 66"/>
                <a:gd name="txB" fmla="*/ 96 h 96"/>
              </a:gdLst>
              <a:ahLst/>
              <a:cxnLst>
                <a:cxn ang="0">
                  <a:pos x="13573" y="64031"/>
                </a:cxn>
                <a:cxn ang="0">
                  <a:pos x="7207" y="73604"/>
                </a:cxn>
                <a:cxn ang="0">
                  <a:pos x="0" y="78790"/>
                </a:cxn>
                <a:cxn ang="0">
                  <a:pos x="0" y="78790"/>
                </a:cxn>
                <a:cxn ang="0">
                  <a:pos x="57357" y="78790"/>
                </a:cxn>
                <a:cxn ang="0">
                  <a:pos x="57357" y="78790"/>
                </a:cxn>
                <a:cxn ang="0">
                  <a:pos x="42353" y="78790"/>
                </a:cxn>
                <a:cxn ang="0">
                  <a:pos x="35663" y="73604"/>
                </a:cxn>
                <a:cxn ang="0">
                  <a:pos x="35663" y="64031"/>
                </a:cxn>
                <a:cxn ang="0">
                  <a:pos x="35663" y="24549"/>
                </a:cxn>
                <a:cxn ang="0">
                  <a:pos x="42353" y="14810"/>
                </a:cxn>
                <a:cxn ang="0">
                  <a:pos x="50183" y="9766"/>
                </a:cxn>
                <a:cxn ang="0">
                  <a:pos x="57357" y="14810"/>
                </a:cxn>
                <a:cxn ang="0">
                  <a:pos x="71263" y="14810"/>
                </a:cxn>
                <a:cxn ang="0">
                  <a:pos x="78186" y="14810"/>
                </a:cxn>
                <a:cxn ang="0">
                  <a:pos x="78186" y="9766"/>
                </a:cxn>
                <a:cxn ang="0">
                  <a:pos x="71263" y="5509"/>
                </a:cxn>
                <a:cxn ang="0">
                  <a:pos x="64630" y="0"/>
                </a:cxn>
                <a:cxn ang="0">
                  <a:pos x="50183" y="0"/>
                </a:cxn>
                <a:cxn ang="0">
                  <a:pos x="42353" y="5509"/>
                </a:cxn>
                <a:cxn ang="0">
                  <a:pos x="35663" y="14810"/>
                </a:cxn>
                <a:cxn ang="0">
                  <a:pos x="35663" y="14810"/>
                </a:cxn>
                <a:cxn ang="0">
                  <a:pos x="35663" y="0"/>
                </a:cxn>
                <a:cxn ang="0">
                  <a:pos x="35663" y="0"/>
                </a:cxn>
                <a:cxn ang="0">
                  <a:pos x="13573" y="5509"/>
                </a:cxn>
                <a:cxn ang="0">
                  <a:pos x="0" y="9766"/>
                </a:cxn>
                <a:cxn ang="0">
                  <a:pos x="0" y="9766"/>
                </a:cxn>
                <a:cxn ang="0">
                  <a:pos x="0" y="9766"/>
                </a:cxn>
                <a:cxn ang="0">
                  <a:pos x="7207" y="9766"/>
                </a:cxn>
                <a:cxn ang="0">
                  <a:pos x="13573" y="9766"/>
                </a:cxn>
                <a:cxn ang="0">
                  <a:pos x="13573" y="20044"/>
                </a:cxn>
                <a:cxn ang="0">
                  <a:pos x="13573" y="64031"/>
                </a:cxn>
              </a:cxnLst>
              <a:rect l="txL" t="txT" r="txR" b="txB"/>
              <a:pathLst>
                <a:path w="66" h="96">
                  <a:moveTo>
                    <a:pt x="12" y="78"/>
                  </a:moveTo>
                  <a:lnTo>
                    <a:pt x="6" y="90"/>
                  </a:lnTo>
                  <a:lnTo>
                    <a:pt x="0" y="96"/>
                  </a:lnTo>
                  <a:lnTo>
                    <a:pt x="48" y="96"/>
                  </a:lnTo>
                  <a:lnTo>
                    <a:pt x="36" y="96"/>
                  </a:lnTo>
                  <a:lnTo>
                    <a:pt x="30" y="90"/>
                  </a:lnTo>
                  <a:lnTo>
                    <a:pt x="30" y="78"/>
                  </a:lnTo>
                  <a:lnTo>
                    <a:pt x="30" y="30"/>
                  </a:lnTo>
                  <a:lnTo>
                    <a:pt x="36" y="18"/>
                  </a:lnTo>
                  <a:lnTo>
                    <a:pt x="42" y="12"/>
                  </a:lnTo>
                  <a:lnTo>
                    <a:pt x="48" y="18"/>
                  </a:lnTo>
                  <a:lnTo>
                    <a:pt x="60" y="18"/>
                  </a:lnTo>
                  <a:lnTo>
                    <a:pt x="66" y="18"/>
                  </a:lnTo>
                  <a:lnTo>
                    <a:pt x="66" y="12"/>
                  </a:lnTo>
                  <a:lnTo>
                    <a:pt x="60" y="6"/>
                  </a:lnTo>
                  <a:lnTo>
                    <a:pt x="54" y="0"/>
                  </a:lnTo>
                  <a:lnTo>
                    <a:pt x="42" y="0"/>
                  </a:lnTo>
                  <a:lnTo>
                    <a:pt x="36" y="6"/>
                  </a:lnTo>
                  <a:lnTo>
                    <a:pt x="30" y="18"/>
                  </a:lnTo>
                  <a:lnTo>
                    <a:pt x="30" y="0"/>
                  </a:lnTo>
                  <a:lnTo>
                    <a:pt x="12" y="6"/>
                  </a:lnTo>
                  <a:lnTo>
                    <a:pt x="0" y="12"/>
                  </a:lnTo>
                  <a:lnTo>
                    <a:pt x="6" y="12"/>
                  </a:lnTo>
                  <a:lnTo>
                    <a:pt x="12" y="12"/>
                  </a:lnTo>
                  <a:lnTo>
                    <a:pt x="12" y="24"/>
                  </a:lnTo>
                  <a:lnTo>
                    <a:pt x="12" y="7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701" name="Freeform 75"/>
            <p:cNvSpPr/>
            <p:nvPr/>
          </p:nvSpPr>
          <p:spPr>
            <a:xfrm>
              <a:off x="4050" y="2317"/>
              <a:ext cx="155" cy="184"/>
            </a:xfrm>
            <a:custGeom>
              <a:avLst/>
              <a:gdLst>
                <a:gd name="txL" fmla="*/ 0 w 120"/>
                <a:gd name="txT" fmla="*/ 0 h 144"/>
                <a:gd name="txR" fmla="*/ 120 w 120"/>
                <a:gd name="txB" fmla="*/ 144 h 144"/>
              </a:gdLst>
              <a:ahLst/>
              <a:cxnLst>
                <a:cxn ang="0">
                  <a:pos x="154753" y="103425"/>
                </a:cxn>
                <a:cxn ang="0">
                  <a:pos x="147094" y="103425"/>
                </a:cxn>
                <a:cxn ang="0">
                  <a:pos x="140551" y="120323"/>
                </a:cxn>
                <a:cxn ang="0">
                  <a:pos x="124328" y="126527"/>
                </a:cxn>
                <a:cxn ang="0">
                  <a:pos x="109531" y="132154"/>
                </a:cxn>
                <a:cxn ang="0">
                  <a:pos x="85090" y="132154"/>
                </a:cxn>
                <a:cxn ang="0">
                  <a:pos x="62006" y="132154"/>
                </a:cxn>
                <a:cxn ang="0">
                  <a:pos x="54173" y="132154"/>
                </a:cxn>
                <a:cxn ang="0">
                  <a:pos x="47606" y="120323"/>
                </a:cxn>
                <a:cxn ang="0">
                  <a:pos x="47606" y="69433"/>
                </a:cxn>
                <a:cxn ang="0">
                  <a:pos x="92755" y="69433"/>
                </a:cxn>
                <a:cxn ang="0">
                  <a:pos x="109531" y="75095"/>
                </a:cxn>
                <a:cxn ang="0">
                  <a:pos x="116743" y="92054"/>
                </a:cxn>
                <a:cxn ang="0">
                  <a:pos x="124328" y="92054"/>
                </a:cxn>
                <a:cxn ang="0">
                  <a:pos x="124328" y="40237"/>
                </a:cxn>
                <a:cxn ang="0">
                  <a:pos x="116743" y="40237"/>
                </a:cxn>
                <a:cxn ang="0">
                  <a:pos x="116743" y="57588"/>
                </a:cxn>
                <a:cxn ang="0">
                  <a:pos x="109531" y="62685"/>
                </a:cxn>
                <a:cxn ang="0">
                  <a:pos x="92755" y="62685"/>
                </a:cxn>
                <a:cxn ang="0">
                  <a:pos x="47606" y="62685"/>
                </a:cxn>
                <a:cxn ang="0">
                  <a:pos x="47606" y="16906"/>
                </a:cxn>
                <a:cxn ang="0">
                  <a:pos x="54173" y="11145"/>
                </a:cxn>
                <a:cxn ang="0">
                  <a:pos x="62006" y="11145"/>
                </a:cxn>
                <a:cxn ang="0">
                  <a:pos x="92755" y="11145"/>
                </a:cxn>
                <a:cxn ang="0">
                  <a:pos x="116743" y="11145"/>
                </a:cxn>
                <a:cxn ang="0">
                  <a:pos x="124328" y="11145"/>
                </a:cxn>
                <a:cxn ang="0">
                  <a:pos x="132515" y="16906"/>
                </a:cxn>
                <a:cxn ang="0">
                  <a:pos x="132515" y="29071"/>
                </a:cxn>
                <a:cxn ang="0">
                  <a:pos x="140551" y="29071"/>
                </a:cxn>
                <a:cxn ang="0">
                  <a:pos x="140551" y="0"/>
                </a:cxn>
                <a:cxn ang="0">
                  <a:pos x="0" y="0"/>
                </a:cxn>
                <a:cxn ang="0">
                  <a:pos x="0" y="6209"/>
                </a:cxn>
                <a:cxn ang="0">
                  <a:pos x="16129" y="6209"/>
                </a:cxn>
                <a:cxn ang="0">
                  <a:pos x="23585" y="11145"/>
                </a:cxn>
                <a:cxn ang="0">
                  <a:pos x="23585" y="23252"/>
                </a:cxn>
                <a:cxn ang="0">
                  <a:pos x="23585" y="114001"/>
                </a:cxn>
                <a:cxn ang="0">
                  <a:pos x="23585" y="126527"/>
                </a:cxn>
                <a:cxn ang="0">
                  <a:pos x="16129" y="132154"/>
                </a:cxn>
                <a:cxn ang="0">
                  <a:pos x="0" y="137428"/>
                </a:cxn>
                <a:cxn ang="0">
                  <a:pos x="0" y="137428"/>
                </a:cxn>
                <a:cxn ang="0">
                  <a:pos x="140551" y="137428"/>
                </a:cxn>
                <a:cxn ang="0">
                  <a:pos x="154753" y="103425"/>
                </a:cxn>
              </a:cxnLst>
              <a:rect l="txL" t="txT" r="txR" b="txB"/>
              <a:pathLst>
                <a:path w="120" h="144">
                  <a:moveTo>
                    <a:pt x="120" y="108"/>
                  </a:moveTo>
                  <a:lnTo>
                    <a:pt x="114" y="108"/>
                  </a:lnTo>
                  <a:lnTo>
                    <a:pt x="108" y="126"/>
                  </a:lnTo>
                  <a:lnTo>
                    <a:pt x="96" y="132"/>
                  </a:lnTo>
                  <a:lnTo>
                    <a:pt x="84" y="138"/>
                  </a:lnTo>
                  <a:lnTo>
                    <a:pt x="66" y="138"/>
                  </a:lnTo>
                  <a:lnTo>
                    <a:pt x="48" y="138"/>
                  </a:lnTo>
                  <a:lnTo>
                    <a:pt x="42" y="138"/>
                  </a:lnTo>
                  <a:lnTo>
                    <a:pt x="36" y="126"/>
                  </a:lnTo>
                  <a:lnTo>
                    <a:pt x="36" y="72"/>
                  </a:lnTo>
                  <a:lnTo>
                    <a:pt x="72" y="72"/>
                  </a:lnTo>
                  <a:lnTo>
                    <a:pt x="84" y="78"/>
                  </a:lnTo>
                  <a:lnTo>
                    <a:pt x="90" y="96"/>
                  </a:lnTo>
                  <a:lnTo>
                    <a:pt x="96" y="96"/>
                  </a:lnTo>
                  <a:lnTo>
                    <a:pt x="96" y="42"/>
                  </a:lnTo>
                  <a:lnTo>
                    <a:pt x="90" y="42"/>
                  </a:lnTo>
                  <a:lnTo>
                    <a:pt x="90" y="60"/>
                  </a:lnTo>
                  <a:lnTo>
                    <a:pt x="84" y="66"/>
                  </a:lnTo>
                  <a:lnTo>
                    <a:pt x="72" y="66"/>
                  </a:lnTo>
                  <a:lnTo>
                    <a:pt x="36" y="66"/>
                  </a:lnTo>
                  <a:lnTo>
                    <a:pt x="36" y="18"/>
                  </a:lnTo>
                  <a:lnTo>
                    <a:pt x="42" y="12"/>
                  </a:lnTo>
                  <a:lnTo>
                    <a:pt x="48" y="12"/>
                  </a:lnTo>
                  <a:lnTo>
                    <a:pt x="72" y="12"/>
                  </a:lnTo>
                  <a:lnTo>
                    <a:pt x="90" y="12"/>
                  </a:lnTo>
                  <a:lnTo>
                    <a:pt x="96" y="12"/>
                  </a:lnTo>
                  <a:lnTo>
                    <a:pt x="102" y="18"/>
                  </a:lnTo>
                  <a:lnTo>
                    <a:pt x="102" y="30"/>
                  </a:lnTo>
                  <a:lnTo>
                    <a:pt x="108" y="30"/>
                  </a:lnTo>
                  <a:lnTo>
                    <a:pt x="108" y="0"/>
                  </a:lnTo>
                  <a:lnTo>
                    <a:pt x="0" y="0"/>
                  </a:lnTo>
                  <a:lnTo>
                    <a:pt x="0" y="6"/>
                  </a:lnTo>
                  <a:lnTo>
                    <a:pt x="12" y="6"/>
                  </a:lnTo>
                  <a:lnTo>
                    <a:pt x="18" y="12"/>
                  </a:lnTo>
                  <a:lnTo>
                    <a:pt x="18" y="24"/>
                  </a:lnTo>
                  <a:lnTo>
                    <a:pt x="18" y="120"/>
                  </a:lnTo>
                  <a:lnTo>
                    <a:pt x="18" y="132"/>
                  </a:lnTo>
                  <a:lnTo>
                    <a:pt x="12" y="138"/>
                  </a:lnTo>
                  <a:lnTo>
                    <a:pt x="0" y="144"/>
                  </a:lnTo>
                  <a:lnTo>
                    <a:pt x="108" y="144"/>
                  </a:lnTo>
                  <a:lnTo>
                    <a:pt x="120" y="10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702" name="Freeform 76"/>
            <p:cNvSpPr/>
            <p:nvPr/>
          </p:nvSpPr>
          <p:spPr>
            <a:xfrm>
              <a:off x="4212" y="2310"/>
              <a:ext cx="62" cy="191"/>
            </a:xfrm>
            <a:custGeom>
              <a:avLst/>
              <a:gdLst>
                <a:gd name="txL" fmla="*/ 0 w 48"/>
                <a:gd name="txT" fmla="*/ 0 h 150"/>
                <a:gd name="txR" fmla="*/ 48 w 48"/>
                <a:gd name="txB" fmla="*/ 150 h 150"/>
              </a:gdLst>
              <a:ahLst/>
              <a:cxnLst>
                <a:cxn ang="0">
                  <a:pos x="0" y="129669"/>
                </a:cxn>
                <a:cxn ang="0">
                  <a:pos x="62006" y="129669"/>
                </a:cxn>
                <a:cxn ang="0">
                  <a:pos x="62006" y="129669"/>
                </a:cxn>
                <a:cxn ang="0">
                  <a:pos x="47606" y="124570"/>
                </a:cxn>
                <a:cxn ang="0">
                  <a:pos x="47606" y="114445"/>
                </a:cxn>
                <a:cxn ang="0">
                  <a:pos x="47606" y="5806"/>
                </a:cxn>
                <a:cxn ang="0">
                  <a:pos x="39349" y="0"/>
                </a:cxn>
                <a:cxn ang="0">
                  <a:pos x="23585" y="5806"/>
                </a:cxn>
                <a:cxn ang="0">
                  <a:pos x="0" y="10166"/>
                </a:cxn>
                <a:cxn ang="0">
                  <a:pos x="0" y="15551"/>
                </a:cxn>
                <a:cxn ang="0">
                  <a:pos x="7936" y="15551"/>
                </a:cxn>
                <a:cxn ang="0">
                  <a:pos x="7936" y="15551"/>
                </a:cxn>
                <a:cxn ang="0">
                  <a:pos x="16129" y="15551"/>
                </a:cxn>
                <a:cxn ang="0">
                  <a:pos x="23585" y="25633"/>
                </a:cxn>
                <a:cxn ang="0">
                  <a:pos x="23585" y="114445"/>
                </a:cxn>
                <a:cxn ang="0">
                  <a:pos x="16129" y="124570"/>
                </a:cxn>
                <a:cxn ang="0">
                  <a:pos x="0" y="129669"/>
                </a:cxn>
                <a:cxn ang="0">
                  <a:pos x="0" y="129669"/>
                </a:cxn>
              </a:cxnLst>
              <a:rect l="txL" t="txT" r="txR" b="txB"/>
              <a:pathLst>
                <a:path w="48" h="150">
                  <a:moveTo>
                    <a:pt x="0" y="150"/>
                  </a:moveTo>
                  <a:lnTo>
                    <a:pt x="48" y="150"/>
                  </a:lnTo>
                  <a:lnTo>
                    <a:pt x="36" y="144"/>
                  </a:lnTo>
                  <a:lnTo>
                    <a:pt x="36" y="132"/>
                  </a:lnTo>
                  <a:lnTo>
                    <a:pt x="36" y="6"/>
                  </a:lnTo>
                  <a:lnTo>
                    <a:pt x="30" y="0"/>
                  </a:lnTo>
                  <a:lnTo>
                    <a:pt x="18" y="6"/>
                  </a:lnTo>
                  <a:lnTo>
                    <a:pt x="0" y="12"/>
                  </a:lnTo>
                  <a:lnTo>
                    <a:pt x="0" y="18"/>
                  </a:lnTo>
                  <a:lnTo>
                    <a:pt x="6" y="18"/>
                  </a:lnTo>
                  <a:lnTo>
                    <a:pt x="12" y="18"/>
                  </a:lnTo>
                  <a:lnTo>
                    <a:pt x="18" y="30"/>
                  </a:lnTo>
                  <a:lnTo>
                    <a:pt x="18" y="132"/>
                  </a:lnTo>
                  <a:lnTo>
                    <a:pt x="12" y="144"/>
                  </a:lnTo>
                  <a:lnTo>
                    <a:pt x="0" y="15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703" name="Freeform 77"/>
            <p:cNvSpPr>
              <a:spLocks noEditPoints="1"/>
            </p:cNvSpPr>
            <p:nvPr/>
          </p:nvSpPr>
          <p:spPr>
            <a:xfrm>
              <a:off x="4290" y="2378"/>
              <a:ext cx="99" cy="130"/>
            </a:xfrm>
            <a:custGeom>
              <a:avLst/>
              <a:gdLst>
                <a:gd name="txL" fmla="*/ 0 w 77"/>
                <a:gd name="txT" fmla="*/ 0 h 102"/>
                <a:gd name="txR" fmla="*/ 77 w 77"/>
                <a:gd name="txB" fmla="*/ 102 h 102"/>
              </a:gdLst>
              <a:ahLst/>
              <a:cxnLst>
                <a:cxn ang="0">
                  <a:pos x="87395" y="53072"/>
                </a:cxn>
                <a:cxn ang="0">
                  <a:pos x="74574" y="69066"/>
                </a:cxn>
                <a:cxn ang="0">
                  <a:pos x="46484" y="74211"/>
                </a:cxn>
                <a:cxn ang="0">
                  <a:pos x="33435" y="74211"/>
                </a:cxn>
                <a:cxn ang="0">
                  <a:pos x="26550" y="69066"/>
                </a:cxn>
                <a:cxn ang="0">
                  <a:pos x="20650" y="53072"/>
                </a:cxn>
                <a:cxn ang="0">
                  <a:pos x="12874" y="32179"/>
                </a:cxn>
                <a:cxn ang="0">
                  <a:pos x="87395" y="32179"/>
                </a:cxn>
                <a:cxn ang="0">
                  <a:pos x="80358" y="15782"/>
                </a:cxn>
                <a:cxn ang="0">
                  <a:pos x="74574" y="5890"/>
                </a:cxn>
                <a:cxn ang="0">
                  <a:pos x="46484" y="0"/>
                </a:cxn>
                <a:cxn ang="0">
                  <a:pos x="33435" y="0"/>
                </a:cxn>
                <a:cxn ang="0">
                  <a:pos x="12874" y="10633"/>
                </a:cxn>
                <a:cxn ang="0">
                  <a:pos x="6999" y="26175"/>
                </a:cxn>
                <a:cxn ang="0">
                  <a:pos x="0" y="48193"/>
                </a:cxn>
                <a:cxn ang="0">
                  <a:pos x="12874" y="80117"/>
                </a:cxn>
                <a:cxn ang="0">
                  <a:pos x="20650" y="84907"/>
                </a:cxn>
                <a:cxn ang="0">
                  <a:pos x="39781" y="90922"/>
                </a:cxn>
                <a:cxn ang="0">
                  <a:pos x="59765" y="84907"/>
                </a:cxn>
                <a:cxn ang="0">
                  <a:pos x="74574" y="74211"/>
                </a:cxn>
                <a:cxn ang="0">
                  <a:pos x="87395" y="64110"/>
                </a:cxn>
                <a:cxn ang="0">
                  <a:pos x="87395" y="58227"/>
                </a:cxn>
                <a:cxn ang="0">
                  <a:pos x="87395" y="53072"/>
                </a:cxn>
                <a:cxn ang="0">
                  <a:pos x="12874" y="26175"/>
                </a:cxn>
                <a:cxn ang="0">
                  <a:pos x="26550" y="10633"/>
                </a:cxn>
                <a:cxn ang="0">
                  <a:pos x="39781" y="5890"/>
                </a:cxn>
                <a:cxn ang="0">
                  <a:pos x="52869" y="5890"/>
                </a:cxn>
                <a:cxn ang="0">
                  <a:pos x="59765" y="10633"/>
                </a:cxn>
                <a:cxn ang="0">
                  <a:pos x="59765" y="26175"/>
                </a:cxn>
                <a:cxn ang="0">
                  <a:pos x="12874" y="26175"/>
                </a:cxn>
              </a:cxnLst>
              <a:rect l="txL" t="txT" r="txR" b="txB"/>
              <a:pathLst>
                <a:path w="77" h="102">
                  <a:moveTo>
                    <a:pt x="77" y="60"/>
                  </a:moveTo>
                  <a:lnTo>
                    <a:pt x="65" y="78"/>
                  </a:lnTo>
                  <a:lnTo>
                    <a:pt x="41" y="84"/>
                  </a:lnTo>
                  <a:lnTo>
                    <a:pt x="29" y="84"/>
                  </a:lnTo>
                  <a:lnTo>
                    <a:pt x="23" y="78"/>
                  </a:lnTo>
                  <a:lnTo>
                    <a:pt x="18" y="60"/>
                  </a:lnTo>
                  <a:lnTo>
                    <a:pt x="12" y="36"/>
                  </a:lnTo>
                  <a:lnTo>
                    <a:pt x="77" y="36"/>
                  </a:lnTo>
                  <a:lnTo>
                    <a:pt x="71" y="18"/>
                  </a:lnTo>
                  <a:lnTo>
                    <a:pt x="65" y="6"/>
                  </a:lnTo>
                  <a:lnTo>
                    <a:pt x="41" y="0"/>
                  </a:lnTo>
                  <a:lnTo>
                    <a:pt x="29" y="0"/>
                  </a:lnTo>
                  <a:lnTo>
                    <a:pt x="12" y="12"/>
                  </a:lnTo>
                  <a:lnTo>
                    <a:pt x="6" y="30"/>
                  </a:lnTo>
                  <a:lnTo>
                    <a:pt x="0" y="54"/>
                  </a:lnTo>
                  <a:lnTo>
                    <a:pt x="12" y="90"/>
                  </a:lnTo>
                  <a:lnTo>
                    <a:pt x="18" y="96"/>
                  </a:lnTo>
                  <a:lnTo>
                    <a:pt x="35" y="102"/>
                  </a:lnTo>
                  <a:lnTo>
                    <a:pt x="53" y="96"/>
                  </a:lnTo>
                  <a:lnTo>
                    <a:pt x="65" y="84"/>
                  </a:lnTo>
                  <a:lnTo>
                    <a:pt x="77" y="72"/>
                  </a:lnTo>
                  <a:lnTo>
                    <a:pt x="77" y="66"/>
                  </a:lnTo>
                  <a:lnTo>
                    <a:pt x="77" y="60"/>
                  </a:lnTo>
                  <a:close/>
                  <a:moveTo>
                    <a:pt x="12" y="30"/>
                  </a:moveTo>
                  <a:lnTo>
                    <a:pt x="23" y="12"/>
                  </a:lnTo>
                  <a:lnTo>
                    <a:pt x="35" y="6"/>
                  </a:lnTo>
                  <a:lnTo>
                    <a:pt x="47" y="6"/>
                  </a:lnTo>
                  <a:lnTo>
                    <a:pt x="53" y="12"/>
                  </a:lnTo>
                  <a:lnTo>
                    <a:pt x="53" y="30"/>
                  </a:lnTo>
                  <a:lnTo>
                    <a:pt x="12"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704" name="Freeform 78"/>
            <p:cNvSpPr/>
            <p:nvPr/>
          </p:nvSpPr>
          <p:spPr>
            <a:xfrm>
              <a:off x="4396" y="2378"/>
              <a:ext cx="201" cy="123"/>
            </a:xfrm>
            <a:custGeom>
              <a:avLst/>
              <a:gdLst>
                <a:gd name="txL" fmla="*/ 0 w 156"/>
                <a:gd name="txT" fmla="*/ 0 h 96"/>
                <a:gd name="txR" fmla="*/ 156 w 156"/>
                <a:gd name="txB" fmla="*/ 96 h 96"/>
              </a:gdLst>
              <a:ahLst/>
              <a:cxnLst>
                <a:cxn ang="0">
                  <a:pos x="21852" y="80437"/>
                </a:cxn>
                <a:cxn ang="0">
                  <a:pos x="21852" y="92333"/>
                </a:cxn>
                <a:cxn ang="0">
                  <a:pos x="13644" y="99157"/>
                </a:cxn>
                <a:cxn ang="0">
                  <a:pos x="0" y="99157"/>
                </a:cxn>
                <a:cxn ang="0">
                  <a:pos x="0" y="99157"/>
                </a:cxn>
                <a:cxn ang="0">
                  <a:pos x="58056" y="99157"/>
                </a:cxn>
                <a:cxn ang="0">
                  <a:pos x="58056" y="99157"/>
                </a:cxn>
                <a:cxn ang="0">
                  <a:pos x="50581" y="99157"/>
                </a:cxn>
                <a:cxn ang="0">
                  <a:pos x="42813" y="87040"/>
                </a:cxn>
                <a:cxn ang="0">
                  <a:pos x="42813" y="24760"/>
                </a:cxn>
                <a:cxn ang="0">
                  <a:pos x="50581" y="11772"/>
                </a:cxn>
                <a:cxn ang="0">
                  <a:pos x="72364" y="6529"/>
                </a:cxn>
                <a:cxn ang="0">
                  <a:pos x="80387" y="11772"/>
                </a:cxn>
                <a:cxn ang="0">
                  <a:pos x="87679" y="30910"/>
                </a:cxn>
                <a:cxn ang="0">
                  <a:pos x="87679" y="80437"/>
                </a:cxn>
                <a:cxn ang="0">
                  <a:pos x="87679" y="92333"/>
                </a:cxn>
                <a:cxn ang="0">
                  <a:pos x="80387" y="99157"/>
                </a:cxn>
                <a:cxn ang="0">
                  <a:pos x="72364" y="99157"/>
                </a:cxn>
                <a:cxn ang="0">
                  <a:pos x="72364" y="99157"/>
                </a:cxn>
                <a:cxn ang="0">
                  <a:pos x="122888" y="99157"/>
                </a:cxn>
                <a:cxn ang="0">
                  <a:pos x="122888" y="99157"/>
                </a:cxn>
                <a:cxn ang="0">
                  <a:pos x="115936" y="99157"/>
                </a:cxn>
                <a:cxn ang="0">
                  <a:pos x="108195" y="92333"/>
                </a:cxn>
                <a:cxn ang="0">
                  <a:pos x="108195" y="80437"/>
                </a:cxn>
                <a:cxn ang="0">
                  <a:pos x="108195" y="24760"/>
                </a:cxn>
                <a:cxn ang="0">
                  <a:pos x="122888" y="11772"/>
                </a:cxn>
                <a:cxn ang="0">
                  <a:pos x="137823" y="6529"/>
                </a:cxn>
                <a:cxn ang="0">
                  <a:pos x="145559" y="11772"/>
                </a:cxn>
                <a:cxn ang="0">
                  <a:pos x="152029" y="18072"/>
                </a:cxn>
                <a:cxn ang="0">
                  <a:pos x="152029" y="30910"/>
                </a:cxn>
                <a:cxn ang="0">
                  <a:pos x="152029" y="80437"/>
                </a:cxn>
                <a:cxn ang="0">
                  <a:pos x="152029" y="92333"/>
                </a:cxn>
                <a:cxn ang="0">
                  <a:pos x="137823" y="99157"/>
                </a:cxn>
                <a:cxn ang="0">
                  <a:pos x="137823" y="99157"/>
                </a:cxn>
                <a:cxn ang="0">
                  <a:pos x="188407" y="99157"/>
                </a:cxn>
                <a:cxn ang="0">
                  <a:pos x="188407" y="99157"/>
                </a:cxn>
                <a:cxn ang="0">
                  <a:pos x="181342" y="99157"/>
                </a:cxn>
                <a:cxn ang="0">
                  <a:pos x="174655" y="92333"/>
                </a:cxn>
                <a:cxn ang="0">
                  <a:pos x="174655" y="87040"/>
                </a:cxn>
                <a:cxn ang="0">
                  <a:pos x="174655" y="37005"/>
                </a:cxn>
                <a:cxn ang="0">
                  <a:pos x="166598" y="11772"/>
                </a:cxn>
                <a:cxn ang="0">
                  <a:pos x="159159" y="6529"/>
                </a:cxn>
                <a:cxn ang="0">
                  <a:pos x="145559" y="0"/>
                </a:cxn>
                <a:cxn ang="0">
                  <a:pos x="115936" y="6529"/>
                </a:cxn>
                <a:cxn ang="0">
                  <a:pos x="101372" y="18072"/>
                </a:cxn>
                <a:cxn ang="0">
                  <a:pos x="94360" y="6529"/>
                </a:cxn>
                <a:cxn ang="0">
                  <a:pos x="80387" y="0"/>
                </a:cxn>
                <a:cxn ang="0">
                  <a:pos x="65172" y="6529"/>
                </a:cxn>
                <a:cxn ang="0">
                  <a:pos x="42813" y="11772"/>
                </a:cxn>
                <a:cxn ang="0">
                  <a:pos x="42813" y="0"/>
                </a:cxn>
                <a:cxn ang="0">
                  <a:pos x="36277" y="0"/>
                </a:cxn>
                <a:cxn ang="0">
                  <a:pos x="21852" y="6529"/>
                </a:cxn>
                <a:cxn ang="0">
                  <a:pos x="7262" y="6529"/>
                </a:cxn>
                <a:cxn ang="0">
                  <a:pos x="7262" y="11772"/>
                </a:cxn>
                <a:cxn ang="0">
                  <a:pos x="7262" y="11772"/>
                </a:cxn>
                <a:cxn ang="0">
                  <a:pos x="13644" y="11772"/>
                </a:cxn>
                <a:cxn ang="0">
                  <a:pos x="21852" y="11772"/>
                </a:cxn>
                <a:cxn ang="0">
                  <a:pos x="21852" y="24760"/>
                </a:cxn>
                <a:cxn ang="0">
                  <a:pos x="21852" y="80437"/>
                </a:cxn>
              </a:cxnLst>
              <a:rect l="txL" t="txT" r="txR" b="txB"/>
              <a:pathLst>
                <a:path w="156" h="96">
                  <a:moveTo>
                    <a:pt x="18" y="78"/>
                  </a:moveTo>
                  <a:lnTo>
                    <a:pt x="18" y="90"/>
                  </a:lnTo>
                  <a:lnTo>
                    <a:pt x="12" y="96"/>
                  </a:lnTo>
                  <a:lnTo>
                    <a:pt x="0" y="96"/>
                  </a:lnTo>
                  <a:lnTo>
                    <a:pt x="48" y="96"/>
                  </a:lnTo>
                  <a:lnTo>
                    <a:pt x="42" y="96"/>
                  </a:lnTo>
                  <a:lnTo>
                    <a:pt x="36" y="84"/>
                  </a:lnTo>
                  <a:lnTo>
                    <a:pt x="36" y="24"/>
                  </a:lnTo>
                  <a:lnTo>
                    <a:pt x="42" y="12"/>
                  </a:lnTo>
                  <a:lnTo>
                    <a:pt x="60" y="6"/>
                  </a:lnTo>
                  <a:lnTo>
                    <a:pt x="66" y="12"/>
                  </a:lnTo>
                  <a:lnTo>
                    <a:pt x="72" y="30"/>
                  </a:lnTo>
                  <a:lnTo>
                    <a:pt x="72" y="78"/>
                  </a:lnTo>
                  <a:lnTo>
                    <a:pt x="72" y="90"/>
                  </a:lnTo>
                  <a:lnTo>
                    <a:pt x="66" y="96"/>
                  </a:lnTo>
                  <a:lnTo>
                    <a:pt x="60" y="96"/>
                  </a:lnTo>
                  <a:lnTo>
                    <a:pt x="102" y="96"/>
                  </a:lnTo>
                  <a:lnTo>
                    <a:pt x="96" y="96"/>
                  </a:lnTo>
                  <a:lnTo>
                    <a:pt x="90" y="90"/>
                  </a:lnTo>
                  <a:lnTo>
                    <a:pt x="90" y="78"/>
                  </a:lnTo>
                  <a:lnTo>
                    <a:pt x="90" y="24"/>
                  </a:lnTo>
                  <a:lnTo>
                    <a:pt x="102" y="12"/>
                  </a:lnTo>
                  <a:lnTo>
                    <a:pt x="114" y="6"/>
                  </a:lnTo>
                  <a:lnTo>
                    <a:pt x="120" y="12"/>
                  </a:lnTo>
                  <a:lnTo>
                    <a:pt x="126" y="18"/>
                  </a:lnTo>
                  <a:lnTo>
                    <a:pt x="126" y="30"/>
                  </a:lnTo>
                  <a:lnTo>
                    <a:pt x="126" y="78"/>
                  </a:lnTo>
                  <a:lnTo>
                    <a:pt x="126" y="90"/>
                  </a:lnTo>
                  <a:lnTo>
                    <a:pt x="114" y="96"/>
                  </a:lnTo>
                  <a:lnTo>
                    <a:pt x="156" y="96"/>
                  </a:lnTo>
                  <a:lnTo>
                    <a:pt x="150" y="96"/>
                  </a:lnTo>
                  <a:lnTo>
                    <a:pt x="144" y="90"/>
                  </a:lnTo>
                  <a:lnTo>
                    <a:pt x="144" y="84"/>
                  </a:lnTo>
                  <a:lnTo>
                    <a:pt x="144" y="36"/>
                  </a:lnTo>
                  <a:lnTo>
                    <a:pt x="138" y="12"/>
                  </a:lnTo>
                  <a:lnTo>
                    <a:pt x="132" y="6"/>
                  </a:lnTo>
                  <a:lnTo>
                    <a:pt x="120" y="0"/>
                  </a:lnTo>
                  <a:lnTo>
                    <a:pt x="96" y="6"/>
                  </a:lnTo>
                  <a:lnTo>
                    <a:pt x="84" y="18"/>
                  </a:lnTo>
                  <a:lnTo>
                    <a:pt x="78" y="6"/>
                  </a:lnTo>
                  <a:lnTo>
                    <a:pt x="66" y="0"/>
                  </a:lnTo>
                  <a:lnTo>
                    <a:pt x="54" y="6"/>
                  </a:lnTo>
                  <a:lnTo>
                    <a:pt x="36" y="12"/>
                  </a:lnTo>
                  <a:lnTo>
                    <a:pt x="36" y="0"/>
                  </a:lnTo>
                  <a:lnTo>
                    <a:pt x="30" y="0"/>
                  </a:lnTo>
                  <a:lnTo>
                    <a:pt x="18" y="6"/>
                  </a:lnTo>
                  <a:lnTo>
                    <a:pt x="6" y="6"/>
                  </a:lnTo>
                  <a:lnTo>
                    <a:pt x="6" y="12"/>
                  </a:lnTo>
                  <a:lnTo>
                    <a:pt x="12" y="12"/>
                  </a:lnTo>
                  <a:lnTo>
                    <a:pt x="18" y="12"/>
                  </a:lnTo>
                  <a:lnTo>
                    <a:pt x="18" y="24"/>
                  </a:lnTo>
                  <a:lnTo>
                    <a:pt x="18" y="7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705" name="Freeform 79"/>
            <p:cNvSpPr>
              <a:spLocks noEditPoints="1"/>
            </p:cNvSpPr>
            <p:nvPr/>
          </p:nvSpPr>
          <p:spPr>
            <a:xfrm>
              <a:off x="4605" y="2378"/>
              <a:ext cx="108" cy="130"/>
            </a:xfrm>
            <a:custGeom>
              <a:avLst/>
              <a:gdLst>
                <a:gd name="txL" fmla="*/ 0 w 84"/>
                <a:gd name="txT" fmla="*/ 0 h 102"/>
                <a:gd name="txR" fmla="*/ 84 w 84"/>
                <a:gd name="txB" fmla="*/ 102 h 102"/>
              </a:gdLst>
              <a:ahLst/>
              <a:cxnLst>
                <a:cxn ang="0">
                  <a:pos x="88647" y="53072"/>
                </a:cxn>
                <a:cxn ang="0">
                  <a:pos x="74767" y="69066"/>
                </a:cxn>
                <a:cxn ang="0">
                  <a:pos x="55270" y="74211"/>
                </a:cxn>
                <a:cxn ang="0">
                  <a:pos x="40650" y="74211"/>
                </a:cxn>
                <a:cxn ang="0">
                  <a:pos x="34136" y="69066"/>
                </a:cxn>
                <a:cxn ang="0">
                  <a:pos x="27361" y="53072"/>
                </a:cxn>
                <a:cxn ang="0">
                  <a:pos x="20650" y="32179"/>
                </a:cxn>
                <a:cxn ang="0">
                  <a:pos x="88647" y="32179"/>
                </a:cxn>
                <a:cxn ang="0">
                  <a:pos x="88647" y="15782"/>
                </a:cxn>
                <a:cxn ang="0">
                  <a:pos x="74767" y="5890"/>
                </a:cxn>
                <a:cxn ang="0">
                  <a:pos x="47483" y="0"/>
                </a:cxn>
                <a:cxn ang="0">
                  <a:pos x="34136" y="0"/>
                </a:cxn>
                <a:cxn ang="0">
                  <a:pos x="12874" y="10633"/>
                </a:cxn>
                <a:cxn ang="0">
                  <a:pos x="6999" y="26175"/>
                </a:cxn>
                <a:cxn ang="0">
                  <a:pos x="0" y="48193"/>
                </a:cxn>
                <a:cxn ang="0">
                  <a:pos x="6999" y="64110"/>
                </a:cxn>
                <a:cxn ang="0">
                  <a:pos x="12874" y="80117"/>
                </a:cxn>
                <a:cxn ang="0">
                  <a:pos x="27361" y="84907"/>
                </a:cxn>
                <a:cxn ang="0">
                  <a:pos x="47483" y="90922"/>
                </a:cxn>
                <a:cxn ang="0">
                  <a:pos x="67974" y="84907"/>
                </a:cxn>
                <a:cxn ang="0">
                  <a:pos x="82614" y="74211"/>
                </a:cxn>
                <a:cxn ang="0">
                  <a:pos x="88647" y="64110"/>
                </a:cxn>
                <a:cxn ang="0">
                  <a:pos x="95881" y="58227"/>
                </a:cxn>
                <a:cxn ang="0">
                  <a:pos x="88647" y="53072"/>
                </a:cxn>
                <a:cxn ang="0">
                  <a:pos x="20650" y="26175"/>
                </a:cxn>
                <a:cxn ang="0">
                  <a:pos x="27361" y="10633"/>
                </a:cxn>
                <a:cxn ang="0">
                  <a:pos x="40650" y="5890"/>
                </a:cxn>
                <a:cxn ang="0">
                  <a:pos x="55270" y="5890"/>
                </a:cxn>
                <a:cxn ang="0">
                  <a:pos x="61050" y="10633"/>
                </a:cxn>
                <a:cxn ang="0">
                  <a:pos x="67974" y="26175"/>
                </a:cxn>
                <a:cxn ang="0">
                  <a:pos x="20650" y="26175"/>
                </a:cxn>
              </a:cxnLst>
              <a:rect l="txL" t="txT" r="txR" b="txB"/>
              <a:pathLst>
                <a:path w="84" h="102">
                  <a:moveTo>
                    <a:pt x="78" y="60"/>
                  </a:moveTo>
                  <a:lnTo>
                    <a:pt x="66" y="78"/>
                  </a:lnTo>
                  <a:lnTo>
                    <a:pt x="48" y="84"/>
                  </a:lnTo>
                  <a:lnTo>
                    <a:pt x="36" y="84"/>
                  </a:lnTo>
                  <a:lnTo>
                    <a:pt x="30" y="78"/>
                  </a:lnTo>
                  <a:lnTo>
                    <a:pt x="24" y="60"/>
                  </a:lnTo>
                  <a:lnTo>
                    <a:pt x="18" y="36"/>
                  </a:lnTo>
                  <a:lnTo>
                    <a:pt x="78" y="36"/>
                  </a:lnTo>
                  <a:lnTo>
                    <a:pt x="78" y="18"/>
                  </a:lnTo>
                  <a:lnTo>
                    <a:pt x="66" y="6"/>
                  </a:lnTo>
                  <a:lnTo>
                    <a:pt x="42" y="0"/>
                  </a:lnTo>
                  <a:lnTo>
                    <a:pt x="30" y="0"/>
                  </a:lnTo>
                  <a:lnTo>
                    <a:pt x="12" y="12"/>
                  </a:lnTo>
                  <a:lnTo>
                    <a:pt x="6" y="30"/>
                  </a:lnTo>
                  <a:lnTo>
                    <a:pt x="0" y="54"/>
                  </a:lnTo>
                  <a:lnTo>
                    <a:pt x="6" y="72"/>
                  </a:lnTo>
                  <a:lnTo>
                    <a:pt x="12" y="90"/>
                  </a:lnTo>
                  <a:lnTo>
                    <a:pt x="24" y="96"/>
                  </a:lnTo>
                  <a:lnTo>
                    <a:pt x="42" y="102"/>
                  </a:lnTo>
                  <a:lnTo>
                    <a:pt x="60" y="96"/>
                  </a:lnTo>
                  <a:lnTo>
                    <a:pt x="72" y="84"/>
                  </a:lnTo>
                  <a:lnTo>
                    <a:pt x="78" y="72"/>
                  </a:lnTo>
                  <a:lnTo>
                    <a:pt x="84" y="66"/>
                  </a:lnTo>
                  <a:lnTo>
                    <a:pt x="78" y="60"/>
                  </a:lnTo>
                  <a:close/>
                  <a:moveTo>
                    <a:pt x="18" y="30"/>
                  </a:moveTo>
                  <a:lnTo>
                    <a:pt x="24" y="12"/>
                  </a:lnTo>
                  <a:lnTo>
                    <a:pt x="36" y="6"/>
                  </a:lnTo>
                  <a:lnTo>
                    <a:pt x="48" y="6"/>
                  </a:lnTo>
                  <a:lnTo>
                    <a:pt x="54" y="12"/>
                  </a:lnTo>
                  <a:lnTo>
                    <a:pt x="60" y="30"/>
                  </a:lnTo>
                  <a:lnTo>
                    <a:pt x="18"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706" name="Freeform 80"/>
            <p:cNvSpPr/>
            <p:nvPr/>
          </p:nvSpPr>
          <p:spPr>
            <a:xfrm>
              <a:off x="4721" y="2378"/>
              <a:ext cx="122" cy="123"/>
            </a:xfrm>
            <a:custGeom>
              <a:avLst/>
              <a:gdLst>
                <a:gd name="txL" fmla="*/ 0 w 95"/>
                <a:gd name="txT" fmla="*/ 0 h 96"/>
                <a:gd name="txR" fmla="*/ 95 w 95"/>
                <a:gd name="txB" fmla="*/ 96 h 96"/>
              </a:gdLst>
              <a:ahLst/>
              <a:cxnLst>
                <a:cxn ang="0">
                  <a:pos x="12156" y="80437"/>
                </a:cxn>
                <a:cxn ang="0">
                  <a:pos x="12156" y="92333"/>
                </a:cxn>
                <a:cxn ang="0">
                  <a:pos x="0" y="99157"/>
                </a:cxn>
                <a:cxn ang="0">
                  <a:pos x="0" y="99157"/>
                </a:cxn>
                <a:cxn ang="0">
                  <a:pos x="45598" y="99157"/>
                </a:cxn>
                <a:cxn ang="0">
                  <a:pos x="45598" y="99157"/>
                </a:cxn>
                <a:cxn ang="0">
                  <a:pos x="38651" y="92333"/>
                </a:cxn>
                <a:cxn ang="0">
                  <a:pos x="32483" y="87040"/>
                </a:cxn>
                <a:cxn ang="0">
                  <a:pos x="32483" y="24760"/>
                </a:cxn>
                <a:cxn ang="0">
                  <a:pos x="45598" y="11772"/>
                </a:cxn>
                <a:cxn ang="0">
                  <a:pos x="51249" y="11772"/>
                </a:cxn>
                <a:cxn ang="0">
                  <a:pos x="65488" y="18072"/>
                </a:cxn>
                <a:cxn ang="0">
                  <a:pos x="71209" y="30910"/>
                </a:cxn>
                <a:cxn ang="0">
                  <a:pos x="71209" y="80437"/>
                </a:cxn>
                <a:cxn ang="0">
                  <a:pos x="65488" y="92333"/>
                </a:cxn>
                <a:cxn ang="0">
                  <a:pos x="58557" y="99157"/>
                </a:cxn>
                <a:cxn ang="0">
                  <a:pos x="58557" y="99157"/>
                </a:cxn>
                <a:cxn ang="0">
                  <a:pos x="105124" y="99157"/>
                </a:cxn>
                <a:cxn ang="0">
                  <a:pos x="105124" y="99157"/>
                </a:cxn>
                <a:cxn ang="0">
                  <a:pos x="91447" y="92333"/>
                </a:cxn>
                <a:cxn ang="0">
                  <a:pos x="91447" y="80437"/>
                </a:cxn>
                <a:cxn ang="0">
                  <a:pos x="91447" y="30910"/>
                </a:cxn>
                <a:cxn ang="0">
                  <a:pos x="91447" y="18072"/>
                </a:cxn>
                <a:cxn ang="0">
                  <a:pos x="77993" y="6529"/>
                </a:cxn>
                <a:cxn ang="0">
                  <a:pos x="65488" y="0"/>
                </a:cxn>
                <a:cxn ang="0">
                  <a:pos x="51249" y="6529"/>
                </a:cxn>
                <a:cxn ang="0">
                  <a:pos x="32483" y="18072"/>
                </a:cxn>
                <a:cxn ang="0">
                  <a:pos x="32483" y="0"/>
                </a:cxn>
                <a:cxn ang="0">
                  <a:pos x="32483" y="0"/>
                </a:cxn>
                <a:cxn ang="0">
                  <a:pos x="18749" y="6529"/>
                </a:cxn>
                <a:cxn ang="0">
                  <a:pos x="0" y="6529"/>
                </a:cxn>
                <a:cxn ang="0">
                  <a:pos x="0" y="11772"/>
                </a:cxn>
                <a:cxn ang="0">
                  <a:pos x="5368" y="11772"/>
                </a:cxn>
                <a:cxn ang="0">
                  <a:pos x="5368" y="11772"/>
                </a:cxn>
                <a:cxn ang="0">
                  <a:pos x="12156" y="11772"/>
                </a:cxn>
                <a:cxn ang="0">
                  <a:pos x="12156" y="24760"/>
                </a:cxn>
                <a:cxn ang="0">
                  <a:pos x="12156" y="80437"/>
                </a:cxn>
              </a:cxnLst>
              <a:rect l="txL" t="txT" r="txR" b="txB"/>
              <a:pathLst>
                <a:path w="95" h="96">
                  <a:moveTo>
                    <a:pt x="11" y="78"/>
                  </a:moveTo>
                  <a:lnTo>
                    <a:pt x="11" y="90"/>
                  </a:lnTo>
                  <a:lnTo>
                    <a:pt x="0" y="96"/>
                  </a:lnTo>
                  <a:lnTo>
                    <a:pt x="41" y="96"/>
                  </a:lnTo>
                  <a:lnTo>
                    <a:pt x="35" y="90"/>
                  </a:lnTo>
                  <a:lnTo>
                    <a:pt x="29" y="84"/>
                  </a:lnTo>
                  <a:lnTo>
                    <a:pt x="29" y="24"/>
                  </a:lnTo>
                  <a:lnTo>
                    <a:pt x="41" y="12"/>
                  </a:lnTo>
                  <a:lnTo>
                    <a:pt x="47" y="12"/>
                  </a:lnTo>
                  <a:lnTo>
                    <a:pt x="59" y="18"/>
                  </a:lnTo>
                  <a:lnTo>
                    <a:pt x="65" y="30"/>
                  </a:lnTo>
                  <a:lnTo>
                    <a:pt x="65" y="78"/>
                  </a:lnTo>
                  <a:lnTo>
                    <a:pt x="59" y="90"/>
                  </a:lnTo>
                  <a:lnTo>
                    <a:pt x="53" y="96"/>
                  </a:lnTo>
                  <a:lnTo>
                    <a:pt x="95" y="96"/>
                  </a:lnTo>
                  <a:lnTo>
                    <a:pt x="83" y="90"/>
                  </a:lnTo>
                  <a:lnTo>
                    <a:pt x="83" y="78"/>
                  </a:lnTo>
                  <a:lnTo>
                    <a:pt x="83" y="30"/>
                  </a:lnTo>
                  <a:lnTo>
                    <a:pt x="83" y="18"/>
                  </a:lnTo>
                  <a:lnTo>
                    <a:pt x="71" y="6"/>
                  </a:lnTo>
                  <a:lnTo>
                    <a:pt x="59" y="0"/>
                  </a:lnTo>
                  <a:lnTo>
                    <a:pt x="47" y="6"/>
                  </a:lnTo>
                  <a:lnTo>
                    <a:pt x="29" y="18"/>
                  </a:lnTo>
                  <a:lnTo>
                    <a:pt x="29" y="0"/>
                  </a:lnTo>
                  <a:lnTo>
                    <a:pt x="17" y="6"/>
                  </a:lnTo>
                  <a:lnTo>
                    <a:pt x="0" y="6"/>
                  </a:lnTo>
                  <a:lnTo>
                    <a:pt x="0" y="12"/>
                  </a:lnTo>
                  <a:lnTo>
                    <a:pt x="5" y="12"/>
                  </a:lnTo>
                  <a:lnTo>
                    <a:pt x="11" y="12"/>
                  </a:lnTo>
                  <a:lnTo>
                    <a:pt x="11" y="24"/>
                  </a:lnTo>
                  <a:lnTo>
                    <a:pt x="11" y="7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69707" name="Freeform 81"/>
            <p:cNvSpPr/>
            <p:nvPr/>
          </p:nvSpPr>
          <p:spPr>
            <a:xfrm>
              <a:off x="4851" y="2340"/>
              <a:ext cx="69" cy="168"/>
            </a:xfrm>
            <a:custGeom>
              <a:avLst/>
              <a:gdLst>
                <a:gd name="txL" fmla="*/ 0 w 54"/>
                <a:gd name="txT" fmla="*/ 0 h 132"/>
                <a:gd name="txR" fmla="*/ 54 w 54"/>
                <a:gd name="txB" fmla="*/ 132 h 132"/>
              </a:gdLst>
              <a:ahLst/>
              <a:cxnLst>
                <a:cxn ang="0">
                  <a:pos x="45994" y="25391"/>
                </a:cxn>
                <a:cxn ang="0">
                  <a:pos x="29193" y="25391"/>
                </a:cxn>
                <a:cxn ang="0">
                  <a:pos x="29193" y="5723"/>
                </a:cxn>
                <a:cxn ang="0">
                  <a:pos x="29193" y="0"/>
                </a:cxn>
                <a:cxn ang="0">
                  <a:pos x="23252" y="0"/>
                </a:cxn>
                <a:cxn ang="0">
                  <a:pos x="16906" y="10093"/>
                </a:cxn>
                <a:cxn ang="0">
                  <a:pos x="6209" y="20808"/>
                </a:cxn>
                <a:cxn ang="0">
                  <a:pos x="6209" y="25391"/>
                </a:cxn>
                <a:cxn ang="0">
                  <a:pos x="0" y="30960"/>
                </a:cxn>
                <a:cxn ang="0">
                  <a:pos x="0" y="30960"/>
                </a:cxn>
                <a:cxn ang="0">
                  <a:pos x="11145" y="30960"/>
                </a:cxn>
                <a:cxn ang="0">
                  <a:pos x="11145" y="87167"/>
                </a:cxn>
                <a:cxn ang="0">
                  <a:pos x="11145" y="103250"/>
                </a:cxn>
                <a:cxn ang="0">
                  <a:pos x="16906" y="107917"/>
                </a:cxn>
                <a:cxn ang="0">
                  <a:pos x="29193" y="112794"/>
                </a:cxn>
                <a:cxn ang="0">
                  <a:pos x="40237" y="107917"/>
                </a:cxn>
                <a:cxn ang="0">
                  <a:pos x="51414" y="97619"/>
                </a:cxn>
                <a:cxn ang="0">
                  <a:pos x="51414" y="91753"/>
                </a:cxn>
                <a:cxn ang="0">
                  <a:pos x="45994" y="97619"/>
                </a:cxn>
                <a:cxn ang="0">
                  <a:pos x="34532" y="103250"/>
                </a:cxn>
                <a:cxn ang="0">
                  <a:pos x="29193" y="97619"/>
                </a:cxn>
                <a:cxn ang="0">
                  <a:pos x="29193" y="81757"/>
                </a:cxn>
                <a:cxn ang="0">
                  <a:pos x="29193" y="30960"/>
                </a:cxn>
                <a:cxn ang="0">
                  <a:pos x="45994" y="30960"/>
                </a:cxn>
                <a:cxn ang="0">
                  <a:pos x="45994" y="25391"/>
                </a:cxn>
              </a:cxnLst>
              <a:rect l="txL" t="txT" r="txR" b="txB"/>
              <a:pathLst>
                <a:path w="54" h="132">
                  <a:moveTo>
                    <a:pt x="48" y="30"/>
                  </a:moveTo>
                  <a:lnTo>
                    <a:pt x="30" y="30"/>
                  </a:lnTo>
                  <a:lnTo>
                    <a:pt x="30" y="6"/>
                  </a:lnTo>
                  <a:lnTo>
                    <a:pt x="30" y="0"/>
                  </a:lnTo>
                  <a:lnTo>
                    <a:pt x="24" y="0"/>
                  </a:lnTo>
                  <a:lnTo>
                    <a:pt x="18" y="12"/>
                  </a:lnTo>
                  <a:lnTo>
                    <a:pt x="6" y="24"/>
                  </a:lnTo>
                  <a:lnTo>
                    <a:pt x="6" y="30"/>
                  </a:lnTo>
                  <a:lnTo>
                    <a:pt x="0" y="36"/>
                  </a:lnTo>
                  <a:lnTo>
                    <a:pt x="12" y="36"/>
                  </a:lnTo>
                  <a:lnTo>
                    <a:pt x="12" y="102"/>
                  </a:lnTo>
                  <a:lnTo>
                    <a:pt x="12" y="120"/>
                  </a:lnTo>
                  <a:lnTo>
                    <a:pt x="18" y="126"/>
                  </a:lnTo>
                  <a:lnTo>
                    <a:pt x="30" y="132"/>
                  </a:lnTo>
                  <a:lnTo>
                    <a:pt x="42" y="126"/>
                  </a:lnTo>
                  <a:lnTo>
                    <a:pt x="54" y="114"/>
                  </a:lnTo>
                  <a:lnTo>
                    <a:pt x="54" y="108"/>
                  </a:lnTo>
                  <a:lnTo>
                    <a:pt x="48" y="114"/>
                  </a:lnTo>
                  <a:lnTo>
                    <a:pt x="36" y="120"/>
                  </a:lnTo>
                  <a:lnTo>
                    <a:pt x="30" y="114"/>
                  </a:lnTo>
                  <a:lnTo>
                    <a:pt x="30" y="96"/>
                  </a:lnTo>
                  <a:lnTo>
                    <a:pt x="30" y="36"/>
                  </a:lnTo>
                  <a:lnTo>
                    <a:pt x="48" y="36"/>
                  </a:lnTo>
                  <a:lnTo>
                    <a:pt x="48"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grpSp>
      <p:sp>
        <p:nvSpPr>
          <p:cNvPr id="69636" name="Text Box 82"/>
          <p:cNvSpPr txBox="1"/>
          <p:nvPr/>
        </p:nvSpPr>
        <p:spPr>
          <a:xfrm>
            <a:off x="328613" y="5300663"/>
            <a:ext cx="4300537"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000" dirty="0">
                <a:cs typeface="Arial" panose="020B0604020202020204" pitchFamily="34" charset="0"/>
              </a:rPr>
              <a:t>Figure 2.58 A d’Arsonval (</a:t>
            </a:r>
            <a:r>
              <a:rPr lang="zh-CN" altLang="en-US" sz="2000" b="1" dirty="0">
                <a:cs typeface="Arial" panose="020B0604020202020204" pitchFamily="34" charset="0"/>
              </a:rPr>
              <a:t>达松伐尔</a:t>
            </a:r>
            <a:r>
              <a:rPr lang="en-US" altLang="zh-CN" sz="2000" dirty="0">
                <a:cs typeface="Arial" panose="020B0604020202020204" pitchFamily="34" charset="0"/>
              </a:rPr>
              <a:t>) meter movement</a:t>
            </a:r>
            <a:endParaRPr lang="en-US" altLang="zh-CN" sz="2000" dirty="0">
              <a:ea typeface="Arial" panose="020B0604020202020204" pitchFamily="34" charset="0"/>
            </a:endParaRPr>
          </a:p>
        </p:txBody>
      </p:sp>
      <p:sp>
        <p:nvSpPr>
          <p:cNvPr id="69637" name="Text Box 83"/>
          <p:cNvSpPr txBox="1"/>
          <p:nvPr/>
        </p:nvSpPr>
        <p:spPr>
          <a:xfrm>
            <a:off x="5148263" y="5157788"/>
            <a:ext cx="3527425"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000" dirty="0">
                <a:cs typeface="Arial" panose="020B0604020202020204" pitchFamily="34" charset="0"/>
              </a:rPr>
              <a:t>Figure 2.59 Connection of a voltmeter and an ammeter to  an  element</a:t>
            </a:r>
            <a:endParaRPr lang="en-US" altLang="zh-CN" sz="2000" dirty="0">
              <a:ea typeface="Arial" panose="020B0604020202020204" pitchFamily="34" charset="0"/>
            </a:endParaRPr>
          </a:p>
        </p:txBody>
      </p:sp>
      <p:sp>
        <p:nvSpPr>
          <p:cNvPr id="69638" name="Text Box 84"/>
          <p:cNvSpPr txBox="1"/>
          <p:nvPr/>
        </p:nvSpPr>
        <p:spPr>
          <a:xfrm>
            <a:off x="468313" y="765175"/>
            <a:ext cx="3167062" cy="523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FF0000"/>
                </a:solidFill>
                <a:cs typeface="Arial" panose="020B0604020202020204" pitchFamily="34" charset="0"/>
              </a:rPr>
              <a:t>直流电表的设计</a:t>
            </a:r>
            <a:endParaRPr lang="en-US" altLang="zh-CN" sz="2800" b="1" dirty="0">
              <a:solidFill>
                <a:srgbClr val="FF0000"/>
              </a:solidFill>
              <a:ea typeface="Arial" panose="020B0604020202020204" pitchFamily="34" charset="0"/>
            </a:endParaRPr>
          </a:p>
        </p:txBody>
      </p:sp>
      <p:sp>
        <p:nvSpPr>
          <p:cNvPr id="69639"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2" name="文本框 1"/>
          <p:cNvSpPr txBox="1"/>
          <p:nvPr/>
        </p:nvSpPr>
        <p:spPr>
          <a:xfrm>
            <a:off x="5980430" y="332740"/>
            <a:ext cx="2359025" cy="10147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50000"/>
              </a:lnSpc>
            </a:pPr>
            <a:r>
              <a:rPr lang="zh-CN" altLang="en-US" sz="2000"/>
              <a:t>电压表与负载并联</a:t>
            </a:r>
            <a:endParaRPr lang="zh-CN" altLang="en-US" sz="2000"/>
          </a:p>
          <a:p>
            <a:pPr>
              <a:lnSpc>
                <a:spcPct val="150000"/>
              </a:lnSpc>
            </a:pPr>
            <a:r>
              <a:rPr lang="zh-CN" altLang="en-US" sz="2000"/>
              <a:t>电流表与负载串联</a:t>
            </a:r>
            <a:endParaRPr lang="zh-CN"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8895" y="620395"/>
            <a:ext cx="9046210" cy="3886200"/>
          </a:xfrm>
        </p:spPr>
        <p:txBody>
          <a:bodyPr/>
          <a:p>
            <a:pPr lvl="0">
              <a:lnSpc>
                <a:spcPct val="150000"/>
              </a:lnSpc>
            </a:pPr>
            <a:r>
              <a:rPr lang="zh-CN" altLang="en-US" sz="2400" dirty="0">
                <a:sym typeface="+mn-ea"/>
              </a:rPr>
              <a:t>达松伐尔测量转动装置是由一个安装在永磁体两极间枢轴上的可转动铁心线圈组成，当电流流经线圈时，产生转矩，使指针偏转。流过线圈电流的大小决定了指针偏转的幅度，并通过测量转动装置上附加的刻度指示出来。例如：当电表转动装置的额定值为</a:t>
            </a:r>
            <a:r>
              <a:rPr lang="en-US" altLang="zh-CN" sz="2400" dirty="0">
                <a:sym typeface="+mn-ea"/>
              </a:rPr>
              <a:t>1mA, 50</a:t>
            </a:r>
            <a:r>
              <a:rPr lang="zh-CN" altLang="en-US" sz="2400" dirty="0">
                <a:sym typeface="+mn-ea"/>
              </a:rPr>
              <a:t>欧时，线圈流过</a:t>
            </a:r>
            <a:r>
              <a:rPr lang="en-US" altLang="zh-CN" sz="2400" dirty="0">
                <a:sym typeface="+mn-ea"/>
              </a:rPr>
              <a:t>1mA</a:t>
            </a:r>
            <a:r>
              <a:rPr lang="zh-CN" altLang="en-US" sz="2400" dirty="0">
                <a:sym typeface="+mn-ea"/>
              </a:rPr>
              <a:t>的电流就会使电表转动装置发生满刻度偏转。</a:t>
            </a:r>
            <a:endParaRPr lang="en-US" altLang="zh-CN" sz="2400" dirty="0"/>
          </a:p>
          <a:p>
            <a:pPr lvl="0">
              <a:lnSpc>
                <a:spcPct val="150000"/>
              </a:lnSpc>
            </a:pPr>
            <a:r>
              <a:rPr lang="zh-CN" altLang="en-US" sz="2400" dirty="0">
                <a:sym typeface="+mn-ea"/>
              </a:rPr>
              <a:t>在达松伐尔测量装置的基础上附加必要的电路，就可以构成电流比、电压表或者电阻表。这里提一下万用表：能够测量电压、电流和电阻的仪表是万用表</a:t>
            </a:r>
            <a:endParaRPr lang="en-US" altLang="zh-CN" sz="2400" dirty="0"/>
          </a:p>
          <a:p>
            <a:endParaRPr lang="en-US" altLang="zh-CN" sz="2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1683" name="Picture 7"/>
          <p:cNvPicPr>
            <a:picLocks noChangeAspect="1"/>
          </p:cNvPicPr>
          <p:nvPr/>
        </p:nvPicPr>
        <p:blipFill>
          <a:blip r:embed="rId1"/>
          <a:stretch>
            <a:fillRect/>
          </a:stretch>
        </p:blipFill>
        <p:spPr>
          <a:xfrm>
            <a:off x="518795" y="450850"/>
            <a:ext cx="5955030" cy="2874645"/>
          </a:xfrm>
          <a:prstGeom prst="rect">
            <a:avLst/>
          </a:prstGeom>
          <a:noFill/>
          <a:ln w="9525">
            <a:noFill/>
          </a:ln>
        </p:spPr>
      </p:pic>
      <p:pic>
        <p:nvPicPr>
          <p:cNvPr id="71684" name="Picture 8"/>
          <p:cNvPicPr>
            <a:picLocks noChangeAspect="1"/>
          </p:cNvPicPr>
          <p:nvPr/>
        </p:nvPicPr>
        <p:blipFill>
          <a:blip r:embed="rId2"/>
          <a:stretch>
            <a:fillRect/>
          </a:stretch>
        </p:blipFill>
        <p:spPr>
          <a:xfrm>
            <a:off x="2313305" y="3392805"/>
            <a:ext cx="6534785" cy="2880360"/>
          </a:xfrm>
          <a:prstGeom prst="rect">
            <a:avLst/>
          </a:prstGeom>
          <a:noFill/>
          <a:ln w="9525">
            <a:noFill/>
          </a:ln>
        </p:spPr>
      </p:pic>
      <p:sp>
        <p:nvSpPr>
          <p:cNvPr id="71685" name="Text Box 9"/>
          <p:cNvSpPr txBox="1"/>
          <p:nvPr/>
        </p:nvSpPr>
        <p:spPr>
          <a:xfrm>
            <a:off x="4684713" y="2946400"/>
            <a:ext cx="647700" cy="3048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400" dirty="0">
                <a:cs typeface="Arial" panose="020B0604020202020204" pitchFamily="34" charset="0"/>
              </a:rPr>
              <a:t>(a)</a:t>
            </a:r>
            <a:endParaRPr lang="en-US" altLang="zh-CN" sz="1400" dirty="0">
              <a:ea typeface="Arial" panose="020B0604020202020204" pitchFamily="34" charset="0"/>
            </a:endParaRPr>
          </a:p>
        </p:txBody>
      </p:sp>
      <p:sp>
        <p:nvSpPr>
          <p:cNvPr id="71686" name="Text Box 10"/>
          <p:cNvSpPr txBox="1"/>
          <p:nvPr/>
        </p:nvSpPr>
        <p:spPr>
          <a:xfrm>
            <a:off x="1979613" y="6284913"/>
            <a:ext cx="6707187" cy="3397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600" dirty="0">
                <a:cs typeface="Arial" panose="020B0604020202020204" pitchFamily="34" charset="0"/>
              </a:rPr>
              <a:t>Figure2.60 Voltmeters: (a) single-range type, (b) multiple-range type</a:t>
            </a:r>
            <a:endParaRPr lang="en-US" altLang="zh-CN" sz="1600" dirty="0">
              <a:ea typeface="Arial" panose="020B0604020202020204" pitchFamily="34" charset="0"/>
            </a:endParaRPr>
          </a:p>
        </p:txBody>
      </p:sp>
      <p:sp>
        <p:nvSpPr>
          <p:cNvPr id="71687" name="Text Box 11"/>
          <p:cNvSpPr txBox="1"/>
          <p:nvPr/>
        </p:nvSpPr>
        <p:spPr>
          <a:xfrm>
            <a:off x="4787900" y="5838825"/>
            <a:ext cx="792163" cy="3048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400" dirty="0">
                <a:cs typeface="Arial" panose="020B0604020202020204" pitchFamily="34" charset="0"/>
              </a:rPr>
              <a:t>(b)</a:t>
            </a:r>
            <a:endParaRPr lang="en-US" altLang="zh-CN" sz="1400" dirty="0">
              <a:ea typeface="Arial" panose="020B0604020202020204" pitchFamily="34" charset="0"/>
            </a:endParaRPr>
          </a:p>
        </p:txBody>
      </p:sp>
      <p:sp>
        <p:nvSpPr>
          <p:cNvPr id="71688" name="Text Box 12"/>
          <p:cNvSpPr txBox="1"/>
          <p:nvPr/>
        </p:nvSpPr>
        <p:spPr>
          <a:xfrm>
            <a:off x="214313" y="620713"/>
            <a:ext cx="1765300"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rgbClr val="FF0000"/>
                </a:solidFill>
                <a:cs typeface="Arial" panose="020B0604020202020204" pitchFamily="34" charset="0"/>
              </a:rPr>
              <a:t>Voltmeters</a:t>
            </a:r>
            <a:endParaRPr lang="en-US" altLang="zh-CN" sz="2400" b="1" i="1" dirty="0">
              <a:solidFill>
                <a:srgbClr val="FF0000"/>
              </a:solidFill>
              <a:ea typeface="Arial" panose="020B0604020202020204" pitchFamily="34" charset="0"/>
            </a:endParaRPr>
          </a:p>
        </p:txBody>
      </p:sp>
      <p:sp>
        <p:nvSpPr>
          <p:cNvPr id="71689" name="文本框 1"/>
          <p:cNvSpPr txBox="1"/>
          <p:nvPr/>
        </p:nvSpPr>
        <p:spPr>
          <a:xfrm>
            <a:off x="420688" y="4149725"/>
            <a:ext cx="1892300"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b="1" i="1" dirty="0">
                <a:solidFill>
                  <a:srgbClr val="0000FF"/>
                </a:solidFill>
                <a:latin typeface="Times New Roman" panose="02020603050405020304" pitchFamily="18" charset="0"/>
                <a:cs typeface="Times New Roman" panose="02020603050405020304" pitchFamily="18" charset="0"/>
              </a:rPr>
              <a:t>R</a:t>
            </a:r>
            <a:r>
              <a:rPr lang="en-US" altLang="zh-CN" sz="2000" b="1" baseline="-25000" dirty="0">
                <a:solidFill>
                  <a:srgbClr val="0000FF"/>
                </a:solidFill>
                <a:latin typeface="Times New Roman" panose="02020603050405020304" pitchFamily="18" charset="0"/>
                <a:cs typeface="Times New Roman" panose="02020603050405020304" pitchFamily="18" charset="0"/>
              </a:rPr>
              <a:t>1</a:t>
            </a:r>
            <a:r>
              <a:rPr lang="en-US" altLang="zh-CN" sz="2000" b="1" dirty="0">
                <a:solidFill>
                  <a:srgbClr val="0000FF"/>
                </a:solidFill>
                <a:latin typeface="Times New Roman" panose="02020603050405020304" pitchFamily="18" charset="0"/>
                <a:cs typeface="Times New Roman" panose="02020603050405020304" pitchFamily="18" charset="0"/>
              </a:rPr>
              <a:t>, </a:t>
            </a:r>
            <a:r>
              <a:rPr lang="en-US" altLang="zh-CN" sz="2000" b="1" baseline="-25000" dirty="0">
                <a:solidFill>
                  <a:srgbClr val="0000FF"/>
                </a:solidFill>
                <a:latin typeface="Times New Roman" panose="02020603050405020304" pitchFamily="18" charset="0"/>
                <a:cs typeface="Times New Roman" panose="02020603050405020304" pitchFamily="18" charset="0"/>
              </a:rPr>
              <a:t>2</a:t>
            </a:r>
            <a:r>
              <a:rPr lang="en-US" altLang="zh-CN" sz="2000" b="1" dirty="0">
                <a:solidFill>
                  <a:srgbClr val="0000FF"/>
                </a:solidFill>
                <a:latin typeface="Times New Roman" panose="02020603050405020304" pitchFamily="18" charset="0"/>
                <a:cs typeface="Times New Roman" panose="02020603050405020304" pitchFamily="18" charset="0"/>
              </a:rPr>
              <a:t>, </a:t>
            </a:r>
            <a:r>
              <a:rPr lang="en-US" altLang="zh-CN" sz="2000" b="1" baseline="-25000" dirty="0">
                <a:solidFill>
                  <a:srgbClr val="0000FF"/>
                </a:solidFill>
                <a:latin typeface="Times New Roman" panose="02020603050405020304" pitchFamily="18" charset="0"/>
                <a:cs typeface="Times New Roman" panose="02020603050405020304" pitchFamily="18" charset="0"/>
              </a:rPr>
              <a:t>3</a:t>
            </a:r>
            <a:r>
              <a:rPr lang="zh-CN" altLang="en-US" sz="2000" dirty="0">
                <a:solidFill>
                  <a:srgbClr val="0000FF"/>
                </a:solidFill>
                <a:cs typeface="Arial" panose="020B0604020202020204" pitchFamily="34" charset="0"/>
              </a:rPr>
              <a:t>的关系？</a:t>
            </a:r>
            <a:endParaRPr lang="zh-CN" altLang="en-US" sz="2000" dirty="0">
              <a:solidFill>
                <a:srgbClr val="0000FF"/>
              </a:solidFill>
              <a:ea typeface="Arial" panose="020B0604020202020204" pitchFamily="34" charset="0"/>
            </a:endParaRPr>
          </a:p>
        </p:txBody>
      </p:sp>
      <p:sp>
        <p:nvSpPr>
          <p:cNvPr id="71690"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69647" name="TextBox 1"/>
          <p:cNvSpPr txBox="1"/>
          <p:nvPr/>
        </p:nvSpPr>
        <p:spPr>
          <a:xfrm>
            <a:off x="395288" y="5373688"/>
            <a:ext cx="1338262" cy="369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dirty="0">
                <a:cs typeface="Arial" panose="020B0604020202020204" pitchFamily="34" charset="0"/>
              </a:rPr>
              <a:t>R3&gt;R2&gt;R1</a:t>
            </a:r>
            <a:endParaRPr lang="en-US" altLang="zh-CN" sz="1800" dirty="0">
              <a:ea typeface="Arial" panose="020B0604020202020204" pitchFamily="34" charset="0"/>
            </a:endParaRPr>
          </a:p>
        </p:txBody>
      </p:sp>
      <p:sp>
        <p:nvSpPr>
          <p:cNvPr id="2" name="文本框 1"/>
          <p:cNvSpPr txBox="1"/>
          <p:nvPr/>
        </p:nvSpPr>
        <p:spPr>
          <a:xfrm>
            <a:off x="6659880" y="260350"/>
            <a:ext cx="2399665" cy="1753235"/>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p>
            <a:pPr lvl="0">
              <a:lnSpc>
                <a:spcPct val="150000"/>
              </a:lnSpc>
            </a:pPr>
            <a:r>
              <a:rPr lang="zh-CN" altLang="en-US" dirty="0">
                <a:sym typeface="+mn-ea"/>
              </a:rPr>
              <a:t>图</a:t>
            </a:r>
            <a:r>
              <a:rPr lang="en-US" altLang="zh-CN" dirty="0">
                <a:sym typeface="+mn-ea"/>
              </a:rPr>
              <a:t>b</a:t>
            </a:r>
            <a:r>
              <a:rPr lang="zh-CN" altLang="en-US" dirty="0">
                <a:sym typeface="+mn-ea"/>
              </a:rPr>
              <a:t>中</a:t>
            </a:r>
            <a:r>
              <a:rPr lang="en-US" altLang="zh-CN" dirty="0">
                <a:sym typeface="+mn-ea"/>
              </a:rPr>
              <a:t>R3&gt;R2&gt;R1</a:t>
            </a:r>
            <a:r>
              <a:rPr lang="zh-CN" altLang="en-US" dirty="0">
                <a:sym typeface="+mn-ea"/>
              </a:rPr>
              <a:t>，电阻越大，上面分得的电压越大，量程越大</a:t>
            </a:r>
            <a:endParaRPr lang="en-US" altLang="zh-CN" dirty="0"/>
          </a:p>
          <a:p>
            <a:pPr lvl="0">
              <a:lnSpc>
                <a:spcPct val="150000"/>
              </a:lnSpc>
            </a:pPr>
            <a:r>
              <a:rPr lang="en-US" altLang="zh-CN" dirty="0">
                <a:sym typeface="+mn-ea"/>
              </a:rPr>
              <a:t>Mutiplier: </a:t>
            </a:r>
            <a:r>
              <a:rPr lang="zh-CN" altLang="en-US" dirty="0">
                <a:sym typeface="+mn-ea"/>
              </a:rPr>
              <a:t>量程扩展</a:t>
            </a:r>
            <a:endParaRPr lang="zh-CN" altLang="en-US"/>
          </a:p>
        </p:txBody>
      </p:sp>
      <p:sp>
        <p:nvSpPr>
          <p:cNvPr id="3" name="文本框 2"/>
          <p:cNvSpPr txBox="1"/>
          <p:nvPr/>
        </p:nvSpPr>
        <p:spPr>
          <a:xfrm>
            <a:off x="6602730" y="2311400"/>
            <a:ext cx="2498725" cy="9220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p>
            <a:r>
              <a:rPr lang="zh-CN" altLang="en-US"/>
              <a:t>电压表串联</a:t>
            </a:r>
            <a:r>
              <a:rPr lang="en-US" altLang="zh-CN"/>
              <a:t>Rm,</a:t>
            </a:r>
            <a:r>
              <a:rPr lang="zh-CN" altLang="en-US"/>
              <a:t>其阻值</a:t>
            </a:r>
            <a:r>
              <a:rPr lang="zh-CN" altLang="en-US"/>
              <a:t>理论上为无穷大，以</a:t>
            </a:r>
            <a:r>
              <a:rPr lang="zh-CN" altLang="en-US"/>
              <a:t>使得分流趋于</a:t>
            </a:r>
            <a:r>
              <a:rPr lang="en-US" altLang="zh-CN"/>
              <a:t>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7" grpId="0"/>
      <p:bldP spid="3" grpId="0" bldLvl="0" animBg="1"/>
      <p:bldP spid="3" grpId="1"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1187450" y="692150"/>
            <a:ext cx="3576955" cy="2411095"/>
          </a:xfrm>
          <a:prstGeom prst="rect">
            <a:avLst/>
          </a:prstGeom>
        </p:spPr>
      </p:pic>
      <p:sp>
        <p:nvSpPr>
          <p:cNvPr id="5" name="文本框 4"/>
          <p:cNvSpPr txBox="1"/>
          <p:nvPr/>
        </p:nvSpPr>
        <p:spPr>
          <a:xfrm>
            <a:off x="1187450" y="3572510"/>
            <a:ext cx="5010785" cy="1753235"/>
          </a:xfrm>
          <a:prstGeom prst="rect">
            <a:avLst/>
          </a:prstGeom>
        </p:spPr>
        <p:style>
          <a:lnRef idx="2">
            <a:schemeClr val="dk1"/>
          </a:lnRef>
          <a:fillRef idx="1">
            <a:schemeClr val="lt1"/>
          </a:fillRef>
          <a:effectRef idx="0">
            <a:schemeClr val="dk1"/>
          </a:effectRef>
          <a:fontRef idx="minor">
            <a:schemeClr val="dk1"/>
          </a:fontRef>
        </p:style>
        <p:txBody>
          <a:bodyPr wrap="square" rtlCol="0" anchor="t">
            <a:spAutoFit/>
          </a:bodyPr>
          <a:p>
            <a:pPr lvl="0">
              <a:lnSpc>
                <a:spcPct val="150000"/>
              </a:lnSpc>
            </a:pPr>
            <a:r>
              <a:rPr lang="zh-CN" altLang="en-US" sz="2400" dirty="0">
                <a:sym typeface="+mn-ea"/>
              </a:rPr>
              <a:t>图</a:t>
            </a:r>
            <a:r>
              <a:rPr lang="en-US" altLang="zh-CN" sz="2400" dirty="0">
                <a:sym typeface="+mn-ea"/>
              </a:rPr>
              <a:t>b</a:t>
            </a:r>
            <a:r>
              <a:rPr lang="zh-CN" altLang="en-US" sz="2400" dirty="0">
                <a:sym typeface="+mn-ea"/>
              </a:rPr>
              <a:t>中</a:t>
            </a:r>
            <a:r>
              <a:rPr lang="en-US" altLang="zh-CN" sz="2400" dirty="0">
                <a:sym typeface="+mn-ea"/>
              </a:rPr>
              <a:t>R3&gt;R2&gt;R1</a:t>
            </a:r>
            <a:r>
              <a:rPr lang="zh-CN" altLang="en-US" sz="2400" dirty="0">
                <a:sym typeface="+mn-ea"/>
              </a:rPr>
              <a:t>，电阻越大，上面分得的电压越大，量程越大。</a:t>
            </a:r>
            <a:endParaRPr lang="en-US" altLang="zh-CN" sz="2400" dirty="0"/>
          </a:p>
          <a:p>
            <a:pPr lvl="0">
              <a:lnSpc>
                <a:spcPct val="150000"/>
              </a:lnSpc>
            </a:pPr>
            <a:r>
              <a:rPr lang="en-US" altLang="zh-CN" sz="2400" dirty="0">
                <a:sym typeface="+mn-ea"/>
              </a:rPr>
              <a:t>Mutiplier: </a:t>
            </a:r>
            <a:r>
              <a:rPr lang="zh-CN" altLang="en-US" sz="2400" dirty="0">
                <a:sym typeface="+mn-ea"/>
              </a:rPr>
              <a:t>量程扩展</a:t>
            </a:r>
            <a:endParaRPr lang="zh-CN" altLang="en-US" sz="2400" dirty="0">
              <a:sym typeface="+mn-ea"/>
            </a:endParaRPr>
          </a:p>
        </p:txBody>
      </p:sp>
      <p:sp>
        <p:nvSpPr>
          <p:cNvPr id="6" name="文本框 5"/>
          <p:cNvSpPr txBox="1"/>
          <p:nvPr/>
        </p:nvSpPr>
        <p:spPr>
          <a:xfrm>
            <a:off x="4932045" y="1052195"/>
            <a:ext cx="3634740" cy="1383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50000"/>
              </a:lnSpc>
            </a:pPr>
            <a:r>
              <a:rPr lang="en-US" altLang="zh-CN" sz="2800"/>
              <a:t>Rn</a:t>
            </a:r>
            <a:r>
              <a:rPr lang="zh-CN" altLang="en-US" sz="2800"/>
              <a:t>与</a:t>
            </a:r>
            <a:r>
              <a:rPr lang="en-US" altLang="zh-CN" sz="2800"/>
              <a:t>Rm</a:t>
            </a:r>
            <a:r>
              <a:rPr lang="zh-CN" altLang="en-US" sz="2800"/>
              <a:t>串联。</a:t>
            </a:r>
            <a:endParaRPr lang="zh-CN" altLang="en-US" sz="2800"/>
          </a:p>
          <a:p>
            <a:pPr>
              <a:lnSpc>
                <a:spcPct val="150000"/>
              </a:lnSpc>
            </a:pPr>
            <a:r>
              <a:rPr lang="zh-CN" altLang="en-US" sz="2800"/>
              <a:t>量程越大，</a:t>
            </a:r>
            <a:r>
              <a:rPr lang="en-US" altLang="zh-CN" sz="2800"/>
              <a:t>Rn</a:t>
            </a:r>
            <a:r>
              <a:rPr lang="zh-CN" altLang="en-US" sz="2800"/>
              <a:t>越大</a:t>
            </a:r>
            <a:endParaRPr lang="zh-CN" altLang="en-US" sz="280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3730" name="Picture 2"/>
          <p:cNvPicPr>
            <a:picLocks noChangeAspect="1"/>
          </p:cNvPicPr>
          <p:nvPr/>
        </p:nvPicPr>
        <p:blipFill>
          <a:blip r:embed="rId1"/>
          <a:stretch>
            <a:fillRect/>
          </a:stretch>
        </p:blipFill>
        <p:spPr>
          <a:xfrm>
            <a:off x="288290" y="1728470"/>
            <a:ext cx="4337050" cy="3542030"/>
          </a:xfrm>
          <a:prstGeom prst="rect">
            <a:avLst/>
          </a:prstGeom>
          <a:noFill/>
          <a:ln w="9525">
            <a:noFill/>
          </a:ln>
        </p:spPr>
      </p:pic>
      <p:pic>
        <p:nvPicPr>
          <p:cNvPr id="73731" name="Picture 3"/>
          <p:cNvPicPr>
            <a:picLocks noChangeAspect="1"/>
          </p:cNvPicPr>
          <p:nvPr/>
        </p:nvPicPr>
        <p:blipFill>
          <a:blip r:embed="rId2"/>
          <a:stretch>
            <a:fillRect/>
          </a:stretch>
        </p:blipFill>
        <p:spPr>
          <a:xfrm>
            <a:off x="4989830" y="2421255"/>
            <a:ext cx="4049395" cy="3679190"/>
          </a:xfrm>
          <a:prstGeom prst="rect">
            <a:avLst/>
          </a:prstGeom>
          <a:noFill/>
          <a:ln w="9525">
            <a:noFill/>
          </a:ln>
        </p:spPr>
      </p:pic>
      <p:sp>
        <p:nvSpPr>
          <p:cNvPr id="73732" name="Text Box 4"/>
          <p:cNvSpPr txBox="1"/>
          <p:nvPr/>
        </p:nvSpPr>
        <p:spPr>
          <a:xfrm>
            <a:off x="611188" y="765175"/>
            <a:ext cx="2911475" cy="461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rgbClr val="FF0000"/>
                </a:solidFill>
                <a:cs typeface="Arial" panose="020B0604020202020204" pitchFamily="34" charset="0"/>
              </a:rPr>
              <a:t>Ammeters (</a:t>
            </a:r>
            <a:r>
              <a:rPr lang="zh-CN" altLang="en-US" sz="2400" b="1" i="1" dirty="0">
                <a:solidFill>
                  <a:srgbClr val="FF0000"/>
                </a:solidFill>
                <a:cs typeface="Arial" panose="020B0604020202020204" pitchFamily="34" charset="0"/>
              </a:rPr>
              <a:t>电流表</a:t>
            </a:r>
            <a:r>
              <a:rPr lang="en-US" altLang="zh-CN" sz="2400" b="1" i="1" dirty="0">
                <a:solidFill>
                  <a:srgbClr val="FF0000"/>
                </a:solidFill>
                <a:cs typeface="Arial" panose="020B0604020202020204" pitchFamily="34" charset="0"/>
              </a:rPr>
              <a:t>)</a:t>
            </a:r>
            <a:endParaRPr lang="en-US" altLang="zh-CN" sz="2400" b="1" i="1" dirty="0">
              <a:solidFill>
                <a:srgbClr val="FF0000"/>
              </a:solidFill>
              <a:ea typeface="Arial" panose="020B0604020202020204" pitchFamily="34" charset="0"/>
            </a:endParaRPr>
          </a:p>
        </p:txBody>
      </p:sp>
      <p:sp>
        <p:nvSpPr>
          <p:cNvPr id="73733" name="Text Box 5"/>
          <p:cNvSpPr txBox="1"/>
          <p:nvPr/>
        </p:nvSpPr>
        <p:spPr>
          <a:xfrm>
            <a:off x="1054100" y="5970588"/>
            <a:ext cx="7272338" cy="3381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600" dirty="0">
                <a:cs typeface="Arial" panose="020B0604020202020204" pitchFamily="34" charset="0"/>
              </a:rPr>
              <a:t>Figure 2.61    Ammeters: (a) single-range type,   (b) multiple-range type</a:t>
            </a:r>
            <a:endParaRPr lang="en-US" altLang="zh-CN" sz="1600" dirty="0">
              <a:ea typeface="Arial" panose="020B0604020202020204" pitchFamily="34" charset="0"/>
            </a:endParaRPr>
          </a:p>
        </p:txBody>
      </p:sp>
      <p:sp>
        <p:nvSpPr>
          <p:cNvPr id="73734" name="文本框 5"/>
          <p:cNvSpPr txBox="1"/>
          <p:nvPr/>
        </p:nvSpPr>
        <p:spPr>
          <a:xfrm>
            <a:off x="5243513" y="1727200"/>
            <a:ext cx="1765300"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b="1" i="1" dirty="0">
                <a:solidFill>
                  <a:srgbClr val="0000FF"/>
                </a:solidFill>
                <a:latin typeface="Times New Roman" panose="02020603050405020304" pitchFamily="18" charset="0"/>
                <a:cs typeface="Times New Roman" panose="02020603050405020304" pitchFamily="18" charset="0"/>
              </a:rPr>
              <a:t>R</a:t>
            </a:r>
            <a:r>
              <a:rPr lang="en-US" altLang="zh-CN" sz="2000" b="1" baseline="-25000" dirty="0">
                <a:solidFill>
                  <a:srgbClr val="0000FF"/>
                </a:solidFill>
                <a:latin typeface="Times New Roman" panose="02020603050405020304" pitchFamily="18" charset="0"/>
                <a:cs typeface="Times New Roman" panose="02020603050405020304" pitchFamily="18" charset="0"/>
              </a:rPr>
              <a:t>1</a:t>
            </a:r>
            <a:r>
              <a:rPr lang="en-US" altLang="zh-CN" sz="2000" b="1" dirty="0">
                <a:solidFill>
                  <a:srgbClr val="0000FF"/>
                </a:solidFill>
                <a:latin typeface="Times New Roman" panose="02020603050405020304" pitchFamily="18" charset="0"/>
                <a:cs typeface="Times New Roman" panose="02020603050405020304" pitchFamily="18" charset="0"/>
              </a:rPr>
              <a:t>,</a:t>
            </a:r>
            <a:r>
              <a:rPr lang="en-US" altLang="zh-CN" sz="2000" b="1" baseline="-25000" dirty="0">
                <a:solidFill>
                  <a:srgbClr val="0000FF"/>
                </a:solidFill>
                <a:latin typeface="Times New Roman" panose="02020603050405020304" pitchFamily="18" charset="0"/>
                <a:cs typeface="Times New Roman" panose="02020603050405020304" pitchFamily="18" charset="0"/>
              </a:rPr>
              <a:t>2</a:t>
            </a:r>
            <a:r>
              <a:rPr lang="en-US" altLang="zh-CN" sz="2000" b="1" dirty="0">
                <a:solidFill>
                  <a:srgbClr val="0000FF"/>
                </a:solidFill>
                <a:latin typeface="Times New Roman" panose="02020603050405020304" pitchFamily="18" charset="0"/>
                <a:cs typeface="Times New Roman" panose="02020603050405020304" pitchFamily="18" charset="0"/>
              </a:rPr>
              <a:t>,</a:t>
            </a:r>
            <a:r>
              <a:rPr lang="en-US" altLang="zh-CN" sz="2000" b="1" baseline="-25000" dirty="0">
                <a:solidFill>
                  <a:srgbClr val="0000FF"/>
                </a:solidFill>
                <a:latin typeface="Times New Roman" panose="02020603050405020304" pitchFamily="18" charset="0"/>
                <a:cs typeface="Times New Roman" panose="02020603050405020304" pitchFamily="18" charset="0"/>
              </a:rPr>
              <a:t>3</a:t>
            </a:r>
            <a:r>
              <a:rPr lang="zh-CN" altLang="en-US" sz="2000" dirty="0">
                <a:solidFill>
                  <a:srgbClr val="0000FF"/>
                </a:solidFill>
                <a:cs typeface="Arial" panose="020B0604020202020204" pitchFamily="34" charset="0"/>
              </a:rPr>
              <a:t>的关系？</a:t>
            </a:r>
            <a:endParaRPr lang="zh-CN" altLang="en-US" sz="2000" dirty="0">
              <a:solidFill>
                <a:srgbClr val="0000FF"/>
              </a:solidFill>
              <a:ea typeface="Arial" panose="020B0604020202020204" pitchFamily="34" charset="0"/>
            </a:endParaRPr>
          </a:p>
        </p:txBody>
      </p:sp>
      <p:sp>
        <p:nvSpPr>
          <p:cNvPr id="73735"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71688" name="TextBox 1"/>
          <p:cNvSpPr txBox="1"/>
          <p:nvPr/>
        </p:nvSpPr>
        <p:spPr>
          <a:xfrm>
            <a:off x="7124700" y="1758950"/>
            <a:ext cx="1339850"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dirty="0">
                <a:cs typeface="Arial" panose="020B0604020202020204" pitchFamily="34" charset="0"/>
              </a:rPr>
              <a:t>R1&gt;R2&gt;R3</a:t>
            </a:r>
            <a:endParaRPr lang="en-US" altLang="zh-CN" sz="1800" dirty="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6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8"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179705" y="764540"/>
            <a:ext cx="8763000" cy="467360"/>
          </a:xfrm>
          <a:prstGeom prst="rect">
            <a:avLst/>
          </a:prstGeom>
        </p:spPr>
      </p:pic>
      <p:sp>
        <p:nvSpPr>
          <p:cNvPr id="5" name="文本框 4"/>
          <p:cNvSpPr txBox="1"/>
          <p:nvPr/>
        </p:nvSpPr>
        <p:spPr>
          <a:xfrm>
            <a:off x="320675" y="1412240"/>
            <a:ext cx="8375650" cy="52197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p>
            <a:r>
              <a:rPr lang="zh-CN" altLang="en-US" sz="2800"/>
              <a:t>电流表并联</a:t>
            </a:r>
            <a:r>
              <a:rPr lang="en-US" altLang="zh-CN" sz="2800"/>
              <a:t>Rm,</a:t>
            </a:r>
            <a:r>
              <a:rPr lang="zh-CN" altLang="en-US" sz="2800"/>
              <a:t>其阻值理论上为</a:t>
            </a:r>
            <a:r>
              <a:rPr lang="en-US" altLang="zh-CN" sz="2800"/>
              <a:t>0</a:t>
            </a:r>
            <a:r>
              <a:rPr lang="zh-CN" altLang="en-US" sz="2800"/>
              <a:t>，以使得分压趋于</a:t>
            </a:r>
            <a:r>
              <a:rPr lang="en-US" altLang="zh-CN" sz="2800"/>
              <a:t>0</a:t>
            </a:r>
            <a:endParaRPr lang="en-US" altLang="zh-CN" sz="2800"/>
          </a:p>
        </p:txBody>
      </p:sp>
      <p:pic>
        <p:nvPicPr>
          <p:cNvPr id="6" name="图片 5"/>
          <p:cNvPicPr>
            <a:picLocks noChangeAspect="1"/>
          </p:cNvPicPr>
          <p:nvPr/>
        </p:nvPicPr>
        <p:blipFill>
          <a:blip r:embed="rId2"/>
          <a:stretch>
            <a:fillRect/>
          </a:stretch>
        </p:blipFill>
        <p:spPr>
          <a:xfrm>
            <a:off x="1043940" y="2420620"/>
            <a:ext cx="4733925" cy="3362960"/>
          </a:xfrm>
          <a:prstGeom prst="rect">
            <a:avLst/>
          </a:prstGeom>
          <a:ln>
            <a:solidFill>
              <a:schemeClr val="accent1"/>
            </a:solidFill>
          </a:ln>
        </p:spPr>
      </p:pic>
      <p:sp>
        <p:nvSpPr>
          <p:cNvPr id="7" name="文本框 6"/>
          <p:cNvSpPr txBox="1"/>
          <p:nvPr/>
        </p:nvSpPr>
        <p:spPr>
          <a:xfrm>
            <a:off x="6021070" y="2922905"/>
            <a:ext cx="2976245" cy="4603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p>
            <a:r>
              <a:rPr lang="zh-CN" altLang="en-US" sz="2400"/>
              <a:t>量程越大，</a:t>
            </a:r>
            <a:r>
              <a:rPr lang="en-US" altLang="zh-CN" sz="2400"/>
              <a:t>Rn</a:t>
            </a:r>
            <a:r>
              <a:rPr lang="zh-CN" altLang="en-US" sz="2400"/>
              <a:t>约小</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Text Box 2"/>
          <p:cNvSpPr txBox="1"/>
          <p:nvPr/>
        </p:nvSpPr>
        <p:spPr>
          <a:xfrm>
            <a:off x="468313" y="620713"/>
            <a:ext cx="3529012"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rgbClr val="FF0000"/>
                </a:solidFill>
                <a:cs typeface="Arial" panose="020B0604020202020204" pitchFamily="34" charset="0"/>
              </a:rPr>
              <a:t>Measuring</a:t>
            </a:r>
            <a:r>
              <a:rPr lang="en-US" altLang="zh-CN" sz="2400" b="1" i="1" dirty="0">
                <a:cs typeface="Arial" panose="020B0604020202020204" pitchFamily="34" charset="0"/>
              </a:rPr>
              <a:t> </a:t>
            </a:r>
            <a:r>
              <a:rPr lang="en-US" altLang="zh-CN" sz="2400" b="1" i="1" dirty="0">
                <a:solidFill>
                  <a:srgbClr val="FF0000"/>
                </a:solidFill>
                <a:cs typeface="Arial" panose="020B0604020202020204" pitchFamily="34" charset="0"/>
              </a:rPr>
              <a:t>Resistance</a:t>
            </a:r>
            <a:endParaRPr lang="en-US" altLang="zh-CN" sz="2400" b="1" i="1" dirty="0">
              <a:solidFill>
                <a:srgbClr val="FF0000"/>
              </a:solidFill>
              <a:ea typeface="Arial" panose="020B0604020202020204" pitchFamily="34" charset="0"/>
            </a:endParaRPr>
          </a:p>
        </p:txBody>
      </p:sp>
      <p:pic>
        <p:nvPicPr>
          <p:cNvPr id="75779" name="Picture 3"/>
          <p:cNvPicPr>
            <a:picLocks noChangeAspect="1"/>
          </p:cNvPicPr>
          <p:nvPr/>
        </p:nvPicPr>
        <p:blipFill>
          <a:blip r:embed="rId1"/>
          <a:stretch>
            <a:fillRect/>
          </a:stretch>
        </p:blipFill>
        <p:spPr>
          <a:xfrm>
            <a:off x="755650" y="2176463"/>
            <a:ext cx="2528888" cy="3097212"/>
          </a:xfrm>
          <a:prstGeom prst="rect">
            <a:avLst/>
          </a:prstGeom>
          <a:noFill/>
          <a:ln w="9525">
            <a:noFill/>
          </a:ln>
        </p:spPr>
      </p:pic>
      <p:pic>
        <p:nvPicPr>
          <p:cNvPr id="75780" name="Picture 4"/>
          <p:cNvPicPr>
            <a:picLocks noChangeAspect="1"/>
          </p:cNvPicPr>
          <p:nvPr/>
        </p:nvPicPr>
        <p:blipFill>
          <a:blip r:embed="rId2"/>
          <a:stretch>
            <a:fillRect/>
          </a:stretch>
        </p:blipFill>
        <p:spPr>
          <a:xfrm>
            <a:off x="4284663" y="2619375"/>
            <a:ext cx="4319587" cy="2492375"/>
          </a:xfrm>
          <a:prstGeom prst="rect">
            <a:avLst/>
          </a:prstGeom>
          <a:noFill/>
          <a:ln w="9525">
            <a:noFill/>
          </a:ln>
        </p:spPr>
      </p:pic>
      <p:sp>
        <p:nvSpPr>
          <p:cNvPr id="75781" name="Text Box 5"/>
          <p:cNvSpPr txBox="1"/>
          <p:nvPr/>
        </p:nvSpPr>
        <p:spPr>
          <a:xfrm>
            <a:off x="1547813" y="5805488"/>
            <a:ext cx="6911975" cy="584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600" dirty="0">
                <a:cs typeface="Arial" panose="020B0604020202020204" pitchFamily="34" charset="0"/>
              </a:rPr>
              <a:t>Figure 2.62    Two ways of measuring resistance: </a:t>
            </a:r>
            <a:endParaRPr lang="en-US" altLang="zh-CN" sz="1600" dirty="0">
              <a:cs typeface="Arial" panose="020B0604020202020204" pitchFamily="34" charset="0"/>
            </a:endParaRPr>
          </a:p>
          <a:p>
            <a:pPr marL="0" lvl="0" indent="0" eaLnBrk="1" hangingPunct="1">
              <a:spcBef>
                <a:spcPct val="0"/>
              </a:spcBef>
              <a:buClrTx/>
              <a:buSzTx/>
              <a:buFontTx/>
              <a:buNone/>
            </a:pPr>
            <a:r>
              <a:rPr lang="en-US" altLang="zh-CN" sz="1600" dirty="0">
                <a:cs typeface="Arial" panose="020B0604020202020204" pitchFamily="34" charset="0"/>
              </a:rPr>
              <a:t>(a) using an ammeter and a voltmeter,    (b) using an ohmmeter (</a:t>
            </a:r>
            <a:r>
              <a:rPr lang="zh-CN" altLang="en-US" sz="1600" dirty="0">
                <a:cs typeface="Arial" panose="020B0604020202020204" pitchFamily="34" charset="0"/>
              </a:rPr>
              <a:t>欧姆表</a:t>
            </a:r>
            <a:r>
              <a:rPr lang="en-US" altLang="zh-CN" sz="1600" dirty="0">
                <a:cs typeface="Arial" panose="020B0604020202020204" pitchFamily="34" charset="0"/>
              </a:rPr>
              <a:t>).</a:t>
            </a:r>
            <a:endParaRPr lang="en-US" altLang="zh-CN" sz="1600" dirty="0">
              <a:ea typeface="Arial" panose="020B0604020202020204" pitchFamily="34" charset="0"/>
            </a:endParaRPr>
          </a:p>
        </p:txBody>
      </p:sp>
      <p:sp>
        <p:nvSpPr>
          <p:cNvPr id="75782" name="Text Box 6"/>
          <p:cNvSpPr txBox="1"/>
          <p:nvPr/>
        </p:nvSpPr>
        <p:spPr>
          <a:xfrm>
            <a:off x="1187450" y="5397500"/>
            <a:ext cx="433388"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600" dirty="0">
                <a:cs typeface="Arial" panose="020B0604020202020204" pitchFamily="34" charset="0"/>
              </a:rPr>
              <a:t>(a)</a:t>
            </a:r>
            <a:endParaRPr lang="en-US" altLang="zh-CN" sz="1600" dirty="0">
              <a:ea typeface="Arial" panose="020B0604020202020204" pitchFamily="34" charset="0"/>
            </a:endParaRPr>
          </a:p>
        </p:txBody>
      </p:sp>
      <p:sp>
        <p:nvSpPr>
          <p:cNvPr id="75783" name="Text Box 7"/>
          <p:cNvSpPr txBox="1"/>
          <p:nvPr/>
        </p:nvSpPr>
        <p:spPr>
          <a:xfrm>
            <a:off x="5976938" y="5307013"/>
            <a:ext cx="576262" cy="3365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600" dirty="0">
                <a:cs typeface="Arial" panose="020B0604020202020204" pitchFamily="34" charset="0"/>
              </a:rPr>
              <a:t>(b)</a:t>
            </a:r>
            <a:endParaRPr lang="en-US" altLang="zh-CN" sz="1600" dirty="0">
              <a:ea typeface="Arial" panose="020B0604020202020204" pitchFamily="34" charset="0"/>
            </a:endParaRPr>
          </a:p>
        </p:txBody>
      </p:sp>
      <p:sp>
        <p:nvSpPr>
          <p:cNvPr id="75784" name="文本框 1"/>
          <p:cNvSpPr txBox="1"/>
          <p:nvPr/>
        </p:nvSpPr>
        <p:spPr>
          <a:xfrm>
            <a:off x="5003800" y="1954213"/>
            <a:ext cx="272415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800" dirty="0">
                <a:solidFill>
                  <a:srgbClr val="0000FF"/>
                </a:solidFill>
                <a:cs typeface="Arial" panose="020B0604020202020204" pitchFamily="34" charset="0"/>
              </a:rPr>
              <a:t>（测电阻需要内置电源）</a:t>
            </a:r>
            <a:endParaRPr lang="zh-CN" altLang="en-US" sz="1800" dirty="0">
              <a:solidFill>
                <a:srgbClr val="0000FF"/>
              </a:solidFill>
              <a:ea typeface="Arial" panose="020B0604020202020204" pitchFamily="34" charset="0"/>
            </a:endParaRPr>
          </a:p>
        </p:txBody>
      </p:sp>
      <p:sp>
        <p:nvSpPr>
          <p:cNvPr id="75785"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
        <p:nvSpPr>
          <p:cNvPr id="2" name="椭圆 1"/>
          <p:cNvSpPr/>
          <p:nvPr/>
        </p:nvSpPr>
        <p:spPr>
          <a:xfrm>
            <a:off x="4643438" y="4076700"/>
            <a:ext cx="649288" cy="576263"/>
          </a:xfrm>
          <a:prstGeom prst="ellipse">
            <a:avLst/>
          </a:prstGeom>
          <a:noFill/>
          <a:ln>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36830" y="476250"/>
            <a:ext cx="8702040" cy="1493520"/>
          </a:xfrm>
          <a:prstGeom prst="rect">
            <a:avLst/>
          </a:prstGeom>
        </p:spPr>
      </p:pic>
      <p:pic>
        <p:nvPicPr>
          <p:cNvPr id="5" name="图片 4"/>
          <p:cNvPicPr>
            <a:picLocks noChangeAspect="1"/>
          </p:cNvPicPr>
          <p:nvPr/>
        </p:nvPicPr>
        <p:blipFill>
          <a:blip r:embed="rId2"/>
          <a:stretch>
            <a:fillRect/>
          </a:stretch>
        </p:blipFill>
        <p:spPr>
          <a:xfrm>
            <a:off x="228600" y="2506980"/>
            <a:ext cx="8686800" cy="1844040"/>
          </a:xfrm>
          <a:prstGeom prst="rect">
            <a:avLst/>
          </a:prstGeom>
        </p:spPr>
      </p:pic>
      <p:pic>
        <p:nvPicPr>
          <p:cNvPr id="6" name="图片 5"/>
          <p:cNvPicPr>
            <a:picLocks noChangeAspect="1"/>
          </p:cNvPicPr>
          <p:nvPr/>
        </p:nvPicPr>
        <p:blipFill>
          <a:blip r:embed="rId3"/>
          <a:stretch>
            <a:fillRect/>
          </a:stretch>
        </p:blipFill>
        <p:spPr>
          <a:xfrm>
            <a:off x="114300" y="4652645"/>
            <a:ext cx="8801100" cy="14478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543560" y="1557020"/>
            <a:ext cx="8204835" cy="368300"/>
          </a:xfrm>
          <a:prstGeom prst="rect">
            <a:avLst/>
          </a:prstGeom>
          <a:noFill/>
        </p:spPr>
        <p:txBody>
          <a:bodyPr wrap="square" rtlCol="0">
            <a:spAutoFit/>
          </a:bodyPr>
          <a:p>
            <a:r>
              <a:rPr lang="zh-CN" altLang="en-US"/>
              <a:t>解：</a:t>
            </a:r>
            <a:r>
              <a:rPr lang="en-US" altLang="zh-CN"/>
              <a:t> </a:t>
            </a:r>
            <a:endParaRPr lang="en-US" altLang="zh-CN"/>
          </a:p>
        </p:txBody>
      </p:sp>
      <p:pic>
        <p:nvPicPr>
          <p:cNvPr id="71683" name="Picture 7"/>
          <p:cNvPicPr>
            <a:picLocks noChangeAspect="1"/>
          </p:cNvPicPr>
          <p:nvPr/>
        </p:nvPicPr>
        <p:blipFill>
          <a:blip r:embed="rId1"/>
          <a:stretch>
            <a:fillRect/>
          </a:stretch>
        </p:blipFill>
        <p:spPr>
          <a:xfrm>
            <a:off x="3946525" y="2736850"/>
            <a:ext cx="4852670" cy="2342515"/>
          </a:xfrm>
          <a:prstGeom prst="rect">
            <a:avLst/>
          </a:prstGeom>
          <a:noFill/>
          <a:ln w="9525">
            <a:noFill/>
          </a:ln>
        </p:spPr>
      </p:pic>
      <p:pic>
        <p:nvPicPr>
          <p:cNvPr id="6" name="内容占位符 3"/>
          <p:cNvPicPr>
            <a:picLocks noChangeAspect="1"/>
          </p:cNvPicPr>
          <p:nvPr/>
        </p:nvPicPr>
        <p:blipFill>
          <a:blip r:embed="rId2"/>
          <a:stretch>
            <a:fillRect/>
          </a:stretch>
        </p:blipFill>
        <p:spPr>
          <a:xfrm>
            <a:off x="1115695" y="1506855"/>
            <a:ext cx="2150745" cy="1449705"/>
          </a:xfrm>
          <a:prstGeom prst="rect">
            <a:avLst/>
          </a:prstGeom>
          <a:noFill/>
          <a:ln w="9525">
            <a:noFill/>
          </a:ln>
        </p:spPr>
      </p:pic>
      <p:pic>
        <p:nvPicPr>
          <p:cNvPr id="8" name="内容占位符 7"/>
          <p:cNvPicPr>
            <a:picLocks noChangeAspect="1"/>
          </p:cNvPicPr>
          <p:nvPr>
            <p:ph idx="1"/>
          </p:nvPr>
        </p:nvPicPr>
        <p:blipFill>
          <a:blip r:embed="rId3"/>
          <a:stretch>
            <a:fillRect/>
          </a:stretch>
        </p:blipFill>
        <p:spPr>
          <a:xfrm>
            <a:off x="301625" y="116205"/>
            <a:ext cx="8688705" cy="1390650"/>
          </a:xfrm>
          <a:prstGeom prst="rect">
            <a:avLst/>
          </a:prstGeom>
        </p:spPr>
      </p:pic>
      <p:sp>
        <p:nvSpPr>
          <p:cNvPr id="2" name="文本框 1"/>
          <p:cNvSpPr txBox="1"/>
          <p:nvPr/>
        </p:nvSpPr>
        <p:spPr>
          <a:xfrm>
            <a:off x="427990" y="3059430"/>
            <a:ext cx="2847975" cy="2030095"/>
          </a:xfrm>
          <a:prstGeom prst="rect">
            <a:avLst/>
          </a:prstGeom>
          <a:noFill/>
        </p:spPr>
        <p:txBody>
          <a:bodyPr wrap="square" rtlCol="0">
            <a:spAutoFit/>
          </a:bodyPr>
          <a:p>
            <a:r>
              <a:rPr lang="en-US" altLang="zh-CN"/>
              <a:t>(a) Rn=1/0.1-2=8k</a:t>
            </a:r>
            <a:r>
              <a:rPr lang="en-US" altLang="zh-CN">
                <a:cs typeface="Arial" panose="020B0604020202020204" pitchFamily="34" charset="0"/>
              </a:rPr>
              <a:t>Ʊ</a:t>
            </a:r>
            <a:endParaRPr lang="en-US" altLang="zh-CN">
              <a:cs typeface="Arial" panose="020B0604020202020204" pitchFamily="34" charset="0"/>
            </a:endParaRPr>
          </a:p>
          <a:p>
            <a:endParaRPr lang="en-US" altLang="zh-CN">
              <a:cs typeface="Arial" panose="020B0604020202020204" pitchFamily="34" charset="0"/>
            </a:endParaRPr>
          </a:p>
          <a:p>
            <a:r>
              <a:rPr lang="en-US" altLang="zh-CN">
                <a:cs typeface="Arial" panose="020B0604020202020204" pitchFamily="34" charset="0"/>
              </a:rPr>
              <a:t>(b)</a:t>
            </a:r>
            <a:r>
              <a:rPr lang="en-US" altLang="zh-CN">
                <a:sym typeface="+mn-ea"/>
              </a:rPr>
              <a:t>Rn=5/0.1-2=48k</a:t>
            </a:r>
            <a:r>
              <a:rPr lang="en-US" altLang="zh-CN">
                <a:cs typeface="Arial" panose="020B0604020202020204" pitchFamily="34" charset="0"/>
                <a:sym typeface="+mn-ea"/>
              </a:rPr>
              <a:t>Ʊ</a:t>
            </a:r>
            <a:endParaRPr lang="en-US" altLang="zh-CN">
              <a:cs typeface="Arial" panose="020B0604020202020204" pitchFamily="34" charset="0"/>
              <a:sym typeface="+mn-ea"/>
            </a:endParaRPr>
          </a:p>
          <a:p>
            <a:endParaRPr lang="en-US" altLang="zh-CN">
              <a:cs typeface="Arial" panose="020B0604020202020204" pitchFamily="34" charset="0"/>
            </a:endParaRPr>
          </a:p>
          <a:p>
            <a:r>
              <a:rPr lang="en-US" altLang="zh-CN">
                <a:cs typeface="Arial" panose="020B0604020202020204" pitchFamily="34" charset="0"/>
              </a:rPr>
              <a:t>(c)</a:t>
            </a:r>
            <a:r>
              <a:rPr lang="en-US" altLang="zh-CN">
                <a:sym typeface="+mn-ea"/>
              </a:rPr>
              <a:t>Rn=50/0.1-2=498k</a:t>
            </a:r>
            <a:r>
              <a:rPr lang="en-US" altLang="zh-CN">
                <a:cs typeface="Arial" panose="020B0604020202020204" pitchFamily="34" charset="0"/>
                <a:sym typeface="+mn-ea"/>
              </a:rPr>
              <a:t>Ʊ</a:t>
            </a:r>
            <a:endParaRPr lang="en-US" altLang="zh-CN">
              <a:cs typeface="Arial" panose="020B0604020202020204" pitchFamily="34" charset="0"/>
              <a:sym typeface="+mn-ea"/>
            </a:endParaRPr>
          </a:p>
          <a:p>
            <a:endParaRPr lang="en-US" altLang="zh-CN">
              <a:cs typeface="Arial" panose="020B0604020202020204" pitchFamily="34" charset="0"/>
            </a:endParaRPr>
          </a:p>
          <a:p>
            <a:r>
              <a:rPr lang="en-US" altLang="zh-CN">
                <a:cs typeface="Arial" panose="020B0604020202020204" pitchFamily="34" charset="0"/>
              </a:rPr>
              <a:t>(d)</a:t>
            </a:r>
            <a:r>
              <a:rPr lang="en-US" altLang="zh-CN">
                <a:sym typeface="+mn-ea"/>
              </a:rPr>
              <a:t>Rn=100/0.1-2=998k</a:t>
            </a:r>
            <a:r>
              <a:rPr lang="en-US" altLang="zh-CN">
                <a:cs typeface="Arial" panose="020B0604020202020204" pitchFamily="34" charset="0"/>
                <a:sym typeface="+mn-ea"/>
              </a:rPr>
              <a:t>Ʊ</a:t>
            </a:r>
            <a:endParaRPr lang="en-US" altLang="zh-CN">
              <a:cs typeface="Arial" panose="020B0604020202020204" pitchFamily="3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899795" y="692785"/>
            <a:ext cx="5814060" cy="777240"/>
          </a:xfrm>
          <a:prstGeom prst="rect">
            <a:avLst/>
          </a:prstGeom>
        </p:spPr>
      </p:pic>
      <p:pic>
        <p:nvPicPr>
          <p:cNvPr id="5" name="图片 4"/>
          <p:cNvPicPr>
            <a:picLocks noChangeAspect="1"/>
          </p:cNvPicPr>
          <p:nvPr/>
        </p:nvPicPr>
        <p:blipFill>
          <a:blip r:embed="rId2"/>
          <a:stretch>
            <a:fillRect/>
          </a:stretch>
        </p:blipFill>
        <p:spPr>
          <a:xfrm>
            <a:off x="3780155" y="4940935"/>
            <a:ext cx="4328160" cy="350520"/>
          </a:xfrm>
          <a:prstGeom prst="rect">
            <a:avLst/>
          </a:prstGeom>
        </p:spPr>
      </p:pic>
      <p:pic>
        <p:nvPicPr>
          <p:cNvPr id="6" name="图片 5"/>
          <p:cNvPicPr>
            <a:picLocks noChangeAspect="1"/>
          </p:cNvPicPr>
          <p:nvPr/>
        </p:nvPicPr>
        <p:blipFill>
          <a:blip r:embed="rId3"/>
          <a:srcRect l="57638" t="6106"/>
          <a:stretch>
            <a:fillRect/>
          </a:stretch>
        </p:blipFill>
        <p:spPr>
          <a:xfrm>
            <a:off x="6351270" y="1492250"/>
            <a:ext cx="2630805" cy="3427095"/>
          </a:xfrm>
          <a:prstGeom prst="rect">
            <a:avLst/>
          </a:prstGeom>
        </p:spPr>
      </p:pic>
      <p:pic>
        <p:nvPicPr>
          <p:cNvPr id="7" name="图片 6"/>
          <p:cNvPicPr>
            <a:picLocks noChangeAspect="1"/>
          </p:cNvPicPr>
          <p:nvPr/>
        </p:nvPicPr>
        <p:blipFill>
          <a:blip r:embed="rId4"/>
          <a:stretch>
            <a:fillRect/>
          </a:stretch>
        </p:blipFill>
        <p:spPr>
          <a:xfrm>
            <a:off x="4028440" y="1891030"/>
            <a:ext cx="2429510" cy="1725930"/>
          </a:xfrm>
          <a:prstGeom prst="rect">
            <a:avLst/>
          </a:prstGeom>
          <a:ln>
            <a:solidFill>
              <a:schemeClr val="accent1"/>
            </a:solidFill>
          </a:ln>
        </p:spPr>
      </p:pic>
      <p:sp>
        <p:nvSpPr>
          <p:cNvPr id="8" name="文本框 7"/>
          <p:cNvSpPr txBox="1"/>
          <p:nvPr/>
        </p:nvSpPr>
        <p:spPr>
          <a:xfrm>
            <a:off x="476885" y="1708785"/>
            <a:ext cx="3810635" cy="2861310"/>
          </a:xfrm>
          <a:prstGeom prst="rect">
            <a:avLst/>
          </a:prstGeom>
          <a:noFill/>
        </p:spPr>
        <p:txBody>
          <a:bodyPr wrap="square" rtlCol="0">
            <a:spAutoFit/>
          </a:bodyPr>
          <a:p>
            <a:pPr>
              <a:lnSpc>
                <a:spcPct val="150000"/>
              </a:lnSpc>
            </a:pPr>
            <a:r>
              <a:rPr lang="zh-CN" altLang="en-US"/>
              <a:t>解：</a:t>
            </a:r>
            <a:r>
              <a:rPr lang="en-US" altLang="zh-CN"/>
              <a:t>(a)Rn=(0.001x50)/(1-0.001)</a:t>
            </a:r>
            <a:endParaRPr lang="en-US" altLang="zh-CN"/>
          </a:p>
          <a:p>
            <a:pPr>
              <a:lnSpc>
                <a:spcPct val="150000"/>
              </a:lnSpc>
            </a:pPr>
            <a:r>
              <a:rPr lang="en-US" altLang="zh-CN"/>
              <a:t>                =50m</a:t>
            </a:r>
            <a:r>
              <a:rPr lang="en-US" altLang="zh-CN">
                <a:cs typeface="Arial" panose="020B0604020202020204" pitchFamily="34" charset="0"/>
              </a:rPr>
              <a:t>Ʊ</a:t>
            </a:r>
            <a:endParaRPr lang="en-US" altLang="zh-CN">
              <a:cs typeface="Arial" panose="020B0604020202020204" pitchFamily="34" charset="0"/>
            </a:endParaRPr>
          </a:p>
          <a:p>
            <a:pPr>
              <a:lnSpc>
                <a:spcPct val="150000"/>
              </a:lnSpc>
            </a:pPr>
            <a:r>
              <a:rPr lang="en-US" altLang="zh-CN">
                <a:cs typeface="Arial" panose="020B0604020202020204" pitchFamily="34" charset="0"/>
              </a:rPr>
              <a:t>       (b)</a:t>
            </a:r>
            <a:r>
              <a:rPr lang="en-US" altLang="zh-CN">
                <a:sym typeface="+mn-ea"/>
              </a:rPr>
              <a:t>Rn=(1x50)/(100-1)</a:t>
            </a:r>
            <a:endParaRPr lang="en-US" altLang="zh-CN"/>
          </a:p>
          <a:p>
            <a:pPr>
              <a:lnSpc>
                <a:spcPct val="150000"/>
              </a:lnSpc>
            </a:pPr>
            <a:r>
              <a:rPr lang="en-US" altLang="zh-CN">
                <a:sym typeface="+mn-ea"/>
              </a:rPr>
              <a:t>                =505m</a:t>
            </a:r>
            <a:r>
              <a:rPr lang="en-US" altLang="zh-CN">
                <a:cs typeface="Arial" panose="020B0604020202020204" pitchFamily="34" charset="0"/>
                <a:sym typeface="+mn-ea"/>
              </a:rPr>
              <a:t>Ʊ</a:t>
            </a:r>
            <a:endParaRPr lang="en-US" altLang="zh-CN">
              <a:cs typeface="Arial" panose="020B0604020202020204" pitchFamily="34" charset="0"/>
              <a:sym typeface="+mn-ea"/>
            </a:endParaRPr>
          </a:p>
          <a:p>
            <a:pPr>
              <a:lnSpc>
                <a:spcPct val="150000"/>
              </a:lnSpc>
            </a:pPr>
            <a:r>
              <a:rPr lang="en-US" altLang="zh-CN">
                <a:cs typeface="Arial" panose="020B0604020202020204" pitchFamily="34" charset="0"/>
              </a:rPr>
              <a:t>      (c)</a:t>
            </a:r>
            <a:r>
              <a:rPr lang="en-US" altLang="zh-CN">
                <a:sym typeface="+mn-ea"/>
              </a:rPr>
              <a:t>Rn=(1x50)/(10-1)</a:t>
            </a:r>
            <a:endParaRPr lang="en-US" altLang="zh-CN"/>
          </a:p>
          <a:p>
            <a:pPr>
              <a:lnSpc>
                <a:spcPct val="150000"/>
              </a:lnSpc>
            </a:pPr>
            <a:r>
              <a:rPr lang="en-US" altLang="zh-CN">
                <a:sym typeface="+mn-ea"/>
              </a:rPr>
              <a:t>               =5.556m</a:t>
            </a:r>
            <a:r>
              <a:rPr lang="en-US" altLang="zh-CN">
                <a:cs typeface="Arial" panose="020B0604020202020204" pitchFamily="34" charset="0"/>
                <a:sym typeface="+mn-ea"/>
              </a:rPr>
              <a:t>Ʊ</a:t>
            </a:r>
            <a:endParaRPr lang="en-US" altLang="zh-CN">
              <a:cs typeface="Arial" panose="020B0604020202020204" pitchFamily="34" charset="0"/>
              <a:sym typeface="+mn-ea"/>
            </a:endParaRPr>
          </a:p>
          <a:p>
            <a:endParaRPr lang="en-US" altLang="zh-CN">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Text Box 2"/>
          <p:cNvSpPr txBox="1"/>
          <p:nvPr/>
        </p:nvSpPr>
        <p:spPr>
          <a:xfrm>
            <a:off x="395288" y="333375"/>
            <a:ext cx="6048375" cy="7699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4400" dirty="0">
                <a:solidFill>
                  <a:srgbClr val="0000FF"/>
                </a:solidFill>
                <a:latin typeface="Franklin Gothic Medium" panose="020B0603020102020204" pitchFamily="34" charset="0"/>
                <a:cs typeface="Arial" panose="020B0604020202020204" pitchFamily="34" charset="0"/>
              </a:rPr>
              <a:t>2.9  </a:t>
            </a:r>
            <a:r>
              <a:rPr lang="zh-CN" altLang="en-US" sz="4400" b="1" dirty="0">
                <a:solidFill>
                  <a:srgbClr val="0000FF"/>
                </a:solidFill>
                <a:latin typeface="Franklin Gothic Medium" panose="020B0603020102020204" pitchFamily="34" charset="0"/>
                <a:cs typeface="Arial" panose="020B0604020202020204" pitchFamily="34" charset="0"/>
              </a:rPr>
              <a:t>本章小结</a:t>
            </a:r>
            <a:endParaRPr lang="en-US" altLang="zh-CN" sz="4400" b="1" dirty="0">
              <a:solidFill>
                <a:srgbClr val="0000FF"/>
              </a:solidFill>
              <a:latin typeface="Franklin Gothic Medium" panose="020B0603020102020204" pitchFamily="34" charset="0"/>
              <a:ea typeface="Arial" panose="020B0604020202020204" pitchFamily="34" charset="0"/>
            </a:endParaRPr>
          </a:p>
        </p:txBody>
      </p:sp>
      <p:sp>
        <p:nvSpPr>
          <p:cNvPr id="77827" name="Text Box 3"/>
          <p:cNvSpPr txBox="1"/>
          <p:nvPr/>
        </p:nvSpPr>
        <p:spPr>
          <a:xfrm>
            <a:off x="395288" y="1306513"/>
            <a:ext cx="8243887" cy="50419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
                <a:srgbClr val="96A0A0"/>
              </a:buClr>
              <a:buSzTx/>
            </a:pPr>
            <a:r>
              <a:rPr lang="zh-CN" altLang="en-US" sz="2400" b="1" dirty="0">
                <a:solidFill>
                  <a:srgbClr val="FF0000"/>
                </a:solidFill>
                <a:latin typeface="Times New Roman" panose="02020603050405020304" pitchFamily="18" charset="0"/>
                <a:cs typeface="Arial" panose="020B0604020202020204" pitchFamily="34" charset="0"/>
              </a:rPr>
              <a:t>电阻</a:t>
            </a:r>
            <a:r>
              <a:rPr lang="zh-CN" altLang="en-US" sz="2400" b="1" dirty="0">
                <a:latin typeface="Times New Roman" panose="02020603050405020304" pitchFamily="18" charset="0"/>
                <a:cs typeface="Arial" panose="020B0604020202020204" pitchFamily="34" charset="0"/>
              </a:rPr>
              <a:t>是电路中的无源元件，其两端的电压</a:t>
            </a:r>
            <a:r>
              <a:rPr lang="en-US" altLang="zh-CN" sz="2400" b="1" i="1" dirty="0">
                <a:latin typeface="Times New Roman" panose="02020603050405020304" pitchFamily="18" charset="0"/>
                <a:cs typeface="Arial" panose="020B0604020202020204" pitchFamily="34" charset="0"/>
              </a:rPr>
              <a:t>v</a:t>
            </a:r>
            <a:r>
              <a:rPr lang="zh-CN" altLang="en-US" sz="2400" b="1" dirty="0">
                <a:latin typeface="Times New Roman" panose="02020603050405020304" pitchFamily="18" charset="0"/>
                <a:cs typeface="Arial" panose="020B0604020202020204" pitchFamily="34" charset="0"/>
              </a:rPr>
              <a:t>和流过它的电流</a:t>
            </a:r>
            <a:r>
              <a:rPr lang="en-US" altLang="zh-CN" sz="2400" b="1" i="1" dirty="0">
                <a:latin typeface="Times New Roman" panose="02020603050405020304" pitchFamily="18" charset="0"/>
                <a:cs typeface="Arial" panose="020B0604020202020204" pitchFamily="34" charset="0"/>
              </a:rPr>
              <a:t>i</a:t>
            </a:r>
            <a:r>
              <a:rPr lang="zh-CN" altLang="en-US" sz="2400" b="1" dirty="0">
                <a:latin typeface="Times New Roman" panose="02020603050405020304" pitchFamily="18" charset="0"/>
                <a:cs typeface="Arial" panose="020B0604020202020204" pitchFamily="34" charset="0"/>
              </a:rPr>
              <a:t>成正比，即</a:t>
            </a:r>
            <a:r>
              <a:rPr lang="zh-CN" altLang="en-US" sz="2400" b="1" dirty="0">
                <a:solidFill>
                  <a:srgbClr val="FF0000"/>
                </a:solidFill>
                <a:latin typeface="Times New Roman" panose="02020603050405020304" pitchFamily="18" charset="0"/>
                <a:cs typeface="Arial" panose="020B0604020202020204" pitchFamily="34" charset="0"/>
              </a:rPr>
              <a:t>欧姆定律</a:t>
            </a:r>
            <a:r>
              <a:rPr lang="zh-CN" altLang="en-US" sz="2400" b="1" dirty="0">
                <a:latin typeface="Times New Roman" panose="02020603050405020304" pitchFamily="18" charset="0"/>
                <a:cs typeface="Arial" panose="020B0604020202020204" pitchFamily="34" charset="0"/>
              </a:rPr>
              <a:t>（注意</a:t>
            </a:r>
            <a:r>
              <a:rPr lang="zh-CN" altLang="en-US" sz="2400" b="1" dirty="0">
                <a:solidFill>
                  <a:srgbClr val="0000FF"/>
                </a:solidFill>
                <a:latin typeface="Times New Roman" panose="02020603050405020304" pitchFamily="18" charset="0"/>
                <a:cs typeface="Arial" panose="020B0604020202020204" pitchFamily="34" charset="0"/>
              </a:rPr>
              <a:t>关联参考方向</a:t>
            </a:r>
            <a:r>
              <a:rPr lang="zh-CN" altLang="en-US" sz="2400" b="1" dirty="0">
                <a:latin typeface="Times New Roman" panose="02020603050405020304" pitchFamily="18" charset="0"/>
                <a:cs typeface="Arial" panose="020B0604020202020204" pitchFamily="34" charset="0"/>
              </a:rPr>
              <a:t>）</a:t>
            </a:r>
            <a:r>
              <a:rPr lang="en-US" altLang="zh-CN" sz="2400" b="1" dirty="0">
                <a:solidFill>
                  <a:srgbClr val="FF0000"/>
                </a:solidFill>
                <a:latin typeface="Times New Roman" panose="02020603050405020304" pitchFamily="18" charset="0"/>
                <a:cs typeface="Arial" panose="020B0604020202020204" pitchFamily="34" charset="0"/>
              </a:rPr>
              <a:t>【VCR】</a:t>
            </a:r>
            <a:r>
              <a:rPr lang="zh-CN" altLang="en-US" sz="2400" b="1" dirty="0">
                <a:latin typeface="Times New Roman" panose="02020603050405020304" pitchFamily="18" charset="0"/>
                <a:cs typeface="Arial" panose="020B0604020202020204" pitchFamily="34" charset="0"/>
              </a:rPr>
              <a:t>：</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i="1" dirty="0">
                <a:latin typeface="Times New Roman" panose="02020603050405020304" pitchFamily="18" charset="0"/>
                <a:cs typeface="Arial" panose="020B0604020202020204" pitchFamily="34" charset="0"/>
              </a:rPr>
              <a:t>                                v = i R                                                                 </a:t>
            </a:r>
            <a:endParaRPr lang="en-US" altLang="zh-CN" sz="2400" b="1" i="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i="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其中</a:t>
            </a:r>
            <a:r>
              <a:rPr lang="en-US" altLang="zh-CN" sz="2400" b="1" i="1" dirty="0">
                <a:latin typeface="Times New Roman" panose="02020603050405020304" pitchFamily="18" charset="0"/>
                <a:cs typeface="Arial" panose="020B0604020202020204" pitchFamily="34" charset="0"/>
              </a:rPr>
              <a:t>R</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为电阻的阻值。</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
                <a:srgbClr val="96A0A0"/>
              </a:buClr>
              <a:buSzTx/>
            </a:pPr>
            <a:r>
              <a:rPr lang="zh-CN" altLang="en-US" sz="2400" b="1" dirty="0">
                <a:solidFill>
                  <a:srgbClr val="FF0000"/>
                </a:solidFill>
                <a:latin typeface="Times New Roman" panose="02020603050405020304" pitchFamily="18" charset="0"/>
                <a:cs typeface="Times New Roman" panose="02020603050405020304" pitchFamily="18" charset="0"/>
              </a:rPr>
              <a:t>短路</a:t>
            </a:r>
            <a:r>
              <a:rPr lang="zh-CN" altLang="en-US" sz="2400" b="1" dirty="0">
                <a:latin typeface="Times New Roman" panose="02020603050405020304" pitchFamily="18" charset="0"/>
                <a:cs typeface="Times New Roman" panose="02020603050405020304" pitchFamily="18" charset="0"/>
              </a:rPr>
              <a:t>电路：阻值为零的电阻</a:t>
            </a:r>
            <a:r>
              <a:rPr lang="en-US"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Arial" panose="020B0604020202020204" pitchFamily="34" charset="0"/>
              </a:rPr>
              <a:t>R =0</a:t>
            </a:r>
            <a:r>
              <a:rPr lang="zh-CN" altLang="en-US" sz="2400" b="1" dirty="0">
                <a:latin typeface="Times New Roman" panose="02020603050405020304" pitchFamily="18" charset="0"/>
                <a:cs typeface="Arial" panose="020B0604020202020204" pitchFamily="34" charset="0"/>
              </a:rPr>
              <a:t>，即理想的导线</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a:t>
            </a:r>
            <a:r>
              <a:rPr lang="zh-CN" altLang="en-US" sz="2400" b="1" dirty="0">
                <a:solidFill>
                  <a:srgbClr val="FF0000"/>
                </a:solidFill>
                <a:latin typeface="Times New Roman" panose="02020603050405020304" pitchFamily="18" charset="0"/>
                <a:cs typeface="Times New Roman" panose="02020603050405020304" pitchFamily="18" charset="0"/>
              </a:rPr>
              <a:t>开路</a:t>
            </a:r>
            <a:r>
              <a:rPr lang="zh-CN" altLang="en-US" sz="2400" b="1" dirty="0">
                <a:latin typeface="Times New Roman" panose="02020603050405020304" pitchFamily="18" charset="0"/>
                <a:cs typeface="Times New Roman" panose="02020603050405020304" pitchFamily="18" charset="0"/>
              </a:rPr>
              <a:t>电路是阻值为无穷大</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R=</a:t>
            </a:r>
            <a:r>
              <a:rPr lang="en-US" altLang="zh-CN" sz="2400" b="1" i="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的电阻。</a:t>
            </a:r>
            <a:endParaRPr lang="en-US" altLang="zh-CN" sz="2400" b="1" dirty="0">
              <a:latin typeface="Times New Roman" panose="02020603050405020304" pitchFamily="18" charset="0"/>
              <a:cs typeface="Times New Roman" panose="02020603050405020304" pitchFamily="18" charset="0"/>
            </a:endParaRPr>
          </a:p>
          <a:p>
            <a:pPr marL="0" lvl="0" indent="0" eaLnBrk="1" hangingPunct="1">
              <a:spcBef>
                <a:spcPct val="50000"/>
              </a:spcBef>
              <a:buClr>
                <a:srgbClr val="96A0A0"/>
              </a:buClr>
              <a:buSzTx/>
            </a:pPr>
            <a:endParaRPr lang="en-US" altLang="zh-CN" sz="2400" b="1" dirty="0">
              <a:latin typeface="Times New Roman" panose="02020603050405020304" pitchFamily="18" charset="0"/>
              <a:cs typeface="Times New Roman" panose="02020603050405020304" pitchFamily="18" charset="0"/>
            </a:endParaRPr>
          </a:p>
          <a:p>
            <a:pPr marL="0" lvl="0" indent="0" eaLnBrk="1" hangingPunct="1">
              <a:spcBef>
                <a:spcPct val="50000"/>
              </a:spcBef>
              <a:buClr>
                <a:srgbClr val="96A0A0"/>
              </a:buClr>
              <a:buSzTx/>
            </a:pPr>
            <a:r>
              <a:rPr lang="zh-CN" altLang="en-US" sz="2400" b="1" dirty="0">
                <a:latin typeface="Times New Roman" panose="02020603050405020304" pitchFamily="18" charset="0"/>
                <a:cs typeface="Times New Roman" panose="02020603050405020304" pitchFamily="18" charset="0"/>
              </a:rPr>
              <a:t>电阻的</a:t>
            </a:r>
            <a:r>
              <a:rPr lang="zh-CN" altLang="en-US" sz="2400" b="1" dirty="0">
                <a:solidFill>
                  <a:srgbClr val="FF0000"/>
                </a:solidFill>
                <a:latin typeface="Times New Roman" panose="02020603050405020304" pitchFamily="18" charset="0"/>
                <a:cs typeface="Times New Roman" panose="02020603050405020304" pitchFamily="18" charset="0"/>
              </a:rPr>
              <a:t>电导</a:t>
            </a:r>
            <a:r>
              <a:rPr lang="en-US" altLang="zh-CN" sz="2400" b="1" i="1" dirty="0">
                <a:latin typeface="Times New Roman" panose="02020603050405020304" pitchFamily="18" charset="0"/>
                <a:cs typeface="Times New Roman" panose="02020603050405020304" pitchFamily="18" charset="0"/>
              </a:rPr>
              <a:t>G </a:t>
            </a:r>
            <a:r>
              <a:rPr lang="zh-CN" altLang="en-US" sz="2400" b="1" dirty="0">
                <a:latin typeface="Times New Roman" panose="02020603050405020304" pitchFamily="18" charset="0"/>
                <a:cs typeface="Times New Roman" panose="02020603050405020304" pitchFamily="18" charset="0"/>
              </a:rPr>
              <a:t>为该电阻阻值的导数</a:t>
            </a:r>
            <a:r>
              <a:rPr lang="en-US" altLang="zh-CN"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marL="0" lvl="0" indent="0" eaLnBrk="1" hangingPunct="1">
              <a:lnSpc>
                <a:spcPct val="90000"/>
              </a:lnSpc>
              <a:spcBef>
                <a:spcPct val="50000"/>
              </a:spcBef>
              <a:buClr>
                <a:srgbClr val="96A0A0"/>
              </a:buClr>
              <a:buSzTx/>
            </a:pPr>
            <a:endParaRPr lang="en-US" altLang="zh-CN" sz="2400" b="1" dirty="0">
              <a:latin typeface="Times New Roman" panose="02020603050405020304" pitchFamily="18" charset="0"/>
              <a:ea typeface="Times New Roman" panose="02020603050405020304" pitchFamily="18" charset="0"/>
            </a:endParaRPr>
          </a:p>
        </p:txBody>
      </p:sp>
      <p:graphicFrame>
        <p:nvGraphicFramePr>
          <p:cNvPr id="77828" name="Object 4"/>
          <p:cNvGraphicFramePr>
            <a:graphicFrameLocks noChangeAspect="1"/>
          </p:cNvGraphicFramePr>
          <p:nvPr/>
        </p:nvGraphicFramePr>
        <p:xfrm>
          <a:off x="2916238" y="5707063"/>
          <a:ext cx="1439862" cy="769937"/>
        </p:xfrm>
        <a:graphic>
          <a:graphicData uri="http://schemas.openxmlformats.org/presentationml/2006/ole">
            <mc:AlternateContent xmlns:mc="http://schemas.openxmlformats.org/markup-compatibility/2006">
              <mc:Choice xmlns:v="urn:schemas-microsoft-com:vml" Requires="v">
                <p:oleObj spid="_x0000_s3159" name="" r:id="rId1" imgW="444500" imgH="393700" progId="Equation.3">
                  <p:embed/>
                </p:oleObj>
              </mc:Choice>
              <mc:Fallback>
                <p:oleObj name="" r:id="rId1" imgW="444500" imgH="393700" progId="Equation.3">
                  <p:embed/>
                  <p:pic>
                    <p:nvPicPr>
                      <p:cNvPr id="0" name="图片 3158"/>
                      <p:cNvPicPr/>
                      <p:nvPr/>
                    </p:nvPicPr>
                    <p:blipFill>
                      <a:blip r:embed="rId2"/>
                      <a:stretch>
                        <a:fillRect/>
                      </a:stretch>
                    </p:blipFill>
                    <p:spPr>
                      <a:xfrm>
                        <a:off x="2916238" y="5707063"/>
                        <a:ext cx="1439862" cy="769937"/>
                      </a:xfrm>
                      <a:prstGeom prst="rect">
                        <a:avLst/>
                      </a:prstGeom>
                      <a:noFill/>
                      <a:ln w="38100">
                        <a:noFill/>
                        <a:miter/>
                      </a:ln>
                    </p:spPr>
                  </p:pic>
                </p:oleObj>
              </mc:Fallback>
            </mc:AlternateContent>
          </a:graphicData>
        </a:graphic>
      </p:graphicFrame>
      <p:sp>
        <p:nvSpPr>
          <p:cNvPr id="77829"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3"/>
          <p:cNvSpPr>
            <a:spLocks noGrp="1"/>
          </p:cNvSpPr>
          <p:nvPr>
            <p:ph idx="1"/>
          </p:nvPr>
        </p:nvSpPr>
        <p:spPr>
          <a:xfrm>
            <a:off x="501650" y="765175"/>
            <a:ext cx="7815263" cy="3886200"/>
          </a:xfrm>
        </p:spPr>
        <p:txBody>
          <a:bodyPr vert="horz" wrap="square" lIns="91440" tIns="45720" rIns="91440" bIns="45720" anchor="t"/>
          <a:p>
            <a:pPr eaLnBrk="1" hangingPunct="1">
              <a:lnSpc>
                <a:spcPct val="90000"/>
              </a:lnSpc>
              <a:spcBef>
                <a:spcPct val="50000"/>
              </a:spcBef>
              <a:buClr>
                <a:srgbClr val="96A0A0"/>
              </a:buClr>
              <a:buSzTx/>
            </a:pPr>
            <a:r>
              <a:rPr lang="zh-CN" altLang="en-US" sz="2400" b="1" dirty="0">
                <a:solidFill>
                  <a:srgbClr val="FF0000"/>
                </a:solidFill>
                <a:latin typeface="Times New Roman" panose="02020603050405020304" pitchFamily="18" charset="0"/>
              </a:rPr>
              <a:t>支路</a:t>
            </a:r>
            <a:r>
              <a:rPr lang="zh-CN" altLang="en-US" sz="2400" b="1" dirty="0">
                <a:latin typeface="Times New Roman" panose="02020603050405020304" pitchFamily="18" charset="0"/>
              </a:rPr>
              <a:t>为电路中的单个二端元件，</a:t>
            </a:r>
            <a:r>
              <a:rPr lang="zh-CN" altLang="en-US" sz="2400" b="1" dirty="0">
                <a:solidFill>
                  <a:srgbClr val="FF0000"/>
                </a:solidFill>
                <a:latin typeface="Times New Roman" panose="02020603050405020304" pitchFamily="18" charset="0"/>
              </a:rPr>
              <a:t>节点</a:t>
            </a:r>
            <a:r>
              <a:rPr lang="zh-CN" altLang="en-US" sz="2400" b="1" dirty="0">
                <a:latin typeface="Times New Roman" panose="02020603050405020304" pitchFamily="18" charset="0"/>
              </a:rPr>
              <a:t>为两条或者两条以上支路的连接点，</a:t>
            </a:r>
            <a:r>
              <a:rPr lang="zh-CN" altLang="en-US" sz="2400" b="1" dirty="0">
                <a:solidFill>
                  <a:srgbClr val="FF0000"/>
                </a:solidFill>
                <a:latin typeface="Times New Roman" panose="02020603050405020304" pitchFamily="18" charset="0"/>
              </a:rPr>
              <a:t>回路</a:t>
            </a:r>
            <a:r>
              <a:rPr lang="zh-CN" altLang="en-US" sz="2400" b="1" dirty="0">
                <a:latin typeface="Times New Roman" panose="02020603050405020304" pitchFamily="18" charset="0"/>
              </a:rPr>
              <a:t>为电路中的闭合路径。</a:t>
            </a:r>
            <a:endParaRPr lang="en-US" altLang="zh-CN" sz="2400" b="1" dirty="0">
              <a:latin typeface="Times New Roman" panose="02020603050405020304" pitchFamily="18" charset="0"/>
            </a:endParaRPr>
          </a:p>
          <a:p>
            <a:pPr eaLnBrk="1" hangingPunct="1">
              <a:lnSpc>
                <a:spcPct val="90000"/>
              </a:lnSpc>
              <a:spcBef>
                <a:spcPct val="50000"/>
              </a:spcBef>
              <a:buClr>
                <a:srgbClr val="96A0A0"/>
              </a:buClr>
              <a:buSzTx/>
            </a:pPr>
            <a:endParaRPr lang="en-US" altLang="zh-CN" sz="2400" b="1" dirty="0">
              <a:latin typeface="Times New Roman" panose="02020603050405020304" pitchFamily="18" charset="0"/>
            </a:endParaRPr>
          </a:p>
          <a:p>
            <a:pPr>
              <a:lnSpc>
                <a:spcPct val="90000"/>
              </a:lnSpc>
            </a:pPr>
            <a:r>
              <a:rPr lang="zh-CN" altLang="en-US" sz="2400" b="1" dirty="0">
                <a:latin typeface="Times New Roman" panose="02020603050405020304" pitchFamily="18" charset="0"/>
              </a:rPr>
              <a:t>基尔霍夫电流定律</a:t>
            </a:r>
            <a:r>
              <a:rPr lang="en-US" altLang="zh-CN" sz="2400" b="1" dirty="0">
                <a:latin typeface="Times New Roman" panose="02020603050405020304" pitchFamily="18" charset="0"/>
              </a:rPr>
              <a:t>(</a:t>
            </a:r>
            <a:r>
              <a:rPr lang="en-US" altLang="zh-CN" sz="2400" b="1" dirty="0">
                <a:solidFill>
                  <a:srgbClr val="FF0000"/>
                </a:solidFill>
                <a:latin typeface="Times New Roman" panose="02020603050405020304" pitchFamily="18" charset="0"/>
              </a:rPr>
              <a:t>KCL</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表明：任意一个节点电流的代数和为零。换言之：</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流入该节点的电流之和等于流出该节点的电流之和。</a:t>
            </a:r>
            <a:endParaRPr lang="en-US" altLang="zh-CN" sz="2400" b="1" dirty="0">
              <a:latin typeface="Times New Roman" panose="02020603050405020304" pitchFamily="18" charset="0"/>
            </a:endParaRPr>
          </a:p>
          <a:p>
            <a:pPr>
              <a:lnSpc>
                <a:spcPct val="90000"/>
              </a:lnSpc>
            </a:pPr>
            <a:endParaRPr lang="en-US" altLang="zh-CN" sz="2400" b="1" dirty="0">
              <a:latin typeface="Times New Roman" panose="02020603050405020304" pitchFamily="18" charset="0"/>
            </a:endParaRPr>
          </a:p>
          <a:p>
            <a:pPr>
              <a:lnSpc>
                <a:spcPct val="90000"/>
              </a:lnSpc>
            </a:pPr>
            <a:endParaRPr lang="en-US" altLang="zh-CN" sz="2400" b="1" dirty="0">
              <a:latin typeface="Times New Roman" panose="02020603050405020304" pitchFamily="18" charset="0"/>
            </a:endParaRPr>
          </a:p>
          <a:p>
            <a:pPr>
              <a:lnSpc>
                <a:spcPct val="90000"/>
              </a:lnSpc>
            </a:pPr>
            <a:endParaRPr lang="en-US" altLang="zh-CN" sz="2400" b="1" dirty="0">
              <a:latin typeface="Times New Roman" panose="02020603050405020304" pitchFamily="18" charset="0"/>
            </a:endParaRPr>
          </a:p>
          <a:p>
            <a:pPr>
              <a:lnSpc>
                <a:spcPct val="90000"/>
              </a:lnSpc>
            </a:pPr>
            <a:r>
              <a:rPr lang="zh-CN" altLang="en-US" sz="2400" b="1" dirty="0">
                <a:latin typeface="Times New Roman" panose="02020603050405020304" pitchFamily="18" charset="0"/>
              </a:rPr>
              <a:t>基尔霍夫电压定律</a:t>
            </a:r>
            <a:r>
              <a:rPr lang="en-US" altLang="zh-CN" sz="2400" b="1" dirty="0">
                <a:latin typeface="Times New Roman" panose="02020603050405020304" pitchFamily="18" charset="0"/>
              </a:rPr>
              <a:t>(</a:t>
            </a:r>
            <a:r>
              <a:rPr lang="en-US" altLang="zh-CN" sz="2400" b="1" dirty="0">
                <a:solidFill>
                  <a:srgbClr val="FF0000"/>
                </a:solidFill>
                <a:latin typeface="Times New Roman" panose="02020603050405020304" pitchFamily="18" charset="0"/>
              </a:rPr>
              <a:t>KVL</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表明： 任意闭合路径上的电压的代数和为零。换言之：回路中的电压升之和等于电压降之和。</a:t>
            </a:r>
            <a:endParaRPr lang="zh-CN" altLang="en-US" sz="2400" dirty="0">
              <a:latin typeface="Times New Roman" panose="02020603050405020304" pitchFamily="18" charset="0"/>
            </a:endParaRPr>
          </a:p>
        </p:txBody>
      </p:sp>
      <p:sp>
        <p:nvSpPr>
          <p:cNvPr id="78851"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graphicFrame>
        <p:nvGraphicFramePr>
          <p:cNvPr id="78852" name="Object 7"/>
          <p:cNvGraphicFramePr>
            <a:graphicFrameLocks noChangeAspect="1"/>
          </p:cNvGraphicFramePr>
          <p:nvPr/>
        </p:nvGraphicFramePr>
        <p:xfrm>
          <a:off x="4256088" y="5154613"/>
          <a:ext cx="1290637" cy="935037"/>
        </p:xfrm>
        <a:graphic>
          <a:graphicData uri="http://schemas.openxmlformats.org/presentationml/2006/ole">
            <mc:AlternateContent xmlns:mc="http://schemas.openxmlformats.org/markup-compatibility/2006">
              <mc:Choice xmlns:v="urn:schemas-microsoft-com:vml" Requires="v">
                <p:oleObj spid="_x0000_s3161" name="" r:id="rId1" imgW="596900" imgH="431800" progId="Equation.3">
                  <p:embed/>
                </p:oleObj>
              </mc:Choice>
              <mc:Fallback>
                <p:oleObj name="" r:id="rId1" imgW="596900" imgH="431800" progId="Equation.3">
                  <p:embed/>
                  <p:pic>
                    <p:nvPicPr>
                      <p:cNvPr id="0" name="图片 3160"/>
                      <p:cNvPicPr/>
                      <p:nvPr/>
                    </p:nvPicPr>
                    <p:blipFill>
                      <a:blip r:embed="rId2"/>
                      <a:stretch>
                        <a:fillRect/>
                      </a:stretch>
                    </p:blipFill>
                    <p:spPr>
                      <a:xfrm>
                        <a:off x="4256088" y="5154613"/>
                        <a:ext cx="1290637" cy="935037"/>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graphicFrame>
        <p:nvGraphicFramePr>
          <p:cNvPr id="78853" name="Object 7"/>
          <p:cNvGraphicFramePr>
            <a:graphicFrameLocks noChangeAspect="1"/>
          </p:cNvGraphicFramePr>
          <p:nvPr/>
        </p:nvGraphicFramePr>
        <p:xfrm>
          <a:off x="4211638" y="2984500"/>
          <a:ext cx="1152525" cy="889000"/>
        </p:xfrm>
        <a:graphic>
          <a:graphicData uri="http://schemas.openxmlformats.org/presentationml/2006/ole">
            <mc:AlternateContent xmlns:mc="http://schemas.openxmlformats.org/markup-compatibility/2006">
              <mc:Choice xmlns:v="urn:schemas-microsoft-com:vml" Requires="v">
                <p:oleObj spid="_x0000_s3158" name="" r:id="rId3" imgW="558800" imgH="431800" progId="Equation.DSMT4">
                  <p:embed/>
                </p:oleObj>
              </mc:Choice>
              <mc:Fallback>
                <p:oleObj name="" r:id="rId3" imgW="558800" imgH="431800" progId="Equation.DSMT4">
                  <p:embed/>
                  <p:pic>
                    <p:nvPicPr>
                      <p:cNvPr id="0" name="图片 3157"/>
                      <p:cNvPicPr/>
                      <p:nvPr/>
                    </p:nvPicPr>
                    <p:blipFill>
                      <a:blip r:embed="rId4"/>
                      <a:stretch>
                        <a:fillRect/>
                      </a:stretch>
                    </p:blipFill>
                    <p:spPr>
                      <a:xfrm>
                        <a:off x="4211638" y="2984500"/>
                        <a:ext cx="1152525" cy="889000"/>
                      </a:xfrm>
                      <a:prstGeom prst="rect">
                        <a:avLst/>
                      </a:prstGeom>
                      <a:noFill/>
                      <a:ln w="9525" cap="flat" cmpd="sng">
                        <a:solidFill>
                          <a:srgbClr val="CC0000"/>
                        </a:solidFill>
                        <a:prstDash val="solid"/>
                        <a:miter/>
                        <a:headEnd type="none" w="med" len="med"/>
                        <a:tailEnd type="none" w="med" len="med"/>
                      </a:ln>
                    </p:spPr>
                  </p:pic>
                </p:oleObj>
              </mc:Fallback>
            </mc:AlternateContent>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Text Box 2"/>
          <p:cNvSpPr txBox="1"/>
          <p:nvPr/>
        </p:nvSpPr>
        <p:spPr>
          <a:xfrm>
            <a:off x="539750" y="549275"/>
            <a:ext cx="8496300" cy="58166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
                <a:srgbClr val="96A0A0"/>
              </a:buClr>
              <a:buSzTx/>
            </a:pPr>
            <a:r>
              <a:rPr lang="zh-CN" altLang="en-US" sz="2400" b="1" dirty="0">
                <a:latin typeface="Times New Roman" panose="02020603050405020304" pitchFamily="18" charset="0"/>
                <a:cs typeface="Arial" panose="020B0604020202020204" pitchFamily="34" charset="0"/>
              </a:rPr>
              <a:t>首尾顺序连接的两个元件称为</a:t>
            </a:r>
            <a:r>
              <a:rPr lang="zh-CN" altLang="en-US" sz="2400" b="1" dirty="0">
                <a:solidFill>
                  <a:srgbClr val="FF0000"/>
                </a:solidFill>
                <a:latin typeface="Times New Roman" panose="02020603050405020304" pitchFamily="18" charset="0"/>
                <a:cs typeface="Arial" panose="020B0604020202020204" pitchFamily="34" charset="0"/>
              </a:rPr>
              <a:t>串联</a:t>
            </a:r>
            <a:r>
              <a:rPr lang="zh-CN" altLang="en-US" sz="2400" b="1" dirty="0">
                <a:latin typeface="Times New Roman" panose="02020603050405020304" pitchFamily="18" charset="0"/>
                <a:cs typeface="Arial" panose="020B0604020202020204" pitchFamily="34" charset="0"/>
              </a:rPr>
              <a:t>。流过串联元件的电流相同</a:t>
            </a:r>
            <a:r>
              <a:rPr lang="en-US" altLang="zh-CN" sz="2400" b="1" dirty="0">
                <a:latin typeface="Times New Roman" panose="02020603050405020304" pitchFamily="18" charset="0"/>
                <a:cs typeface="Arial" panose="020B0604020202020204" pitchFamily="34" charset="0"/>
              </a:rPr>
              <a:t> (</a:t>
            </a:r>
            <a:r>
              <a:rPr lang="en-US" altLang="zh-CN" sz="2400" b="1" i="1" dirty="0">
                <a:latin typeface="Times New Roman" panose="02020603050405020304" pitchFamily="18" charset="0"/>
                <a:cs typeface="Arial" panose="020B0604020202020204" pitchFamily="34" charset="0"/>
              </a:rPr>
              <a:t>i</a:t>
            </a:r>
            <a:r>
              <a:rPr lang="en-US" altLang="zh-CN" sz="2400" b="1" i="1" baseline="-25000" dirty="0">
                <a:latin typeface="Times New Roman" panose="02020603050405020304" pitchFamily="18" charset="0"/>
                <a:cs typeface="Arial" panose="020B0604020202020204" pitchFamily="34" charset="0"/>
              </a:rPr>
              <a:t>1</a:t>
            </a:r>
            <a:r>
              <a:rPr lang="en-US" altLang="zh-CN" sz="2400" b="1" i="1" dirty="0">
                <a:latin typeface="Times New Roman" panose="02020603050405020304" pitchFamily="18" charset="0"/>
                <a:cs typeface="Arial" panose="020B0604020202020204" pitchFamily="34" charset="0"/>
              </a:rPr>
              <a:t>=i</a:t>
            </a:r>
            <a:r>
              <a:rPr lang="en-US" altLang="zh-CN" sz="2400" b="1" i="1" baseline="-25000" dirty="0">
                <a:latin typeface="Times New Roman" panose="02020603050405020304" pitchFamily="18" charset="0"/>
                <a:cs typeface="Arial" panose="020B0604020202020204" pitchFamily="34" charset="0"/>
              </a:rPr>
              <a:t>2</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两端连接到相同两个节点上的两个元件称为</a:t>
            </a:r>
            <a:r>
              <a:rPr lang="zh-CN" altLang="en-US" sz="2400" b="1" dirty="0">
                <a:solidFill>
                  <a:srgbClr val="FF0000"/>
                </a:solidFill>
                <a:latin typeface="Times New Roman" panose="02020603050405020304" pitchFamily="18" charset="0"/>
                <a:cs typeface="Arial" panose="020B0604020202020204" pitchFamily="34" charset="0"/>
              </a:rPr>
              <a:t>并联</a:t>
            </a:r>
            <a:r>
              <a:rPr lang="zh-CN" altLang="en-US" sz="2400" b="1" dirty="0">
                <a:latin typeface="Times New Roman" panose="02020603050405020304" pitchFamily="18" charset="0"/>
                <a:cs typeface="Arial" panose="020B0604020202020204" pitchFamily="34" charset="0"/>
              </a:rPr>
              <a:t>。并联元件两端的电压相同</a:t>
            </a:r>
            <a:r>
              <a:rPr lang="en-US" altLang="zh-CN" sz="2400" b="1" dirty="0">
                <a:latin typeface="Times New Roman" panose="02020603050405020304" pitchFamily="18" charset="0"/>
                <a:cs typeface="Arial" panose="020B0604020202020204" pitchFamily="34" charset="0"/>
              </a:rPr>
              <a:t> (</a:t>
            </a:r>
            <a:r>
              <a:rPr lang="en-US" altLang="zh-CN" sz="2400" b="1" i="1" dirty="0">
                <a:latin typeface="Times New Roman" panose="02020603050405020304" pitchFamily="18" charset="0"/>
                <a:cs typeface="Arial" panose="020B0604020202020204" pitchFamily="34" charset="0"/>
              </a:rPr>
              <a:t>v</a:t>
            </a:r>
            <a:r>
              <a:rPr lang="en-US" altLang="zh-CN" sz="2400" b="1" i="1" baseline="-25000" dirty="0">
                <a:latin typeface="Times New Roman" panose="02020603050405020304" pitchFamily="18" charset="0"/>
                <a:cs typeface="Arial" panose="020B0604020202020204" pitchFamily="34" charset="0"/>
              </a:rPr>
              <a:t>1</a:t>
            </a:r>
            <a:r>
              <a:rPr lang="en-US" altLang="zh-CN" sz="2400" b="1" i="1" dirty="0">
                <a:latin typeface="Times New Roman" panose="02020603050405020304" pitchFamily="18" charset="0"/>
                <a:cs typeface="Arial" panose="020B0604020202020204" pitchFamily="34" charset="0"/>
              </a:rPr>
              <a:t>=v</a:t>
            </a:r>
            <a:r>
              <a:rPr lang="en-US" altLang="zh-CN" sz="2400" b="1" i="1" baseline="-25000" dirty="0">
                <a:latin typeface="Times New Roman" panose="02020603050405020304" pitchFamily="18" charset="0"/>
                <a:cs typeface="Arial" panose="020B0604020202020204" pitchFamily="34" charset="0"/>
              </a:rPr>
              <a:t>2</a:t>
            </a:r>
            <a:r>
              <a:rPr lang="en-US" altLang="zh-CN" sz="2400" b="1" dirty="0">
                <a:cs typeface="Arial" panose="020B0604020202020204" pitchFamily="34" charset="0"/>
              </a:rPr>
              <a:t>).</a:t>
            </a:r>
            <a:endParaRPr lang="en-US" altLang="zh-CN" sz="2400" b="1" dirty="0">
              <a:cs typeface="Arial" panose="020B0604020202020204" pitchFamily="34" charset="0"/>
            </a:endParaRPr>
          </a:p>
          <a:p>
            <a:pPr marL="0" lvl="0" indent="0" eaLnBrk="1" hangingPunct="1">
              <a:spcBef>
                <a:spcPct val="50000"/>
              </a:spcBef>
              <a:buClr>
                <a:srgbClr val="96A0A0"/>
              </a:buClr>
              <a:buSzTx/>
            </a:pPr>
            <a:endParaRPr lang="en-US" altLang="zh-CN" sz="2400" b="1" dirty="0">
              <a:cs typeface="Arial" panose="020B0604020202020204" pitchFamily="34" charset="0"/>
            </a:endParaRPr>
          </a:p>
          <a:p>
            <a:pPr marL="0" lvl="0" indent="0" eaLnBrk="1" hangingPunct="1">
              <a:spcBef>
                <a:spcPct val="50000"/>
              </a:spcBef>
              <a:buClr>
                <a:srgbClr val="96A0A0"/>
              </a:buClr>
              <a:buSzTx/>
            </a:pPr>
            <a:r>
              <a:rPr lang="zh-CN" altLang="en-US" sz="2400" b="1" dirty="0">
                <a:latin typeface="Times New Roman" panose="02020603050405020304" pitchFamily="18" charset="0"/>
                <a:cs typeface="Arial" panose="020B0604020202020204" pitchFamily="34" charset="0"/>
              </a:rPr>
              <a:t>当两个电阻</a:t>
            </a:r>
            <a:r>
              <a:rPr lang="en-US" altLang="zh-CN" sz="2400" b="1" i="1" dirty="0">
                <a:latin typeface="Times New Roman" panose="02020603050405020304" pitchFamily="18" charset="0"/>
                <a:cs typeface="Arial" panose="020B0604020202020204" pitchFamily="34" charset="0"/>
              </a:rPr>
              <a:t>R</a:t>
            </a:r>
            <a:r>
              <a:rPr lang="en-US" altLang="zh-CN" sz="2400" b="1" i="1" baseline="-25000" dirty="0">
                <a:latin typeface="Times New Roman" panose="02020603050405020304" pitchFamily="18" charset="0"/>
                <a:cs typeface="Arial" panose="020B0604020202020204" pitchFamily="34" charset="0"/>
              </a:rPr>
              <a:t>1</a:t>
            </a:r>
            <a:r>
              <a:rPr lang="en-US" altLang="zh-CN" sz="2400" b="1" dirty="0">
                <a:latin typeface="Times New Roman" panose="02020603050405020304" pitchFamily="18" charset="0"/>
                <a:cs typeface="Arial" panose="020B0604020202020204" pitchFamily="34" charset="0"/>
              </a:rPr>
              <a:t> (=</a:t>
            </a:r>
            <a:r>
              <a:rPr lang="en-US" altLang="zh-CN" sz="2400" b="1" i="1" dirty="0">
                <a:latin typeface="Times New Roman" panose="02020603050405020304" pitchFamily="18" charset="0"/>
                <a:cs typeface="Arial" panose="020B0604020202020204" pitchFamily="34" charset="0"/>
              </a:rPr>
              <a:t>1/G</a:t>
            </a:r>
            <a:r>
              <a:rPr lang="en-US" altLang="zh-CN" sz="2400" b="1" i="1" baseline="-25000" dirty="0">
                <a:latin typeface="Times New Roman" panose="02020603050405020304" pitchFamily="18" charset="0"/>
                <a:cs typeface="Arial" panose="020B0604020202020204" pitchFamily="34" charset="0"/>
              </a:rPr>
              <a:t>1</a:t>
            </a:r>
            <a:r>
              <a:rPr lang="en-US" altLang="zh-CN" sz="2400" b="1" dirty="0">
                <a:latin typeface="Times New Roman" panose="02020603050405020304" pitchFamily="18" charset="0"/>
                <a:cs typeface="Arial" panose="020B0604020202020204" pitchFamily="34" charset="0"/>
              </a:rPr>
              <a:t>) and </a:t>
            </a:r>
            <a:r>
              <a:rPr lang="en-US" altLang="zh-CN" sz="2400" b="1" i="1" dirty="0">
                <a:latin typeface="Times New Roman" panose="02020603050405020304" pitchFamily="18" charset="0"/>
                <a:cs typeface="Arial" panose="020B0604020202020204" pitchFamily="34" charset="0"/>
              </a:rPr>
              <a:t>R</a:t>
            </a:r>
            <a:r>
              <a:rPr lang="en-US" altLang="zh-CN" sz="2400" b="1" i="1" baseline="-25000" dirty="0">
                <a:latin typeface="Times New Roman" panose="02020603050405020304" pitchFamily="18" charset="0"/>
                <a:cs typeface="Arial" panose="020B0604020202020204" pitchFamily="34" charset="0"/>
              </a:rPr>
              <a:t>2</a:t>
            </a:r>
            <a:r>
              <a:rPr lang="en-US" altLang="zh-CN" sz="2400" b="1" dirty="0">
                <a:latin typeface="Times New Roman" panose="02020603050405020304" pitchFamily="18" charset="0"/>
                <a:cs typeface="Arial" panose="020B0604020202020204" pitchFamily="34" charset="0"/>
              </a:rPr>
              <a:t> (=</a:t>
            </a:r>
            <a:r>
              <a:rPr lang="en-US" altLang="zh-CN" sz="2400" b="1" i="1" dirty="0">
                <a:latin typeface="Times New Roman" panose="02020603050405020304" pitchFamily="18" charset="0"/>
                <a:cs typeface="Arial" panose="020B0604020202020204" pitchFamily="34" charset="0"/>
              </a:rPr>
              <a:t>1/G</a:t>
            </a:r>
            <a:r>
              <a:rPr lang="en-US" altLang="zh-CN" sz="2400" b="1" i="1" baseline="-25000" dirty="0">
                <a:latin typeface="Times New Roman" panose="02020603050405020304" pitchFamily="18" charset="0"/>
                <a:cs typeface="Arial" panose="020B0604020202020204" pitchFamily="34" charset="0"/>
              </a:rPr>
              <a:t>2</a:t>
            </a:r>
            <a:r>
              <a:rPr lang="en-US" altLang="zh-CN" sz="2400" b="1" dirty="0">
                <a:latin typeface="Times New Roman" panose="02020603050405020304" pitchFamily="18" charset="0"/>
                <a:cs typeface="Arial" panose="020B0604020202020204" pitchFamily="34" charset="0"/>
              </a:rPr>
              <a:t>)</a:t>
            </a:r>
            <a:r>
              <a:rPr lang="zh-CN" altLang="en-US" sz="2400" b="1" dirty="0">
                <a:latin typeface="Times New Roman" panose="02020603050405020304" pitchFamily="18" charset="0"/>
                <a:cs typeface="Arial" panose="020B0604020202020204" pitchFamily="34" charset="0"/>
              </a:rPr>
              <a:t>串联连接时</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它们的</a:t>
            </a:r>
            <a:r>
              <a:rPr lang="zh-CN" altLang="en-US" sz="2400" b="1" dirty="0">
                <a:solidFill>
                  <a:srgbClr val="FF0000"/>
                </a:solidFill>
                <a:latin typeface="Times New Roman" panose="02020603050405020304" pitchFamily="18" charset="0"/>
                <a:cs typeface="Arial" panose="020B0604020202020204" pitchFamily="34" charset="0"/>
              </a:rPr>
              <a:t>等效电阻</a:t>
            </a:r>
            <a:r>
              <a:rPr lang="en-US" altLang="zh-CN" sz="2400" b="1" i="1" dirty="0">
                <a:latin typeface="Times New Roman" panose="02020603050405020304" pitchFamily="18" charset="0"/>
                <a:cs typeface="Arial" panose="020B0604020202020204" pitchFamily="34" charset="0"/>
              </a:rPr>
              <a:t>R</a:t>
            </a:r>
            <a:r>
              <a:rPr lang="en-US" altLang="zh-CN" sz="2400" b="1" i="1" baseline="-12000" dirty="0">
                <a:latin typeface="Times New Roman" panose="02020603050405020304" pitchFamily="18" charset="0"/>
                <a:cs typeface="Arial" panose="020B0604020202020204" pitchFamily="34" charset="0"/>
              </a:rPr>
              <a:t>eq</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或等效电导</a:t>
            </a:r>
            <a:r>
              <a:rPr lang="en-US" altLang="zh-CN" sz="2400" b="1" i="1" dirty="0">
                <a:latin typeface="Times New Roman" panose="02020603050405020304" pitchFamily="18" charset="0"/>
                <a:cs typeface="Arial" panose="020B0604020202020204" pitchFamily="34" charset="0"/>
              </a:rPr>
              <a:t>G</a:t>
            </a:r>
            <a:r>
              <a:rPr lang="en-US" altLang="zh-CN" sz="2400" b="1" i="1" baseline="-12000" dirty="0">
                <a:latin typeface="Times New Roman" panose="02020603050405020304" pitchFamily="18" charset="0"/>
                <a:cs typeface="Arial" panose="020B0604020202020204" pitchFamily="34" charset="0"/>
              </a:rPr>
              <a:t>eq</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为</a:t>
            </a:r>
            <a:r>
              <a:rPr lang="en-US" altLang="zh-CN" sz="2400" b="1" dirty="0">
                <a:latin typeface="Times New Roman" panose="02020603050405020304" pitchFamily="18" charset="0"/>
                <a:cs typeface="Arial" panose="020B0604020202020204" pitchFamily="34" charset="0"/>
              </a:rPr>
              <a:t>             </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
                <a:srgbClr val="96A0A0"/>
              </a:buClr>
              <a:buSzTx/>
            </a:pP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
                <a:srgbClr val="96A0A0"/>
              </a:buClr>
              <a:buSzTx/>
            </a:pP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
                <a:srgbClr val="96A0A0"/>
              </a:buClr>
              <a:buSzTx/>
            </a:pPr>
            <a:r>
              <a:rPr lang="zh-CN" altLang="en-US" sz="2400" b="1" dirty="0">
                <a:latin typeface="Times New Roman" panose="02020603050405020304" pitchFamily="18" charset="0"/>
                <a:cs typeface="Arial" panose="020B0604020202020204" pitchFamily="34" charset="0"/>
              </a:rPr>
              <a:t>当两个电阻</a:t>
            </a:r>
            <a:r>
              <a:rPr lang="en-US" altLang="zh-CN" sz="2400" b="1" i="1" dirty="0">
                <a:latin typeface="Times New Roman" panose="02020603050405020304" pitchFamily="18" charset="0"/>
                <a:cs typeface="Arial" panose="020B0604020202020204" pitchFamily="34" charset="0"/>
              </a:rPr>
              <a:t>R</a:t>
            </a:r>
            <a:r>
              <a:rPr lang="en-US" altLang="zh-CN" sz="2400" b="1" i="1" baseline="-25000" dirty="0">
                <a:latin typeface="Times New Roman" panose="02020603050405020304" pitchFamily="18" charset="0"/>
                <a:cs typeface="Arial" panose="020B0604020202020204" pitchFamily="34" charset="0"/>
              </a:rPr>
              <a:t>1</a:t>
            </a:r>
            <a:r>
              <a:rPr lang="en-US" altLang="zh-CN" sz="2400" b="1" dirty="0">
                <a:latin typeface="Times New Roman" panose="02020603050405020304" pitchFamily="18" charset="0"/>
                <a:cs typeface="Arial" panose="020B0604020202020204" pitchFamily="34" charset="0"/>
              </a:rPr>
              <a:t> (=</a:t>
            </a:r>
            <a:r>
              <a:rPr lang="en-US" altLang="zh-CN" sz="2400" b="1" i="1" dirty="0">
                <a:latin typeface="Times New Roman" panose="02020603050405020304" pitchFamily="18" charset="0"/>
                <a:cs typeface="Arial" panose="020B0604020202020204" pitchFamily="34" charset="0"/>
              </a:rPr>
              <a:t>1/G</a:t>
            </a:r>
            <a:r>
              <a:rPr lang="en-US" altLang="zh-CN" sz="2400" b="1" i="1" baseline="-25000" dirty="0">
                <a:latin typeface="Times New Roman" panose="02020603050405020304" pitchFamily="18" charset="0"/>
                <a:cs typeface="Arial" panose="020B0604020202020204" pitchFamily="34" charset="0"/>
              </a:rPr>
              <a:t>1</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和</a:t>
            </a:r>
            <a:r>
              <a:rPr lang="en-US" altLang="zh-CN" sz="2400" b="1" dirty="0">
                <a:latin typeface="Times New Roman" panose="02020603050405020304" pitchFamily="18" charset="0"/>
                <a:cs typeface="Arial" panose="020B0604020202020204" pitchFamily="34" charset="0"/>
              </a:rPr>
              <a:t> R2 (=1/G</a:t>
            </a:r>
            <a:r>
              <a:rPr lang="en-US" altLang="zh-CN" sz="2400" b="1" baseline="-25000" dirty="0">
                <a:latin typeface="Times New Roman" panose="02020603050405020304" pitchFamily="18" charset="0"/>
                <a:cs typeface="Arial" panose="020B0604020202020204" pitchFamily="34" charset="0"/>
              </a:rPr>
              <a:t>2</a:t>
            </a:r>
            <a:r>
              <a:rPr lang="en-US" altLang="zh-CN" sz="2400" b="1" dirty="0">
                <a:latin typeface="Times New Roman" panose="02020603050405020304" pitchFamily="18" charset="0"/>
                <a:cs typeface="Arial" panose="020B0604020202020204" pitchFamily="34" charset="0"/>
              </a:rPr>
              <a:t>)</a:t>
            </a:r>
            <a:r>
              <a:rPr lang="zh-CN" altLang="en-US" sz="2400" b="1" dirty="0">
                <a:latin typeface="Times New Roman" panose="02020603050405020304" pitchFamily="18" charset="0"/>
                <a:cs typeface="Arial" panose="020B0604020202020204" pitchFamily="34" charset="0"/>
              </a:rPr>
              <a:t>并联连接时</a:t>
            </a:r>
            <a:r>
              <a:rPr lang="en-US" altLang="zh-CN" sz="2400" b="1" dirty="0">
                <a:latin typeface="Times New Roman" panose="02020603050405020304" pitchFamily="18" charset="0"/>
                <a:cs typeface="Arial" panose="020B0604020202020204" pitchFamily="34" charset="0"/>
              </a:rPr>
              <a:t>,</a:t>
            </a:r>
            <a:r>
              <a:rPr lang="zh-CN" altLang="en-US" sz="2400" b="1" dirty="0">
                <a:latin typeface="Times New Roman" panose="02020603050405020304" pitchFamily="18" charset="0"/>
                <a:cs typeface="Arial" panose="020B0604020202020204" pitchFamily="34" charset="0"/>
              </a:rPr>
              <a:t>它们的等效电阻</a:t>
            </a:r>
            <a:r>
              <a:rPr lang="en-US" altLang="zh-CN" sz="2400" b="1" i="1" dirty="0">
                <a:latin typeface="Times New Roman" panose="02020603050405020304" pitchFamily="18" charset="0"/>
                <a:cs typeface="Arial" panose="020B0604020202020204" pitchFamily="34" charset="0"/>
              </a:rPr>
              <a:t>R</a:t>
            </a:r>
            <a:r>
              <a:rPr lang="en-US" altLang="zh-CN" sz="2400" b="1" i="1" baseline="-12000" dirty="0">
                <a:latin typeface="Times New Roman" panose="02020603050405020304" pitchFamily="18" charset="0"/>
                <a:cs typeface="Arial" panose="020B0604020202020204" pitchFamily="34" charset="0"/>
              </a:rPr>
              <a:t>eq</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或</a:t>
            </a:r>
            <a:r>
              <a:rPr lang="zh-CN" altLang="en-US" sz="2400" b="1" dirty="0">
                <a:solidFill>
                  <a:srgbClr val="FF0000"/>
                </a:solidFill>
                <a:latin typeface="Times New Roman" panose="02020603050405020304" pitchFamily="18" charset="0"/>
                <a:cs typeface="Arial" panose="020B0604020202020204" pitchFamily="34" charset="0"/>
              </a:rPr>
              <a:t>等效电导</a:t>
            </a:r>
            <a:r>
              <a:rPr lang="en-US" altLang="zh-CN" sz="2400" b="1" i="1" dirty="0">
                <a:latin typeface="Times New Roman" panose="02020603050405020304" pitchFamily="18" charset="0"/>
                <a:cs typeface="Arial" panose="020B0604020202020204" pitchFamily="34" charset="0"/>
              </a:rPr>
              <a:t>G</a:t>
            </a:r>
            <a:r>
              <a:rPr lang="en-US" altLang="zh-CN" sz="2400" b="1" i="1" baseline="-12000" dirty="0">
                <a:latin typeface="Times New Roman" panose="02020603050405020304" pitchFamily="18" charset="0"/>
                <a:cs typeface="Arial" panose="020B0604020202020204" pitchFamily="34" charset="0"/>
              </a:rPr>
              <a:t>eq</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为</a:t>
            </a:r>
            <a:r>
              <a:rPr lang="en-US" altLang="zh-CN" sz="2400" b="1" dirty="0">
                <a:latin typeface="Times New Roman" panose="02020603050405020304" pitchFamily="18" charset="0"/>
                <a:cs typeface="Arial" panose="020B0604020202020204" pitchFamily="34" charset="0"/>
              </a:rPr>
              <a:t>             </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
                <a:srgbClr val="96A0A0"/>
              </a:buClr>
              <a:buSzTx/>
            </a:pP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
                <a:srgbClr val="96A0A0"/>
              </a:buClr>
              <a:buSzTx/>
              <a:buNone/>
            </a:pPr>
            <a:r>
              <a:rPr lang="en-US" altLang="zh-CN" sz="2400" b="1" dirty="0">
                <a:latin typeface="Times New Roman" panose="02020603050405020304" pitchFamily="18" charset="0"/>
                <a:cs typeface="Arial" panose="020B0604020202020204" pitchFamily="34" charset="0"/>
              </a:rPr>
              <a:t>                          </a:t>
            </a:r>
            <a:endParaRPr lang="en-US" altLang="zh-CN" sz="2400" b="1" dirty="0">
              <a:latin typeface="Times New Roman" panose="02020603050405020304" pitchFamily="18" charset="0"/>
              <a:ea typeface="Arial" panose="020B0604020202020204" pitchFamily="34" charset="0"/>
            </a:endParaRPr>
          </a:p>
        </p:txBody>
      </p:sp>
      <p:graphicFrame>
        <p:nvGraphicFramePr>
          <p:cNvPr id="79875" name="Object 3"/>
          <p:cNvGraphicFramePr>
            <a:graphicFrameLocks noChangeAspect="1"/>
          </p:cNvGraphicFramePr>
          <p:nvPr/>
        </p:nvGraphicFramePr>
        <p:xfrm>
          <a:off x="2152650" y="3135313"/>
          <a:ext cx="4837113" cy="769937"/>
        </p:xfrm>
        <a:graphic>
          <a:graphicData uri="http://schemas.openxmlformats.org/presentationml/2006/ole">
            <mc:AlternateContent xmlns:mc="http://schemas.openxmlformats.org/markup-compatibility/2006">
              <mc:Choice xmlns:v="urn:schemas-microsoft-com:vml" Requires="v">
                <p:oleObj spid="_x0000_s3153" name="" r:id="rId1" imgW="2259330" imgH="431800" progId="Equation.DSMT4">
                  <p:embed/>
                </p:oleObj>
              </mc:Choice>
              <mc:Fallback>
                <p:oleObj name="" r:id="rId1" imgW="2259330" imgH="431800" progId="Equation.DSMT4">
                  <p:embed/>
                  <p:pic>
                    <p:nvPicPr>
                      <p:cNvPr id="0" name="图片 3152"/>
                      <p:cNvPicPr/>
                      <p:nvPr/>
                    </p:nvPicPr>
                    <p:blipFill>
                      <a:blip r:embed="rId2"/>
                      <a:stretch>
                        <a:fillRect/>
                      </a:stretch>
                    </p:blipFill>
                    <p:spPr>
                      <a:xfrm>
                        <a:off x="2152650" y="3135313"/>
                        <a:ext cx="4837113" cy="769937"/>
                      </a:xfrm>
                      <a:prstGeom prst="rect">
                        <a:avLst/>
                      </a:prstGeom>
                      <a:noFill/>
                      <a:ln w="38100">
                        <a:noFill/>
                        <a:miter/>
                      </a:ln>
                    </p:spPr>
                  </p:pic>
                </p:oleObj>
              </mc:Fallback>
            </mc:AlternateContent>
          </a:graphicData>
        </a:graphic>
      </p:graphicFrame>
      <p:graphicFrame>
        <p:nvGraphicFramePr>
          <p:cNvPr id="79876" name="Object 4"/>
          <p:cNvGraphicFramePr>
            <a:graphicFrameLocks noChangeAspect="1"/>
          </p:cNvGraphicFramePr>
          <p:nvPr/>
        </p:nvGraphicFramePr>
        <p:xfrm>
          <a:off x="2243138" y="5353050"/>
          <a:ext cx="4657725" cy="790575"/>
        </p:xfrm>
        <a:graphic>
          <a:graphicData uri="http://schemas.openxmlformats.org/presentationml/2006/ole">
            <mc:AlternateContent xmlns:mc="http://schemas.openxmlformats.org/markup-compatibility/2006">
              <mc:Choice xmlns:v="urn:schemas-microsoft-com:vml" Requires="v">
                <p:oleObj spid="_x0000_s3160" name="" r:id="rId3" imgW="2094865" imgH="431800" progId="Equation.DSMT4">
                  <p:embed/>
                </p:oleObj>
              </mc:Choice>
              <mc:Fallback>
                <p:oleObj name="" r:id="rId3" imgW="2094865" imgH="431800" progId="Equation.DSMT4">
                  <p:embed/>
                  <p:pic>
                    <p:nvPicPr>
                      <p:cNvPr id="0" name="图片 3159"/>
                      <p:cNvPicPr/>
                      <p:nvPr/>
                    </p:nvPicPr>
                    <p:blipFill>
                      <a:blip r:embed="rId4"/>
                      <a:stretch>
                        <a:fillRect/>
                      </a:stretch>
                    </p:blipFill>
                    <p:spPr>
                      <a:xfrm>
                        <a:off x="2243138" y="5353050"/>
                        <a:ext cx="4657725" cy="790575"/>
                      </a:xfrm>
                      <a:prstGeom prst="rect">
                        <a:avLst/>
                      </a:prstGeom>
                      <a:noFill/>
                      <a:ln w="38100">
                        <a:noFill/>
                        <a:miter/>
                      </a:ln>
                    </p:spPr>
                  </p:pic>
                </p:oleObj>
              </mc:Fallback>
            </mc:AlternateContent>
          </a:graphicData>
        </a:graphic>
      </p:graphicFrame>
      <p:sp>
        <p:nvSpPr>
          <p:cNvPr id="79877"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Text Box 2"/>
          <p:cNvSpPr txBox="1">
            <a:spLocks noChangeArrowheads="1"/>
          </p:cNvSpPr>
          <p:nvPr/>
        </p:nvSpPr>
        <p:spPr bwMode="auto">
          <a:xfrm>
            <a:off x="395288" y="444500"/>
            <a:ext cx="8424863" cy="6278563"/>
          </a:xfrm>
          <a:prstGeom prst="rect">
            <a:avLst/>
          </a:prstGeom>
          <a:noFill/>
          <a:ln>
            <a:noFill/>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
                <a:srgbClr val="96A0A0"/>
              </a:buClr>
              <a:buSzTx/>
              <a:buFont typeface="Wingdings" panose="05000000000000000000" pitchFamily="2" charset="2"/>
              <a:buChar char="n"/>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Arial" panose="020B0604020202020204" pitchFamily="34" charset="0"/>
              </a:rPr>
              <a:t>两个串联电阻的</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Arial" panose="020B0604020202020204" pitchFamily="34" charset="0"/>
              </a:rPr>
              <a:t>分压</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Arial" panose="020B0604020202020204" pitchFamily="34" charset="0"/>
              </a:rPr>
              <a:t>原理可表示为：</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Arial" panose="020B0604020202020204" pitchFamily="34" charset="0"/>
            </a:endParaRPr>
          </a:p>
          <a:p>
            <a:pPr marL="0" marR="0" lvl="0" indent="0" algn="l" defTabSz="914400" rtl="0" eaLnBrk="1" fontAlgn="base" latinLnBrk="0" hangingPunct="1">
              <a:lnSpc>
                <a:spcPct val="100000"/>
              </a:lnSpc>
              <a:spcBef>
                <a:spcPct val="50000"/>
              </a:spcBef>
              <a:spcAft>
                <a:spcPct val="0"/>
              </a:spcAft>
              <a:buClr>
                <a:srgbClr val="96A0A0"/>
              </a:buClr>
              <a:buSzTx/>
              <a:buFont typeface="Wingdings" panose="05000000000000000000" pitchFamily="2" charset="2"/>
              <a:buChar char="n"/>
              <a:defRPr/>
            </a:pP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Arial" panose="020B0604020202020204" pitchFamily="34" charset="0"/>
            </a:endParaRPr>
          </a:p>
          <a:p>
            <a:pPr marL="0" marR="0" lvl="0" indent="0" algn="l" defTabSz="914400" rtl="0" eaLnBrk="1" fontAlgn="base" latinLnBrk="0" hangingPunct="1">
              <a:lnSpc>
                <a:spcPct val="100000"/>
              </a:lnSpc>
              <a:spcBef>
                <a:spcPct val="50000"/>
              </a:spcBef>
              <a:spcAft>
                <a:spcPct val="0"/>
              </a:spcAft>
              <a:buClr>
                <a:srgbClr val="96A0A0"/>
              </a:buClr>
              <a:buSzTx/>
              <a:buFont typeface="Wingdings" panose="05000000000000000000" pitchFamily="2" charset="2"/>
              <a:buNone/>
              <a:defRPr/>
            </a:pP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Arial" panose="020B0604020202020204" pitchFamily="34" charset="0"/>
            </a:endParaRPr>
          </a:p>
          <a:p>
            <a:pPr marL="0" marR="0" lvl="0" indent="0" algn="l" defTabSz="914400" rtl="0" eaLnBrk="1" fontAlgn="base" latinLnBrk="0" hangingPunct="1">
              <a:lnSpc>
                <a:spcPct val="100000"/>
              </a:lnSpc>
              <a:spcBef>
                <a:spcPct val="50000"/>
              </a:spcBef>
              <a:spcAft>
                <a:spcPct val="0"/>
              </a:spcAft>
              <a:buClr>
                <a:srgbClr val="96A0A0"/>
              </a:buClr>
              <a:buSzTx/>
              <a:buFont typeface="Wingdings" panose="05000000000000000000" pitchFamily="2" charset="2"/>
              <a:buChar char="n"/>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Arial" panose="020B0604020202020204" pitchFamily="34" charset="0"/>
              </a:rPr>
              <a:t>两个并联电阻的</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Arial" panose="020B0604020202020204" pitchFamily="34" charset="0"/>
              </a:rPr>
              <a:t>分流</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Arial" panose="020B0604020202020204" pitchFamily="34" charset="0"/>
              </a:rPr>
              <a:t>原理可表示为：</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Arial" panose="020B0604020202020204" pitchFamily="34" charset="0"/>
            </a:endParaRPr>
          </a:p>
          <a:p>
            <a:pPr marL="0" marR="0" lvl="0" indent="0" algn="l" defTabSz="914400" rtl="0" eaLnBrk="1" fontAlgn="base" latinLnBrk="0" hangingPunct="1">
              <a:lnSpc>
                <a:spcPct val="100000"/>
              </a:lnSpc>
              <a:spcBef>
                <a:spcPct val="50000"/>
              </a:spcBef>
              <a:spcAft>
                <a:spcPct val="0"/>
              </a:spcAft>
              <a:buClr>
                <a:srgbClr val="96A0A0"/>
              </a:buClr>
              <a:buSzTx/>
              <a:buFont typeface="Wingdings" panose="05000000000000000000" pitchFamily="2" charset="2"/>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Arial" panose="020B0604020202020204" pitchFamily="34" charset="0"/>
              </a:rPr>
              <a:t>                           </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Arial" panose="020B0604020202020204" pitchFamily="34" charset="0"/>
            </a:endParaRPr>
          </a:p>
          <a:p>
            <a:pPr marL="0" marR="0" lvl="0" indent="0" algn="l" defTabSz="914400" rtl="0" eaLnBrk="1" fontAlgn="base" latinLnBrk="0" hangingPunct="1">
              <a:lnSpc>
                <a:spcPct val="100000"/>
              </a:lnSpc>
              <a:spcBef>
                <a:spcPct val="50000"/>
              </a:spcBef>
              <a:spcAft>
                <a:spcPct val="0"/>
              </a:spcAft>
              <a:buClr>
                <a:srgbClr val="96A0A0"/>
              </a:buClr>
              <a:buSzTx/>
              <a:buFont typeface="Wingdings" panose="05000000000000000000" pitchFamily="2" charset="2"/>
              <a:buChar char="n"/>
              <a:defRPr/>
            </a:pP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Arial" panose="020B0604020202020204" pitchFamily="34" charset="0"/>
            </a:endParaRPr>
          </a:p>
          <a:p>
            <a:pPr marL="0" marR="0" lvl="0" indent="0" algn="l" defTabSz="914400" rtl="0" eaLnBrk="1" fontAlgn="base" latinLnBrk="0" hangingPunct="1">
              <a:lnSpc>
                <a:spcPct val="100000"/>
              </a:lnSpc>
              <a:spcBef>
                <a:spcPct val="50000"/>
              </a:spcBef>
              <a:spcAft>
                <a:spcPct val="0"/>
              </a:spcAft>
              <a:buClr>
                <a:srgbClr val="96A0A0"/>
              </a:buClr>
              <a:buSzTx/>
              <a:buFont typeface="Wingdings" panose="05000000000000000000" pitchFamily="2" charset="2"/>
              <a:buChar char="n"/>
              <a:defRPr/>
            </a:pPr>
            <a:r>
              <a:rPr kumimoji="0" lang="en-US" altLang="zh-CN" sz="2400" b="1"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宋体" panose="02010600030101010101" pitchFamily="2" charset="-122"/>
                <a:cs typeface="Arial" panose="020B0604020202020204" pitchFamily="34" charset="0"/>
              </a:rPr>
              <a:t>The formulas for a delta-to-wye transformation are</a:t>
            </a:r>
            <a:endParaRPr kumimoji="0" lang="en-US" altLang="zh-CN" sz="2400" b="1"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宋体" panose="02010600030101010101" pitchFamily="2" charset="-122"/>
              <a:cs typeface="Arial" panose="020B0604020202020204" pitchFamily="34" charset="0"/>
            </a:endParaRPr>
          </a:p>
          <a:p>
            <a:pPr marL="0" marR="0" lvl="0" indent="0" algn="l" defTabSz="914400" rtl="0" eaLnBrk="1" fontAlgn="base" latinLnBrk="0" hangingPunct="1">
              <a:lnSpc>
                <a:spcPct val="100000"/>
              </a:lnSpc>
              <a:spcBef>
                <a:spcPct val="50000"/>
              </a:spcBef>
              <a:spcAft>
                <a:spcPct val="0"/>
              </a:spcAft>
              <a:buClr>
                <a:srgbClr val="96A0A0"/>
              </a:buClr>
              <a:buSzTx/>
              <a:buFont typeface="Wingdings" panose="05000000000000000000" pitchFamily="2" charset="2"/>
              <a:buChar char="n"/>
              <a:defRPr/>
            </a:pPr>
            <a:endParaRPr kumimoji="0" lang="en-US" altLang="zh-CN" sz="2400" b="1"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宋体" panose="02010600030101010101" pitchFamily="2" charset="-122"/>
              <a:cs typeface="Arial" panose="020B0604020202020204" pitchFamily="34" charset="0"/>
            </a:endParaRPr>
          </a:p>
          <a:p>
            <a:pPr marL="0" marR="0" lvl="0" indent="0" algn="l" defTabSz="914400" rtl="0" eaLnBrk="1" fontAlgn="base" latinLnBrk="0" hangingPunct="1">
              <a:lnSpc>
                <a:spcPct val="100000"/>
              </a:lnSpc>
              <a:spcBef>
                <a:spcPct val="50000"/>
              </a:spcBef>
              <a:spcAft>
                <a:spcPct val="0"/>
              </a:spcAft>
              <a:buClr>
                <a:srgbClr val="96A0A0"/>
              </a:buClr>
              <a:buSzTx/>
              <a:buFont typeface="Wingdings" panose="05000000000000000000" pitchFamily="2" charset="2"/>
              <a:buChar char="n"/>
              <a:defRPr/>
            </a:pPr>
            <a:r>
              <a:rPr kumimoji="0" lang="en-US" altLang="zh-CN" sz="2400" b="1"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宋体" panose="02010600030101010101" pitchFamily="2" charset="-122"/>
                <a:cs typeface="Arial" panose="020B0604020202020204" pitchFamily="34" charset="0"/>
              </a:rPr>
              <a:t>The formulas for a wye-to delta transformation are</a:t>
            </a:r>
            <a:r>
              <a:rPr kumimoji="0" lang="en-US" altLang="zh-CN" sz="2000" b="1"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宋体" panose="02010600030101010101" pitchFamily="2" charset="-122"/>
                <a:cs typeface="Arial" panose="020B0604020202020204" pitchFamily="34" charset="0"/>
              </a:rPr>
              <a:t> </a:t>
            </a:r>
            <a:endParaRPr kumimoji="0" lang="en-US" altLang="zh-CN" sz="2000" b="1"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宋体" panose="02010600030101010101" pitchFamily="2" charset="-122"/>
              <a:cs typeface="Arial" panose="020B0604020202020204" pitchFamily="34" charset="0"/>
            </a:endParaRPr>
          </a:p>
          <a:p>
            <a:pPr marL="0" marR="0" lvl="0" indent="0" algn="l" defTabSz="914400" rtl="0" eaLnBrk="1" fontAlgn="base" latinLnBrk="0" hangingPunct="1">
              <a:lnSpc>
                <a:spcPct val="100000"/>
              </a:lnSpc>
              <a:spcBef>
                <a:spcPct val="50000"/>
              </a:spcBef>
              <a:spcAft>
                <a:spcPct val="0"/>
              </a:spcAft>
              <a:buClr>
                <a:srgbClr val="96A0A0"/>
              </a:buClr>
              <a:buSzTx/>
              <a:buFont typeface="Wingdings" panose="05000000000000000000" pitchFamily="2" charset="2"/>
              <a:buChar char="n"/>
              <a:defRPr/>
            </a:pPr>
            <a:endParaRPr kumimoji="0" lang="en-US" altLang="zh-CN" sz="2000" b="1"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宋体" panose="02010600030101010101" pitchFamily="2" charset="-122"/>
              <a:cs typeface="Arial" panose="020B0604020202020204" pitchFamily="34" charset="0"/>
            </a:endParaRPr>
          </a:p>
          <a:p>
            <a:pPr marL="0" marR="0" lvl="0" indent="0" algn="l" defTabSz="914400" rtl="0" eaLnBrk="1" fontAlgn="base" latinLnBrk="0" hangingPunct="1">
              <a:lnSpc>
                <a:spcPct val="100000"/>
              </a:lnSpc>
              <a:spcBef>
                <a:spcPct val="50000"/>
              </a:spcBef>
              <a:spcAft>
                <a:spcPct val="0"/>
              </a:spcAft>
              <a:buClr>
                <a:srgbClr val="96A0A0"/>
              </a:buClr>
              <a:buSzTx/>
              <a:buFont typeface="Wingdings" panose="05000000000000000000" pitchFamily="2" charset="2"/>
              <a:buChar char="n"/>
              <a:defRPr/>
            </a:pPr>
            <a:endParaRPr kumimoji="0" lang="en-US" altLang="zh-CN" sz="2000" b="1"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宋体" panose="02010600030101010101" pitchFamily="2" charset="-122"/>
              <a:cs typeface="Arial" panose="020B0604020202020204" pitchFamily="34" charset="0"/>
            </a:endParaRPr>
          </a:p>
          <a:p>
            <a:pPr marL="0" marR="0" lvl="0" indent="0" algn="l" defTabSz="914400" rtl="0" eaLnBrk="1" fontAlgn="base" latinLnBrk="0" hangingPunct="1">
              <a:lnSpc>
                <a:spcPct val="100000"/>
              </a:lnSpc>
              <a:spcBef>
                <a:spcPct val="50000"/>
              </a:spcBef>
              <a:spcAft>
                <a:spcPct val="0"/>
              </a:spcAft>
              <a:buClr>
                <a:srgbClr val="96A0A0"/>
              </a:buClr>
              <a:buSzTx/>
              <a:buFont typeface="Wingdings" panose="05000000000000000000" pitchFamily="2" charset="2"/>
              <a:buNone/>
              <a:defRPr/>
            </a:pP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Arial" panose="020B0604020202020204" pitchFamily="34" charset="0"/>
            </a:endParaRPr>
          </a:p>
        </p:txBody>
      </p:sp>
      <p:graphicFrame>
        <p:nvGraphicFramePr>
          <p:cNvPr id="80899" name="Object 3"/>
          <p:cNvGraphicFramePr>
            <a:graphicFrameLocks noChangeAspect="1"/>
          </p:cNvGraphicFramePr>
          <p:nvPr/>
        </p:nvGraphicFramePr>
        <p:xfrm>
          <a:off x="2411413" y="965200"/>
          <a:ext cx="4540250" cy="838200"/>
        </p:xfrm>
        <a:graphic>
          <a:graphicData uri="http://schemas.openxmlformats.org/presentationml/2006/ole">
            <mc:AlternateContent xmlns:mc="http://schemas.openxmlformats.org/markup-compatibility/2006">
              <mc:Choice xmlns:v="urn:schemas-microsoft-com:vml" Requires="v">
                <p:oleObj spid="_x0000_s3155" name="" r:id="rId1" imgW="2336800" imgH="431800" progId="Equation.3">
                  <p:embed/>
                </p:oleObj>
              </mc:Choice>
              <mc:Fallback>
                <p:oleObj name="" r:id="rId1" imgW="2336800" imgH="431800" progId="Equation.3">
                  <p:embed/>
                  <p:pic>
                    <p:nvPicPr>
                      <p:cNvPr id="0" name="图片 3154"/>
                      <p:cNvPicPr/>
                      <p:nvPr/>
                    </p:nvPicPr>
                    <p:blipFill>
                      <a:blip r:embed="rId2"/>
                      <a:stretch>
                        <a:fillRect/>
                      </a:stretch>
                    </p:blipFill>
                    <p:spPr>
                      <a:xfrm>
                        <a:off x="2411413" y="965200"/>
                        <a:ext cx="4540250" cy="838200"/>
                      </a:xfrm>
                      <a:prstGeom prst="rect">
                        <a:avLst/>
                      </a:prstGeom>
                      <a:noFill/>
                      <a:ln w="38100">
                        <a:noFill/>
                        <a:miter/>
                      </a:ln>
                    </p:spPr>
                  </p:pic>
                </p:oleObj>
              </mc:Fallback>
            </mc:AlternateContent>
          </a:graphicData>
        </a:graphic>
      </p:graphicFrame>
      <p:graphicFrame>
        <p:nvGraphicFramePr>
          <p:cNvPr id="80900" name="Object 4"/>
          <p:cNvGraphicFramePr>
            <a:graphicFrameLocks noChangeAspect="1"/>
          </p:cNvGraphicFramePr>
          <p:nvPr/>
        </p:nvGraphicFramePr>
        <p:xfrm>
          <a:off x="2424113" y="2643188"/>
          <a:ext cx="3951287" cy="785812"/>
        </p:xfrm>
        <a:graphic>
          <a:graphicData uri="http://schemas.openxmlformats.org/presentationml/2006/ole">
            <mc:AlternateContent xmlns:mc="http://schemas.openxmlformats.org/markup-compatibility/2006">
              <mc:Choice xmlns:v="urn:schemas-microsoft-com:vml" Requires="v">
                <p:oleObj spid="_x0000_s3157" name="" r:id="rId3" imgW="2171065" imgH="431800" progId="Equation.DSMT4">
                  <p:embed/>
                </p:oleObj>
              </mc:Choice>
              <mc:Fallback>
                <p:oleObj name="" r:id="rId3" imgW="2171065" imgH="431800" progId="Equation.DSMT4">
                  <p:embed/>
                  <p:pic>
                    <p:nvPicPr>
                      <p:cNvPr id="0" name="图片 3156"/>
                      <p:cNvPicPr/>
                      <p:nvPr/>
                    </p:nvPicPr>
                    <p:blipFill>
                      <a:blip r:embed="rId4"/>
                      <a:stretch>
                        <a:fillRect/>
                      </a:stretch>
                    </p:blipFill>
                    <p:spPr>
                      <a:xfrm>
                        <a:off x="2424113" y="2643188"/>
                        <a:ext cx="3951287" cy="785812"/>
                      </a:xfrm>
                      <a:prstGeom prst="rect">
                        <a:avLst/>
                      </a:prstGeom>
                      <a:noFill/>
                      <a:ln w="38100">
                        <a:noFill/>
                        <a:miter/>
                      </a:ln>
                    </p:spPr>
                  </p:pic>
                </p:oleObj>
              </mc:Fallback>
            </mc:AlternateContent>
          </a:graphicData>
        </a:graphic>
      </p:graphicFrame>
      <p:graphicFrame>
        <p:nvGraphicFramePr>
          <p:cNvPr id="80901" name="Object 5"/>
          <p:cNvGraphicFramePr>
            <a:graphicFrameLocks noChangeAspect="1"/>
          </p:cNvGraphicFramePr>
          <p:nvPr/>
        </p:nvGraphicFramePr>
        <p:xfrm>
          <a:off x="827088" y="4137025"/>
          <a:ext cx="7488237" cy="747713"/>
        </p:xfrm>
        <a:graphic>
          <a:graphicData uri="http://schemas.openxmlformats.org/presentationml/2006/ole">
            <mc:AlternateContent xmlns:mc="http://schemas.openxmlformats.org/markup-compatibility/2006">
              <mc:Choice xmlns:v="urn:schemas-microsoft-com:vml" Requires="v">
                <p:oleObj spid="_x0000_s3152" name="" r:id="rId5" imgW="4318000" imgH="431800" progId="Equation.3">
                  <p:embed/>
                </p:oleObj>
              </mc:Choice>
              <mc:Fallback>
                <p:oleObj name="" r:id="rId5" imgW="4318000" imgH="431800" progId="Equation.3">
                  <p:embed/>
                  <p:pic>
                    <p:nvPicPr>
                      <p:cNvPr id="0" name="图片 3151"/>
                      <p:cNvPicPr/>
                      <p:nvPr/>
                    </p:nvPicPr>
                    <p:blipFill>
                      <a:blip r:embed="rId6"/>
                      <a:stretch>
                        <a:fillRect/>
                      </a:stretch>
                    </p:blipFill>
                    <p:spPr>
                      <a:xfrm>
                        <a:off x="827088" y="4137025"/>
                        <a:ext cx="7488237" cy="747713"/>
                      </a:xfrm>
                      <a:prstGeom prst="rect">
                        <a:avLst/>
                      </a:prstGeom>
                      <a:noFill/>
                      <a:ln w="38100">
                        <a:noFill/>
                        <a:miter/>
                      </a:ln>
                    </p:spPr>
                  </p:pic>
                </p:oleObj>
              </mc:Fallback>
            </mc:AlternateContent>
          </a:graphicData>
        </a:graphic>
      </p:graphicFrame>
      <p:graphicFrame>
        <p:nvGraphicFramePr>
          <p:cNvPr id="80902" name="Object 6"/>
          <p:cNvGraphicFramePr>
            <a:graphicFrameLocks noChangeAspect="1"/>
          </p:cNvGraphicFramePr>
          <p:nvPr/>
        </p:nvGraphicFramePr>
        <p:xfrm>
          <a:off x="1187450" y="5300663"/>
          <a:ext cx="5976938" cy="733425"/>
        </p:xfrm>
        <a:graphic>
          <a:graphicData uri="http://schemas.openxmlformats.org/presentationml/2006/ole">
            <mc:AlternateContent xmlns:mc="http://schemas.openxmlformats.org/markup-compatibility/2006">
              <mc:Choice xmlns:v="urn:schemas-microsoft-com:vml" Requires="v">
                <p:oleObj spid="_x0000_s3154" name="" r:id="rId7" imgW="3517900" imgH="431800" progId="Equation.3">
                  <p:embed/>
                </p:oleObj>
              </mc:Choice>
              <mc:Fallback>
                <p:oleObj name="" r:id="rId7" imgW="3517900" imgH="431800" progId="Equation.3">
                  <p:embed/>
                  <p:pic>
                    <p:nvPicPr>
                      <p:cNvPr id="0" name="图片 3153"/>
                      <p:cNvPicPr/>
                      <p:nvPr/>
                    </p:nvPicPr>
                    <p:blipFill>
                      <a:blip r:embed="rId8"/>
                      <a:stretch>
                        <a:fillRect/>
                      </a:stretch>
                    </p:blipFill>
                    <p:spPr>
                      <a:xfrm>
                        <a:off x="1187450" y="5300663"/>
                        <a:ext cx="5976938" cy="733425"/>
                      </a:xfrm>
                      <a:prstGeom prst="rect">
                        <a:avLst/>
                      </a:prstGeom>
                      <a:noFill/>
                      <a:ln w="38100">
                        <a:noFill/>
                        <a:miter/>
                      </a:ln>
                    </p:spPr>
                  </p:pic>
                </p:oleObj>
              </mc:Fallback>
            </mc:AlternateContent>
          </a:graphicData>
        </a:graphic>
      </p:graphicFrame>
      <p:graphicFrame>
        <p:nvGraphicFramePr>
          <p:cNvPr id="80903" name="Object 7"/>
          <p:cNvGraphicFramePr>
            <a:graphicFrameLocks noChangeAspect="1"/>
          </p:cNvGraphicFramePr>
          <p:nvPr/>
        </p:nvGraphicFramePr>
        <p:xfrm>
          <a:off x="1204913" y="6189663"/>
          <a:ext cx="2592387" cy="741362"/>
        </p:xfrm>
        <a:graphic>
          <a:graphicData uri="http://schemas.openxmlformats.org/presentationml/2006/ole">
            <mc:AlternateContent xmlns:mc="http://schemas.openxmlformats.org/markup-compatibility/2006">
              <mc:Choice xmlns:v="urn:schemas-microsoft-com:vml" Requires="v">
                <p:oleObj spid="_x0000_s3156" name="" r:id="rId9" imgW="1511300" imgH="431800" progId="Equation.3">
                  <p:embed/>
                </p:oleObj>
              </mc:Choice>
              <mc:Fallback>
                <p:oleObj name="" r:id="rId9" imgW="1511300" imgH="431800" progId="Equation.3">
                  <p:embed/>
                  <p:pic>
                    <p:nvPicPr>
                      <p:cNvPr id="0" name="图片 3155"/>
                      <p:cNvPicPr/>
                      <p:nvPr/>
                    </p:nvPicPr>
                    <p:blipFill>
                      <a:blip r:embed="rId10"/>
                      <a:stretch>
                        <a:fillRect/>
                      </a:stretch>
                    </p:blipFill>
                    <p:spPr>
                      <a:xfrm>
                        <a:off x="1204913" y="6189663"/>
                        <a:ext cx="2592387" cy="741362"/>
                      </a:xfrm>
                      <a:prstGeom prst="rect">
                        <a:avLst/>
                      </a:prstGeom>
                      <a:noFill/>
                      <a:ln w="38100">
                        <a:noFill/>
                        <a:miter/>
                      </a:ln>
                    </p:spPr>
                  </p:pic>
                </p:oleObj>
              </mc:Fallback>
            </mc:AlternateContent>
          </a:graphicData>
        </a:graphic>
      </p:graphicFrame>
      <p:sp>
        <p:nvSpPr>
          <p:cNvPr id="80904" name="灯片编号占位符 2"/>
          <p:cNvSpPr txBox="1">
            <a:spLocks noGrp="1"/>
          </p:cNvSpPr>
          <p:nvPr>
            <p:ph type="sldNum" sz="quarter" idx="11"/>
          </p:nvPr>
        </p:nvSpPr>
        <p:spPr/>
        <p:txBody>
          <a:bodyPr anchor="b"/>
          <a:p>
            <a:pPr marL="0" indent="0" algn="r" eaLnBrk="1" hangingPunct="1">
              <a:spcBef>
                <a:spcPct val="0"/>
              </a:spcBef>
              <a:buClrTx/>
              <a:buSzTx/>
              <a:buFontTx/>
              <a:buNone/>
            </a:pPr>
            <a:fld id="{9A0DB2DC-4C9A-4742-B13C-FB6460FD3503}" type="slidenum">
              <a:rPr lang="en-US" altLang="zh-CN" sz="1200" dirty="0">
                <a:latin typeface="Arial Black" panose="020B0A04020102020204" pitchFamily="34" charset="0"/>
                <a:cs typeface="Arial" panose="020B0604020202020204" pitchFamily="34" charset="0"/>
              </a:rPr>
            </a:fld>
            <a:endParaRPr lang="en-US" altLang="zh-CN" sz="1200" dirty="0">
              <a:latin typeface="Arial Black" panose="020B0A040201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Grp="1"/>
          </p:cNvSpPr>
          <p:nvPr>
            <p:ph type="title"/>
          </p:nvPr>
        </p:nvSpPr>
        <p:spPr>
          <a:xfrm>
            <a:off x="457200" y="188913"/>
            <a:ext cx="8229600" cy="1371600"/>
          </a:xfrm>
        </p:spPr>
        <p:txBody>
          <a:bodyPr vert="horz" wrap="square" lIns="91440" tIns="45720" rIns="91440" bIns="45720" anchor="ctr"/>
          <a:p>
            <a:pPr eaLnBrk="1" hangingPunct="1"/>
            <a:r>
              <a:rPr lang="zh-CN" altLang="en-US" b="1" dirty="0">
                <a:solidFill>
                  <a:schemeClr val="bg2"/>
                </a:solidFill>
                <a:ea typeface="黑体" panose="02010609060101010101" pitchFamily="49" charset="-122"/>
              </a:rPr>
              <a:t>本章重点及难点</a:t>
            </a:r>
            <a:endParaRPr lang="zh-CN" altLang="en-US" b="1" dirty="0">
              <a:solidFill>
                <a:schemeClr val="bg2"/>
              </a:solidFill>
              <a:ea typeface="黑体" panose="02010609060101010101" pitchFamily="49" charset="-122"/>
            </a:endParaRPr>
          </a:p>
        </p:txBody>
      </p:sp>
      <p:sp>
        <p:nvSpPr>
          <p:cNvPr id="81923" name="Rectangle 3"/>
          <p:cNvSpPr>
            <a:spLocks noGrp="1"/>
          </p:cNvSpPr>
          <p:nvPr>
            <p:ph idx="1"/>
          </p:nvPr>
        </p:nvSpPr>
        <p:spPr>
          <a:xfrm>
            <a:off x="900113" y="1485900"/>
            <a:ext cx="7343775" cy="3886200"/>
          </a:xfrm>
        </p:spPr>
        <p:txBody>
          <a:bodyPr vert="horz" wrap="square" lIns="91440" tIns="45720" rIns="91440" bIns="45720" anchor="t"/>
          <a:p>
            <a:pPr eaLnBrk="1" hangingPunct="1">
              <a:spcAft>
                <a:spcPts val="600"/>
              </a:spcAft>
            </a:pPr>
            <a:r>
              <a:rPr lang="zh-CN" altLang="en-US" b="1" dirty="0"/>
              <a:t>理解电路中“</a:t>
            </a:r>
            <a:r>
              <a:rPr lang="zh-CN" altLang="en-US" b="1" dirty="0">
                <a:solidFill>
                  <a:srgbClr val="C00000"/>
                </a:solidFill>
                <a:latin typeface="黑体" panose="02010609060101010101" pitchFamily="49" charset="-122"/>
                <a:ea typeface="黑体" panose="02010609060101010101" pitchFamily="49" charset="-122"/>
              </a:rPr>
              <a:t>等效</a:t>
            </a:r>
            <a:r>
              <a:rPr lang="zh-CN" altLang="en-US" b="1" dirty="0"/>
              <a:t>”的概念（</a:t>
            </a:r>
            <a:r>
              <a:rPr lang="en-US" altLang="zh-CN" b="1" dirty="0">
                <a:solidFill>
                  <a:srgbClr val="C00000"/>
                </a:solidFill>
              </a:rPr>
              <a:t>VCR</a:t>
            </a:r>
            <a:r>
              <a:rPr lang="zh-CN" altLang="en-US" b="1" dirty="0"/>
              <a:t>）；</a:t>
            </a:r>
            <a:endParaRPr lang="en-US" altLang="zh-CN" b="1" dirty="0"/>
          </a:p>
          <a:p>
            <a:pPr eaLnBrk="1" hangingPunct="1">
              <a:spcAft>
                <a:spcPts val="600"/>
              </a:spcAft>
            </a:pPr>
            <a:r>
              <a:rPr lang="zh-CN" altLang="en-US" b="1" dirty="0"/>
              <a:t>学会看</a:t>
            </a:r>
            <a:r>
              <a:rPr lang="zh-CN" altLang="en-US" b="1" dirty="0">
                <a:solidFill>
                  <a:srgbClr val="FF0000"/>
                </a:solidFill>
              </a:rPr>
              <a:t>电路拓朴</a:t>
            </a:r>
            <a:r>
              <a:rPr lang="zh-CN" altLang="en-US" b="1" dirty="0"/>
              <a:t>结构，加强计算等效电阻的能力；</a:t>
            </a:r>
            <a:endParaRPr lang="en-US" altLang="zh-CN" b="1" dirty="0"/>
          </a:p>
          <a:p>
            <a:pPr eaLnBrk="1" hangingPunct="1">
              <a:spcAft>
                <a:spcPts val="600"/>
              </a:spcAft>
            </a:pPr>
            <a:r>
              <a:rPr lang="zh-CN" altLang="en-US" b="1" dirty="0"/>
              <a:t>理解</a:t>
            </a:r>
            <a:r>
              <a:rPr lang="zh-CN" altLang="en-US" b="1" dirty="0">
                <a:solidFill>
                  <a:srgbClr val="FF0000"/>
                </a:solidFill>
              </a:rPr>
              <a:t>拓扑约束</a:t>
            </a:r>
            <a:r>
              <a:rPr lang="zh-CN" altLang="en-US" b="1" dirty="0"/>
              <a:t>和</a:t>
            </a:r>
            <a:r>
              <a:rPr lang="zh-CN" altLang="en-US" b="1" dirty="0">
                <a:solidFill>
                  <a:srgbClr val="FF0000"/>
                </a:solidFill>
              </a:rPr>
              <a:t>元件约束</a:t>
            </a:r>
            <a:r>
              <a:rPr lang="zh-CN" altLang="en-US" b="1" dirty="0"/>
              <a:t>；</a:t>
            </a:r>
            <a:endParaRPr lang="zh-CN" altLang="en-US" b="1" dirty="0"/>
          </a:p>
          <a:p>
            <a:pPr eaLnBrk="1" hangingPunct="1">
              <a:spcAft>
                <a:spcPts val="600"/>
              </a:spcAft>
            </a:pPr>
            <a:r>
              <a:rPr lang="zh-CN" altLang="en-US" b="1" dirty="0"/>
              <a:t>进一步理解</a:t>
            </a:r>
            <a:r>
              <a:rPr lang="zh-CN" altLang="en-US" b="1" dirty="0">
                <a:solidFill>
                  <a:srgbClr val="FF0000"/>
                </a:solidFill>
              </a:rPr>
              <a:t>关联参考方向</a:t>
            </a:r>
            <a:r>
              <a:rPr lang="en-US" altLang="zh-CN" b="1" dirty="0">
                <a:solidFill>
                  <a:srgbClr val="FF0000"/>
                </a:solidFill>
              </a:rPr>
              <a:t>/</a:t>
            </a:r>
            <a:r>
              <a:rPr lang="zh-CN" altLang="en-US" b="1" dirty="0">
                <a:solidFill>
                  <a:srgbClr val="FF0000"/>
                </a:solidFill>
              </a:rPr>
              <a:t>无源符号规则</a:t>
            </a:r>
            <a:r>
              <a:rPr lang="zh-CN" altLang="en-US" b="1" dirty="0"/>
              <a:t>，欧姆定律、功率公式中正负号的数学意义和物理意义。</a:t>
            </a:r>
            <a:endParaRPr lang="en-US" altLang="zh-CN" b="1" dirty="0"/>
          </a:p>
          <a:p>
            <a:pPr eaLnBrk="1" hangingPunct="1">
              <a:spcAft>
                <a:spcPts val="600"/>
              </a:spcAft>
            </a:pPr>
            <a:r>
              <a:rPr lang="zh-CN" altLang="en-US" b="1" dirty="0"/>
              <a:t>自学</a:t>
            </a:r>
            <a:r>
              <a:rPr lang="en-US" altLang="zh-CN" b="1" dirty="0"/>
              <a:t>2.7</a:t>
            </a:r>
            <a:r>
              <a:rPr lang="zh-CN" altLang="en-US" b="1" dirty="0"/>
              <a:t>小节</a:t>
            </a:r>
            <a:r>
              <a:rPr lang="en-US" altLang="zh-CN" b="1" dirty="0"/>
              <a:t>(</a:t>
            </a:r>
            <a:r>
              <a:rPr lang="el-GR" altLang="zh-CN" b="1" dirty="0"/>
              <a:t>Δ</a:t>
            </a:r>
            <a:r>
              <a:rPr lang="en-US" altLang="zh-CN" b="1" dirty="0"/>
              <a:t>-Y)</a:t>
            </a:r>
            <a:r>
              <a:rPr lang="zh-CN" altLang="en-US" b="1" dirty="0"/>
              <a:t>：等效，</a:t>
            </a:r>
            <a:r>
              <a:rPr lang="en-US" altLang="zh-CN" b="1" dirty="0"/>
              <a:t>3</a:t>
            </a:r>
            <a:r>
              <a:rPr lang="zh-CN" altLang="en-US" b="1" dirty="0"/>
              <a:t>端</a:t>
            </a:r>
            <a:r>
              <a:rPr lang="en-US" altLang="zh-CN" b="1" dirty="0"/>
              <a:t>/4</a:t>
            </a:r>
            <a:r>
              <a:rPr lang="zh-CN" altLang="en-US" b="1" dirty="0"/>
              <a:t>端元器件。</a:t>
            </a:r>
            <a:endParaRPr lang="zh-CN" altLang="en-US" b="1"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303530" y="1047750"/>
            <a:ext cx="8177530" cy="3072130"/>
          </a:xfrm>
          <a:prstGeom prst="rect">
            <a:avLst/>
          </a:prstGeom>
        </p:spPr>
      </p:pic>
      <p:pic>
        <p:nvPicPr>
          <p:cNvPr id="2" name="图片 1"/>
          <p:cNvPicPr>
            <a:picLocks noChangeAspect="1"/>
          </p:cNvPicPr>
          <p:nvPr/>
        </p:nvPicPr>
        <p:blipFill>
          <a:blip r:embed="rId2"/>
          <a:stretch>
            <a:fillRect/>
          </a:stretch>
        </p:blipFill>
        <p:spPr>
          <a:xfrm>
            <a:off x="539750" y="4869180"/>
            <a:ext cx="7391400" cy="762000"/>
          </a:xfrm>
          <a:prstGeom prst="rect">
            <a:avLst/>
          </a:prstGeom>
          <a:ln>
            <a:solidFill>
              <a:srgbClr val="FF000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466090" y="1002030"/>
            <a:ext cx="7493000" cy="486537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554355" y="1628775"/>
            <a:ext cx="8034655" cy="360045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a:spLocks noGrp="1"/>
          </p:cNvSpPr>
          <p:nvPr>
            <p:ph type="title"/>
          </p:nvPr>
        </p:nvSpPr>
        <p:spPr>
          <a:xfrm>
            <a:off x="2627313" y="187325"/>
            <a:ext cx="3251200" cy="1371600"/>
          </a:xfrm>
        </p:spPr>
        <p:txBody>
          <a:bodyPr vert="horz" wrap="square" lIns="91440" tIns="45720" rIns="91440" bIns="45720" anchor="ctr"/>
          <a:p>
            <a:pPr eaLnBrk="1" hangingPunct="1"/>
            <a:r>
              <a:rPr lang="zh-CN" altLang="en-US" b="1" dirty="0">
                <a:solidFill>
                  <a:schemeClr val="bg2"/>
                </a:solidFill>
                <a:ea typeface="黑体" panose="02010609060101010101" pitchFamily="49" charset="-122"/>
              </a:rPr>
              <a:t>本章作业</a:t>
            </a:r>
            <a:endParaRPr lang="zh-CN" altLang="en-US" b="1" dirty="0">
              <a:solidFill>
                <a:schemeClr val="bg2"/>
              </a:solidFill>
              <a:ea typeface="黑体" panose="02010609060101010101" pitchFamily="49" charset="-122"/>
            </a:endParaRPr>
          </a:p>
        </p:txBody>
      </p:sp>
      <p:sp>
        <p:nvSpPr>
          <p:cNvPr id="82947" name="Rectangle 3"/>
          <p:cNvSpPr>
            <a:spLocks noGrp="1"/>
          </p:cNvSpPr>
          <p:nvPr>
            <p:ph idx="1"/>
          </p:nvPr>
        </p:nvSpPr>
        <p:spPr>
          <a:xfrm>
            <a:off x="1908175" y="1412875"/>
            <a:ext cx="5040313" cy="3886200"/>
          </a:xfrm>
        </p:spPr>
        <p:txBody>
          <a:bodyPr vert="horz" wrap="square" lIns="91440" tIns="45720" rIns="91440" bIns="45720" anchor="t"/>
          <a:p>
            <a:pPr eaLnBrk="1" hangingPunct="1"/>
            <a:r>
              <a:rPr lang="zh-CN" altLang="en-US" b="1" dirty="0"/>
              <a:t>画出本章思维导图</a:t>
            </a:r>
            <a:endParaRPr lang="zh-CN" altLang="en-US" b="1" dirty="0"/>
          </a:p>
          <a:p>
            <a:pPr eaLnBrk="1" hangingPunct="1"/>
            <a:r>
              <a:rPr lang="en-US" altLang="zh-CN" b="1" dirty="0"/>
              <a:t>2.33 </a:t>
            </a:r>
            <a:r>
              <a:rPr lang="zh-CN" altLang="en-US" b="1" dirty="0"/>
              <a:t>（电压，电流）</a:t>
            </a:r>
            <a:endParaRPr lang="en-US" altLang="zh-CN" b="1" dirty="0"/>
          </a:p>
          <a:p>
            <a:pPr eaLnBrk="1" hangingPunct="1"/>
            <a:r>
              <a:rPr lang="en-US" altLang="zh-CN" b="1" dirty="0"/>
              <a:t>2.35 </a:t>
            </a:r>
            <a:r>
              <a:rPr lang="zh-CN" altLang="en-US" b="1" dirty="0"/>
              <a:t>（电压，电流）</a:t>
            </a:r>
            <a:endParaRPr lang="en-US" altLang="zh-CN" b="1" dirty="0"/>
          </a:p>
          <a:p>
            <a:pPr eaLnBrk="1" hangingPunct="1"/>
            <a:r>
              <a:rPr lang="en-US" altLang="zh-CN" b="1" dirty="0"/>
              <a:t>2.41 </a:t>
            </a:r>
            <a:r>
              <a:rPr lang="zh-CN" altLang="en-US" b="1" dirty="0"/>
              <a:t>（等效电阻）</a:t>
            </a:r>
            <a:endParaRPr lang="en-US" altLang="zh-CN" b="1" dirty="0"/>
          </a:p>
          <a:p>
            <a:pPr eaLnBrk="1" hangingPunct="1"/>
            <a:r>
              <a:rPr lang="en-US" altLang="zh-CN" b="1" dirty="0"/>
              <a:t>2.74 </a:t>
            </a:r>
            <a:r>
              <a:rPr lang="zh-CN" altLang="en-US" b="1" dirty="0"/>
              <a:t>（电机电流）</a:t>
            </a:r>
            <a:endParaRPr lang="zh-CN" altLang="en-US" b="1" dirty="0"/>
          </a:p>
          <a:p>
            <a:pPr eaLnBrk="1" hangingPunct="1"/>
            <a:r>
              <a:rPr lang="en-US" altLang="zh-CN" b="1" dirty="0"/>
              <a:t>2.82 </a:t>
            </a:r>
            <a:r>
              <a:rPr lang="zh-CN" altLang="en-US" b="1" dirty="0"/>
              <a:t>（电阻模块）</a:t>
            </a:r>
            <a:r>
              <a:rPr lang="zh-CN" altLang="en-US" sz="2400" b="1" i="1" dirty="0"/>
              <a:t>（</a:t>
            </a:r>
            <a:r>
              <a:rPr lang="zh-CN" altLang="en-US" sz="2400" b="1" i="1" dirty="0">
                <a:solidFill>
                  <a:srgbClr val="0000FF"/>
                </a:solidFill>
              </a:rPr>
              <a:t>注意集成块的封装边不要当成导线</a:t>
            </a:r>
            <a:r>
              <a:rPr lang="zh-CN" altLang="en-US" sz="2400" b="1" i="1" dirty="0"/>
              <a:t>）</a:t>
            </a:r>
            <a:endParaRPr lang="en-US" altLang="zh-CN" sz="2400" b="1" i="1" dirty="0"/>
          </a:p>
        </p:txBody>
      </p:sp>
      <p:sp>
        <p:nvSpPr>
          <p:cNvPr id="2" name="文本框 1"/>
          <p:cNvSpPr txBox="1"/>
          <p:nvPr/>
        </p:nvSpPr>
        <p:spPr>
          <a:xfrm>
            <a:off x="827088" y="5445125"/>
            <a:ext cx="8137525" cy="1477963"/>
          </a:xfrm>
          <a:prstGeom prst="rect">
            <a:avLst/>
          </a:prstGeom>
          <a:noFill/>
        </p:spPr>
        <p:txBody>
          <a:bodyPr wrap="square">
            <a:spAutoFit/>
          </a:bodyPr>
          <a:lstStyle/>
          <a:p>
            <a:pPr marL="342900" marR="0" indent="-342900" defTabSz="914400">
              <a:buClrTx/>
              <a:buSzTx/>
              <a:buFont typeface="Wingdings" panose="05000000000000000000" pitchFamily="2" charset="2"/>
              <a:buChar char="n"/>
              <a:defRPr/>
            </a:pPr>
            <a:r>
              <a:rPr kumimoji="0" lang="zh-CN" altLang="en-US" sz="2400" b="1" kern="1200" cap="none" spc="0" normalizeH="0" baseline="0" noProof="0" dirty="0">
                <a:solidFill>
                  <a:srgbClr val="002060"/>
                </a:solidFill>
                <a:latin typeface="Arial" panose="020B0604020202020204" pitchFamily="34" charset="0"/>
                <a:ea typeface="宋体" panose="02010600030101010101" pitchFamily="2" charset="-122"/>
                <a:cs typeface="+mn-cs"/>
              </a:rPr>
              <a:t>拓展题 ：</a:t>
            </a:r>
            <a:r>
              <a:rPr kumimoji="0" lang="en-US" altLang="zh-CN" sz="2400" b="1" kern="1200" cap="none" spc="0" normalizeH="0" baseline="0" noProof="0" dirty="0">
                <a:latin typeface="Arial" panose="020B0604020202020204" pitchFamily="34" charset="0"/>
                <a:ea typeface="宋体" panose="02010600030101010101" pitchFamily="2" charset="-122"/>
                <a:cs typeface="+mn-cs"/>
              </a:rPr>
              <a:t>1. </a:t>
            </a:r>
            <a:r>
              <a:rPr kumimoji="0" lang="zh-CN" altLang="zh-CN" sz="2400" b="1" kern="1200" cap="none" spc="0" normalizeH="0" baseline="0" noProof="0" dirty="0">
                <a:latin typeface="Arial" panose="020B0604020202020204" pitchFamily="34" charset="0"/>
                <a:ea typeface="宋体" panose="02010600030101010101" pitchFamily="2" charset="-122"/>
                <a:cs typeface="+mn-cs"/>
              </a:rPr>
              <a:t>如何仅依靠外观（视觉）判断电阻、电容、电感的阻（容、感）值，二级管、电解电容的极性？</a:t>
            </a:r>
            <a:endParaRPr kumimoji="0" lang="en-US" altLang="zh-CN" sz="2400" b="1"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buFontTx/>
              <a:defRPr/>
            </a:pPr>
            <a:r>
              <a:rPr kumimoji="0" lang="zh-CN" altLang="en-US" sz="2400" b="1" kern="1200" cap="none" spc="0" normalizeH="0" baseline="0" noProof="0" dirty="0">
                <a:latin typeface="Arial" panose="020B0604020202020204" pitchFamily="34" charset="0"/>
                <a:ea typeface="宋体" panose="02010600030101010101" pitchFamily="2" charset="-122"/>
                <a:cs typeface="+mn-cs"/>
              </a:rPr>
              <a:t>                   </a:t>
            </a:r>
            <a:r>
              <a:rPr kumimoji="0" lang="en-US" altLang="zh-CN" sz="2400" b="1" kern="1200" cap="none" spc="0" normalizeH="0" baseline="0" noProof="0" dirty="0">
                <a:latin typeface="Arial" panose="020B0604020202020204" pitchFamily="34" charset="0"/>
                <a:ea typeface="宋体" panose="02010600030101010101" pitchFamily="2" charset="-122"/>
                <a:cs typeface="+mn-cs"/>
              </a:rPr>
              <a:t>2. </a:t>
            </a:r>
            <a:r>
              <a:rPr kumimoji="0" lang="zh-CN" altLang="en-US" sz="2400" b="1" kern="1200" cap="none" spc="0" normalizeH="0" baseline="0" noProof="0" dirty="0">
                <a:latin typeface="Arial" panose="020B0604020202020204" pitchFamily="34" charset="0"/>
                <a:ea typeface="宋体" panose="02010600030101010101" pitchFamily="2" charset="-122"/>
                <a:cs typeface="+mn-cs"/>
              </a:rPr>
              <a:t>如何理解受控源是个电路模型？</a:t>
            </a:r>
            <a:endParaRPr kumimoji="0" lang="zh-CN" altLang="en-US" sz="2400" b="1" kern="1200" cap="none" spc="0" normalizeH="0" baseline="0" noProof="0" dirty="0">
              <a:latin typeface="Arial" panose="020B0604020202020204" pitchFamily="34" charset="0"/>
              <a:ea typeface="宋体" panose="02010600030101010101" pitchFamily="2" charset="-122"/>
              <a:cs typeface="+mn-cs"/>
            </a:endParaRPr>
          </a:p>
          <a:p>
            <a:pPr marR="0" defTabSz="914400">
              <a:buClrTx/>
              <a:buSzTx/>
              <a:buFontTx/>
              <a:defRPr/>
            </a:pP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sld>
</file>

<file path=ppt/tags/tag1.xml><?xml version="1.0" encoding="utf-8"?>
<p:tagLst xmlns:p="http://schemas.openxmlformats.org/presentationml/2006/main">
  <p:tag name="KSO_WM_UNIT_PLACING_PICTURE_USER_VIEWPORT" val="{&quot;height&quot;:4350,&quot;width&quot;:12728}"/>
</p:tagLst>
</file>

<file path=ppt/tags/tag2.xml><?xml version="1.0" encoding="utf-8"?>
<p:tagLst xmlns:p="http://schemas.openxmlformats.org/presentationml/2006/main">
  <p:tag name="COMMONDATA" val="eyJoZGlkIjoiMzBhM2U2YThkZjQ3NGJlMzFiMDIzMzRlNGI2NzY5MWQifQ=="/>
</p:tagLst>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0</TotalTime>
  <Words>8610</Words>
  <Application>WPS 演示</Application>
  <PresentationFormat>全屏显示(4:3)</PresentationFormat>
  <Paragraphs>966</Paragraphs>
  <Slides>98</Slides>
  <Notes>15</Notes>
  <HiddenSlides>1</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119</vt:i4>
      </vt:variant>
      <vt:variant>
        <vt:lpstr>幻灯片标题</vt:lpstr>
      </vt:variant>
      <vt:variant>
        <vt:i4>98</vt:i4>
      </vt:variant>
    </vt:vector>
  </HeadingPairs>
  <TitlesOfParts>
    <vt:vector size="235" baseType="lpstr">
      <vt:lpstr>Arial</vt:lpstr>
      <vt:lpstr>宋体</vt:lpstr>
      <vt:lpstr>Wingdings</vt:lpstr>
      <vt:lpstr>Arial Black</vt:lpstr>
      <vt:lpstr>Times New Roman</vt:lpstr>
      <vt:lpstr>Franklin Gothic Medium</vt:lpstr>
      <vt:lpstr>华文行楷</vt:lpstr>
      <vt:lpstr>Symbol</vt:lpstr>
      <vt:lpstr>黑体</vt:lpstr>
      <vt:lpstr>隶书</vt:lpstr>
      <vt:lpstr>华文新魏</vt:lpstr>
      <vt:lpstr>微软雅黑</vt:lpstr>
      <vt:lpstr>Arial Unicode MS</vt:lpstr>
      <vt:lpstr>Calibri</vt:lpstr>
      <vt:lpstr>Monotype Corsiva</vt:lpstr>
      <vt:lpstr>Leelawadee</vt:lpstr>
      <vt:lpstr>Leelawadee UI</vt:lpstr>
      <vt:lpstr>Pixel</vt:lpstr>
      <vt:lpstr>Equation.3</vt:lpstr>
      <vt:lpstr>Equation.KSEE3</vt:lpstr>
      <vt:lpstr>Equation.3</vt:lpstr>
      <vt:lpstr>Equation.3</vt:lpstr>
      <vt:lpstr>Equation.3</vt:lpstr>
      <vt:lpstr>Equation.3</vt:lpstr>
      <vt:lpstr>Equation.DSMT4</vt:lpstr>
      <vt:lpstr>Equation.3</vt:lpstr>
      <vt:lpstr>Equation.3</vt:lpstr>
      <vt:lpstr>Equation.3</vt:lpstr>
      <vt:lpstr>Paint.Picture</vt:lpstr>
      <vt:lpstr>Paint.Picture</vt:lpstr>
      <vt:lpstr>Equation.KSEE3</vt:lpstr>
      <vt:lpstr>Equation.3</vt:lpstr>
      <vt:lpstr>Equation.3</vt:lpstr>
      <vt:lpstr>Equation.DSMT4</vt:lpstr>
      <vt:lpstr>Equation.DSMT4</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Equation.KSEE3</vt:lpstr>
      <vt:lpstr>Equation.KSEE3</vt:lpstr>
      <vt:lpstr>Equation.3</vt:lpstr>
      <vt:lpstr>Equation.DSMT4</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Paint.Picture</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Equation.DSMT4</vt:lpstr>
      <vt:lpstr>Equation.DSMT4</vt:lpstr>
      <vt:lpstr>Equation.3</vt:lpstr>
      <vt:lpstr>Equation.DSMT4</vt:lpstr>
      <vt:lpstr>Equation.3</vt:lpstr>
      <vt:lpstr>Equation.3</vt:lpstr>
      <vt:lpstr>Equation.DSMT4</vt:lpstr>
      <vt:lpstr>Equation.3</vt:lpstr>
      <vt:lpstr>Equation.DSMT4</vt:lpstr>
      <vt:lpstr>Equation.DSMT4</vt:lpstr>
      <vt:lpstr>Equation.DSMT4</vt:lpstr>
      <vt:lpstr>Equation.3</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Equation.DSMT4</vt:lpstr>
      <vt:lpstr>Equation.3</vt:lpstr>
      <vt:lpstr>Equation.KSEE3</vt:lpstr>
      <vt:lpstr>Paint.Picture</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第二章                  基本定理</vt:lpstr>
      <vt:lpstr>电阻</vt:lpstr>
      <vt:lpstr>PowerPoint 演示文稿</vt:lpstr>
      <vt:lpstr> </vt:lpstr>
      <vt:lpstr>PowerPoint 演示文稿</vt:lpstr>
      <vt:lpstr>PowerPoint 演示文稿</vt:lpstr>
      <vt:lpstr> </vt:lpstr>
      <vt:lpstr> </vt:lpstr>
      <vt:lpstr>PowerPoint 演示文稿</vt:lpstr>
      <vt:lpstr> </vt:lpstr>
      <vt:lpstr> </vt:lpstr>
      <vt:lpstr>PowerPoint 演示文稿</vt:lpstr>
      <vt:lpstr> 例2-3</vt:lpstr>
      <vt:lpstr>PowerPoint 演示文稿</vt:lpstr>
      <vt:lpstr>2.3  节点、支路、回路</vt:lpstr>
      <vt:lpstr>PowerPoint 演示文稿</vt:lpstr>
      <vt:lpstr>PowerPoint 演示文稿</vt:lpstr>
      <vt:lpstr>解:  电路有4条支路。电路有3个节点。 5-Ω电阻是10 V电压源串联在一起。 6-Ω电阻与2-A电流源并联。 </vt:lpstr>
      <vt:lpstr>PowerPoint 演示文稿</vt:lpstr>
      <vt:lpstr>PowerPoint 演示文稿</vt:lpstr>
      <vt:lpstr>2.4  基尔霍夫定律（拓扑约束）</vt:lpstr>
      <vt:lpstr>节点和节点电流</vt:lpstr>
      <vt:lpstr>PowerPoint 演示文稿</vt:lpstr>
      <vt:lpstr>PowerPoint 演示文稿</vt:lpstr>
      <vt:lpstr>PowerPoint 演示文稿</vt:lpstr>
      <vt:lpstr>那么，问题来了：</vt:lpstr>
      <vt:lpstr>PowerPoint 演示文稿</vt:lpstr>
      <vt:lpstr>解:    KVL: </vt:lpstr>
      <vt:lpstr>解:（假设电流逆时针方向流再算一遍）    KVL: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对回路1使用KVL，                      ⑤                                         </vt:lpstr>
      <vt:lpstr>PowerPoint 演示文稿</vt:lpstr>
      <vt:lpstr>2.5   串联电阻的分压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2.7  WYE-DELTA          TRANSFORMATIONS（自学）</vt:lpstr>
      <vt:lpstr>PowerPoint 演示文稿</vt:lpstr>
      <vt:lpstr>PowerPoint 演示文稿</vt:lpstr>
      <vt:lpstr>PowerPoint 演示文稿</vt:lpstr>
      <vt:lpstr>PowerPoint 演示文稿</vt:lpstr>
      <vt:lpstr>Delta to wye Conversion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本章重点及难点</vt:lpstr>
      <vt:lpstr>PowerPoint 演示文稿</vt:lpstr>
      <vt:lpstr>PowerPoint 演示文稿</vt:lpstr>
      <vt:lpstr>PowerPoint 演示文稿</vt:lpstr>
      <vt:lpstr>本章作业</vt:lpstr>
    </vt:vector>
  </TitlesOfParts>
  <Company>芳向电脑工作室</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张芳向 Netboy</dc:creator>
  <cp:lastModifiedBy>Admin</cp:lastModifiedBy>
  <cp:revision>253</cp:revision>
  <dcterms:created xsi:type="dcterms:W3CDTF">2006-03-10T15:50:00Z</dcterms:created>
  <dcterms:modified xsi:type="dcterms:W3CDTF">2022-10-03T01:36:37Z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2052-11.1.0.12358</vt:lpwstr>
  </property>
  <property fmtid="{D5CDD505-2E9C-101B-9397-08002B2CF9AE}" pid="3" name="ICV">
    <vt:lpwstr>7BF8446AEB17446FA8B497E379AB1050</vt:lpwstr>
  </property>
</Properties>
</file>